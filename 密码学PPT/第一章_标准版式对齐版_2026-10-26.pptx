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6"/>
  </p:notesMasterIdLst>
  <p:sldIdLst>
    <p:sldId id="256" r:id="rId2"/>
    <p:sldId id="257" r:id="rId3"/>
    <p:sldId id="258" r:id="rId4"/>
    <p:sldId id="259" r:id="rId5"/>
    <p:sldId id="342" r:id="rId6"/>
    <p:sldId id="263" r:id="rId7"/>
    <p:sldId id="343" r:id="rId8"/>
    <p:sldId id="344" r:id="rId9"/>
    <p:sldId id="345" r:id="rId10"/>
    <p:sldId id="346" r:id="rId11"/>
    <p:sldId id="347" r:id="rId12"/>
    <p:sldId id="348" r:id="rId13"/>
    <p:sldId id="349" r:id="rId14"/>
    <p:sldId id="374" r:id="rId15"/>
    <p:sldId id="264" r:id="rId16"/>
    <p:sldId id="350" r:id="rId17"/>
    <p:sldId id="351" r:id="rId18"/>
    <p:sldId id="352" r:id="rId19"/>
    <p:sldId id="353" r:id="rId20"/>
    <p:sldId id="354" r:id="rId21"/>
    <p:sldId id="375" r:id="rId22"/>
    <p:sldId id="356" r:id="rId23"/>
    <p:sldId id="357" r:id="rId24"/>
    <p:sldId id="376" r:id="rId25"/>
    <p:sldId id="358" r:id="rId26"/>
    <p:sldId id="359" r:id="rId27"/>
    <p:sldId id="360" r:id="rId28"/>
    <p:sldId id="362" r:id="rId29"/>
    <p:sldId id="363" r:id="rId30"/>
    <p:sldId id="377" r:id="rId31"/>
    <p:sldId id="364" r:id="rId32"/>
    <p:sldId id="365" r:id="rId33"/>
    <p:sldId id="380" r:id="rId34"/>
    <p:sldId id="366" r:id="rId35"/>
    <p:sldId id="367" r:id="rId36"/>
    <p:sldId id="368" r:id="rId37"/>
    <p:sldId id="381" r:id="rId38"/>
    <p:sldId id="378" r:id="rId39"/>
    <p:sldId id="266" r:id="rId40"/>
    <p:sldId id="382" r:id="rId41"/>
    <p:sldId id="369" r:id="rId42"/>
    <p:sldId id="383" r:id="rId43"/>
    <p:sldId id="379" r:id="rId44"/>
    <p:sldId id="340" r:id="rId45"/>
  </p:sldIdLst>
  <p:sldSz cx="18288000" cy="10287000"/>
  <p:notesSz cx="6858000" cy="9144000"/>
  <p:embeddedFontLst>
    <p:embeddedFont>
      <p:font typeface="Cambria Math" panose="02040503050406030204" pitchFamily="18" charset="0"/>
      <p:regular r:id="rId47"/>
    </p:embeddedFont>
    <p:embeddedFont>
      <p:font typeface="等线" panose="02010600030101010101" pitchFamily="2" charset="-122"/>
      <p:regular r:id="rId48"/>
      <p:bold r:id="rId49"/>
    </p:embeddedFont>
    <p:embeddedFont>
      <p:font typeface="仿宋" panose="02010609060101010101" pitchFamily="49" charset="-122"/>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A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772" autoAdjust="0"/>
  </p:normalViewPr>
  <p:slideViewPr>
    <p:cSldViewPr showGuides="1">
      <p:cViewPr varScale="1">
        <p:scale>
          <a:sx n="68" d="100"/>
          <a:sy n="68" d="100"/>
        </p:scale>
        <p:origin x="624" y="48"/>
      </p:cViewPr>
      <p:guideLst>
        <p:guide orient="horz" pos="227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E3807-13F1-414E-9D90-B8B02AA7D69D}" type="datetimeFigureOut">
              <a:rPr lang="zh-CN" altLang="en-US" smtClean="0"/>
              <a:t>2026/10/26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29F18-BE30-4173-ABC4-195AE047BC1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A9D339-BB5B-4C3A-B2B7-9CBB9C4E47C0}"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1B71CB-29D2-4DBC-AF2A-1FCC5F563C20}"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9BFDBF-5092-470D-8664-8CBF468710CC}"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2533AF-406D-4B06-BB6E-C528BCCECD7B}"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21CCE8-BB93-4A75-96D3-864F731A74B5}" type="datetime1">
              <a:rPr lang="en-US" altLang="zh-CN"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B7703C6-7AC3-4921-B780-5ADEF8FE5013}" type="datetime1">
              <a:rPr lang="en-US" altLang="zh-CN"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3"/>
          <p:cNvSpPr txBox="1"/>
          <p:nvPr userDrawn="1"/>
        </p:nvSpPr>
        <p:spPr>
          <a:xfrm>
            <a:off x="15544800" y="9563100"/>
            <a:ext cx="2133600" cy="441325"/>
          </a:xfrm>
          <a:prstGeom prst="rect">
            <a:avLst/>
          </a:prstGeom>
        </p:spPr>
        <p:txBody>
          <a:bodyPr vert="horz" lIns="91440" tIns="45720" rIns="91440" bIns="45720" rtlCol="0" anchor="ctr"/>
          <a:lstStyle>
            <a:defPPr>
              <a:defRPr lang="en-US"/>
            </a:defPPr>
            <a:lvl1pPr marL="0" algn="r" defTabSz="914400" rtl="0" eaLnBrk="1" latinLnBrk="0" hangingPunct="1">
              <a:defRPr sz="1400" kern="1200" baseline="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6F15528-21DE-4FAA-801E-634DDDAF4B2B}"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49045E-F8C2-41C8-ADE6-89BE560A61ED}" type="datetime1">
              <a:rPr lang="en-US" altLang="zh-CN"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544800" y="9410700"/>
            <a:ext cx="2133600" cy="441325"/>
          </a:xfrm>
        </p:spPr>
        <p:txBody>
          <a:bodyPr/>
          <a:lstStyle>
            <a:lvl1pPr algn="r">
              <a:defRPr sz="1400" baseline="0">
                <a:solidFill>
                  <a:srgbClr val="FFC000"/>
                </a:solidFill>
              </a:defRPr>
            </a:lvl1pPr>
          </a:lstStyle>
          <a:p>
            <a:fld id="{B6F15528-21DE-4FAA-801E-634DDDAF4B2B}"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39D223-DDBD-403C-82E7-9E2EAEADB10F}"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CA9BF3-DE70-496E-B987-2B997E53C5A7}"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230D09-9DB0-4520-9696-351536FFCB52}"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DFA8B1-0659-4802-8546-A40933AC0B00}"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B057E3-1096-4013-ADF6-9F6D6B2EF579}" type="datetime1">
              <a:rPr lang="en-US" altLang="zh-CN"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6" Type="http://schemas.openxmlformats.org/officeDocument/2006/relationships/image" Target="../media/image1.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7.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15.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340279" y="765907"/>
            <a:ext cx="7607443" cy="760744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12" name="TextBox 12"/>
          <p:cNvSpPr txBox="1"/>
          <p:nvPr/>
        </p:nvSpPr>
        <p:spPr>
          <a:xfrm>
            <a:off x="1925612" y="2707517"/>
            <a:ext cx="14436775" cy="1655966"/>
          </a:xfrm>
          <a:prstGeom prst="rect">
            <a:avLst/>
          </a:prstGeom>
        </p:spPr>
        <p:txBody>
          <a:bodyPr wrap="square" lIns="0" tIns="0" rIns="0" bIns="0" rtlCol="0" anchor="t">
            <a:spAutoFit/>
          </a:bodyPr>
          <a:lstStyle/>
          <a:p>
            <a:pPr algn="ctr">
              <a:lnSpc>
                <a:spcPts val="14935"/>
              </a:lnSpc>
            </a:pP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a:t>
            </a:r>
            <a:r>
              <a:rPr lang="en-US" altLang="zh-CN"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t>
            </a: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基础理论与应用</a:t>
            </a:r>
          </a:p>
        </p:txBody>
      </p:sp>
      <p:grpSp>
        <p:nvGrpSpPr>
          <p:cNvPr id="13" name="Group 13"/>
          <p:cNvGrpSpPr/>
          <p:nvPr/>
        </p:nvGrpSpPr>
        <p:grpSpPr>
          <a:xfrm>
            <a:off x="780296" y="3604350"/>
            <a:ext cx="16727408" cy="1438536"/>
            <a:chOff x="0" y="0"/>
            <a:chExt cx="22303210" cy="1918048"/>
          </a:xfrm>
        </p:grpSpPr>
        <p:grpSp>
          <p:nvGrpSpPr>
            <p:cNvPr id="14" name="Group 14"/>
            <p:cNvGrpSpPr/>
            <p:nvPr/>
          </p:nvGrpSpPr>
          <p:grpSpPr>
            <a:xfrm>
              <a:off x="0" y="0"/>
              <a:ext cx="237212" cy="2372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6" name="TextBox 1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7" name="Group 17"/>
            <p:cNvGrpSpPr/>
            <p:nvPr/>
          </p:nvGrpSpPr>
          <p:grpSpPr>
            <a:xfrm>
              <a:off x="0" y="560278"/>
              <a:ext cx="237212" cy="2372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9" name="TextBox 1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0" name="Group 20"/>
            <p:cNvGrpSpPr/>
            <p:nvPr/>
          </p:nvGrpSpPr>
          <p:grpSpPr>
            <a:xfrm>
              <a:off x="0" y="1120557"/>
              <a:ext cx="237212" cy="23721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2" name="TextBox 22"/>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3" name="Group 23"/>
            <p:cNvGrpSpPr/>
            <p:nvPr/>
          </p:nvGrpSpPr>
          <p:grpSpPr>
            <a:xfrm>
              <a:off x="0" y="1680835"/>
              <a:ext cx="237212" cy="23721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5" name="TextBox 2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6" name="Group 26"/>
            <p:cNvGrpSpPr/>
            <p:nvPr/>
          </p:nvGrpSpPr>
          <p:grpSpPr>
            <a:xfrm>
              <a:off x="22065998" y="0"/>
              <a:ext cx="237212" cy="23721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8" name="TextBox 2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9" name="Group 29"/>
            <p:cNvGrpSpPr/>
            <p:nvPr/>
          </p:nvGrpSpPr>
          <p:grpSpPr>
            <a:xfrm>
              <a:off x="22065998" y="560278"/>
              <a:ext cx="237212" cy="23721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1" name="TextBox 3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32" name="Group 32"/>
            <p:cNvGrpSpPr/>
            <p:nvPr/>
          </p:nvGrpSpPr>
          <p:grpSpPr>
            <a:xfrm>
              <a:off x="22065998" y="1120557"/>
              <a:ext cx="237212" cy="237212"/>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34" name="TextBox 3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35" name="Group 35"/>
            <p:cNvGrpSpPr/>
            <p:nvPr/>
          </p:nvGrpSpPr>
          <p:grpSpPr>
            <a:xfrm>
              <a:off x="22065998" y="1680835"/>
              <a:ext cx="237212" cy="237212"/>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7" name="TextBox 3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sp>
        <p:nvSpPr>
          <p:cNvPr id="38" name="TextBox 38"/>
          <p:cNvSpPr txBox="1"/>
          <p:nvPr/>
        </p:nvSpPr>
        <p:spPr>
          <a:xfrm>
            <a:off x="2183389" y="5333657"/>
            <a:ext cx="13921220" cy="1230630"/>
          </a:xfrm>
          <a:prstGeom prst="rect">
            <a:avLst/>
          </a:prstGeom>
        </p:spPr>
        <p:txBody>
          <a:bodyPr lIns="0" tIns="0" rIns="0" bIns="0" rtlCol="0" anchor="t">
            <a:spAutoFit/>
          </a:bodyPr>
          <a:lstStyle/>
          <a:p>
            <a:pPr algn="ctr">
              <a:lnSpc>
                <a:spcPts val="9600"/>
              </a:lnSpc>
            </a:pPr>
            <a:r>
              <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第一章</a:t>
            </a:r>
            <a:r>
              <a:rPr lang="en-US" altLang="zh-CN"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 </a:t>
            </a:r>
            <a:r>
              <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概论</a:t>
            </a:r>
          </a:p>
        </p:txBody>
      </p:sp>
      <p:grpSp>
        <p:nvGrpSpPr>
          <p:cNvPr id="41" name="Group 41"/>
          <p:cNvGrpSpPr/>
          <p:nvPr/>
        </p:nvGrpSpPr>
        <p:grpSpPr>
          <a:xfrm>
            <a:off x="-1299970" y="8495193"/>
            <a:ext cx="21159211" cy="1929995"/>
            <a:chOff x="0" y="0"/>
            <a:chExt cx="28212281" cy="2573326"/>
          </a:xfrm>
        </p:grpSpPr>
        <p:grpSp>
          <p:nvGrpSpPr>
            <p:cNvPr id="42" name="Group 42"/>
            <p:cNvGrpSpPr/>
            <p:nvPr/>
          </p:nvGrpSpPr>
          <p:grpSpPr>
            <a:xfrm>
              <a:off x="361694" y="0"/>
              <a:ext cx="27850587" cy="2024584"/>
              <a:chOff x="0" y="0"/>
              <a:chExt cx="5501351" cy="399918"/>
            </a:xfrm>
          </p:grpSpPr>
          <p:sp>
            <p:nvSpPr>
              <p:cNvPr id="43" name="Freeform 43"/>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4" name="TextBox 44"/>
              <p:cNvSpPr txBox="1"/>
              <p:nvPr/>
            </p:nvSpPr>
            <p:spPr>
              <a:xfrm>
                <a:off x="0" y="0"/>
                <a:ext cx="5501351" cy="399918"/>
              </a:xfrm>
              <a:prstGeom prst="rect">
                <a:avLst/>
              </a:prstGeom>
            </p:spPr>
            <p:txBody>
              <a:bodyPr lIns="50800" tIns="50800" rIns="50800" bIns="50800" rtlCol="0" anchor="ctr"/>
              <a:lstStyle/>
              <a:p>
                <a:pPr algn="ctr">
                  <a:lnSpc>
                    <a:spcPts val="2880"/>
                  </a:lnSpc>
                </a:pPr>
                <a:endParaRPr/>
              </a:p>
            </p:txBody>
          </p:sp>
        </p:grpSp>
        <p:grpSp>
          <p:nvGrpSpPr>
            <p:cNvPr id="45" name="Group 45"/>
            <p:cNvGrpSpPr/>
            <p:nvPr/>
          </p:nvGrpSpPr>
          <p:grpSpPr>
            <a:xfrm>
              <a:off x="0" y="282042"/>
              <a:ext cx="27850587" cy="2291284"/>
              <a:chOff x="0" y="0"/>
              <a:chExt cx="5501351" cy="452599"/>
            </a:xfrm>
          </p:grpSpPr>
          <p:sp>
            <p:nvSpPr>
              <p:cNvPr id="46" name="Freeform 46"/>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dirty="0"/>
              </a:p>
            </p:txBody>
          </p:sp>
          <p:sp>
            <p:nvSpPr>
              <p:cNvPr id="47" name="TextBox 47"/>
              <p:cNvSpPr txBox="1"/>
              <p:nvPr/>
            </p:nvSpPr>
            <p:spPr>
              <a:xfrm>
                <a:off x="0" y="0"/>
                <a:ext cx="5501351" cy="452599"/>
              </a:xfrm>
              <a:prstGeom prst="rect">
                <a:avLst/>
              </a:prstGeom>
            </p:spPr>
            <p:txBody>
              <a:bodyPr lIns="50800" tIns="50800" rIns="50800" bIns="50800" rtlCol="0" anchor="ctr"/>
              <a:lstStyle/>
              <a:p>
                <a:pPr algn="ctr">
                  <a:lnSpc>
                    <a:spcPts val="2880"/>
                  </a:lnSpc>
                </a:pPr>
                <a:endParaRPr/>
              </a:p>
            </p:txBody>
          </p:sp>
        </p:grpSp>
      </p:grpSp>
      <p:sp>
        <p:nvSpPr>
          <p:cNvPr id="7" name="灯片编号占位符 6"/>
          <p:cNvSpPr>
            <a:spLocks noGrp="1"/>
          </p:cNvSpPr>
          <p:nvPr>
            <p:ph type="sldNum" sz="quarter" idx="12"/>
          </p:nvPr>
        </p:nvSpPr>
        <p:spPr>
          <a:xfrm>
            <a:off x="15352206" y="9254412"/>
            <a:ext cx="2133600" cy="365125"/>
          </a:xfrm>
        </p:spPr>
        <p:txBody>
          <a:bodyPr/>
          <a:lstStyle/>
          <a:p>
            <a:fld id="{B6F15528-21DE-4FAA-801E-634DDDAF4B2B}" type="slidenum">
              <a:rPr lang="en-US" smtClean="0"/>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a:off x="2744623" y="3196873"/>
            <a:ext cx="2745105" cy="3175806"/>
            <a:chOff x="-263312" y="-171450"/>
            <a:chExt cx="3660140" cy="4234407"/>
          </a:xfrm>
        </p:grpSpPr>
        <p:sp>
          <p:nvSpPr>
            <p:cNvPr id="28" name="TextBox 28"/>
            <p:cNvSpPr txBox="1"/>
            <p:nvPr/>
          </p:nvSpPr>
          <p:spPr>
            <a:xfrm>
              <a:off x="8311" y="-171450"/>
              <a:ext cx="3115717" cy="4234407"/>
            </a:xfrm>
            <a:prstGeom prst="rect">
              <a:avLst/>
            </a:prstGeom>
          </p:spPr>
          <p:txBody>
            <a:bodyPr lIns="0" tIns="0" rIns="0" bIns="0" rtlCol="0" anchor="t">
              <a:spAutoFit/>
            </a:bodyPr>
            <a:lstStyle/>
            <a:p>
              <a:pPr algn="ctr">
                <a:lnSpc>
                  <a:spcPts val="12880"/>
                </a:lnSpc>
              </a:pPr>
              <a:r>
                <a:rPr lang="en-US" sz="9200" b="1" dirty="0" err="1">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目录</a:t>
              </a:r>
              <a:endParaRPr lang="en-US" sz="92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9" name="TextBox 29"/>
            <p:cNvSpPr txBox="1"/>
            <p:nvPr/>
          </p:nvSpPr>
          <p:spPr>
            <a:xfrm>
              <a:off x="-263312" y="1713230"/>
              <a:ext cx="3660140" cy="658813"/>
            </a:xfrm>
            <a:prstGeom prst="rect">
              <a:avLst/>
            </a:prstGeom>
          </p:spPr>
          <p:txBody>
            <a:bodyPr wrap="square" lIns="0" tIns="0" rIns="0" bIns="0" rtlCol="0" anchor="t">
              <a:spAutoFit/>
            </a:bodyPr>
            <a:lstStyle/>
            <a:p>
              <a:pPr algn="ctr">
                <a:lnSpc>
                  <a:spcPts val="4200"/>
                </a:lnSpc>
              </a:pPr>
              <a:r>
                <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rPr>
                <a:t>CONTENTS</a:t>
              </a:r>
            </a:p>
          </p:txBody>
        </p:sp>
      </p:grpSp>
      <p:sp>
        <p:nvSpPr>
          <p:cNvPr id="33" name="TextBox 33"/>
          <p:cNvSpPr txBox="1"/>
          <p:nvPr>
            <p:custDataLst>
              <p:tags r:id="rId1"/>
            </p:custDataLst>
          </p:nvPr>
        </p:nvSpPr>
        <p:spPr>
          <a:xfrm>
            <a:off x="8291082" y="1369652"/>
            <a:ext cx="836133"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1.1</a:t>
            </a:r>
          </a:p>
        </p:txBody>
      </p:sp>
      <p:sp>
        <p:nvSpPr>
          <p:cNvPr id="34" name="TextBox 34"/>
          <p:cNvSpPr txBox="1"/>
          <p:nvPr>
            <p:custDataLst>
              <p:tags r:id="rId2"/>
            </p:custDataLst>
          </p:nvPr>
        </p:nvSpPr>
        <p:spPr>
          <a:xfrm>
            <a:off x="9635490" y="1369695"/>
            <a:ext cx="5497195"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38" name="TextBox 38"/>
          <p:cNvSpPr txBox="1"/>
          <p:nvPr>
            <p:custDataLst>
              <p:tags r:id="rId3"/>
            </p:custDataLst>
          </p:nvPr>
        </p:nvSpPr>
        <p:spPr>
          <a:xfrm>
            <a:off x="8291082" y="2354537"/>
            <a:ext cx="92372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1.2</a:t>
            </a:r>
          </a:p>
        </p:txBody>
      </p:sp>
      <p:sp>
        <p:nvSpPr>
          <p:cNvPr id="43" name="TextBox 43"/>
          <p:cNvSpPr txBox="1"/>
          <p:nvPr>
            <p:custDataLst>
              <p:tags r:id="rId4"/>
            </p:custDataLst>
          </p:nvPr>
        </p:nvSpPr>
        <p:spPr>
          <a:xfrm>
            <a:off x="8291082" y="3338787"/>
            <a:ext cx="92372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1.3</a:t>
            </a:r>
          </a:p>
        </p:txBody>
      </p:sp>
      <p:sp>
        <p:nvSpPr>
          <p:cNvPr id="44" name="TextBox 44"/>
          <p:cNvSpPr txBox="1"/>
          <p:nvPr>
            <p:custDataLst>
              <p:tags r:id="rId5"/>
            </p:custDataLst>
          </p:nvPr>
        </p:nvSpPr>
        <p:spPr>
          <a:xfrm>
            <a:off x="9635490" y="3338830"/>
            <a:ext cx="5539105"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密码学的基本属性</a:t>
            </a:r>
          </a:p>
        </p:txBody>
      </p:sp>
      <p:grpSp>
        <p:nvGrpSpPr>
          <p:cNvPr id="50" name="Group 50"/>
          <p:cNvGrpSpPr/>
          <p:nvPr/>
        </p:nvGrpSpPr>
        <p:grpSpPr>
          <a:xfrm>
            <a:off x="-1299845" y="9109075"/>
            <a:ext cx="21159470" cy="1315720"/>
            <a:chOff x="0" y="0"/>
            <a:chExt cx="28212281" cy="2573326"/>
          </a:xfrm>
        </p:grpSpPr>
        <p:grpSp>
          <p:nvGrpSpPr>
            <p:cNvPr id="51" name="Group 51"/>
            <p:cNvGrpSpPr/>
            <p:nvPr/>
          </p:nvGrpSpPr>
          <p:grpSpPr>
            <a:xfrm>
              <a:off x="361694" y="0"/>
              <a:ext cx="27850587" cy="2024584"/>
              <a:chOff x="0" y="0"/>
              <a:chExt cx="5501351" cy="399918"/>
            </a:xfrm>
          </p:grpSpPr>
          <p:sp>
            <p:nvSpPr>
              <p:cNvPr id="52" name="Freeform 52"/>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53" name="TextBox 53"/>
              <p:cNvSpPr txBox="1"/>
              <p:nvPr/>
            </p:nvSpPr>
            <p:spPr>
              <a:xfrm>
                <a:off x="0" y="0"/>
                <a:ext cx="5501351" cy="399918"/>
              </a:xfrm>
              <a:prstGeom prst="rect">
                <a:avLst/>
              </a:prstGeom>
            </p:spPr>
            <p:txBody>
              <a:bodyPr lIns="50800" tIns="50800" rIns="50800" bIns="50800" rtlCol="0" anchor="ctr"/>
              <a:lstStyle/>
              <a:p>
                <a:pPr algn="ctr">
                  <a:lnSpc>
                    <a:spcPts val="2880"/>
                  </a:lnSpc>
                </a:pPr>
                <a:endParaRPr/>
              </a:p>
            </p:txBody>
          </p:sp>
        </p:grpSp>
        <p:grpSp>
          <p:nvGrpSpPr>
            <p:cNvPr id="54" name="Group 54"/>
            <p:cNvGrpSpPr/>
            <p:nvPr/>
          </p:nvGrpSpPr>
          <p:grpSpPr>
            <a:xfrm>
              <a:off x="0" y="282042"/>
              <a:ext cx="27850587" cy="2291284"/>
              <a:chOff x="0" y="0"/>
              <a:chExt cx="5501351" cy="452599"/>
            </a:xfrm>
          </p:grpSpPr>
          <p:sp>
            <p:nvSpPr>
              <p:cNvPr id="55" name="Freeform 55"/>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56" name="TextBox 56"/>
              <p:cNvSpPr txBox="1"/>
              <p:nvPr/>
            </p:nvSpPr>
            <p:spPr>
              <a:xfrm>
                <a:off x="0" y="0"/>
                <a:ext cx="5501351" cy="452599"/>
              </a:xfrm>
              <a:prstGeom prst="rect">
                <a:avLst/>
              </a:prstGeom>
            </p:spPr>
            <p:txBody>
              <a:bodyPr lIns="50800" tIns="50800" rIns="50800" bIns="50800" rtlCol="0" anchor="ctr"/>
              <a:lstStyle/>
              <a:p>
                <a:pPr algn="ctr">
                  <a:lnSpc>
                    <a:spcPts val="2880"/>
                  </a:lnSpc>
                </a:pPr>
                <a:endParaRPr/>
              </a:p>
            </p:txBody>
          </p:sp>
        </p:grpSp>
      </p:grpSp>
      <p:sp>
        <p:nvSpPr>
          <p:cNvPr id="66" name="TextBox 44"/>
          <p:cNvSpPr txBox="1"/>
          <p:nvPr>
            <p:custDataLst>
              <p:tags r:id="rId6"/>
            </p:custDataLst>
          </p:nvPr>
        </p:nvSpPr>
        <p:spPr>
          <a:xfrm>
            <a:off x="9635421" y="4323037"/>
            <a:ext cx="4766247"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密码体制分类</a:t>
            </a:r>
          </a:p>
        </p:txBody>
      </p:sp>
      <p:sp>
        <p:nvSpPr>
          <p:cNvPr id="67" name="TextBox 43"/>
          <p:cNvSpPr txBox="1"/>
          <p:nvPr>
            <p:custDataLst>
              <p:tags r:id="rId7"/>
            </p:custDataLst>
          </p:nvPr>
        </p:nvSpPr>
        <p:spPr>
          <a:xfrm>
            <a:off x="8291082" y="4323037"/>
            <a:ext cx="92372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1.4</a:t>
            </a:r>
          </a:p>
        </p:txBody>
      </p:sp>
      <p:sp>
        <p:nvSpPr>
          <p:cNvPr id="62" name="TextBox 34"/>
          <p:cNvSpPr txBox="1"/>
          <p:nvPr>
            <p:custDataLst>
              <p:tags r:id="rId8"/>
            </p:custDataLst>
          </p:nvPr>
        </p:nvSpPr>
        <p:spPr>
          <a:xfrm>
            <a:off x="9635490" y="2354580"/>
            <a:ext cx="5833110"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57" name="TextBox 44"/>
          <p:cNvSpPr txBox="1"/>
          <p:nvPr>
            <p:custDataLst>
              <p:tags r:id="rId9"/>
            </p:custDataLst>
          </p:nvPr>
        </p:nvSpPr>
        <p:spPr>
          <a:xfrm>
            <a:off x="9635421" y="5307287"/>
            <a:ext cx="5070732"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a:t>
            </a:r>
          </a:p>
        </p:txBody>
      </p:sp>
      <p:sp>
        <p:nvSpPr>
          <p:cNvPr id="58" name="TextBox 43"/>
          <p:cNvSpPr txBox="1"/>
          <p:nvPr>
            <p:custDataLst>
              <p:tags r:id="rId10"/>
            </p:custDataLst>
          </p:nvPr>
        </p:nvSpPr>
        <p:spPr>
          <a:xfrm>
            <a:off x="8291082" y="5307287"/>
            <a:ext cx="92372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a:t>
            </a:r>
          </a:p>
        </p:txBody>
      </p:sp>
      <p:sp>
        <p:nvSpPr>
          <p:cNvPr id="73" name="TextBox 44"/>
          <p:cNvSpPr txBox="1"/>
          <p:nvPr>
            <p:custDataLst>
              <p:tags r:id="rId11"/>
            </p:custDataLst>
          </p:nvPr>
        </p:nvSpPr>
        <p:spPr>
          <a:xfrm>
            <a:off x="9635421" y="6290267"/>
            <a:ext cx="3810216"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密码的未来</a:t>
            </a:r>
          </a:p>
        </p:txBody>
      </p:sp>
      <p:sp>
        <p:nvSpPr>
          <p:cNvPr id="74" name="TextBox 43"/>
          <p:cNvSpPr txBox="1"/>
          <p:nvPr>
            <p:custDataLst>
              <p:tags r:id="rId12"/>
            </p:custDataLst>
          </p:nvPr>
        </p:nvSpPr>
        <p:spPr>
          <a:xfrm>
            <a:off x="8291082" y="6290267"/>
            <a:ext cx="92372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1.6</a:t>
            </a:r>
          </a:p>
        </p:txBody>
      </p:sp>
      <p:sp>
        <p:nvSpPr>
          <p:cNvPr id="45" name="TextBox 33"/>
          <p:cNvSpPr txBox="1"/>
          <p:nvPr>
            <p:custDataLst>
              <p:tags r:id="rId13"/>
            </p:custDataLst>
          </p:nvPr>
        </p:nvSpPr>
        <p:spPr>
          <a:xfrm>
            <a:off x="8378077" y="7280232"/>
            <a:ext cx="836133"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1.7</a:t>
            </a:r>
          </a:p>
        </p:txBody>
      </p:sp>
      <p:sp>
        <p:nvSpPr>
          <p:cNvPr id="46" name="TextBox 34"/>
          <p:cNvSpPr txBox="1"/>
          <p:nvPr>
            <p:custDataLst>
              <p:tags r:id="rId14"/>
            </p:custDataLst>
          </p:nvPr>
        </p:nvSpPr>
        <p:spPr>
          <a:xfrm>
            <a:off x="9677400" y="7273290"/>
            <a:ext cx="5497195"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p>
        </p:txBody>
      </p:sp>
      <p:sp>
        <p:nvSpPr>
          <p:cNvPr id="32" name="灯片编号占位符 31"/>
          <p:cNvSpPr>
            <a:spLocks noGrp="1"/>
          </p:cNvSpPr>
          <p:nvPr>
            <p:ph type="sldNum" sz="quarter" idx="12"/>
          </p:nvPr>
        </p:nvSpPr>
        <p:spPr>
          <a:xfrm>
            <a:off x="15378279" y="9581905"/>
            <a:ext cx="2133600" cy="441325"/>
          </a:xfrm>
        </p:spPr>
        <p:txBody>
          <a:bodyPr/>
          <a:lstStyle/>
          <a:p>
            <a:fld id="{B6F15528-21DE-4FAA-801E-634DDDAF4B2B}" type="slidenum">
              <a:rPr lang="en-US" smtClean="0"/>
              <a:t>2</a:t>
            </a:fld>
            <a:endParaRPr lang="en-US" dirty="0"/>
          </a:p>
        </p:txBody>
      </p:sp>
      <p:grpSp>
        <p:nvGrpSpPr>
          <p:cNvPr id="35" name="组合 34"/>
          <p:cNvGrpSpPr/>
          <p:nvPr/>
        </p:nvGrpSpPr>
        <p:grpSpPr>
          <a:xfrm>
            <a:off x="796975" y="605801"/>
            <a:ext cx="3700052" cy="416951"/>
            <a:chOff x="13811849" y="507954"/>
            <a:chExt cx="3700052" cy="416951"/>
          </a:xfrm>
        </p:grpSpPr>
        <p:sp>
          <p:nvSpPr>
            <p:cNvPr id="36" name="文本框 3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7" name="图片 36"/>
            <p:cNvPicPr>
              <a:picLocks noChangeAspect="1"/>
            </p:cNvPicPr>
            <p:nvPr/>
          </p:nvPicPr>
          <p:blipFill>
            <a:blip r:embed="rId16"/>
            <a:stretch>
              <a:fillRect/>
            </a:stretch>
          </p:blipFill>
          <p:spPr>
            <a:xfrm>
              <a:off x="13944600" y="877286"/>
              <a:ext cx="2771429" cy="4761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1.1</a:t>
            </a: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fld id="{B6F15528-21DE-4FAA-801E-634DDDAF4B2B}" type="slidenum">
              <a:rPr lang="en-US" smtClean="0"/>
              <a:t>3</a:t>
            </a:fld>
            <a:endParaRPr lang="en-US" dirty="0"/>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29" name="TextBox 29"/>
          <p:cNvSpPr txBox="1"/>
          <p:nvPr/>
        </p:nvSpPr>
        <p:spPr>
          <a:xfrm>
            <a:off x="1734904" y="2324100"/>
            <a:ext cx="14818191" cy="531431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密码学是一门既年轻又古老的学科，它有着悠久而奇妙的历史。其实，在人类文明发展到使用语言和文字后，就产生了保密通信和身份认证问题，于是密码学应运而生。</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在几千年前，密码主要用于军事及外交领域的保密通信。这段时期的密码叫作古代密码，加密方法没有上升到理论学科的水平，研究内容也只是文字内容变换技术，或隐藏技术，但它反映了古人的高超智慧和绝妙想象力，并且蕴含着现代密码学思想，又被称为密码术或隐藏术。</a:t>
            </a:r>
          </a:p>
          <a:p>
            <a:pPr indent="914400" algn="just" fontAlgn="auto" latinLnBrk="1">
              <a:lnSpc>
                <a:spcPct val="120000"/>
              </a:lnSpc>
              <a:extLst>
                <a:ext uri="{35155182-B16C-46BC-9424-99874614C6A1}">
                  <wpsdc:indentchars xmlns="" xmlns:wpsdc="http://www.wps.cn/officeDocument/2017/drawingmlCustomData" val="200" checksum="797548545"/>
                </a:ext>
              </a:extLst>
            </a:pPr>
            <a:endParaRPr lang="zh-CN" altLang="en-US" sz="3600" dirty="0">
              <a:solidFill>
                <a:srgbClr val="000000"/>
              </a:solidFill>
              <a:sym typeface="字由点字典黑 2"/>
            </a:endParaRPr>
          </a:p>
        </p:txBody>
      </p:sp>
      <p:sp>
        <p:nvSpPr>
          <p:cNvPr id="30"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31"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sp>
        <p:nvSpPr>
          <p:cNvPr id="6" name="灯片编号占位符 5"/>
          <p:cNvSpPr>
            <a:spLocks noGrp="1"/>
          </p:cNvSpPr>
          <p:nvPr>
            <p:ph type="sldNum" sz="quarter" idx="12"/>
          </p:nvPr>
        </p:nvSpPr>
        <p:spPr/>
        <p:txBody>
          <a:bodyPr/>
          <a:lstStyle/>
          <a:p>
            <a:fld id="{B6F15528-21DE-4FAA-801E-634DDDAF4B2B}" type="slidenum">
              <a:rPr lang="en-US" smtClean="0"/>
              <a:t>4</a:t>
            </a:fld>
            <a:endParaRPr lang="en-US"/>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34904" y="2552700"/>
            <a:ext cx="14818191" cy="531431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1949年香农（</a:t>
            </a:r>
            <a:r>
              <a:rPr lang="en-US" altLang="zh-CN" sz="3600" dirty="0">
                <a:solidFill>
                  <a:srgbClr val="000000"/>
                </a:solidFill>
                <a:latin typeface="Times New Roman" panose="02020603050405020304" pitchFamily="18" charset="0"/>
                <a:sym typeface="字由点字典黑 2"/>
              </a:rPr>
              <a:t>Shannon）</a:t>
            </a:r>
            <a:r>
              <a:rPr lang="zh-CN" altLang="en-US" sz="3600" dirty="0">
                <a:solidFill>
                  <a:srgbClr val="000000"/>
                </a:solidFill>
                <a:latin typeface="Times New Roman" panose="02020603050405020304" pitchFamily="18" charset="0"/>
                <a:sym typeface="字由点字典黑 2"/>
              </a:rPr>
              <a:t>发表了《保密系统的通信理论》，将信息论引入密码学，不仅为密码学的发展奠定了坚实的理论基础，而且把发展了数千年的密码术推向了科学的轨道，正式开启了密码学的大门，形成密码学这一科学。因此，在此之后出现的密码技术才能真正称为密码学。1976年，</a:t>
            </a:r>
            <a:r>
              <a:rPr lang="en-US" altLang="zh-CN" sz="3600" dirty="0">
                <a:solidFill>
                  <a:srgbClr val="000000"/>
                </a:solidFill>
                <a:latin typeface="Times New Roman" panose="02020603050405020304" pitchFamily="18" charset="0"/>
                <a:sym typeface="字由点字典黑 2"/>
              </a:rPr>
              <a:t>Diffie</a:t>
            </a:r>
            <a:r>
              <a:rPr lang="zh-CN" altLang="en-US" sz="3600" dirty="0">
                <a:solidFill>
                  <a:srgbClr val="000000"/>
                </a:solidFill>
                <a:latin typeface="Times New Roman" panose="02020603050405020304" pitchFamily="18" charset="0"/>
                <a:sym typeface="字由点字典黑 2"/>
              </a:rPr>
              <a:t>和</a:t>
            </a:r>
            <a:r>
              <a:rPr lang="en-US" altLang="zh-CN" sz="3600" dirty="0">
                <a:solidFill>
                  <a:srgbClr val="000000"/>
                </a:solidFill>
                <a:latin typeface="Times New Roman" panose="02020603050405020304" pitchFamily="18" charset="0"/>
                <a:sym typeface="字由点字典黑 2"/>
              </a:rPr>
              <a:t>Hellman</a:t>
            </a:r>
            <a:r>
              <a:rPr lang="zh-CN" altLang="en-US" sz="3600" dirty="0">
                <a:solidFill>
                  <a:srgbClr val="000000"/>
                </a:solidFill>
                <a:latin typeface="Times New Roman" panose="02020603050405020304" pitchFamily="18" charset="0"/>
                <a:sym typeface="字由点字典黑 2"/>
              </a:rPr>
              <a:t>发表的《密码学的新方向》更是密码发展的里程碑，开启了现代密码算法研究的新征程。</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因此，根据时间顺序、加密原理和加密方式，可以将密码学的发展历史大致分为如下四个时期。</a:t>
            </a:r>
          </a:p>
        </p:txBody>
      </p:sp>
      <p:sp>
        <p:nvSpPr>
          <p:cNvPr id="6" name="灯片编号占位符 5"/>
          <p:cNvSpPr>
            <a:spLocks noGrp="1"/>
          </p:cNvSpPr>
          <p:nvPr>
            <p:ph type="sldNum" sz="quarter" idx="12"/>
          </p:nvPr>
        </p:nvSpPr>
        <p:spPr/>
        <p:txBody>
          <a:bodyPr/>
          <a:lstStyle/>
          <a:p>
            <a:fld id="{B6F15528-21DE-4FAA-801E-634DDDAF4B2B}" type="slidenum">
              <a:rPr lang="en-US" smtClean="0"/>
              <a:t>5</a:t>
            </a:fld>
            <a:endParaRPr lang="en-US"/>
          </a:p>
        </p:txBody>
      </p:sp>
      <p:grpSp>
        <p:nvGrpSpPr>
          <p:cNvPr id="12" name="Group 2"/>
          <p:cNvGrpSpPr/>
          <p:nvPr/>
        </p:nvGrpSpPr>
        <p:grpSpPr>
          <a:xfrm>
            <a:off x="412090" y="1028700"/>
            <a:ext cx="7800783" cy="275915"/>
            <a:chOff x="0" y="0"/>
            <a:chExt cx="2054527" cy="72669"/>
          </a:xfrm>
        </p:grpSpPr>
        <p:sp>
          <p:nvSpPr>
            <p:cNvPr id="1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5"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6"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34904" y="2019474"/>
            <a:ext cx="14818191"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b="1" dirty="0">
                <a:solidFill>
                  <a:srgbClr val="000000"/>
                </a:solidFill>
                <a:latin typeface="Times New Roman" panose="02020603050405020304" pitchFamily="18" charset="0"/>
                <a:sym typeface="字由点字典黑 2"/>
              </a:rPr>
              <a:t>第一时期：古代密码时代</a:t>
            </a:r>
            <a:endParaRPr lang="en-US" altLang="zh-CN" sz="3600" b="1" dirty="0">
              <a:solidFill>
                <a:srgbClr val="000000"/>
              </a:solidFill>
              <a:latin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时间范围：远古至第一次世界大战前。</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古代密码主要依靠经验和直觉进行设计，常用方法包括替代、移位和隐藏。密码通常由人工完成，并通过信使传递，主要应用于军事、政治和外交领域。</a:t>
            </a:r>
            <a:endParaRPr lang="en-US" altLang="zh-CN" sz="3600" dirty="0">
              <a:solidFill>
                <a:srgbClr val="000000"/>
              </a:solidFill>
              <a:latin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典型密码技术：</a:t>
            </a:r>
            <a:endParaRPr lang="en-US" altLang="zh-CN" sz="3600" dirty="0">
              <a:solidFill>
                <a:srgbClr val="000000"/>
              </a:solidFill>
              <a:latin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密码棒（</a:t>
            </a:r>
            <a:r>
              <a:rPr lang="en-US" altLang="zh-CN" sz="3600" dirty="0">
                <a:solidFill>
                  <a:srgbClr val="000000"/>
                </a:solidFill>
                <a:latin typeface="Times New Roman" panose="02020603050405020304" pitchFamily="18" charset="0"/>
                <a:sym typeface="字由点字典黑 2"/>
              </a:rPr>
              <a:t>Scytale）：</a:t>
            </a:r>
            <a:r>
              <a:rPr lang="zh-CN" altLang="en-US" sz="3600" dirty="0">
                <a:solidFill>
                  <a:srgbClr val="000000"/>
                </a:solidFill>
                <a:latin typeface="Times New Roman" panose="02020603050405020304" pitchFamily="18" charset="0"/>
                <a:sym typeface="字由点字典黑 2"/>
              </a:rPr>
              <a:t>古希腊军队将羊皮纸缠绕在特定粗细的木棒上书写。羊皮纸展开后文字杂乱，只有缠绕在相同木棒上才能还原信息。</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凯撒密码（</a:t>
            </a:r>
            <a:r>
              <a:rPr lang="en-US" altLang="zh-CN" sz="3600" dirty="0">
                <a:solidFill>
                  <a:srgbClr val="000000"/>
                </a:solidFill>
                <a:latin typeface="Times New Roman" panose="02020603050405020304" pitchFamily="18" charset="0"/>
                <a:sym typeface="字由点字典黑 2"/>
              </a:rPr>
              <a:t>Caesar Cipher）：</a:t>
            </a:r>
            <a:r>
              <a:rPr lang="zh-CN" altLang="en-US" sz="3600" dirty="0">
                <a:solidFill>
                  <a:srgbClr val="000000"/>
                </a:solidFill>
                <a:latin typeface="Times New Roman" panose="02020603050405020304" pitchFamily="18" charset="0"/>
                <a:sym typeface="字由点字典黑 2"/>
              </a:rPr>
              <a:t>将字母按照固定位置循环移位。例如字母顺移3位时，</a:t>
            </a:r>
            <a:r>
              <a:rPr lang="en-US" altLang="zh-CN" sz="3600" dirty="0">
                <a:solidFill>
                  <a:srgbClr val="000000"/>
                </a:solidFill>
                <a:latin typeface="Times New Roman" panose="02020603050405020304" pitchFamily="18" charset="0"/>
                <a:sym typeface="字由点字典黑 2"/>
              </a:rPr>
              <a:t>cryptography</a:t>
            </a:r>
            <a:r>
              <a:rPr lang="zh-CN" altLang="en-US" sz="3600" dirty="0">
                <a:solidFill>
                  <a:srgbClr val="000000"/>
                </a:solidFill>
                <a:latin typeface="Times New Roman" panose="02020603050405020304" pitchFamily="18" charset="0"/>
                <a:sym typeface="字由点字典黑 2"/>
              </a:rPr>
              <a:t>被加密为</a:t>
            </a:r>
            <a:r>
              <a:rPr lang="en-US" altLang="zh-CN" sz="3600" dirty="0">
                <a:solidFill>
                  <a:srgbClr val="000000"/>
                </a:solidFill>
                <a:latin typeface="Times New Roman" panose="02020603050405020304" pitchFamily="18" charset="0"/>
                <a:sym typeface="字由点字典黑 2"/>
              </a:rPr>
              <a:t>FUBSWRJUDSKB。</a:t>
            </a:r>
          </a:p>
          <a:p>
            <a:pPr indent="914400" algn="just" fontAlgn="auto" latinLnBrk="1">
              <a:lnSpc>
                <a:spcPct val="120000"/>
              </a:lnSpc>
              <a:extLst>
                <a:ext uri="{35155182-B16C-46BC-9424-99874614C6A1}">
                  <wpsdc:indentchars xmlns="" xmlns:wpsdc="http://www.wps.cn/officeDocument/2017/drawingmlCustomData" val="200" checksum="797548545"/>
                </a:ext>
              </a:extLst>
            </a:pPr>
            <a:endParaRPr lang="zh-CN" altLang="en-US" sz="3600" dirty="0">
              <a:solidFill>
                <a:srgbClr val="000000"/>
              </a:solidFill>
              <a:latin typeface="Times New Roman" panose="02020603050405020304" pitchFamily="18" charset="0"/>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t>6</a:t>
            </a:fld>
            <a:endParaRPr lang="en-US"/>
          </a:p>
        </p:txBody>
      </p:sp>
      <p:grpSp>
        <p:nvGrpSpPr>
          <p:cNvPr id="12" name="Group 2"/>
          <p:cNvGrpSpPr/>
          <p:nvPr/>
        </p:nvGrpSpPr>
        <p:grpSpPr>
          <a:xfrm>
            <a:off x="412090" y="1028700"/>
            <a:ext cx="7800783" cy="275915"/>
            <a:chOff x="0" y="0"/>
            <a:chExt cx="2054527" cy="72669"/>
          </a:xfrm>
        </p:grpSpPr>
        <p:sp>
          <p:nvSpPr>
            <p:cNvPr id="1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5"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6"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34904" y="2400474"/>
            <a:ext cx="14818191" cy="531431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隐写术：将秘密信息隐藏在公开内容中，如暗语、隐形墨水和藏头诗。一旦隐藏规则被发现，秘密信息便容易暴露。</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《六韬》中的保密通信：</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“阴符”用不同长度的符节表示不同军情；“阴书”将书信拆成三份，由三人分别传递，合并后才能读取完整内容。</a:t>
            </a:r>
          </a:p>
          <a:p>
            <a:pPr indent="914400" algn="just" fontAlgn="auto" latinLnBrk="1">
              <a:lnSpc>
                <a:spcPct val="120000"/>
              </a:lnSpc>
              <a:extLst>
                <a:ext uri="{35155182-B16C-46BC-9424-99874614C6A1}">
                  <wpsdc:indentchars xmlns="" xmlns:wpsdc="http://www.wps.cn/officeDocument/2017/drawingmlCustomData" val="200" checksum="797548545"/>
                </a:ext>
              </a:extLst>
            </a:pPr>
            <a:endParaRPr lang="en-US" altLang="zh-CN" sz="3600" dirty="0">
              <a:solidFill>
                <a:srgbClr val="000000"/>
              </a:solidFill>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时期特点：方法直观、操作简单，但缺乏严密的数学理论，大多数古典密码容易被破解。</a:t>
            </a:r>
          </a:p>
        </p:txBody>
      </p:sp>
      <p:sp>
        <p:nvSpPr>
          <p:cNvPr id="6" name="灯片编号占位符 5"/>
          <p:cNvSpPr>
            <a:spLocks noGrp="1"/>
          </p:cNvSpPr>
          <p:nvPr>
            <p:ph type="sldNum" sz="quarter" idx="12"/>
          </p:nvPr>
        </p:nvSpPr>
        <p:spPr/>
        <p:txBody>
          <a:bodyPr/>
          <a:lstStyle/>
          <a:p>
            <a:fld id="{B6F15528-21DE-4FAA-801E-634DDDAF4B2B}" type="slidenum">
              <a:rPr lang="en-US" smtClean="0"/>
              <a:t>7</a:t>
            </a:fld>
            <a:endParaRPr lang="en-US"/>
          </a:p>
        </p:txBody>
      </p:sp>
      <p:grpSp>
        <p:nvGrpSpPr>
          <p:cNvPr id="12" name="Group 2"/>
          <p:cNvGrpSpPr/>
          <p:nvPr/>
        </p:nvGrpSpPr>
        <p:grpSpPr>
          <a:xfrm>
            <a:off x="412090" y="1028700"/>
            <a:ext cx="7800783" cy="275915"/>
            <a:chOff x="0" y="0"/>
            <a:chExt cx="2054527" cy="72669"/>
          </a:xfrm>
        </p:grpSpPr>
        <p:sp>
          <p:nvSpPr>
            <p:cNvPr id="1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5"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6"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34904" y="1943100"/>
            <a:ext cx="14818191"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b="1" dirty="0">
                <a:solidFill>
                  <a:srgbClr val="000000"/>
                </a:solidFill>
                <a:sym typeface="字由点字典黑 2"/>
              </a:rPr>
              <a:t>第二时期：机械密码时代</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时间范围：两次世界大战期间。</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随着电报和无线通信的发展，军事信息可以快速远距离传输，但无线电信号容易被敌方截获，因此密码成为保障通信安全和影响战争胜负的重要手段。</a:t>
            </a:r>
            <a:endParaRPr lang="en-US" altLang="zh-CN" sz="3600" dirty="0">
              <a:solidFill>
                <a:srgbClr val="000000"/>
              </a:solidFill>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发展特点：</a:t>
            </a:r>
            <a:endParaRPr lang="en-US" altLang="zh-CN" sz="3600" dirty="0">
              <a:solidFill>
                <a:srgbClr val="000000"/>
              </a:solidFill>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通信方式变化：莫尔斯电报和无线电报广泛应用，秘密信息的加密需求迅速增加。</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加密技术升级：从简单的单表替换发展为更复杂的多表替换，但基本原理仍是字母的替换与移位。</a:t>
            </a:r>
          </a:p>
          <a:p>
            <a:pPr indent="914400" algn="just" fontAlgn="auto" latinLnBrk="1">
              <a:lnSpc>
                <a:spcPct val="120000"/>
              </a:lnSpc>
              <a:extLst>
                <a:ext uri="{35155182-B16C-46BC-9424-99874614C6A1}">
                  <wpsdc:indentchars xmlns="" xmlns:wpsdc="http://www.wps.cn/officeDocument/2017/drawingmlCustomData" val="200" checksum="797548545"/>
                </a:ext>
              </a:extLst>
            </a:pPr>
            <a:endParaRPr lang="zh-CN" altLang="en-US" sz="3600" dirty="0">
              <a:solidFill>
                <a:srgbClr val="000000"/>
              </a:solidFill>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t>8</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34904" y="1950805"/>
            <a:ext cx="14818191" cy="664273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加密设备机械化：机械和电气密码机逐渐取代手工加密，提高了加密速度和复杂程度。</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密码分析科学化：数学家和统计学家参与密码研究，利用词频、重合指数和字母统计规律破译密码。</a:t>
            </a:r>
            <a:endParaRPr lang="en-US" altLang="zh-CN" sz="3600" dirty="0">
              <a:solidFill>
                <a:srgbClr val="000000"/>
              </a:solidFill>
              <a:latin typeface="Times New Roman" panose="02020603050405020304" pitchFamily="18" charset="0"/>
              <a:ea typeface="宋体" panose="02010600030101010101" pitchFamily="2" charset="-122"/>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典型密码设备：</a:t>
            </a:r>
            <a:endParaRPr lang="en-US" altLang="zh-CN" sz="3600" dirty="0">
              <a:solidFill>
                <a:srgbClr val="000000"/>
              </a:solidFill>
              <a:latin typeface="Times New Roman" panose="02020603050405020304" pitchFamily="18" charset="0"/>
              <a:ea typeface="宋体" panose="02010600030101010101" pitchFamily="2" charset="-122"/>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德国的恩尼格玛密码机（</a:t>
            </a:r>
            <a:r>
              <a:rPr lang="en-US" altLang="zh-CN" sz="3600" dirty="0">
                <a:solidFill>
                  <a:srgbClr val="000000"/>
                </a:solidFill>
                <a:latin typeface="Times New Roman" panose="02020603050405020304" pitchFamily="18" charset="0"/>
                <a:ea typeface="宋体" panose="02010600030101010101" pitchFamily="2" charset="-12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sym typeface="字由点字典黑 2"/>
              </a:rPr>
              <a:t>英国的</a:t>
            </a:r>
            <a:r>
              <a:rPr lang="en-US" altLang="zh-CN" sz="3600" dirty="0">
                <a:solidFill>
                  <a:srgbClr val="000000"/>
                </a:solidFill>
                <a:latin typeface="Times New Roman" panose="02020603050405020304" pitchFamily="18" charset="0"/>
                <a:ea typeface="宋体" panose="02010600030101010101" pitchFamily="2" charset="-122"/>
                <a:sym typeface="字由点字典黑 2"/>
              </a:rPr>
              <a:t>Typex</a:t>
            </a:r>
            <a:r>
              <a:rPr lang="zh-CN" altLang="en-US" sz="3600" dirty="0">
                <a:solidFill>
                  <a:srgbClr val="000000"/>
                </a:solidFill>
                <a:latin typeface="Times New Roman" panose="02020603050405020304" pitchFamily="18" charset="0"/>
                <a:ea typeface="宋体" panose="02010600030101010101" pitchFamily="2" charset="-122"/>
                <a:sym typeface="字由点字典黑 2"/>
              </a:rPr>
              <a:t>密码机、法国的哈格林密码机，以及日本的“红色”和“紫色”密码机。</a:t>
            </a:r>
          </a:p>
          <a:p>
            <a:pPr indent="914400" algn="just" fontAlgn="auto" latinLnBrk="1">
              <a:lnSpc>
                <a:spcPct val="120000"/>
              </a:lnSpc>
              <a:extLst>
                <a:ext uri="{35155182-B16C-46BC-9424-99874614C6A1}">
                  <wpsdc:indentchars xmlns="" xmlns:wpsdc="http://www.wps.cn/officeDocument/2017/drawingmlCustomData" val="200" checksum="797548545"/>
                </a:ext>
              </a:extLst>
            </a:pPr>
            <a:endParaRPr lang="en-US" altLang="zh-CN" sz="3600" dirty="0">
              <a:solidFill>
                <a:srgbClr val="000000"/>
              </a:solidFill>
              <a:latin typeface="Times New Roman" panose="02020603050405020304" pitchFamily="18" charset="0"/>
              <a:ea typeface="宋体" panose="02010600030101010101" pitchFamily="2" charset="-122"/>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时期特点：密码技术由手工操作走向机械化，密码设计和破译开始大量运用数学与统计方法。</a:t>
            </a:r>
          </a:p>
        </p:txBody>
      </p:sp>
      <p:sp>
        <p:nvSpPr>
          <p:cNvPr id="6" name="灯片编号占位符 5"/>
          <p:cNvSpPr>
            <a:spLocks noGrp="1"/>
          </p:cNvSpPr>
          <p:nvPr>
            <p:ph type="sldNum" sz="quarter" idx="12"/>
          </p:nvPr>
        </p:nvSpPr>
        <p:spPr/>
        <p:txBody>
          <a:bodyPr/>
          <a:lstStyle/>
          <a:p>
            <a:fld id="{B6F15528-21DE-4FAA-801E-634DDDAF4B2B}" type="slidenum">
              <a:rPr lang="en-US" smtClean="0"/>
              <a:t>9</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34904" y="1943274"/>
            <a:ext cx="14818191" cy="797115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sym typeface="字由点字典黑 2"/>
              </a:rPr>
              <a:t>第三时期：信息密码时代</a:t>
            </a:r>
            <a:endParaRPr lang="en-US" altLang="zh-CN" sz="3600" b="1" dirty="0">
              <a:solidFill>
                <a:srgbClr val="000000"/>
              </a:solidFill>
              <a:latin typeface="Times New Roman" panose="02020603050405020304" pitchFamily="18" charset="0"/>
              <a:ea typeface="宋体" panose="02010600030101010101" pitchFamily="2" charset="-122"/>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时间范围：20世纪40年代末至20世纪70年代。</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电子计算机和通信网络的出现，使密码处理对象由文字和电报码转变为数字化的文本、图像、音频和视频，密码技术由机械操作进入计算机处理阶段。</a:t>
            </a:r>
            <a:endParaRPr lang="en-US" altLang="zh-CN" sz="3600" dirty="0">
              <a:solidFill>
                <a:srgbClr val="000000"/>
              </a:solidFill>
              <a:latin typeface="Times New Roman" panose="02020603050405020304" pitchFamily="18" charset="0"/>
              <a:ea typeface="宋体" panose="02010600030101010101" pitchFamily="2" charset="-122"/>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重要发展：</a:t>
            </a:r>
            <a:endParaRPr lang="en-US" altLang="zh-CN" sz="3600" dirty="0">
              <a:solidFill>
                <a:srgbClr val="000000"/>
              </a:solidFill>
              <a:latin typeface="Times New Roman" panose="02020603050405020304" pitchFamily="18" charset="0"/>
              <a:ea typeface="宋体" panose="02010600030101010101" pitchFamily="2" charset="-122"/>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理论基础建立：1948年，香农创立信息论；1949年发表《保密系统的通信理论》，运用数学方法研究密码系统，使密码学由经验性的“艺术”转变为具有理论基础的科学。</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应用范围扩大：密码不再只服务于军事和外交，而是逐渐应用于计算机网络、商业活动和日常生活。</a:t>
            </a:r>
          </a:p>
          <a:p>
            <a:pPr indent="914400" algn="just" fontAlgn="auto" latinLnBrk="1">
              <a:lnSpc>
                <a:spcPct val="120000"/>
              </a:lnSpc>
              <a:extLst>
                <a:ext uri="{35155182-B16C-46BC-9424-99874614C6A1}">
                  <wpsdc:indentchars xmlns="" xmlns:wpsdc="http://www.wps.cn/officeDocument/2017/drawingmlCustomData"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t>10</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34904" y="1943274"/>
            <a:ext cx="14818191" cy="465010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对称密码标准化：1977年，美国正式发布数据加密标准 </a:t>
            </a:r>
            <a:r>
              <a:rPr lang="en-US" altLang="zh-CN" sz="3600" dirty="0">
                <a:solidFill>
                  <a:srgbClr val="000000"/>
                </a:solidFill>
                <a:latin typeface="Times New Roman" panose="02020603050405020304" pitchFamily="18" charset="0"/>
                <a:sym typeface="字由点字典黑 2"/>
              </a:rPr>
              <a:t>DES；</a:t>
            </a:r>
            <a:r>
              <a:rPr lang="zh-CN" altLang="en-US" sz="3600" dirty="0">
                <a:solidFill>
                  <a:srgbClr val="000000"/>
                </a:solidFill>
                <a:latin typeface="Times New Roman" panose="02020603050405020304" pitchFamily="18" charset="0"/>
                <a:sym typeface="字由点字典黑 2"/>
              </a:rPr>
              <a:t>随着计算能力提高，56位密钥的</a:t>
            </a:r>
            <a:r>
              <a:rPr lang="en-US" altLang="zh-CN" sz="3600" dirty="0">
                <a:solidFill>
                  <a:srgbClr val="000000"/>
                </a:solidFill>
                <a:latin typeface="Times New Roman" panose="02020603050405020304" pitchFamily="18" charset="0"/>
                <a:sym typeface="字由点字典黑 2"/>
              </a:rPr>
              <a:t>DES</a:t>
            </a:r>
            <a:r>
              <a:rPr lang="zh-CN" altLang="en-US" sz="3600" dirty="0">
                <a:solidFill>
                  <a:srgbClr val="000000"/>
                </a:solidFill>
                <a:latin typeface="Times New Roman" panose="02020603050405020304" pitchFamily="18" charset="0"/>
                <a:sym typeface="字由点字典黑 2"/>
              </a:rPr>
              <a:t>逐渐失去安全性。</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en-US" altLang="zh-CN" sz="3600" dirty="0">
                <a:solidFill>
                  <a:srgbClr val="000000"/>
                </a:solidFill>
                <a:latin typeface="Times New Roman" panose="02020603050405020304" pitchFamily="18" charset="0"/>
                <a:sym typeface="字由点字典黑 2"/>
              </a:rPr>
              <a:t>AES</a:t>
            </a:r>
            <a:r>
              <a:rPr lang="zh-CN" altLang="en-US" sz="3600" dirty="0">
                <a:solidFill>
                  <a:srgbClr val="000000"/>
                </a:solidFill>
                <a:latin typeface="Times New Roman" panose="02020603050405020304" pitchFamily="18" charset="0"/>
                <a:sym typeface="字由点字典黑 2"/>
              </a:rPr>
              <a:t>取代</a:t>
            </a:r>
            <a:r>
              <a:rPr lang="en-US" altLang="zh-CN" sz="3600" dirty="0">
                <a:solidFill>
                  <a:srgbClr val="000000"/>
                </a:solidFill>
                <a:latin typeface="Times New Roman" panose="02020603050405020304" pitchFamily="18" charset="0"/>
                <a:sym typeface="字由点字典黑 2"/>
              </a:rPr>
              <a:t>DES：</a:t>
            </a:r>
            <a:r>
              <a:rPr lang="zh-CN" altLang="en-US" sz="3600" dirty="0">
                <a:solidFill>
                  <a:srgbClr val="000000"/>
                </a:solidFill>
                <a:latin typeface="Times New Roman" panose="02020603050405020304" pitchFamily="18" charset="0"/>
                <a:sym typeface="字由点字典黑 2"/>
              </a:rPr>
              <a:t>经过公开遴选，</a:t>
            </a:r>
            <a:r>
              <a:rPr lang="en-US" altLang="zh-CN" sz="3600" dirty="0">
                <a:solidFill>
                  <a:srgbClr val="000000"/>
                </a:solidFill>
                <a:latin typeface="Times New Roman" panose="02020603050405020304" pitchFamily="18" charset="0"/>
                <a:sym typeface="字由点字典黑 2"/>
              </a:rPr>
              <a:t>Rijndael</a:t>
            </a:r>
            <a:r>
              <a:rPr lang="zh-CN" altLang="en-US" sz="3600" dirty="0">
                <a:solidFill>
                  <a:srgbClr val="000000"/>
                </a:solidFill>
                <a:latin typeface="Times New Roman" panose="02020603050405020304" pitchFamily="18" charset="0"/>
                <a:sym typeface="字由点字典黑 2"/>
              </a:rPr>
              <a:t>算法于2000年被选为高级加密标准 </a:t>
            </a:r>
            <a:r>
              <a:rPr lang="en-US" altLang="zh-CN" sz="3600" dirty="0">
                <a:solidFill>
                  <a:srgbClr val="000000"/>
                </a:solidFill>
                <a:latin typeface="Times New Roman" panose="02020603050405020304" pitchFamily="18" charset="0"/>
                <a:sym typeface="字由点字典黑 2"/>
              </a:rPr>
              <a:t>AES。</a:t>
            </a:r>
          </a:p>
          <a:p>
            <a:pPr indent="914400" algn="just" fontAlgn="auto" latinLnBrk="1">
              <a:lnSpc>
                <a:spcPct val="120000"/>
              </a:lnSpc>
              <a:extLst>
                <a:ext uri="{35155182-B16C-46BC-9424-99874614C6A1}">
                  <wpsdc:indentchars xmlns="" xmlns:wpsdc="http://www.wps.cn/officeDocument/2017/drawingmlCustomData" val="200" checksum="797548545"/>
                </a:ext>
              </a:extLst>
            </a:pPr>
            <a:endParaRPr lang="en-US" altLang="zh-CN" sz="3600" dirty="0">
              <a:solidFill>
                <a:srgbClr val="000000"/>
              </a:solidFill>
              <a:latin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时期特点：密码运算依靠计算机完成，以数字信息为处理对象，广泛运用信息论、概率论和数理统计等理论，实现数据的混淆、扩散和置换。</a:t>
            </a:r>
          </a:p>
        </p:txBody>
      </p:sp>
      <p:sp>
        <p:nvSpPr>
          <p:cNvPr id="6" name="灯片编号占位符 5"/>
          <p:cNvSpPr>
            <a:spLocks noGrp="1"/>
          </p:cNvSpPr>
          <p:nvPr>
            <p:ph type="sldNum" sz="quarter" idx="12"/>
          </p:nvPr>
        </p:nvSpPr>
        <p:spPr/>
        <p:txBody>
          <a:bodyPr/>
          <a:lstStyle/>
          <a:p>
            <a:fld id="{B6F15528-21DE-4FAA-801E-634DDDAF4B2B}" type="slidenum">
              <a:rPr lang="en-US" smtClean="0"/>
              <a:t>11</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34904" y="1943274"/>
            <a:ext cx="14818191" cy="797115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b="1" dirty="0">
                <a:solidFill>
                  <a:srgbClr val="000000"/>
                </a:solidFill>
                <a:latin typeface="Times New Roman" panose="02020603050405020304" pitchFamily="18" charset="0"/>
                <a:sym typeface="字由点字典黑 2"/>
              </a:rPr>
              <a:t>第四时期：现代密码时代</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起点：1976年，</a:t>
            </a:r>
            <a:r>
              <a:rPr lang="en-US" altLang="zh-CN" sz="3600" dirty="0">
                <a:solidFill>
                  <a:srgbClr val="000000"/>
                </a:solidFill>
                <a:latin typeface="Times New Roman" panose="02020603050405020304" pitchFamily="18" charset="0"/>
                <a:sym typeface="字由点字典黑 2"/>
              </a:rPr>
              <a:t>Diffie</a:t>
            </a:r>
            <a:r>
              <a:rPr lang="zh-CN" altLang="en-US" sz="3600" dirty="0">
                <a:solidFill>
                  <a:srgbClr val="000000"/>
                </a:solidFill>
                <a:latin typeface="Times New Roman" panose="02020603050405020304" pitchFamily="18" charset="0"/>
                <a:sym typeface="字由点字典黑 2"/>
              </a:rPr>
              <a:t>和</a:t>
            </a:r>
            <a:r>
              <a:rPr lang="en-US" altLang="zh-CN" sz="3600" dirty="0">
                <a:solidFill>
                  <a:srgbClr val="000000"/>
                </a:solidFill>
                <a:latin typeface="Times New Roman" panose="02020603050405020304" pitchFamily="18" charset="0"/>
                <a:sym typeface="字由点字典黑 2"/>
              </a:rPr>
              <a:t>Hellman</a:t>
            </a:r>
            <a:r>
              <a:rPr lang="zh-CN" altLang="en-US" sz="3600" dirty="0">
                <a:solidFill>
                  <a:srgbClr val="000000"/>
                </a:solidFill>
                <a:latin typeface="Times New Roman" panose="02020603050405020304" pitchFamily="18" charset="0"/>
                <a:sym typeface="字由点字典黑 2"/>
              </a:rPr>
              <a:t>发表《密码学的新方向》，提出公钥密码思想：加密算法和公钥可以公开，私钥由用户秘密保存，解决了传统密码中的密钥分配难题。</a:t>
            </a:r>
            <a:endParaRPr lang="en-US" altLang="zh-CN" sz="3600" dirty="0">
              <a:solidFill>
                <a:srgbClr val="000000"/>
              </a:solidFill>
              <a:latin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重要发展：</a:t>
            </a:r>
            <a:endParaRPr lang="en-US" altLang="zh-CN" sz="3600" dirty="0">
              <a:solidFill>
                <a:srgbClr val="000000"/>
              </a:solidFill>
              <a:latin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en-US" altLang="zh-CN" sz="3600" dirty="0">
                <a:solidFill>
                  <a:srgbClr val="000000"/>
                </a:solidFill>
                <a:latin typeface="Times New Roman" panose="02020603050405020304" pitchFamily="18" charset="0"/>
                <a:sym typeface="字由点字典黑 2"/>
              </a:rPr>
              <a:t>RSA</a:t>
            </a:r>
            <a:r>
              <a:rPr lang="zh-CN" altLang="en-US" sz="3600" dirty="0">
                <a:solidFill>
                  <a:srgbClr val="000000"/>
                </a:solidFill>
                <a:latin typeface="Times New Roman" panose="02020603050405020304" pitchFamily="18" charset="0"/>
                <a:sym typeface="字由点字典黑 2"/>
              </a:rPr>
              <a:t>密码体制：1978年提出，安全性基于大整数分解困难问题，是第一个实用的公钥密码体制。</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椭圆曲线密码</a:t>
            </a:r>
            <a:r>
              <a:rPr lang="en-US" altLang="zh-CN" sz="3600" dirty="0">
                <a:solidFill>
                  <a:srgbClr val="000000"/>
                </a:solidFill>
                <a:latin typeface="Times New Roman" panose="02020603050405020304" pitchFamily="18" charset="0"/>
                <a:sym typeface="字由点字典黑 2"/>
              </a:rPr>
              <a:t>ECC：1985</a:t>
            </a:r>
            <a:r>
              <a:rPr lang="zh-CN" altLang="en-US" sz="3600" dirty="0">
                <a:solidFill>
                  <a:srgbClr val="000000"/>
                </a:solidFill>
                <a:latin typeface="Times New Roman" panose="02020603050405020304" pitchFamily="18" charset="0"/>
                <a:sym typeface="字由点字典黑 2"/>
              </a:rPr>
              <a:t>年提出，安全性基于椭圆曲线离散对数困难问题，具有密钥短、安全性高等特点。</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密码功能扩展：现代密码不仅用于数据保密，还包括身份认证、数字签名、密钥协商、完整性保护和秘密共享等。</a:t>
            </a:r>
          </a:p>
          <a:p>
            <a:pPr indent="914400" algn="just" fontAlgn="auto" latinLnBrk="1">
              <a:lnSpc>
                <a:spcPct val="120000"/>
              </a:lnSpc>
              <a:extLst>
                <a:ext uri="{35155182-B16C-46BC-9424-99874614C6A1}">
                  <wpsdc:indentchars xmlns="" xmlns:wpsdc="http://www.wps.cn/officeDocument/2017/drawingmlCustomData" val="200" checksum="797548545"/>
                </a:ext>
              </a:extLst>
            </a:pPr>
            <a:endParaRPr lang="zh-CN" altLang="en-US" sz="3600" dirty="0">
              <a:solidFill>
                <a:srgbClr val="000000"/>
              </a:solidFill>
              <a:latin typeface="Times New Roman" panose="02020603050405020304" pitchFamily="18" charset="0"/>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t>12</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34904" y="1943274"/>
            <a:ext cx="14818191" cy="465010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国产密码算法：我国形成了</a:t>
            </a:r>
            <a:r>
              <a:rPr lang="en-US" altLang="zh-CN" sz="3600" dirty="0">
                <a:solidFill>
                  <a:srgbClr val="000000"/>
                </a:solidFill>
                <a:latin typeface="Times New Roman" panose="02020603050405020304" pitchFamily="18" charset="0"/>
                <a:sym typeface="字由点字典黑 2"/>
              </a:rPr>
              <a:t>ZUC、SM2、SM3、SM4、SM9</a:t>
            </a:r>
            <a:r>
              <a:rPr lang="zh-CN" altLang="en-US" sz="3600" dirty="0">
                <a:solidFill>
                  <a:srgbClr val="000000"/>
                </a:solidFill>
                <a:latin typeface="Times New Roman" panose="02020603050405020304" pitchFamily="18" charset="0"/>
                <a:sym typeface="字由点字典黑 2"/>
              </a:rPr>
              <a:t>等商用密码算法体系，部分算法已成为国际标准。</a:t>
            </a: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新兴密码技术：随着量子计算等技术发展，后量子密码、量子密码、</a:t>
            </a:r>
            <a:r>
              <a:rPr lang="en-US" altLang="zh-CN" sz="3600" dirty="0">
                <a:solidFill>
                  <a:srgbClr val="000000"/>
                </a:solidFill>
                <a:latin typeface="Times New Roman" panose="02020603050405020304" pitchFamily="18" charset="0"/>
                <a:sym typeface="字由点字典黑 2"/>
              </a:rPr>
              <a:t>DNA</a:t>
            </a:r>
            <a:r>
              <a:rPr lang="zh-CN" altLang="en-US" sz="3600" dirty="0">
                <a:solidFill>
                  <a:srgbClr val="000000"/>
                </a:solidFill>
                <a:latin typeface="Times New Roman" panose="02020603050405020304" pitchFamily="18" charset="0"/>
                <a:sym typeface="字由点字典黑 2"/>
              </a:rPr>
              <a:t>密码和混沌密码等方向不断出现。</a:t>
            </a:r>
          </a:p>
          <a:p>
            <a:pPr indent="914400" algn="just" fontAlgn="auto" latinLnBrk="1">
              <a:lnSpc>
                <a:spcPct val="120000"/>
              </a:lnSpc>
              <a:extLst>
                <a:ext uri="{35155182-B16C-46BC-9424-99874614C6A1}">
                  <wpsdc:indentchars xmlns="" xmlns:wpsdc="http://www.wps.cn/officeDocument/2017/drawingmlCustomData" val="200" checksum="797548545"/>
                </a:ext>
              </a:extLst>
            </a:pPr>
            <a:endParaRPr lang="en-US" altLang="zh-CN" sz="3600" dirty="0">
              <a:solidFill>
                <a:srgbClr val="000000"/>
              </a:solidFill>
              <a:latin typeface="Times New Roman" panose="02020603050405020304" pitchFamily="18" charset="0"/>
              <a:sym typeface="字由点字典黑 2"/>
            </a:endParaRPr>
          </a:p>
          <a:p>
            <a:pPr indent="9144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时期特点：现代密码以数学困难问题和计算复杂性理论为基础，已经广泛应用于数字证书、网上银行、身份认证、社保卡及电子政务等领域。</a:t>
            </a:r>
          </a:p>
        </p:txBody>
      </p:sp>
      <p:sp>
        <p:nvSpPr>
          <p:cNvPr id="6" name="灯片编号占位符 5"/>
          <p:cNvSpPr>
            <a:spLocks noGrp="1"/>
          </p:cNvSpPr>
          <p:nvPr>
            <p:ph type="sldNum" sz="quarter" idx="12"/>
          </p:nvPr>
        </p:nvSpPr>
        <p:spPr/>
        <p:txBody>
          <a:bodyPr/>
          <a:lstStyle/>
          <a:p>
            <a:fld id="{B6F15528-21DE-4FAA-801E-634DDDAF4B2B}" type="slidenum">
              <a:rPr lang="en-US" smtClean="0"/>
              <a:t>13</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1.2</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fld id="{B6F15528-21DE-4FAA-801E-634DDDAF4B2B}" type="slidenum">
              <a:rPr lang="en-US" smtClean="0"/>
              <a:t>14</a:t>
            </a:fld>
            <a:endParaRPr lang="en-US" dirty="0"/>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349692" y="2458720"/>
            <a:ext cx="15588615" cy="2446655"/>
          </a:xfrm>
          <a:prstGeom prst="rect">
            <a:avLst/>
          </a:prstGeom>
          <a:noFill/>
          <a:ln w="0" cap="flat">
            <a:noFill/>
            <a:prstDash val="solid"/>
            <a:miter lim="0"/>
          </a:ln>
        </p:spPr>
        <p:txBody>
          <a:bodyPr vert="horz" wrap="square" lIns="0" tIns="88" rIns="0" bIns="0"/>
          <a:lstStyle/>
          <a:p>
            <a:pPr marL="12700" indent="457200" algn="l" rtl="0" eaLnBrk="0" fontAlgn="auto">
              <a:lnSpc>
                <a:spcPct val="123000"/>
              </a:lnSpc>
              <a:spcBef>
                <a:spcPts val="0"/>
              </a:spcBef>
            </a:pPr>
            <a:r>
              <a:rPr lang="zh-CN" altLang="en-US" sz="3600" dirty="0">
                <a:latin typeface="Times New Roman"/>
                <a:ea typeface="宋体"/>
                <a:cs typeface="Times New Roman"/>
              </a:rPr>
              <a:t>在一般的通信系统中，从信源发出的信号经过编码器的编码调制处理之后，经公开的信道传至解码器进行译码或解码操作，最终传至信宿。通信系统模型如图1.1所示。</a:t>
            </a:r>
          </a:p>
        </p:txBody>
      </p:sp>
      <p:pic>
        <p:nvPicPr>
          <p:cNvPr id="13"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8678" y="4686300"/>
            <a:ext cx="11510645" cy="2534285"/>
          </a:xfrm>
          <a:prstGeom prst="rect">
            <a:avLst/>
          </a:prstGeom>
        </p:spPr>
      </p:pic>
      <p:sp>
        <p:nvSpPr>
          <p:cNvPr id="15" name="文本框 14"/>
          <p:cNvSpPr txBox="1"/>
          <p:nvPr/>
        </p:nvSpPr>
        <p:spPr>
          <a:xfrm>
            <a:off x="6096000" y="7581900"/>
            <a:ext cx="6096000" cy="368300"/>
          </a:xfrm>
          <a:prstGeom prst="rect">
            <a:avLst/>
          </a:prstGeom>
          <a:noFill/>
        </p:spPr>
        <p:txBody>
          <a:bodyPr wrap="square" rtlCol="0">
            <a:spAutoFit/>
          </a:bodyPr>
          <a:lstStyle/>
          <a:p>
            <a:pPr algn="ctr"/>
            <a:r>
              <a:rPr lang="zh-CN" altLang="en-US" dirty="0">
                <a:latin typeface="Times New Roman"/>
                <a:ea typeface="宋体"/>
                <a:cs typeface="Times New Roman"/>
              </a:rPr>
              <a:t>图1.1　通信系统模型</a:t>
            </a:r>
          </a:p>
        </p:txBody>
      </p:sp>
      <p:sp>
        <p:nvSpPr>
          <p:cNvPr id="7" name="灯片编号占位符 6"/>
          <p:cNvSpPr>
            <a:spLocks noGrp="1"/>
          </p:cNvSpPr>
          <p:nvPr>
            <p:ph type="sldNum" sz="quarter" idx="12"/>
          </p:nvPr>
        </p:nvSpPr>
        <p:spPr/>
        <p:txBody>
          <a:bodyPr/>
          <a:lstStyle/>
          <a:p>
            <a:fld id="{B6F15528-21DE-4FAA-801E-634DDDAF4B2B}" type="slidenum">
              <a:rPr lang="en-US" smtClean="0"/>
              <a:t>15</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349692" y="1878330"/>
            <a:ext cx="15588615" cy="2446655"/>
          </a:xfrm>
          <a:prstGeom prst="rect">
            <a:avLst/>
          </a:prstGeom>
          <a:noFill/>
          <a:ln w="0" cap="flat">
            <a:noFill/>
            <a:prstDash val="solid"/>
            <a:miter lim="0"/>
          </a:ln>
        </p:spPr>
        <p:txBody>
          <a:bodyPr vert="horz" wrap="square" lIns="0" tIns="88" rIns="0" bIns="0"/>
          <a:lstStyle/>
          <a:p>
            <a:pPr indent="457200" algn="l" rtl="0" eaLnBrk="0" fontAlgn="auto">
              <a:lnSpc>
                <a:spcPct val="120000"/>
              </a:lnSpc>
              <a:spcBef>
                <a:spcPts val="0"/>
              </a:spcBef>
            </a:pPr>
            <a:r>
              <a:rPr lang="zh-CN" altLang="en-US" sz="3600" dirty="0">
                <a:latin typeface="Times New Roman"/>
                <a:ea typeface="宋体"/>
                <a:cs typeface="Times New Roman"/>
              </a:rPr>
              <a:t>在公开的信道中，信息的存储、传递与处理都是以明文形式进行的，很容易受到窃听、截取、篡改、伪造、假冒、重放等手段的攻击。因此，信息在传递或广播时，需要做到不受黑客等的干扰，除合法的被授权者以外，不让任何人知道，这就引出了保密通信的概念。</a:t>
            </a:r>
          </a:p>
          <a:p>
            <a:pPr indent="457200" algn="l" rtl="0" eaLnBrk="0" fontAlgn="auto">
              <a:lnSpc>
                <a:spcPct val="120000"/>
              </a:lnSpc>
              <a:spcBef>
                <a:spcPts val="0"/>
              </a:spcBef>
            </a:pPr>
            <a:r>
              <a:rPr lang="zh-CN" altLang="en-US" sz="3600" dirty="0">
                <a:latin typeface="Times New Roman"/>
                <a:ea typeface="宋体"/>
                <a:cs typeface="Times New Roman"/>
              </a:rPr>
              <a:t>保密通信系统是在一般通信系统中加入加密器与解密器，保证信息在传输过程中无法被其他人解读，从而有效解决信息传输过程中存在的安全问题。保密通信系统模型如图1.2所示。</a:t>
            </a:r>
          </a:p>
        </p:txBody>
      </p:sp>
      <p:sp>
        <p:nvSpPr>
          <p:cNvPr id="15" name="文本框 14"/>
          <p:cNvSpPr txBox="1"/>
          <p:nvPr/>
        </p:nvSpPr>
        <p:spPr>
          <a:xfrm>
            <a:off x="6096000" y="9486900"/>
            <a:ext cx="6096000" cy="368300"/>
          </a:xfrm>
          <a:prstGeom prst="rect">
            <a:avLst/>
          </a:prstGeom>
          <a:noFill/>
        </p:spPr>
        <p:txBody>
          <a:bodyPr wrap="square" rtlCol="0">
            <a:spAutoFit/>
          </a:bodyPr>
          <a:lstStyle/>
          <a:p>
            <a:pPr algn="ctr"/>
            <a:r>
              <a:rPr lang="zh-CN" altLang="en-US">
                <a:latin typeface="Times New Roman"/>
                <a:ea typeface="宋体"/>
                <a:cs typeface="Times New Roman"/>
              </a:rPr>
              <a:t>图1.2　保密通信系统模型</a:t>
            </a:r>
          </a:p>
        </p:txBody>
      </p:sp>
      <p:pic>
        <p:nvPicPr>
          <p:cNvPr id="16"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63820" y="6667500"/>
            <a:ext cx="7960360" cy="2521585"/>
          </a:xfrm>
          <a:prstGeom prst="rect">
            <a:avLst/>
          </a:prstGeom>
        </p:spPr>
      </p:pic>
      <p:sp>
        <p:nvSpPr>
          <p:cNvPr id="7" name="灯片编号占位符 6"/>
          <p:cNvSpPr>
            <a:spLocks noGrp="1"/>
          </p:cNvSpPr>
          <p:nvPr>
            <p:ph type="sldNum" sz="quarter" idx="12"/>
          </p:nvPr>
        </p:nvSpPr>
        <p:spPr/>
        <p:txBody>
          <a:bodyPr/>
          <a:lstStyle/>
          <a:p>
            <a:fld id="{B6F15528-21DE-4FAA-801E-634DDDAF4B2B}" type="slidenum">
              <a:rPr lang="en-US" smtClean="0"/>
              <a:t>16</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349692" y="1878330"/>
            <a:ext cx="15588615" cy="2446655"/>
          </a:xfrm>
          <a:prstGeom prst="rect">
            <a:avLst/>
          </a:prstGeom>
          <a:noFill/>
          <a:ln w="0" cap="flat">
            <a:noFill/>
            <a:prstDash val="solid"/>
            <a:miter lim="0"/>
          </a:ln>
        </p:spPr>
        <p:txBody>
          <a:bodyPr vert="horz" wrap="square" lIns="0" tIns="88" rIns="0" bIns="0"/>
          <a:lstStyle/>
          <a:p>
            <a:pPr indent="457200" algn="l" rtl="0" eaLnBrk="0" fontAlgn="auto">
              <a:lnSpc>
                <a:spcPct val="120000"/>
              </a:lnSpc>
              <a:spcBef>
                <a:spcPts val="0"/>
              </a:spcBef>
            </a:pPr>
            <a:r>
              <a:rPr lang="zh-CN" altLang="en-US" sz="3600" dirty="0">
                <a:latin typeface="Times New Roman"/>
                <a:ea typeface="宋体"/>
                <a:cs typeface="Times New Roman"/>
              </a:rPr>
              <a:t>加密、解密属于密码学范畴，在保密通信系统中，用户之间的交互涉及明文、密文、加密、解密、加密算法及解密算法等概念，具体含义如下。</a:t>
            </a:r>
          </a:p>
          <a:p>
            <a:pPr indent="457200" algn="l" rtl="0" eaLnBrk="0" fontAlgn="auto">
              <a:lnSpc>
                <a:spcPct val="120000"/>
              </a:lnSpc>
              <a:spcBef>
                <a:spcPts val="0"/>
              </a:spcBef>
            </a:pPr>
            <a:r>
              <a:rPr lang="zh-CN" altLang="en-US" sz="3600" dirty="0">
                <a:latin typeface="Times New Roman"/>
                <a:ea typeface="宋体"/>
                <a:cs typeface="Times New Roman"/>
              </a:rPr>
              <a:t>明文（</a:t>
            </a:r>
            <a:r>
              <a:rPr lang="en-US" altLang="zh-CN" sz="3600" dirty="0">
                <a:latin typeface="Times New Roman"/>
                <a:ea typeface="宋体"/>
                <a:cs typeface="Times New Roman"/>
              </a:rPr>
              <a:t>Plaintext/Message）：</a:t>
            </a:r>
            <a:r>
              <a:rPr lang="zh-CN" altLang="en-US" sz="3600" dirty="0">
                <a:latin typeface="Times New Roman"/>
                <a:ea typeface="宋体"/>
                <a:cs typeface="Times New Roman"/>
              </a:rPr>
              <a:t>未加密的数据或解密还原后的数据。</a:t>
            </a:r>
          </a:p>
          <a:p>
            <a:pPr indent="457200" algn="l" rtl="0" eaLnBrk="0" fontAlgn="auto">
              <a:lnSpc>
                <a:spcPct val="120000"/>
              </a:lnSpc>
              <a:spcBef>
                <a:spcPts val="0"/>
              </a:spcBef>
            </a:pPr>
            <a:r>
              <a:rPr lang="zh-CN" altLang="en-US" sz="3600" dirty="0">
                <a:latin typeface="Times New Roman"/>
                <a:ea typeface="宋体"/>
                <a:cs typeface="Times New Roman"/>
              </a:rPr>
              <a:t>密文（</a:t>
            </a:r>
            <a:r>
              <a:rPr lang="en-US" altLang="zh-CN" sz="3600" dirty="0">
                <a:latin typeface="Times New Roman"/>
                <a:ea typeface="宋体"/>
                <a:cs typeface="Times New Roman"/>
              </a:rPr>
              <a:t>Ciphertext）：</a:t>
            </a:r>
            <a:r>
              <a:rPr lang="zh-CN" altLang="en-US" sz="3600" dirty="0">
                <a:latin typeface="Times New Roman"/>
                <a:ea typeface="宋体"/>
                <a:cs typeface="Times New Roman"/>
              </a:rPr>
              <a:t>加密后的数据。</a:t>
            </a:r>
          </a:p>
          <a:p>
            <a:pPr indent="457200" algn="l" rtl="0" eaLnBrk="0" fontAlgn="auto">
              <a:lnSpc>
                <a:spcPct val="120000"/>
              </a:lnSpc>
              <a:spcBef>
                <a:spcPts val="0"/>
              </a:spcBef>
            </a:pPr>
            <a:r>
              <a:rPr lang="zh-CN" altLang="en-US" sz="3600" dirty="0">
                <a:latin typeface="Times New Roman"/>
                <a:ea typeface="宋体"/>
                <a:cs typeface="Times New Roman"/>
              </a:rPr>
              <a:t>加密（</a:t>
            </a:r>
            <a:r>
              <a:rPr lang="en-US" altLang="zh-CN" sz="3600" dirty="0">
                <a:latin typeface="Times New Roman"/>
                <a:ea typeface="宋体"/>
                <a:cs typeface="Times New Roman"/>
              </a:rPr>
              <a:t>Encryption）：</a:t>
            </a:r>
            <a:r>
              <a:rPr lang="zh-CN" altLang="en-US" sz="3600" dirty="0">
                <a:latin typeface="Times New Roman"/>
                <a:ea typeface="宋体"/>
                <a:cs typeface="Times New Roman"/>
              </a:rPr>
              <a:t>对数据进行密码变换以产生密文的过程。</a:t>
            </a:r>
          </a:p>
          <a:p>
            <a:pPr indent="457200" algn="l" rtl="0" eaLnBrk="0" fontAlgn="auto">
              <a:lnSpc>
                <a:spcPct val="120000"/>
              </a:lnSpc>
              <a:spcBef>
                <a:spcPts val="0"/>
              </a:spcBef>
            </a:pPr>
            <a:r>
              <a:rPr lang="zh-CN" altLang="en-US" sz="3600" dirty="0">
                <a:latin typeface="Times New Roman"/>
                <a:ea typeface="宋体"/>
                <a:cs typeface="Times New Roman"/>
              </a:rPr>
              <a:t>解密（</a:t>
            </a:r>
            <a:r>
              <a:rPr lang="en-US" altLang="zh-CN" sz="3600" dirty="0">
                <a:latin typeface="Times New Roman"/>
                <a:ea typeface="宋体"/>
                <a:cs typeface="Times New Roman"/>
              </a:rPr>
              <a:t>Decryption）：</a:t>
            </a:r>
            <a:r>
              <a:rPr lang="zh-CN" altLang="en-US" sz="3600" dirty="0">
                <a:latin typeface="Times New Roman"/>
                <a:ea typeface="宋体"/>
                <a:cs typeface="Times New Roman"/>
              </a:rPr>
              <a:t>加密过程对应的逆过程。</a:t>
            </a:r>
          </a:p>
          <a:p>
            <a:pPr indent="457200" algn="l" rtl="0" eaLnBrk="0" fontAlgn="auto">
              <a:lnSpc>
                <a:spcPct val="120000"/>
              </a:lnSpc>
              <a:spcBef>
                <a:spcPts val="0"/>
              </a:spcBef>
            </a:pPr>
            <a:r>
              <a:rPr lang="zh-CN" altLang="en-US" sz="3600" dirty="0">
                <a:latin typeface="Times New Roman"/>
                <a:ea typeface="宋体"/>
                <a:cs typeface="Times New Roman"/>
              </a:rPr>
              <a:t>密钥（</a:t>
            </a:r>
            <a:r>
              <a:rPr lang="en-US" altLang="zh-CN" sz="3600" dirty="0">
                <a:latin typeface="Times New Roman"/>
                <a:ea typeface="宋体"/>
                <a:cs typeface="Times New Roman"/>
              </a:rPr>
              <a:t>Key）：</a:t>
            </a:r>
            <a:r>
              <a:rPr lang="zh-CN" altLang="en-US" sz="3600" dirty="0">
                <a:latin typeface="Times New Roman"/>
                <a:ea typeface="宋体"/>
                <a:cs typeface="Times New Roman"/>
              </a:rPr>
              <a:t>密钥是一个独特的字符串，它被用作加密或解密的输入，以便对数据进行加密或解密操作。</a:t>
            </a:r>
          </a:p>
          <a:p>
            <a:pPr indent="457200" algn="l" rtl="0" eaLnBrk="0" fontAlgn="auto">
              <a:lnSpc>
                <a:spcPct val="120000"/>
              </a:lnSpc>
              <a:spcBef>
                <a:spcPts val="0"/>
              </a:spcBef>
            </a:pPr>
            <a:r>
              <a:rPr lang="zh-CN" altLang="en-US" sz="3600" dirty="0">
                <a:latin typeface="Times New Roman"/>
                <a:ea typeface="宋体"/>
                <a:cs typeface="Times New Roman"/>
              </a:rPr>
              <a:t>加密算法（</a:t>
            </a:r>
            <a:r>
              <a:rPr lang="en-US" altLang="zh-CN" sz="3600" dirty="0">
                <a:latin typeface="Times New Roman"/>
                <a:ea typeface="宋体"/>
                <a:cs typeface="Times New Roman"/>
              </a:rPr>
              <a:t>Encryption Algorithm）：</a:t>
            </a:r>
            <a:r>
              <a:rPr lang="zh-CN" altLang="en-US" sz="3600" dirty="0">
                <a:latin typeface="Times New Roman"/>
                <a:ea typeface="宋体"/>
                <a:cs typeface="Times New Roman"/>
              </a:rPr>
              <a:t>对明文进行加密时所采用的一组规则。</a:t>
            </a:r>
          </a:p>
          <a:p>
            <a:pPr indent="457200" algn="l" rtl="0" eaLnBrk="0" fontAlgn="auto">
              <a:lnSpc>
                <a:spcPct val="120000"/>
              </a:lnSpc>
              <a:spcBef>
                <a:spcPts val="0"/>
              </a:spcBef>
            </a:pPr>
            <a:r>
              <a:rPr lang="zh-CN" altLang="en-US" sz="3600" dirty="0">
                <a:latin typeface="Times New Roman"/>
                <a:ea typeface="宋体"/>
                <a:cs typeface="Times New Roman"/>
              </a:rPr>
              <a:t>解密算法（</a:t>
            </a:r>
            <a:r>
              <a:rPr lang="en-US" altLang="zh-CN" sz="3600" dirty="0">
                <a:latin typeface="Times New Roman"/>
                <a:ea typeface="宋体"/>
                <a:cs typeface="Times New Roman"/>
              </a:rPr>
              <a:t>Decryption Algorithm）：</a:t>
            </a:r>
            <a:r>
              <a:rPr lang="zh-CN" altLang="en-US" sz="3600" dirty="0">
                <a:latin typeface="Times New Roman"/>
                <a:ea typeface="宋体"/>
                <a:cs typeface="Times New Roman"/>
              </a:rPr>
              <a:t>对密文进行解密时所采用的一组规则。</a:t>
            </a:r>
          </a:p>
          <a:p>
            <a:pPr marL="12700" indent="457200" algn="l" rtl="0" eaLnBrk="0" fontAlgn="auto">
              <a:lnSpc>
                <a:spcPct val="123000"/>
              </a:lnSpc>
              <a:spcBef>
                <a:spcPts val="0"/>
              </a:spcBef>
            </a:pPr>
            <a:endParaRPr lang="zh-CN" altLang="en-US" sz="3600" dirty="0">
              <a:latin typeface="Times New Roman"/>
              <a:ea typeface="宋体"/>
              <a:cs typeface="Times New Roman"/>
            </a:endParaRPr>
          </a:p>
        </p:txBody>
      </p:sp>
      <p:sp>
        <p:nvSpPr>
          <p:cNvPr id="7" name="灯片编号占位符 6"/>
          <p:cNvSpPr>
            <a:spLocks noGrp="1"/>
          </p:cNvSpPr>
          <p:nvPr>
            <p:ph type="sldNum" sz="quarter" idx="12"/>
          </p:nvPr>
        </p:nvSpPr>
        <p:spPr/>
        <p:txBody>
          <a:bodyPr/>
          <a:lstStyle/>
          <a:p>
            <a:fld id="{B6F15528-21DE-4FAA-801E-634DDDAF4B2B}" type="slidenum">
              <a:rPr lang="en-US" smtClean="0"/>
              <a:t>17</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349692" y="1878330"/>
            <a:ext cx="15588615" cy="2446655"/>
          </a:xfrm>
          <a:prstGeom prst="rect">
            <a:avLst/>
          </a:prstGeom>
          <a:noFill/>
          <a:ln w="0" cap="flat">
            <a:noFill/>
            <a:prstDash val="solid"/>
            <a:miter lim="0"/>
          </a:ln>
        </p:spPr>
        <p:txBody>
          <a:bodyPr vert="horz" wrap="square" lIns="0" tIns="88" rIns="0" bIns="0"/>
          <a:lstStyle/>
          <a:p>
            <a:pPr indent="457200" algn="l" rtl="0" eaLnBrk="0" fontAlgn="auto">
              <a:lnSpc>
                <a:spcPct val="120000"/>
              </a:lnSpc>
              <a:spcBef>
                <a:spcPts val="0"/>
              </a:spcBef>
            </a:pPr>
            <a:r>
              <a:rPr lang="zh-CN" altLang="en-US" sz="3600" dirty="0">
                <a:latin typeface="Times New Roman"/>
                <a:ea typeface="宋体"/>
                <a:cs typeface="Times New Roman"/>
              </a:rPr>
              <a:t>加密和解密算法的操作通常是在一组密钥控制下进行。一个密码体制可以描述为一个五元组（</a:t>
            </a:r>
            <a:r>
              <a:rPr lang="en-US" altLang="zh-CN" sz="3600" dirty="0">
                <a:latin typeface="Times New Roman"/>
                <a:ea typeface="宋体"/>
                <a:cs typeface="Times New Roman"/>
              </a:rPr>
              <a:t>M，C，K，E，D），</a:t>
            </a:r>
            <a:r>
              <a:rPr lang="zh-CN" altLang="en-US" sz="3600" dirty="0">
                <a:latin typeface="Times New Roman"/>
                <a:ea typeface="宋体"/>
                <a:cs typeface="Times New Roman"/>
              </a:rPr>
              <a:t>满足下述条件。</a:t>
            </a:r>
          </a:p>
          <a:p>
            <a:pPr indent="457200" algn="l" rtl="0" eaLnBrk="0" fontAlgn="auto">
              <a:lnSpc>
                <a:spcPct val="120000"/>
              </a:lnSpc>
              <a:spcBef>
                <a:spcPts val="0"/>
              </a:spcBef>
            </a:pPr>
            <a:r>
              <a:rPr lang="en-US" altLang="zh-CN" sz="3600" dirty="0">
                <a:latin typeface="Times New Roman"/>
                <a:ea typeface="宋体"/>
                <a:cs typeface="Times New Roman"/>
              </a:rPr>
              <a:t>（1）M</a:t>
            </a:r>
            <a:r>
              <a:rPr lang="zh-CN" altLang="en-US" sz="3600" dirty="0">
                <a:latin typeface="Times New Roman"/>
                <a:ea typeface="宋体"/>
                <a:cs typeface="Times New Roman"/>
              </a:rPr>
              <a:t>是可能明文的有限集。</a:t>
            </a:r>
          </a:p>
          <a:p>
            <a:pPr indent="457200" algn="l" rtl="0" eaLnBrk="0" fontAlgn="auto">
              <a:lnSpc>
                <a:spcPct val="120000"/>
              </a:lnSpc>
              <a:spcBef>
                <a:spcPts val="0"/>
              </a:spcBef>
            </a:pPr>
            <a:r>
              <a:rPr lang="en-US" altLang="zh-CN" sz="3600" dirty="0">
                <a:latin typeface="Times New Roman"/>
                <a:ea typeface="宋体"/>
                <a:cs typeface="Times New Roman"/>
              </a:rPr>
              <a:t>（2）C</a:t>
            </a:r>
            <a:r>
              <a:rPr lang="zh-CN" altLang="en-US" sz="3600" dirty="0">
                <a:latin typeface="Times New Roman"/>
                <a:ea typeface="宋体"/>
                <a:cs typeface="Times New Roman"/>
              </a:rPr>
              <a:t>是可能密文的有限集。</a:t>
            </a:r>
          </a:p>
          <a:p>
            <a:pPr indent="457200" algn="l" rtl="0" eaLnBrk="0" fontAlgn="auto">
              <a:lnSpc>
                <a:spcPct val="120000"/>
              </a:lnSpc>
              <a:spcBef>
                <a:spcPts val="0"/>
              </a:spcBef>
            </a:pPr>
            <a:r>
              <a:rPr lang="en-US" altLang="zh-CN" sz="3600" dirty="0">
                <a:latin typeface="Times New Roman"/>
                <a:ea typeface="宋体"/>
                <a:cs typeface="Times New Roman"/>
              </a:rPr>
              <a:t>（3）K</a:t>
            </a:r>
            <a:r>
              <a:rPr lang="zh-CN" altLang="en-US" sz="3600" dirty="0">
                <a:latin typeface="Times New Roman"/>
                <a:ea typeface="宋体"/>
                <a:cs typeface="Times New Roman"/>
              </a:rPr>
              <a:t>是可能密钥的有限集。</a:t>
            </a:r>
          </a:p>
          <a:p>
            <a:pPr indent="457200" algn="l" rtl="0" eaLnBrk="0" fontAlgn="auto">
              <a:lnSpc>
                <a:spcPct val="120000"/>
              </a:lnSpc>
              <a:spcBef>
                <a:spcPts val="0"/>
              </a:spcBef>
            </a:pPr>
            <a:r>
              <a:rPr lang="en-US" altLang="zh-CN" sz="3600" dirty="0">
                <a:latin typeface="Times New Roman"/>
                <a:ea typeface="宋体"/>
                <a:cs typeface="Times New Roman"/>
              </a:rPr>
              <a:t>（4）E</a:t>
            </a:r>
            <a:r>
              <a:rPr lang="zh-CN" altLang="en-US" sz="3600" dirty="0">
                <a:latin typeface="Times New Roman"/>
                <a:ea typeface="宋体"/>
                <a:cs typeface="Times New Roman"/>
              </a:rPr>
              <a:t>是加密算法有限空间集合。</a:t>
            </a:r>
          </a:p>
          <a:p>
            <a:pPr indent="457200" algn="l" rtl="0" eaLnBrk="0" fontAlgn="auto">
              <a:lnSpc>
                <a:spcPct val="120000"/>
              </a:lnSpc>
              <a:spcBef>
                <a:spcPts val="0"/>
              </a:spcBef>
            </a:pPr>
            <a:r>
              <a:rPr lang="en-US" altLang="zh-CN" sz="3600" dirty="0">
                <a:latin typeface="Times New Roman"/>
                <a:ea typeface="宋体"/>
                <a:cs typeface="Times New Roman"/>
              </a:rPr>
              <a:t>（5）D</a:t>
            </a:r>
            <a:r>
              <a:rPr lang="zh-CN" altLang="en-US" sz="3600" dirty="0">
                <a:latin typeface="Times New Roman"/>
                <a:ea typeface="宋体"/>
                <a:cs typeface="Times New Roman"/>
              </a:rPr>
              <a:t>是解密算法有限空间集合。</a:t>
            </a:r>
          </a:p>
          <a:p>
            <a:pPr marL="12700" indent="457200" algn="l" rtl="0" eaLnBrk="0" fontAlgn="auto">
              <a:lnSpc>
                <a:spcPct val="123000"/>
              </a:lnSpc>
              <a:spcBef>
                <a:spcPts val="0"/>
              </a:spcBef>
            </a:pPr>
            <a:endParaRPr lang="zh-CN" altLang="en-US" sz="3600" dirty="0">
              <a:latin typeface="Times New Roman"/>
              <a:ea typeface="宋体"/>
              <a:cs typeface="Times New Roman"/>
            </a:endParaRPr>
          </a:p>
        </p:txBody>
      </p:sp>
      <p:sp>
        <p:nvSpPr>
          <p:cNvPr id="7" name="灯片编号占位符 6"/>
          <p:cNvSpPr>
            <a:spLocks noGrp="1"/>
          </p:cNvSpPr>
          <p:nvPr>
            <p:ph type="sldNum" sz="quarter" idx="12"/>
          </p:nvPr>
        </p:nvSpPr>
        <p:spPr/>
        <p:txBody>
          <a:bodyPr/>
          <a:lstStyle/>
          <a:p>
            <a:fld id="{B6F15528-21DE-4FAA-801E-634DDDAF4B2B}" type="slidenum">
              <a:rPr lang="en-US" smtClean="0"/>
              <a:t>18</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2"/>
              <p:cNvSpPr/>
              <p:nvPr/>
            </p:nvSpPr>
            <p:spPr>
              <a:xfrm>
                <a:off x="1349692" y="1878330"/>
                <a:ext cx="15588615" cy="5492750"/>
              </a:xfrm>
              <a:prstGeom prst="rect">
                <a:avLst/>
              </a:prstGeom>
              <a:noFill/>
              <a:ln w="0" cap="flat">
                <a:noFill/>
                <a:prstDash val="solid"/>
                <a:miter lim="0"/>
              </a:ln>
            </p:spPr>
            <p:txBody>
              <a:bodyPr vert="horz" wrap="square" lIns="0" tIns="88" rIns="0" bIns="0"/>
              <a:lstStyle/>
              <a:p>
                <a:pPr indent="457200">
                  <a:lnSpc>
                    <a:spcPct val="120000"/>
                  </a:lnSpc>
                </a:pPr>
                <a:r>
                  <a:rPr lang="zh-CN" altLang="en-US" sz="3600" dirty="0">
                    <a:latin typeface="Times New Roman"/>
                    <a:ea typeface="宋体"/>
                    <a:cs typeface="Times New Roman"/>
                  </a:rPr>
                  <a:t>下面通过一个具体的实例说明保密通信系统。密钥为</a:t>
                </a:r>
                <a14:m>
                  <m:oMath xmlns:m="http://schemas.openxmlformats.org/officeDocument/2006/math">
                    <m:r>
                      <a:rPr lang="zh-CN" altLang="en-US" sz="3600" i="1" dirty="0" smtClean="0">
                        <a:latin typeface="Cambria Math" panose="02040503050406030204" pitchFamily="18" charset="0"/>
                      </a:rPr>
                      <m:t>𝑘</m:t>
                    </m:r>
                    <m:d>
                      <m:dPr>
                        <m:ctrlPr>
                          <a:rPr lang="zh-CN" altLang="en-US" sz="3600" i="1" dirty="0" smtClean="0">
                            <a:latin typeface="Cambria Math" panose="02040503050406030204" pitchFamily="18" charset="0"/>
                          </a:rPr>
                        </m:ctrlPr>
                      </m:dPr>
                      <m:e>
                        <m:r>
                          <a:rPr lang="zh-CN" altLang="en-US" sz="3600" i="1" dirty="0" smtClean="0">
                            <a:latin typeface="Cambria Math" panose="02040503050406030204" pitchFamily="18" charset="0"/>
                          </a:rPr>
                          <m:t>𝑘</m:t>
                        </m:r>
                        <m:r>
                          <a:rPr lang="zh-CN" altLang="en-US" sz="3600" i="1" dirty="0" smtClean="0">
                            <a:latin typeface="Cambria Math" panose="02040503050406030204" pitchFamily="18" charset="0"/>
                          </a:rPr>
                          <m:t>∈</m:t>
                        </m:r>
                        <m:r>
                          <a:rPr lang="zh-CN" altLang="en-US" sz="3600" i="1" dirty="0" smtClean="0">
                            <a:latin typeface="Cambria Math" panose="02040503050406030204" pitchFamily="18" charset="0"/>
                          </a:rPr>
                          <m:t>𝐾</m:t>
                        </m:r>
                      </m:e>
                    </m:d>
                  </m:oMath>
                </a14:m>
                <a:r>
                  <a:rPr lang="zh-CN" altLang="en-US" sz="3600" dirty="0">
                    <a:latin typeface="Times New Roman"/>
                    <a:ea typeface="宋体"/>
                    <a:cs typeface="Times New Roman"/>
                  </a:rPr>
                  <a:t>，此时密钥需要经过安全的秘密信道由发送方传给接收方。</a:t>
                </a:r>
              </a:p>
              <a:p>
                <a:pPr indent="457200">
                  <a:lnSpc>
                    <a:spcPct val="120000"/>
                  </a:lnSpc>
                </a:pPr>
                <a:r>
                  <a:rPr lang="zh-CN" altLang="en-US" sz="3600" dirty="0">
                    <a:latin typeface="Times New Roman"/>
                    <a:ea typeface="宋体"/>
                    <a:cs typeface="Times New Roman"/>
                  </a:rPr>
                  <a:t>加密变换</a:t>
                </a:r>
                <a14:m>
                  <m:oMath xmlns:m="http://schemas.openxmlformats.org/officeDocument/2006/math">
                    <m:sSub>
                      <m:sSubPr>
                        <m:ctrlPr>
                          <a:rPr lang="zh-CN" altLang="en-US" sz="3600" i="1" smtClean="0">
                            <a:latin typeface="Cambria Math" panose="02040503050406030204" pitchFamily="18" charset="0"/>
                          </a:rPr>
                        </m:ctrlPr>
                      </m:sSubPr>
                      <m:e>
                        <m:r>
                          <a:rPr lang="zh-CN" altLang="en-US" sz="3600" i="1" smtClean="0">
                            <a:latin typeface="Cambria Math" panose="02040503050406030204" pitchFamily="18" charset="0"/>
                          </a:rPr>
                          <m:t>𝐸</m:t>
                        </m:r>
                      </m:e>
                      <m:sub>
                        <m:r>
                          <a:rPr lang="zh-CN" altLang="en-US" sz="3600" i="1" smtClean="0">
                            <a:latin typeface="Cambria Math" panose="02040503050406030204" pitchFamily="18" charset="0"/>
                          </a:rPr>
                          <m:t>𝑘</m:t>
                        </m:r>
                      </m:sub>
                    </m:sSub>
                    <m:r>
                      <a:rPr lang="en-US" altLang="zh-CN" sz="3600" b="0" i="1" smtClean="0">
                        <a:latin typeface="Cambria Math" panose="02040503050406030204" pitchFamily="18" charset="0"/>
                      </a:rPr>
                      <m:t>:</m:t>
                    </m:r>
                    <m:r>
                      <a:rPr lang="zh-CN" altLang="en-US" sz="3600" i="1" smtClean="0">
                        <a:latin typeface="Cambria Math" panose="02040503050406030204" pitchFamily="18" charset="0"/>
                      </a:rPr>
                      <m:t>𝑀</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𝐶</m:t>
                    </m:r>
                  </m:oMath>
                </a14:m>
                <a:r>
                  <a:rPr lang="zh-CN" altLang="en-US" sz="3600" dirty="0">
                    <a:latin typeface="Times New Roman"/>
                    <a:ea typeface="宋体"/>
                    <a:cs typeface="Times New Roman"/>
                  </a:rPr>
                  <a:t>，由加密器完成。解密变换</a:t>
                </a:r>
                <a14:m>
                  <m:oMath xmlns:m="http://schemas.openxmlformats.org/officeDocument/2006/math">
                    <m:sSub>
                      <m:sSubPr>
                        <m:ctrlPr>
                          <a:rPr lang="zh-CN" altLang="en-US" sz="3600" i="1" smtClean="0">
                            <a:latin typeface="Cambria Math" panose="02040503050406030204" pitchFamily="18" charset="0"/>
                          </a:rPr>
                        </m:ctrlPr>
                      </m:sSubPr>
                      <m:e>
                        <m:r>
                          <a:rPr lang="zh-CN" altLang="en-US" sz="3600" i="1" smtClean="0">
                            <a:latin typeface="Cambria Math" panose="02040503050406030204" pitchFamily="18" charset="0"/>
                          </a:rPr>
                          <m:t>𝐷</m:t>
                        </m:r>
                      </m:e>
                      <m:sub>
                        <m:r>
                          <a:rPr lang="zh-CN" altLang="en-US" sz="3600" i="1" smtClean="0">
                            <a:latin typeface="Cambria Math" panose="02040503050406030204" pitchFamily="18" charset="0"/>
                          </a:rPr>
                          <m:t>𝑘</m:t>
                        </m:r>
                      </m:sub>
                    </m:sSub>
                    <m:r>
                      <a:rPr lang="en-US" altLang="zh-CN" sz="3600" b="0" i="1" smtClean="0">
                        <a:latin typeface="Cambria Math" panose="02040503050406030204" pitchFamily="18" charset="0"/>
                      </a:rPr>
                      <m:t>:</m:t>
                    </m:r>
                    <m:r>
                      <a:rPr lang="zh-CN" altLang="en-US" sz="3600" i="1" smtClean="0">
                        <a:latin typeface="Cambria Math" panose="02040503050406030204" pitchFamily="18" charset="0"/>
                      </a:rPr>
                      <m:t>𝐶</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𝑀</m:t>
                    </m:r>
                  </m:oMath>
                </a14:m>
                <a:r>
                  <a:rPr lang="zh-CN" altLang="en-US" sz="3600" dirty="0">
                    <a:latin typeface="Times New Roman"/>
                    <a:ea typeface="宋体"/>
                    <a:cs typeface="Times New Roman"/>
                  </a:rPr>
                  <a:t>，由解密器完成。</a:t>
                </a:r>
              </a:p>
              <a:p>
                <a:pPr indent="457200">
                  <a:lnSpc>
                    <a:spcPct val="120000"/>
                  </a:lnSpc>
                </a:pPr>
                <a:r>
                  <a:rPr lang="zh-CN" altLang="en-US" sz="3600" dirty="0">
                    <a:latin typeface="Times New Roman"/>
                    <a:ea typeface="宋体"/>
                    <a:cs typeface="Times New Roman"/>
                  </a:rPr>
                  <a:t>对于明文</a:t>
                </a:r>
                <a14:m>
                  <m:oMath xmlns:m="http://schemas.openxmlformats.org/officeDocument/2006/math">
                    <m:r>
                      <a:rPr lang="zh-CN" altLang="en-US" sz="3600" i="1" smtClean="0">
                        <a:latin typeface="Cambria Math" panose="02040503050406030204" pitchFamily="18" charset="0"/>
                      </a:rPr>
                      <m:t>𝑚</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𝑀</m:t>
                    </m:r>
                  </m:oMath>
                </a14:m>
                <a:r>
                  <a:rPr lang="zh-CN" altLang="en-US" sz="3600" dirty="0">
                    <a:latin typeface="Times New Roman"/>
                    <a:ea typeface="宋体"/>
                    <a:cs typeface="Times New Roman"/>
                  </a:rPr>
                  <a:t>，发送方加密</a:t>
                </a:r>
                <a14:m>
                  <m:oMath xmlns:m="http://schemas.openxmlformats.org/officeDocument/2006/math">
                    <m:r>
                      <a:rPr lang="zh-CN" altLang="en-US" sz="3600" i="1" smtClean="0">
                        <a:latin typeface="Cambria Math" panose="02040503050406030204" pitchFamily="18" charset="0"/>
                      </a:rPr>
                      <m:t>𝑐</m:t>
                    </m:r>
                    <m:r>
                      <a:rPr lang="zh-CN" altLang="en-US" sz="3600" i="1" smtClean="0">
                        <a:latin typeface="Cambria Math" panose="02040503050406030204" pitchFamily="18" charset="0"/>
                      </a:rPr>
                      <m:t>=</m:t>
                    </m:r>
                    <m:sSub>
                      <m:sSubPr>
                        <m:ctrlPr>
                          <a:rPr lang="zh-CN" altLang="en-US" sz="3600" i="1" smtClean="0">
                            <a:latin typeface="Cambria Math" panose="02040503050406030204" pitchFamily="18" charset="0"/>
                          </a:rPr>
                        </m:ctrlPr>
                      </m:sSubPr>
                      <m:e>
                        <m:r>
                          <a:rPr lang="zh-CN" altLang="en-US" sz="3600" i="1" smtClean="0">
                            <a:latin typeface="Cambria Math" panose="02040503050406030204" pitchFamily="18" charset="0"/>
                          </a:rPr>
                          <m:t>𝐸</m:t>
                        </m:r>
                      </m:e>
                      <m:sub>
                        <m:r>
                          <a:rPr lang="zh-CN" altLang="en-US" sz="3600" i="1" smtClean="0">
                            <a:latin typeface="Cambria Math" panose="02040503050406030204" pitchFamily="18" charset="0"/>
                          </a:rPr>
                          <m:t>𝑘</m:t>
                        </m:r>
                      </m:sub>
                    </m:sSub>
                    <m:d>
                      <m:dPr>
                        <m:ctrlPr>
                          <a:rPr lang="zh-CN" altLang="en-US" sz="3600" i="1" smtClean="0">
                            <a:latin typeface="Cambria Math" panose="02040503050406030204" pitchFamily="18" charset="0"/>
                          </a:rPr>
                        </m:ctrlPr>
                      </m:dPr>
                      <m:e>
                        <m:r>
                          <a:rPr lang="zh-CN" altLang="en-US" sz="3600" i="1" smtClean="0">
                            <a:latin typeface="Cambria Math" panose="02040503050406030204" pitchFamily="18" charset="0"/>
                          </a:rPr>
                          <m:t>𝑚</m:t>
                        </m:r>
                      </m:e>
                    </m:d>
                  </m:oMath>
                </a14:m>
                <a:r>
                  <a:rPr lang="zh-CN" altLang="en-US" sz="3600" dirty="0">
                    <a:latin typeface="Times New Roman"/>
                    <a:ea typeface="宋体"/>
                    <a:cs typeface="Times New Roman"/>
                  </a:rPr>
                  <a:t>。接收方解密</a:t>
                </a:r>
                <a14:m>
                  <m:oMath xmlns:m="http://schemas.openxmlformats.org/officeDocument/2006/math">
                    <m:r>
                      <a:rPr lang="zh-CN" altLang="en-US" sz="3600" i="1" smtClean="0">
                        <a:latin typeface="Cambria Math" panose="02040503050406030204" pitchFamily="18" charset="0"/>
                      </a:rPr>
                      <m:t>𝑚</m:t>
                    </m:r>
                    <m:r>
                      <a:rPr lang="zh-CN" altLang="en-US" sz="3600" i="1" smtClean="0">
                        <a:latin typeface="Cambria Math" panose="02040503050406030204" pitchFamily="18" charset="0"/>
                      </a:rPr>
                      <m:t>=</m:t>
                    </m:r>
                    <m:sSub>
                      <m:sSubPr>
                        <m:ctrlPr>
                          <a:rPr lang="zh-CN" altLang="en-US" sz="3600" i="1" smtClean="0">
                            <a:latin typeface="Cambria Math" panose="02040503050406030204" pitchFamily="18" charset="0"/>
                          </a:rPr>
                        </m:ctrlPr>
                      </m:sSubPr>
                      <m:e>
                        <m:r>
                          <a:rPr lang="zh-CN" altLang="en-US" sz="3600" i="1" smtClean="0">
                            <a:latin typeface="Cambria Math" panose="02040503050406030204" pitchFamily="18" charset="0"/>
                          </a:rPr>
                          <m:t>𝐷</m:t>
                        </m:r>
                      </m:e>
                      <m:sub>
                        <m:r>
                          <a:rPr lang="zh-CN" altLang="en-US" sz="3600" i="1" smtClean="0">
                            <a:latin typeface="Cambria Math" panose="02040503050406030204" pitchFamily="18" charset="0"/>
                          </a:rPr>
                          <m:t>𝑘</m:t>
                        </m:r>
                      </m:sub>
                    </m:sSub>
                    <m:d>
                      <m:dPr>
                        <m:ctrlPr>
                          <a:rPr lang="zh-CN" altLang="en-US" sz="3600" i="1" smtClean="0">
                            <a:latin typeface="Cambria Math" panose="02040503050406030204" pitchFamily="18" charset="0"/>
                          </a:rPr>
                        </m:ctrlPr>
                      </m:dPr>
                      <m:e>
                        <m:r>
                          <a:rPr lang="zh-CN" altLang="en-US" sz="3600" i="1" smtClean="0">
                            <a:latin typeface="Cambria Math" panose="02040503050406030204" pitchFamily="18" charset="0"/>
                          </a:rPr>
                          <m:t>𝑐</m:t>
                        </m:r>
                      </m:e>
                    </m:d>
                    <m:r>
                      <a:rPr lang="en-US" altLang="zh-CN" sz="3600" b="0" i="1" smtClean="0">
                        <a:latin typeface="Cambria Math" panose="02040503050406030204" pitchFamily="18" charset="0"/>
                      </a:rPr>
                      <m:t>,</m:t>
                    </m:r>
                    <m:r>
                      <a:rPr lang="en-US" altLang="zh-CN" sz="3600" b="0" i="1" smtClean="0">
                        <a:latin typeface="Cambria Math" panose="02040503050406030204" pitchFamily="18" charset="0"/>
                      </a:rPr>
                      <m:t>𝑐</m:t>
                    </m:r>
                    <m:r>
                      <a:rPr lang="en-US" altLang="zh-CN" sz="3600" b="0" i="1" smtClean="0">
                        <a:latin typeface="Cambria Math" panose="02040503050406030204" pitchFamily="18" charset="0"/>
                        <a:ea typeface="Cambria Math" panose="02040503050406030204" pitchFamily="18" charset="0"/>
                      </a:rPr>
                      <m:t>∈</m:t>
                    </m:r>
                    <m:r>
                      <a:rPr lang="en-US" altLang="zh-CN" sz="3600" b="0" i="1" smtClean="0">
                        <a:latin typeface="Cambria Math" panose="02040503050406030204" pitchFamily="18" charset="0"/>
                        <a:ea typeface="Cambria Math" panose="02040503050406030204" pitchFamily="18" charset="0"/>
                      </a:rPr>
                      <m:t>𝐶</m:t>
                    </m:r>
                    <m:r>
                      <a:rPr lang="zh-CN" altLang="en-US" sz="3600" i="1" smtClean="0">
                        <a:latin typeface="Cambria Math" panose="02040503050406030204" pitchFamily="18" charset="0"/>
                      </a:rPr>
                      <m:t> </m:t>
                    </m:r>
                  </m:oMath>
                </a14:m>
                <a:r>
                  <a:rPr lang="zh-CN" altLang="en-US" sz="3600" dirty="0">
                    <a:latin typeface="Times New Roman"/>
                    <a:ea typeface="宋体"/>
                    <a:cs typeface="Times New Roman"/>
                  </a:rPr>
                  <a:t>。</a:t>
                </a:r>
              </a:p>
              <a:p>
                <a:pPr indent="457200">
                  <a:lnSpc>
                    <a:spcPct val="120000"/>
                  </a:lnSpc>
                </a:pPr>
                <a:r>
                  <a:rPr lang="zh-CN" altLang="en-US" sz="3600" dirty="0">
                    <a:latin typeface="Times New Roman"/>
                    <a:ea typeface="宋体"/>
                    <a:cs typeface="Times New Roman"/>
                  </a:rPr>
                  <a:t>对攻击者或密码分析者而言，由于不知道密钥</a:t>
                </a:r>
                <a14:m>
                  <m:oMath xmlns:m="http://schemas.openxmlformats.org/officeDocument/2006/math">
                    <m:r>
                      <a:rPr lang="en-US" altLang="zh-CN" sz="3600" b="0" i="1" dirty="0" smtClean="0">
                        <a:latin typeface="Cambria Math" panose="02040503050406030204" pitchFamily="18" charset="0"/>
                        <a:ea typeface="宋体" panose="02010600030101010101" pitchFamily="2" charset="-122"/>
                        <a:cs typeface="Times New Roman" panose="02020603050405020304" pitchFamily="18" charset="0"/>
                      </a:rPr>
                      <m:t>𝑘</m:t>
                    </m:r>
                  </m:oMath>
                </a14:m>
                <a:r>
                  <a:rPr lang="zh-CN" altLang="en-US" sz="3600" dirty="0">
                    <a:latin typeface="Times New Roman"/>
                    <a:ea typeface="宋体"/>
                    <a:cs typeface="Times New Roman"/>
                  </a:rPr>
                  <a:t>，无法对截获的密文</a:t>
                </a:r>
                <a14:m>
                  <m:oMath xmlns:m="http://schemas.openxmlformats.org/officeDocument/2006/math">
                    <m:r>
                      <a:rPr lang="en-US" altLang="zh-CN" sz="3600" b="0" i="1" smtClean="0">
                        <a:latin typeface="Cambria Math" panose="02040503050406030204" pitchFamily="18" charset="0"/>
                        <a:ea typeface="宋体" panose="02010600030101010101" pitchFamily="2" charset="-122"/>
                        <a:cs typeface="Times New Roman" panose="02020603050405020304" pitchFamily="18" charset="0"/>
                      </a:rPr>
                      <m:t>𝑐</m:t>
                    </m:r>
                  </m:oMath>
                </a14:m>
                <a:r>
                  <a:rPr lang="zh-CN" altLang="en-US" sz="3600" dirty="0">
                    <a:latin typeface="Times New Roman"/>
                    <a:ea typeface="宋体"/>
                    <a:cs typeface="Times New Roman"/>
                  </a:rPr>
                  <a:t>进行解密。攻击者设计一个函数</a:t>
                </a:r>
                <a14:m>
                  <m:oMath xmlns:m="http://schemas.openxmlformats.org/officeDocument/2006/math">
                    <m:r>
                      <a:rPr lang="en-US" altLang="zh-CN" sz="3600" b="0" i="1" dirty="0" smtClean="0">
                        <a:latin typeface="Cambria Math" panose="02040503050406030204" pitchFamily="18" charset="0"/>
                        <a:ea typeface="宋体" panose="02010600030101010101" pitchFamily="2" charset="-122"/>
                        <a:cs typeface="Times New Roman" panose="02020603050405020304" pitchFamily="18" charset="0"/>
                      </a:rPr>
                      <m:t>𝐻</m:t>
                    </m:r>
                  </m:oMath>
                </a14:m>
                <a:r>
                  <a:rPr lang="zh-CN" altLang="en-US" sz="3600" dirty="0">
                    <a:latin typeface="Times New Roman"/>
                    <a:ea typeface="宋体"/>
                    <a:cs typeface="Times New Roman"/>
                  </a:rPr>
                  <a:t>，对密文进行解密，即</a:t>
                </a:r>
                <a14:m>
                  <m:oMath xmlns:m="http://schemas.openxmlformats.org/officeDocument/2006/math">
                    <m:r>
                      <a:rPr lang="zh-CN" altLang="en-US" sz="3600" i="1" smtClean="0">
                        <a:latin typeface="Cambria Math" panose="02040503050406030204" pitchFamily="18" charset="0"/>
                      </a:rPr>
                      <m:t>𝑚</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𝐻</m:t>
                    </m:r>
                    <m:d>
                      <m:dPr>
                        <m:ctrlPr>
                          <a:rPr lang="zh-CN" altLang="en-US" sz="3600" i="1" smtClean="0">
                            <a:latin typeface="Cambria Math" panose="02040503050406030204" pitchFamily="18" charset="0"/>
                          </a:rPr>
                        </m:ctrlPr>
                      </m:dPr>
                      <m:e>
                        <m:r>
                          <a:rPr lang="zh-CN" altLang="en-US" sz="3600" i="1" smtClean="0">
                            <a:latin typeface="Cambria Math" panose="02040503050406030204" pitchFamily="18" charset="0"/>
                          </a:rPr>
                          <m:t>𝑐</m:t>
                        </m:r>
                      </m:e>
                    </m:d>
                  </m:oMath>
                </a14:m>
                <a:r>
                  <a:rPr lang="zh-CN" altLang="en-US" sz="3600" dirty="0">
                    <a:latin typeface="Times New Roman"/>
                    <a:ea typeface="宋体"/>
                    <a:cs typeface="Times New Roman"/>
                  </a:rPr>
                  <a:t>。一般情况下</a:t>
                </a:r>
                <a14:m>
                  <m:oMath xmlns:m="http://schemas.openxmlformats.org/officeDocument/2006/math">
                    <m:r>
                      <a:rPr lang="zh-CN" altLang="en-US" sz="3600" i="1" smtClean="0">
                        <a:latin typeface="Cambria Math" panose="02040503050406030204" pitchFamily="18" charset="0"/>
                      </a:rPr>
                      <m:t>𝑚</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𝑚</m:t>
                    </m:r>
                  </m:oMath>
                </a14:m>
                <a:r>
                  <a:rPr lang="zh-CN" altLang="en-US" sz="3600" dirty="0">
                    <a:latin typeface="Times New Roman"/>
                    <a:ea typeface="宋体"/>
                    <a:cs typeface="Times New Roman"/>
                  </a:rPr>
                  <a:t>，若</a:t>
                </a:r>
                <a14:m>
                  <m:oMath xmlns:m="http://schemas.openxmlformats.org/officeDocument/2006/math">
                    <m:r>
                      <a:rPr lang="en-US" altLang="zh-CN" sz="3600" i="1" dirty="0" smtClean="0">
                        <a:latin typeface="Cambria Math" panose="02040503050406030204" pitchFamily="18" charset="0"/>
                      </a:rPr>
                      <m:t>𝑚</m:t>
                    </m:r>
                    <m:r>
                      <a:rPr lang="en-US" altLang="zh-CN" sz="3600" i="1" dirty="0" smtClean="0">
                        <a:latin typeface="Cambria Math" panose="02040503050406030204" pitchFamily="18" charset="0"/>
                      </a:rPr>
                      <m:t>′=</m:t>
                    </m:r>
                    <m:r>
                      <a:rPr lang="en-US" altLang="zh-CN" sz="3600" i="1" dirty="0" smtClean="0">
                        <a:latin typeface="Cambria Math" panose="02040503050406030204" pitchFamily="18" charset="0"/>
                      </a:rPr>
                      <m:t>𝑚</m:t>
                    </m:r>
                  </m:oMath>
                </a14:m>
                <a:r>
                  <a:rPr lang="zh-CN" altLang="en-US" sz="3600" dirty="0">
                    <a:latin typeface="Times New Roman"/>
                    <a:ea typeface="宋体"/>
                    <a:cs typeface="Times New Roman"/>
                  </a:rPr>
                  <a:t>，则攻击成功。</a:t>
                </a:r>
              </a:p>
              <a:p>
                <a:pPr marL="12700" indent="457200" algn="l" rtl="0" eaLnBrk="0" fontAlgn="auto">
                  <a:lnSpc>
                    <a:spcPct val="123000"/>
                  </a:lnSpc>
                  <a:spcBef>
                    <a:spcPts val="0"/>
                  </a:spcBef>
                </a:pPr>
                <a:endParaRPr lang="zh-CN" altLang="en-US" sz="3600" dirty="0">
                  <a:latin typeface="Times New Roman"/>
                  <a:ea typeface="宋体"/>
                  <a:cs typeface="Times New Roman"/>
                </a:endParaRPr>
              </a:p>
            </p:txBody>
          </p:sp>
        </mc:Choice>
        <mc:Fallback xmlns="">
          <p:sp>
            <p:nvSpPr>
              <p:cNvPr id="6" name="textbox 2"/>
              <p:cNvSpPr>
                <a:spLocks noRot="1" noChangeAspect="1" noMove="1" noResize="1" noEditPoints="1" noAdjustHandles="1" noChangeArrowheads="1" noChangeShapeType="1" noTextEdit="1"/>
              </p:cNvSpPr>
              <p:nvPr/>
            </p:nvSpPr>
            <p:spPr>
              <a:xfrm>
                <a:off x="1349692" y="1878330"/>
                <a:ext cx="15588615" cy="5492750"/>
              </a:xfrm>
              <a:prstGeom prst="rect">
                <a:avLst/>
              </a:prstGeom>
              <a:blipFill>
                <a:blip r:embed="rId2"/>
                <a:stretch>
                  <a:fillRect l="-1760" t="-2109" r="-1721"/>
                </a:stretch>
              </a:blipFill>
              <a:ln w="0" cap="flat">
                <a:noFill/>
                <a:prstDash val="solid"/>
                <a:miter lim="0"/>
              </a:ln>
            </p:spPr>
            <p:txBody>
              <a:bodyPr/>
              <a:lstStyle/>
              <a:p>
                <a:r>
                  <a:rPr lang="zh-CN" altLang="en-US">
                    <a:noFill/>
                    <a:latin typeface="Times New Roman"/>
                    <a:ea typeface="宋体"/>
                    <a:cs typeface="Times New Roman"/>
                  </a:rPr>
                  <a:t> </a:t>
                </a:r>
              </a:p>
            </p:txBody>
          </p:sp>
        </mc:Fallback>
      </mc:AlternateContent>
      <p:sp>
        <p:nvSpPr>
          <p:cNvPr id="34" name="灯片编号占位符 33"/>
          <p:cNvSpPr>
            <a:spLocks noGrp="1"/>
          </p:cNvSpPr>
          <p:nvPr>
            <p:ph type="sldNum" sz="quarter" idx="12"/>
          </p:nvPr>
        </p:nvSpPr>
        <p:spPr/>
        <p:txBody>
          <a:bodyPr/>
          <a:lstStyle/>
          <a:p>
            <a:fld id="{B6F15528-21DE-4FAA-801E-634DDDAF4B2B}" type="slidenum">
              <a:rPr lang="en-US" smtClean="0"/>
              <a:t>19</a:t>
            </a:fld>
            <a:endParaRPr lang="en-US"/>
          </a:p>
        </p:txBody>
      </p:sp>
      <p:grpSp>
        <p:nvGrpSpPr>
          <p:cNvPr id="8"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4"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6"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8"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0" name="组合 19"/>
          <p:cNvGrpSpPr/>
          <p:nvPr/>
        </p:nvGrpSpPr>
        <p:grpSpPr>
          <a:xfrm>
            <a:off x="13639786" y="733421"/>
            <a:ext cx="3700052" cy="416951"/>
            <a:chOff x="13811849" y="507954"/>
            <a:chExt cx="3700052" cy="416951"/>
          </a:xfrm>
        </p:grpSpPr>
        <p:sp>
          <p:nvSpPr>
            <p:cNvPr id="22" name="文本框 21"/>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4" name="图片 23"/>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2"/>
              <p:cNvSpPr/>
              <p:nvPr/>
            </p:nvSpPr>
            <p:spPr>
              <a:xfrm>
                <a:off x="1349692" y="1878330"/>
                <a:ext cx="15588615" cy="2446655"/>
              </a:xfrm>
              <a:prstGeom prst="rect">
                <a:avLst/>
              </a:prstGeom>
              <a:noFill/>
              <a:ln w="0" cap="flat">
                <a:noFill/>
                <a:prstDash val="solid"/>
                <a:miter lim="0"/>
              </a:ln>
            </p:spPr>
            <p:txBody>
              <a:bodyPr vert="horz" wrap="square" lIns="0" tIns="88" rIns="0" bIns="0"/>
              <a:lstStyle/>
              <a:p>
                <a:pPr marL="12700" indent="457200" algn="l" rtl="0" eaLnBrk="0" fontAlgn="auto">
                  <a:lnSpc>
                    <a:spcPct val="120000"/>
                  </a:lnSpc>
                  <a:spcBef>
                    <a:spcPts val="0"/>
                  </a:spcBef>
                </a:pPr>
                <a:r>
                  <a:rPr lang="zh-CN" altLang="en-US" sz="3600" dirty="0">
                    <a:latin typeface="Times New Roman"/>
                    <a:ea typeface="宋体"/>
                    <a:cs typeface="Times New Roman"/>
                  </a:rPr>
                  <a:t>为了保证信息的保密性，对抗密码分析，保密系统应当满足下述要求。</a:t>
                </a:r>
              </a:p>
              <a:p>
                <a:pPr indent="457200">
                  <a:lnSpc>
                    <a:spcPct val="120000"/>
                  </a:lnSpc>
                </a:pPr>
                <a:r>
                  <a:rPr lang="zh-CN" altLang="en-US" sz="3600" dirty="0">
                    <a:latin typeface="Times New Roman"/>
                    <a:ea typeface="宋体"/>
                    <a:cs typeface="Times New Roman"/>
                  </a:rPr>
                  <a:t>（1）系统即使达不到理论上是不可破的，即</a:t>
                </a:r>
                <a14:m>
                  <m:oMath xmlns:m="http://schemas.openxmlformats.org/officeDocument/2006/math">
                    <m:r>
                      <a:rPr lang="zh-CN" altLang="en-US" sz="3600" i="1" smtClean="0">
                        <a:latin typeface="Cambria Math" panose="02040503050406030204" pitchFamily="18" charset="0"/>
                      </a:rPr>
                      <m:t>𝑃𝑟</m:t>
                    </m:r>
                    <m:d>
                      <m:dPr>
                        <m:begChr m:val="{"/>
                        <m:endChr m:val="}"/>
                        <m:ctrlPr>
                          <a:rPr lang="zh-CN" altLang="en-US" sz="3600" i="1" smtClean="0">
                            <a:latin typeface="Cambria Math" panose="02040503050406030204" pitchFamily="18" charset="0"/>
                          </a:rPr>
                        </m:ctrlPr>
                      </m:dPr>
                      <m:e>
                        <m:r>
                          <a:rPr lang="zh-CN" altLang="en-US" sz="3600" i="1" smtClean="0">
                            <a:latin typeface="Cambria Math" panose="02040503050406030204" pitchFamily="18" charset="0"/>
                          </a:rPr>
                          <m:t>𝑚</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𝑚</m:t>
                        </m:r>
                      </m:e>
                    </m:d>
                    <m:r>
                      <a:rPr lang="zh-CN" altLang="en-US" sz="3600" i="1" smtClean="0">
                        <a:latin typeface="Cambria Math" panose="02040503050406030204" pitchFamily="18" charset="0"/>
                      </a:rPr>
                      <m:t>=0</m:t>
                    </m:r>
                  </m:oMath>
                </a14:m>
                <a:r>
                  <a:rPr lang="zh-CN" altLang="en-US" sz="3600" dirty="0">
                    <a:latin typeface="Times New Roman"/>
                    <a:ea typeface="宋体"/>
                    <a:cs typeface="Times New Roman"/>
                  </a:rPr>
                  <a:t>，也应当在实际中不可破。就是说，从截获的密文或某些已知的明文密文对中，要决定密钥或明文在计算上是不可行的。</a:t>
                </a:r>
              </a:p>
              <a:p>
                <a:pPr marL="12700" indent="457200" algn="l" rtl="0" eaLnBrk="0" fontAlgn="auto">
                  <a:lnSpc>
                    <a:spcPct val="120000"/>
                  </a:lnSpc>
                  <a:spcBef>
                    <a:spcPts val="0"/>
                  </a:spcBef>
                </a:pPr>
                <a:r>
                  <a:rPr lang="zh-CN" altLang="en-US" sz="3600" dirty="0">
                    <a:latin typeface="Times New Roman"/>
                    <a:ea typeface="宋体"/>
                    <a:cs typeface="Times New Roman"/>
                  </a:rPr>
                  <a:t>（2）系统的保密性不依赖于对加密体制或算法的保密，而依赖于密钥，这是著名的柯克霍夫（</a:t>
                </a:r>
                <a:r>
                  <a:rPr lang="en-US" altLang="zh-CN" sz="3600" dirty="0">
                    <a:latin typeface="Times New Roman"/>
                    <a:ea typeface="宋体"/>
                    <a:cs typeface="Times New Roman"/>
                  </a:rPr>
                  <a:t>Kerckhoff）</a:t>
                </a:r>
                <a:r>
                  <a:rPr lang="zh-CN" altLang="en-US" sz="3600" dirty="0">
                    <a:latin typeface="Times New Roman"/>
                    <a:ea typeface="宋体"/>
                    <a:cs typeface="Times New Roman"/>
                  </a:rPr>
                  <a:t>原则。</a:t>
                </a:r>
              </a:p>
              <a:p>
                <a:pPr marL="12700" indent="457200" algn="l" rtl="0" eaLnBrk="0" fontAlgn="auto">
                  <a:lnSpc>
                    <a:spcPct val="120000"/>
                  </a:lnSpc>
                  <a:spcBef>
                    <a:spcPts val="0"/>
                  </a:spcBef>
                </a:pPr>
                <a:r>
                  <a:rPr lang="zh-CN" altLang="en-US" sz="3600" dirty="0">
                    <a:latin typeface="Times New Roman"/>
                    <a:ea typeface="宋体"/>
                    <a:cs typeface="Times New Roman"/>
                  </a:rPr>
                  <a:t>（3）加密和解密算法适用于所有密钥空间中的元素。</a:t>
                </a:r>
              </a:p>
              <a:p>
                <a:pPr marL="12700" indent="457200" algn="l" rtl="0" eaLnBrk="0" fontAlgn="auto">
                  <a:lnSpc>
                    <a:spcPct val="120000"/>
                  </a:lnSpc>
                  <a:spcBef>
                    <a:spcPts val="0"/>
                  </a:spcBef>
                </a:pPr>
                <a:r>
                  <a:rPr lang="zh-CN" altLang="en-US" sz="3600" dirty="0">
                    <a:latin typeface="Times New Roman"/>
                    <a:ea typeface="宋体"/>
                    <a:cs typeface="Times New Roman"/>
                  </a:rPr>
                  <a:t>（4）系统便于实现和使用。</a:t>
                </a:r>
              </a:p>
            </p:txBody>
          </p:sp>
        </mc:Choice>
        <mc:Fallback xmlns="">
          <p:sp>
            <p:nvSpPr>
              <p:cNvPr id="6" name="textbox 2"/>
              <p:cNvSpPr>
                <a:spLocks noRot="1" noChangeAspect="1" noMove="1" noResize="1" noEditPoints="1" noAdjustHandles="1" noChangeArrowheads="1" noChangeShapeType="1" noTextEdit="1"/>
              </p:cNvSpPr>
              <p:nvPr/>
            </p:nvSpPr>
            <p:spPr>
              <a:xfrm>
                <a:off x="1349692" y="1878330"/>
                <a:ext cx="15588615" cy="2446655"/>
              </a:xfrm>
              <a:prstGeom prst="rect">
                <a:avLst/>
              </a:prstGeom>
              <a:blipFill>
                <a:blip r:embed="rId2"/>
                <a:stretch>
                  <a:fillRect l="-1760" t="-4738" r="-1486" b="-124439"/>
                </a:stretch>
              </a:blipFill>
              <a:ln w="0" cap="flat">
                <a:noFill/>
                <a:prstDash val="solid"/>
                <a:miter lim="0"/>
              </a:ln>
            </p:spPr>
            <p:txBody>
              <a:bodyPr/>
              <a:lstStyle/>
              <a:p>
                <a:r>
                  <a:rPr lang="zh-CN" altLang="en-US">
                    <a:noFill/>
                    <a:latin typeface="Times New Roman"/>
                    <a:ea typeface="宋体"/>
                    <a:cs typeface="Times New Roman"/>
                  </a:rPr>
                  <a:t> </a:t>
                </a:r>
              </a:p>
            </p:txBody>
          </p:sp>
        </mc:Fallback>
      </mc:AlternateContent>
      <p:sp>
        <p:nvSpPr>
          <p:cNvPr id="9" name="灯片编号占位符 8"/>
          <p:cNvSpPr>
            <a:spLocks noGrp="1"/>
          </p:cNvSpPr>
          <p:nvPr>
            <p:ph type="sldNum" sz="quarter" idx="12"/>
          </p:nvPr>
        </p:nvSpPr>
        <p:spPr/>
        <p:txBody>
          <a:bodyPr/>
          <a:lstStyle/>
          <a:p>
            <a:fld id="{B6F15528-21DE-4FAA-801E-634DDDAF4B2B}" type="slidenum">
              <a:rPr lang="en-US" smtClean="0"/>
              <a:t>20</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2"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1.3</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密码学的基本属性</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21</a:t>
            </a: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2019300"/>
            <a:ext cx="16147415" cy="6629507"/>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应用密码技术是保障网络与信息安全最有效、最可靠、最经济的手段，可以实现信息的机密性、信息的真实性、数据的完整性和行为的不可否认性。</a:t>
            </a:r>
          </a:p>
          <a:p>
            <a:pPr indent="457200" algn="just" fontAlgn="auto">
              <a:lnSpc>
                <a:spcPct val="120000"/>
              </a:lnSpc>
            </a:pPr>
            <a:r>
              <a:rPr lang="zh-CN" altLang="en-US" sz="3600" dirty="0">
                <a:latin typeface="Times New Roman"/>
                <a:ea typeface="宋体"/>
                <a:cs typeface="Times New Roman"/>
              </a:rPr>
              <a:t>1. 信息的机密性</a:t>
            </a:r>
            <a:endParaRPr lang="en-US" altLang="zh-CN" sz="3600" dirty="0">
              <a:latin typeface="Times New Roman"/>
              <a:ea typeface="宋体"/>
              <a:cs typeface="Times New Roman"/>
            </a:endParaRPr>
          </a:p>
          <a:p>
            <a:pPr indent="457200" algn="just" fontAlgn="auto">
              <a:lnSpc>
                <a:spcPct val="120000"/>
              </a:lnSpc>
            </a:pPr>
            <a:r>
              <a:rPr lang="zh-CN" altLang="en-US" sz="3600" dirty="0">
                <a:latin typeface="Times New Roman"/>
                <a:ea typeface="宋体"/>
                <a:cs typeface="Times New Roman"/>
              </a:rPr>
              <a:t>保证信息不被未授权者获取。</a:t>
            </a:r>
          </a:p>
          <a:p>
            <a:pPr indent="457200" algn="just" fontAlgn="auto">
              <a:lnSpc>
                <a:spcPct val="120000"/>
              </a:lnSpc>
            </a:pPr>
            <a:r>
              <a:rPr lang="zh-CN" altLang="en-US" sz="3600" dirty="0">
                <a:latin typeface="Times New Roman"/>
                <a:ea typeface="宋体"/>
                <a:cs typeface="Times New Roman"/>
              </a:rPr>
              <a:t>通过加密技术将明文转换为无法直接识别的密文，只有持有正确密钥的用户才能解密并恢复原始信息。</a:t>
            </a:r>
          </a:p>
          <a:p>
            <a:pPr indent="457200" algn="just" fontAlgn="auto">
              <a:lnSpc>
                <a:spcPct val="120000"/>
              </a:lnSpc>
            </a:pPr>
            <a:r>
              <a:rPr lang="zh-CN" altLang="en-US" sz="3600" dirty="0">
                <a:latin typeface="Times New Roman"/>
                <a:ea typeface="宋体"/>
                <a:cs typeface="Times New Roman"/>
              </a:rPr>
              <a:t>2. 信息的真实性</a:t>
            </a:r>
            <a:endParaRPr lang="en-US" altLang="zh-CN" sz="3600" dirty="0">
              <a:latin typeface="Times New Roman"/>
              <a:ea typeface="宋体"/>
              <a:cs typeface="Times New Roman"/>
            </a:endParaRPr>
          </a:p>
          <a:p>
            <a:pPr indent="457200" algn="just" fontAlgn="auto">
              <a:lnSpc>
                <a:spcPct val="120000"/>
              </a:lnSpc>
            </a:pPr>
            <a:r>
              <a:rPr lang="zh-CN" altLang="en-US" sz="3600" dirty="0">
                <a:latin typeface="Times New Roman"/>
                <a:ea typeface="宋体"/>
                <a:cs typeface="Times New Roman"/>
              </a:rPr>
              <a:t>保证信息来源可信，防止身份冒充和信息伪造。</a:t>
            </a:r>
          </a:p>
          <a:p>
            <a:pPr indent="457200" algn="just" fontAlgn="auto">
              <a:lnSpc>
                <a:spcPct val="120000"/>
              </a:lnSpc>
            </a:pPr>
            <a:r>
              <a:rPr lang="zh-CN" altLang="en-US" sz="3600" dirty="0">
                <a:latin typeface="Times New Roman"/>
                <a:ea typeface="宋体"/>
                <a:cs typeface="Times New Roman"/>
              </a:rPr>
              <a:t>可采用数字签名、消息认证码和身份认证协议验证发送者身份及信息来源。</a:t>
            </a:r>
          </a:p>
          <a:p>
            <a:pPr indent="457200" algn="just" fontAlgn="auto"/>
            <a:endParaRPr lang="zh-CN" sz="3600" dirty="0">
              <a:latin typeface="Times New Roman"/>
              <a:ea typeface="宋体"/>
              <a:cs typeface="Times New Roman"/>
            </a:endParaRPr>
          </a:p>
        </p:txBody>
      </p:sp>
      <p:sp>
        <p:nvSpPr>
          <p:cNvPr id="6" name="灯片编号占位符 5"/>
          <p:cNvSpPr>
            <a:spLocks noGrp="1"/>
          </p:cNvSpPr>
          <p:nvPr>
            <p:ph type="sldNum" sz="quarter" idx="12"/>
          </p:nvPr>
        </p:nvSpPr>
        <p:spPr/>
        <p:txBody>
          <a:bodyPr/>
          <a:lstStyle/>
          <a:p>
            <a:fld id="{B6F15528-21DE-4FAA-801E-634DDDAF4B2B}" type="slidenum">
              <a:rPr lang="en-US" smtClean="0"/>
              <a:t>22</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密码学的基本属性</a:t>
            </a:r>
          </a:p>
        </p:txBody>
      </p:sp>
      <p:sp>
        <p:nvSpPr>
          <p:cNvPr id="10"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1.3</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1749896"/>
            <a:ext cx="16147415" cy="8006294"/>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3. 数据的完整性</a:t>
            </a:r>
            <a:endParaRPr lang="en-US" altLang="zh-CN" sz="3600" dirty="0">
              <a:latin typeface="Times New Roman"/>
              <a:ea typeface="宋体"/>
              <a:cs typeface="Times New Roman"/>
            </a:endParaRPr>
          </a:p>
          <a:p>
            <a:pPr indent="457200" algn="just" fontAlgn="auto">
              <a:lnSpc>
                <a:spcPct val="120000"/>
              </a:lnSpc>
            </a:pPr>
            <a:r>
              <a:rPr lang="zh-CN" altLang="en-US" sz="3600" dirty="0">
                <a:latin typeface="Times New Roman"/>
                <a:ea typeface="宋体"/>
                <a:cs typeface="Times New Roman"/>
              </a:rPr>
              <a:t>保证数据在存储和传输过程中未被篡改或破坏。</a:t>
            </a:r>
          </a:p>
          <a:p>
            <a:pPr indent="457200" algn="just" fontAlgn="auto">
              <a:lnSpc>
                <a:spcPct val="120000"/>
              </a:lnSpc>
            </a:pPr>
            <a:r>
              <a:rPr lang="zh-CN" altLang="en-US" sz="3600" dirty="0">
                <a:latin typeface="Times New Roman"/>
                <a:ea typeface="宋体"/>
                <a:cs typeface="Times New Roman"/>
              </a:rPr>
              <a:t>利用密码杂凑算法生成数据摘要，数据发生细微变化时，摘要也会改变，从而发现篡改行为。</a:t>
            </a:r>
            <a:endParaRPr lang="en-US" altLang="zh-CN" sz="3600" dirty="0">
              <a:latin typeface="Times New Roman"/>
              <a:ea typeface="宋体"/>
              <a:cs typeface="Times New Roman"/>
            </a:endParaRPr>
          </a:p>
          <a:p>
            <a:pPr indent="457200" algn="just" fontAlgn="auto">
              <a:lnSpc>
                <a:spcPct val="120000"/>
              </a:lnSpc>
            </a:pPr>
            <a:r>
              <a:rPr lang="zh-CN" altLang="en-US" sz="3600" dirty="0">
                <a:latin typeface="Times New Roman"/>
                <a:ea typeface="宋体"/>
                <a:cs typeface="Times New Roman"/>
              </a:rPr>
              <a:t>4. 行为的不可否认性</a:t>
            </a:r>
            <a:endParaRPr lang="en-US" altLang="zh-CN" sz="3600" dirty="0">
              <a:latin typeface="Times New Roman"/>
              <a:ea typeface="宋体"/>
              <a:cs typeface="Times New Roman"/>
            </a:endParaRPr>
          </a:p>
          <a:p>
            <a:pPr indent="457200" algn="just" fontAlgn="auto">
              <a:lnSpc>
                <a:spcPct val="120000"/>
              </a:lnSpc>
            </a:pPr>
            <a:r>
              <a:rPr lang="zh-CN" altLang="en-US" sz="3600" dirty="0">
                <a:latin typeface="Times New Roman"/>
                <a:ea typeface="宋体"/>
                <a:cs typeface="Times New Roman"/>
              </a:rPr>
              <a:t>保证行为实施者事后不能否认已经发生的操作。</a:t>
            </a:r>
          </a:p>
          <a:p>
            <a:pPr indent="457200" algn="just" fontAlgn="auto">
              <a:lnSpc>
                <a:spcPct val="120000"/>
              </a:lnSpc>
            </a:pPr>
            <a:r>
              <a:rPr lang="zh-CN" altLang="en-US" sz="3600" dirty="0">
                <a:latin typeface="Times New Roman"/>
                <a:ea typeface="宋体"/>
                <a:cs typeface="Times New Roman"/>
              </a:rPr>
              <a:t>通过基于公钥密码的数字签名技术，可为电子交易、网络操作和责任认定提供可靠证据。</a:t>
            </a:r>
          </a:p>
          <a:p>
            <a:pPr indent="457200" algn="just" fontAlgn="auto">
              <a:lnSpc>
                <a:spcPct val="120000"/>
              </a:lnSpc>
            </a:pPr>
            <a:endParaRPr lang="en-US" altLang="zh-CN" sz="3600" dirty="0">
              <a:latin typeface="Times New Roman"/>
              <a:ea typeface="宋体"/>
              <a:cs typeface="Times New Roman"/>
            </a:endParaRPr>
          </a:p>
          <a:p>
            <a:pPr indent="457200" algn="just" fontAlgn="auto">
              <a:lnSpc>
                <a:spcPct val="120000"/>
              </a:lnSpc>
            </a:pPr>
            <a:r>
              <a:rPr lang="zh-CN" altLang="en-US" sz="3600" dirty="0">
                <a:latin typeface="Times New Roman"/>
                <a:ea typeface="宋体"/>
                <a:cs typeface="Times New Roman"/>
              </a:rPr>
              <a:t>对应关系：</a:t>
            </a:r>
          </a:p>
          <a:p>
            <a:pPr indent="457200" algn="just" fontAlgn="auto">
              <a:lnSpc>
                <a:spcPct val="120000"/>
              </a:lnSpc>
            </a:pPr>
            <a:r>
              <a:rPr lang="zh-CN" altLang="en-US" sz="3600" dirty="0">
                <a:latin typeface="Times New Roman"/>
                <a:ea typeface="宋体"/>
                <a:cs typeface="Times New Roman"/>
              </a:rPr>
              <a:t>机密性——加密技术　　真实性——身份认证</a:t>
            </a:r>
          </a:p>
          <a:p>
            <a:pPr indent="457200" algn="just" fontAlgn="auto">
              <a:lnSpc>
                <a:spcPct val="120000"/>
              </a:lnSpc>
            </a:pPr>
            <a:r>
              <a:rPr lang="zh-CN" altLang="en-US" sz="3600" dirty="0">
                <a:latin typeface="Times New Roman"/>
                <a:ea typeface="宋体"/>
                <a:cs typeface="Times New Roman"/>
              </a:rPr>
              <a:t>完整性——杂凑算法　　不可否认性——数字签名</a:t>
            </a:r>
          </a:p>
        </p:txBody>
      </p:sp>
      <p:sp>
        <p:nvSpPr>
          <p:cNvPr id="6" name="灯片编号占位符 5"/>
          <p:cNvSpPr>
            <a:spLocks noGrp="1"/>
          </p:cNvSpPr>
          <p:nvPr>
            <p:ph type="sldNum" sz="quarter" idx="12"/>
          </p:nvPr>
        </p:nvSpPr>
        <p:spPr/>
        <p:txBody>
          <a:bodyPr/>
          <a:lstStyle/>
          <a:p>
            <a:fld id="{B6F15528-21DE-4FAA-801E-634DDDAF4B2B}" type="slidenum">
              <a:rPr lang="en-US" smtClean="0"/>
              <a:t>23</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密码学的基本属性</a:t>
            </a:r>
          </a:p>
        </p:txBody>
      </p:sp>
      <p:sp>
        <p:nvSpPr>
          <p:cNvPr id="10"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1.3</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1.4</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密码体制分类</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24</a:t>
            </a: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2019300"/>
            <a:ext cx="16147415" cy="1358321"/>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密码体制主要分为对称密码体制和非对称密码体制。本节主要讲述对称密码体制和非对称密码体制的模型。</a:t>
            </a:r>
          </a:p>
        </p:txBody>
      </p:sp>
      <p:sp>
        <p:nvSpPr>
          <p:cNvPr id="6" name="灯片编号占位符 5"/>
          <p:cNvSpPr>
            <a:spLocks noGrp="1"/>
          </p:cNvSpPr>
          <p:nvPr>
            <p:ph type="sldNum" sz="quarter" idx="12"/>
          </p:nvPr>
        </p:nvSpPr>
        <p:spPr/>
        <p:txBody>
          <a:bodyPr/>
          <a:lstStyle/>
          <a:p>
            <a:fld id="{B6F15528-21DE-4FAA-801E-634DDDAF4B2B}" type="slidenum">
              <a:rPr lang="en-US" smtClean="0"/>
              <a:t>25</a:t>
            </a:fld>
            <a:endParaRPr lang="en-US"/>
          </a:p>
        </p:txBody>
      </p:sp>
      <p:grpSp>
        <p:nvGrpSpPr>
          <p:cNvPr id="16" name="Group 2"/>
          <p:cNvGrpSpPr/>
          <p:nvPr/>
        </p:nvGrpSpPr>
        <p:grpSpPr>
          <a:xfrm>
            <a:off x="412090" y="1028700"/>
            <a:ext cx="7800783" cy="275915"/>
            <a:chOff x="0" y="0"/>
            <a:chExt cx="2054527" cy="72669"/>
          </a:xfrm>
        </p:grpSpPr>
        <p:sp>
          <p:nvSpPr>
            <p:cNvPr id="1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9"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密码体制分类</a:t>
            </a:r>
          </a:p>
        </p:txBody>
      </p:sp>
      <p:sp>
        <p:nvSpPr>
          <p:cNvPr id="20"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1.4</a:t>
            </a:r>
          </a:p>
        </p:txBody>
      </p:sp>
      <p:pic>
        <p:nvPicPr>
          <p:cNvPr id="2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2" name="组合 21"/>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4" name="图片 2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2019300"/>
            <a:ext cx="16147415" cy="3352713"/>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对称密码体制又称单钥体制，是加密和解密使用相同密钥的密码算法。采用单钥体制的系统的保密性主要取决于密钥的保密性，与算法的保密性无关。即使知道密文和加密解密算法，但是没有密钥，也不可能得到明文。换句话说，算法不需要保密，需要保密的仅是密钥。对称密码体制加密和解密过程如图1.3所示。</a:t>
            </a:r>
          </a:p>
        </p:txBody>
      </p:sp>
      <p:pic>
        <p:nvPicPr>
          <p:cNvPr id="21"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182" y="5308600"/>
            <a:ext cx="11303635" cy="3488055"/>
          </a:xfrm>
          <a:prstGeom prst="rect">
            <a:avLst/>
          </a:prstGeom>
        </p:spPr>
      </p:pic>
      <p:sp>
        <p:nvSpPr>
          <p:cNvPr id="6" name="文本框 5"/>
          <p:cNvSpPr txBox="1"/>
          <p:nvPr/>
        </p:nvSpPr>
        <p:spPr>
          <a:xfrm>
            <a:off x="6096000" y="9042400"/>
            <a:ext cx="6096000" cy="368300"/>
          </a:xfrm>
          <a:prstGeom prst="rect">
            <a:avLst/>
          </a:prstGeom>
          <a:noFill/>
        </p:spPr>
        <p:txBody>
          <a:bodyPr wrap="square" rtlCol="0">
            <a:spAutoFit/>
          </a:bodyPr>
          <a:lstStyle/>
          <a:p>
            <a:pPr algn="ctr"/>
            <a:r>
              <a:rPr lang="zh-CN" altLang="en-US" dirty="0">
                <a:latin typeface="Times New Roman"/>
                <a:ea typeface="宋体"/>
                <a:cs typeface="Times New Roman"/>
              </a:rPr>
              <a:t>图1.3　对称密码体制加密和解密过程</a:t>
            </a:r>
          </a:p>
        </p:txBody>
      </p:sp>
      <p:sp>
        <p:nvSpPr>
          <p:cNvPr id="7" name="灯片编号占位符 6"/>
          <p:cNvSpPr>
            <a:spLocks noGrp="1"/>
          </p:cNvSpPr>
          <p:nvPr>
            <p:ph type="sldNum" sz="quarter" idx="12"/>
          </p:nvPr>
        </p:nvSpPr>
        <p:spPr/>
        <p:txBody>
          <a:bodyPr/>
          <a:lstStyle/>
          <a:p>
            <a:fld id="{B6F15528-21DE-4FAA-801E-634DDDAF4B2B}" type="slidenum">
              <a:rPr lang="en-US" smtClean="0"/>
              <a:t>26</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1.4.1</a:t>
            </a:r>
          </a:p>
        </p:txBody>
      </p:sp>
      <p:pic>
        <p:nvPicPr>
          <p:cNvPr id="1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2019300"/>
            <a:ext cx="16147415" cy="6676700"/>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密钥可由发送方产生，然后经过一个安全可靠的途径（如信使递送）送至接收方，或由第三方产生后安全、可靠地分配给通信双方。</a:t>
            </a:r>
          </a:p>
          <a:p>
            <a:pPr indent="457200" algn="just" fontAlgn="auto">
              <a:lnSpc>
                <a:spcPct val="120000"/>
              </a:lnSpc>
            </a:pPr>
            <a:r>
              <a:rPr lang="zh-CN" altLang="en-US" sz="3600" dirty="0">
                <a:latin typeface="Times New Roman"/>
                <a:ea typeface="宋体"/>
                <a:cs typeface="Times New Roman"/>
              </a:rPr>
              <a:t>如何产生满足保密要求的密钥及如何将密钥安全、可靠地分配给通信双方是这类体制设计和实现的主要课题。密钥的产生、分配、存储、销毁等问题，统称为密钥管理，这是影响系统安全的关键因素。即使密码算法再好，密钥管理问题处理不好，也很难保证系统的安全。</a:t>
            </a:r>
          </a:p>
          <a:p>
            <a:pPr indent="457200" algn="just" fontAlgn="auto">
              <a:lnSpc>
                <a:spcPct val="120000"/>
              </a:lnSpc>
            </a:pPr>
            <a:r>
              <a:rPr lang="zh-CN" altLang="en-US" sz="3600" dirty="0">
                <a:latin typeface="Times New Roman"/>
                <a:ea typeface="宋体"/>
                <a:cs typeface="Times New Roman"/>
              </a:rPr>
              <a:t>对称密码体制对明文消息的加密有两种方式：一种是对明文消息按字符（如二元数字）逐位地加密，这种密码体制称为序列密码或流密码；另一种是将明文消息分组（含有多个字符），逐组地对其进行加密，这种密码体制称为分组密码。</a:t>
            </a:r>
          </a:p>
        </p:txBody>
      </p:sp>
      <p:sp>
        <p:nvSpPr>
          <p:cNvPr id="6" name="灯片编号占位符 5"/>
          <p:cNvSpPr>
            <a:spLocks noGrp="1"/>
          </p:cNvSpPr>
          <p:nvPr>
            <p:ph type="sldNum" sz="quarter" idx="12"/>
          </p:nvPr>
        </p:nvSpPr>
        <p:spPr/>
        <p:txBody>
          <a:bodyPr/>
          <a:lstStyle/>
          <a:p>
            <a:fld id="{B6F15528-21DE-4FAA-801E-634DDDAF4B2B}" type="slidenum">
              <a:rPr lang="en-US" smtClean="0"/>
              <a:t>27</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1.4.1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2019300"/>
            <a:ext cx="16147415" cy="2023118"/>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非对称密码体制也称公钥密码体制，在加密和解密过程中使用两个不同的密钥。一个密钥可以公开，称为公钥；另一个密钥必须保密，称为私钥，由公钥求解私钥的计算是不可行的。非对称密码体制加密和解密过程如图1.4所示。</a:t>
            </a:r>
          </a:p>
        </p:txBody>
      </p:sp>
      <p:sp>
        <p:nvSpPr>
          <p:cNvPr id="6" name="文本框 5"/>
          <p:cNvSpPr txBox="1"/>
          <p:nvPr/>
        </p:nvSpPr>
        <p:spPr>
          <a:xfrm>
            <a:off x="6096000" y="8661400"/>
            <a:ext cx="6096000" cy="368300"/>
          </a:xfrm>
          <a:prstGeom prst="rect">
            <a:avLst/>
          </a:prstGeom>
          <a:noFill/>
        </p:spPr>
        <p:txBody>
          <a:bodyPr wrap="square" rtlCol="0">
            <a:spAutoFit/>
          </a:bodyPr>
          <a:lstStyle/>
          <a:p>
            <a:pPr algn="ctr"/>
            <a:r>
              <a:rPr lang="zh-CN" altLang="en-US" dirty="0">
                <a:latin typeface="Times New Roman"/>
                <a:ea typeface="宋体"/>
                <a:cs typeface="Times New Roman"/>
              </a:rPr>
              <a:t>图1.4　非对称密码体制加密和解密过程</a:t>
            </a:r>
          </a:p>
        </p:txBody>
      </p:sp>
      <p:pic>
        <p:nvPicPr>
          <p:cNvPr id="22" name="图片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57855" y="4539615"/>
            <a:ext cx="11972290" cy="3804285"/>
          </a:xfrm>
          <a:prstGeom prst="rect">
            <a:avLst/>
          </a:prstGeom>
        </p:spPr>
      </p:pic>
      <p:sp>
        <p:nvSpPr>
          <p:cNvPr id="7" name="灯片编号占位符 6"/>
          <p:cNvSpPr>
            <a:spLocks noGrp="1"/>
          </p:cNvSpPr>
          <p:nvPr>
            <p:ph type="sldNum" sz="quarter" idx="12"/>
          </p:nvPr>
        </p:nvSpPr>
        <p:spPr/>
        <p:txBody>
          <a:bodyPr/>
          <a:lstStyle/>
          <a:p>
            <a:fld id="{B6F15528-21DE-4FAA-801E-634DDDAF4B2B}" type="slidenum">
              <a:rPr lang="en-US" smtClean="0"/>
              <a:t>28</a:t>
            </a:fld>
            <a:endParaRPr lang="en-US"/>
          </a:p>
        </p:txBody>
      </p:sp>
      <p:grpSp>
        <p:nvGrpSpPr>
          <p:cNvPr id="17" name="Group 2"/>
          <p:cNvGrpSpPr/>
          <p:nvPr/>
        </p:nvGrpSpPr>
        <p:grpSpPr>
          <a:xfrm>
            <a:off x="412090" y="1028700"/>
            <a:ext cx="7800783" cy="275915"/>
            <a:chOff x="0" y="0"/>
            <a:chExt cx="2054527" cy="72669"/>
          </a:xfrm>
        </p:grpSpPr>
        <p:sp>
          <p:nvSpPr>
            <p:cNvPr id="1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2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非对称密码体制</a:t>
            </a:r>
          </a:p>
        </p:txBody>
      </p:sp>
      <p:sp>
        <p:nvSpPr>
          <p:cNvPr id="2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1.4.2</a:t>
            </a:r>
          </a:p>
        </p:txBody>
      </p:sp>
      <p:pic>
        <p:nvPicPr>
          <p:cNvPr id="2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4" name="组合 23"/>
          <p:cNvGrpSpPr/>
          <p:nvPr/>
        </p:nvGrpSpPr>
        <p:grpSpPr>
          <a:xfrm>
            <a:off x="13639786" y="733421"/>
            <a:ext cx="3700052" cy="416951"/>
            <a:chOff x="13811849" y="507954"/>
            <a:chExt cx="3700052" cy="416951"/>
          </a:xfrm>
        </p:grpSpPr>
        <p:sp>
          <p:nvSpPr>
            <p:cNvPr id="25" name="文本框 2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6" name="图片 2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2019300"/>
            <a:ext cx="16147415" cy="7341497"/>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非对称密码体制的主要特点是，加密和解密是分开的，因而可以实现多个用户加密的消息只能由一个用户解读，或一个用户加密的消息可由多个用户解读。前者可用于公共网络中实现保密通信，而后者可用于实现对用户的认证。非对称密码体制是为了解决对称密码体制中存在的问题而提出的，一方面是为了解决对称密码体制中密钥分发和管理问题；另一方面是为了解决不可否认的问题。基于以上两点，公钥密码体制在密钥的分配、管理、认证、不可否认性等方面有着重要的意义。</a:t>
            </a:r>
          </a:p>
          <a:p>
            <a:pPr indent="457200" algn="just" fontAlgn="auto">
              <a:lnSpc>
                <a:spcPct val="120000"/>
              </a:lnSpc>
            </a:pPr>
            <a:r>
              <a:rPr lang="zh-CN" altLang="en-US" sz="3600" dirty="0">
                <a:latin typeface="Times New Roman"/>
                <a:ea typeface="宋体"/>
                <a:cs typeface="Times New Roman"/>
              </a:rPr>
              <a:t>非对称密码体制的另一个重要用途是数字签名，与加密过程不同的是，在数字签名中，消息的发送者要使用自己的私钥对消息进行签名，所有人都可以使用与其对应的公钥进行签名的有效性验证。因此，非对称密码体制不仅可以保障信息的机密性，还具有认证和不可否认性等功能。</a:t>
            </a:r>
          </a:p>
        </p:txBody>
      </p:sp>
      <p:sp>
        <p:nvSpPr>
          <p:cNvPr id="6" name="灯片编号占位符 5"/>
          <p:cNvSpPr>
            <a:spLocks noGrp="1"/>
          </p:cNvSpPr>
          <p:nvPr>
            <p:ph type="sldNum" sz="quarter" idx="12"/>
          </p:nvPr>
        </p:nvSpPr>
        <p:spPr/>
        <p:txBody>
          <a:bodyPr/>
          <a:lstStyle/>
          <a:p>
            <a:fld id="{B6F15528-21DE-4FAA-801E-634DDDAF4B2B}" type="slidenum">
              <a:rPr lang="en-US" smtClean="0"/>
              <a:t>29</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非对称密码体制</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1.4.2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30</a:t>
            </a: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2019300"/>
            <a:ext cx="16147415" cy="5347105"/>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密码分析学是研究如何破解或攻击受保护的信息的科学，是指在没有加密密钥的情况下，攻击密文的过程，其目标就是从密文得到明文或者由已知的条件得到密钥。密码分析是建立在攻击者已知加密算法的基础之上的。</a:t>
            </a:r>
          </a:p>
          <a:p>
            <a:pPr indent="457200" algn="just" fontAlgn="auto">
              <a:lnSpc>
                <a:spcPct val="120000"/>
              </a:lnSpc>
            </a:pPr>
            <a:r>
              <a:rPr lang="zh-CN" altLang="en-US" sz="3600" dirty="0">
                <a:latin typeface="Times New Roman"/>
                <a:ea typeface="宋体"/>
                <a:cs typeface="Times New Roman"/>
              </a:rPr>
              <a:t>在信息传输和处理系统中，除了有预定的接收者，还有非授权者或截获者，他们通过各种办法，如搭线窃听、电磁窃听、声音窃听等来窃取机密信息。对一个保密通信系统采取截获密文进行分析的方法称为被动攻击。非法入侵者、攻击者或黑客主动向系统窜扰，采用删除、增添、重放、伪造等手段向系统注入假消息以达到非法目的的行为称为主动攻击。</a:t>
            </a:r>
          </a:p>
        </p:txBody>
      </p:sp>
      <p:sp>
        <p:nvSpPr>
          <p:cNvPr id="6" name="灯片编号占位符 5"/>
          <p:cNvSpPr>
            <a:spLocks noGrp="1"/>
          </p:cNvSpPr>
          <p:nvPr>
            <p:ph type="sldNum" sz="quarter" idx="12"/>
          </p:nvPr>
        </p:nvSpPr>
        <p:spPr/>
        <p:txBody>
          <a:bodyPr/>
          <a:lstStyle/>
          <a:p>
            <a:fld id="{B6F15528-21DE-4FAA-801E-634DDDAF4B2B}" type="slidenum">
              <a:rPr lang="en-US" smtClean="0"/>
              <a:t>31</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a:t>
            </a:r>
          </a:p>
        </p:txBody>
      </p:sp>
      <p:sp>
        <p:nvSpPr>
          <p:cNvPr id="10"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lang="en-US" altLang="zh-CN"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1903891"/>
            <a:ext cx="16147415" cy="6011902"/>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根据密码分析者可能取得的分析资料的不同，密码分析可分为如下4类。</a:t>
            </a:r>
          </a:p>
          <a:p>
            <a:pPr indent="457200" algn="just" fontAlgn="auto">
              <a:lnSpc>
                <a:spcPct val="120000"/>
              </a:lnSpc>
            </a:pPr>
            <a:r>
              <a:rPr lang="zh-CN" altLang="en-US" sz="3600" dirty="0">
                <a:latin typeface="Times New Roman"/>
                <a:ea typeface="宋体"/>
                <a:cs typeface="Times New Roman"/>
              </a:rPr>
              <a:t>（1）唯密文攻击（</a:t>
            </a:r>
            <a:r>
              <a:rPr lang="en-US" altLang="zh-CN" sz="3600" dirty="0">
                <a:latin typeface="Times New Roman"/>
                <a:ea typeface="宋体"/>
                <a:cs typeface="Times New Roman"/>
              </a:rPr>
              <a:t>Ciphertext-Only Attack）：</a:t>
            </a:r>
            <a:r>
              <a:rPr lang="zh-CN" altLang="en-US" sz="3600" dirty="0">
                <a:latin typeface="Times New Roman"/>
                <a:ea typeface="宋体"/>
                <a:cs typeface="Times New Roman"/>
              </a:rPr>
              <a:t>密码分析者只用密文进行密码分析的方法。</a:t>
            </a:r>
          </a:p>
          <a:p>
            <a:pPr indent="457200" algn="just" fontAlgn="auto">
              <a:lnSpc>
                <a:spcPct val="120000"/>
              </a:lnSpc>
            </a:pPr>
            <a:r>
              <a:rPr lang="zh-CN" altLang="en-US" sz="3600" dirty="0">
                <a:latin typeface="Times New Roman"/>
                <a:ea typeface="宋体"/>
                <a:cs typeface="Times New Roman"/>
              </a:rPr>
              <a:t>（2）已知明文攻击（</a:t>
            </a:r>
            <a:r>
              <a:rPr lang="en-US" altLang="zh-CN" sz="3600" dirty="0">
                <a:latin typeface="Times New Roman"/>
                <a:ea typeface="宋体"/>
                <a:cs typeface="Times New Roman"/>
              </a:rPr>
              <a:t>Known-Plaintext Attack）：</a:t>
            </a:r>
            <a:r>
              <a:rPr lang="zh-CN" altLang="en-US" sz="3600" dirty="0">
                <a:latin typeface="Times New Roman"/>
                <a:ea typeface="宋体"/>
                <a:cs typeface="Times New Roman"/>
              </a:rPr>
              <a:t>利用大量互相对应的明文和密文进行密码分析的方法。</a:t>
            </a:r>
          </a:p>
          <a:p>
            <a:pPr indent="457200" algn="just" fontAlgn="auto">
              <a:lnSpc>
                <a:spcPct val="120000"/>
              </a:lnSpc>
            </a:pPr>
            <a:r>
              <a:rPr lang="zh-CN" altLang="en-US" sz="3600" dirty="0">
                <a:latin typeface="Times New Roman"/>
                <a:ea typeface="宋体"/>
                <a:cs typeface="Times New Roman"/>
              </a:rPr>
              <a:t>（3）选择明文攻击（</a:t>
            </a:r>
            <a:r>
              <a:rPr lang="en-US" altLang="zh-CN" sz="3600" dirty="0">
                <a:latin typeface="Times New Roman"/>
                <a:ea typeface="宋体"/>
                <a:cs typeface="Times New Roman"/>
              </a:rPr>
              <a:t>Chosen-Plaintext </a:t>
            </a:r>
            <a:r>
              <a:rPr lang="en-US" altLang="zh-CN" sz="3600" dirty="0" err="1">
                <a:latin typeface="Times New Roman"/>
                <a:ea typeface="宋体"/>
                <a:cs typeface="Times New Roman"/>
              </a:rPr>
              <a:t>Attack，CPA</a:t>
            </a:r>
            <a:r>
              <a:rPr lang="en-US" altLang="zh-CN" sz="3600" dirty="0">
                <a:latin typeface="Times New Roman"/>
                <a:ea typeface="宋体"/>
                <a:cs typeface="Times New Roman"/>
              </a:rPr>
              <a:t>）：</a:t>
            </a:r>
            <a:r>
              <a:rPr lang="zh-CN" altLang="en-US" sz="3600" dirty="0">
                <a:latin typeface="Times New Roman"/>
                <a:ea typeface="宋体"/>
                <a:cs typeface="Times New Roman"/>
              </a:rPr>
              <a:t>选择特定明文和对应密文进行密码分析的方法。</a:t>
            </a:r>
          </a:p>
          <a:p>
            <a:pPr indent="457200" algn="just" fontAlgn="auto">
              <a:lnSpc>
                <a:spcPct val="120000"/>
              </a:lnSpc>
            </a:pPr>
            <a:r>
              <a:rPr lang="zh-CN" altLang="en-US" sz="3600" dirty="0">
                <a:latin typeface="Times New Roman"/>
                <a:ea typeface="宋体"/>
                <a:cs typeface="Times New Roman"/>
              </a:rPr>
              <a:t>（4）选择密文攻击（</a:t>
            </a:r>
            <a:r>
              <a:rPr lang="en-US" altLang="zh-CN" sz="3600" dirty="0">
                <a:latin typeface="Times New Roman"/>
                <a:ea typeface="宋体"/>
                <a:cs typeface="Times New Roman"/>
              </a:rPr>
              <a:t>Chosen-Ciphertext </a:t>
            </a:r>
            <a:r>
              <a:rPr lang="en-US" altLang="zh-CN" sz="3600" dirty="0" err="1">
                <a:latin typeface="Times New Roman"/>
                <a:ea typeface="宋体"/>
                <a:cs typeface="Times New Roman"/>
              </a:rPr>
              <a:t>Attack，CCA</a:t>
            </a:r>
            <a:r>
              <a:rPr lang="en-US" altLang="zh-CN" sz="3600" dirty="0">
                <a:latin typeface="Times New Roman"/>
                <a:ea typeface="宋体"/>
                <a:cs typeface="Times New Roman"/>
              </a:rPr>
              <a:t>）：</a:t>
            </a:r>
            <a:r>
              <a:rPr lang="zh-CN" altLang="en-US" sz="3600" dirty="0">
                <a:latin typeface="Times New Roman"/>
                <a:ea typeface="宋体"/>
                <a:cs typeface="Times New Roman"/>
              </a:rPr>
              <a:t>选择特定密文和对应明文进行密码分析的方法。</a:t>
            </a:r>
          </a:p>
        </p:txBody>
      </p:sp>
      <p:sp>
        <p:nvSpPr>
          <p:cNvPr id="6" name="灯片编号占位符 5"/>
          <p:cNvSpPr>
            <a:spLocks noGrp="1"/>
          </p:cNvSpPr>
          <p:nvPr>
            <p:ph type="sldNum" sz="quarter" idx="12"/>
          </p:nvPr>
        </p:nvSpPr>
        <p:spPr/>
        <p:txBody>
          <a:bodyPr/>
          <a:lstStyle/>
          <a:p>
            <a:fld id="{B6F15528-21DE-4FAA-801E-634DDDAF4B2B}" type="slidenum">
              <a:rPr lang="en-US" smtClean="0"/>
              <a:t>32</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密码分析的分类</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1337-ADE8-4EC8-CAB1-332A29894E23}"/>
            </a:ext>
          </a:extLst>
        </p:cNvPr>
        <p:cNvGrpSpPr/>
        <p:nvPr/>
      </p:nvGrpSpPr>
      <p:grpSpPr>
        <a:xfrm>
          <a:off x="0" y="0"/>
          <a:ext cx="0" cy="0"/>
          <a:chOff x="0" y="0"/>
          <a:chExt cx="0" cy="0"/>
        </a:xfrm>
      </p:grpSpPr>
      <p:sp>
        <p:nvSpPr>
          <p:cNvPr id="11" name="文本框 10">
            <a:extLst>
              <a:ext uri="{FF2B5EF4-FFF2-40B4-BE49-F238E27FC236}">
                <a16:creationId xmlns:a16="http://schemas.microsoft.com/office/drawing/2014/main" id="{20C24E30-1F7A-1A13-031D-ABA03D58CABB}"/>
              </a:ext>
            </a:extLst>
          </p:cNvPr>
          <p:cNvSpPr txBox="1"/>
          <p:nvPr/>
        </p:nvSpPr>
        <p:spPr>
          <a:xfrm>
            <a:off x="1070292" y="1903891"/>
            <a:ext cx="16147415" cy="2687915"/>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其中，最难的攻击类型是唯密文攻击，这种攻击的手段一般是穷举搜索法，即对截获的密文依次使用所有可能的密钥试译，直到得出有意义的明文。只要有足够多的计算时间和存储容量，原则上穷举搜索法总是可以成功的。但任何一种能达到安全要求的实用密码的设计都会使这一方法在实际中是不可行的。</a:t>
            </a:r>
          </a:p>
        </p:txBody>
      </p:sp>
      <p:sp>
        <p:nvSpPr>
          <p:cNvPr id="6" name="灯片编号占位符 5">
            <a:extLst>
              <a:ext uri="{FF2B5EF4-FFF2-40B4-BE49-F238E27FC236}">
                <a16:creationId xmlns:a16="http://schemas.microsoft.com/office/drawing/2014/main" id="{9E65CF5A-B05C-7BD7-3220-143442898807}"/>
              </a:ext>
            </a:extLst>
          </p:cNvPr>
          <p:cNvSpPr>
            <a:spLocks noGrp="1"/>
          </p:cNvSpPr>
          <p:nvPr>
            <p:ph type="sldNum" sz="quarter" idx="12"/>
          </p:nvPr>
        </p:nvSpPr>
        <p:spPr/>
        <p:txBody>
          <a:bodyPr/>
          <a:lstStyle/>
          <a:p>
            <a:fld id="{B6F15528-21DE-4FAA-801E-634DDDAF4B2B}" type="slidenum">
              <a:rPr lang="en-US" smtClean="0"/>
              <a:t>33</a:t>
            </a:fld>
            <a:endParaRPr lang="en-US"/>
          </a:p>
        </p:txBody>
      </p:sp>
      <p:grpSp>
        <p:nvGrpSpPr>
          <p:cNvPr id="5" name="Group 2">
            <a:extLst>
              <a:ext uri="{FF2B5EF4-FFF2-40B4-BE49-F238E27FC236}">
                <a16:creationId xmlns:a16="http://schemas.microsoft.com/office/drawing/2014/main" id="{CF74A5F6-566E-4DC0-92DE-5EE98939AAE5}"/>
              </a:ext>
            </a:extLst>
          </p:cNvPr>
          <p:cNvGrpSpPr/>
          <p:nvPr/>
        </p:nvGrpSpPr>
        <p:grpSpPr>
          <a:xfrm>
            <a:off x="412090" y="1028700"/>
            <a:ext cx="7800783" cy="275915"/>
            <a:chOff x="0" y="0"/>
            <a:chExt cx="2054527" cy="72669"/>
          </a:xfrm>
        </p:grpSpPr>
        <p:sp>
          <p:nvSpPr>
            <p:cNvPr id="7" name="Freeform 3">
              <a:extLst>
                <a:ext uri="{FF2B5EF4-FFF2-40B4-BE49-F238E27FC236}">
                  <a16:creationId xmlns:a16="http://schemas.microsoft.com/office/drawing/2014/main" id="{A26F3E7F-C8C0-9735-9FFB-D4A4AB934554}"/>
                </a:ext>
              </a:extLst>
            </p:cNvPr>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a:extLst>
                <a:ext uri="{FF2B5EF4-FFF2-40B4-BE49-F238E27FC236}">
                  <a16:creationId xmlns:a16="http://schemas.microsoft.com/office/drawing/2014/main" id="{74A88435-2316-F5EF-E89E-4D2413422A60}"/>
                </a:ext>
              </a:extLst>
            </p:cNvPr>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a:extLst>
              <a:ext uri="{FF2B5EF4-FFF2-40B4-BE49-F238E27FC236}">
                <a16:creationId xmlns:a16="http://schemas.microsoft.com/office/drawing/2014/main" id="{75AFFB92-2362-6EA6-A6B1-30669646CC06}"/>
              </a:ext>
            </a:extLst>
          </p:cNvPr>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密码分析的分类</a:t>
            </a:r>
          </a:p>
        </p:txBody>
      </p:sp>
      <p:sp>
        <p:nvSpPr>
          <p:cNvPr id="10" name="TextBox 31">
            <a:extLst>
              <a:ext uri="{FF2B5EF4-FFF2-40B4-BE49-F238E27FC236}">
                <a16:creationId xmlns:a16="http://schemas.microsoft.com/office/drawing/2014/main" id="{A4A41451-C4F4-9D2A-5383-08AE8A81F5F6}"/>
              </a:ext>
            </a:extLst>
          </p:cNvPr>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p>
        </p:txBody>
      </p:sp>
      <p:pic>
        <p:nvPicPr>
          <p:cNvPr id="12" name="图片 2">
            <a:extLst>
              <a:ext uri="{FF2B5EF4-FFF2-40B4-BE49-F238E27FC236}">
                <a16:creationId xmlns:a16="http://schemas.microsoft.com/office/drawing/2014/main" id="{2751B8A9-6160-C829-23BD-7E58582DBE25}"/>
              </a:ext>
            </a:extLst>
          </p:cNvPr>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a:extLst>
              <a:ext uri="{FF2B5EF4-FFF2-40B4-BE49-F238E27FC236}">
                <a16:creationId xmlns:a16="http://schemas.microsoft.com/office/drawing/2014/main" id="{12FA5AE6-50AA-37A6-35F2-78EEFCBAB9A6}"/>
              </a:ext>
            </a:extLst>
          </p:cNvPr>
          <p:cNvGrpSpPr/>
          <p:nvPr/>
        </p:nvGrpSpPr>
        <p:grpSpPr>
          <a:xfrm>
            <a:off x="13639786" y="733421"/>
            <a:ext cx="3700052" cy="416951"/>
            <a:chOff x="13811849" y="507954"/>
            <a:chExt cx="3700052" cy="416951"/>
          </a:xfrm>
        </p:grpSpPr>
        <p:sp>
          <p:nvSpPr>
            <p:cNvPr id="14" name="文本框 13">
              <a:extLst>
                <a:ext uri="{FF2B5EF4-FFF2-40B4-BE49-F238E27FC236}">
                  <a16:creationId xmlns:a16="http://schemas.microsoft.com/office/drawing/2014/main" id="{68AC095D-74BD-1266-3E6C-2711F50D98BF}"/>
                </a:ext>
              </a:extLst>
            </p:cNvPr>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a:extLst>
                <a:ext uri="{FF2B5EF4-FFF2-40B4-BE49-F238E27FC236}">
                  <a16:creationId xmlns:a16="http://schemas.microsoft.com/office/drawing/2014/main" id="{FFE7381E-FF63-F85A-8F6F-8DB092ECDE44}"/>
                </a:ext>
              </a:extLst>
            </p:cNvPr>
            <p:cNvPicPr>
              <a:picLocks noChangeAspect="1"/>
            </p:cNvPicPr>
            <p:nvPr/>
          </p:nvPicPr>
          <p:blipFill>
            <a:blip r:embed="rId3"/>
            <a:stretch>
              <a:fillRect/>
            </a:stretch>
          </p:blipFill>
          <p:spPr>
            <a:xfrm>
              <a:off x="13944600" y="877286"/>
              <a:ext cx="2771429" cy="47619"/>
            </a:xfrm>
            <a:prstGeom prst="rect">
              <a:avLst/>
            </a:prstGeom>
          </p:spPr>
        </p:pic>
      </p:grpSp>
    </p:spTree>
    <p:extLst>
      <p:ext uri="{BB962C8B-B14F-4D97-AF65-F5344CB8AC3E}">
        <p14:creationId xmlns:p14="http://schemas.microsoft.com/office/powerpoint/2010/main" val="2987727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2019300"/>
            <a:ext cx="16147415" cy="3969385"/>
          </a:xfrm>
          <a:prstGeom prst="rect">
            <a:avLst/>
          </a:prstGeom>
          <a:noFill/>
        </p:spPr>
        <p:txBody>
          <a:bodyPr wrap="square" rtlCol="0">
            <a:spAutoFit/>
          </a:bodyPr>
          <a:lstStyle/>
          <a:p>
            <a:pPr indent="457200" algn="just" fontAlgn="auto"/>
            <a:r>
              <a:rPr lang="zh-CN" altLang="en-US" sz="3600">
                <a:latin typeface="Times New Roman"/>
                <a:ea typeface="宋体"/>
                <a:cs typeface="Times New Roman"/>
              </a:rPr>
              <a:t>还有如下两种攻击情况。</a:t>
            </a:r>
          </a:p>
          <a:p>
            <a:pPr indent="457200" algn="just" fontAlgn="auto"/>
            <a:r>
              <a:rPr lang="zh-CN" altLang="en-US" sz="3600">
                <a:latin typeface="Times New Roman"/>
                <a:ea typeface="宋体"/>
                <a:cs typeface="Times New Roman"/>
              </a:rPr>
              <a:t>（1）自适应选择明文攻击（</a:t>
            </a:r>
            <a:r>
              <a:rPr lang="en-US" altLang="zh-CN" sz="3600">
                <a:latin typeface="Times New Roman"/>
                <a:ea typeface="宋体"/>
                <a:cs typeface="Times New Roman"/>
              </a:rPr>
              <a:t>Adaptive Chosen Plaintext Attack）：</a:t>
            </a:r>
            <a:r>
              <a:rPr lang="zh-CN" altLang="en-US" sz="3600">
                <a:latin typeface="Times New Roman"/>
                <a:ea typeface="宋体"/>
                <a:cs typeface="Times New Roman"/>
              </a:rPr>
              <a:t>是</a:t>
            </a:r>
            <a:r>
              <a:rPr lang="en-US" altLang="zh-CN" sz="3600">
                <a:latin typeface="Times New Roman"/>
                <a:ea typeface="宋体"/>
                <a:cs typeface="Times New Roman"/>
              </a:rPr>
              <a:t>CPA</a:t>
            </a:r>
            <a:r>
              <a:rPr lang="zh-CN" altLang="en-US" sz="3600">
                <a:latin typeface="Times New Roman"/>
                <a:ea typeface="宋体"/>
                <a:cs typeface="Times New Roman"/>
              </a:rPr>
              <a:t>的一种特殊情况，是指密码分析者不仅能够选择要加密的明文，还能够根据加密的结果对以前的选择进行修正。</a:t>
            </a:r>
          </a:p>
          <a:p>
            <a:pPr indent="457200" algn="just" fontAlgn="auto"/>
            <a:r>
              <a:rPr lang="zh-CN" altLang="en-US" sz="3600">
                <a:latin typeface="Times New Roman"/>
                <a:ea typeface="宋体"/>
                <a:cs typeface="Times New Roman"/>
              </a:rPr>
              <a:t>（2）选择密钥攻击（</a:t>
            </a:r>
            <a:r>
              <a:rPr lang="en-US" altLang="zh-CN" sz="3600">
                <a:latin typeface="Times New Roman"/>
                <a:ea typeface="宋体"/>
                <a:cs typeface="Times New Roman"/>
              </a:rPr>
              <a:t>Chosen Key Attack）：</a:t>
            </a:r>
            <a:r>
              <a:rPr lang="zh-CN" altLang="en-US" sz="3600">
                <a:latin typeface="Times New Roman"/>
                <a:ea typeface="宋体"/>
                <a:cs typeface="Times New Roman"/>
              </a:rPr>
              <a:t>这种攻击情况在实际中比较少见，它仅表示密码分析者知道不同密钥之间的关系，并不表示密码分析者能够选择密钥。</a:t>
            </a:r>
          </a:p>
        </p:txBody>
      </p:sp>
      <p:sp>
        <p:nvSpPr>
          <p:cNvPr id="6" name="灯片编号占位符 5"/>
          <p:cNvSpPr>
            <a:spLocks noGrp="1"/>
          </p:cNvSpPr>
          <p:nvPr>
            <p:ph type="sldNum" sz="quarter" idx="12"/>
          </p:nvPr>
        </p:nvSpPr>
        <p:spPr/>
        <p:txBody>
          <a:bodyPr/>
          <a:lstStyle/>
          <a:p>
            <a:fld id="{B6F15528-21DE-4FAA-801E-634DDDAF4B2B}" type="slidenum">
              <a:rPr lang="en-US" smtClean="0"/>
              <a:t>34</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密码分析的分类</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2019300"/>
            <a:ext cx="16147415" cy="7341497"/>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在评价一个密码体制时还需要注意如下两个概念。</a:t>
            </a:r>
          </a:p>
          <a:p>
            <a:pPr indent="457200" algn="just" fontAlgn="auto">
              <a:lnSpc>
                <a:spcPct val="120000"/>
              </a:lnSpc>
            </a:pPr>
            <a:r>
              <a:rPr lang="zh-CN" altLang="en-US" sz="3600" dirty="0">
                <a:latin typeface="Times New Roman"/>
                <a:ea typeface="宋体"/>
                <a:cs typeface="Times New Roman"/>
              </a:rPr>
              <a:t>（1）一个加密算法是无条件安全的，如果算法产生的密文不能给出唯一决定相应明文的足够信息，此时无论密码分析者截获多少密文、花费多少时间，都不能解密密文。</a:t>
            </a:r>
          </a:p>
          <a:p>
            <a:pPr indent="457200" algn="just" fontAlgn="auto">
              <a:lnSpc>
                <a:spcPct val="120000"/>
              </a:lnSpc>
            </a:pPr>
            <a:r>
              <a:rPr lang="zh-CN" altLang="en-US" sz="3600" dirty="0">
                <a:latin typeface="Times New Roman"/>
                <a:ea typeface="宋体"/>
                <a:cs typeface="Times New Roman"/>
              </a:rPr>
              <a:t>（2）香农指出，仅当密钥至少和明文一样长时，才能达到无条件安全。也就是说除了一次一密方案，再无其他加密方案是无条件安全的。</a:t>
            </a:r>
          </a:p>
          <a:p>
            <a:pPr indent="457200" algn="just" fontAlgn="auto">
              <a:lnSpc>
                <a:spcPct val="120000"/>
              </a:lnSpc>
            </a:pPr>
            <a:r>
              <a:rPr lang="zh-CN" altLang="en-US" sz="3600" dirty="0">
                <a:latin typeface="Times New Roman"/>
                <a:ea typeface="宋体"/>
                <a:cs typeface="Times New Roman"/>
              </a:rPr>
              <a:t>加密算法只需要满足以下两条准则之一：一是破译密文的代价超过被加密信息的价值；二是破译密文所花费的时间超过信息的有用期。</a:t>
            </a:r>
          </a:p>
          <a:p>
            <a:pPr indent="457200" algn="just" fontAlgn="auto">
              <a:lnSpc>
                <a:spcPct val="120000"/>
              </a:lnSpc>
            </a:pPr>
            <a:r>
              <a:rPr lang="zh-CN" altLang="en-US" sz="3600" dirty="0">
                <a:latin typeface="Times New Roman"/>
                <a:ea typeface="宋体"/>
                <a:cs typeface="Times New Roman"/>
              </a:rPr>
              <a:t>满足以上两个准则的加密算法称为计算安全（</a:t>
            </a:r>
            <a:r>
              <a:rPr lang="en-US" altLang="zh-CN" sz="3600" dirty="0">
                <a:latin typeface="Times New Roman"/>
                <a:ea typeface="宋体"/>
                <a:cs typeface="Times New Roman"/>
              </a:rPr>
              <a:t>Computational Security）。</a:t>
            </a:r>
            <a:r>
              <a:rPr lang="zh-CN" altLang="en-US" sz="3600" dirty="0">
                <a:latin typeface="Times New Roman"/>
                <a:ea typeface="宋体"/>
                <a:cs typeface="Times New Roman"/>
              </a:rPr>
              <a:t>此外，密文没有泄露足够多的明文信息，无论计算能力有多强，都无法由密文唯一确定明文，满足此条件的加密算法称为无条件安全（</a:t>
            </a:r>
            <a:r>
              <a:rPr lang="en-US" altLang="zh-CN" sz="3600" dirty="0">
                <a:latin typeface="Times New Roman"/>
                <a:ea typeface="宋体"/>
                <a:cs typeface="Times New Roman"/>
              </a:rPr>
              <a:t>Unconditional Security）。</a:t>
            </a:r>
          </a:p>
        </p:txBody>
      </p:sp>
      <p:sp>
        <p:nvSpPr>
          <p:cNvPr id="6" name="灯片编号占位符 5"/>
          <p:cNvSpPr>
            <a:spLocks noGrp="1"/>
          </p:cNvSpPr>
          <p:nvPr>
            <p:ph type="sldNum" sz="quarter" idx="12"/>
          </p:nvPr>
        </p:nvSpPr>
        <p:spPr/>
        <p:txBody>
          <a:bodyPr/>
          <a:lstStyle/>
          <a:p>
            <a:fld id="{B6F15528-21DE-4FAA-801E-634DDDAF4B2B}" type="slidenum">
              <a:rPr lang="en-US" smtClean="0"/>
              <a:t>35</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密码分析的分类</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1943100"/>
            <a:ext cx="16147415" cy="6682279"/>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穷密钥搜索理论上很简单，就是对每个密钥进行测试，直至找到解为止。该方法是最基本的攻击方法，其复杂度由密钥量的大小决定，并且该方法能成功实现的条件是可以对正确的明文进行识别。</a:t>
            </a:r>
          </a:p>
          <a:p>
            <a:pPr indent="457200" algn="just" fontAlgn="auto">
              <a:lnSpc>
                <a:spcPct val="120000"/>
              </a:lnSpc>
            </a:pPr>
            <a:r>
              <a:rPr lang="zh-CN" altLang="en-US" sz="3600" dirty="0">
                <a:latin typeface="Times New Roman"/>
                <a:ea typeface="宋体"/>
                <a:cs typeface="Times New Roman"/>
              </a:rPr>
              <a:t>不同密钥长度下完成穷密钥搜索所需要的时间如表1.1所示。</a:t>
            </a:r>
          </a:p>
          <a:p>
            <a:pPr indent="457200" algn="just" fontAlgn="auto">
              <a:lnSpc>
                <a:spcPct val="120000"/>
              </a:lnSpc>
            </a:pPr>
            <a:endParaRPr lang="zh-CN" altLang="en-US" sz="3600" dirty="0">
              <a:latin typeface="Times New Roman"/>
              <a:ea typeface="宋体"/>
              <a:cs typeface="Times New Roman"/>
            </a:endParaRPr>
          </a:p>
          <a:p>
            <a:pPr indent="457200" algn="just" fontAlgn="auto">
              <a:lnSpc>
                <a:spcPct val="120000"/>
              </a:lnSpc>
            </a:pPr>
            <a:endParaRPr lang="zh-CN" altLang="en-US" sz="3600" dirty="0">
              <a:latin typeface="Times New Roman"/>
              <a:ea typeface="宋体"/>
              <a:cs typeface="Times New Roman"/>
            </a:endParaRPr>
          </a:p>
          <a:p>
            <a:pPr indent="457200" algn="just" fontAlgn="auto">
              <a:lnSpc>
                <a:spcPct val="120000"/>
              </a:lnSpc>
            </a:pPr>
            <a:endParaRPr lang="zh-CN" altLang="en-US" sz="3600" dirty="0">
              <a:latin typeface="Times New Roman"/>
              <a:ea typeface="宋体"/>
              <a:cs typeface="Times New Roman"/>
            </a:endParaRPr>
          </a:p>
          <a:p>
            <a:pPr indent="457200" algn="just" fontAlgn="auto">
              <a:lnSpc>
                <a:spcPct val="120000"/>
              </a:lnSpc>
            </a:pPr>
            <a:endParaRPr lang="zh-CN" altLang="en-US" sz="3600" dirty="0">
              <a:latin typeface="Times New Roman"/>
              <a:ea typeface="宋体"/>
              <a:cs typeface="Times New Roman"/>
            </a:endParaRPr>
          </a:p>
          <a:p>
            <a:pPr indent="457200" algn="just" fontAlgn="auto">
              <a:lnSpc>
                <a:spcPct val="120000"/>
              </a:lnSpc>
            </a:pPr>
            <a:endParaRPr lang="zh-CN" altLang="en-US" sz="3600" dirty="0">
              <a:latin typeface="Times New Roman"/>
              <a:ea typeface="宋体"/>
              <a:cs typeface="Times New Roman"/>
            </a:endParaRPr>
          </a:p>
          <a:p>
            <a:pPr indent="457200" algn="just" fontAlgn="auto">
              <a:lnSpc>
                <a:spcPct val="120000"/>
              </a:lnSpc>
            </a:pPr>
            <a:endParaRPr lang="zh-CN" altLang="en-US" sz="3600" dirty="0">
              <a:latin typeface="Times New Roman"/>
              <a:ea typeface="宋体"/>
              <a:cs typeface="Times New Roman"/>
            </a:endParaRPr>
          </a:p>
        </p:txBody>
      </p:sp>
      <p:graphicFrame>
        <p:nvGraphicFramePr>
          <p:cNvPr id="5" name="表格 4"/>
          <p:cNvGraphicFramePr/>
          <p:nvPr>
            <p:custDataLst>
              <p:tags r:id="rId1"/>
            </p:custDataLst>
            <p:extLst>
              <p:ext uri="{D42A27DB-BD31-4B8C-83A1-F6EECF244321}">
                <p14:modId xmlns:p14="http://schemas.microsoft.com/office/powerpoint/2010/main" val="3653250112"/>
              </p:ext>
            </p:extLst>
          </p:nvPr>
        </p:nvGraphicFramePr>
        <p:xfrm>
          <a:off x="4286250" y="5207000"/>
          <a:ext cx="9715500" cy="3132455"/>
        </p:xfrm>
        <a:graphic>
          <a:graphicData uri="http://schemas.openxmlformats.org/drawingml/2006/table">
            <a:tbl>
              <a:tblPr/>
              <a:tblGrid>
                <a:gridCol w="2007235">
                  <a:extLst>
                    <a:ext uri="{9D8B030D-6E8A-4147-A177-3AD203B41FA5}">
                      <a16:colId xmlns:a16="http://schemas.microsoft.com/office/drawing/2014/main" val="20000"/>
                    </a:ext>
                  </a:extLst>
                </a:gridCol>
                <a:gridCol w="3187065">
                  <a:extLst>
                    <a:ext uri="{9D8B030D-6E8A-4147-A177-3AD203B41FA5}">
                      <a16:colId xmlns:a16="http://schemas.microsoft.com/office/drawing/2014/main" val="20001"/>
                    </a:ext>
                  </a:extLst>
                </a:gridCol>
                <a:gridCol w="4521200">
                  <a:extLst>
                    <a:ext uri="{9D8B030D-6E8A-4147-A177-3AD203B41FA5}">
                      <a16:colId xmlns:a16="http://schemas.microsoft.com/office/drawing/2014/main" val="20002"/>
                    </a:ext>
                  </a:extLst>
                </a:gridCol>
              </a:tblGrid>
              <a:tr h="592455">
                <a:tc>
                  <a:txBody>
                    <a:bodyPr/>
                    <a:lstStyle/>
                    <a:p>
                      <a:pPr marL="32385" indent="0" algn="ctr" defTabSz="914400">
                        <a:lnSpc>
                          <a:spcPts val="1400"/>
                        </a:lnSpc>
                        <a:spcBef>
                          <a:spcPct val="0"/>
                        </a:spcBef>
                        <a:spcAft>
                          <a:spcPct val="0"/>
                        </a:spcAft>
                        <a:tabLst>
                          <a:tab pos="1828800" algn="l"/>
                        </a:tabLst>
                      </a:pPr>
                      <a:r>
                        <a:rPr lang="zh-CN" sz="1800">
                          <a:solidFill>
                            <a:srgbClr val="000000"/>
                          </a:solidFill>
                          <a:latin typeface="Times New Roman"/>
                          <a:ea typeface="宋体"/>
                          <a:cs typeface="Times New Roman"/>
                        </a:rPr>
                        <a:t>密钥长度</a:t>
                      </a:r>
                      <a:r>
                        <a:rPr lang="en-US" altLang="zh-CN" sz="1800">
                          <a:solidFill>
                            <a:srgbClr val="000000"/>
                          </a:solidFill>
                          <a:latin typeface="Times New Roman"/>
                          <a:ea typeface="宋体"/>
                          <a:cs typeface="Times New Roman"/>
                        </a:rPr>
                        <a:t>/bit</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400"/>
                        </a:lnSpc>
                        <a:spcBef>
                          <a:spcPct val="0"/>
                        </a:spcBef>
                        <a:spcAft>
                          <a:spcPct val="0"/>
                        </a:spcAft>
                        <a:tabLst>
                          <a:tab pos="1828800" algn="l"/>
                        </a:tabLst>
                      </a:pPr>
                      <a:r>
                        <a:rPr lang="zh-CN" sz="1800" dirty="0">
                          <a:solidFill>
                            <a:srgbClr val="000000"/>
                          </a:solidFill>
                          <a:latin typeface="Times New Roman"/>
                          <a:ea typeface="宋体"/>
                          <a:cs typeface="Times New Roman"/>
                        </a:rPr>
                        <a:t>可选密钥数</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400"/>
                        </a:lnSpc>
                        <a:spcBef>
                          <a:spcPct val="0"/>
                        </a:spcBef>
                        <a:spcAft>
                          <a:spcPct val="0"/>
                        </a:spcAft>
                        <a:tabLst>
                          <a:tab pos="1828800" algn="l"/>
                        </a:tabLst>
                      </a:pPr>
                      <a:r>
                        <a:rPr lang="zh-CN" sz="1800" dirty="0">
                          <a:solidFill>
                            <a:srgbClr val="000000"/>
                          </a:solidFill>
                          <a:latin typeface="Times New Roman"/>
                          <a:ea typeface="宋体"/>
                          <a:cs typeface="Times New Roman"/>
                        </a:rPr>
                        <a:t>以</a:t>
                      </a:r>
                      <a:r>
                        <a:rPr lang="en-US" altLang="zh-CN" sz="1800" dirty="0">
                          <a:solidFill>
                            <a:srgbClr val="000000"/>
                          </a:solidFill>
                          <a:latin typeface="Times New Roman"/>
                          <a:ea typeface="宋体"/>
                          <a:cs typeface="Times New Roman"/>
                        </a:rPr>
                        <a:t>10</a:t>
                      </a:r>
                      <a:r>
                        <a:rPr lang="en-US" altLang="zh-CN" sz="1800" baseline="30000" dirty="0">
                          <a:solidFill>
                            <a:srgbClr val="000000"/>
                          </a:solidFill>
                          <a:latin typeface="Times New Roman"/>
                          <a:ea typeface="宋体"/>
                          <a:cs typeface="Times New Roman"/>
                        </a:rPr>
                        <a:t>6</a:t>
                      </a:r>
                      <a:r>
                        <a:rPr lang="zh-CN" sz="1800" dirty="0">
                          <a:solidFill>
                            <a:srgbClr val="000000"/>
                          </a:solidFill>
                          <a:latin typeface="Times New Roman"/>
                          <a:ea typeface="宋体"/>
                          <a:cs typeface="Times New Roman"/>
                        </a:rPr>
                        <a:t>次</a:t>
                      </a:r>
                      <a:r>
                        <a:rPr lang="en-US" altLang="zh-CN" sz="1800" dirty="0">
                          <a:solidFill>
                            <a:srgbClr val="000000"/>
                          </a:solidFill>
                          <a:latin typeface="Times New Roman"/>
                          <a:ea typeface="宋体"/>
                          <a:cs typeface="Times New Roman"/>
                        </a:rPr>
                        <a:t>/</a:t>
                      </a:r>
                      <a:r>
                        <a:rPr lang="zh-CN" sz="1800" dirty="0">
                          <a:solidFill>
                            <a:srgbClr val="000000"/>
                          </a:solidFill>
                          <a:latin typeface="Times New Roman"/>
                          <a:ea typeface="宋体"/>
                          <a:cs typeface="Times New Roman"/>
                        </a:rPr>
                        <a:t>微秒的速率运算所需要的时间</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508000">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32</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2</a:t>
                      </a:r>
                      <a:r>
                        <a:rPr lang="en-US" altLang="zh-CN" sz="1800" baseline="30000">
                          <a:solidFill>
                            <a:srgbClr val="000000"/>
                          </a:solidFill>
                          <a:latin typeface="Times New Roman"/>
                          <a:ea typeface="宋体"/>
                          <a:cs typeface="Times New Roman"/>
                        </a:rPr>
                        <a:t>32</a:t>
                      </a:r>
                      <a:r>
                        <a:rPr lang="en-US" altLang="zh-CN" sz="1800">
                          <a:solidFill>
                            <a:srgbClr val="000000"/>
                          </a:solidFill>
                          <a:latin typeface="Times New Roman"/>
                          <a:ea typeface="宋体"/>
                          <a:cs typeface="Times New Roman"/>
                        </a:rPr>
                        <a:t>=4.3×10</a:t>
                      </a:r>
                      <a:r>
                        <a:rPr lang="en-US" altLang="zh-CN" sz="1800" baseline="30000">
                          <a:solidFill>
                            <a:srgbClr val="000000"/>
                          </a:solidFill>
                          <a:latin typeface="Times New Roman"/>
                          <a:ea typeface="宋体"/>
                          <a:cs typeface="Times New Roman"/>
                        </a:rPr>
                        <a:t>9</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2.15</a:t>
                      </a:r>
                      <a:r>
                        <a:rPr lang="zh-CN" sz="1800">
                          <a:solidFill>
                            <a:srgbClr val="000000"/>
                          </a:solidFill>
                          <a:latin typeface="Times New Roman"/>
                          <a:ea typeface="宋体"/>
                          <a:cs typeface="Times New Roman"/>
                        </a:rPr>
                        <a:t>毫秒</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508000">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56</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2</a:t>
                      </a:r>
                      <a:r>
                        <a:rPr lang="en-US" altLang="zh-CN" sz="1800" baseline="30000">
                          <a:solidFill>
                            <a:srgbClr val="000000"/>
                          </a:solidFill>
                          <a:latin typeface="Times New Roman"/>
                          <a:ea typeface="宋体"/>
                          <a:cs typeface="Times New Roman"/>
                        </a:rPr>
                        <a:t>56</a:t>
                      </a:r>
                      <a:r>
                        <a:rPr lang="en-US" altLang="zh-CN" sz="1800">
                          <a:solidFill>
                            <a:srgbClr val="000000"/>
                          </a:solidFill>
                          <a:latin typeface="Times New Roman"/>
                          <a:ea typeface="宋体"/>
                          <a:cs typeface="Times New Roman"/>
                        </a:rPr>
                        <a:t>=7.2×10</a:t>
                      </a:r>
                      <a:r>
                        <a:rPr lang="en-US" altLang="zh-CN" sz="1800" baseline="30000">
                          <a:solidFill>
                            <a:srgbClr val="000000"/>
                          </a:solidFill>
                          <a:latin typeface="Times New Roman"/>
                          <a:ea typeface="宋体"/>
                          <a:cs typeface="Times New Roman"/>
                        </a:rPr>
                        <a:t>16</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550</a:t>
                      </a:r>
                      <a:r>
                        <a:rPr lang="zh-CN" sz="1800">
                          <a:solidFill>
                            <a:srgbClr val="000000"/>
                          </a:solidFill>
                          <a:latin typeface="Times New Roman"/>
                          <a:ea typeface="宋体"/>
                          <a:cs typeface="Times New Roman"/>
                        </a:rPr>
                        <a:t>毫秒</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508000">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64</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2</a:t>
                      </a:r>
                      <a:r>
                        <a:rPr lang="en-US" altLang="zh-CN" sz="1800" baseline="30000">
                          <a:solidFill>
                            <a:srgbClr val="000000"/>
                          </a:solidFill>
                          <a:latin typeface="Times New Roman"/>
                          <a:ea typeface="宋体"/>
                          <a:cs typeface="Times New Roman"/>
                        </a:rPr>
                        <a:t>64</a:t>
                      </a:r>
                      <a:r>
                        <a:rPr lang="en-US" altLang="zh-CN" sz="1800">
                          <a:solidFill>
                            <a:srgbClr val="000000"/>
                          </a:solidFill>
                          <a:latin typeface="Times New Roman"/>
                          <a:ea typeface="宋体"/>
                          <a:cs typeface="Times New Roman"/>
                        </a:rPr>
                        <a:t>=1.8×10</a:t>
                      </a:r>
                      <a:r>
                        <a:rPr lang="en-US" altLang="zh-CN" sz="1800" baseline="30000">
                          <a:solidFill>
                            <a:srgbClr val="000000"/>
                          </a:solidFill>
                          <a:latin typeface="Times New Roman"/>
                          <a:ea typeface="宋体"/>
                          <a:cs typeface="Times New Roman"/>
                        </a:rPr>
                        <a:t>19</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99</a:t>
                      </a:r>
                      <a:r>
                        <a:rPr lang="zh-CN" sz="1800">
                          <a:solidFill>
                            <a:srgbClr val="000000"/>
                          </a:solidFill>
                          <a:latin typeface="Times New Roman"/>
                          <a:ea typeface="宋体"/>
                          <a:cs typeface="Times New Roman"/>
                        </a:rPr>
                        <a:t>天</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508000">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128</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2</a:t>
                      </a:r>
                      <a:r>
                        <a:rPr lang="en-US" altLang="zh-CN" sz="1800" baseline="30000">
                          <a:solidFill>
                            <a:srgbClr val="000000"/>
                          </a:solidFill>
                          <a:latin typeface="Times New Roman"/>
                          <a:ea typeface="宋体"/>
                          <a:cs typeface="Times New Roman"/>
                        </a:rPr>
                        <a:t>128</a:t>
                      </a:r>
                      <a:r>
                        <a:rPr lang="en-US" altLang="zh-CN" sz="1800">
                          <a:solidFill>
                            <a:srgbClr val="000000"/>
                          </a:solidFill>
                          <a:latin typeface="Times New Roman"/>
                          <a:ea typeface="宋体"/>
                          <a:cs typeface="Times New Roman"/>
                        </a:rPr>
                        <a:t>=3.4×10</a:t>
                      </a:r>
                      <a:r>
                        <a:rPr lang="en-US" altLang="zh-CN" sz="1800" baseline="30000">
                          <a:solidFill>
                            <a:srgbClr val="000000"/>
                          </a:solidFill>
                          <a:latin typeface="Times New Roman"/>
                          <a:ea typeface="宋体"/>
                          <a:cs typeface="Times New Roman"/>
                        </a:rPr>
                        <a:t>38</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5.4×10</a:t>
                      </a:r>
                      <a:r>
                        <a:rPr lang="en-US" altLang="zh-CN" sz="1800" baseline="30000">
                          <a:solidFill>
                            <a:srgbClr val="000000"/>
                          </a:solidFill>
                          <a:latin typeface="Times New Roman"/>
                          <a:ea typeface="宋体"/>
                          <a:cs typeface="Times New Roman"/>
                        </a:rPr>
                        <a:t>18</a:t>
                      </a:r>
                      <a:r>
                        <a:rPr lang="zh-CN" sz="1800">
                          <a:solidFill>
                            <a:srgbClr val="000000"/>
                          </a:solidFill>
                          <a:latin typeface="Times New Roman"/>
                          <a:ea typeface="宋体"/>
                          <a:cs typeface="Times New Roman"/>
                        </a:rPr>
                        <a:t>年</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508000">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168</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a:ea typeface="宋体"/>
                          <a:cs typeface="Times New Roman"/>
                        </a:rPr>
                        <a:t>2</a:t>
                      </a:r>
                      <a:r>
                        <a:rPr lang="en-US" altLang="zh-CN" sz="1800" baseline="30000">
                          <a:solidFill>
                            <a:srgbClr val="000000"/>
                          </a:solidFill>
                          <a:latin typeface="Times New Roman"/>
                          <a:ea typeface="宋体"/>
                          <a:cs typeface="Times New Roman"/>
                        </a:rPr>
                        <a:t>168</a:t>
                      </a:r>
                      <a:r>
                        <a:rPr lang="en-US" altLang="zh-CN" sz="1800">
                          <a:solidFill>
                            <a:srgbClr val="000000"/>
                          </a:solidFill>
                          <a:latin typeface="Times New Roman"/>
                          <a:ea typeface="宋体"/>
                          <a:cs typeface="Times New Roman"/>
                        </a:rPr>
                        <a:t>=3.7×10</a:t>
                      </a:r>
                      <a:r>
                        <a:rPr lang="en-US" altLang="zh-CN" sz="1800" baseline="30000">
                          <a:solidFill>
                            <a:srgbClr val="000000"/>
                          </a:solidFill>
                          <a:latin typeface="Times New Roman"/>
                          <a:ea typeface="宋体"/>
                          <a:cs typeface="Times New Roman"/>
                        </a:rPr>
                        <a:t>50</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dirty="0">
                          <a:solidFill>
                            <a:srgbClr val="000000"/>
                          </a:solidFill>
                          <a:latin typeface="Times New Roman"/>
                          <a:ea typeface="宋体"/>
                          <a:cs typeface="Times New Roman"/>
                        </a:rPr>
                        <a:t>5.9×10</a:t>
                      </a:r>
                      <a:r>
                        <a:rPr lang="en-US" altLang="zh-CN" sz="1800" baseline="30000" dirty="0">
                          <a:solidFill>
                            <a:srgbClr val="000000"/>
                          </a:solidFill>
                          <a:latin typeface="Times New Roman"/>
                          <a:ea typeface="宋体"/>
                          <a:cs typeface="Times New Roman"/>
                        </a:rPr>
                        <a:t>30</a:t>
                      </a:r>
                      <a:r>
                        <a:rPr lang="zh-CN" sz="1800" dirty="0">
                          <a:solidFill>
                            <a:srgbClr val="000000"/>
                          </a:solidFill>
                          <a:latin typeface="Times New Roman"/>
                          <a:ea typeface="宋体"/>
                          <a:cs typeface="Times New Roman"/>
                        </a:rPr>
                        <a:t>年</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6" name="文本框 5"/>
          <p:cNvSpPr txBox="1"/>
          <p:nvPr/>
        </p:nvSpPr>
        <p:spPr>
          <a:xfrm>
            <a:off x="6096000" y="4838700"/>
            <a:ext cx="6096000" cy="368300"/>
          </a:xfrm>
          <a:prstGeom prst="rect">
            <a:avLst/>
          </a:prstGeom>
          <a:noFill/>
        </p:spPr>
        <p:txBody>
          <a:bodyPr wrap="square" rtlCol="0">
            <a:spAutoFit/>
          </a:bodyPr>
          <a:lstStyle/>
          <a:p>
            <a:pPr algn="ctr"/>
            <a:r>
              <a:rPr lang="zh-CN" altLang="en-US" dirty="0">
                <a:latin typeface="Times New Roman"/>
                <a:ea typeface="宋体"/>
                <a:cs typeface="Times New Roman"/>
              </a:rPr>
              <a:t>表1.1　不同密钥长度下完成穷密钥搜索所需要的时间</a:t>
            </a:r>
          </a:p>
        </p:txBody>
      </p:sp>
      <p:sp>
        <p:nvSpPr>
          <p:cNvPr id="8" name="灯片编号占位符 7"/>
          <p:cNvSpPr>
            <a:spLocks noGrp="1"/>
          </p:cNvSpPr>
          <p:nvPr>
            <p:ph type="sldNum" sz="quarter" idx="12"/>
          </p:nvPr>
        </p:nvSpPr>
        <p:spPr/>
        <p:txBody>
          <a:bodyPr/>
          <a:lstStyle/>
          <a:p>
            <a:fld id="{B6F15528-21DE-4FAA-801E-634DDDAF4B2B}" type="slidenum">
              <a:rPr lang="en-US" smtClean="0"/>
              <a:t>36</a:t>
            </a:fld>
            <a:endParaRPr lang="en-US"/>
          </a:p>
        </p:txBody>
      </p:sp>
      <p:grpSp>
        <p:nvGrpSpPr>
          <p:cNvPr id="18" name="Group 2"/>
          <p:cNvGrpSpPr/>
          <p:nvPr/>
        </p:nvGrpSpPr>
        <p:grpSpPr>
          <a:xfrm>
            <a:off x="412090" y="1028700"/>
            <a:ext cx="7800783" cy="275915"/>
            <a:chOff x="0" y="0"/>
            <a:chExt cx="2054527" cy="72669"/>
          </a:xfrm>
        </p:grpSpPr>
        <p:sp>
          <p:nvSpPr>
            <p:cNvPr id="1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2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2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穷密钥搜索</a:t>
            </a:r>
          </a:p>
        </p:txBody>
      </p:sp>
      <p:sp>
        <p:nvSpPr>
          <p:cNvPr id="2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a:t>
            </a:r>
          </a:p>
        </p:txBody>
      </p:sp>
      <p:pic>
        <p:nvPicPr>
          <p:cNvPr id="2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4" name="组合 23"/>
          <p:cNvGrpSpPr/>
          <p:nvPr/>
        </p:nvGrpSpPr>
        <p:grpSpPr>
          <a:xfrm>
            <a:off x="13639786" y="733421"/>
            <a:ext cx="3700052" cy="416951"/>
            <a:chOff x="13811849" y="507954"/>
            <a:chExt cx="3700052" cy="416951"/>
          </a:xfrm>
        </p:grpSpPr>
        <p:sp>
          <p:nvSpPr>
            <p:cNvPr id="25" name="文本框 2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6" name="图片 2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9D484-E7E1-9E46-FAE6-5D7C3D757EC5}"/>
            </a:ext>
          </a:extLst>
        </p:cNvPr>
        <p:cNvGrpSpPr/>
        <p:nvPr/>
      </p:nvGrpSpPr>
      <p:grpSpPr>
        <a:xfrm>
          <a:off x="0" y="0"/>
          <a:ext cx="0" cy="0"/>
          <a:chOff x="0" y="0"/>
          <a:chExt cx="0" cy="0"/>
        </a:xfrm>
      </p:grpSpPr>
      <p:sp>
        <p:nvSpPr>
          <p:cNvPr id="11" name="文本框 10">
            <a:extLst>
              <a:ext uri="{FF2B5EF4-FFF2-40B4-BE49-F238E27FC236}">
                <a16:creationId xmlns:a16="http://schemas.microsoft.com/office/drawing/2014/main" id="{B8BEA728-1EA5-C93C-5009-A81E8E92575B}"/>
              </a:ext>
            </a:extLst>
          </p:cNvPr>
          <p:cNvSpPr txBox="1"/>
          <p:nvPr/>
        </p:nvSpPr>
        <p:spPr>
          <a:xfrm>
            <a:off x="1070292" y="1943100"/>
            <a:ext cx="16147415" cy="2023118"/>
          </a:xfrm>
          <a:prstGeom prst="rect">
            <a:avLst/>
          </a:prstGeom>
          <a:noFill/>
        </p:spPr>
        <p:txBody>
          <a:bodyPr wrap="square" rtlCol="0">
            <a:spAutoFit/>
          </a:bodyPr>
          <a:lstStyle/>
          <a:p>
            <a:pPr indent="457200" algn="just" fontAlgn="auto">
              <a:lnSpc>
                <a:spcPct val="120000"/>
              </a:lnSpc>
            </a:pPr>
            <a:r>
              <a:rPr lang="zh-CN" altLang="en-US" sz="3600" dirty="0">
                <a:latin typeface="Times New Roman"/>
                <a:ea typeface="宋体"/>
                <a:cs typeface="Times New Roman"/>
              </a:rPr>
              <a:t>由表1.1可知，当密钥长度较小时，可以通过穷密钥搜索的方法进行破解，但当密钥长度较长时，该方法不再适用。当今密钥长度普遍较长，因此穷密钥搜索方法的使用机会很少。</a:t>
            </a:r>
          </a:p>
        </p:txBody>
      </p:sp>
      <p:sp>
        <p:nvSpPr>
          <p:cNvPr id="8" name="灯片编号占位符 7">
            <a:extLst>
              <a:ext uri="{FF2B5EF4-FFF2-40B4-BE49-F238E27FC236}">
                <a16:creationId xmlns:a16="http://schemas.microsoft.com/office/drawing/2014/main" id="{263B398E-14B9-3DC2-34F3-F1C261292B3F}"/>
              </a:ext>
            </a:extLst>
          </p:cNvPr>
          <p:cNvSpPr>
            <a:spLocks noGrp="1"/>
          </p:cNvSpPr>
          <p:nvPr>
            <p:ph type="sldNum" sz="quarter" idx="12"/>
          </p:nvPr>
        </p:nvSpPr>
        <p:spPr/>
        <p:txBody>
          <a:bodyPr/>
          <a:lstStyle/>
          <a:p>
            <a:fld id="{B6F15528-21DE-4FAA-801E-634DDDAF4B2B}" type="slidenum">
              <a:rPr lang="en-US" smtClean="0"/>
              <a:t>37</a:t>
            </a:fld>
            <a:endParaRPr lang="en-US"/>
          </a:p>
        </p:txBody>
      </p:sp>
      <p:grpSp>
        <p:nvGrpSpPr>
          <p:cNvPr id="18" name="Group 2">
            <a:extLst>
              <a:ext uri="{FF2B5EF4-FFF2-40B4-BE49-F238E27FC236}">
                <a16:creationId xmlns:a16="http://schemas.microsoft.com/office/drawing/2014/main" id="{93F7BAEC-DFE6-B5CC-852E-C457E8E3E559}"/>
              </a:ext>
            </a:extLst>
          </p:cNvPr>
          <p:cNvGrpSpPr/>
          <p:nvPr/>
        </p:nvGrpSpPr>
        <p:grpSpPr>
          <a:xfrm>
            <a:off x="412090" y="1028700"/>
            <a:ext cx="7800783" cy="275915"/>
            <a:chOff x="0" y="0"/>
            <a:chExt cx="2054527" cy="72669"/>
          </a:xfrm>
        </p:grpSpPr>
        <p:sp>
          <p:nvSpPr>
            <p:cNvPr id="19" name="Freeform 3">
              <a:extLst>
                <a:ext uri="{FF2B5EF4-FFF2-40B4-BE49-F238E27FC236}">
                  <a16:creationId xmlns:a16="http://schemas.microsoft.com/office/drawing/2014/main" id="{D952AC90-4DDE-6784-2998-121F5C2A7E51}"/>
                </a:ext>
              </a:extLst>
            </p:cNvPr>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20" name="TextBox 4">
              <a:extLst>
                <a:ext uri="{FF2B5EF4-FFF2-40B4-BE49-F238E27FC236}">
                  <a16:creationId xmlns:a16="http://schemas.microsoft.com/office/drawing/2014/main" id="{E48FF754-EB96-955B-A3A3-4902C4A88668}"/>
                </a:ext>
              </a:extLst>
            </p:cNvPr>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21" name="TextBox 30">
            <a:extLst>
              <a:ext uri="{FF2B5EF4-FFF2-40B4-BE49-F238E27FC236}">
                <a16:creationId xmlns:a16="http://schemas.microsoft.com/office/drawing/2014/main" id="{E09D6E12-3629-EB2B-71B0-B16EC4F54B5B}"/>
              </a:ext>
            </a:extLst>
          </p:cNvPr>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穷密钥搜索</a:t>
            </a:r>
          </a:p>
        </p:txBody>
      </p:sp>
      <p:sp>
        <p:nvSpPr>
          <p:cNvPr id="22" name="TextBox 31">
            <a:extLst>
              <a:ext uri="{FF2B5EF4-FFF2-40B4-BE49-F238E27FC236}">
                <a16:creationId xmlns:a16="http://schemas.microsoft.com/office/drawing/2014/main" id="{7E1C4616-A357-1038-9143-A370F6DAA6C9}"/>
              </a:ext>
            </a:extLst>
          </p:cNvPr>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a:t>
            </a:r>
          </a:p>
        </p:txBody>
      </p:sp>
      <p:pic>
        <p:nvPicPr>
          <p:cNvPr id="23" name="图片 2">
            <a:extLst>
              <a:ext uri="{FF2B5EF4-FFF2-40B4-BE49-F238E27FC236}">
                <a16:creationId xmlns:a16="http://schemas.microsoft.com/office/drawing/2014/main" id="{C99C18FC-2CBE-0BDA-FC80-3186E5637543}"/>
              </a:ext>
            </a:extLst>
          </p:cNvPr>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4" name="组合 23">
            <a:extLst>
              <a:ext uri="{FF2B5EF4-FFF2-40B4-BE49-F238E27FC236}">
                <a16:creationId xmlns:a16="http://schemas.microsoft.com/office/drawing/2014/main" id="{0EED9502-4F8D-980F-D6B7-7FA3152C0B94}"/>
              </a:ext>
            </a:extLst>
          </p:cNvPr>
          <p:cNvGrpSpPr/>
          <p:nvPr/>
        </p:nvGrpSpPr>
        <p:grpSpPr>
          <a:xfrm>
            <a:off x="13639786" y="733421"/>
            <a:ext cx="3700052" cy="416951"/>
            <a:chOff x="13811849" y="507954"/>
            <a:chExt cx="3700052" cy="416951"/>
          </a:xfrm>
        </p:grpSpPr>
        <p:sp>
          <p:nvSpPr>
            <p:cNvPr id="25" name="文本框 24">
              <a:extLst>
                <a:ext uri="{FF2B5EF4-FFF2-40B4-BE49-F238E27FC236}">
                  <a16:creationId xmlns:a16="http://schemas.microsoft.com/office/drawing/2014/main" id="{F8368DC4-78B1-26BD-BFDC-37E6302F7D1D}"/>
                </a:ext>
              </a:extLst>
            </p:cNvPr>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6" name="图片 25">
              <a:extLst>
                <a:ext uri="{FF2B5EF4-FFF2-40B4-BE49-F238E27FC236}">
                  <a16:creationId xmlns:a16="http://schemas.microsoft.com/office/drawing/2014/main" id="{4E1E6386-E41F-3BA6-FDE1-99898AB78C91}"/>
                </a:ext>
              </a:extLst>
            </p:cNvPr>
            <p:cNvPicPr>
              <a:picLocks noChangeAspect="1"/>
            </p:cNvPicPr>
            <p:nvPr/>
          </p:nvPicPr>
          <p:blipFill>
            <a:blip r:embed="rId3"/>
            <a:stretch>
              <a:fillRect/>
            </a:stretch>
          </p:blipFill>
          <p:spPr>
            <a:xfrm>
              <a:off x="13944600" y="877286"/>
              <a:ext cx="2771429" cy="47619"/>
            </a:xfrm>
            <a:prstGeom prst="rect">
              <a:avLst/>
            </a:prstGeom>
          </p:spPr>
        </p:pic>
      </p:grpSp>
    </p:spTree>
    <p:extLst>
      <p:ext uri="{BB962C8B-B14F-4D97-AF65-F5344CB8AC3E}">
        <p14:creationId xmlns:p14="http://schemas.microsoft.com/office/powerpoint/2010/main" val="25358920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1.6</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密码的未来</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38</a:t>
            </a: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914400" y="1714674"/>
            <a:ext cx="16459200" cy="4589974"/>
          </a:xfrm>
          <a:prstGeom prst="rect">
            <a:avLst/>
          </a:prstGeom>
        </p:spPr>
        <p:txBody>
          <a:bodyPr wrap="square" lIns="0" tIns="0" rIns="0" bIns="0" rtlCol="0" anchor="t">
            <a:spAutoFit/>
          </a:bodyPr>
          <a:lstStyle/>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随着电子商务、大数据、云计算、人工智能等技术的应用，密码学迎来了新的发展机遇与挑战，国内外众多学者都在追求更加安全、高效的密码算法，以实现对数据的信息安全保障。下面简单论述密码学的一些新方向。</a:t>
            </a:r>
          </a:p>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1. 同态加密</a:t>
            </a:r>
            <a:endParaRPr lang="en-US" altLang="zh-CN" sz="3600" dirty="0">
              <a:solidFill>
                <a:srgbClr val="000000"/>
              </a:solidFill>
              <a:latin typeface="Times New Roman" panose="02020603050405020304" pitchFamily="18" charset="0"/>
              <a:sym typeface="字由点字典黑 2"/>
            </a:endParaRPr>
          </a:p>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允许直接对密文进行计算，解密后得到与明文计算相同的结果。2009年，</a:t>
            </a:r>
            <a:r>
              <a:rPr lang="en-US" altLang="zh-CN" sz="3600" dirty="0">
                <a:solidFill>
                  <a:srgbClr val="000000"/>
                </a:solidFill>
                <a:latin typeface="Times New Roman" panose="02020603050405020304" pitchFamily="18" charset="0"/>
                <a:sym typeface="字由点字典黑 2"/>
              </a:rPr>
              <a:t>Gentry</a:t>
            </a:r>
            <a:r>
              <a:rPr lang="zh-CN" altLang="en-US" sz="3600" dirty="0">
                <a:solidFill>
                  <a:srgbClr val="000000"/>
                </a:solidFill>
                <a:latin typeface="Times New Roman" panose="02020603050405020304" pitchFamily="18" charset="0"/>
                <a:sym typeface="字由点字典黑 2"/>
              </a:rPr>
              <a:t>提出首个全同态加密方案，被称为“密码学界的圣杯”，在隐私计算、云计算等领域具有重要价值。</a:t>
            </a:r>
            <a:endParaRPr lang="en-US" altLang="zh-CN" sz="3600" dirty="0">
              <a:solidFill>
                <a:srgbClr val="000000"/>
              </a:solidFill>
              <a:latin typeface="Times New Roman" panose="02020603050405020304" pitchFamily="18" charset="0"/>
              <a:sym typeface="字由点字典黑 2"/>
            </a:endParaRPr>
          </a:p>
        </p:txBody>
      </p:sp>
      <p:sp>
        <p:nvSpPr>
          <p:cNvPr id="11" name="Rectangle 2"/>
          <p:cNvSpPr>
            <a:spLocks noChangeArrowheads="1"/>
          </p:cNvSpPr>
          <p:nvPr/>
        </p:nvSpPr>
        <p:spPr bwMode="auto">
          <a:xfrm>
            <a:off x="228601" y="3924300"/>
            <a:ext cx="180593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B6F15528-21DE-4FAA-801E-634DDDAF4B2B}" type="slidenum">
              <a:rPr lang="en-US" smtClean="0"/>
              <a:t>39</a:t>
            </a:fld>
            <a:endParaRPr lang="en-US"/>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密码的未来</a:t>
            </a:r>
          </a:p>
        </p:txBody>
      </p:sp>
      <p:sp>
        <p:nvSpPr>
          <p:cNvPr id="12"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1.6</a:t>
            </a: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914400" y="1714674"/>
            <a:ext cx="16459200" cy="2595582"/>
          </a:xfrm>
          <a:prstGeom prst="rect">
            <a:avLst/>
          </a:prstGeom>
        </p:spPr>
        <p:txBody>
          <a:bodyPr wrap="square" lIns="0" tIns="0" rIns="0" bIns="0" rtlCol="0" anchor="t">
            <a:spAutoFit/>
          </a:bodyPr>
          <a:lstStyle/>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2. 后量子密码</a:t>
            </a:r>
            <a:endParaRPr lang="en-US" altLang="zh-CN" sz="3600" dirty="0">
              <a:solidFill>
                <a:srgbClr val="000000"/>
              </a:solidFill>
              <a:latin typeface="Times New Roman" panose="02020603050405020304" pitchFamily="18" charset="0"/>
              <a:sym typeface="字由点字典黑 2"/>
            </a:endParaRPr>
          </a:p>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用于抵抗量子计算机对传统公钥密码的威胁，主要包括格密码、编码密码、杂凑密码和多变量密码等。其中，格密码可用于加密、数字签名、密钥协商和全同态加密，是当前的重要研究方向。</a:t>
            </a:r>
          </a:p>
        </p:txBody>
      </p:sp>
      <p:sp>
        <p:nvSpPr>
          <p:cNvPr id="11" name="Rectangle 2"/>
          <p:cNvSpPr>
            <a:spLocks noChangeArrowheads="1"/>
          </p:cNvSpPr>
          <p:nvPr/>
        </p:nvSpPr>
        <p:spPr bwMode="auto">
          <a:xfrm>
            <a:off x="228601" y="3924300"/>
            <a:ext cx="180593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B6F15528-21DE-4FAA-801E-634DDDAF4B2B}" type="slidenum">
              <a:rPr lang="en-US" smtClean="0"/>
              <a:t>40</a:t>
            </a:fld>
            <a:endParaRPr lang="en-US"/>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密码的未来</a:t>
            </a:r>
          </a:p>
        </p:txBody>
      </p:sp>
      <p:sp>
        <p:nvSpPr>
          <p:cNvPr id="12"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1.6</a:t>
            </a: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914400" y="1714674"/>
            <a:ext cx="16459200" cy="3925177"/>
          </a:xfrm>
          <a:prstGeom prst="rect">
            <a:avLst/>
          </a:prstGeom>
        </p:spPr>
        <p:txBody>
          <a:bodyPr wrap="square" lIns="0" tIns="0" rIns="0" bIns="0" rtlCol="0" anchor="t">
            <a:spAutoFit/>
          </a:bodyPr>
          <a:lstStyle/>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3. 混沌密码</a:t>
            </a:r>
            <a:endParaRPr lang="en-US" altLang="zh-CN" sz="3600" dirty="0">
              <a:solidFill>
                <a:srgbClr val="000000"/>
              </a:solidFill>
              <a:latin typeface="Times New Roman" panose="02020603050405020304" pitchFamily="18" charset="0"/>
              <a:ea typeface="宋体" panose="02010600030101010101" pitchFamily="2" charset="-122"/>
              <a:sym typeface="字由点字典黑 2"/>
            </a:endParaRPr>
          </a:p>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利用混沌系统的随机性、遍历性和初值敏感性设计密码算法，主要应用于混沌保密通信、流密码和分组密码等领域。</a:t>
            </a:r>
            <a:endParaRPr lang="en-US" altLang="zh-CN" sz="3600" dirty="0">
              <a:solidFill>
                <a:srgbClr val="000000"/>
              </a:solidFill>
              <a:latin typeface="Times New Roman" panose="02020603050405020304" pitchFamily="18" charset="0"/>
              <a:ea typeface="宋体" panose="02010600030101010101" pitchFamily="2" charset="-122"/>
              <a:sym typeface="字由点字典黑 2"/>
            </a:endParaRPr>
          </a:p>
          <a:p>
            <a:pPr indent="457200" algn="just" fontAlgn="auto" latinLnBrk="1">
              <a:lnSpc>
                <a:spcPct val="120000"/>
              </a:lnSpc>
              <a:extLst>
                <a:ext uri="{35155182-B16C-46BC-9424-99874614C6A1}">
                  <wpsdc:indentchars xmlns="" xmlns:wpsdc="http://www.wps.cn/officeDocument/2017/drawingmlCustomData"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sym typeface="字由点字典黑 2"/>
              </a:rPr>
              <a:t>4. DNA</a:t>
            </a:r>
            <a:r>
              <a:rPr lang="zh-CN" altLang="en-US" sz="3600" dirty="0">
                <a:solidFill>
                  <a:srgbClr val="000000"/>
                </a:solidFill>
                <a:latin typeface="Times New Roman" panose="02020603050405020304" pitchFamily="18" charset="0"/>
                <a:ea typeface="宋体" panose="02010600030101010101" pitchFamily="2" charset="-122"/>
                <a:sym typeface="字由点字典黑 2"/>
              </a:rPr>
              <a:t>密码</a:t>
            </a:r>
            <a:endParaRPr lang="en-US" altLang="zh-CN" sz="3600" dirty="0">
              <a:solidFill>
                <a:srgbClr val="000000"/>
              </a:solidFill>
              <a:latin typeface="Times New Roman" panose="02020603050405020304" pitchFamily="18" charset="0"/>
              <a:ea typeface="宋体" panose="02010600030101010101" pitchFamily="2" charset="-122"/>
              <a:sym typeface="字由点字典黑 2"/>
            </a:endParaRPr>
          </a:p>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sym typeface="字由点字典黑 2"/>
              </a:rPr>
              <a:t>以</a:t>
            </a:r>
            <a:r>
              <a:rPr lang="en-US" altLang="zh-CN" sz="3600" dirty="0">
                <a:solidFill>
                  <a:srgbClr val="000000"/>
                </a:solidFill>
                <a:latin typeface="Times New Roman" panose="02020603050405020304" pitchFamily="18" charset="0"/>
                <a:ea typeface="宋体" panose="02010600030101010101" pitchFamily="2" charset="-122"/>
                <a:sym typeface="字由点字典黑 2"/>
              </a:rPr>
              <a:t>DNA</a:t>
            </a:r>
            <a:r>
              <a:rPr lang="zh-CN" altLang="en-US" sz="3600" dirty="0">
                <a:solidFill>
                  <a:srgbClr val="000000"/>
                </a:solidFill>
                <a:latin typeface="Times New Roman" panose="02020603050405020304" pitchFamily="18" charset="0"/>
                <a:ea typeface="宋体" panose="02010600030101010101" pitchFamily="2" charset="-122"/>
                <a:sym typeface="字由点字典黑 2"/>
              </a:rPr>
              <a:t>分子作为信息载体和计算工具，利用其存储密度高、能耗低和并行性强等特点实现密码运算，但其安全性和实用性仍有待进一步研究。</a:t>
            </a:r>
            <a:endParaRPr lang="en-US" altLang="zh-CN" sz="3600" dirty="0">
              <a:solidFill>
                <a:srgbClr val="000000"/>
              </a:solidFill>
              <a:latin typeface="Times New Roman" panose="02020603050405020304" pitchFamily="18" charset="0"/>
              <a:ea typeface="宋体" panose="02010600030101010101" pitchFamily="2" charset="-122"/>
              <a:sym typeface="字由点字典黑 2"/>
            </a:endParaRPr>
          </a:p>
        </p:txBody>
      </p:sp>
      <p:sp>
        <p:nvSpPr>
          <p:cNvPr id="11" name="Rectangle 2"/>
          <p:cNvSpPr>
            <a:spLocks noChangeArrowheads="1"/>
          </p:cNvSpPr>
          <p:nvPr/>
        </p:nvSpPr>
        <p:spPr bwMode="auto">
          <a:xfrm>
            <a:off x="228601" y="3924300"/>
            <a:ext cx="180593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B6F15528-21DE-4FAA-801E-634DDDAF4B2B}" type="slidenum">
              <a:rPr lang="en-US" smtClean="0"/>
              <a:t>41</a:t>
            </a:fld>
            <a:endParaRPr lang="en-US"/>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密码的未来</a:t>
            </a:r>
          </a:p>
        </p:txBody>
      </p:sp>
      <p:sp>
        <p:nvSpPr>
          <p:cNvPr id="12"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1.6</a:t>
            </a: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914400" y="1714674"/>
            <a:ext cx="16459200" cy="3260380"/>
          </a:xfrm>
          <a:prstGeom prst="rect">
            <a:avLst/>
          </a:prstGeom>
        </p:spPr>
        <p:txBody>
          <a:bodyPr wrap="square" lIns="0" tIns="0" rIns="0" bIns="0" rtlCol="0" anchor="t">
            <a:spAutoFit/>
          </a:bodyPr>
          <a:lstStyle/>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5. 量子密码</a:t>
            </a:r>
            <a:endParaRPr lang="en-US" altLang="zh-CN" sz="3600" dirty="0">
              <a:solidFill>
                <a:srgbClr val="000000"/>
              </a:solidFill>
              <a:latin typeface="Times New Roman" panose="02020603050405020304" pitchFamily="18" charset="0"/>
              <a:sym typeface="字由点字典黑 2"/>
            </a:endParaRPr>
          </a:p>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以量子力学原理为安全基础，通过量子态的不可复制性和测量扰动特性发现窃听行为，典型应用是量子密钥分发。</a:t>
            </a:r>
            <a:endParaRPr lang="en-US" altLang="zh-CN" sz="3600" dirty="0">
              <a:solidFill>
                <a:srgbClr val="000000"/>
              </a:solidFill>
              <a:latin typeface="Times New Roman" panose="02020603050405020304" pitchFamily="18" charset="0"/>
              <a:sym typeface="字由点字典黑 2"/>
            </a:endParaRPr>
          </a:p>
          <a:p>
            <a:pPr indent="457200" algn="just"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latin typeface="Times New Roman" panose="02020603050405020304" pitchFamily="18" charset="0"/>
                <a:sym typeface="字由点字典黑 2"/>
              </a:rPr>
              <a:t>发展趋势：未来密码技术不会简单取代传统密码，而是形成传统密码、后量子密码、隐私计算和量子密码等多种技术并存、相互补充的发展格局。</a:t>
            </a:r>
          </a:p>
        </p:txBody>
      </p:sp>
      <p:sp>
        <p:nvSpPr>
          <p:cNvPr id="11" name="Rectangle 2"/>
          <p:cNvSpPr>
            <a:spLocks noChangeArrowheads="1"/>
          </p:cNvSpPr>
          <p:nvPr/>
        </p:nvSpPr>
        <p:spPr bwMode="auto">
          <a:xfrm>
            <a:off x="228601" y="3924300"/>
            <a:ext cx="180593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B6F15528-21DE-4FAA-801E-634DDDAF4B2B}" type="slidenum">
              <a:rPr lang="en-US" smtClean="0"/>
              <a:t>42</a:t>
            </a:fld>
            <a:endParaRPr lang="en-US"/>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密码的未来</a:t>
            </a:r>
          </a:p>
        </p:txBody>
      </p:sp>
      <p:sp>
        <p:nvSpPr>
          <p:cNvPr id="12"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1.6</a:t>
            </a: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1.7</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43</a:t>
            </a: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2095450"/>
            <a:ext cx="14818191" cy="2595582"/>
          </a:xfrm>
          <a:prstGeom prst="rect">
            <a:avLst/>
          </a:prstGeom>
        </p:spPr>
        <p:txBody>
          <a:bodyPr wrap="square" lIns="0" tIns="0" rIns="0" bIns="0" rtlCol="0" anchor="t">
            <a:spAutoFit/>
          </a:bodyPr>
          <a:lstStyle/>
          <a:p>
            <a:pPr indent="457200" fontAlgn="auto" latinLnBrk="1">
              <a:lnSpc>
                <a:spcPct val="120000"/>
              </a:lnSpc>
              <a:extLst>
                <a:ext uri="{35155182-B16C-46BC-9424-99874614C6A1}">
                  <wpsdc:indentchars xmlns="" xmlns:wpsdc="http://www.wps.cn/officeDocument/2017/drawingmlCustomData" val="200" checksum="797548545"/>
                </a:ext>
              </a:extLst>
            </a:pPr>
            <a:r>
              <a:rPr lang="zh-CN" altLang="en-US" sz="3600" dirty="0">
                <a:solidFill>
                  <a:srgbClr val="000000"/>
                </a:solidFill>
                <a:sym typeface="字由点字典黑 2"/>
              </a:rPr>
              <a:t>本章首先介绍密码学的起源，讲述各个时期密码的发展状况；其次，通过对常用通信系统与保密通信系统的模型比较，对密码学的基本名词概念进行简要描述；再次，从密码编码学与密码分析学的角度对密码系统进行大致的分析；最后，根据国内外的研究进展，介绍密码学的未来发展趋势。</a:t>
            </a:r>
          </a:p>
        </p:txBody>
      </p:sp>
      <p:sp>
        <p:nvSpPr>
          <p:cNvPr id="7" name="灯片编号占位符 6"/>
          <p:cNvSpPr>
            <a:spLocks noGrp="1"/>
          </p:cNvSpPr>
          <p:nvPr>
            <p:ph type="sldNum" sz="quarter" idx="12"/>
          </p:nvPr>
        </p:nvSpPr>
        <p:spPr/>
        <p:txBody>
          <a:bodyPr/>
          <a:lstStyle/>
          <a:p>
            <a:fld id="{B6F15528-21DE-4FAA-801E-634DDDAF4B2B}" type="slidenum">
              <a:rPr lang="en-US" smtClean="0"/>
              <a:t>44</a:t>
            </a:fld>
            <a:endParaRPr lang="en-US"/>
          </a:p>
        </p:txBody>
      </p:sp>
      <p:grpSp>
        <p:nvGrpSpPr>
          <p:cNvPr id="16" name="Group 2"/>
          <p:cNvGrpSpPr/>
          <p:nvPr/>
        </p:nvGrpSpPr>
        <p:grpSpPr>
          <a:xfrm>
            <a:off x="412090" y="1028700"/>
            <a:ext cx="7800783" cy="275915"/>
            <a:chOff x="0" y="0"/>
            <a:chExt cx="2054527" cy="72669"/>
          </a:xfrm>
        </p:grpSpPr>
        <p:sp>
          <p:nvSpPr>
            <p:cNvPr id="1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9" name="TextBox 30"/>
          <p:cNvSpPr txBox="1"/>
          <p:nvPr/>
        </p:nvSpPr>
        <p:spPr>
          <a:xfrm>
            <a:off x="2210043" y="57505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p>
        </p:txBody>
      </p:sp>
      <p:sp>
        <p:nvSpPr>
          <p:cNvPr id="20" name="TextBox 31"/>
          <p:cNvSpPr txBox="1"/>
          <p:nvPr/>
        </p:nvSpPr>
        <p:spPr>
          <a:xfrm>
            <a:off x="1216848" y="495300"/>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stA="70000" endA="5000" endPos="70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1.7</a:t>
            </a:r>
          </a:p>
        </p:txBody>
      </p:sp>
      <p:pic>
        <p:nvPicPr>
          <p:cNvPr id="2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2" name="组合 21"/>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4" name="图片 2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764*246"/>
  <p:tag name="TABLE_ENDDRAG_RECT" val="511*368*765*24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7236</Words>
  <Application>Microsoft Office PowerPoint</Application>
  <PresentationFormat>自定义</PresentationFormat>
  <Paragraphs>346</Paragraphs>
  <Slides>44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44</vt:i4>
      </vt:variant>
    </vt:vector>
  </HeadingPairs>
  <TitlesOfParts>
    <vt:vector size="52" baseType="lpstr">
      <vt:lpstr>仿宋</vt:lpstr>
      <vt:lpstr>字由点字典黑 2</vt:lpstr>
      <vt:lpstr>Cambria Math</vt:lpstr>
      <vt:lpstr>Arial</vt:lpstr>
      <vt:lpstr>Calibri</vt:lpstr>
      <vt:lpstr>等线</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蓝色简约毕业论文答辩演示文稿</dc:title>
  <dc:creator>snow jiang</dc:creator>
  <cp:lastModifiedBy>HA111813@365mmt.com</cp:lastModifiedBy>
  <cp:revision>206</cp:revision>
  <dcterms:created xsi:type="dcterms:W3CDTF">2006-08-16T00:00:00Z</dcterms:created>
  <dcterms:modified xsi:type="dcterms:W3CDTF">2026-10-26T07:40:01Z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E8021D0DD8ED41C89E2E6BC159660AC1_13</vt:lpwstr>
  </property>
  <property fmtid="{D5CDD505-2E9C-101B-9397-08002B2CF9AE}" pid="3" name="KSOProductBuildVer">
    <vt:lpwstr>2052-12.1.0.29161</vt:lpwstr>
  </property>
</Properties>
</file>