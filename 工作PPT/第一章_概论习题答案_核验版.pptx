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视觉模板：C:\Users\24127\Desktop\第四章_SM4分组密码.pptx</a:t>
            </a:r>
          </a:p>
          <a:p>
            <a:r>
              <a:t>- 内容范围：C:\Users\24127\Desktop\密码学 基础理论与应用 李子臣答案(1).pdf，第1-3页。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用户提供PDF《密码学 基础理论与应用 李子臣答案(1).pdf》，第1-3页。</a:t>
            </a:r>
          </a:p>
          <a:p>
            <a:r>
              <a:t>- C. E. Shannon, Communication Theory of Secrecy Systems, 1949: https://doi.org/10.1002/j.1538-7305.1949.tb00928.x</a:t>
            </a:r>
          </a:p>
          <a:p>
            <a:r>
              <a:t>- Handbook of Applied Cryptography, Chapter 1: https://cacr.uwaterloo.ca/hac/about/chap1.pdf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用户提供PDF《密码学 基础理论与应用 李子臣答案(1).pdf》，第1-2页。</a:t>
            </a:r>
          </a:p>
          <a:p>
            <a:r>
              <a:t>- Handbook of Applied Cryptography, Chapter 1, Definitions 1.1 and cryptanalysis terminology: https://cacr.uwaterloo.ca/hac/about/chap1.pdf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用户提供PDF《密码学 基础理论与应用 李子臣答案(1).pdf》，第2页。</a:t>
            </a:r>
          </a:p>
          <a:p>
            <a:r>
              <a:t>- Handbook of Applied Cryptography, Chapter 1, pp.11-12: https://cacr.uwaterloo.ca/hac/about/chap1.pdf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用户提供PDF《密码学 基础理论与应用 李子臣答案(1).pdf》，第2页。</a:t>
            </a:r>
          </a:p>
          <a:p>
            <a:r>
              <a:t>- NIST CSRC Glossary, Chosen Plaintext Attack: https://csrc.nist.gov/glossary/term/chosen_plaintext_attack</a:t>
            </a:r>
          </a:p>
          <a:p>
            <a:r>
              <a:t>- NIST CSRC Glossary, Chosen Ciphertext Attack: https://csrc.nist.gov/glossary/term/chosen_ciphertext_attack</a:t>
            </a:r>
          </a:p>
          <a:p>
            <a:r>
              <a:t>- Boneh and Shoup, A Graduate Course in Applied Cryptography: https://crypto.stanford.edu/~dabo/cryptobook/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用户提供PDF《密码学 基础理论与应用 李子臣答案(1).pdf》，第2页。</a:t>
            </a:r>
          </a:p>
          <a:p>
            <a:r>
              <a:t>- Handbook of Applied Cryptography, Chapter 1, cryptographic goals: https://cacr.uwaterloo.ca/hac/about/chap1.pdf</a:t>
            </a:r>
          </a:p>
          <a:p>
            <a:r>
              <a:t>- NIST CSRC Glossary, Authentication: https://csrc.nist.gov/glossary/term/authentication</a:t>
            </a:r>
          </a:p>
          <a:p>
            <a:r>
              <a:t>- NIST CSRC Glossary, Non-repudiation: https://csrc.nist.gov/glossary/term/non_repudiation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用户提供PDF《密码学 基础理论与应用 李子臣答案(1).pdf》，第2-3页。</a:t>
            </a:r>
          </a:p>
          <a:p>
            <a:r>
              <a:t>- NIST NCCoE, Migration to Post-Quantum Cryptography Project Description, pp.7-8: https://www.nccoe.nist.gov/sites/default/files/legacy-files/pqc-migration-project-description-final.pdf</a:t>
            </a:r>
          </a:p>
          <a:p>
            <a:r>
              <a:t>- NIST SP 800-21, 2nd ed., Section 4.2: https://nvlpubs.nist.gov/nistpubs/legacy/sp/nistspecialpublication800-21e2.pdf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>
                <a:alpha val="0"/>
              </a:srgbClr>
            </a:gs>
            <a:gs pos="100000">
              <a:srgbClr val="DEE9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Freeform 3"/>
          <p:cNvSpPr>
            <a:spLocks noGrp="1"/>
          </p:cNvSpPr>
          <p:nvPr/>
        </p:nvSpPr>
        <p:spPr>
          <a:xfrm>
            <a:off x="5340279" y="765907"/>
            <a:ext cx="7607443" cy="760744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DDEEFF">
                  <a:alpha val="100000"/>
                </a:srgbClr>
              </a:gs>
            </a:gsLst>
            <a:lin ang="5400000"/>
          </a:gra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4" name="TextBox 4"/>
          <p:cNvSpPr>
            <a:spLocks noGrp="1"/>
          </p:cNvSpPr>
          <p:nvPr/>
        </p:nvSpPr>
        <p:spPr>
          <a:xfrm>
            <a:off x="6053476" y="1479104"/>
            <a:ext cx="6181047" cy="618104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15" name="Freeform 15"/>
          <p:cNvSpPr>
            <a:spLocks noGrp="1"/>
          </p:cNvSpPr>
          <p:nvPr/>
        </p:nvSpPr>
        <p:spPr>
          <a:xfrm>
            <a:off x="780296" y="3604350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796974" y="3621028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18" name="Freeform 18"/>
          <p:cNvSpPr>
            <a:spLocks noGrp="1"/>
          </p:cNvSpPr>
          <p:nvPr/>
        </p:nvSpPr>
        <p:spPr>
          <a:xfrm>
            <a:off x="780296" y="4024558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796974" y="4041236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21" name="Freeform 21"/>
          <p:cNvSpPr>
            <a:spLocks noGrp="1"/>
          </p:cNvSpPr>
          <p:nvPr/>
        </p:nvSpPr>
        <p:spPr>
          <a:xfrm>
            <a:off x="780296" y="4444767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796974" y="4461445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24" name="Freeform 24"/>
          <p:cNvSpPr>
            <a:spLocks noGrp="1"/>
          </p:cNvSpPr>
          <p:nvPr/>
        </p:nvSpPr>
        <p:spPr>
          <a:xfrm>
            <a:off x="780296" y="4864976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796974" y="4881654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27" name="Freeform 27"/>
          <p:cNvSpPr>
            <a:spLocks noGrp="1"/>
          </p:cNvSpPr>
          <p:nvPr/>
        </p:nvSpPr>
        <p:spPr>
          <a:xfrm>
            <a:off x="17329794" y="3604350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28" name="TextBox 28"/>
          <p:cNvSpPr>
            <a:spLocks noGrp="1"/>
          </p:cNvSpPr>
          <p:nvPr/>
        </p:nvSpPr>
        <p:spPr>
          <a:xfrm>
            <a:off x="17346472" y="3621028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30" name="Freeform 30"/>
          <p:cNvSpPr>
            <a:spLocks noGrp="1"/>
          </p:cNvSpPr>
          <p:nvPr/>
        </p:nvSpPr>
        <p:spPr>
          <a:xfrm>
            <a:off x="17329794" y="4024558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31" name="TextBox 31"/>
          <p:cNvSpPr>
            <a:spLocks noGrp="1"/>
          </p:cNvSpPr>
          <p:nvPr/>
        </p:nvSpPr>
        <p:spPr>
          <a:xfrm>
            <a:off x="17346472" y="4041236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33" name="Freeform 33"/>
          <p:cNvSpPr>
            <a:spLocks noGrp="1"/>
          </p:cNvSpPr>
          <p:nvPr/>
        </p:nvSpPr>
        <p:spPr>
          <a:xfrm>
            <a:off x="17329794" y="4444767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34" name="TextBox 34"/>
          <p:cNvSpPr>
            <a:spLocks noGrp="1"/>
          </p:cNvSpPr>
          <p:nvPr/>
        </p:nvSpPr>
        <p:spPr>
          <a:xfrm>
            <a:off x="17346472" y="4461445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36" name="Freeform 36"/>
          <p:cNvSpPr>
            <a:spLocks noGrp="1"/>
          </p:cNvSpPr>
          <p:nvPr/>
        </p:nvSpPr>
        <p:spPr>
          <a:xfrm>
            <a:off x="17329794" y="4864976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37" name="TextBox 37"/>
          <p:cNvSpPr>
            <a:spLocks noGrp="1"/>
          </p:cNvSpPr>
          <p:nvPr/>
        </p:nvSpPr>
        <p:spPr>
          <a:xfrm>
            <a:off x="17346472" y="4881654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43" name="Freeform 43"/>
          <p:cNvSpPr>
            <a:spLocks noGrp="1"/>
          </p:cNvSpPr>
          <p:nvPr/>
        </p:nvSpPr>
        <p:spPr>
          <a:xfrm>
            <a:off x="-1028700" y="8495193"/>
            <a:ext cx="20887940" cy="1518438"/>
          </a:xfrm>
          <a:custGeom>
            <a:avLst/>
            <a:gdLst/>
            <a:ahLst/>
            <a:cxnLst/>
            <a:rect l="l" t="t" r="r" b="b"/>
            <a:pathLst>
              <a:path w="5501351" h="399918">
                <a:moveTo>
                  <a:pt x="18903" y="0"/>
                </a:moveTo>
                <a:lnTo>
                  <a:pt x="5482448" y="0"/>
                </a:lnTo>
                <a:cubicBezTo>
                  <a:pt x="5487461" y="0"/>
                  <a:pt x="5492269" y="1992"/>
                  <a:pt x="5495814" y="5536"/>
                </a:cubicBezTo>
                <a:cubicBezTo>
                  <a:pt x="5499359" y="9081"/>
                  <a:pt x="5501351" y="13889"/>
                  <a:pt x="5501351" y="18903"/>
                </a:cubicBezTo>
                <a:lnTo>
                  <a:pt x="5501351" y="381015"/>
                </a:lnTo>
                <a:cubicBezTo>
                  <a:pt x="5501351" y="391455"/>
                  <a:pt x="5492888" y="399918"/>
                  <a:pt x="5482448" y="399918"/>
                </a:cubicBezTo>
                <a:lnTo>
                  <a:pt x="18903" y="399918"/>
                </a:lnTo>
                <a:cubicBezTo>
                  <a:pt x="8463" y="399918"/>
                  <a:pt x="0" y="391455"/>
                  <a:pt x="0" y="381015"/>
                </a:cubicBezTo>
                <a:lnTo>
                  <a:pt x="0" y="18903"/>
                </a:lnTo>
                <a:cubicBezTo>
                  <a:pt x="0" y="8463"/>
                  <a:pt x="8463" y="0"/>
                  <a:pt x="18903" y="0"/>
                </a:cubicBezTo>
                <a:close/>
              </a:path>
            </a:pathLst>
          </a:custGeom>
          <a:gradFill rotWithShape="1">
            <a:gsLst>
              <a:gs pos="0">
                <a:srgbClr val="FFAD5C">
                  <a:alpha val="100000"/>
                </a:srgbClr>
              </a:gs>
              <a:gs pos="100000">
                <a:srgbClr val="FFE1C4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44" name="TextBox 44"/>
          <p:cNvSpPr>
            <a:spLocks noGrp="1"/>
          </p:cNvSpPr>
          <p:nvPr/>
        </p:nvSpPr>
        <p:spPr>
          <a:xfrm>
            <a:off x="-1028700" y="8495193"/>
            <a:ext cx="20887940" cy="151843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46" name="Freeform 46"/>
          <p:cNvSpPr>
            <a:spLocks noGrp="1"/>
          </p:cNvSpPr>
          <p:nvPr/>
        </p:nvSpPr>
        <p:spPr>
          <a:xfrm>
            <a:off x="-1299970" y="8706724"/>
            <a:ext cx="20887940" cy="1718463"/>
          </a:xfrm>
          <a:custGeom>
            <a:avLst/>
            <a:gdLst/>
            <a:ahLst/>
            <a:cxnLst/>
            <a:rect l="l" t="t" r="r" b="b"/>
            <a:pathLst>
              <a:path w="5501351" h="452599">
                <a:moveTo>
                  <a:pt x="18903" y="0"/>
                </a:moveTo>
                <a:lnTo>
                  <a:pt x="5482448" y="0"/>
                </a:lnTo>
                <a:cubicBezTo>
                  <a:pt x="5487461" y="0"/>
                  <a:pt x="5492269" y="1992"/>
                  <a:pt x="5495814" y="5536"/>
                </a:cubicBezTo>
                <a:cubicBezTo>
                  <a:pt x="5499359" y="9081"/>
                  <a:pt x="5501351" y="13889"/>
                  <a:pt x="5501351" y="18903"/>
                </a:cubicBezTo>
                <a:lnTo>
                  <a:pt x="5501351" y="433697"/>
                </a:lnTo>
                <a:cubicBezTo>
                  <a:pt x="5501351" y="444136"/>
                  <a:pt x="5492888" y="452599"/>
                  <a:pt x="5482448" y="452599"/>
                </a:cubicBezTo>
                <a:lnTo>
                  <a:pt x="18903" y="452599"/>
                </a:lnTo>
                <a:cubicBezTo>
                  <a:pt x="8463" y="452599"/>
                  <a:pt x="0" y="444136"/>
                  <a:pt x="0" y="433697"/>
                </a:cubicBezTo>
                <a:lnTo>
                  <a:pt x="0" y="18903"/>
                </a:lnTo>
                <a:cubicBezTo>
                  <a:pt x="0" y="8463"/>
                  <a:pt x="8463" y="0"/>
                  <a:pt x="18903" y="0"/>
                </a:cubicBezTo>
                <a:close/>
              </a:path>
            </a:pathLst>
          </a:custGeom>
          <a:solidFill>
            <a:srgbClr val="013E7C"/>
          </a:solidFill>
        </p:spPr>
        <p:txBody>
          <a:bodyPr/>
          <a:lstStyle/>
          <a:p>
            <a:pPr defTabSz="457200">
              <a:buNone/>
            </a:pPr>
          </a:p>
        </p:txBody>
      </p:sp>
      <p:sp>
        <p:nvSpPr>
          <p:cNvPr id="47" name="TextBox 47"/>
          <p:cNvSpPr>
            <a:spLocks noGrp="1"/>
          </p:cNvSpPr>
          <p:nvPr/>
        </p:nvSpPr>
        <p:spPr>
          <a:xfrm>
            <a:off x="-1299970" y="8706724"/>
            <a:ext cx="20887940" cy="171846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 defTabSz="457200">
              <a:lnSpc>
                <a:spcPts val="2880"/>
              </a:lnSpc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xfrm>
            <a:off x="15352206" y="9254412"/>
            <a:ext cx="2133600" cy="365125"/>
          </a:xfrm>
        </p:spPr>
        <p:txBody>
          <a:bodyPr/>
          <a:lstStyle/>
          <a:p>
            <a:pPr algn="r" defTabSz="914400">
              <a:buClrTx/>
              <a:buSzTx/>
              <a:buFontTx/>
              <a:buNone/>
            </a:pPr>
            <a:fld id="{9A0DB2DC-4C9A-4742-B13C-FB6460FD3503}" type="slidenum">
              <a:rPr sz="1400">
                <a:solidFill>
                  <a:srgbClr val="FFC000"/>
                </a:solidFill>
              </a:rPr>
            </a:fld>
            <a:endParaRPr sz="1400">
              <a:solidFill>
                <a:srgbClr val="FFC000"/>
              </a:solidFill>
            </a:endParaRPr>
          </a:p>
        </p:txBody>
      </p:sp>
      <p:sp>
        <p:nvSpPr>
          <p:cNvPr id="5" name="TextBox 1"/>
          <p:cNvSpPr>
            <a:spLocks noGrp="1"/>
          </p:cNvSpPr>
          <p:nvPr/>
        </p:nvSpPr>
        <p:spPr>
          <a:xfrm>
            <a:off x="2158174" y="2706624"/>
            <a:ext cx="13980795" cy="167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>
              <a:buNone/>
              <a:defRPr sz="7200" b="1">
                <a:solidFill>
                  <a:srgbClr val="004AA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sz="10300">
                <a:latin typeface="+mj-ea"/>
                <a:ea typeface="+mj-ea"/>
                <a:cs typeface="+mj-ea"/>
              </a:rPr>
              <a:t>密码学-基础理论与应用</a:t>
            </a:r>
            <a:endParaRPr sz="10300">
              <a:latin typeface="+mj-ea"/>
              <a:ea typeface="+mj-ea"/>
              <a:cs typeface="+mj-ea"/>
            </a:endParaRPr>
          </a:p>
        </p:txBody>
      </p:sp>
      <p:sp>
        <p:nvSpPr>
          <p:cNvPr id="6" name="TextBox 2"/>
          <p:cNvSpPr>
            <a:spLocks noGrp="1"/>
          </p:cNvSpPr>
          <p:nvPr/>
        </p:nvSpPr>
        <p:spPr>
          <a:xfrm>
            <a:off x="4149684" y="5330952"/>
            <a:ext cx="998863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>
              <a:buNone/>
              <a:defRPr sz="5600" b="1">
                <a:solidFill>
                  <a:srgbClr val="004AA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sz="8000">
                <a:latin typeface="+mj-ea"/>
                <a:ea typeface="+mj-ea"/>
                <a:cs typeface="+mj-ea"/>
              </a:rPr>
              <a:t>第一章  概论习题答案</a:t>
            </a:r>
            <a:endParaRPr sz="800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12090" y="1102995"/>
            <a:ext cx="7800783" cy="275915"/>
            <a:chOff x="0" y="0"/>
            <a:chExt cx="2054527" cy="72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defTabSz="457200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457200">
                <a:lnSpc>
                  <a:spcPts val="2880"/>
                </a:lnSpc>
              </a:pPr>
            </a:p>
          </p:txBody>
        </p:sp>
      </p:grpSp>
      <p:sp>
        <p:nvSpPr>
          <p:cNvPr id="5" name="TextBox 4"/>
          <p:cNvSpPr>
            <a:spLocks noGrp="1"/>
          </p:cNvSpPr>
          <p:nvPr/>
        </p:nvSpPr>
        <p:spPr>
          <a:xfrm>
            <a:off x="1371600" y="1608455"/>
            <a:ext cx="15727680" cy="7577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题目：试述密码学发展的四个阶段及其主要特征。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答案：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（1）古代/古典密码（远古至一战前后）：人工使用字符替代、换位和代码本，主要服务于军事、外交等保密。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（2）机械密码（20世纪上半叶，二战达到高峰）：以机械或机电设备实现复杂变换，推动破译技术和早期计算机发展。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（3）信息时代密码（1949-1975年）：以香农1949年论文为理论起点，密码对象转为数字信息，设计分析依托信息论、统计和计算。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（4）现代密码（1976年至今）：公钥密码兴起，功能扩展到数字签名、认证、密钥协商、哈希和秘密共享。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7312132" y="9409176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defTabSz="457200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>
                <a:solidFill>
                  <a:srgbClr val="FFC000"/>
                </a:solidFill>
                <a:latin typeface="+mn-lt"/>
                <a:ea typeface="+mn-lt"/>
                <a:cs typeface="+mn-lt"/>
              </a:rPr>
              <a:t>2</a:t>
            </a:r>
            <a:endParaRPr sz="2000"/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13639786" y="733421"/>
            <a:ext cx="36842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None/>
            </a:pPr>
            <a:r>
              <a:rPr>
                <a:ln w="0"/>
                <a:gradFill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◆◆◆</a:t>
            </a:r>
            <a:r>
              <a:rPr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密码学——基础理论与应用</a:t>
            </a:r>
            <a:endParaRPr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0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  <p:sp>
        <p:nvSpPr>
          <p:cNvPr id="8" name="TextBox 30"/>
          <p:cNvSpPr>
            <a:spLocks noGrp="1"/>
          </p:cNvSpPr>
          <p:nvPr/>
        </p:nvSpPr>
        <p:spPr>
          <a:xfrm>
            <a:off x="1895083" y="536484"/>
            <a:ext cx="9458717" cy="7175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 defTabSz="457200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密码学发展的四个阶段</a:t>
            </a:r>
            <a:endParaRPr sz="4000" b="1"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  <p:pic>
        <p:nvPicPr>
          <p:cNvPr id="43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24865" y="5702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9" name="TextBox 31"/>
          <p:cNvSpPr>
            <a:spLocks noGrp="1"/>
          </p:cNvSpPr>
          <p:nvPr/>
        </p:nvSpPr>
        <p:spPr>
          <a:xfrm>
            <a:off x="1033145" y="475615"/>
            <a:ext cx="1290955" cy="8426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defTabSz="457200">
              <a:lnSpc>
                <a:spcPts val="6575"/>
              </a:lnSpc>
              <a:buNone/>
            </a:pPr>
            <a:r>
              <a:rPr sz="4695" b="1">
                <a:solidFill>
                  <a:srgbClr val="004AA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1</a:t>
            </a:r>
            <a:endParaRPr sz="4695" b="1">
              <a:solidFill>
                <a:srgbClr val="004AAD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>
            <a:spLocks noGrp="1"/>
          </p:cNvSpPr>
          <p:nvPr/>
        </p:nvSpPr>
        <p:spPr>
          <a:xfrm>
            <a:off x="1371600" y="1608455"/>
            <a:ext cx="15727680" cy="6178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00"/>
              <a:t>题目：什么是密码学？什么是密码编码学？什么是密码分析学？</a:t>
            </a:r>
            <a:endParaRPr sz="32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答案：</a:t>
            </a:r>
            <a:endParaRPr sz="2800"/>
          </a:p>
          <a:p>
            <a:pPr indent="457200" defTabSz="457200" fontAlgn="auto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密码学：研究信息保护与对抗的理论、方法和技术的学科，通常包括密码编码学和密码分析学。</a:t>
            </a:r>
            <a:endParaRPr sz="2800"/>
          </a:p>
          <a:p>
            <a:pPr indent="457200" defTabSz="457200" fontAlgn="auto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密码编码学：设计加密、认证、数字签名等密码机制，使信息在未授权条件下不可读、不可伪造或可被验证。</a:t>
            </a:r>
            <a:endParaRPr sz="2800"/>
          </a:p>
          <a:p>
            <a:pPr indent="457200" defTabSz="457200" fontAlgn="auto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密码分析学：在未获得合法密钥或授权的条件下，利用密文、明密文样本或系统接口，尝试恢复明文/密钥，或实现区分、伪造等攻击目标。</a:t>
            </a:r>
            <a:endParaRPr sz="2800"/>
          </a:p>
          <a:p>
            <a:pPr indent="457200" defTabSz="457200" fontAlgn="auto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800"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7312132" y="9409176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defTabSz="457200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>
                <a:solidFill>
                  <a:srgbClr val="FFC000"/>
                </a:solidFill>
                <a:latin typeface="+mn-lt"/>
                <a:ea typeface="+mn-lt"/>
                <a:cs typeface="+mn-lt"/>
              </a:rPr>
              <a:t>3</a:t>
            </a:r>
            <a:endParaRPr sz="2000"/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13639786" y="733421"/>
            <a:ext cx="36817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None/>
            </a:pPr>
            <a:r>
              <a:rPr>
                <a:ln w="0"/>
                <a:gradFill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◆◆◆</a:t>
            </a:r>
            <a:r>
              <a:rPr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1">
                <a:solidFill>
                  <a:schemeClr val="tx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密码学——基础理论与应用</a:t>
            </a:r>
            <a:endParaRPr b="1">
              <a:solidFill>
                <a:schemeClr val="tx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0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412090" y="1102995"/>
            <a:ext cx="7800783" cy="275915"/>
            <a:chOff x="0" y="0"/>
            <a:chExt cx="2054527" cy="72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defTabSz="457200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457200">
                <a:lnSpc>
                  <a:spcPts val="2880"/>
                </a:lnSpc>
              </a:pPr>
            </a:p>
          </p:txBody>
        </p:sp>
      </p:grpSp>
      <p:sp>
        <p:nvSpPr>
          <p:cNvPr id="7" name="TextBox 30"/>
          <p:cNvSpPr>
            <a:spLocks noGrp="1"/>
          </p:cNvSpPr>
          <p:nvPr/>
        </p:nvSpPr>
        <p:spPr>
          <a:xfrm>
            <a:off x="1895083" y="536484"/>
            <a:ext cx="9458717" cy="7175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 defTabSz="457200">
              <a:lnSpc>
                <a:spcPts val="5600"/>
              </a:lnSpc>
              <a:buNone/>
            </a:pPr>
            <a:r>
              <a:rPr lang="zh-CN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密码学、编码学与</a:t>
            </a:r>
            <a:r>
              <a:rPr lang="zh-CN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分析学</a:t>
            </a:r>
            <a:endParaRPr lang="zh-CN" sz="4000" b="1"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24865" y="5702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1" name="TextBox 31"/>
          <p:cNvSpPr>
            <a:spLocks noGrp="1"/>
          </p:cNvSpPr>
          <p:nvPr/>
        </p:nvSpPr>
        <p:spPr>
          <a:xfrm>
            <a:off x="1033145" y="475615"/>
            <a:ext cx="1290955" cy="8426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defTabSz="457200">
              <a:lnSpc>
                <a:spcPts val="6575"/>
              </a:lnSpc>
              <a:buNone/>
            </a:pPr>
            <a:r>
              <a:rPr lang="en-US" sz="4695" b="1">
                <a:solidFill>
                  <a:srgbClr val="004AA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2</a:t>
            </a:r>
            <a:endParaRPr lang="en-US" sz="4695" b="1">
              <a:solidFill>
                <a:srgbClr val="004AAD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>
                <a:spLocks noGrp="1"/>
              </p:cNvSpPr>
              <p:nvPr/>
            </p:nvSpPr>
            <p:spPr>
              <a:xfrm>
                <a:off x="1371600" y="1608455"/>
                <a:ext cx="15727680" cy="7037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57200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3200"/>
                  <a:t>题目：密码学的五元组是什么？它们分别有什么含义？</a:t>
                </a:r>
                <a:endParaRPr sz="3200"/>
              </a:p>
              <a:p>
                <a:pPr defTabSz="457200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</a:p>
              <a:p>
                <a:pPr defTabSz="457200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2800"/>
                  <a:t>答案：一个密码体制可表示为五元组（M，C，K，E，D）：</a:t>
                </a:r>
                <a:endParaRPr sz="2800"/>
              </a:p>
              <a:p>
                <a:pPr defTabSz="457200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2800"/>
                  <a:t>（1）M：可能明文组成的明文空间；</a:t>
                </a:r>
                <a:endParaRPr sz="2800"/>
              </a:p>
              <a:p>
                <a:pPr defTabSz="457200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2800"/>
                  <a:t>（2）C：可能密文组成的密文空间；</a:t>
                </a:r>
                <a:endParaRPr sz="2800"/>
              </a:p>
              <a:p>
                <a:pPr defTabSz="457200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2800"/>
                  <a:t>（3）K：所有可能密钥组成的密钥空间；</a:t>
                </a:r>
                <a:endParaRPr sz="2800"/>
              </a:p>
              <a:p>
                <a:pPr defTabSz="457200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2800"/>
                  <a:t>（4）E：由密钥参数化的加密变换集合；</a:t>
                </a:r>
                <a:endParaRPr sz="2800"/>
              </a:p>
              <a:p>
                <a:pPr defTabSz="457200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2800"/>
                  <a:t>（5）D：与加密变换相对应的解密变换集合。</a:t>
                </a:r>
                <a:endParaRPr sz="2800"/>
              </a:p>
              <a:p>
                <a:pPr indent="457200" defTabSz="457200" fontAlgn="auto">
                  <a:lnSpc>
                    <a:spcPct val="140000"/>
                  </a:lnSpc>
                  <a:spcAft>
                    <a:spcPts val="1000"/>
                  </a:spcAft>
                  <a:buNone/>
                  <a:defRPr sz="1900" b="0">
                    <a:solidFill>
                      <a:srgbClr val="000000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2800"/>
                  <a:t>必要的正确性条件是：对任意合法明文m及匹配密钥e、d，都有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𝐷𝑑</m:t>
                    </m:r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𝐸𝑒</m:t>
                    </m:r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𝑚</m:t>
                    </m:r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))=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𝑚</m:t>
                    </m:r>
                  </m:oMath>
                </a14:m>
                <a:r>
                  <a:rPr sz="2800"/>
                  <a:t>；对称密码中e、d通常相同，非对称密码中二者构成密钥对。</a:t>
                </a:r>
                <a:endParaRPr sz="2800"/>
              </a:p>
            </p:txBody>
          </p:sp>
        </mc:Choice>
        <mc:Fallback>
          <p:sp>
            <p:nvSpPr>
              <p:cNvPr id="5" name="TextBox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608455"/>
                <a:ext cx="15727680" cy="703770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>
            <a:spLocks noGrp="1"/>
          </p:cNvSpPr>
          <p:nvPr/>
        </p:nvSpPr>
        <p:spPr>
          <a:xfrm>
            <a:off x="17312132" y="9409176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defTabSz="457200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>
                <a:solidFill>
                  <a:srgbClr val="FFC000"/>
                </a:solidFill>
                <a:latin typeface="+mn-lt"/>
                <a:ea typeface="+mn-lt"/>
                <a:cs typeface="+mn-lt"/>
              </a:rPr>
              <a:t>4</a:t>
            </a:r>
            <a:endParaRPr sz="2000"/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13639786" y="733421"/>
            <a:ext cx="36817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None/>
            </a:pPr>
            <a:r>
              <a:rPr>
                <a:ln w="0"/>
                <a:gradFill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◆◆◆</a:t>
            </a:r>
            <a:r>
              <a:rPr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1">
                <a:solidFill>
                  <a:schemeClr val="tx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密码学——基础理论与应用</a:t>
            </a:r>
            <a:endParaRPr b="1">
              <a:solidFill>
                <a:schemeClr val="tx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0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412090" y="1102995"/>
            <a:ext cx="7800783" cy="275915"/>
            <a:chOff x="0" y="0"/>
            <a:chExt cx="2054527" cy="72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defTabSz="457200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457200">
                <a:lnSpc>
                  <a:spcPts val="2880"/>
                </a:lnSpc>
              </a:pPr>
            </a:p>
          </p:txBody>
        </p:sp>
      </p:grpSp>
      <p:sp>
        <p:nvSpPr>
          <p:cNvPr id="7" name="TextBox 30"/>
          <p:cNvSpPr>
            <a:spLocks noGrp="1"/>
          </p:cNvSpPr>
          <p:nvPr/>
        </p:nvSpPr>
        <p:spPr>
          <a:xfrm>
            <a:off x="1895083" y="536484"/>
            <a:ext cx="9458717" cy="7175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 defTabSz="457200">
              <a:lnSpc>
                <a:spcPts val="5600"/>
              </a:lnSpc>
              <a:buNone/>
            </a:pPr>
            <a:r>
              <a:rPr lang="zh-CN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密码学</a:t>
            </a:r>
            <a:r>
              <a:rPr lang="zh-CN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体制的</a:t>
            </a:r>
            <a:r>
              <a:rPr lang="zh-CN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五元组</a:t>
            </a:r>
            <a:endParaRPr lang="zh-CN" sz="4000" b="1"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24865" y="5702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1" name="TextBox 31"/>
          <p:cNvSpPr>
            <a:spLocks noGrp="1"/>
          </p:cNvSpPr>
          <p:nvPr/>
        </p:nvSpPr>
        <p:spPr>
          <a:xfrm>
            <a:off x="1033145" y="475615"/>
            <a:ext cx="1290955" cy="8426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defTabSz="457200">
              <a:lnSpc>
                <a:spcPts val="6575"/>
              </a:lnSpc>
              <a:buNone/>
            </a:pPr>
            <a:r>
              <a:rPr lang="en-US" sz="4695" b="1">
                <a:solidFill>
                  <a:srgbClr val="004AA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3</a:t>
            </a:r>
            <a:endParaRPr lang="en-US" sz="4695" b="1">
              <a:solidFill>
                <a:srgbClr val="004AAD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>
            <a:spLocks noGrp="1"/>
          </p:cNvSpPr>
          <p:nvPr/>
        </p:nvSpPr>
        <p:spPr>
          <a:xfrm>
            <a:off x="1371600" y="1608455"/>
            <a:ext cx="15727680" cy="703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00"/>
              <a:t>题目：密码分析主要有哪些方式？各有何特点？</a:t>
            </a:r>
            <a:endParaRPr sz="32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答案：按攻击者能够获得的信息和查询能力，基本分为：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（1）唯密文攻击：攻击者只掌握一个或多个密文。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（2）已知明文攻击：攻击者掌握若干对应的明文-密文对。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（3）选择明文攻击：攻击者可选择明文并取得相应密文；自适应攻击还可根据前次结果继续选择。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（4）选择密文攻击：攻击者可选择密文并取得相应解密结果；安全模型通常禁止直接查询目标密文，自适应模型允许根据结果继续查询。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攻击目标可包括恢复明文或密钥、区分密文以及构造伪造。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800"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7312132" y="9409176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defTabSz="457200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>
                <a:solidFill>
                  <a:srgbClr val="FFC000"/>
                </a:solidFill>
                <a:latin typeface="+mn-lt"/>
                <a:ea typeface="+mn-lt"/>
                <a:cs typeface="+mn-lt"/>
              </a:rPr>
              <a:t>5</a:t>
            </a:r>
            <a:endParaRPr sz="2000"/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13639786" y="733421"/>
            <a:ext cx="36817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None/>
            </a:pPr>
            <a:r>
              <a:rPr>
                <a:ln w="0"/>
                <a:gradFill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◆◆◆</a:t>
            </a:r>
            <a:r>
              <a:rPr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1">
                <a:solidFill>
                  <a:schemeClr val="tx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密码学——基础理论与应用</a:t>
            </a:r>
            <a:endParaRPr b="1">
              <a:solidFill>
                <a:schemeClr val="tx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0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412090" y="1102995"/>
            <a:ext cx="7800783" cy="275915"/>
            <a:chOff x="0" y="0"/>
            <a:chExt cx="2054527" cy="72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defTabSz="457200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457200">
                <a:lnSpc>
                  <a:spcPts val="2880"/>
                </a:lnSpc>
              </a:pPr>
            </a:p>
          </p:txBody>
        </p:sp>
      </p:grpSp>
      <p:sp>
        <p:nvSpPr>
          <p:cNvPr id="7" name="TextBox 30"/>
          <p:cNvSpPr>
            <a:spLocks noGrp="1"/>
          </p:cNvSpPr>
          <p:nvPr/>
        </p:nvSpPr>
        <p:spPr>
          <a:xfrm>
            <a:off x="1895083" y="536484"/>
            <a:ext cx="9458717" cy="7175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 defTabSz="457200">
              <a:lnSpc>
                <a:spcPts val="5600"/>
              </a:lnSpc>
              <a:buNone/>
            </a:pPr>
            <a:r>
              <a:rPr lang="zh-CN" altLang="en-US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密码分析的</a:t>
            </a:r>
            <a:r>
              <a:rPr lang="zh-CN" altLang="en-US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四类攻击</a:t>
            </a:r>
            <a:endParaRPr lang="zh-CN" altLang="en-US" sz="4000" b="1"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24865" y="5702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1" name="TextBox 31"/>
          <p:cNvSpPr>
            <a:spLocks noGrp="1"/>
          </p:cNvSpPr>
          <p:nvPr/>
        </p:nvSpPr>
        <p:spPr>
          <a:xfrm>
            <a:off x="1033145" y="475615"/>
            <a:ext cx="1290955" cy="8426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defTabSz="457200">
              <a:lnSpc>
                <a:spcPts val="6575"/>
              </a:lnSpc>
              <a:buNone/>
            </a:pPr>
            <a:r>
              <a:rPr lang="en-US" sz="4695" b="1">
                <a:solidFill>
                  <a:srgbClr val="004AA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4</a:t>
            </a:r>
            <a:endParaRPr lang="en-US" sz="4695" b="1">
              <a:solidFill>
                <a:srgbClr val="004AAD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>
            <a:spLocks noGrp="1"/>
          </p:cNvSpPr>
          <p:nvPr/>
        </p:nvSpPr>
        <p:spPr>
          <a:xfrm>
            <a:off x="1371600" y="1608455"/>
            <a:ext cx="15727680" cy="5703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00"/>
              <a:t>题目：密码学的基本属性包含哪几方面？</a:t>
            </a:r>
            <a:endParaRPr sz="32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答案：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（1）机密性：信息只向获得授权的实体披露。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（2）真实性/认证：确认通信实体身份或数据来源真实可信。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（3）数据完整性：能够发现数据遭到未授权的插入、删除、替换或修改。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（4）不可否认性：为特定行为或数据来源提供可验证证据，使行为主体不能事后轻易否认。</a:t>
            </a:r>
            <a:endParaRPr sz="28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800"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7312132" y="9409176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defTabSz="457200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>
                <a:solidFill>
                  <a:srgbClr val="FFC000"/>
                </a:solidFill>
                <a:latin typeface="+mn-lt"/>
                <a:ea typeface="+mn-lt"/>
                <a:cs typeface="+mn-lt"/>
              </a:rPr>
              <a:t>6</a:t>
            </a:r>
            <a:endParaRPr sz="2000"/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13639786" y="733421"/>
            <a:ext cx="36817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None/>
            </a:pPr>
            <a:r>
              <a:rPr>
                <a:ln w="0"/>
                <a:gradFill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◆◆◆</a:t>
            </a:r>
            <a:r>
              <a:rPr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1">
                <a:solidFill>
                  <a:schemeClr val="tx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密码学——基础理论与应用</a:t>
            </a:r>
            <a:endParaRPr b="1">
              <a:solidFill>
                <a:schemeClr val="tx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0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412090" y="1102995"/>
            <a:ext cx="7800783" cy="275915"/>
            <a:chOff x="0" y="0"/>
            <a:chExt cx="2054527" cy="72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defTabSz="457200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457200">
                <a:lnSpc>
                  <a:spcPts val="2880"/>
                </a:lnSpc>
              </a:pPr>
            </a:p>
          </p:txBody>
        </p:sp>
      </p:grpSp>
      <p:sp>
        <p:nvSpPr>
          <p:cNvPr id="7" name="TextBox 30"/>
          <p:cNvSpPr>
            <a:spLocks noGrp="1"/>
          </p:cNvSpPr>
          <p:nvPr/>
        </p:nvSpPr>
        <p:spPr>
          <a:xfrm>
            <a:off x="1895083" y="536484"/>
            <a:ext cx="9458717" cy="7175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 defTabSz="457200">
              <a:lnSpc>
                <a:spcPts val="5600"/>
              </a:lnSpc>
              <a:buNone/>
            </a:pPr>
            <a:r>
              <a:rPr lang="zh-CN" altLang="en-US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密码学的四类</a:t>
            </a:r>
            <a:r>
              <a:rPr lang="zh-CN" altLang="en-US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基本属性</a:t>
            </a:r>
            <a:endParaRPr lang="zh-CN" altLang="en-US" sz="4000" b="1"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24865" y="5702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1" name="TextBox 31"/>
          <p:cNvSpPr>
            <a:spLocks noGrp="1"/>
          </p:cNvSpPr>
          <p:nvPr/>
        </p:nvSpPr>
        <p:spPr>
          <a:xfrm>
            <a:off x="1033145" y="475615"/>
            <a:ext cx="1290955" cy="8426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defTabSz="457200">
              <a:lnSpc>
                <a:spcPts val="6575"/>
              </a:lnSpc>
              <a:buNone/>
            </a:pPr>
            <a:r>
              <a:rPr lang="en-US" sz="4695" b="1">
                <a:solidFill>
                  <a:srgbClr val="004AA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5</a:t>
            </a:r>
            <a:endParaRPr lang="en-US" sz="4695" b="1">
              <a:solidFill>
                <a:srgbClr val="004AAD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>
            <a:spLocks noGrp="1"/>
          </p:cNvSpPr>
          <p:nvPr/>
        </p:nvSpPr>
        <p:spPr>
          <a:xfrm>
            <a:off x="1371600" y="1608455"/>
            <a:ext cx="15727680" cy="7383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00"/>
              <a:t>题目：什么是对称密码体制和非对称密码体制？各有何优、缺点？</a:t>
            </a:r>
            <a:endParaRPr sz="3200"/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  <a:p>
            <a:pPr defTabSz="457200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答案：</a:t>
            </a:r>
            <a:endParaRPr sz="2800"/>
          </a:p>
          <a:p>
            <a:pPr indent="457200" defTabSz="457200" fontAlgn="auto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对称密码体制：加密和解密使用同一秘密密钥（或可相互高效推导的密钥）。优点是速度快、效率高、密钥及密文开销较小，适合大量数据；缺点是安全分发和管理共享密钥困难，多用户环境密钥数量增长快，且双方都能生成认证码，难以天然提供第三方可验证的不可否认性。</a:t>
            </a:r>
            <a:endParaRPr sz="2800"/>
          </a:p>
          <a:p>
            <a:pPr indent="457200" defTabSz="457200" fontAlgn="auto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非对称密码体制：使用相关联的公钥/私钥对。具有加密功能的方案通常用公钥加密、私钥解密；数字签名则用私钥签名、公钥验证。优点是公钥可公开，便于密钥建立、认证和签名；缺点是运算较慢、密钥和密文较长，安全性依赖数学困难假设，还必须验证公钥与身份的绑定关系。</a:t>
            </a:r>
            <a:endParaRPr sz="2800"/>
          </a:p>
          <a:p>
            <a:pPr indent="457200" defTabSz="457200" fontAlgn="auto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/>
              <a:t>实际系统通常采用混合方式：非对称密码建立会话密钥，对称密码加密数据。</a:t>
            </a:r>
            <a:endParaRPr sz="2800"/>
          </a:p>
          <a:p>
            <a:pPr indent="457200" defTabSz="457200" fontAlgn="auto">
              <a:lnSpc>
                <a:spcPct val="140000"/>
              </a:lnSpc>
              <a:spcAft>
                <a:spcPts val="1000"/>
              </a:spcAft>
              <a:buNone/>
              <a:defRPr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800"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7312132" y="9409176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defTabSz="457200">
              <a:buNone/>
              <a:defRPr sz="1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>
                <a:solidFill>
                  <a:srgbClr val="FFC000"/>
                </a:solidFill>
                <a:latin typeface="+mn-lt"/>
                <a:ea typeface="+mn-lt"/>
                <a:cs typeface="+mn-lt"/>
              </a:rPr>
              <a:t>7</a:t>
            </a:r>
            <a:endParaRPr sz="2000"/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13639786" y="733421"/>
            <a:ext cx="36817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None/>
            </a:pPr>
            <a:r>
              <a:rPr>
                <a:ln w="0"/>
                <a:gradFill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◆◆◆</a:t>
            </a:r>
            <a:r>
              <a:rPr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1">
                <a:solidFill>
                  <a:schemeClr val="tx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密码学——基础理论与应用</a:t>
            </a:r>
            <a:endParaRPr b="1">
              <a:solidFill>
                <a:schemeClr val="tx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0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412090" y="1102995"/>
            <a:ext cx="7800783" cy="275915"/>
            <a:chOff x="0" y="0"/>
            <a:chExt cx="2054527" cy="72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defTabSz="457200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 defTabSz="457200">
                <a:lnSpc>
                  <a:spcPts val="2880"/>
                </a:lnSpc>
              </a:pPr>
            </a:p>
          </p:txBody>
        </p:sp>
      </p:grpSp>
      <p:sp>
        <p:nvSpPr>
          <p:cNvPr id="7" name="TextBox 30"/>
          <p:cNvSpPr>
            <a:spLocks noGrp="1"/>
          </p:cNvSpPr>
          <p:nvPr/>
        </p:nvSpPr>
        <p:spPr>
          <a:xfrm>
            <a:off x="1895083" y="536484"/>
            <a:ext cx="9458717" cy="7175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 defTabSz="457200">
              <a:lnSpc>
                <a:spcPts val="5600"/>
              </a:lnSpc>
              <a:buNone/>
            </a:pPr>
            <a:r>
              <a:rPr lang="zh-CN" altLang="en-US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对称与非对称</a:t>
            </a:r>
            <a:r>
              <a:rPr lang="zh-CN" altLang="en-US"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密码体制</a:t>
            </a:r>
            <a:endParaRPr lang="zh-CN" altLang="en-US" sz="4000" b="1"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24865" y="5702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1" name="TextBox 31"/>
          <p:cNvSpPr>
            <a:spLocks noGrp="1"/>
          </p:cNvSpPr>
          <p:nvPr/>
        </p:nvSpPr>
        <p:spPr>
          <a:xfrm>
            <a:off x="1033145" y="475615"/>
            <a:ext cx="1290955" cy="8426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defTabSz="457200">
              <a:lnSpc>
                <a:spcPts val="6575"/>
              </a:lnSpc>
              <a:buNone/>
            </a:pPr>
            <a:r>
              <a:rPr lang="en-US" sz="4695" b="1">
                <a:solidFill>
                  <a:srgbClr val="004AA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charset="-122"/>
                <a:ea typeface="仿宋" panose="02010609060101010101" charset="-122"/>
                <a:cs typeface="Times New Roman" panose="02020603050405020304"/>
              </a:rPr>
              <a:t>6</a:t>
            </a:r>
            <a:endParaRPr lang="en-US" sz="4695" b="1">
              <a:solidFill>
                <a:srgbClr val="004AAD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latin typeface="仿宋" panose="02010609060101010101" charset="-122"/>
              <a:ea typeface="仿宋" panose="02010609060101010101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Times New Roman"/>
        <a:ea typeface="仿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Times New Roman"/>
        <a:ea typeface="仿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WPS 演示</Application>
  <PresentationFormat>Converted Presentation</PresentationFormat>
  <Paragraphs>107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Arial</vt:lpstr>
      <vt:lpstr>Times New Roman</vt:lpstr>
      <vt:lpstr>仿宋</vt:lpstr>
      <vt:lpstr>Times New Roman</vt:lpstr>
      <vt:lpstr>微软雅黑</vt:lpstr>
      <vt:lpstr>Arial Unicode MS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杨妮</cp:lastModifiedBy>
  <cp:revision>2</cp:revision>
  <dcterms:created xsi:type="dcterms:W3CDTF">2026-08-31T02:03:00Z</dcterms:created>
  <dcterms:modified xsi:type="dcterms:W3CDTF">2026-08-31T03:03:52Z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D80EE231F0A1404481B04C931882E9A4_12</vt:lpwstr>
  </property>
</Properties>
</file>