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tiff" ContentType="image/tif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3"/>
  </p:sldMasterIdLst>
  <p:notesMasterIdLst>
    <p:notesMasterId r:id="rId85"/>
  </p:notesMasterIdLst>
  <p:sldIdLst>
    <p:sldId id="451" r:id="rId4"/>
    <p:sldId id="257" r:id="rId5"/>
    <p:sldId id="342" r:id="rId6"/>
    <p:sldId id="259" r:id="rId7"/>
    <p:sldId id="379" r:id="rId8"/>
    <p:sldId id="378" r:id="rId9"/>
    <p:sldId id="380" r:id="rId10"/>
    <p:sldId id="381" r:id="rId11"/>
    <p:sldId id="382" r:id="rId12"/>
    <p:sldId id="383" r:id="rId13"/>
    <p:sldId id="384" r:id="rId14"/>
    <p:sldId id="385" r:id="rId15"/>
    <p:sldId id="386" r:id="rId16"/>
    <p:sldId id="387" r:id="rId17"/>
    <p:sldId id="389" r:id="rId18"/>
    <p:sldId id="388" r:id="rId19"/>
    <p:sldId id="452" r:id="rId20"/>
    <p:sldId id="263" r:id="rId21"/>
    <p:sldId id="390" r:id="rId22"/>
    <p:sldId id="391" r:id="rId23"/>
    <p:sldId id="392" r:id="rId24"/>
    <p:sldId id="393" r:id="rId25"/>
    <p:sldId id="394" r:id="rId26"/>
    <p:sldId id="395" r:id="rId27"/>
    <p:sldId id="396" r:id="rId28"/>
    <p:sldId id="397" r:id="rId29"/>
    <p:sldId id="398" r:id="rId30"/>
    <p:sldId id="400" r:id="rId31"/>
    <p:sldId id="401" r:id="rId32"/>
    <p:sldId id="402" r:id="rId33"/>
    <p:sldId id="403" r:id="rId34"/>
    <p:sldId id="404" r:id="rId35"/>
    <p:sldId id="405" r:id="rId36"/>
    <p:sldId id="406" r:id="rId37"/>
    <p:sldId id="407" r:id="rId38"/>
    <p:sldId id="408" r:id="rId39"/>
    <p:sldId id="409" r:id="rId40"/>
    <p:sldId id="410" r:id="rId41"/>
    <p:sldId id="411" r:id="rId42"/>
    <p:sldId id="412" r:id="rId43"/>
    <p:sldId id="413" r:id="rId44"/>
    <p:sldId id="414" r:id="rId45"/>
    <p:sldId id="453" r:id="rId46"/>
    <p:sldId id="415" r:id="rId47"/>
    <p:sldId id="416" r:id="rId48"/>
    <p:sldId id="417" r:id="rId49"/>
    <p:sldId id="418" r:id="rId50"/>
    <p:sldId id="420" r:id="rId51"/>
    <p:sldId id="421" r:id="rId52"/>
    <p:sldId id="423" r:id="rId53"/>
    <p:sldId id="422" r:id="rId54"/>
    <p:sldId id="424" r:id="rId55"/>
    <p:sldId id="425" r:id="rId56"/>
    <p:sldId id="426" r:id="rId57"/>
    <p:sldId id="427" r:id="rId58"/>
    <p:sldId id="429" r:id="rId59"/>
    <p:sldId id="430" r:id="rId60"/>
    <p:sldId id="431" r:id="rId61"/>
    <p:sldId id="432" r:id="rId62"/>
    <p:sldId id="433" r:id="rId63"/>
    <p:sldId id="434" r:id="rId64"/>
    <p:sldId id="428" r:id="rId65"/>
    <p:sldId id="436" r:id="rId66"/>
    <p:sldId id="437" r:id="rId67"/>
    <p:sldId id="438" r:id="rId68"/>
    <p:sldId id="439" r:id="rId69"/>
    <p:sldId id="440" r:id="rId70"/>
    <p:sldId id="454" r:id="rId71"/>
    <p:sldId id="441" r:id="rId72"/>
    <p:sldId id="442" r:id="rId73"/>
    <p:sldId id="443" r:id="rId74"/>
    <p:sldId id="444" r:id="rId75"/>
    <p:sldId id="445" r:id="rId76"/>
    <p:sldId id="446" r:id="rId77"/>
    <p:sldId id="447" r:id="rId78"/>
    <p:sldId id="455" r:id="rId79"/>
    <p:sldId id="448" r:id="rId80"/>
    <p:sldId id="449" r:id="rId81"/>
    <p:sldId id="450" r:id="rId82"/>
    <p:sldId id="456" r:id="rId83"/>
    <p:sldId id="340" r:id="rId84"/>
  </p:sldIdLst>
  <p:sldSz cx="18288000" cy="10287000"/>
  <p:notesSz cx="6858000" cy="9144000"/>
  <p:embeddedFontLst>
    <p:embeddedFont>
      <p:font typeface="Calibri" panose="020F0502020204030204"/>
      <p:regular r:id="rId89"/>
      <p:bold r:id="rId90"/>
      <p:italic r:id="rId91"/>
      <p:boldItalic r:id="rId92"/>
    </p:embeddedFont>
    <p:embeddedFont>
      <p:font typeface="仿宋" panose="02010609060101010101" pitchFamily="49" charset="-122"/>
      <p:regular r:id="rId93"/>
    </p:embeddedFont>
    <p:embeddedFont>
      <p:font typeface="字由文艺黑" panose="00020600040101010101" charset="-122"/>
      <p:regular r:id="rId94"/>
    </p:embeddedFont>
    <p:embeddedFont>
      <p:font typeface="微软雅黑" panose="020B0503020204020204" pitchFamily="34" charset="-122"/>
      <p:regular r:id="rId95"/>
      <p:bold r:id="rId96"/>
    </p:embeddedFont>
    <p:embeddedFont>
      <p:font typeface="黑体" panose="02010609060101010101" charset="-122"/>
      <p:regular r:id="rId97"/>
    </p:embeddedFont>
    <p:embeddedFont>
      <p:font typeface="等线" panose="02010600030101010101" charset="-122"/>
      <p:regular r:id="rId98"/>
      <p:bold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772" autoAdjust="0"/>
  </p:normalViewPr>
  <p:slideViewPr>
    <p:cSldViewPr showGuides="1">
      <p:cViewPr varScale="1">
        <p:scale>
          <a:sx n="78" d="100"/>
          <a:sy n="78" d="100"/>
        </p:scale>
        <p:origin x="132" y="108"/>
      </p:cViewPr>
      <p:guideLst>
        <p:guide orient="horz" pos="2301"/>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font" Target="fonts/font11.fntdata"/><Relationship Id="rId98" Type="http://schemas.openxmlformats.org/officeDocument/2006/relationships/font" Target="fonts/font10.fntdata"/><Relationship Id="rId97" Type="http://schemas.openxmlformats.org/officeDocument/2006/relationships/font" Target="fonts/font9.fntdata"/><Relationship Id="rId96" Type="http://schemas.openxmlformats.org/officeDocument/2006/relationships/font" Target="fonts/font8.fntdata"/><Relationship Id="rId95" Type="http://schemas.openxmlformats.org/officeDocument/2006/relationships/font" Target="fonts/font7.fntdata"/><Relationship Id="rId94" Type="http://schemas.openxmlformats.org/officeDocument/2006/relationships/font" Target="fonts/font6.fntdata"/><Relationship Id="rId93" Type="http://schemas.openxmlformats.org/officeDocument/2006/relationships/font" Target="fonts/font5.fntdata"/><Relationship Id="rId92" Type="http://schemas.openxmlformats.org/officeDocument/2006/relationships/font" Target="fonts/font4.fntdata"/><Relationship Id="rId91" Type="http://schemas.openxmlformats.org/officeDocument/2006/relationships/font" Target="fonts/font3.fntdata"/><Relationship Id="rId90" Type="http://schemas.openxmlformats.org/officeDocument/2006/relationships/font" Target="fonts/font2.fntdata"/><Relationship Id="rId9" Type="http://schemas.openxmlformats.org/officeDocument/2006/relationships/slide" Target="slides/slide6.xml"/><Relationship Id="rId89" Type="http://schemas.openxmlformats.org/officeDocument/2006/relationships/font" Target="fonts/font1.fntdata"/><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notesMaster" Target="notesMasters/notes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9.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wmf"/><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9.wmf"/><Relationship Id="rId8" Type="http://schemas.openxmlformats.org/officeDocument/2006/relationships/image" Target="../media/image28.wmf"/><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6" Type="http://schemas.openxmlformats.org/officeDocument/2006/relationships/image" Target="../media/image36.wmf"/><Relationship Id="rId15" Type="http://schemas.openxmlformats.org/officeDocument/2006/relationships/image" Target="../media/image35.wmf"/><Relationship Id="rId14" Type="http://schemas.openxmlformats.org/officeDocument/2006/relationships/image" Target="../media/image34.wmf"/><Relationship Id="rId13" Type="http://schemas.openxmlformats.org/officeDocument/2006/relationships/image" Target="../media/image33.wmf"/><Relationship Id="rId12" Type="http://schemas.openxmlformats.org/officeDocument/2006/relationships/image" Target="../media/image32.wmf"/><Relationship Id="rId11" Type="http://schemas.openxmlformats.org/officeDocument/2006/relationships/image" Target="../media/image31.wmf"/><Relationship Id="rId10" Type="http://schemas.openxmlformats.org/officeDocument/2006/relationships/image" Target="../media/image30.wmf"/><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87.wmf"/><Relationship Id="rId8" Type="http://schemas.openxmlformats.org/officeDocument/2006/relationships/image" Target="../media/image86.wmf"/><Relationship Id="rId7" Type="http://schemas.openxmlformats.org/officeDocument/2006/relationships/image" Target="../media/image85.wmf"/><Relationship Id="rId6" Type="http://schemas.openxmlformats.org/officeDocument/2006/relationships/image" Target="../media/image84.wmf"/><Relationship Id="rId5" Type="http://schemas.openxmlformats.org/officeDocument/2006/relationships/image" Target="../media/image83.wmf"/><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91.wmf"/><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9.wmf"/><Relationship Id="rId7" Type="http://schemas.openxmlformats.org/officeDocument/2006/relationships/image" Target="../media/image98.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07.wmf"/><Relationship Id="rId7" Type="http://schemas.openxmlformats.org/officeDocument/2006/relationships/image" Target="../media/image106.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24.wmf"/><Relationship Id="rId7" Type="http://schemas.openxmlformats.org/officeDocument/2006/relationships/image" Target="../media/image123.wmf"/><Relationship Id="rId6" Type="http://schemas.openxmlformats.org/officeDocument/2006/relationships/image" Target="../media/image122.wmf"/><Relationship Id="rId5" Type="http://schemas.openxmlformats.org/officeDocument/2006/relationships/image" Target="../media/image121.wmf"/><Relationship Id="rId4" Type="http://schemas.openxmlformats.org/officeDocument/2006/relationships/image" Target="../media/image120.wmf"/><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32.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41.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DD3AE6E-CB60-4674-9665-86E91706A129}"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13D0682-23AD-4720-BB95-08CF248F3E69}"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19C2139-E598-4118-9F06-A3D68F38520A}"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8A192C2C-01B7-4DA8-B576-44077ED7FF6F}"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CC983071-96BD-4EDF-AC7D-60B2BED29D36}"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A570765-E83E-4A3F-963F-498875753594}"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2CCA9D-F9E3-4284-AEF0-42E7D437EC48}"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468600" y="9334500"/>
            <a:ext cx="2133600" cy="365125"/>
          </a:xfrm>
        </p:spPr>
        <p:txBody>
          <a:bodyPr vert="horz" lIns="91440" tIns="45720" rIns="91440" bIns="45720" rtlCol="0" anchor="ctr"/>
          <a:lstStyle>
            <a:lvl1pPr>
              <a:defRPr lang="en-US" sz="1400" baseline="0" smtClean="0">
                <a:solidFill>
                  <a:srgbClr val="FFC000"/>
                </a:solidFill>
              </a:defRPr>
            </a:lvl1pPr>
          </a:lstStyle>
          <a:p>
            <a:fld id="{B6F15528-21DE-4FAA-801E-634DDDAF4B2B}" type="slidenum">
              <a:rPr lang="en-US" altLang="zh-CN" smtClean="0"/>
            </a:fld>
            <a:endParaRPr lang="en-US" sz="1400" baseline="0">
              <a:solidFill>
                <a:srgbClr val="FFC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E1CB9E7-C120-4FFE-A320-9B12388B04BC}"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5237A5-1B45-411A-9F10-413D7CF5B98E}"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045B92E-156A-4E64-BE9A-EF12BBADA5FA}"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C5EF328-597B-46E6-98F4-D739B4B0AA65}"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D174AE42-7364-4267-B40A-343A49EA74EA}"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3BE76DB-3201-458E-97E8-1F529B41C87D}"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6BAF40B-7C5C-460D-B1B7-FD4D67B22822}"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E2BC249-EC5F-4986-8EE3-885490FF7370}"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4F9AF8E-3BE7-493F-A109-C39C54E959C7}"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123C8F6-EBAB-4B52-9D57-25C21C0BFF09}"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7A945-3C13-407B-9418-BB51BE003E6B}"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392400" y="9334500"/>
            <a:ext cx="2133600" cy="365125"/>
          </a:xfrm>
        </p:spPr>
        <p:txBody>
          <a:bodyPr vert="horz" lIns="91440" tIns="45720" rIns="91440" bIns="45720" rtlCol="0" anchor="ctr"/>
          <a:lstStyle>
            <a:lvl1pPr>
              <a:defRPr lang="en-US" sz="1400" baseline="0" smtClean="0">
                <a:solidFill>
                  <a:srgbClr val="FFC000"/>
                </a:solidFill>
              </a:defRPr>
            </a:lvl1pPr>
          </a:lstStyle>
          <a:p>
            <a:fld id="{B6F15528-21DE-4FAA-801E-634DDDAF4B2B}" type="slidenum">
              <a:rPr lang="en-US" altLang="zh-CN" smtClean="0"/>
            </a:fld>
            <a:endParaRPr lang="en-US" sz="1400" baseline="0">
              <a:solidFill>
                <a:srgbClr val="FFC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E82B25-0626-400A-8A18-CC4B9FA85174}"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F9421BD-7A71-43B0-8A82-BF5BCB45934A}"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F16864D-7324-47AC-8E77-C23354FBA014}"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72510EF-AB01-495B-8DFE-96ADBB7A23CB}"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B5AFE5-D9E5-4FD8-9B6D-490BFA94ADB6}"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4004D-81DD-4821-82CF-FFE7163D5201}"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slideLayout" Target="../slideLayouts/slideLayout7.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6.wmf"/><Relationship Id="rId7" Type="http://schemas.openxmlformats.org/officeDocument/2006/relationships/oleObject" Target="../embeddings/oleObject4.bin"/><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8" Type="http://schemas.openxmlformats.org/officeDocument/2006/relationships/vmlDrawing" Target="../drawings/vmlDrawing1.vml"/><Relationship Id="rId17" Type="http://schemas.openxmlformats.org/officeDocument/2006/relationships/slideLayout" Target="../slideLayouts/slideLayout7.xml"/><Relationship Id="rId16" Type="http://schemas.openxmlformats.org/officeDocument/2006/relationships/image" Target="../media/image1.png"/><Relationship Id="rId15" Type="http://schemas.openxmlformats.org/officeDocument/2006/relationships/image" Target="../media/image2.png"/><Relationship Id="rId14" Type="http://schemas.openxmlformats.org/officeDocument/2006/relationships/image" Target="../media/image9.wmf"/><Relationship Id="rId13" Type="http://schemas.openxmlformats.org/officeDocument/2006/relationships/oleObject" Target="../embeddings/oleObject7.bin"/><Relationship Id="rId12" Type="http://schemas.openxmlformats.org/officeDocument/2006/relationships/image" Target="../media/image8.wmf"/><Relationship Id="rId11" Type="http://schemas.openxmlformats.org/officeDocument/2006/relationships/oleObject" Target="../embeddings/oleObject6.bin"/><Relationship Id="rId10" Type="http://schemas.openxmlformats.org/officeDocument/2006/relationships/image" Target="../media/image7.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0.tif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4.wmf"/><Relationship Id="rId7" Type="http://schemas.openxmlformats.org/officeDocument/2006/relationships/oleObject" Target="../embeddings/oleObject11.bin"/><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 Id="rId3" Type="http://schemas.openxmlformats.org/officeDocument/2006/relationships/oleObject" Target="../embeddings/oleObject9.bin"/><Relationship Id="rId22" Type="http://schemas.openxmlformats.org/officeDocument/2006/relationships/vmlDrawing" Target="../drawings/vmlDrawing2.vml"/><Relationship Id="rId21" Type="http://schemas.openxmlformats.org/officeDocument/2006/relationships/slideLayout" Target="../slideLayouts/slideLayout7.xml"/><Relationship Id="rId20" Type="http://schemas.openxmlformats.org/officeDocument/2006/relationships/image" Target="../media/image1.png"/><Relationship Id="rId2" Type="http://schemas.openxmlformats.org/officeDocument/2006/relationships/image" Target="../media/image11.wmf"/><Relationship Id="rId19" Type="http://schemas.openxmlformats.org/officeDocument/2006/relationships/image" Target="../media/image2.png"/><Relationship Id="rId18" Type="http://schemas.openxmlformats.org/officeDocument/2006/relationships/image" Target="../media/image19.wmf"/><Relationship Id="rId17" Type="http://schemas.openxmlformats.org/officeDocument/2006/relationships/oleObject" Target="../embeddings/oleObject16.bin"/><Relationship Id="rId16" Type="http://schemas.openxmlformats.org/officeDocument/2006/relationships/image" Target="../media/image18.wmf"/><Relationship Id="rId15" Type="http://schemas.openxmlformats.org/officeDocument/2006/relationships/oleObject" Target="../embeddings/oleObject15.bin"/><Relationship Id="rId14" Type="http://schemas.openxmlformats.org/officeDocument/2006/relationships/image" Target="../media/image17.wmf"/><Relationship Id="rId13" Type="http://schemas.openxmlformats.org/officeDocument/2006/relationships/oleObject" Target="../embeddings/oleObject14.bin"/><Relationship Id="rId12" Type="http://schemas.openxmlformats.org/officeDocument/2006/relationships/image" Target="../media/image16.wmf"/><Relationship Id="rId11" Type="http://schemas.openxmlformats.org/officeDocument/2006/relationships/oleObject" Target="../embeddings/oleObject13.bin"/><Relationship Id="rId10" Type="http://schemas.openxmlformats.org/officeDocument/2006/relationships/image" Target="../media/image15.wmf"/><Relationship Id="rId1"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0.tiff"/></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4.wmf"/><Relationship Id="rId7" Type="http://schemas.openxmlformats.org/officeDocument/2006/relationships/oleObject" Target="../embeddings/oleObject20.bin"/><Relationship Id="rId6" Type="http://schemas.openxmlformats.org/officeDocument/2006/relationships/image" Target="../media/image23.wmf"/><Relationship Id="rId5" Type="http://schemas.openxmlformats.org/officeDocument/2006/relationships/oleObject" Target="../embeddings/oleObject19.bin"/><Relationship Id="rId4" Type="http://schemas.openxmlformats.org/officeDocument/2006/relationships/image" Target="../media/image22.wmf"/><Relationship Id="rId37" Type="http://schemas.openxmlformats.org/officeDocument/2006/relationships/vmlDrawing" Target="../drawings/vmlDrawing3.vml"/><Relationship Id="rId36" Type="http://schemas.openxmlformats.org/officeDocument/2006/relationships/slideLayout" Target="../slideLayouts/slideLayout7.xml"/><Relationship Id="rId35" Type="http://schemas.openxmlformats.org/officeDocument/2006/relationships/image" Target="../media/image1.png"/><Relationship Id="rId34" Type="http://schemas.openxmlformats.org/officeDocument/2006/relationships/image" Target="../media/image2.png"/><Relationship Id="rId33" Type="http://schemas.openxmlformats.org/officeDocument/2006/relationships/image" Target="../media/image36.wmf"/><Relationship Id="rId32" Type="http://schemas.openxmlformats.org/officeDocument/2006/relationships/oleObject" Target="../embeddings/oleObject33.bin"/><Relationship Id="rId31" Type="http://schemas.openxmlformats.org/officeDocument/2006/relationships/image" Target="../media/image35.wmf"/><Relationship Id="rId30" Type="http://schemas.openxmlformats.org/officeDocument/2006/relationships/oleObject" Target="../embeddings/oleObject32.bin"/><Relationship Id="rId3" Type="http://schemas.openxmlformats.org/officeDocument/2006/relationships/oleObject" Target="../embeddings/oleObject18.bin"/><Relationship Id="rId29" Type="http://schemas.openxmlformats.org/officeDocument/2006/relationships/image" Target="../media/image34.wmf"/><Relationship Id="rId28" Type="http://schemas.openxmlformats.org/officeDocument/2006/relationships/oleObject" Target="../embeddings/oleObject31.bin"/><Relationship Id="rId27" Type="http://schemas.openxmlformats.org/officeDocument/2006/relationships/image" Target="../media/image33.wmf"/><Relationship Id="rId26" Type="http://schemas.openxmlformats.org/officeDocument/2006/relationships/oleObject" Target="../embeddings/oleObject30.bin"/><Relationship Id="rId25" Type="http://schemas.openxmlformats.org/officeDocument/2006/relationships/oleObject" Target="../embeddings/oleObject29.bin"/><Relationship Id="rId24" Type="http://schemas.openxmlformats.org/officeDocument/2006/relationships/image" Target="../media/image32.wmf"/><Relationship Id="rId23" Type="http://schemas.openxmlformats.org/officeDocument/2006/relationships/oleObject" Target="../embeddings/oleObject28.bin"/><Relationship Id="rId22" Type="http://schemas.openxmlformats.org/officeDocument/2006/relationships/image" Target="../media/image31.wmf"/><Relationship Id="rId21" Type="http://schemas.openxmlformats.org/officeDocument/2006/relationships/oleObject" Target="../embeddings/oleObject27.bin"/><Relationship Id="rId20" Type="http://schemas.openxmlformats.org/officeDocument/2006/relationships/image" Target="../media/image30.wmf"/><Relationship Id="rId2" Type="http://schemas.openxmlformats.org/officeDocument/2006/relationships/image" Target="../media/image21.wmf"/><Relationship Id="rId19" Type="http://schemas.openxmlformats.org/officeDocument/2006/relationships/oleObject" Target="../embeddings/oleObject26.bin"/><Relationship Id="rId18" Type="http://schemas.openxmlformats.org/officeDocument/2006/relationships/image" Target="../media/image29.wmf"/><Relationship Id="rId17" Type="http://schemas.openxmlformats.org/officeDocument/2006/relationships/oleObject" Target="../embeddings/oleObject25.bin"/><Relationship Id="rId16" Type="http://schemas.openxmlformats.org/officeDocument/2006/relationships/image" Target="../media/image28.wmf"/><Relationship Id="rId15" Type="http://schemas.openxmlformats.org/officeDocument/2006/relationships/oleObject" Target="../embeddings/oleObject24.bin"/><Relationship Id="rId14" Type="http://schemas.openxmlformats.org/officeDocument/2006/relationships/image" Target="../media/image27.wmf"/><Relationship Id="rId13" Type="http://schemas.openxmlformats.org/officeDocument/2006/relationships/oleObject" Target="../embeddings/oleObject23.bin"/><Relationship Id="rId12" Type="http://schemas.openxmlformats.org/officeDocument/2006/relationships/image" Target="../media/image26.wmf"/><Relationship Id="rId11" Type="http://schemas.openxmlformats.org/officeDocument/2006/relationships/oleObject" Target="../embeddings/oleObject22.bin"/><Relationship Id="rId10" Type="http://schemas.openxmlformats.org/officeDocument/2006/relationships/image" Target="../media/image25.wmf"/><Relationship Id="rId1" Type="http://schemas.openxmlformats.org/officeDocument/2006/relationships/oleObject" Target="../embeddings/oleObject17.bin"/></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37.tiff"/></Relationships>
</file>

<file path=ppt/slides/_rels/slide14.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2.png"/><Relationship Id="rId7" Type="http://schemas.openxmlformats.org/officeDocument/2006/relationships/image" Target="../media/image41.tiff"/><Relationship Id="rId6" Type="http://schemas.openxmlformats.org/officeDocument/2006/relationships/image" Target="../media/image40.wmf"/><Relationship Id="rId5" Type="http://schemas.openxmlformats.org/officeDocument/2006/relationships/oleObject" Target="../embeddings/oleObject36.bin"/><Relationship Id="rId4" Type="http://schemas.openxmlformats.org/officeDocument/2006/relationships/image" Target="../media/image39.wmf"/><Relationship Id="rId3" Type="http://schemas.openxmlformats.org/officeDocument/2006/relationships/oleObject" Target="../embeddings/oleObject35.bin"/><Relationship Id="rId2" Type="http://schemas.openxmlformats.org/officeDocument/2006/relationships/image" Target="../media/image38.wmf"/><Relationship Id="rId11" Type="http://schemas.openxmlformats.org/officeDocument/2006/relationships/vmlDrawing" Target="../drawings/vmlDrawing4.vml"/><Relationship Id="rId10" Type="http://schemas.openxmlformats.org/officeDocument/2006/relationships/slideLayout" Target="../slideLayouts/slideLayout7.xml"/><Relationship Id="rId1" Type="http://schemas.openxmlformats.org/officeDocument/2006/relationships/oleObject" Target="../embeddings/oleObject34.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7.xml"/><Relationship Id="rId7" Type="http://schemas.openxmlformats.org/officeDocument/2006/relationships/image" Target="../media/image1.png"/><Relationship Id="rId6" Type="http://schemas.openxmlformats.org/officeDocument/2006/relationships/image" Target="../media/image2.png"/><Relationship Id="rId5" Type="http://schemas.openxmlformats.org/officeDocument/2006/relationships/image" Target="../media/image44.tiff"/><Relationship Id="rId4" Type="http://schemas.openxmlformats.org/officeDocument/2006/relationships/image" Target="../media/image43.wmf"/><Relationship Id="rId3" Type="http://schemas.openxmlformats.org/officeDocument/2006/relationships/oleObject" Target="../embeddings/oleObject38.bin"/><Relationship Id="rId2" Type="http://schemas.openxmlformats.org/officeDocument/2006/relationships/image" Target="../media/image42.wmf"/><Relationship Id="rId1" Type="http://schemas.openxmlformats.org/officeDocument/2006/relationships/oleObject" Target="../embeddings/oleObject37.bin"/></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44.tiff"/></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44.tiff"/></Relationships>
</file>

<file path=ppt/slides/_rels/slide24.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image" Target="../media/image46.tiff"/><Relationship Id="rId2" Type="http://schemas.openxmlformats.org/officeDocument/2006/relationships/image" Target="../media/image45.wmf"/><Relationship Id="rId1" Type="http://schemas.openxmlformats.org/officeDocument/2006/relationships/oleObject" Target="../embeddings/oleObject39.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image" Target="../media/image48.wmf"/><Relationship Id="rId2" Type="http://schemas.openxmlformats.org/officeDocument/2006/relationships/oleObject" Target="../embeddings/oleObject40.bin"/><Relationship Id="rId1" Type="http://schemas.openxmlformats.org/officeDocument/2006/relationships/image" Target="../media/image47.tiff"/></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49.tiff"/></Relationships>
</file>

<file path=ppt/slides/_rels/slide28.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image" Target="../media/image50.wmf"/><Relationship Id="rId2" Type="http://schemas.openxmlformats.org/officeDocument/2006/relationships/oleObject" Target="../embeddings/oleObject41.bin"/><Relationship Id="rId1" Type="http://schemas.openxmlformats.org/officeDocument/2006/relationships/image" Target="../media/image49.tiff"/></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image" Target="../media/image52.tiff"/><Relationship Id="rId2" Type="http://schemas.openxmlformats.org/officeDocument/2006/relationships/image" Target="../media/image51.wmf"/><Relationship Id="rId1" Type="http://schemas.openxmlformats.org/officeDocument/2006/relationships/oleObject" Target="../embeddings/oleObject42.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tiff"/></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55.png"/><Relationship Id="rId1"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59.wmf"/><Relationship Id="rId7" Type="http://schemas.openxmlformats.org/officeDocument/2006/relationships/oleObject" Target="../embeddings/oleObject46.bin"/><Relationship Id="rId6" Type="http://schemas.openxmlformats.org/officeDocument/2006/relationships/image" Target="../media/image58.wmf"/><Relationship Id="rId5" Type="http://schemas.openxmlformats.org/officeDocument/2006/relationships/oleObject" Target="../embeddings/oleObject45.bin"/><Relationship Id="rId4" Type="http://schemas.openxmlformats.org/officeDocument/2006/relationships/image" Target="../media/image57.wmf"/><Relationship Id="rId3" Type="http://schemas.openxmlformats.org/officeDocument/2006/relationships/oleObject" Target="../embeddings/oleObject44.bin"/><Relationship Id="rId2" Type="http://schemas.openxmlformats.org/officeDocument/2006/relationships/image" Target="../media/image56.wmf"/><Relationship Id="rId12" Type="http://schemas.openxmlformats.org/officeDocument/2006/relationships/vmlDrawing" Target="../drawings/vmlDrawing10.vml"/><Relationship Id="rId11" Type="http://schemas.openxmlformats.org/officeDocument/2006/relationships/slideLayout" Target="../slideLayouts/slideLayout7.xml"/><Relationship Id="rId10" Type="http://schemas.openxmlformats.org/officeDocument/2006/relationships/image" Target="../media/image1.png"/><Relationship Id="rId1" Type="http://schemas.openxmlformats.org/officeDocument/2006/relationships/oleObject" Target="../embeddings/oleObject43.bin"/></Relationships>
</file>

<file path=ppt/slides/_rels/slide3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63.wmf"/><Relationship Id="rId7" Type="http://schemas.openxmlformats.org/officeDocument/2006/relationships/oleObject" Target="../embeddings/oleObject50.bin"/><Relationship Id="rId6" Type="http://schemas.openxmlformats.org/officeDocument/2006/relationships/image" Target="../media/image62.wmf"/><Relationship Id="rId5" Type="http://schemas.openxmlformats.org/officeDocument/2006/relationships/oleObject" Target="../embeddings/oleObject49.bin"/><Relationship Id="rId4" Type="http://schemas.openxmlformats.org/officeDocument/2006/relationships/image" Target="../media/image61.wmf"/><Relationship Id="rId3" Type="http://schemas.openxmlformats.org/officeDocument/2006/relationships/oleObject" Target="../embeddings/oleObject48.bin"/><Relationship Id="rId2" Type="http://schemas.openxmlformats.org/officeDocument/2006/relationships/image" Target="../media/image60.wmf"/><Relationship Id="rId12" Type="http://schemas.openxmlformats.org/officeDocument/2006/relationships/vmlDrawing" Target="../drawings/vmlDrawing11.vml"/><Relationship Id="rId11" Type="http://schemas.openxmlformats.org/officeDocument/2006/relationships/slideLayout" Target="../slideLayouts/slideLayout7.xml"/><Relationship Id="rId10" Type="http://schemas.openxmlformats.org/officeDocument/2006/relationships/image" Target="../media/image1.png"/><Relationship Id="rId1" Type="http://schemas.openxmlformats.org/officeDocument/2006/relationships/oleObject" Target="../embeddings/oleObject47.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55.bin"/><Relationship Id="rId8" Type="http://schemas.openxmlformats.org/officeDocument/2006/relationships/image" Target="../media/image67.wmf"/><Relationship Id="rId7" Type="http://schemas.openxmlformats.org/officeDocument/2006/relationships/oleObject" Target="../embeddings/oleObject54.bin"/><Relationship Id="rId6" Type="http://schemas.openxmlformats.org/officeDocument/2006/relationships/image" Target="../media/image66.wmf"/><Relationship Id="rId5" Type="http://schemas.openxmlformats.org/officeDocument/2006/relationships/oleObject" Target="../embeddings/oleObject53.bin"/><Relationship Id="rId4" Type="http://schemas.openxmlformats.org/officeDocument/2006/relationships/image" Target="../media/image65.wmf"/><Relationship Id="rId3" Type="http://schemas.openxmlformats.org/officeDocument/2006/relationships/oleObject" Target="../embeddings/oleObject52.bin"/><Relationship Id="rId2" Type="http://schemas.openxmlformats.org/officeDocument/2006/relationships/image" Target="../media/image64.wmf"/><Relationship Id="rId14" Type="http://schemas.openxmlformats.org/officeDocument/2006/relationships/vmlDrawing" Target="../drawings/vmlDrawing12.vml"/><Relationship Id="rId13" Type="http://schemas.openxmlformats.org/officeDocument/2006/relationships/slideLayout" Target="../slideLayouts/slideLayout7.xml"/><Relationship Id="rId12"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image" Target="../media/image68.wmf"/><Relationship Id="rId1" Type="http://schemas.openxmlformats.org/officeDocument/2006/relationships/oleObject" Target="../embeddings/oleObject51.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69.wmf"/><Relationship Id="rId1" Type="http://schemas.openxmlformats.org/officeDocument/2006/relationships/oleObject" Target="../embeddings/oleObject56.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70.wmf"/><Relationship Id="rId1" Type="http://schemas.openxmlformats.org/officeDocument/2006/relationships/oleObject" Target="../embeddings/oleObject57.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72.wmf"/><Relationship Id="rId3" Type="http://schemas.openxmlformats.org/officeDocument/2006/relationships/oleObject" Target="../embeddings/oleObject59.bin"/><Relationship Id="rId2" Type="http://schemas.openxmlformats.org/officeDocument/2006/relationships/image" Target="../media/image71.wmf"/><Relationship Id="rId1" Type="http://schemas.openxmlformats.org/officeDocument/2006/relationships/oleObject" Target="../embeddings/oleObject58.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76.wmf"/><Relationship Id="rId7" Type="http://schemas.openxmlformats.org/officeDocument/2006/relationships/oleObject" Target="../embeddings/oleObject63.bin"/><Relationship Id="rId6" Type="http://schemas.openxmlformats.org/officeDocument/2006/relationships/image" Target="../media/image75.wmf"/><Relationship Id="rId5" Type="http://schemas.openxmlformats.org/officeDocument/2006/relationships/oleObject" Target="../embeddings/oleObject62.bin"/><Relationship Id="rId4" Type="http://schemas.openxmlformats.org/officeDocument/2006/relationships/image" Target="../media/image74.wmf"/><Relationship Id="rId3" Type="http://schemas.openxmlformats.org/officeDocument/2006/relationships/oleObject" Target="../embeddings/oleObject61.bin"/><Relationship Id="rId2" Type="http://schemas.openxmlformats.org/officeDocument/2006/relationships/image" Target="../media/image73.wmf"/><Relationship Id="rId16" Type="http://schemas.openxmlformats.org/officeDocument/2006/relationships/vmlDrawing" Target="../drawings/vmlDrawing16.vml"/><Relationship Id="rId15" Type="http://schemas.openxmlformats.org/officeDocument/2006/relationships/slideLayout" Target="../slideLayouts/slideLayout7.xml"/><Relationship Id="rId14" Type="http://schemas.openxmlformats.org/officeDocument/2006/relationships/image" Target="../media/image1.png"/><Relationship Id="rId13" Type="http://schemas.openxmlformats.org/officeDocument/2006/relationships/image" Target="../media/image2.png"/><Relationship Id="rId12" Type="http://schemas.openxmlformats.org/officeDocument/2006/relationships/image" Target="../media/image78.wmf"/><Relationship Id="rId11" Type="http://schemas.openxmlformats.org/officeDocument/2006/relationships/oleObject" Target="../embeddings/oleObject65.bin"/><Relationship Id="rId10" Type="http://schemas.openxmlformats.org/officeDocument/2006/relationships/image" Target="../media/image77.wmf"/><Relationship Id="rId1" Type="http://schemas.openxmlformats.org/officeDocument/2006/relationships/oleObject" Target="../embeddings/oleObject60.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82.wmf"/><Relationship Id="rId7" Type="http://schemas.openxmlformats.org/officeDocument/2006/relationships/oleObject" Target="../embeddings/oleObject69.bin"/><Relationship Id="rId6" Type="http://schemas.openxmlformats.org/officeDocument/2006/relationships/image" Target="../media/image81.wmf"/><Relationship Id="rId5" Type="http://schemas.openxmlformats.org/officeDocument/2006/relationships/oleObject" Target="../embeddings/oleObject68.bin"/><Relationship Id="rId4" Type="http://schemas.openxmlformats.org/officeDocument/2006/relationships/image" Target="../media/image80.wmf"/><Relationship Id="rId3" Type="http://schemas.openxmlformats.org/officeDocument/2006/relationships/oleObject" Target="../embeddings/oleObject67.bin"/><Relationship Id="rId22" Type="http://schemas.openxmlformats.org/officeDocument/2006/relationships/vmlDrawing" Target="../drawings/vmlDrawing17.vml"/><Relationship Id="rId21" Type="http://schemas.openxmlformats.org/officeDocument/2006/relationships/slideLayout" Target="../slideLayouts/slideLayout7.xml"/><Relationship Id="rId20" Type="http://schemas.openxmlformats.org/officeDocument/2006/relationships/image" Target="../media/image1.png"/><Relationship Id="rId2" Type="http://schemas.openxmlformats.org/officeDocument/2006/relationships/image" Target="../media/image79.wmf"/><Relationship Id="rId19" Type="http://schemas.openxmlformats.org/officeDocument/2006/relationships/image" Target="../media/image2.png"/><Relationship Id="rId18" Type="http://schemas.openxmlformats.org/officeDocument/2006/relationships/image" Target="../media/image87.wmf"/><Relationship Id="rId17" Type="http://schemas.openxmlformats.org/officeDocument/2006/relationships/oleObject" Target="../embeddings/oleObject74.bin"/><Relationship Id="rId16" Type="http://schemas.openxmlformats.org/officeDocument/2006/relationships/image" Target="../media/image86.wmf"/><Relationship Id="rId15" Type="http://schemas.openxmlformats.org/officeDocument/2006/relationships/oleObject" Target="../embeddings/oleObject73.bin"/><Relationship Id="rId14" Type="http://schemas.openxmlformats.org/officeDocument/2006/relationships/image" Target="../media/image85.wmf"/><Relationship Id="rId13" Type="http://schemas.openxmlformats.org/officeDocument/2006/relationships/oleObject" Target="../embeddings/oleObject72.bin"/><Relationship Id="rId12" Type="http://schemas.openxmlformats.org/officeDocument/2006/relationships/image" Target="../media/image84.wmf"/><Relationship Id="rId11" Type="http://schemas.openxmlformats.org/officeDocument/2006/relationships/oleObject" Target="../embeddings/oleObject71.bin"/><Relationship Id="rId10" Type="http://schemas.openxmlformats.org/officeDocument/2006/relationships/image" Target="../media/image83.wmf"/><Relationship Id="rId1" Type="http://schemas.openxmlformats.org/officeDocument/2006/relationships/oleObject" Target="../embeddings/oleObject66.bin"/></Relationships>
</file>

<file path=ppt/slides/_rels/slide5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91.wmf"/><Relationship Id="rId7" Type="http://schemas.openxmlformats.org/officeDocument/2006/relationships/oleObject" Target="../embeddings/oleObject78.bin"/><Relationship Id="rId6" Type="http://schemas.openxmlformats.org/officeDocument/2006/relationships/image" Target="../media/image90.wmf"/><Relationship Id="rId5" Type="http://schemas.openxmlformats.org/officeDocument/2006/relationships/oleObject" Target="../embeddings/oleObject77.bin"/><Relationship Id="rId4" Type="http://schemas.openxmlformats.org/officeDocument/2006/relationships/image" Target="../media/image89.wmf"/><Relationship Id="rId3" Type="http://schemas.openxmlformats.org/officeDocument/2006/relationships/oleObject" Target="../embeddings/oleObject76.bin"/><Relationship Id="rId2" Type="http://schemas.openxmlformats.org/officeDocument/2006/relationships/image" Target="../media/image88.wmf"/><Relationship Id="rId12" Type="http://schemas.openxmlformats.org/officeDocument/2006/relationships/vmlDrawing" Target="../drawings/vmlDrawing18.vml"/><Relationship Id="rId11" Type="http://schemas.openxmlformats.org/officeDocument/2006/relationships/slideLayout" Target="../slideLayouts/slideLayout7.xml"/><Relationship Id="rId10" Type="http://schemas.openxmlformats.org/officeDocument/2006/relationships/image" Target="../media/image1.png"/><Relationship Id="rId1" Type="http://schemas.openxmlformats.org/officeDocument/2006/relationships/oleObject" Target="../embeddings/oleObject75.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83.bin"/><Relationship Id="rId8" Type="http://schemas.openxmlformats.org/officeDocument/2006/relationships/image" Target="../media/image95.wmf"/><Relationship Id="rId7" Type="http://schemas.openxmlformats.org/officeDocument/2006/relationships/oleObject" Target="../embeddings/oleObject82.bin"/><Relationship Id="rId6" Type="http://schemas.openxmlformats.org/officeDocument/2006/relationships/image" Target="../media/image94.wmf"/><Relationship Id="rId5" Type="http://schemas.openxmlformats.org/officeDocument/2006/relationships/oleObject" Target="../embeddings/oleObject81.bin"/><Relationship Id="rId4" Type="http://schemas.openxmlformats.org/officeDocument/2006/relationships/image" Target="../media/image93.wmf"/><Relationship Id="rId3" Type="http://schemas.openxmlformats.org/officeDocument/2006/relationships/oleObject" Target="../embeddings/oleObject80.bin"/><Relationship Id="rId21" Type="http://schemas.openxmlformats.org/officeDocument/2006/relationships/vmlDrawing" Target="../drawings/vmlDrawing19.vml"/><Relationship Id="rId20" Type="http://schemas.openxmlformats.org/officeDocument/2006/relationships/slideLayout" Target="../slideLayouts/slideLayout7.xml"/><Relationship Id="rId2" Type="http://schemas.openxmlformats.org/officeDocument/2006/relationships/image" Target="../media/image92.wmf"/><Relationship Id="rId19" Type="http://schemas.openxmlformats.org/officeDocument/2006/relationships/image" Target="../media/image1.png"/><Relationship Id="rId18" Type="http://schemas.openxmlformats.org/officeDocument/2006/relationships/image" Target="../media/image2.png"/><Relationship Id="rId17" Type="http://schemas.openxmlformats.org/officeDocument/2006/relationships/image" Target="../media/image99.wmf"/><Relationship Id="rId16" Type="http://schemas.openxmlformats.org/officeDocument/2006/relationships/oleObject" Target="../embeddings/oleObject87.bin"/><Relationship Id="rId15" Type="http://schemas.openxmlformats.org/officeDocument/2006/relationships/oleObject" Target="../embeddings/oleObject86.bin"/><Relationship Id="rId14" Type="http://schemas.openxmlformats.org/officeDocument/2006/relationships/image" Target="../media/image98.wmf"/><Relationship Id="rId13" Type="http://schemas.openxmlformats.org/officeDocument/2006/relationships/oleObject" Target="../embeddings/oleObject85.bin"/><Relationship Id="rId12" Type="http://schemas.openxmlformats.org/officeDocument/2006/relationships/image" Target="../media/image97.wmf"/><Relationship Id="rId11" Type="http://schemas.openxmlformats.org/officeDocument/2006/relationships/oleObject" Target="../embeddings/oleObject84.bin"/><Relationship Id="rId10" Type="http://schemas.openxmlformats.org/officeDocument/2006/relationships/image" Target="../media/image96.wmf"/><Relationship Id="rId1" Type="http://schemas.openxmlformats.org/officeDocument/2006/relationships/oleObject" Target="../embeddings/oleObject79.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103.wmf"/><Relationship Id="rId7" Type="http://schemas.openxmlformats.org/officeDocument/2006/relationships/oleObject" Target="../embeddings/oleObject91.bin"/><Relationship Id="rId6" Type="http://schemas.openxmlformats.org/officeDocument/2006/relationships/image" Target="../media/image102.wmf"/><Relationship Id="rId5" Type="http://schemas.openxmlformats.org/officeDocument/2006/relationships/oleObject" Target="../embeddings/oleObject90.bin"/><Relationship Id="rId4" Type="http://schemas.openxmlformats.org/officeDocument/2006/relationships/image" Target="../media/image101.wmf"/><Relationship Id="rId3" Type="http://schemas.openxmlformats.org/officeDocument/2006/relationships/oleObject" Target="../embeddings/oleObject89.bin"/><Relationship Id="rId20" Type="http://schemas.openxmlformats.org/officeDocument/2006/relationships/vmlDrawing" Target="../drawings/vmlDrawing20.vml"/><Relationship Id="rId2" Type="http://schemas.openxmlformats.org/officeDocument/2006/relationships/image" Target="../media/image100.wmf"/><Relationship Id="rId19" Type="http://schemas.openxmlformats.org/officeDocument/2006/relationships/slideLayout" Target="../slideLayouts/slideLayout7.xml"/><Relationship Id="rId18" Type="http://schemas.openxmlformats.org/officeDocument/2006/relationships/image" Target="../media/image1.png"/><Relationship Id="rId17" Type="http://schemas.openxmlformats.org/officeDocument/2006/relationships/image" Target="../media/image2.png"/><Relationship Id="rId16" Type="http://schemas.openxmlformats.org/officeDocument/2006/relationships/image" Target="../media/image107.wmf"/><Relationship Id="rId15" Type="http://schemas.openxmlformats.org/officeDocument/2006/relationships/oleObject" Target="../embeddings/oleObject95.bin"/><Relationship Id="rId14" Type="http://schemas.openxmlformats.org/officeDocument/2006/relationships/image" Target="../media/image106.wmf"/><Relationship Id="rId13" Type="http://schemas.openxmlformats.org/officeDocument/2006/relationships/oleObject" Target="../embeddings/oleObject94.bin"/><Relationship Id="rId12" Type="http://schemas.openxmlformats.org/officeDocument/2006/relationships/image" Target="../media/image105.wmf"/><Relationship Id="rId11" Type="http://schemas.openxmlformats.org/officeDocument/2006/relationships/oleObject" Target="../embeddings/oleObject93.bin"/><Relationship Id="rId10" Type="http://schemas.openxmlformats.org/officeDocument/2006/relationships/image" Target="../media/image104.wmf"/><Relationship Id="rId1" Type="http://schemas.openxmlformats.org/officeDocument/2006/relationships/oleObject" Target="../embeddings/oleObject88.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108.wmf"/><Relationship Id="rId1" Type="http://schemas.openxmlformats.org/officeDocument/2006/relationships/oleObject" Target="../embeddings/oleObject96.bin"/></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09.tiff"/></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110.wmf"/><Relationship Id="rId1" Type="http://schemas.openxmlformats.org/officeDocument/2006/relationships/oleObject" Target="../embeddings/oleObject97.bin"/></Relationships>
</file>

<file path=ppt/slides/_rels/slide59.xml.rels><?xml version="1.0" encoding="UTF-8" standalone="yes"?>
<Relationships xmlns="http://schemas.openxmlformats.org/package/2006/relationships"><Relationship Id="rId7" Type="http://schemas.openxmlformats.org/officeDocument/2006/relationships/vmlDrawing" Target="../drawings/vmlDrawing23.vml"/><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image" Target="../media/image112.tiff"/><Relationship Id="rId2" Type="http://schemas.openxmlformats.org/officeDocument/2006/relationships/image" Target="../media/image111.wmf"/><Relationship Id="rId1" Type="http://schemas.openxmlformats.org/officeDocument/2006/relationships/oleObject" Target="../embeddings/oleObject98.bin"/></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24.vml"/><Relationship Id="rId8" Type="http://schemas.openxmlformats.org/officeDocument/2006/relationships/slideLayout" Target="../slideLayouts/slideLayout7.xml"/><Relationship Id="rId7" Type="http://schemas.openxmlformats.org/officeDocument/2006/relationships/image" Target="../media/image1.png"/><Relationship Id="rId6" Type="http://schemas.openxmlformats.org/officeDocument/2006/relationships/image" Target="../media/image2.png"/><Relationship Id="rId5" Type="http://schemas.openxmlformats.org/officeDocument/2006/relationships/image" Target="../media/image115.wmf"/><Relationship Id="rId4" Type="http://schemas.openxmlformats.org/officeDocument/2006/relationships/oleObject" Target="../embeddings/oleObject100.bin"/><Relationship Id="rId3" Type="http://schemas.openxmlformats.org/officeDocument/2006/relationships/image" Target="../media/image114.wmf"/><Relationship Id="rId2" Type="http://schemas.openxmlformats.org/officeDocument/2006/relationships/oleObject" Target="../embeddings/oleObject99.bin"/><Relationship Id="rId1" Type="http://schemas.openxmlformats.org/officeDocument/2006/relationships/image" Target="../media/image113.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16.tiff"/></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105.bin"/><Relationship Id="rId8" Type="http://schemas.openxmlformats.org/officeDocument/2006/relationships/image" Target="../media/image120.wmf"/><Relationship Id="rId7" Type="http://schemas.openxmlformats.org/officeDocument/2006/relationships/oleObject" Target="../embeddings/oleObject104.bin"/><Relationship Id="rId6" Type="http://schemas.openxmlformats.org/officeDocument/2006/relationships/image" Target="../media/image119.wmf"/><Relationship Id="rId5" Type="http://schemas.openxmlformats.org/officeDocument/2006/relationships/oleObject" Target="../embeddings/oleObject103.bin"/><Relationship Id="rId4" Type="http://schemas.openxmlformats.org/officeDocument/2006/relationships/image" Target="../media/image118.wmf"/><Relationship Id="rId3" Type="http://schemas.openxmlformats.org/officeDocument/2006/relationships/oleObject" Target="../embeddings/oleObject102.bin"/><Relationship Id="rId20" Type="http://schemas.openxmlformats.org/officeDocument/2006/relationships/vmlDrawing" Target="../drawings/vmlDrawing25.vml"/><Relationship Id="rId2" Type="http://schemas.openxmlformats.org/officeDocument/2006/relationships/image" Target="../media/image117.wmf"/><Relationship Id="rId19" Type="http://schemas.openxmlformats.org/officeDocument/2006/relationships/slideLayout" Target="../slideLayouts/slideLayout7.xml"/><Relationship Id="rId18" Type="http://schemas.openxmlformats.org/officeDocument/2006/relationships/image" Target="../media/image1.png"/><Relationship Id="rId17" Type="http://schemas.openxmlformats.org/officeDocument/2006/relationships/image" Target="../media/image2.png"/><Relationship Id="rId16" Type="http://schemas.openxmlformats.org/officeDocument/2006/relationships/image" Target="../media/image124.wmf"/><Relationship Id="rId15" Type="http://schemas.openxmlformats.org/officeDocument/2006/relationships/oleObject" Target="../embeddings/oleObject108.bin"/><Relationship Id="rId14" Type="http://schemas.openxmlformats.org/officeDocument/2006/relationships/image" Target="../media/image123.wmf"/><Relationship Id="rId13" Type="http://schemas.openxmlformats.org/officeDocument/2006/relationships/oleObject" Target="../embeddings/oleObject107.bin"/><Relationship Id="rId12" Type="http://schemas.openxmlformats.org/officeDocument/2006/relationships/image" Target="../media/image122.wmf"/><Relationship Id="rId11" Type="http://schemas.openxmlformats.org/officeDocument/2006/relationships/oleObject" Target="../embeddings/oleObject106.bin"/><Relationship Id="rId10" Type="http://schemas.openxmlformats.org/officeDocument/2006/relationships/image" Target="../media/image121.wmf"/><Relationship Id="rId1" Type="http://schemas.openxmlformats.org/officeDocument/2006/relationships/oleObject" Target="../embeddings/oleObject101.bin"/></Relationships>
</file>

<file path=ppt/slides/_rels/slide6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127.tiff"/><Relationship Id="rId7" Type="http://schemas.openxmlformats.org/officeDocument/2006/relationships/oleObject" Target="../embeddings/oleObject113.bin"/><Relationship Id="rId6" Type="http://schemas.openxmlformats.org/officeDocument/2006/relationships/oleObject" Target="../embeddings/oleObject112.bin"/><Relationship Id="rId5" Type="http://schemas.openxmlformats.org/officeDocument/2006/relationships/oleObject" Target="../embeddings/oleObject111.bin"/><Relationship Id="rId4" Type="http://schemas.openxmlformats.org/officeDocument/2006/relationships/image" Target="../media/image126.wmf"/><Relationship Id="rId3" Type="http://schemas.openxmlformats.org/officeDocument/2006/relationships/oleObject" Target="../embeddings/oleObject110.bin"/><Relationship Id="rId2" Type="http://schemas.openxmlformats.org/officeDocument/2006/relationships/image" Target="../media/image125.wmf"/><Relationship Id="rId12" Type="http://schemas.openxmlformats.org/officeDocument/2006/relationships/vmlDrawing" Target="../drawings/vmlDrawing26.vml"/><Relationship Id="rId11" Type="http://schemas.openxmlformats.org/officeDocument/2006/relationships/slideLayout" Target="../slideLayouts/slideLayout7.xml"/><Relationship Id="rId10" Type="http://schemas.openxmlformats.org/officeDocument/2006/relationships/image" Target="../media/image1.png"/><Relationship Id="rId1" Type="http://schemas.openxmlformats.org/officeDocument/2006/relationships/oleObject" Target="../embeddings/oleObject109.bin"/></Relationships>
</file>

<file path=ppt/slides/_rels/slide64.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2.png"/><Relationship Id="rId7" Type="http://schemas.openxmlformats.org/officeDocument/2006/relationships/image" Target="../media/image131.wmf"/><Relationship Id="rId6" Type="http://schemas.openxmlformats.org/officeDocument/2006/relationships/oleObject" Target="../embeddings/oleObject116.bin"/><Relationship Id="rId5" Type="http://schemas.openxmlformats.org/officeDocument/2006/relationships/image" Target="../media/image130.wmf"/><Relationship Id="rId4" Type="http://schemas.openxmlformats.org/officeDocument/2006/relationships/oleObject" Target="../embeddings/oleObject115.bin"/><Relationship Id="rId3" Type="http://schemas.openxmlformats.org/officeDocument/2006/relationships/image" Target="../media/image129.wmf"/><Relationship Id="rId2" Type="http://schemas.openxmlformats.org/officeDocument/2006/relationships/oleObject" Target="../embeddings/oleObject114.bin"/><Relationship Id="rId11" Type="http://schemas.openxmlformats.org/officeDocument/2006/relationships/vmlDrawing" Target="../drawings/vmlDrawing27.vml"/><Relationship Id="rId10" Type="http://schemas.openxmlformats.org/officeDocument/2006/relationships/slideLayout" Target="../slideLayouts/slideLayout7.xml"/><Relationship Id="rId1" Type="http://schemas.openxmlformats.org/officeDocument/2006/relationships/image" Target="../media/image128.tiff"/></Relationships>
</file>

<file path=ppt/slides/_rels/slide65.xml.rels><?xml version="1.0" encoding="UTF-8" standalone="yes"?>
<Relationships xmlns="http://schemas.openxmlformats.org/package/2006/relationships"><Relationship Id="rId7" Type="http://schemas.openxmlformats.org/officeDocument/2006/relationships/vmlDrawing" Target="../drawings/vmlDrawing28.vml"/><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image" Target="../media/image133.tiff"/><Relationship Id="rId2" Type="http://schemas.openxmlformats.org/officeDocument/2006/relationships/image" Target="../media/image132.wmf"/><Relationship Id="rId1" Type="http://schemas.openxmlformats.org/officeDocument/2006/relationships/oleObject" Target="../embeddings/oleObject117.bin"/></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122.bin"/><Relationship Id="rId8" Type="http://schemas.openxmlformats.org/officeDocument/2006/relationships/image" Target="../media/image137.wmf"/><Relationship Id="rId7" Type="http://schemas.openxmlformats.org/officeDocument/2006/relationships/oleObject" Target="../embeddings/oleObject121.bin"/><Relationship Id="rId6" Type="http://schemas.openxmlformats.org/officeDocument/2006/relationships/image" Target="../media/image136.wmf"/><Relationship Id="rId5" Type="http://schemas.openxmlformats.org/officeDocument/2006/relationships/oleObject" Target="../embeddings/oleObject120.bin"/><Relationship Id="rId4" Type="http://schemas.openxmlformats.org/officeDocument/2006/relationships/image" Target="../media/image135.wmf"/><Relationship Id="rId3" Type="http://schemas.openxmlformats.org/officeDocument/2006/relationships/oleObject" Target="../embeddings/oleObject119.bin"/><Relationship Id="rId2" Type="http://schemas.openxmlformats.org/officeDocument/2006/relationships/image" Target="../media/image134.wmf"/><Relationship Id="rId14" Type="http://schemas.openxmlformats.org/officeDocument/2006/relationships/vmlDrawing" Target="../drawings/vmlDrawing29.vml"/><Relationship Id="rId13" Type="http://schemas.openxmlformats.org/officeDocument/2006/relationships/slideLayout" Target="../slideLayouts/slideLayout7.xml"/><Relationship Id="rId12"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image" Target="../media/image138.wmf"/><Relationship Id="rId1" Type="http://schemas.openxmlformats.org/officeDocument/2006/relationships/oleObject" Target="../embeddings/oleObject118.bin"/></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140.tiff"/><Relationship Id="rId1" Type="http://schemas.openxmlformats.org/officeDocument/2006/relationships/image" Target="../media/image139.tiff"/></Relationships>
</file>

<file path=ppt/slides/_rels/slide71.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43.tiff"/><Relationship Id="rId3" Type="http://schemas.openxmlformats.org/officeDocument/2006/relationships/image" Target="../media/image142.tiff"/><Relationship Id="rId2" Type="http://schemas.openxmlformats.org/officeDocument/2006/relationships/image" Target="../media/image141.wmf"/><Relationship Id="rId1" Type="http://schemas.openxmlformats.org/officeDocument/2006/relationships/oleObject" Target="../embeddings/oleObject123.bin"/></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png"/><Relationship Id="rId7" Type="http://schemas.openxmlformats.org/officeDocument/2006/relationships/image" Target="../media/image2.png"/><Relationship Id="rId6" Type="http://schemas.openxmlformats.org/officeDocument/2006/relationships/image" Target="../media/image146.wmf"/><Relationship Id="rId5" Type="http://schemas.openxmlformats.org/officeDocument/2006/relationships/oleObject" Target="../embeddings/oleObject126.bin"/><Relationship Id="rId4" Type="http://schemas.openxmlformats.org/officeDocument/2006/relationships/image" Target="../media/image145.wmf"/><Relationship Id="rId3" Type="http://schemas.openxmlformats.org/officeDocument/2006/relationships/oleObject" Target="../embeddings/oleObject125.bin"/><Relationship Id="rId2" Type="http://schemas.openxmlformats.org/officeDocument/2006/relationships/image" Target="../media/image144.wmf"/><Relationship Id="rId10" Type="http://schemas.openxmlformats.org/officeDocument/2006/relationships/vmlDrawing" Target="../drawings/vmlDrawing31.vml"/><Relationship Id="rId1" Type="http://schemas.openxmlformats.org/officeDocument/2006/relationships/oleObject" Target="../embeddings/oleObject124.bin"/></Relationships>
</file>

<file path=ppt/slides/_rels/slide73.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49.wmf"/><Relationship Id="rId3" Type="http://schemas.openxmlformats.org/officeDocument/2006/relationships/oleObject" Target="../embeddings/oleObject127.bin"/><Relationship Id="rId2" Type="http://schemas.openxmlformats.org/officeDocument/2006/relationships/image" Target="../media/image148.tiff"/><Relationship Id="rId1" Type="http://schemas.openxmlformats.org/officeDocument/2006/relationships/image" Target="../media/image147.tiff"/></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151.tiff"/><Relationship Id="rId1" Type="http://schemas.openxmlformats.org/officeDocument/2006/relationships/image" Target="../media/image150.tiff"/></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153.tiff"/><Relationship Id="rId1" Type="http://schemas.openxmlformats.org/officeDocument/2006/relationships/image" Target="../media/image152.tif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12"/>
          <p:cNvSpPr txBox="1"/>
          <p:nvPr/>
        </p:nvSpPr>
        <p:spPr>
          <a:xfrm>
            <a:off x="1676173" y="2707834"/>
            <a:ext cx="14436775" cy="1655966"/>
          </a:xfrm>
          <a:prstGeom prst="rect">
            <a:avLst/>
          </a:prstGeom>
        </p:spPr>
        <p:txBody>
          <a:bodyPr wrap="square" lIns="0" tIns="0" rIns="0" bIns="0" rtlCol="0" anchor="t">
            <a:spAutoFit/>
          </a:bodyPr>
          <a:lstStyle/>
          <a:p>
            <a:pPr marL="0" marR="0" lvl="0" indent="0" algn="ctr" defTabSz="914400" rtl="0" eaLnBrk="1" fontAlgn="auto" latinLnBrk="0" hangingPunct="1">
              <a:lnSpc>
                <a:spcPts val="14935"/>
              </a:lnSpc>
              <a:spcBef>
                <a:spcPts val="0"/>
              </a:spcBef>
              <a:spcAft>
                <a:spcPts val="0"/>
              </a:spcAft>
              <a:buClrTx/>
              <a:buSzTx/>
              <a:buFontTx/>
              <a:buNone/>
              <a:defRPr/>
            </a:pPr>
            <a:r>
              <a:rPr kumimoji="0" lang="zh-CN" altLang="en-US" sz="103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kumimoji="0" lang="en-US" altLang="zh-CN" sz="103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kumimoji="0" lang="zh-CN" altLang="en-US" sz="103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endParaRPr kumimoji="0" lang="zh-CN" altLang="en-US" sz="103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6" name="TextBox 1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9" name="TextBox 1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2" name="TextBox 22"/>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5" name="TextBox 2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8" name="TextBox 2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1" name="TextBox 3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4" name="TextBox 3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7" name="TextBox 3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8" name="TextBox 38"/>
          <p:cNvSpPr txBox="1"/>
          <p:nvPr/>
        </p:nvSpPr>
        <p:spPr>
          <a:xfrm>
            <a:off x="1933951" y="5295665"/>
            <a:ext cx="13921220" cy="1231106"/>
          </a:xfrm>
          <a:prstGeom prst="rect">
            <a:avLst/>
          </a:prstGeom>
        </p:spPr>
        <p:txBody>
          <a:bodyPr lIns="0" tIns="0" rIns="0" bIns="0" rtlCol="0" anchor="t">
            <a:spAutoFit/>
          </a:bodyPr>
          <a:lstStyle/>
          <a:p>
            <a:pPr marL="0" marR="0" lvl="0" indent="0" algn="ctr" defTabSz="914400" rtl="0" eaLnBrk="1" fontAlgn="auto" latinLnBrk="0" hangingPunct="1">
              <a:lnSpc>
                <a:spcPts val="9600"/>
              </a:lnSpc>
              <a:spcBef>
                <a:spcPts val="0"/>
              </a:spcBef>
              <a:spcAft>
                <a:spcPts val="0"/>
              </a:spcAft>
              <a:buClrTx/>
              <a:buSzTx/>
              <a:buFontTx/>
              <a:buNone/>
              <a:defRPr/>
            </a:pPr>
            <a:r>
              <a:rPr kumimoji="0" lang="zh-CN" altLang="en-US" sz="80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第三章</a:t>
            </a:r>
            <a:r>
              <a:rPr kumimoji="0" lang="en-US" altLang="zh-CN" sz="80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 </a:t>
            </a:r>
            <a:r>
              <a:rPr kumimoji="0" lang="zh-CN" altLang="en-US" sz="80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a:t>
            </a:r>
            <a:endParaRPr kumimoji="0" lang="zh-CN" altLang="en-US" sz="80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4" name="TextBox 44"/>
              <p:cNvSpPr txBox="1"/>
              <p:nvPr/>
            </p:nvSpPr>
            <p:spPr>
              <a:xfrm>
                <a:off x="0" y="0"/>
                <a:ext cx="5501351" cy="39991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7" name="TextBox 47"/>
              <p:cNvSpPr txBox="1"/>
              <p:nvPr/>
            </p:nvSpPr>
            <p:spPr>
              <a:xfrm>
                <a:off x="0" y="0"/>
                <a:ext cx="5501351" cy="45259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400" b="0" i="0" u="none" strike="noStrike" kern="1200" cap="none" spc="0" normalizeH="0" baseline="0" noProof="0" smtClean="0">
                <a:ln>
                  <a:noFill/>
                </a:ln>
                <a:solidFill>
                  <a:srgbClr val="FFC000"/>
                </a:solidFill>
                <a:effectLst/>
                <a:uLnTx/>
                <a:uFillTx/>
                <a:latin typeface="Calibri" panose="020F0502020204030204"/>
                <a:ea typeface="宋体" panose="02010600030101010101" pitchFamily="2" charset="-122"/>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a:off x="22112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endPar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endParaRPr>
            </a:p>
          </p:txBody>
        </p:sp>
      </p:grpSp>
      <p:sp>
        <p:nvSpPr>
          <p:cNvPr id="33" name="TextBox 33"/>
          <p:cNvSpPr txBox="1"/>
          <p:nvPr>
            <p:custDataLst>
              <p:tags r:id="rId1"/>
            </p:custDataLst>
          </p:nvPr>
        </p:nvSpPr>
        <p:spPr>
          <a:xfrm>
            <a:off x="7706467" y="1580472"/>
            <a:ext cx="879736"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3.1</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4" name="TextBox 34"/>
          <p:cNvSpPr txBox="1"/>
          <p:nvPr>
            <p:custDataLst>
              <p:tags r:id="rId2"/>
            </p:custDataLst>
          </p:nvPr>
        </p:nvSpPr>
        <p:spPr>
          <a:xfrm>
            <a:off x="9120984" y="1580517"/>
            <a:ext cx="5783866"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分组密码概述</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8" name="TextBox 38"/>
          <p:cNvSpPr txBox="1"/>
          <p:nvPr>
            <p:custDataLst>
              <p:tags r:id="rId3"/>
            </p:custDataLst>
          </p:nvPr>
        </p:nvSpPr>
        <p:spPr>
          <a:xfrm>
            <a:off x="7706467" y="2616717"/>
            <a:ext cx="97189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3.2</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43" name="TextBox 43"/>
          <p:cNvSpPr txBox="1"/>
          <p:nvPr>
            <p:custDataLst>
              <p:tags r:id="rId4"/>
            </p:custDataLst>
          </p:nvPr>
        </p:nvSpPr>
        <p:spPr>
          <a:xfrm>
            <a:off x="7706467" y="3652295"/>
            <a:ext cx="97189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3.3</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44" name="TextBox 44"/>
          <p:cNvSpPr txBox="1"/>
          <p:nvPr>
            <p:custDataLst>
              <p:tags r:id="rId5"/>
            </p:custDataLst>
          </p:nvPr>
        </p:nvSpPr>
        <p:spPr>
          <a:xfrm>
            <a:off x="9120984" y="3652340"/>
            <a:ext cx="5827962" cy="658322"/>
          </a:xfrm>
          <a:prstGeom prst="rect">
            <a:avLst/>
          </a:prstGeom>
        </p:spPr>
        <p:txBody>
          <a:bodyPr wrap="square" lIns="0" tIns="0" rIns="0" bIns="0" rtlCol="0" anchor="t">
            <a:spAutoFit/>
          </a:bodyPr>
          <a:lstStyle/>
          <a:p>
            <a:pPr algn="l">
              <a:lnSpc>
                <a:spcPts val="5880"/>
              </a:lnSpc>
            </a:pPr>
            <a:r>
              <a:rPr lang="en-US" altLang="zh-CN"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endParaRPr lang="en-US" altLang="zh-CN"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50" name="Group 50"/>
          <p:cNvGrpSpPr/>
          <p:nvPr/>
        </p:nvGrpSpPr>
        <p:grpSpPr>
          <a:xfrm>
            <a:off x="-1299845" y="8706483"/>
            <a:ext cx="21159470" cy="1718312"/>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66" name="TextBox 44"/>
          <p:cNvSpPr txBox="1"/>
          <p:nvPr>
            <p:custDataLst>
              <p:tags r:id="rId6"/>
            </p:custDataLst>
          </p:nvPr>
        </p:nvSpPr>
        <p:spPr>
          <a:xfrm>
            <a:off x="9120984" y="4687917"/>
            <a:ext cx="6454653"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分组密码的工作模式</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67" name="TextBox 43"/>
          <p:cNvSpPr txBox="1"/>
          <p:nvPr>
            <p:custDataLst>
              <p:tags r:id="rId7"/>
            </p:custDataLst>
          </p:nvPr>
        </p:nvSpPr>
        <p:spPr>
          <a:xfrm>
            <a:off x="7706467" y="4687872"/>
            <a:ext cx="97189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3.4</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62" name="TextBox 34"/>
          <p:cNvSpPr txBox="1"/>
          <p:nvPr>
            <p:custDataLst>
              <p:tags r:id="rId8"/>
            </p:custDataLst>
          </p:nvPr>
        </p:nvSpPr>
        <p:spPr>
          <a:xfrm>
            <a:off x="9120984" y="2616763"/>
            <a:ext cx="6137299" cy="658322"/>
          </a:xfrm>
          <a:prstGeom prst="rect">
            <a:avLst/>
          </a:prstGeom>
        </p:spPr>
        <p:txBody>
          <a:bodyPr wrap="square" lIns="0" tIns="0" rIns="0" bIns="0" rtlCol="0" anchor="t">
            <a:spAutoFit/>
          </a:bodyPr>
          <a:lstStyle/>
          <a:p>
            <a:pPr algn="l">
              <a:lnSpc>
                <a:spcPts val="5880"/>
              </a:lnSpc>
            </a:pPr>
            <a:r>
              <a:rPr lang="en-US" altLang="zh-CN"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endParaRPr lang="en-US" altLang="zh-CN"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57" name="TextBox 44"/>
          <p:cNvSpPr txBox="1"/>
          <p:nvPr>
            <p:custDataLst>
              <p:tags r:id="rId9"/>
            </p:custDataLst>
          </p:nvPr>
        </p:nvSpPr>
        <p:spPr>
          <a:xfrm>
            <a:off x="9120911" y="5723449"/>
            <a:ext cx="5335164"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分组密码分析</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58" name="TextBox 43"/>
          <p:cNvSpPr txBox="1"/>
          <p:nvPr>
            <p:custDataLst>
              <p:tags r:id="rId10"/>
            </p:custDataLst>
          </p:nvPr>
        </p:nvSpPr>
        <p:spPr>
          <a:xfrm>
            <a:off x="7706467" y="5723449"/>
            <a:ext cx="97189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3.5</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73" name="TextBox 44"/>
          <p:cNvSpPr txBox="1"/>
          <p:nvPr>
            <p:custDataLst>
              <p:tags r:id="rId11"/>
            </p:custDataLst>
          </p:nvPr>
        </p:nvSpPr>
        <p:spPr>
          <a:xfrm>
            <a:off x="9120911" y="6757690"/>
            <a:ext cx="4008913"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74" name="TextBox 43"/>
          <p:cNvSpPr txBox="1"/>
          <p:nvPr>
            <p:custDataLst>
              <p:tags r:id="rId12"/>
            </p:custDataLst>
          </p:nvPr>
        </p:nvSpPr>
        <p:spPr>
          <a:xfrm>
            <a:off x="7706467" y="6757690"/>
            <a:ext cx="97189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3.6</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0" name="灯片编号占位符 29"/>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31" name="组合 30"/>
          <p:cNvGrpSpPr/>
          <p:nvPr/>
        </p:nvGrpSpPr>
        <p:grpSpPr>
          <a:xfrm>
            <a:off x="796975" y="605801"/>
            <a:ext cx="3700052" cy="416951"/>
            <a:chOff x="13811849" y="507954"/>
            <a:chExt cx="3700052" cy="416951"/>
          </a:xfrm>
        </p:grpSpPr>
        <p:sp>
          <p:nvSpPr>
            <p:cNvPr id="32" name="文本框 3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5" name="图片 34"/>
            <p:cNvPicPr>
              <a:picLocks noChangeAspect="1"/>
            </p:cNvPicPr>
            <p:nvPr/>
          </p:nvPicPr>
          <p:blipFill>
            <a:blip r:embed="rId13"/>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3.1</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a:t>
            </a: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密码概述</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53022" y="2324100"/>
            <a:ext cx="14818191" cy="332105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分组密码算法（</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Block Cipher Algorithm）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将输入数据划分成固定长度的组进行加密和解密的一类对称密码算法。分组密码的安全性主要依赖于密钥，而不依赖于对加密算法和解密算法的保密。因此，分组密码的加密算法和解密算法可以公开。分组密码具有速度快、易于标准化和便于软硬件实现等特点，它在计算机通信和信息系统安全领域中有着广泛的应用。</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分组密码概述</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53022" y="2324100"/>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现代分组密码的研究始于20世纪70年代中期，至今已有几十年的历史，这期间人们在这个研究领域取得了丰硕的研究成果，包括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DES、Blowfish、IDEA、LOKI、RC5、Rijndael（AES）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在内的分组密码陆续被研究应用。分组密码是一种单钥或对称密码算法，通信实体双方使用相同的密钥加密和解密。</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利用分组密码对明文加密时，首先需要对明文进行分组，每组的长度都相同，然后对每组明文分别加密得到密文。设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是一个分组密码的分组长度，</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为明文，其中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为相应的密文，其中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分别表示在密钥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控制下的加密变换和解密变换。</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321"/>
          <p:cNvGraphicFramePr>
            <a:graphicFrameLocks noChangeAspect="1"/>
          </p:cNvGraphicFramePr>
          <p:nvPr/>
        </p:nvGraphicFramePr>
        <p:xfrm>
          <a:off x="4800600" y="6972300"/>
          <a:ext cx="2201545" cy="560070"/>
        </p:xfrm>
        <a:graphic>
          <a:graphicData uri="http://schemas.openxmlformats.org/presentationml/2006/ole">
            <mc:AlternateContent xmlns:mc="http://schemas.openxmlformats.org/markup-compatibility/2006">
              <mc:Choice xmlns:v="urn:schemas-microsoft-com:vml" Requires="v">
                <p:oleObj spid="_x0000_s0" name="" r:id="rId1" imgW="761365" imgH="190500" progId="Equation.DSMT4">
                  <p:embed/>
                </p:oleObj>
              </mc:Choice>
              <mc:Fallback>
                <p:oleObj name="" r:id="rId1" imgW="761365" imgH="190500" progId="Equation.DSMT4">
                  <p:embed/>
                  <p:pic>
                    <p:nvPicPr>
                      <p:cNvPr id="0" name="图片 3075"/>
                      <p:cNvPicPr/>
                      <p:nvPr/>
                    </p:nvPicPr>
                    <p:blipFill>
                      <a:blip r:embed="rId2"/>
                      <a:stretch>
                        <a:fillRect/>
                      </a:stretch>
                    </p:blipFill>
                    <p:spPr>
                      <a:xfrm>
                        <a:off x="4800600" y="6972300"/>
                        <a:ext cx="2201545" cy="560070"/>
                      </a:xfrm>
                      <a:prstGeom prst="rect">
                        <a:avLst/>
                      </a:prstGeom>
                      <a:noFill/>
                      <a:ln w="38100">
                        <a:noFill/>
                        <a:miter/>
                      </a:ln>
                    </p:spPr>
                  </p:pic>
                </p:oleObj>
              </mc:Fallback>
            </mc:AlternateContent>
          </a:graphicData>
        </a:graphic>
      </p:graphicFrame>
      <p:graphicFrame>
        <p:nvGraphicFramePr>
          <p:cNvPr id="6" name="对象 -2147482320"/>
          <p:cNvGraphicFramePr>
            <a:graphicFrameLocks noChangeAspect="1"/>
          </p:cNvGraphicFramePr>
          <p:nvPr/>
        </p:nvGraphicFramePr>
        <p:xfrm>
          <a:off x="9906000" y="7124700"/>
          <a:ext cx="1291590" cy="372745"/>
        </p:xfrm>
        <a:graphic>
          <a:graphicData uri="http://schemas.openxmlformats.org/presentationml/2006/ole">
            <mc:AlternateContent xmlns:mc="http://schemas.openxmlformats.org/markup-compatibility/2006">
              <mc:Choice xmlns:v="urn:schemas-microsoft-com:vml" Requires="v">
                <p:oleObj spid="_x0000_s0" name="" r:id="rId3" imgW="673100" imgH="152400" progId="Equation.DSMT4">
                  <p:embed/>
                </p:oleObj>
              </mc:Choice>
              <mc:Fallback>
                <p:oleObj name="" r:id="rId3" imgW="673100" imgH="152400" progId="Equation.DSMT4">
                  <p:embed/>
                  <p:pic>
                    <p:nvPicPr>
                      <p:cNvPr id="0" name="图片 4"/>
                      <p:cNvPicPr/>
                      <p:nvPr/>
                    </p:nvPicPr>
                    <p:blipFill>
                      <a:blip r:embed="rId4"/>
                      <a:stretch>
                        <a:fillRect/>
                      </a:stretch>
                    </p:blipFill>
                    <p:spPr>
                      <a:xfrm>
                        <a:off x="9906000" y="7124700"/>
                        <a:ext cx="1291590" cy="372745"/>
                      </a:xfrm>
                      <a:prstGeom prst="rect">
                        <a:avLst/>
                      </a:prstGeom>
                      <a:noFill/>
                      <a:ln w="38100">
                        <a:noFill/>
                        <a:miter/>
                      </a:ln>
                    </p:spPr>
                  </p:pic>
                </p:oleObj>
              </mc:Fallback>
            </mc:AlternateContent>
          </a:graphicData>
        </a:graphic>
      </p:graphicFrame>
      <p:graphicFrame>
        <p:nvGraphicFramePr>
          <p:cNvPr id="8" name="对象 -2147482319"/>
          <p:cNvGraphicFramePr>
            <a:graphicFrameLocks noChangeAspect="1"/>
          </p:cNvGraphicFramePr>
          <p:nvPr/>
        </p:nvGraphicFramePr>
        <p:xfrm>
          <a:off x="11734800" y="7026910"/>
          <a:ext cx="2089785" cy="470535"/>
        </p:xfrm>
        <a:graphic>
          <a:graphicData uri="http://schemas.openxmlformats.org/presentationml/2006/ole">
            <mc:AlternateContent xmlns:mc="http://schemas.openxmlformats.org/markup-compatibility/2006">
              <mc:Choice xmlns:v="urn:schemas-microsoft-com:vml" Requires="v">
                <p:oleObj spid="_x0000_s0" name="" r:id="rId5" imgW="812165" imgH="190500" progId="Equation.DSMT4">
                  <p:embed/>
                </p:oleObj>
              </mc:Choice>
              <mc:Fallback>
                <p:oleObj name="" r:id="rId5" imgW="812165" imgH="190500" progId="Equation.DSMT4">
                  <p:embed/>
                  <p:pic>
                    <p:nvPicPr>
                      <p:cNvPr id="0" name="图片 5"/>
                      <p:cNvPicPr/>
                      <p:nvPr/>
                    </p:nvPicPr>
                    <p:blipFill>
                      <a:blip r:embed="rId6"/>
                      <a:stretch>
                        <a:fillRect/>
                      </a:stretch>
                    </p:blipFill>
                    <p:spPr>
                      <a:xfrm>
                        <a:off x="11734800" y="7026910"/>
                        <a:ext cx="2089785" cy="470535"/>
                      </a:xfrm>
                      <a:prstGeom prst="rect">
                        <a:avLst/>
                      </a:prstGeom>
                      <a:noFill/>
                      <a:ln w="38100">
                        <a:noFill/>
                        <a:miter/>
                      </a:ln>
                    </p:spPr>
                  </p:pic>
                </p:oleObj>
              </mc:Fallback>
            </mc:AlternateContent>
          </a:graphicData>
        </a:graphic>
      </p:graphicFrame>
      <p:graphicFrame>
        <p:nvGraphicFramePr>
          <p:cNvPr id="10" name="对象 -2147482318"/>
          <p:cNvGraphicFramePr>
            <a:graphicFrameLocks noChangeAspect="1"/>
          </p:cNvGraphicFramePr>
          <p:nvPr/>
        </p:nvGraphicFramePr>
        <p:xfrm>
          <a:off x="3352800" y="7734300"/>
          <a:ext cx="1497330" cy="381000"/>
        </p:xfrm>
        <a:graphic>
          <a:graphicData uri="http://schemas.openxmlformats.org/presentationml/2006/ole">
            <mc:AlternateContent xmlns:mc="http://schemas.openxmlformats.org/markup-compatibility/2006">
              <mc:Choice xmlns:v="urn:schemas-microsoft-com:vml" Requires="v">
                <p:oleObj spid="_x0000_s0" name="" r:id="rId7" imgW="735965" imgH="177800" progId="Equation.DSMT4">
                  <p:embed/>
                </p:oleObj>
              </mc:Choice>
              <mc:Fallback>
                <p:oleObj name="" r:id="rId7" imgW="735965" imgH="177800" progId="Equation.DSMT4">
                  <p:embed/>
                  <p:pic>
                    <p:nvPicPr>
                      <p:cNvPr id="0" name="图片 6"/>
                      <p:cNvPicPr/>
                      <p:nvPr/>
                    </p:nvPicPr>
                    <p:blipFill>
                      <a:blip r:embed="rId8"/>
                      <a:stretch>
                        <a:fillRect/>
                      </a:stretch>
                    </p:blipFill>
                    <p:spPr>
                      <a:xfrm>
                        <a:off x="3352800" y="7734300"/>
                        <a:ext cx="1497330" cy="381000"/>
                      </a:xfrm>
                      <a:prstGeom prst="rect">
                        <a:avLst/>
                      </a:prstGeom>
                      <a:noFill/>
                      <a:ln w="38100">
                        <a:noFill/>
                        <a:miter/>
                      </a:ln>
                    </p:spPr>
                  </p:pic>
                </p:oleObj>
              </mc:Fallback>
            </mc:AlternateContent>
          </a:graphicData>
        </a:graphic>
      </p:graphicFrame>
      <p:graphicFrame>
        <p:nvGraphicFramePr>
          <p:cNvPr id="12" name="对象 -2147482317"/>
          <p:cNvGraphicFramePr>
            <a:graphicFrameLocks noChangeAspect="1"/>
          </p:cNvGraphicFramePr>
          <p:nvPr/>
        </p:nvGraphicFramePr>
        <p:xfrm>
          <a:off x="8153400" y="7810500"/>
          <a:ext cx="1208405" cy="1008380"/>
        </p:xfrm>
        <a:graphic>
          <a:graphicData uri="http://schemas.openxmlformats.org/presentationml/2006/ole">
            <mc:AlternateContent xmlns:mc="http://schemas.openxmlformats.org/markup-compatibility/2006">
              <mc:Choice xmlns:v="urn:schemas-microsoft-com:vml" Requires="v">
                <p:oleObj spid="_x0000_s0" name="" r:id="rId9" imgW="584200" imgH="419100" progId="Equation.DSMT4">
                  <p:embed/>
                </p:oleObj>
              </mc:Choice>
              <mc:Fallback>
                <p:oleObj name="" r:id="rId9" imgW="584200" imgH="419100" progId="Equation.DSMT4">
                  <p:embed/>
                  <p:pic>
                    <p:nvPicPr>
                      <p:cNvPr id="0" name="图片 7"/>
                      <p:cNvPicPr/>
                      <p:nvPr/>
                    </p:nvPicPr>
                    <p:blipFill>
                      <a:blip r:embed="rId10"/>
                      <a:stretch>
                        <a:fillRect/>
                      </a:stretch>
                    </p:blipFill>
                    <p:spPr>
                      <a:xfrm>
                        <a:off x="8153400" y="7810500"/>
                        <a:ext cx="1208405" cy="1008380"/>
                      </a:xfrm>
                      <a:prstGeom prst="rect">
                        <a:avLst/>
                      </a:prstGeom>
                      <a:noFill/>
                      <a:ln w="38100">
                        <a:noFill/>
                        <a:miter/>
                      </a:ln>
                    </p:spPr>
                  </p:pic>
                </p:oleObj>
              </mc:Fallback>
            </mc:AlternateContent>
          </a:graphicData>
        </a:graphic>
      </p:graphicFrame>
      <p:graphicFrame>
        <p:nvGraphicFramePr>
          <p:cNvPr id="14" name="对象 -2147482316"/>
          <p:cNvGraphicFramePr>
            <a:graphicFrameLocks noChangeAspect="1"/>
          </p:cNvGraphicFramePr>
          <p:nvPr/>
        </p:nvGraphicFramePr>
        <p:xfrm>
          <a:off x="3733800" y="9029700"/>
          <a:ext cx="457200" cy="457200"/>
        </p:xfrm>
        <a:graphic>
          <a:graphicData uri="http://schemas.openxmlformats.org/presentationml/2006/ole">
            <mc:AlternateContent xmlns:mc="http://schemas.openxmlformats.org/markup-compatibility/2006">
              <mc:Choice xmlns:v="urn:schemas-microsoft-com:vml" Requires="v">
                <p:oleObj spid="_x0000_s0" name="" r:id="rId11" imgW="177800" imgH="190500" progId="Equation.DSMT4">
                  <p:embed/>
                </p:oleObj>
              </mc:Choice>
              <mc:Fallback>
                <p:oleObj name="" r:id="rId11" imgW="177800" imgH="190500" progId="Equation.DSMT4">
                  <p:embed/>
                  <p:pic>
                    <p:nvPicPr>
                      <p:cNvPr id="0" name="图片 13"/>
                      <p:cNvPicPr/>
                      <p:nvPr/>
                    </p:nvPicPr>
                    <p:blipFill>
                      <a:blip r:embed="rId12"/>
                      <a:stretch>
                        <a:fillRect/>
                      </a:stretch>
                    </p:blipFill>
                    <p:spPr>
                      <a:xfrm>
                        <a:off x="3733800" y="9029700"/>
                        <a:ext cx="457200" cy="457200"/>
                      </a:xfrm>
                      <a:prstGeom prst="rect">
                        <a:avLst/>
                      </a:prstGeom>
                      <a:noFill/>
                      <a:ln w="38100">
                        <a:noFill/>
                        <a:miter/>
                      </a:ln>
                    </p:spPr>
                  </p:pic>
                </p:oleObj>
              </mc:Fallback>
            </mc:AlternateContent>
          </a:graphicData>
        </a:graphic>
      </p:graphicFrame>
      <p:graphicFrame>
        <p:nvGraphicFramePr>
          <p:cNvPr id="16" name="对象 -2147482315"/>
          <p:cNvGraphicFramePr>
            <a:graphicFrameLocks noChangeAspect="1"/>
          </p:cNvGraphicFramePr>
          <p:nvPr/>
        </p:nvGraphicFramePr>
        <p:xfrm>
          <a:off x="4662170" y="9029700"/>
          <a:ext cx="455930" cy="457200"/>
        </p:xfrm>
        <a:graphic>
          <a:graphicData uri="http://schemas.openxmlformats.org/presentationml/2006/ole">
            <mc:AlternateContent xmlns:mc="http://schemas.openxmlformats.org/markup-compatibility/2006">
              <mc:Choice xmlns:v="urn:schemas-microsoft-com:vml" Requires="v">
                <p:oleObj spid="_x0000_s0" name="" r:id="rId13" imgW="177165" imgH="190500" progId="Equation.DSMT4">
                  <p:embed/>
                </p:oleObj>
              </mc:Choice>
              <mc:Fallback>
                <p:oleObj name="" r:id="rId13" imgW="177165" imgH="190500" progId="Equation.DSMT4">
                  <p:embed/>
                  <p:pic>
                    <p:nvPicPr>
                      <p:cNvPr id="0" name="图片 14"/>
                      <p:cNvPicPr/>
                      <p:nvPr/>
                    </p:nvPicPr>
                    <p:blipFill>
                      <a:blip r:embed="rId14"/>
                      <a:stretch>
                        <a:fillRect/>
                      </a:stretch>
                    </p:blipFill>
                    <p:spPr>
                      <a:xfrm>
                        <a:off x="4662170" y="9029700"/>
                        <a:ext cx="455930" cy="45720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分组密码简介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1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9" name="组合 18"/>
          <p:cNvGrpSpPr/>
          <p:nvPr/>
        </p:nvGrpSpPr>
        <p:grpSpPr>
          <a:xfrm>
            <a:off x="13639786" y="733421"/>
            <a:ext cx="3700052" cy="416951"/>
            <a:chOff x="13811849" y="507954"/>
            <a:chExt cx="3700052" cy="416951"/>
          </a:xfrm>
        </p:grpSpPr>
        <p:sp>
          <p:nvSpPr>
            <p:cNvPr id="20" name="文本框 19"/>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1" name="图片 20"/>
            <p:cNvPicPr>
              <a:picLocks noChangeAspect="1"/>
            </p:cNvPicPr>
            <p:nvPr/>
          </p:nvPicPr>
          <p:blipFill>
            <a:blip r:embed="rId16"/>
            <a:stretch>
              <a:fillRect/>
            </a:stretch>
          </p:blipFill>
          <p:spPr>
            <a:xfrm>
              <a:off x="13944600" y="877286"/>
              <a:ext cx="2771429" cy="47619"/>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分组密码模型如图3.1所示。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分组密码与序列密码的不同之处在于输出的每位密文不仅与相应时刻输入的明文有关，而且与一组长为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的明文有关。在相同密钥下，分组密码对长为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的输入明文组所实施的变换是等同的，所以只需要研究对任一组明文数字的变换规则。这种密码实质上是字长为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的数字序列的代换密码，通常取</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m&gt;n，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则为有数据扩展的分组密码；若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m&lt;n，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则为有数据压缩的分组密码。</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1224" name="图片 12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00600" y="2781300"/>
            <a:ext cx="8114665" cy="1956435"/>
          </a:xfrm>
          <a:prstGeom prst="rect">
            <a:avLst/>
          </a:prstGeom>
        </p:spPr>
      </p:pic>
      <p:sp>
        <p:nvSpPr>
          <p:cNvPr id="9" name="文本框 8"/>
          <p:cNvSpPr txBox="1"/>
          <p:nvPr/>
        </p:nvSpPr>
        <p:spPr>
          <a:xfrm>
            <a:off x="8241030" y="5645785"/>
            <a:ext cx="6096000" cy="368300"/>
          </a:xfrm>
          <a:prstGeom prst="rect">
            <a:avLst/>
          </a:prstGeom>
          <a:noFill/>
        </p:spPr>
        <p:txBody>
          <a:bodyPr wrap="square" rtlCol="0">
            <a:spAutoFit/>
          </a:bodyPr>
          <a:lstStyle/>
          <a:p>
            <a:endParaRPr lang="zh-CN" altLang="en-US"/>
          </a:p>
        </p:txBody>
      </p:sp>
      <p:sp>
        <p:nvSpPr>
          <p:cNvPr id="11" name="文本框 10"/>
          <p:cNvSpPr txBox="1"/>
          <p:nvPr/>
        </p:nvSpPr>
        <p:spPr>
          <a:xfrm>
            <a:off x="5867400" y="4931410"/>
            <a:ext cx="6096000" cy="368300"/>
          </a:xfrm>
          <a:prstGeom prst="rect">
            <a:avLst/>
          </a:prstGeom>
          <a:noFill/>
        </p:spPr>
        <p:txBody>
          <a:bodyPr wrap="square" rtlCol="0">
            <a:spAutoFit/>
          </a:bodyPr>
          <a:lstStyle/>
          <a:p>
            <a:pPr algn="ctr"/>
            <a:r>
              <a:rPr lang="zh-CN" altLang="en-US"/>
              <a:t>图3.1　分组密码模型</a:t>
            </a:r>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分组密码简介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6584367"/>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分组密码通过代换、扩散和混淆隐藏明文规律，提高密码分析的难度。</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 代换（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Substitution）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将一个明文分组映射为唯一的密文分组，并保证该映射可逆，以便正确解密。</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分组长度为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 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时，共有2</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种可能取值；分组过小，容易受到统计分析；实际算法通常将大分组拆分为多个较小的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盒进行代换。</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 扩散（</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Diffusion）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将明文的统计特性分散到整个密文中，使：一个明文位影响多个密文位；一个密文位受多个明文位影响；明文的频率、结构等统计规律难以从密文中发现。</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9" name="文本框 8"/>
          <p:cNvSpPr txBox="1"/>
          <p:nvPr/>
        </p:nvSpPr>
        <p:spPr>
          <a:xfrm>
            <a:off x="8241030" y="5645785"/>
            <a:ext cx="6096000" cy="368300"/>
          </a:xfrm>
          <a:prstGeom prst="rect">
            <a:avLst/>
          </a:prstGeom>
          <a:noFill/>
        </p:spPr>
        <p:txBody>
          <a:bodyPr wrap="square" rtlCol="0">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分组密码的基本原理</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分组密码通过代换、扩散和混淆隐藏明文规律，提高密码分析的难度。</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 混淆（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Confusion）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使密钥与密文之间的关系复杂化，即使攻击者获得密文的统计信息，也难以推断密钥。混淆通常通过复杂的非线性代换实现。</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核心作用：</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扩散隐藏“明文与密文”的关系，混淆隐藏“密钥与密文”的关系，二者共同构成现代分组密码设计的基础。</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9" name="文本框 8"/>
          <p:cNvSpPr txBox="1"/>
          <p:nvPr/>
        </p:nvSpPr>
        <p:spPr>
          <a:xfrm>
            <a:off x="8241030" y="5645785"/>
            <a:ext cx="6096000" cy="368300"/>
          </a:xfrm>
          <a:prstGeom prst="rect">
            <a:avLst/>
          </a:prstGeom>
          <a:noFill/>
        </p:spPr>
        <p:txBody>
          <a:bodyPr wrap="square" rtlCol="0">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分组密码的基本原理</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265684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现代密码学中的分组密码体制基本上都是基于乘积和迭代来构造的。乘积通常由一系列的置换和代换构成。两种常见的分组密码结构有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 Net）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Substitution Permutation Net）。DES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分别是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网络的典型例子。</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9" name="文本框 8"/>
          <p:cNvSpPr txBox="1"/>
          <p:nvPr/>
        </p:nvSpPr>
        <p:spPr>
          <a:xfrm>
            <a:off x="8241030" y="5645785"/>
            <a:ext cx="6096000" cy="368300"/>
          </a:xfrm>
          <a:prstGeom prst="rect">
            <a:avLst/>
          </a:prstGeom>
          <a:noFill/>
        </p:spPr>
        <p:txBody>
          <a:bodyPr wrap="square" rtlCol="0">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是待加密的明文，长度为2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型分组密码的加密过程为：将明文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一分为二，设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是左边的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mbit，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是右边的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有</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(3.1)</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的长度都是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mbit；F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是一个加密函数，称为圈函数（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Round Function）；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是由密钥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产生的长度为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是按位模2加运算。密文为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是圈变换的迭代次数。</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304"/>
          <p:cNvGraphicFramePr>
            <a:graphicFrameLocks noChangeAspect="1"/>
          </p:cNvGraphicFramePr>
          <p:nvPr/>
        </p:nvGraphicFramePr>
        <p:xfrm>
          <a:off x="7696200" y="3924300"/>
          <a:ext cx="2770505" cy="704850"/>
        </p:xfrm>
        <a:graphic>
          <a:graphicData uri="http://schemas.openxmlformats.org/presentationml/2006/ole">
            <mc:AlternateContent xmlns:mc="http://schemas.openxmlformats.org/markup-compatibility/2006">
              <mc:Choice xmlns:v="urn:schemas-microsoft-com:vml" Requires="v">
                <p:oleObj spid="_x0000_s0" name="" r:id="rId1" imgW="698500" imgH="190500" progId="Equation.DSMT4">
                  <p:embed/>
                </p:oleObj>
              </mc:Choice>
              <mc:Fallback>
                <p:oleObj name="" r:id="rId1" imgW="698500" imgH="190500" progId="Equation.DSMT4">
                  <p:embed/>
                  <p:pic>
                    <p:nvPicPr>
                      <p:cNvPr id="0" name="图片 3075"/>
                      <p:cNvPicPr/>
                      <p:nvPr/>
                    </p:nvPicPr>
                    <p:blipFill>
                      <a:blip r:embed="rId2"/>
                      <a:stretch>
                        <a:fillRect/>
                      </a:stretch>
                    </p:blipFill>
                    <p:spPr>
                      <a:xfrm>
                        <a:off x="7696200" y="3924300"/>
                        <a:ext cx="2770505" cy="704850"/>
                      </a:xfrm>
                      <a:prstGeom prst="rect">
                        <a:avLst/>
                      </a:prstGeom>
                      <a:noFill/>
                      <a:ln w="38100">
                        <a:noFill/>
                        <a:miter/>
                      </a:ln>
                    </p:spPr>
                  </p:pic>
                </p:oleObj>
              </mc:Fallback>
            </mc:AlternateContent>
          </a:graphicData>
        </a:graphic>
      </p:graphicFrame>
      <p:graphicFrame>
        <p:nvGraphicFramePr>
          <p:cNvPr id="6" name="对象 -2147482303"/>
          <p:cNvGraphicFramePr>
            <a:graphicFrameLocks noChangeAspect="1"/>
          </p:cNvGraphicFramePr>
          <p:nvPr/>
        </p:nvGraphicFramePr>
        <p:xfrm>
          <a:off x="13335000" y="4070350"/>
          <a:ext cx="558800" cy="558800"/>
        </p:xfrm>
        <a:graphic>
          <a:graphicData uri="http://schemas.openxmlformats.org/presentationml/2006/ole">
            <mc:AlternateContent xmlns:mc="http://schemas.openxmlformats.org/markup-compatibility/2006">
              <mc:Choice xmlns:v="urn:schemas-microsoft-com:vml" Requires="v">
                <p:oleObj spid="_x0000_s0" name="" r:id="rId3" imgW="165100" imgH="190500" progId="Equation.DSMT4">
                  <p:embed/>
                </p:oleObj>
              </mc:Choice>
              <mc:Fallback>
                <p:oleObj name="" r:id="rId3" imgW="165100" imgH="190500" progId="Equation.DSMT4">
                  <p:embed/>
                  <p:pic>
                    <p:nvPicPr>
                      <p:cNvPr id="0" name="图片 4"/>
                      <p:cNvPicPr/>
                      <p:nvPr/>
                    </p:nvPicPr>
                    <p:blipFill>
                      <a:blip r:embed="rId4"/>
                      <a:stretch>
                        <a:fillRect/>
                      </a:stretch>
                    </p:blipFill>
                    <p:spPr>
                      <a:xfrm>
                        <a:off x="13335000" y="4070350"/>
                        <a:ext cx="558800" cy="558800"/>
                      </a:xfrm>
                      <a:prstGeom prst="rect">
                        <a:avLst/>
                      </a:prstGeom>
                      <a:noFill/>
                      <a:ln w="38100">
                        <a:noFill/>
                        <a:miter/>
                      </a:ln>
                    </p:spPr>
                  </p:pic>
                </p:oleObj>
              </mc:Fallback>
            </mc:AlternateContent>
          </a:graphicData>
        </a:graphic>
      </p:graphicFrame>
      <p:graphicFrame>
        <p:nvGraphicFramePr>
          <p:cNvPr id="8" name="对象 -2147482302"/>
          <p:cNvGraphicFramePr>
            <a:graphicFrameLocks noChangeAspect="1"/>
          </p:cNvGraphicFramePr>
          <p:nvPr/>
        </p:nvGraphicFramePr>
        <p:xfrm>
          <a:off x="3200400" y="4705350"/>
          <a:ext cx="1380490" cy="560070"/>
        </p:xfrm>
        <a:graphic>
          <a:graphicData uri="http://schemas.openxmlformats.org/presentationml/2006/ole">
            <mc:AlternateContent xmlns:mc="http://schemas.openxmlformats.org/markup-compatibility/2006">
              <mc:Choice xmlns:v="urn:schemas-microsoft-com:vml" Requires="v">
                <p:oleObj spid="_x0000_s0" name="" r:id="rId5" imgW="495300" imgH="152400" progId="Equation.DSMT4">
                  <p:embed/>
                </p:oleObj>
              </mc:Choice>
              <mc:Fallback>
                <p:oleObj name="" r:id="rId5" imgW="495300" imgH="152400" progId="Equation.DSMT4">
                  <p:embed/>
                  <p:pic>
                    <p:nvPicPr>
                      <p:cNvPr id="0" name="图片 5"/>
                      <p:cNvPicPr/>
                      <p:nvPr/>
                    </p:nvPicPr>
                    <p:blipFill>
                      <a:blip r:embed="rId6"/>
                      <a:stretch>
                        <a:fillRect/>
                      </a:stretch>
                    </p:blipFill>
                    <p:spPr>
                      <a:xfrm>
                        <a:off x="3200400" y="4705350"/>
                        <a:ext cx="1380490" cy="560070"/>
                      </a:xfrm>
                      <a:prstGeom prst="rect">
                        <a:avLst/>
                      </a:prstGeom>
                      <a:noFill/>
                      <a:ln w="38100">
                        <a:noFill/>
                        <a:miter/>
                      </a:ln>
                    </p:spPr>
                  </p:pic>
                </p:oleObj>
              </mc:Fallback>
            </mc:AlternateContent>
          </a:graphicData>
        </a:graphic>
      </p:graphicFrame>
      <p:graphicFrame>
        <p:nvGraphicFramePr>
          <p:cNvPr id="10" name="对象 -2147482301"/>
          <p:cNvGraphicFramePr>
            <a:graphicFrameLocks noChangeAspect="1"/>
          </p:cNvGraphicFramePr>
          <p:nvPr/>
        </p:nvGraphicFramePr>
        <p:xfrm>
          <a:off x="6858000" y="4991100"/>
          <a:ext cx="3799205" cy="1356360"/>
        </p:xfrm>
        <a:graphic>
          <a:graphicData uri="http://schemas.openxmlformats.org/presentationml/2006/ole">
            <mc:AlternateContent xmlns:mc="http://schemas.openxmlformats.org/markup-compatibility/2006">
              <mc:Choice xmlns:v="urn:schemas-microsoft-com:vml" Requires="v">
                <p:oleObj spid="_x0000_s0" name="" r:id="rId7" imgW="1308100" imgH="419100" progId="Equation.DSMT4">
                  <p:embed/>
                </p:oleObj>
              </mc:Choice>
              <mc:Fallback>
                <p:oleObj name="" r:id="rId7" imgW="1308100" imgH="419100" progId="Equation.DSMT4">
                  <p:embed/>
                  <p:pic>
                    <p:nvPicPr>
                      <p:cNvPr id="0" name="图片 6"/>
                      <p:cNvPicPr/>
                      <p:nvPr/>
                    </p:nvPicPr>
                    <p:blipFill>
                      <a:blip r:embed="rId8"/>
                      <a:stretch>
                        <a:fillRect/>
                      </a:stretch>
                    </p:blipFill>
                    <p:spPr>
                      <a:xfrm>
                        <a:off x="6858000" y="4991100"/>
                        <a:ext cx="3799205" cy="1356360"/>
                      </a:xfrm>
                      <a:prstGeom prst="rect">
                        <a:avLst/>
                      </a:prstGeom>
                      <a:noFill/>
                      <a:ln w="38100">
                        <a:noFill/>
                        <a:miter/>
                      </a:ln>
                    </p:spPr>
                  </p:pic>
                </p:oleObj>
              </mc:Fallback>
            </mc:AlternateContent>
          </a:graphicData>
        </a:graphic>
      </p:graphicFrame>
      <p:graphicFrame>
        <p:nvGraphicFramePr>
          <p:cNvPr id="12" name="对象 -2147482300"/>
          <p:cNvGraphicFramePr>
            <a:graphicFrameLocks noChangeAspect="1"/>
          </p:cNvGraphicFramePr>
          <p:nvPr/>
        </p:nvGraphicFramePr>
        <p:xfrm>
          <a:off x="3657600" y="6743700"/>
          <a:ext cx="482600" cy="482600"/>
        </p:xfrm>
        <a:graphic>
          <a:graphicData uri="http://schemas.openxmlformats.org/presentationml/2006/ole">
            <mc:AlternateContent xmlns:mc="http://schemas.openxmlformats.org/markup-compatibility/2006">
              <mc:Choice xmlns:v="urn:schemas-microsoft-com:vml" Requires="v">
                <p:oleObj spid="_x0000_s0" name="" r:id="rId9" imgW="139700" imgH="190500" progId="Equation.DSMT4">
                  <p:embed/>
                </p:oleObj>
              </mc:Choice>
              <mc:Fallback>
                <p:oleObj name="" r:id="rId9" imgW="139700" imgH="190500" progId="Equation.DSMT4">
                  <p:embed/>
                  <p:pic>
                    <p:nvPicPr>
                      <p:cNvPr id="0" name="图片 7"/>
                      <p:cNvPicPr/>
                      <p:nvPr/>
                    </p:nvPicPr>
                    <p:blipFill>
                      <a:blip r:embed="rId10"/>
                      <a:stretch>
                        <a:fillRect/>
                      </a:stretch>
                    </p:blipFill>
                    <p:spPr>
                      <a:xfrm>
                        <a:off x="3657600" y="6743700"/>
                        <a:ext cx="482600" cy="482600"/>
                      </a:xfrm>
                      <a:prstGeom prst="rect">
                        <a:avLst/>
                      </a:prstGeom>
                      <a:noFill/>
                      <a:ln w="38100">
                        <a:noFill/>
                        <a:miter/>
                      </a:ln>
                    </p:spPr>
                  </p:pic>
                </p:oleObj>
              </mc:Fallback>
            </mc:AlternateContent>
          </a:graphicData>
        </a:graphic>
      </p:graphicFrame>
      <p:graphicFrame>
        <p:nvGraphicFramePr>
          <p:cNvPr id="14" name="对象 -2147482299"/>
          <p:cNvGraphicFramePr>
            <a:graphicFrameLocks noChangeAspect="1"/>
          </p:cNvGraphicFramePr>
          <p:nvPr/>
        </p:nvGraphicFramePr>
        <p:xfrm>
          <a:off x="4648200" y="6713855"/>
          <a:ext cx="512445" cy="512445"/>
        </p:xfrm>
        <a:graphic>
          <a:graphicData uri="http://schemas.openxmlformats.org/presentationml/2006/ole">
            <mc:AlternateContent xmlns:mc="http://schemas.openxmlformats.org/markup-compatibility/2006">
              <mc:Choice xmlns:v="urn:schemas-microsoft-com:vml" Requires="v">
                <p:oleObj spid="_x0000_s0" name="" r:id="rId11" imgW="152400" imgH="190500" progId="Equation.DSMT4">
                  <p:embed/>
                </p:oleObj>
              </mc:Choice>
              <mc:Fallback>
                <p:oleObj name="" r:id="rId11" imgW="152400" imgH="190500" progId="Equation.DSMT4">
                  <p:embed/>
                  <p:pic>
                    <p:nvPicPr>
                      <p:cNvPr id="0" name="图片 9"/>
                      <p:cNvPicPr/>
                      <p:nvPr/>
                    </p:nvPicPr>
                    <p:blipFill>
                      <a:blip r:embed="rId12"/>
                      <a:stretch>
                        <a:fillRect/>
                      </a:stretch>
                    </p:blipFill>
                    <p:spPr>
                      <a:xfrm>
                        <a:off x="4648200" y="6713855"/>
                        <a:ext cx="512445" cy="512445"/>
                      </a:xfrm>
                      <a:prstGeom prst="rect">
                        <a:avLst/>
                      </a:prstGeom>
                      <a:noFill/>
                      <a:ln w="38100">
                        <a:noFill/>
                        <a:miter/>
                      </a:ln>
                    </p:spPr>
                  </p:pic>
                </p:oleObj>
              </mc:Fallback>
            </mc:AlternateContent>
          </a:graphicData>
        </a:graphic>
      </p:graphicFrame>
      <p:graphicFrame>
        <p:nvGraphicFramePr>
          <p:cNvPr id="16" name="对象 -2147482298"/>
          <p:cNvGraphicFramePr>
            <a:graphicFrameLocks noChangeAspect="1"/>
          </p:cNvGraphicFramePr>
          <p:nvPr/>
        </p:nvGraphicFramePr>
        <p:xfrm>
          <a:off x="4645025" y="7353300"/>
          <a:ext cx="515620" cy="515620"/>
        </p:xfrm>
        <a:graphic>
          <a:graphicData uri="http://schemas.openxmlformats.org/presentationml/2006/ole">
            <mc:AlternateContent xmlns:mc="http://schemas.openxmlformats.org/markup-compatibility/2006">
              <mc:Choice xmlns:v="urn:schemas-microsoft-com:vml" Requires="v">
                <p:oleObj spid="_x0000_s0" name="" r:id="rId13" imgW="165100" imgH="190500" progId="Equation.DSMT4">
                  <p:embed/>
                </p:oleObj>
              </mc:Choice>
              <mc:Fallback>
                <p:oleObj name="" r:id="rId13" imgW="165100" imgH="190500" progId="Equation.DSMT4">
                  <p:embed/>
                  <p:pic>
                    <p:nvPicPr>
                      <p:cNvPr id="0" name="图片 10"/>
                      <p:cNvPicPr/>
                      <p:nvPr/>
                    </p:nvPicPr>
                    <p:blipFill>
                      <a:blip r:embed="rId14"/>
                      <a:stretch>
                        <a:fillRect/>
                      </a:stretch>
                    </p:blipFill>
                    <p:spPr>
                      <a:xfrm>
                        <a:off x="4645025" y="7353300"/>
                        <a:ext cx="515620" cy="515620"/>
                      </a:xfrm>
                      <a:prstGeom prst="rect">
                        <a:avLst/>
                      </a:prstGeom>
                      <a:noFill/>
                      <a:ln w="38100">
                        <a:noFill/>
                        <a:miter/>
                      </a:ln>
                    </p:spPr>
                  </p:pic>
                </p:oleObj>
              </mc:Fallback>
            </mc:AlternateContent>
          </a:graphicData>
        </a:graphic>
      </p:graphicFrame>
      <p:graphicFrame>
        <p:nvGraphicFramePr>
          <p:cNvPr id="18" name="对象 -2147482297"/>
          <p:cNvGraphicFramePr>
            <a:graphicFrameLocks noChangeAspect="1"/>
          </p:cNvGraphicFramePr>
          <p:nvPr/>
        </p:nvGraphicFramePr>
        <p:xfrm>
          <a:off x="12801600" y="7353300"/>
          <a:ext cx="472440" cy="472440"/>
        </p:xfrm>
        <a:graphic>
          <a:graphicData uri="http://schemas.openxmlformats.org/presentationml/2006/ole">
            <mc:AlternateContent xmlns:mc="http://schemas.openxmlformats.org/markup-compatibility/2006">
              <mc:Choice xmlns:v="urn:schemas-microsoft-com:vml" Requires="v">
                <p:oleObj spid="_x0000_s0" name="" r:id="rId15" imgW="152400" imgH="152400" progId="Equation.DSMT4">
                  <p:embed/>
                </p:oleObj>
              </mc:Choice>
              <mc:Fallback>
                <p:oleObj name="" r:id="rId15" imgW="152400" imgH="152400" progId="Equation.DSMT4">
                  <p:embed/>
                  <p:pic>
                    <p:nvPicPr>
                      <p:cNvPr id="0" name="图片 11"/>
                      <p:cNvPicPr/>
                      <p:nvPr/>
                    </p:nvPicPr>
                    <p:blipFill>
                      <a:blip r:embed="rId16"/>
                      <a:stretch>
                        <a:fillRect/>
                      </a:stretch>
                    </p:blipFill>
                    <p:spPr>
                      <a:xfrm>
                        <a:off x="12801600" y="7353300"/>
                        <a:ext cx="472440" cy="472440"/>
                      </a:xfrm>
                      <a:prstGeom prst="rect">
                        <a:avLst/>
                      </a:prstGeom>
                      <a:noFill/>
                      <a:ln w="38100">
                        <a:noFill/>
                        <a:miter/>
                      </a:ln>
                    </p:spPr>
                  </p:pic>
                </p:oleObj>
              </mc:Fallback>
            </mc:AlternateContent>
          </a:graphicData>
        </a:graphic>
      </p:graphicFrame>
      <p:graphicFrame>
        <p:nvGraphicFramePr>
          <p:cNvPr id="20" name="对象 -2147482296"/>
          <p:cNvGraphicFramePr>
            <a:graphicFrameLocks noChangeAspect="1"/>
          </p:cNvGraphicFramePr>
          <p:nvPr/>
        </p:nvGraphicFramePr>
        <p:xfrm>
          <a:off x="3810000" y="7995920"/>
          <a:ext cx="1210310" cy="490855"/>
        </p:xfrm>
        <a:graphic>
          <a:graphicData uri="http://schemas.openxmlformats.org/presentationml/2006/ole">
            <mc:AlternateContent xmlns:mc="http://schemas.openxmlformats.org/markup-compatibility/2006">
              <mc:Choice xmlns:v="urn:schemas-microsoft-com:vml" Requires="v">
                <p:oleObj spid="_x0000_s0" name="" r:id="rId17" imgW="482600" imgH="190500" progId="Equation.DSMT4">
                  <p:embed/>
                </p:oleObj>
              </mc:Choice>
              <mc:Fallback>
                <p:oleObj name="" r:id="rId17" imgW="482600" imgH="190500" progId="Equation.DSMT4">
                  <p:embed/>
                  <p:pic>
                    <p:nvPicPr>
                      <p:cNvPr id="0" name="图片 12"/>
                      <p:cNvPicPr/>
                      <p:nvPr/>
                    </p:nvPicPr>
                    <p:blipFill>
                      <a:blip r:embed="rId18"/>
                      <a:stretch>
                        <a:fillRect/>
                      </a:stretch>
                    </p:blipFill>
                    <p:spPr>
                      <a:xfrm>
                        <a:off x="3810000" y="7995920"/>
                        <a:ext cx="1210310" cy="490855"/>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9" name="图片 2"/>
          <p:cNvPicPr>
            <a:picLocks noChangeAspect="1"/>
          </p:cNvPicPr>
          <p:nvPr/>
        </p:nvPicPr>
        <p:blipFill>
          <a:blip r:embed="rId19">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1" name="组合 20"/>
          <p:cNvGrpSpPr/>
          <p:nvPr/>
        </p:nvGrpSpPr>
        <p:grpSpPr>
          <a:xfrm>
            <a:off x="13639786" y="733421"/>
            <a:ext cx="3700052" cy="416951"/>
            <a:chOff x="13811849" y="507954"/>
            <a:chExt cx="3700052" cy="416951"/>
          </a:xfrm>
        </p:grpSpPr>
        <p:sp>
          <p:nvSpPr>
            <p:cNvPr id="22" name="文本框 2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3" name="图片 22"/>
            <p:cNvPicPr>
              <a:picLocks noChangeAspect="1"/>
            </p:cNvPicPr>
            <p:nvPr/>
          </p:nvPicPr>
          <p:blipFill>
            <a:blip r:embed="rId20"/>
            <a:stretch>
              <a:fillRect/>
            </a:stretch>
          </p:blipFill>
          <p:spPr>
            <a:xfrm>
              <a:off x="13944600" y="877286"/>
              <a:ext cx="2771429" cy="4761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265684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型分组密码的解密过程是加密过程的逆过程。式（3.1）称为圈变换，平衡的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型分组密码的圈变换如图3.2所示。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1225" name="图片 122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96025" y="4229100"/>
            <a:ext cx="5273675" cy="3503295"/>
          </a:xfrm>
          <a:prstGeom prst="rect">
            <a:avLst/>
          </a:prstGeom>
        </p:spPr>
      </p:pic>
      <p:sp>
        <p:nvSpPr>
          <p:cNvPr id="22" name="文本框 21"/>
          <p:cNvSpPr txBox="1"/>
          <p:nvPr/>
        </p:nvSpPr>
        <p:spPr>
          <a:xfrm>
            <a:off x="5791200" y="8333740"/>
            <a:ext cx="6096000" cy="368300"/>
          </a:xfrm>
          <a:prstGeom prst="rect">
            <a:avLst/>
          </a:prstGeom>
          <a:noFill/>
        </p:spPr>
        <p:txBody>
          <a:bodyPr wrap="square" rtlCol="0">
            <a:spAutoFit/>
          </a:bodyPr>
          <a:lstStyle/>
          <a:p>
            <a:pPr algn="ctr"/>
            <a:r>
              <a:rPr lang="zh-CN" altLang="en-US"/>
              <a:t>图3.2　平衡的</a:t>
            </a:r>
            <a:r>
              <a:rPr lang="en-US" altLang="zh-CN"/>
              <a:t>Feistel</a:t>
            </a:r>
            <a:r>
              <a:rPr lang="zh-CN" altLang="en-US"/>
              <a:t>型分组密码的圈变换</a:t>
            </a:r>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3812" y="1943100"/>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2）非平衡的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是待加密的明文，长度为2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非平衡的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型分组密码的加密过程为：将明文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分成两部分，设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是左边的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是右边的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有</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(3.2)</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分为两部分，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左边的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右边的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是由密钥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产生的长度为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为圈变换，是一个从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的函数。密文为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是圈变换的迭代次数。</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295"/>
          <p:cNvGraphicFramePr>
            <a:graphicFrameLocks noChangeAspect="1"/>
          </p:cNvGraphicFramePr>
          <p:nvPr/>
        </p:nvGraphicFramePr>
        <p:xfrm>
          <a:off x="8763000" y="3390900"/>
          <a:ext cx="2388235" cy="607695"/>
        </p:xfrm>
        <a:graphic>
          <a:graphicData uri="http://schemas.openxmlformats.org/presentationml/2006/ole">
            <mc:AlternateContent xmlns:mc="http://schemas.openxmlformats.org/markup-compatibility/2006">
              <mc:Choice xmlns:v="urn:schemas-microsoft-com:vml" Requires="v">
                <p:oleObj spid="_x0000_s0" name="" r:id="rId1" imgW="698500" imgH="190500" progId="Equation.DSMT4">
                  <p:embed/>
                </p:oleObj>
              </mc:Choice>
              <mc:Fallback>
                <p:oleObj name="" r:id="rId1" imgW="698500" imgH="190500" progId="Equation.DSMT4">
                  <p:embed/>
                  <p:pic>
                    <p:nvPicPr>
                      <p:cNvPr id="0" name="图片 3075"/>
                      <p:cNvPicPr/>
                      <p:nvPr/>
                    </p:nvPicPr>
                    <p:blipFill>
                      <a:blip r:embed="rId2"/>
                      <a:stretch>
                        <a:fillRect/>
                      </a:stretch>
                    </p:blipFill>
                    <p:spPr>
                      <a:xfrm>
                        <a:off x="8763000" y="3390900"/>
                        <a:ext cx="2388235" cy="607695"/>
                      </a:xfrm>
                      <a:prstGeom prst="rect">
                        <a:avLst/>
                      </a:prstGeom>
                      <a:noFill/>
                      <a:ln w="38100">
                        <a:noFill/>
                        <a:miter/>
                      </a:ln>
                    </p:spPr>
                  </p:pic>
                </p:oleObj>
              </mc:Fallback>
            </mc:AlternateContent>
          </a:graphicData>
        </a:graphic>
      </p:graphicFrame>
      <p:graphicFrame>
        <p:nvGraphicFramePr>
          <p:cNvPr id="6" name="对象 -2147482294"/>
          <p:cNvGraphicFramePr>
            <a:graphicFrameLocks noChangeAspect="1"/>
          </p:cNvGraphicFramePr>
          <p:nvPr/>
        </p:nvGraphicFramePr>
        <p:xfrm>
          <a:off x="13030200" y="3390900"/>
          <a:ext cx="718185" cy="490220"/>
        </p:xfrm>
        <a:graphic>
          <a:graphicData uri="http://schemas.openxmlformats.org/presentationml/2006/ole">
            <mc:AlternateContent xmlns:mc="http://schemas.openxmlformats.org/markup-compatibility/2006">
              <mc:Choice xmlns:v="urn:schemas-microsoft-com:vml" Requires="v">
                <p:oleObj spid="_x0000_s0" name="" r:id="rId3" imgW="279400" imgH="190500" progId="Equation.DSMT4">
                  <p:embed/>
                </p:oleObj>
              </mc:Choice>
              <mc:Fallback>
                <p:oleObj name="" r:id="rId3" imgW="279400" imgH="190500" progId="Equation.DSMT4">
                  <p:embed/>
                  <p:pic>
                    <p:nvPicPr>
                      <p:cNvPr id="0" name="图片 4"/>
                      <p:cNvPicPr/>
                      <p:nvPr/>
                    </p:nvPicPr>
                    <p:blipFill>
                      <a:blip r:embed="rId4"/>
                      <a:stretch>
                        <a:fillRect/>
                      </a:stretch>
                    </p:blipFill>
                    <p:spPr>
                      <a:xfrm>
                        <a:off x="13030200" y="3390900"/>
                        <a:ext cx="718185" cy="490220"/>
                      </a:xfrm>
                      <a:prstGeom prst="rect">
                        <a:avLst/>
                      </a:prstGeom>
                      <a:noFill/>
                      <a:ln w="38100">
                        <a:noFill/>
                        <a:miter/>
                      </a:ln>
                    </p:spPr>
                  </p:pic>
                </p:oleObj>
              </mc:Fallback>
            </mc:AlternateContent>
          </a:graphicData>
        </a:graphic>
      </p:graphicFrame>
      <p:graphicFrame>
        <p:nvGraphicFramePr>
          <p:cNvPr id="8" name="对象 -2147482293"/>
          <p:cNvGraphicFramePr>
            <a:graphicFrameLocks noChangeAspect="1"/>
          </p:cNvGraphicFramePr>
          <p:nvPr/>
        </p:nvGraphicFramePr>
        <p:xfrm>
          <a:off x="14020800" y="3314700"/>
          <a:ext cx="657225" cy="657225"/>
        </p:xfrm>
        <a:graphic>
          <a:graphicData uri="http://schemas.openxmlformats.org/presentationml/2006/ole">
            <mc:AlternateContent xmlns:mc="http://schemas.openxmlformats.org/markup-compatibility/2006">
              <mc:Choice xmlns:v="urn:schemas-microsoft-com:vml" Requires="v">
                <p:oleObj spid="_x0000_s0" name="" r:id="rId5" imgW="165100" imgH="190500" progId="Equation.DSMT4">
                  <p:embed/>
                </p:oleObj>
              </mc:Choice>
              <mc:Fallback>
                <p:oleObj name="" r:id="rId5" imgW="165100" imgH="190500" progId="Equation.DSMT4">
                  <p:embed/>
                  <p:pic>
                    <p:nvPicPr>
                      <p:cNvPr id="0" name="图片 5"/>
                      <p:cNvPicPr/>
                      <p:nvPr/>
                    </p:nvPicPr>
                    <p:blipFill>
                      <a:blip r:embed="rId6"/>
                      <a:stretch>
                        <a:fillRect/>
                      </a:stretch>
                    </p:blipFill>
                    <p:spPr>
                      <a:xfrm>
                        <a:off x="14020800" y="3314700"/>
                        <a:ext cx="657225" cy="657225"/>
                      </a:xfrm>
                      <a:prstGeom prst="rect">
                        <a:avLst/>
                      </a:prstGeom>
                      <a:noFill/>
                      <a:ln w="38100">
                        <a:noFill/>
                        <a:miter/>
                      </a:ln>
                    </p:spPr>
                  </p:pic>
                </p:oleObj>
              </mc:Fallback>
            </mc:AlternateContent>
          </a:graphicData>
        </a:graphic>
      </p:graphicFrame>
      <p:graphicFrame>
        <p:nvGraphicFramePr>
          <p:cNvPr id="10" name="对象 -2147482292"/>
          <p:cNvGraphicFramePr>
            <a:graphicFrameLocks noChangeAspect="1"/>
          </p:cNvGraphicFramePr>
          <p:nvPr/>
        </p:nvGraphicFramePr>
        <p:xfrm>
          <a:off x="1981200" y="4076700"/>
          <a:ext cx="689610" cy="470535"/>
        </p:xfrm>
        <a:graphic>
          <a:graphicData uri="http://schemas.openxmlformats.org/presentationml/2006/ole">
            <mc:AlternateContent xmlns:mc="http://schemas.openxmlformats.org/markup-compatibility/2006">
              <mc:Choice xmlns:v="urn:schemas-microsoft-com:vml" Requires="v">
                <p:oleObj spid="_x0000_s0" name="" r:id="rId7" imgW="292100" imgH="190500" progId="Equation.DSMT4">
                  <p:embed/>
                </p:oleObj>
              </mc:Choice>
              <mc:Fallback>
                <p:oleObj name="" r:id="rId7" imgW="292100" imgH="190500" progId="Equation.DSMT4">
                  <p:embed/>
                  <p:pic>
                    <p:nvPicPr>
                      <p:cNvPr id="0" name="图片 6"/>
                      <p:cNvPicPr/>
                      <p:nvPr/>
                    </p:nvPicPr>
                    <p:blipFill>
                      <a:blip r:embed="rId8"/>
                      <a:stretch>
                        <a:fillRect/>
                      </a:stretch>
                    </p:blipFill>
                    <p:spPr>
                      <a:xfrm>
                        <a:off x="1981200" y="4076700"/>
                        <a:ext cx="689610" cy="470535"/>
                      </a:xfrm>
                      <a:prstGeom prst="rect">
                        <a:avLst/>
                      </a:prstGeom>
                      <a:noFill/>
                      <a:ln w="38100">
                        <a:noFill/>
                        <a:miter/>
                      </a:ln>
                    </p:spPr>
                  </p:pic>
                </p:oleObj>
              </mc:Fallback>
            </mc:AlternateContent>
          </a:graphicData>
        </a:graphic>
      </p:graphicFrame>
      <p:graphicFrame>
        <p:nvGraphicFramePr>
          <p:cNvPr id="12" name="对象 -2147482291"/>
          <p:cNvGraphicFramePr>
            <a:graphicFrameLocks noChangeAspect="1"/>
          </p:cNvGraphicFramePr>
          <p:nvPr/>
        </p:nvGraphicFramePr>
        <p:xfrm>
          <a:off x="2895600" y="4048125"/>
          <a:ext cx="1825625" cy="527050"/>
        </p:xfrm>
        <a:graphic>
          <a:graphicData uri="http://schemas.openxmlformats.org/presentationml/2006/ole">
            <mc:AlternateContent xmlns:mc="http://schemas.openxmlformats.org/markup-compatibility/2006">
              <mc:Choice xmlns:v="urn:schemas-microsoft-com:vml" Requires="v">
                <p:oleObj spid="_x0000_s0" name="" r:id="rId9" imgW="673100" imgH="190500" progId="Equation.DSMT4">
                  <p:embed/>
                </p:oleObj>
              </mc:Choice>
              <mc:Fallback>
                <p:oleObj name="" r:id="rId9" imgW="673100" imgH="190500" progId="Equation.DSMT4">
                  <p:embed/>
                  <p:pic>
                    <p:nvPicPr>
                      <p:cNvPr id="0" name="图片 7"/>
                      <p:cNvPicPr/>
                      <p:nvPr/>
                    </p:nvPicPr>
                    <p:blipFill>
                      <a:blip r:embed="rId10"/>
                      <a:stretch>
                        <a:fillRect/>
                      </a:stretch>
                    </p:blipFill>
                    <p:spPr>
                      <a:xfrm>
                        <a:off x="2895600" y="4048125"/>
                        <a:ext cx="1825625" cy="527050"/>
                      </a:xfrm>
                      <a:prstGeom prst="rect">
                        <a:avLst/>
                      </a:prstGeom>
                      <a:noFill/>
                      <a:ln w="38100">
                        <a:noFill/>
                        <a:miter/>
                      </a:ln>
                    </p:spPr>
                  </p:pic>
                </p:oleObj>
              </mc:Fallback>
            </mc:AlternateContent>
          </a:graphicData>
        </a:graphic>
      </p:graphicFrame>
      <p:graphicFrame>
        <p:nvGraphicFramePr>
          <p:cNvPr id="14" name="对象 -2147482290"/>
          <p:cNvGraphicFramePr>
            <a:graphicFrameLocks noChangeAspect="1"/>
          </p:cNvGraphicFramePr>
          <p:nvPr/>
        </p:nvGraphicFramePr>
        <p:xfrm>
          <a:off x="6172200" y="4076700"/>
          <a:ext cx="1100455" cy="446405"/>
        </p:xfrm>
        <a:graphic>
          <a:graphicData uri="http://schemas.openxmlformats.org/presentationml/2006/ole">
            <mc:AlternateContent xmlns:mc="http://schemas.openxmlformats.org/markup-compatibility/2006">
              <mc:Choice xmlns:v="urn:schemas-microsoft-com:vml" Requires="v">
                <p:oleObj spid="_x0000_s0" name="" r:id="rId11" imgW="495300" imgH="152400" progId="Equation.DSMT4">
                  <p:embed/>
                </p:oleObj>
              </mc:Choice>
              <mc:Fallback>
                <p:oleObj name="" r:id="rId11" imgW="495300" imgH="152400" progId="Equation.DSMT4">
                  <p:embed/>
                  <p:pic>
                    <p:nvPicPr>
                      <p:cNvPr id="0" name="图片 8"/>
                      <p:cNvPicPr/>
                      <p:nvPr/>
                    </p:nvPicPr>
                    <p:blipFill>
                      <a:blip r:embed="rId12"/>
                      <a:stretch>
                        <a:fillRect/>
                      </a:stretch>
                    </p:blipFill>
                    <p:spPr>
                      <a:xfrm>
                        <a:off x="6172200" y="4076700"/>
                        <a:ext cx="1100455" cy="446405"/>
                      </a:xfrm>
                      <a:prstGeom prst="rect">
                        <a:avLst/>
                      </a:prstGeom>
                      <a:noFill/>
                      <a:ln w="38100">
                        <a:noFill/>
                        <a:miter/>
                      </a:ln>
                    </p:spPr>
                  </p:pic>
                </p:oleObj>
              </mc:Fallback>
            </mc:AlternateContent>
          </a:graphicData>
        </a:graphic>
      </p:graphicFrame>
      <p:graphicFrame>
        <p:nvGraphicFramePr>
          <p:cNvPr id="16" name="对象 -2147482289"/>
          <p:cNvGraphicFramePr>
            <a:graphicFrameLocks noChangeAspect="1"/>
          </p:cNvGraphicFramePr>
          <p:nvPr/>
        </p:nvGraphicFramePr>
        <p:xfrm>
          <a:off x="6629400" y="4762500"/>
          <a:ext cx="4450080" cy="2085340"/>
        </p:xfrm>
        <a:graphic>
          <a:graphicData uri="http://schemas.openxmlformats.org/presentationml/2006/ole">
            <mc:AlternateContent xmlns:mc="http://schemas.openxmlformats.org/markup-compatibility/2006">
              <mc:Choice xmlns:v="urn:schemas-microsoft-com:vml" Requires="v">
                <p:oleObj spid="_x0000_s0" name="" r:id="rId13" imgW="1371600" imgH="622300" progId="Equation.DSMT4">
                  <p:embed/>
                </p:oleObj>
              </mc:Choice>
              <mc:Fallback>
                <p:oleObj name="" r:id="rId13" imgW="1371600" imgH="622300" progId="Equation.DSMT4">
                  <p:embed/>
                  <p:pic>
                    <p:nvPicPr>
                      <p:cNvPr id="0" name="图片 9"/>
                      <p:cNvPicPr/>
                      <p:nvPr/>
                    </p:nvPicPr>
                    <p:blipFill>
                      <a:blip r:embed="rId14"/>
                      <a:stretch>
                        <a:fillRect/>
                      </a:stretch>
                    </p:blipFill>
                    <p:spPr>
                      <a:xfrm>
                        <a:off x="6629400" y="4762500"/>
                        <a:ext cx="4450080" cy="2085340"/>
                      </a:xfrm>
                      <a:prstGeom prst="rect">
                        <a:avLst/>
                      </a:prstGeom>
                      <a:noFill/>
                      <a:ln w="38100">
                        <a:noFill/>
                        <a:miter/>
                      </a:ln>
                    </p:spPr>
                  </p:pic>
                </p:oleObj>
              </mc:Fallback>
            </mc:AlternateContent>
          </a:graphicData>
        </a:graphic>
      </p:graphicFrame>
      <p:graphicFrame>
        <p:nvGraphicFramePr>
          <p:cNvPr id="18" name="对象 -2147482288"/>
          <p:cNvGraphicFramePr>
            <a:graphicFrameLocks noChangeAspect="1"/>
          </p:cNvGraphicFramePr>
          <p:nvPr/>
        </p:nvGraphicFramePr>
        <p:xfrm>
          <a:off x="2895600" y="7353300"/>
          <a:ext cx="488315" cy="488315"/>
        </p:xfrm>
        <a:graphic>
          <a:graphicData uri="http://schemas.openxmlformats.org/presentationml/2006/ole">
            <mc:AlternateContent xmlns:mc="http://schemas.openxmlformats.org/markup-compatibility/2006">
              <mc:Choice xmlns:v="urn:schemas-microsoft-com:vml" Requires="v">
                <p:oleObj spid="_x0000_s0" name="" r:id="rId15" imgW="177800" imgH="190500" progId="Equation.DSMT4">
                  <p:embed/>
                </p:oleObj>
              </mc:Choice>
              <mc:Fallback>
                <p:oleObj name="" r:id="rId15" imgW="177800" imgH="190500" progId="Equation.DSMT4">
                  <p:embed/>
                  <p:pic>
                    <p:nvPicPr>
                      <p:cNvPr id="0" name="图片 10"/>
                      <p:cNvPicPr/>
                      <p:nvPr/>
                    </p:nvPicPr>
                    <p:blipFill>
                      <a:blip r:embed="rId16"/>
                      <a:stretch>
                        <a:fillRect/>
                      </a:stretch>
                    </p:blipFill>
                    <p:spPr>
                      <a:xfrm>
                        <a:off x="2895600" y="7353300"/>
                        <a:ext cx="488315" cy="488315"/>
                      </a:xfrm>
                      <a:prstGeom prst="rect">
                        <a:avLst/>
                      </a:prstGeom>
                      <a:noFill/>
                      <a:ln w="38100">
                        <a:noFill/>
                        <a:miter/>
                      </a:ln>
                    </p:spPr>
                  </p:pic>
                </p:oleObj>
              </mc:Fallback>
            </mc:AlternateContent>
          </a:graphicData>
        </a:graphic>
      </p:graphicFrame>
      <p:graphicFrame>
        <p:nvGraphicFramePr>
          <p:cNvPr id="20" name="对象 -2147482287"/>
          <p:cNvGraphicFramePr>
            <a:graphicFrameLocks noChangeAspect="1"/>
          </p:cNvGraphicFramePr>
          <p:nvPr/>
        </p:nvGraphicFramePr>
        <p:xfrm>
          <a:off x="5943600" y="7353300"/>
          <a:ext cx="1405255" cy="475615"/>
        </p:xfrm>
        <a:graphic>
          <a:graphicData uri="http://schemas.openxmlformats.org/presentationml/2006/ole">
            <mc:AlternateContent xmlns:mc="http://schemas.openxmlformats.org/markup-compatibility/2006">
              <mc:Choice xmlns:v="urn:schemas-microsoft-com:vml" Requires="v">
                <p:oleObj spid="_x0000_s0" name="" r:id="rId17" imgW="520700" imgH="190500" progId="Equation.DSMT4">
                  <p:embed/>
                </p:oleObj>
              </mc:Choice>
              <mc:Fallback>
                <p:oleObj name="" r:id="rId17" imgW="520700" imgH="190500" progId="Equation.DSMT4">
                  <p:embed/>
                  <p:pic>
                    <p:nvPicPr>
                      <p:cNvPr id="0" name="图片 11"/>
                      <p:cNvPicPr/>
                      <p:nvPr/>
                    </p:nvPicPr>
                    <p:blipFill>
                      <a:blip r:embed="rId18"/>
                      <a:stretch>
                        <a:fillRect/>
                      </a:stretch>
                    </p:blipFill>
                    <p:spPr>
                      <a:xfrm>
                        <a:off x="5943600" y="7353300"/>
                        <a:ext cx="1405255" cy="475615"/>
                      </a:xfrm>
                      <a:prstGeom prst="rect">
                        <a:avLst/>
                      </a:prstGeom>
                      <a:noFill/>
                      <a:ln w="38100">
                        <a:noFill/>
                        <a:miter/>
                      </a:ln>
                    </p:spPr>
                  </p:pic>
                </p:oleObj>
              </mc:Fallback>
            </mc:AlternateContent>
          </a:graphicData>
        </a:graphic>
      </p:graphicFrame>
      <p:graphicFrame>
        <p:nvGraphicFramePr>
          <p:cNvPr id="22" name="对象 -2147482286"/>
          <p:cNvGraphicFramePr>
            <a:graphicFrameLocks noChangeAspect="1"/>
          </p:cNvGraphicFramePr>
          <p:nvPr/>
        </p:nvGraphicFramePr>
        <p:xfrm>
          <a:off x="8915400" y="7289165"/>
          <a:ext cx="552450" cy="552450"/>
        </p:xfrm>
        <a:graphic>
          <a:graphicData uri="http://schemas.openxmlformats.org/presentationml/2006/ole">
            <mc:AlternateContent xmlns:mc="http://schemas.openxmlformats.org/markup-compatibility/2006">
              <mc:Choice xmlns:v="urn:schemas-microsoft-com:vml" Requires="v">
                <p:oleObj spid="_x0000_s0" name="" r:id="rId19" imgW="139700" imgH="190500" progId="Equation.DSMT4">
                  <p:embed/>
                </p:oleObj>
              </mc:Choice>
              <mc:Fallback>
                <p:oleObj name="" r:id="rId19" imgW="139700" imgH="190500" progId="Equation.DSMT4">
                  <p:embed/>
                  <p:pic>
                    <p:nvPicPr>
                      <p:cNvPr id="0" name="图片 12"/>
                      <p:cNvPicPr/>
                      <p:nvPr/>
                    </p:nvPicPr>
                    <p:blipFill>
                      <a:blip r:embed="rId20"/>
                      <a:stretch>
                        <a:fillRect/>
                      </a:stretch>
                    </p:blipFill>
                    <p:spPr>
                      <a:xfrm>
                        <a:off x="8915400" y="7289165"/>
                        <a:ext cx="552450" cy="552450"/>
                      </a:xfrm>
                      <a:prstGeom prst="rect">
                        <a:avLst/>
                      </a:prstGeom>
                      <a:noFill/>
                      <a:ln w="38100">
                        <a:noFill/>
                        <a:miter/>
                      </a:ln>
                    </p:spPr>
                  </p:pic>
                </p:oleObj>
              </mc:Fallback>
            </mc:AlternateContent>
          </a:graphicData>
        </a:graphic>
      </p:graphicFrame>
      <p:graphicFrame>
        <p:nvGraphicFramePr>
          <p:cNvPr id="24" name="对象 -2147481941"/>
          <p:cNvGraphicFramePr>
            <a:graphicFrameLocks noChangeAspect="1"/>
          </p:cNvGraphicFramePr>
          <p:nvPr/>
        </p:nvGraphicFramePr>
        <p:xfrm>
          <a:off x="9829800" y="7289165"/>
          <a:ext cx="552450" cy="552450"/>
        </p:xfrm>
        <a:graphic>
          <a:graphicData uri="http://schemas.openxmlformats.org/presentationml/2006/ole">
            <mc:AlternateContent xmlns:mc="http://schemas.openxmlformats.org/markup-compatibility/2006">
              <mc:Choice xmlns:v="urn:schemas-microsoft-com:vml" Requires="v">
                <p:oleObj spid="_x0000_s0" name="" r:id="rId21" imgW="177800" imgH="190500" progId="Equation.DSMT4">
                  <p:embed/>
                </p:oleObj>
              </mc:Choice>
              <mc:Fallback>
                <p:oleObj name="" r:id="rId21" imgW="177800" imgH="190500" progId="Equation.DSMT4">
                  <p:embed/>
                  <p:pic>
                    <p:nvPicPr>
                      <p:cNvPr id="0" name="图片 13"/>
                      <p:cNvPicPr/>
                      <p:nvPr/>
                    </p:nvPicPr>
                    <p:blipFill>
                      <a:blip r:embed="rId22"/>
                      <a:stretch>
                        <a:fillRect/>
                      </a:stretch>
                    </p:blipFill>
                    <p:spPr>
                      <a:xfrm>
                        <a:off x="9829800" y="7289165"/>
                        <a:ext cx="552450" cy="552450"/>
                      </a:xfrm>
                      <a:prstGeom prst="rect">
                        <a:avLst/>
                      </a:prstGeom>
                      <a:noFill/>
                      <a:ln w="38100">
                        <a:noFill/>
                        <a:miter/>
                      </a:ln>
                    </p:spPr>
                  </p:pic>
                </p:oleObj>
              </mc:Fallback>
            </mc:AlternateContent>
          </a:graphicData>
        </a:graphic>
      </p:graphicFrame>
      <p:graphicFrame>
        <p:nvGraphicFramePr>
          <p:cNvPr id="26" name="对象 -2147482284"/>
          <p:cNvGraphicFramePr>
            <a:graphicFrameLocks noChangeAspect="1"/>
          </p:cNvGraphicFramePr>
          <p:nvPr/>
        </p:nvGraphicFramePr>
        <p:xfrm>
          <a:off x="12877800" y="7353300"/>
          <a:ext cx="505460" cy="505460"/>
        </p:xfrm>
        <a:graphic>
          <a:graphicData uri="http://schemas.openxmlformats.org/presentationml/2006/ole">
            <mc:AlternateContent xmlns:mc="http://schemas.openxmlformats.org/markup-compatibility/2006">
              <mc:Choice xmlns:v="urn:schemas-microsoft-com:vml" Requires="v">
                <p:oleObj spid="_x0000_s0" name="" r:id="rId23" imgW="152400" imgH="190500" progId="Equation.DSMT4">
                  <p:embed/>
                </p:oleObj>
              </mc:Choice>
              <mc:Fallback>
                <p:oleObj name="" r:id="rId23" imgW="152400" imgH="190500" progId="Equation.DSMT4">
                  <p:embed/>
                  <p:pic>
                    <p:nvPicPr>
                      <p:cNvPr id="0" name="图片 14"/>
                      <p:cNvPicPr/>
                      <p:nvPr/>
                    </p:nvPicPr>
                    <p:blipFill>
                      <a:blip r:embed="rId24"/>
                      <a:stretch>
                        <a:fillRect/>
                      </a:stretch>
                    </p:blipFill>
                    <p:spPr>
                      <a:xfrm>
                        <a:off x="12877800" y="7353300"/>
                        <a:ext cx="505460" cy="505460"/>
                      </a:xfrm>
                      <a:prstGeom prst="rect">
                        <a:avLst/>
                      </a:prstGeom>
                      <a:noFill/>
                      <a:ln w="38100">
                        <a:noFill/>
                        <a:miter/>
                      </a:ln>
                    </p:spPr>
                  </p:pic>
                </p:oleObj>
              </mc:Fallback>
            </mc:AlternateContent>
          </a:graphicData>
        </a:graphic>
      </p:graphicFrame>
      <p:graphicFrame>
        <p:nvGraphicFramePr>
          <p:cNvPr id="28" name="对象 -2147481941"/>
          <p:cNvGraphicFramePr>
            <a:graphicFrameLocks noChangeAspect="1"/>
          </p:cNvGraphicFramePr>
          <p:nvPr/>
        </p:nvGraphicFramePr>
        <p:xfrm>
          <a:off x="13944600" y="7306310"/>
          <a:ext cx="552450" cy="552450"/>
        </p:xfrm>
        <a:graphic>
          <a:graphicData uri="http://schemas.openxmlformats.org/presentationml/2006/ole">
            <mc:AlternateContent xmlns:mc="http://schemas.openxmlformats.org/markup-compatibility/2006">
              <mc:Choice xmlns:v="urn:schemas-microsoft-com:vml" Requires="v">
                <p:oleObj spid="_x0000_s0" name="" r:id="rId25" imgW="177800" imgH="190500" progId="Equation.DSMT4">
                  <p:embed/>
                </p:oleObj>
              </mc:Choice>
              <mc:Fallback>
                <p:oleObj name="" r:id="rId25" imgW="177800" imgH="190500" progId="Equation.DSMT4">
                  <p:embed/>
                  <p:pic>
                    <p:nvPicPr>
                      <p:cNvPr id="0" name="图片 13"/>
                      <p:cNvPicPr/>
                      <p:nvPr/>
                    </p:nvPicPr>
                    <p:blipFill>
                      <a:blip r:embed="rId22"/>
                      <a:stretch>
                        <a:fillRect/>
                      </a:stretch>
                    </p:blipFill>
                    <p:spPr>
                      <a:xfrm>
                        <a:off x="13944600" y="7306310"/>
                        <a:ext cx="552450" cy="552450"/>
                      </a:xfrm>
                      <a:prstGeom prst="rect">
                        <a:avLst/>
                      </a:prstGeom>
                      <a:noFill/>
                      <a:ln w="38100">
                        <a:noFill/>
                        <a:miter/>
                      </a:ln>
                    </p:spPr>
                  </p:pic>
                </p:oleObj>
              </mc:Fallback>
            </mc:AlternateContent>
          </a:graphicData>
        </a:graphic>
      </p:graphicFrame>
      <p:graphicFrame>
        <p:nvGraphicFramePr>
          <p:cNvPr id="33" name="对象 -2147482281"/>
          <p:cNvGraphicFramePr>
            <a:graphicFrameLocks noChangeAspect="1"/>
          </p:cNvGraphicFramePr>
          <p:nvPr/>
        </p:nvGraphicFramePr>
        <p:xfrm>
          <a:off x="2286000" y="7962900"/>
          <a:ext cx="589915" cy="589915"/>
        </p:xfrm>
        <a:graphic>
          <a:graphicData uri="http://schemas.openxmlformats.org/presentationml/2006/ole">
            <mc:AlternateContent xmlns:mc="http://schemas.openxmlformats.org/markup-compatibility/2006">
              <mc:Choice xmlns:v="urn:schemas-microsoft-com:vml" Requires="v">
                <p:oleObj spid="_x0000_s0" name="" r:id="rId26" imgW="165100" imgH="190500" progId="Equation.DSMT4">
                  <p:embed/>
                </p:oleObj>
              </mc:Choice>
              <mc:Fallback>
                <p:oleObj name="" r:id="rId26" imgW="165100" imgH="190500" progId="Equation.DSMT4">
                  <p:embed/>
                  <p:pic>
                    <p:nvPicPr>
                      <p:cNvPr id="0" name="图片 17"/>
                      <p:cNvPicPr/>
                      <p:nvPr/>
                    </p:nvPicPr>
                    <p:blipFill>
                      <a:blip r:embed="rId27"/>
                      <a:stretch>
                        <a:fillRect/>
                      </a:stretch>
                    </p:blipFill>
                    <p:spPr>
                      <a:xfrm>
                        <a:off x="2286000" y="7962900"/>
                        <a:ext cx="589915" cy="589915"/>
                      </a:xfrm>
                      <a:prstGeom prst="rect">
                        <a:avLst/>
                      </a:prstGeom>
                      <a:noFill/>
                      <a:ln w="38100">
                        <a:noFill/>
                        <a:miter/>
                      </a:ln>
                    </p:spPr>
                  </p:pic>
                </p:oleObj>
              </mc:Fallback>
            </mc:AlternateContent>
          </a:graphicData>
        </a:graphic>
      </p:graphicFrame>
      <p:graphicFrame>
        <p:nvGraphicFramePr>
          <p:cNvPr id="35" name="对象 -2147482280"/>
          <p:cNvGraphicFramePr>
            <a:graphicFrameLocks noChangeAspect="1"/>
          </p:cNvGraphicFramePr>
          <p:nvPr/>
        </p:nvGraphicFramePr>
        <p:xfrm>
          <a:off x="14859000" y="7886700"/>
          <a:ext cx="2087245" cy="620395"/>
        </p:xfrm>
        <a:graphic>
          <a:graphicData uri="http://schemas.openxmlformats.org/presentationml/2006/ole">
            <mc:AlternateContent xmlns:mc="http://schemas.openxmlformats.org/markup-compatibility/2006">
              <mc:Choice xmlns:v="urn:schemas-microsoft-com:vml" Requires="v">
                <p:oleObj spid="_x0000_s0" name="" r:id="rId28" imgW="939165" imgH="241300" progId="Equation.DSMT4">
                  <p:embed/>
                </p:oleObj>
              </mc:Choice>
              <mc:Fallback>
                <p:oleObj name="" r:id="rId28" imgW="939165" imgH="241300" progId="Equation.DSMT4">
                  <p:embed/>
                  <p:pic>
                    <p:nvPicPr>
                      <p:cNvPr id="0" name="图片 18"/>
                      <p:cNvPicPr/>
                      <p:nvPr/>
                    </p:nvPicPr>
                    <p:blipFill>
                      <a:blip r:embed="rId29"/>
                      <a:stretch>
                        <a:fillRect/>
                      </a:stretch>
                    </p:blipFill>
                    <p:spPr>
                      <a:xfrm>
                        <a:off x="14859000" y="7886700"/>
                        <a:ext cx="2087245" cy="620395"/>
                      </a:xfrm>
                      <a:prstGeom prst="rect">
                        <a:avLst/>
                      </a:prstGeom>
                      <a:noFill/>
                      <a:ln w="38100">
                        <a:noFill/>
                        <a:miter/>
                      </a:ln>
                    </p:spPr>
                  </p:pic>
                </p:oleObj>
              </mc:Fallback>
            </mc:AlternateContent>
          </a:graphicData>
        </a:graphic>
      </p:graphicFrame>
      <p:graphicFrame>
        <p:nvGraphicFramePr>
          <p:cNvPr id="37" name="对象 -2147482279"/>
          <p:cNvGraphicFramePr>
            <a:graphicFrameLocks noChangeAspect="1"/>
          </p:cNvGraphicFramePr>
          <p:nvPr/>
        </p:nvGraphicFramePr>
        <p:xfrm>
          <a:off x="1998980" y="8648700"/>
          <a:ext cx="896620" cy="532765"/>
        </p:xfrm>
        <a:graphic>
          <a:graphicData uri="http://schemas.openxmlformats.org/presentationml/2006/ole">
            <mc:AlternateContent xmlns:mc="http://schemas.openxmlformats.org/markup-compatibility/2006">
              <mc:Choice xmlns:v="urn:schemas-microsoft-com:vml" Requires="v">
                <p:oleObj spid="_x0000_s0" name="" r:id="rId30" imgW="457200" imgH="241300" progId="Equation.DSMT4">
                  <p:embed/>
                </p:oleObj>
              </mc:Choice>
              <mc:Fallback>
                <p:oleObj name="" r:id="rId30" imgW="457200" imgH="241300" progId="Equation.DSMT4">
                  <p:embed/>
                  <p:pic>
                    <p:nvPicPr>
                      <p:cNvPr id="0" name="图片 19"/>
                      <p:cNvPicPr/>
                      <p:nvPr/>
                    </p:nvPicPr>
                    <p:blipFill>
                      <a:blip r:embed="rId31"/>
                      <a:stretch>
                        <a:fillRect/>
                      </a:stretch>
                    </p:blipFill>
                    <p:spPr>
                      <a:xfrm>
                        <a:off x="1998980" y="8648700"/>
                        <a:ext cx="896620" cy="532765"/>
                      </a:xfrm>
                      <a:prstGeom prst="rect">
                        <a:avLst/>
                      </a:prstGeom>
                      <a:noFill/>
                      <a:ln w="38100">
                        <a:noFill/>
                        <a:miter/>
                      </a:ln>
                    </p:spPr>
                  </p:pic>
                </p:oleObj>
              </mc:Fallback>
            </mc:AlternateContent>
          </a:graphicData>
        </a:graphic>
      </p:graphicFrame>
      <p:graphicFrame>
        <p:nvGraphicFramePr>
          <p:cNvPr id="39" name="对象 -2147482278"/>
          <p:cNvGraphicFramePr>
            <a:graphicFrameLocks noChangeAspect="1"/>
          </p:cNvGraphicFramePr>
          <p:nvPr/>
        </p:nvGraphicFramePr>
        <p:xfrm>
          <a:off x="6096000" y="8648700"/>
          <a:ext cx="1497965" cy="506730"/>
        </p:xfrm>
        <a:graphic>
          <a:graphicData uri="http://schemas.openxmlformats.org/presentationml/2006/ole">
            <mc:AlternateContent xmlns:mc="http://schemas.openxmlformats.org/markup-compatibility/2006">
              <mc:Choice xmlns:v="urn:schemas-microsoft-com:vml" Requires="v">
                <p:oleObj spid="_x0000_s0" name="" r:id="rId32" imgW="584200" imgH="203200" progId="Equation.DSMT4">
                  <p:embed/>
                </p:oleObj>
              </mc:Choice>
              <mc:Fallback>
                <p:oleObj name="" r:id="rId32" imgW="584200" imgH="203200" progId="Equation.DSMT4">
                  <p:embed/>
                  <p:pic>
                    <p:nvPicPr>
                      <p:cNvPr id="0" name="图片 20"/>
                      <p:cNvPicPr/>
                      <p:nvPr/>
                    </p:nvPicPr>
                    <p:blipFill>
                      <a:blip r:embed="rId33"/>
                      <a:stretch>
                        <a:fillRect/>
                      </a:stretch>
                    </p:blipFill>
                    <p:spPr>
                      <a:xfrm>
                        <a:off x="6096000" y="8648700"/>
                        <a:ext cx="1497965" cy="50673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9" name="图片 2"/>
          <p:cNvPicPr>
            <a:picLocks noChangeAspect="1"/>
          </p:cNvPicPr>
          <p:nvPr/>
        </p:nvPicPr>
        <p:blipFill>
          <a:blip r:embed="rId3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1" name="组合 20"/>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5" name="图片 24"/>
            <p:cNvPicPr>
              <a:picLocks noChangeAspect="1"/>
            </p:cNvPicPr>
            <p:nvPr/>
          </p:nvPicPr>
          <p:blipFill>
            <a:blip r:embed="rId35"/>
            <a:stretch>
              <a:fillRect/>
            </a:stretch>
          </p:blipFill>
          <p:spPr>
            <a:xfrm>
              <a:off x="13944600" y="877286"/>
              <a:ext cx="2771429" cy="47619"/>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943100"/>
            <a:ext cx="9253220"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2）非平衡的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非平衡的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型分组密码的圈变换如图3.3所示。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型分组密码的优点是加密过程与解密过程相似。在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型分组密码的加密过程的最后一轮没有进行“左右交换”，目的就是可以利用同一个算法来实现加密和解密。</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1226" name="图片 122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353800" y="2857500"/>
            <a:ext cx="4708525" cy="5013960"/>
          </a:xfrm>
          <a:prstGeom prst="rect">
            <a:avLst/>
          </a:prstGeom>
        </p:spPr>
      </p:pic>
      <p:sp>
        <p:nvSpPr>
          <p:cNvPr id="39" name="文本框 38"/>
          <p:cNvSpPr txBox="1"/>
          <p:nvPr/>
        </p:nvSpPr>
        <p:spPr>
          <a:xfrm>
            <a:off x="10659745" y="8267700"/>
            <a:ext cx="6096000" cy="368300"/>
          </a:xfrm>
          <a:prstGeom prst="rect">
            <a:avLst/>
          </a:prstGeom>
          <a:noFill/>
        </p:spPr>
        <p:txBody>
          <a:bodyPr wrap="square" rtlCol="0">
            <a:spAutoFit/>
          </a:bodyPr>
          <a:lstStyle/>
          <a:p>
            <a:pPr algn="ctr"/>
            <a:r>
              <a:rPr lang="zh-CN" altLang="en-US"/>
              <a:t>图3.3　非平衡的</a:t>
            </a:r>
            <a:r>
              <a:rPr lang="en-US" altLang="zh-CN"/>
              <a:t>Feistel</a:t>
            </a:r>
            <a:r>
              <a:rPr lang="zh-CN" altLang="en-US"/>
              <a:t>型分组密码的圈变换</a:t>
            </a:r>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943100"/>
            <a:ext cx="9635490"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型分组密码的加密思想为：设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是待加密的明文，长度为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令</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，在子密钥的控制下，对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做代换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然后做置换或可逆的线性变换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是圈变换的迭代次数。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型分组密码的圈变换如图3.4所示。在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型分组密码中，代换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一般被称为混淆层，主要起混淆作用；置换或可逆的线性变换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一般被称为扩散层，主要起扩散作用。</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网络可以看作</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Feistel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网络的推广，但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型分组密码的加密过程与解密过程一般不相似，即不能用同一个算法来实现加密和解密。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39" name="文本框 38"/>
          <p:cNvSpPr txBox="1"/>
          <p:nvPr/>
        </p:nvSpPr>
        <p:spPr>
          <a:xfrm>
            <a:off x="10659745" y="8267700"/>
            <a:ext cx="6096000" cy="368300"/>
          </a:xfrm>
          <a:prstGeom prst="rect">
            <a:avLst/>
          </a:prstGeom>
          <a:noFill/>
        </p:spPr>
        <p:txBody>
          <a:bodyPr wrap="square" rtlCol="0">
            <a:spAutoFit/>
          </a:bodyPr>
          <a:lstStyle/>
          <a:p>
            <a:pPr algn="ctr"/>
            <a:r>
              <a:rPr lang="zh-CN" altLang="en-US"/>
              <a:t>图3.4　</a:t>
            </a:r>
            <a:r>
              <a:rPr lang="en-US" altLang="zh-CN"/>
              <a:t>SP</a:t>
            </a:r>
            <a:r>
              <a:rPr lang="zh-CN" altLang="en-US"/>
              <a:t>型分组密码的圈变换</a:t>
            </a:r>
            <a:endParaRPr lang="zh-CN" altLang="en-US"/>
          </a:p>
        </p:txBody>
      </p:sp>
      <p:graphicFrame>
        <p:nvGraphicFramePr>
          <p:cNvPr id="5" name="对象 -2147482277"/>
          <p:cNvGraphicFramePr>
            <a:graphicFrameLocks noChangeAspect="1"/>
          </p:cNvGraphicFramePr>
          <p:nvPr/>
        </p:nvGraphicFramePr>
        <p:xfrm>
          <a:off x="6477000" y="3314700"/>
          <a:ext cx="1203325" cy="608965"/>
        </p:xfrm>
        <a:graphic>
          <a:graphicData uri="http://schemas.openxmlformats.org/presentationml/2006/ole">
            <mc:AlternateContent xmlns:mc="http://schemas.openxmlformats.org/markup-compatibility/2006">
              <mc:Choice xmlns:v="urn:schemas-microsoft-com:vml" Requires="v">
                <p:oleObj spid="_x0000_s0" name="" r:id="rId1" imgW="393700" imgH="190500" progId="Equation.DSMT4">
                  <p:embed/>
                </p:oleObj>
              </mc:Choice>
              <mc:Fallback>
                <p:oleObj name="" r:id="rId1" imgW="393700" imgH="190500" progId="Equation.DSMT4">
                  <p:embed/>
                  <p:pic>
                    <p:nvPicPr>
                      <p:cNvPr id="0" name="图片 3075"/>
                      <p:cNvPicPr/>
                      <p:nvPr/>
                    </p:nvPicPr>
                    <p:blipFill>
                      <a:blip r:embed="rId2"/>
                      <a:stretch>
                        <a:fillRect/>
                      </a:stretch>
                    </p:blipFill>
                    <p:spPr>
                      <a:xfrm>
                        <a:off x="6477000" y="3314700"/>
                        <a:ext cx="1203325" cy="608965"/>
                      </a:xfrm>
                      <a:prstGeom prst="rect">
                        <a:avLst/>
                      </a:prstGeom>
                      <a:noFill/>
                      <a:ln w="38100">
                        <a:noFill/>
                        <a:miter/>
                      </a:ln>
                    </p:spPr>
                  </p:pic>
                </p:oleObj>
              </mc:Fallback>
            </mc:AlternateContent>
          </a:graphicData>
        </a:graphic>
      </p:graphicFrame>
      <p:graphicFrame>
        <p:nvGraphicFramePr>
          <p:cNvPr id="6" name="对象 -2147482276"/>
          <p:cNvGraphicFramePr>
            <a:graphicFrameLocks noChangeAspect="1"/>
          </p:cNvGraphicFramePr>
          <p:nvPr/>
        </p:nvGraphicFramePr>
        <p:xfrm>
          <a:off x="9261475" y="3390900"/>
          <a:ext cx="1325880" cy="537845"/>
        </p:xfrm>
        <a:graphic>
          <a:graphicData uri="http://schemas.openxmlformats.org/presentationml/2006/ole">
            <mc:AlternateContent xmlns:mc="http://schemas.openxmlformats.org/markup-compatibility/2006">
              <mc:Choice xmlns:v="urn:schemas-microsoft-com:vml" Requires="v">
                <p:oleObj spid="_x0000_s0" name="" r:id="rId3" imgW="495300" imgH="152400" progId="Equation.DSMT4">
                  <p:embed/>
                </p:oleObj>
              </mc:Choice>
              <mc:Fallback>
                <p:oleObj name="" r:id="rId3" imgW="495300" imgH="152400" progId="Equation.DSMT4">
                  <p:embed/>
                  <p:pic>
                    <p:nvPicPr>
                      <p:cNvPr id="0" name="图片 4"/>
                      <p:cNvPicPr/>
                      <p:nvPr/>
                    </p:nvPicPr>
                    <p:blipFill>
                      <a:blip r:embed="rId4"/>
                      <a:stretch>
                        <a:fillRect/>
                      </a:stretch>
                    </p:blipFill>
                    <p:spPr>
                      <a:xfrm>
                        <a:off x="9261475" y="3390900"/>
                        <a:ext cx="1325880" cy="537845"/>
                      </a:xfrm>
                      <a:prstGeom prst="rect">
                        <a:avLst/>
                      </a:prstGeom>
                      <a:noFill/>
                      <a:ln w="38100">
                        <a:noFill/>
                        <a:miter/>
                      </a:ln>
                    </p:spPr>
                  </p:pic>
                </p:oleObj>
              </mc:Fallback>
            </mc:AlternateContent>
          </a:graphicData>
        </a:graphic>
      </p:graphicFrame>
      <p:graphicFrame>
        <p:nvGraphicFramePr>
          <p:cNvPr id="8" name="对象 -2147482274"/>
          <p:cNvGraphicFramePr>
            <a:graphicFrameLocks noChangeAspect="1"/>
          </p:cNvGraphicFramePr>
          <p:nvPr/>
        </p:nvGraphicFramePr>
        <p:xfrm>
          <a:off x="7239000" y="4686300"/>
          <a:ext cx="1062355" cy="537845"/>
        </p:xfrm>
        <a:graphic>
          <a:graphicData uri="http://schemas.openxmlformats.org/presentationml/2006/ole">
            <mc:AlternateContent xmlns:mc="http://schemas.openxmlformats.org/markup-compatibility/2006">
              <mc:Choice xmlns:v="urn:schemas-microsoft-com:vml" Requires="v">
                <p:oleObj spid="_x0000_s0" name="" r:id="rId5" imgW="393700" imgH="190500" progId="Equation.DSMT4">
                  <p:embed/>
                </p:oleObj>
              </mc:Choice>
              <mc:Fallback>
                <p:oleObj name="" r:id="rId5" imgW="393700" imgH="190500" progId="Equation.DSMT4">
                  <p:embed/>
                  <p:pic>
                    <p:nvPicPr>
                      <p:cNvPr id="0" name="图片 5"/>
                      <p:cNvPicPr/>
                      <p:nvPr/>
                    </p:nvPicPr>
                    <p:blipFill>
                      <a:blip r:embed="rId6"/>
                      <a:stretch>
                        <a:fillRect/>
                      </a:stretch>
                    </p:blipFill>
                    <p:spPr>
                      <a:xfrm>
                        <a:off x="7239000" y="4686300"/>
                        <a:ext cx="1062355" cy="537845"/>
                      </a:xfrm>
                      <a:prstGeom prst="rect">
                        <a:avLst/>
                      </a:prstGeom>
                      <a:noFill/>
                      <a:ln w="38100">
                        <a:noFill/>
                        <a:miter/>
                      </a:ln>
                    </p:spPr>
                  </p:pic>
                </p:oleObj>
              </mc:Fallback>
            </mc:AlternateContent>
          </a:graphicData>
        </a:graphic>
      </p:graphicFrame>
      <p:pic>
        <p:nvPicPr>
          <p:cNvPr id="1227" name="图片 12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7600" y="2845435"/>
            <a:ext cx="6384290" cy="4412615"/>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943100"/>
            <a:ext cx="15082520" cy="664273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分组密码的设计目标是：在密钥控制下，从足够大的置换集合中，快速选出安全的加密变换。</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一、安全性要求</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 分组长度足够大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扩大明文分组的取值空间，降低明文穷举和生日攻击成功的可能性。</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 密钥空间足够大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防止穷密钥搜索，同时减少弱密钥，使不同密钥具有相近的安全强度。</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 密码变换足够复杂</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充分实现扩散和混淆，提高非线性，抵抗差分分析、线性分析等已知攻击，使攻击者难以找到比穷举更有效的方法。</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分组密码的设计</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943100"/>
            <a:ext cx="15082520"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二、实用性要求</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 易于高效实现</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加、乘、移位等基本运算应便于软件、硬件及芯片实现；算法宜采用规则的模块化、多轮迭代结构。</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 控制数据扩展</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一般不增加密文长度，特殊加密技术中可允许适当的数据扩展。</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6. 减少差错传播</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传输中的局部错误应尽量只影响少量解密数据。</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设计核心：安全性与实用性的平衡</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在抵抗已知攻击的同时，尽可能实现密钥较短、存储较小、运算较快和使用方便。</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分组密码的设计</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3.1.4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3.2</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en-US" altLang="zh-CN"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92054" y="2019474"/>
            <a:ext cx="14818191" cy="265684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1977年1月15日，美国正式公布实施的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是一个众所周知的分组密码，其分组长度为64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密钥长度为56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目前尽管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已被</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所取代，但其设计思想仍然值得借鉴。下面将对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的产生、</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算法描述进行具体的阐述。</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92054" y="2019474"/>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NBS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从1973年开始研究除国防部外的其他部门计算机系统的数据加密标准，于1973年5月15日和1974年8月27日先后两次向公众发出了征求加密算法的公告。</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IBM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将自己研发的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Tuchman-Meyer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方案提交给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NIST，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经过5年的测试评定，</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NIST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最终将该方案采纳为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是密码学史上第一个被广泛应用的商用数据加密算法，同时开创了公开密码算法的先例，它的出现成为现代密码发展史上一件非常有影响力的事件，在一定程度上促进了现代密码学的发展。</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的产生</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92054" y="2019474"/>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1997年，</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DESCHALL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小组经过近4个月的努力，通过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Internet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搜索了3×1016个密钥，找出了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的密钥，恢复出了明文。美国保密局于1994年1月做出评估，决定1998年12月以后将不再使用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从现在的角度来看，</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算法的密钥长度较短，安全性无法保障，但是它曾成功地抵抗了多年的密码分析，其衍生出来的三重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算法在今天仍为一个相对安全的密码算法，而且它的基本原理和核心思想对今天的密码算法和密码工程设计者而言，仍有很好的研究和参考价值。</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的产生</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91970" y="2019300"/>
            <a:ext cx="7313930"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加密算法如图3.5所示。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算法使用56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的密钥及附加的8</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奇偶校验位。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输入64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的明文，在64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密钥的控制下产生64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的密文。设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是待加密的64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明文，其中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273"/>
          <p:cNvGraphicFramePr>
            <a:graphicFrameLocks noChangeAspect="1"/>
          </p:cNvGraphicFramePr>
          <p:nvPr/>
        </p:nvGraphicFramePr>
        <p:xfrm>
          <a:off x="3276600" y="5372100"/>
          <a:ext cx="3034030" cy="615315"/>
        </p:xfrm>
        <a:graphic>
          <a:graphicData uri="http://schemas.openxmlformats.org/presentationml/2006/ole">
            <mc:AlternateContent xmlns:mc="http://schemas.openxmlformats.org/markup-compatibility/2006">
              <mc:Choice xmlns:v="urn:schemas-microsoft-com:vml" Requires="v">
                <p:oleObj spid="_x0000_s0" name="" r:id="rId1" imgW="889000" imgH="190500" progId="Equation.DSMT4">
                  <p:embed/>
                </p:oleObj>
              </mc:Choice>
              <mc:Fallback>
                <p:oleObj name="" r:id="rId1" imgW="889000" imgH="190500" progId="Equation.DSMT4">
                  <p:embed/>
                  <p:pic>
                    <p:nvPicPr>
                      <p:cNvPr id="0" name="图片 3075"/>
                      <p:cNvPicPr/>
                      <p:nvPr/>
                    </p:nvPicPr>
                    <p:blipFill>
                      <a:blip r:embed="rId2"/>
                      <a:stretch>
                        <a:fillRect/>
                      </a:stretch>
                    </p:blipFill>
                    <p:spPr>
                      <a:xfrm>
                        <a:off x="3276600" y="5372100"/>
                        <a:ext cx="3034030" cy="615315"/>
                      </a:xfrm>
                      <a:prstGeom prst="rect">
                        <a:avLst/>
                      </a:prstGeom>
                      <a:noFill/>
                      <a:ln w="38100">
                        <a:noFill/>
                        <a:miter/>
                      </a:ln>
                    </p:spPr>
                  </p:pic>
                </p:oleObj>
              </mc:Fallback>
            </mc:AlternateContent>
          </a:graphicData>
        </a:graphic>
      </p:graphicFrame>
      <p:graphicFrame>
        <p:nvGraphicFramePr>
          <p:cNvPr id="6" name="对象 -2147482272"/>
          <p:cNvGraphicFramePr>
            <a:graphicFrameLocks noChangeAspect="1"/>
          </p:cNvGraphicFramePr>
          <p:nvPr/>
        </p:nvGraphicFramePr>
        <p:xfrm>
          <a:off x="4572000" y="6057900"/>
          <a:ext cx="3723640" cy="539115"/>
        </p:xfrm>
        <a:graphic>
          <a:graphicData uri="http://schemas.openxmlformats.org/presentationml/2006/ole">
            <mc:AlternateContent xmlns:mc="http://schemas.openxmlformats.org/markup-compatibility/2006">
              <mc:Choice xmlns:v="urn:schemas-microsoft-com:vml" Requires="v">
                <p:oleObj spid="_x0000_s0" name="" r:id="rId3" imgW="1307465" imgH="215900" progId="Equation.DSMT4">
                  <p:embed/>
                </p:oleObj>
              </mc:Choice>
              <mc:Fallback>
                <p:oleObj name="" r:id="rId3" imgW="1307465" imgH="215900" progId="Equation.DSMT4">
                  <p:embed/>
                  <p:pic>
                    <p:nvPicPr>
                      <p:cNvPr id="0" name="图片 4"/>
                      <p:cNvPicPr/>
                      <p:nvPr/>
                    </p:nvPicPr>
                    <p:blipFill>
                      <a:blip r:embed="rId4"/>
                      <a:stretch>
                        <a:fillRect/>
                      </a:stretch>
                    </p:blipFill>
                    <p:spPr>
                      <a:xfrm>
                        <a:off x="4572000" y="6057900"/>
                        <a:ext cx="3723640" cy="539115"/>
                      </a:xfrm>
                      <a:prstGeom prst="rect">
                        <a:avLst/>
                      </a:prstGeom>
                      <a:noFill/>
                      <a:ln w="38100">
                        <a:noFill/>
                        <a:miter/>
                      </a:ln>
                    </p:spPr>
                  </p:pic>
                </p:oleObj>
              </mc:Fallback>
            </mc:AlternateContent>
          </a:graphicData>
        </a:graphic>
      </p:graphicFrame>
      <p:pic>
        <p:nvPicPr>
          <p:cNvPr id="1228" name="图片 12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87000" y="1346200"/>
            <a:ext cx="5807075" cy="8069580"/>
          </a:xfrm>
          <a:prstGeom prst="rect">
            <a:avLst/>
          </a:prstGeom>
        </p:spPr>
      </p:pic>
      <p:sp>
        <p:nvSpPr>
          <p:cNvPr id="9" name="文本框 8"/>
          <p:cNvSpPr txBox="1"/>
          <p:nvPr/>
        </p:nvSpPr>
        <p:spPr>
          <a:xfrm>
            <a:off x="10210800" y="9652000"/>
            <a:ext cx="6096000" cy="368300"/>
          </a:xfrm>
          <a:prstGeom prst="rect">
            <a:avLst/>
          </a:prstGeom>
          <a:noFill/>
        </p:spPr>
        <p:txBody>
          <a:bodyPr wrap="square" rtlCol="0">
            <a:spAutoFit/>
          </a:bodyPr>
          <a:lstStyle/>
          <a:p>
            <a:pPr algn="ctr"/>
            <a:r>
              <a:rPr lang="zh-CN" altLang="en-US"/>
              <a:t>图3.5　</a:t>
            </a:r>
            <a:r>
              <a:rPr lang="en-US" altLang="zh-CN"/>
              <a:t>DES</a:t>
            </a:r>
            <a:r>
              <a:rPr lang="zh-CN" altLang="en-US"/>
              <a:t>加密算法</a:t>
            </a:r>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00" y="1790700"/>
            <a:ext cx="8207375"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首先利用初始置换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进行换位处理，打乱原来的次序，得到一个乱序的64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明文组。其次进行图3.5所示的与密钥有关的16轮迭代变换，将初始置换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后的数据分成左右两部分，左边记为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右边记为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进行在子密钥控制下的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变换，其结果记为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，得到的32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输出再与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做逐位异或（</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XOR）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运算，其结果成为下一轮的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则成为下一轮的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1228" name="图片 122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439400" y="1409700"/>
            <a:ext cx="5807075" cy="8069580"/>
          </a:xfrm>
          <a:prstGeom prst="rect">
            <a:avLst/>
          </a:prstGeom>
        </p:spPr>
      </p:pic>
      <p:sp>
        <p:nvSpPr>
          <p:cNvPr id="9" name="文本框 8"/>
          <p:cNvSpPr txBox="1"/>
          <p:nvPr/>
        </p:nvSpPr>
        <p:spPr>
          <a:xfrm>
            <a:off x="10363200" y="9715500"/>
            <a:ext cx="6096000" cy="368300"/>
          </a:xfrm>
          <a:prstGeom prst="rect">
            <a:avLst/>
          </a:prstGeom>
          <a:noFill/>
        </p:spPr>
        <p:txBody>
          <a:bodyPr wrap="square" rtlCol="0">
            <a:spAutoFit/>
          </a:bodyPr>
          <a:lstStyle/>
          <a:p>
            <a:pPr algn="ctr"/>
            <a:r>
              <a:rPr lang="zh-CN" altLang="en-US"/>
              <a:t>图3.5　</a:t>
            </a:r>
            <a:r>
              <a:rPr lang="en-US" altLang="zh-CN"/>
              <a:t>DES</a:t>
            </a:r>
            <a:r>
              <a:rPr lang="zh-CN" altLang="en-US"/>
              <a:t>加密算法</a:t>
            </a:r>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00" y="1790700"/>
            <a:ext cx="8207375" cy="398526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的运算过程与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相同，结果为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，如此循环16次，得到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。最后经过逆初始置换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的处理得到密文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Y=Y</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64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ϵ{0,1},1</a:t>
            </a:r>
            <a:r>
              <a:rPr lang="en-US" altLang="zh-CN" sz="3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字由点字典黑 2"/>
              </a:rPr>
              <a:t>≤i≤64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p:txBody>
      </p:sp>
      <p:pic>
        <p:nvPicPr>
          <p:cNvPr id="1228" name="图片 122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668000" y="1346200"/>
            <a:ext cx="5807075" cy="8069580"/>
          </a:xfrm>
          <a:prstGeom prst="rect">
            <a:avLst/>
          </a:prstGeom>
        </p:spPr>
      </p:pic>
      <p:sp>
        <p:nvSpPr>
          <p:cNvPr id="9" name="文本框 8"/>
          <p:cNvSpPr txBox="1"/>
          <p:nvPr/>
        </p:nvSpPr>
        <p:spPr>
          <a:xfrm>
            <a:off x="10591800" y="9652000"/>
            <a:ext cx="6096000" cy="368300"/>
          </a:xfrm>
          <a:prstGeom prst="rect">
            <a:avLst/>
          </a:prstGeom>
          <a:noFill/>
        </p:spPr>
        <p:txBody>
          <a:bodyPr wrap="square" rtlCol="0">
            <a:spAutoFit/>
          </a:bodyPr>
          <a:lstStyle/>
          <a:p>
            <a:pPr algn="ctr"/>
            <a:r>
              <a:rPr lang="zh-CN" altLang="en-US"/>
              <a:t>图3.5　</a:t>
            </a:r>
            <a:r>
              <a:rPr lang="en-US" altLang="zh-CN"/>
              <a:t>DES</a:t>
            </a:r>
            <a:r>
              <a:rPr lang="zh-CN" altLang="en-US"/>
              <a:t>加密算法</a:t>
            </a:r>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00" y="1485900"/>
            <a:ext cx="15539720" cy="398526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如表3.1所示，逆初始置换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如表3.2所示，不难看出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的逆。其实</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在密码方面作用不大，它们的意义在于打乱原来输入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ASCII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码字划分的关系。初始置换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用于对明文中的各位进行换位，目的在于打乱各位的次序。例如，经过初始置换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后，明文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变为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p:txBody>
      </p:sp>
      <p:sp>
        <p:nvSpPr>
          <p:cNvPr id="9" name="文本框 8"/>
          <p:cNvSpPr txBox="1"/>
          <p:nvPr/>
        </p:nvSpPr>
        <p:spPr>
          <a:xfrm>
            <a:off x="2117090" y="5524500"/>
            <a:ext cx="6096000" cy="368300"/>
          </a:xfrm>
          <a:prstGeom prst="rect">
            <a:avLst/>
          </a:prstGeom>
          <a:noFill/>
        </p:spPr>
        <p:txBody>
          <a:bodyPr wrap="square" rtlCol="0">
            <a:spAutoFit/>
          </a:bodyPr>
          <a:lstStyle/>
          <a:p>
            <a:pPr algn="ctr"/>
            <a:r>
              <a:rPr lang="zh-CN" altLang="en-US"/>
              <a:t>表3.1　初始置换</a:t>
            </a:r>
            <a:r>
              <a:rPr lang="en-US" altLang="zh-CN"/>
              <a:t>IP</a:t>
            </a:r>
            <a:endParaRPr lang="en-US" altLang="zh-CN"/>
          </a:p>
        </p:txBody>
      </p:sp>
      <p:graphicFrame>
        <p:nvGraphicFramePr>
          <p:cNvPr id="5" name="对象 -2147482254"/>
          <p:cNvGraphicFramePr>
            <a:graphicFrameLocks noChangeAspect="1"/>
          </p:cNvGraphicFramePr>
          <p:nvPr/>
        </p:nvGraphicFramePr>
        <p:xfrm>
          <a:off x="5918835" y="4914900"/>
          <a:ext cx="6558915" cy="699770"/>
        </p:xfrm>
        <a:graphic>
          <a:graphicData uri="http://schemas.openxmlformats.org/presentationml/2006/ole">
            <mc:AlternateContent xmlns:mc="http://schemas.openxmlformats.org/markup-compatibility/2006">
              <mc:Choice xmlns:v="urn:schemas-microsoft-com:vml" Requires="v">
                <p:oleObj spid="_x0000_s0" name="" r:id="rId1" imgW="1714500" imgH="190500" progId="Equation.DSMT4">
                  <p:embed/>
                </p:oleObj>
              </mc:Choice>
              <mc:Fallback>
                <p:oleObj name="" r:id="rId1" imgW="1714500" imgH="190500" progId="Equation.DSMT4">
                  <p:embed/>
                  <p:pic>
                    <p:nvPicPr>
                      <p:cNvPr id="0" name="图片 3075"/>
                      <p:cNvPicPr/>
                      <p:nvPr/>
                    </p:nvPicPr>
                    <p:blipFill>
                      <a:blip r:embed="rId2"/>
                      <a:stretch>
                        <a:fillRect/>
                      </a:stretch>
                    </p:blipFill>
                    <p:spPr>
                      <a:xfrm>
                        <a:off x="5918835" y="4914900"/>
                        <a:ext cx="6558915" cy="699770"/>
                      </a:xfrm>
                      <a:prstGeom prst="rect">
                        <a:avLst/>
                      </a:prstGeom>
                      <a:noFill/>
                      <a:ln w="38100">
                        <a:noFill/>
                        <a:miter/>
                      </a:ln>
                    </p:spPr>
                  </p:pic>
                </p:oleObj>
              </mc:Fallback>
            </mc:AlternateContent>
          </a:graphicData>
        </a:graphic>
      </p:graphicFrame>
      <p:pic>
        <p:nvPicPr>
          <p:cNvPr id="23"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6057900"/>
            <a:ext cx="11881485" cy="3676650"/>
          </a:xfrm>
          <a:prstGeom prst="rect">
            <a:avLst/>
          </a:prstGeom>
        </p:spPr>
      </p:pic>
      <p:sp>
        <p:nvSpPr>
          <p:cNvPr id="6" name="文本框 5"/>
          <p:cNvSpPr txBox="1"/>
          <p:nvPr/>
        </p:nvSpPr>
        <p:spPr>
          <a:xfrm>
            <a:off x="9829800" y="5580380"/>
            <a:ext cx="6096000" cy="368300"/>
          </a:xfrm>
          <a:prstGeom prst="rect">
            <a:avLst/>
          </a:prstGeom>
          <a:noFill/>
        </p:spPr>
        <p:txBody>
          <a:bodyPr wrap="square" rtlCol="0">
            <a:spAutoFit/>
          </a:bodyPr>
          <a:lstStyle/>
          <a:p>
            <a:pPr algn="ctr"/>
            <a:r>
              <a:rPr lang="zh-CN" altLang="en-US"/>
              <a:t>表3.2　逆初始置换</a:t>
            </a:r>
            <a:r>
              <a:rPr lang="en-US" altLang="zh-CN"/>
              <a:t>IP</a:t>
            </a:r>
            <a:r>
              <a:rPr lang="en-US" altLang="zh-CN" baseline="30000"/>
              <a:t>-1</a:t>
            </a:r>
            <a:endParaRPr lang="en-US" altLang="zh-CN" baseline="30000"/>
          </a:p>
        </p:txBody>
      </p:sp>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00" y="1790700"/>
            <a:ext cx="14728190" cy="332105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即明文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中的第58位变为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中的第1位，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中的第50位变为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中的第2位，以此类推，最后将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中的第7位变为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中的第64位。同理，逆初始置换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将16轮迭代后给出的64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组进行置换，得到输出的密文组，输出为矩阵中元素按行读得的结果。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790700"/>
            <a:ext cx="9157335" cy="597852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一轮加密过程如图3.6所示。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一轮加密可由下列公式表示，即</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(3.3)</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的长度都是32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bit，i=1,2,...,16；f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是一个加密函数；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是由密钥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产生的一个48</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的子密钥。</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1229" name="图片 12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049000" y="2933700"/>
            <a:ext cx="6386195" cy="4274185"/>
          </a:xfrm>
          <a:prstGeom prst="rect">
            <a:avLst/>
          </a:prstGeom>
        </p:spPr>
      </p:pic>
      <p:sp>
        <p:nvSpPr>
          <p:cNvPr id="5" name="文本框 4"/>
          <p:cNvSpPr txBox="1"/>
          <p:nvPr/>
        </p:nvSpPr>
        <p:spPr>
          <a:xfrm>
            <a:off x="11339195" y="7658100"/>
            <a:ext cx="6096000" cy="368300"/>
          </a:xfrm>
          <a:prstGeom prst="rect">
            <a:avLst/>
          </a:prstGeom>
          <a:noFill/>
        </p:spPr>
        <p:txBody>
          <a:bodyPr wrap="square" rtlCol="0">
            <a:spAutoFit/>
          </a:bodyPr>
          <a:lstStyle/>
          <a:p>
            <a:pPr algn="ctr"/>
            <a:r>
              <a:rPr lang="zh-CN" altLang="en-US"/>
              <a:t>图3.6　</a:t>
            </a:r>
            <a:r>
              <a:rPr lang="en-US" altLang="zh-CN"/>
              <a:t>DES</a:t>
            </a:r>
            <a:r>
              <a:rPr lang="zh-CN" altLang="en-US"/>
              <a:t>一轮加密过程</a:t>
            </a:r>
            <a:endParaRPr lang="zh-CN" altLang="en-US"/>
          </a:p>
        </p:txBody>
      </p:sp>
      <p:graphicFrame>
        <p:nvGraphicFramePr>
          <p:cNvPr id="6" name="对象 -2147482250"/>
          <p:cNvGraphicFramePr>
            <a:graphicFrameLocks noChangeAspect="1"/>
          </p:cNvGraphicFramePr>
          <p:nvPr/>
        </p:nvGraphicFramePr>
        <p:xfrm>
          <a:off x="3810000" y="3924300"/>
          <a:ext cx="4401820" cy="1571625"/>
        </p:xfrm>
        <a:graphic>
          <a:graphicData uri="http://schemas.openxmlformats.org/presentationml/2006/ole">
            <mc:AlternateContent xmlns:mc="http://schemas.openxmlformats.org/markup-compatibility/2006">
              <mc:Choice xmlns:v="urn:schemas-microsoft-com:vml" Requires="v">
                <p:oleObj spid="_x0000_s0" name="" r:id="rId2" imgW="1282700" imgH="419100" progId="Equation.DSMT4">
                  <p:embed/>
                </p:oleObj>
              </mc:Choice>
              <mc:Fallback>
                <p:oleObj name="" r:id="rId2" imgW="1282700" imgH="419100" progId="Equation.DSMT4">
                  <p:embed/>
                  <p:pic>
                    <p:nvPicPr>
                      <p:cNvPr id="0" name="图片 3075"/>
                      <p:cNvPicPr/>
                      <p:nvPr/>
                    </p:nvPicPr>
                    <p:blipFill>
                      <a:blip r:embed="rId3"/>
                      <a:stretch>
                        <a:fillRect/>
                      </a:stretch>
                    </p:blipFill>
                    <p:spPr>
                      <a:xfrm>
                        <a:off x="3810000" y="3924300"/>
                        <a:ext cx="4401820" cy="1571625"/>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638300"/>
            <a:ext cx="9157335"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轮密钥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生成过程如图3.7所示。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（1）设输入的带奇偶校验的64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64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ϵ{0,1},1</a:t>
            </a:r>
            <a:r>
              <a:rPr lang="en-US" altLang="zh-CN" sz="3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字由点字典黑 2"/>
              </a:rPr>
              <a:t>≤i≤64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中有8位是奇偶校验位，分别位于第8，16，24，32，40，48，56，64位。奇偶校验位用于检查密钥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在产生、分配及存储过程中可能发生的错误。输入算法的64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首先经过一个置换运算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PC_1，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用于去掉密钥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中的8个奇偶校验位，并对其余的56位打乱重新排列。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PC_1(K)=C</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PC_1(K)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的前28位组成，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由后28位组成。</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文本框 4"/>
          <p:cNvSpPr txBox="1"/>
          <p:nvPr/>
        </p:nvSpPr>
        <p:spPr>
          <a:xfrm>
            <a:off x="11339195" y="8801100"/>
            <a:ext cx="6096000" cy="368300"/>
          </a:xfrm>
          <a:prstGeom prst="rect">
            <a:avLst/>
          </a:prstGeom>
          <a:noFill/>
        </p:spPr>
        <p:txBody>
          <a:bodyPr wrap="square" rtlCol="0">
            <a:spAutoFit/>
          </a:bodyPr>
          <a:lstStyle/>
          <a:p>
            <a:pPr algn="ctr"/>
            <a:r>
              <a:rPr lang="zh-CN" altLang="en-US"/>
              <a:t>图3.7　</a:t>
            </a:r>
            <a:r>
              <a:rPr lang="en-US" altLang="zh-CN"/>
              <a:t>DES</a:t>
            </a:r>
            <a:r>
              <a:rPr lang="zh-CN" altLang="en-US"/>
              <a:t>轮密钥生成过程</a:t>
            </a:r>
            <a:endParaRPr lang="zh-CN" altLang="en-US"/>
          </a:p>
        </p:txBody>
      </p:sp>
      <p:pic>
        <p:nvPicPr>
          <p:cNvPr id="1230" name="图片 12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6200" y="1714500"/>
            <a:ext cx="5417185" cy="6790690"/>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524000" y="1638300"/>
            <a:ext cx="9157335" cy="597852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轮密钥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生成过程如图3.7所示。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（2）对于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轮分别对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进行循环左移，所移位数为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位。移位后的结果作为求下一轮子密钥的输入，同时也作为置换选择</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PC_2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表示循环左移2个或1个位置，取决于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的值。</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i=1，2，9</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和16时移1个位置，否则移2个位置。</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文本框 4"/>
          <p:cNvSpPr txBox="1"/>
          <p:nvPr/>
        </p:nvSpPr>
        <p:spPr>
          <a:xfrm>
            <a:off x="11339195" y="8801100"/>
            <a:ext cx="6096000" cy="368300"/>
          </a:xfrm>
          <a:prstGeom prst="rect">
            <a:avLst/>
          </a:prstGeom>
          <a:noFill/>
        </p:spPr>
        <p:txBody>
          <a:bodyPr wrap="square" rtlCol="0">
            <a:spAutoFit/>
          </a:bodyPr>
          <a:lstStyle/>
          <a:p>
            <a:pPr algn="ctr"/>
            <a:r>
              <a:rPr lang="zh-CN" altLang="en-US"/>
              <a:t>图3.7　</a:t>
            </a:r>
            <a:r>
              <a:rPr lang="en-US" altLang="zh-CN"/>
              <a:t>DES</a:t>
            </a:r>
            <a:r>
              <a:rPr lang="zh-CN" altLang="en-US"/>
              <a:t>轮密钥生成过程</a:t>
            </a:r>
            <a:endParaRPr lang="zh-CN" altLang="en-US"/>
          </a:p>
        </p:txBody>
      </p:sp>
      <p:pic>
        <p:nvPicPr>
          <p:cNvPr id="1230" name="图片 12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6200" y="1714500"/>
            <a:ext cx="5417185" cy="6790690"/>
          </a:xfrm>
          <a:prstGeom prst="rect">
            <a:avLst/>
          </a:prstGeom>
        </p:spPr>
      </p:pic>
      <p:graphicFrame>
        <p:nvGraphicFramePr>
          <p:cNvPr id="6" name="对象 -2147482242"/>
          <p:cNvGraphicFramePr>
            <a:graphicFrameLocks noChangeAspect="1"/>
          </p:cNvGraphicFramePr>
          <p:nvPr/>
        </p:nvGraphicFramePr>
        <p:xfrm>
          <a:off x="4495800" y="3082290"/>
          <a:ext cx="6177915" cy="545465"/>
        </p:xfrm>
        <a:graphic>
          <a:graphicData uri="http://schemas.openxmlformats.org/presentationml/2006/ole">
            <mc:AlternateContent xmlns:mc="http://schemas.openxmlformats.org/markup-compatibility/2006">
              <mc:Choice xmlns:v="urn:schemas-microsoft-com:vml" Requires="v">
                <p:oleObj spid="_x0000_s0" name="" r:id="rId2" imgW="2108200" imgH="190500" progId="Equation.DSMT4">
                  <p:embed/>
                </p:oleObj>
              </mc:Choice>
              <mc:Fallback>
                <p:oleObj name="" r:id="rId2" imgW="2108200" imgH="190500" progId="Equation.DSMT4">
                  <p:embed/>
                  <p:pic>
                    <p:nvPicPr>
                      <p:cNvPr id="0" name="图片 3075"/>
                      <p:cNvPicPr/>
                      <p:nvPr/>
                    </p:nvPicPr>
                    <p:blipFill>
                      <a:blip r:embed="rId3"/>
                      <a:stretch>
                        <a:fillRect/>
                      </a:stretch>
                    </p:blipFill>
                    <p:spPr>
                      <a:xfrm>
                        <a:off x="4495800" y="3082290"/>
                        <a:ext cx="6177915" cy="545465"/>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871220" y="1866900"/>
            <a:ext cx="16233140" cy="332105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                                ，PC_2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为固定置换，选择置换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PC_2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如表3.4所示，用于从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CiDi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中选取48位作为子密钥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CiDi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表示从左到右将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排在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的后面，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CiDi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的长度为56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中的各位从左到右依次为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CiDi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中的第14，17，…，29，32位，共48位。选择置换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PC_1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如表3.3所示。</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241"/>
          <p:cNvGraphicFramePr>
            <a:graphicFrameLocks noChangeAspect="1"/>
          </p:cNvGraphicFramePr>
          <p:nvPr/>
        </p:nvGraphicFramePr>
        <p:xfrm>
          <a:off x="2895600" y="2552700"/>
          <a:ext cx="3765550" cy="694690"/>
        </p:xfrm>
        <a:graphic>
          <a:graphicData uri="http://schemas.openxmlformats.org/presentationml/2006/ole">
            <mc:AlternateContent xmlns:mc="http://schemas.openxmlformats.org/markup-compatibility/2006">
              <mc:Choice xmlns:v="urn:schemas-microsoft-com:vml" Requires="v">
                <p:oleObj spid="_x0000_s0" name="" r:id="rId1" imgW="989965" imgH="215900" progId="Equation.DSMT4">
                  <p:embed/>
                </p:oleObj>
              </mc:Choice>
              <mc:Fallback>
                <p:oleObj name="" r:id="rId1" imgW="989965" imgH="215900" progId="Equation.DSMT4">
                  <p:embed/>
                  <p:pic>
                    <p:nvPicPr>
                      <p:cNvPr id="0" name="图片 6"/>
                      <p:cNvPicPr/>
                      <p:nvPr/>
                    </p:nvPicPr>
                    <p:blipFill>
                      <a:blip r:embed="rId2"/>
                      <a:stretch>
                        <a:fillRect/>
                      </a:stretch>
                    </p:blipFill>
                    <p:spPr>
                      <a:xfrm>
                        <a:off x="2895600" y="2552700"/>
                        <a:ext cx="3765550" cy="694690"/>
                      </a:xfrm>
                      <a:prstGeom prst="rect">
                        <a:avLst/>
                      </a:prstGeom>
                      <a:noFill/>
                      <a:ln w="38100">
                        <a:noFill/>
                        <a:miter/>
                      </a:ln>
                    </p:spPr>
                  </p:pic>
                </p:oleObj>
              </mc:Fallback>
            </mc:AlternateContent>
          </a:graphicData>
        </a:graphic>
      </p:graphicFrame>
      <p:pic>
        <p:nvPicPr>
          <p:cNvPr id="24"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6057900"/>
            <a:ext cx="9976485" cy="3679190"/>
          </a:xfrm>
          <a:prstGeom prst="rect">
            <a:avLst/>
          </a:prstGeom>
        </p:spPr>
      </p:pic>
      <p:sp>
        <p:nvSpPr>
          <p:cNvPr id="8" name="文本框 7"/>
          <p:cNvSpPr txBox="1"/>
          <p:nvPr/>
        </p:nvSpPr>
        <p:spPr>
          <a:xfrm>
            <a:off x="4800600" y="5558155"/>
            <a:ext cx="9690735" cy="316865"/>
          </a:xfrm>
          <a:prstGeom prst="rect">
            <a:avLst/>
          </a:prstGeom>
          <a:noFill/>
        </p:spPr>
        <p:txBody>
          <a:bodyPr wrap="square" rtlCol="0">
            <a:noAutofit/>
          </a:bodyPr>
          <a:lstStyle/>
          <a:p>
            <a:r>
              <a:rPr lang="zh-CN" altLang="en-US"/>
              <a:t>表3.3　选择置换</a:t>
            </a:r>
            <a:r>
              <a:rPr lang="en-US" altLang="zh-CN"/>
              <a:t>PC_1			                                          </a:t>
            </a:r>
            <a:r>
              <a:rPr lang="zh-CN" altLang="en-US"/>
              <a:t>表3.4　选择置换</a:t>
            </a:r>
            <a:r>
              <a:rPr lang="en-US" altLang="zh-CN"/>
              <a:t>PC_2</a:t>
            </a:r>
            <a:endParaRPr lang="en-US" altLang="zh-CN"/>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29" name="TextBox 29"/>
          <p:cNvSpPr txBox="1"/>
          <p:nvPr/>
        </p:nvSpPr>
        <p:spPr>
          <a:xfrm>
            <a:off x="914400" y="1714500"/>
            <a:ext cx="16233140" cy="265684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是整个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算法的核心，是其中最重要的部分，函数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如图3.8所示。函数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以长度为32的比特串</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A=R(32bit)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作为第1个输入，以长度为48的比特串变元</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J=K(48bit)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作为第2个输入，产生的输出是长度为32的比特串，具体过程如下。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30" name="TextBox 30"/>
          <p:cNvSpPr txBox="1"/>
          <p:nvPr/>
        </p:nvSpPr>
        <p:spPr>
          <a:xfrm>
            <a:off x="2285812" y="570139"/>
            <a:ext cx="9458717" cy="717550"/>
          </a:xfrm>
          <a:prstGeom prst="rect">
            <a:avLst/>
          </a:prstGeom>
        </p:spPr>
        <p:txBody>
          <a:bodyPr lIns="0" tIns="0" rIns="0" bIns="0" rtlCol="0" anchor="t">
            <a:spAutoFit/>
          </a:bodyPr>
          <a:lstStyle/>
          <a:p>
            <a:pPr>
              <a:lnSpc>
                <a:spcPts val="5600"/>
              </a:lnSpc>
            </a:pPr>
            <a:r>
              <a:rPr lang="en-US" altLang="zh-CN" sz="4000"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rPr>
              <a:t>DES</a:t>
            </a:r>
            <a:r>
              <a:rPr lang="zh-CN" altLang="en-US" sz="4000"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rPr>
              <a:t>算法描述</a:t>
            </a:r>
            <a:endParaRPr lang="zh-CN" altLang="en-US" sz="4000"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endParaRPr>
          </a:p>
        </p:txBody>
      </p:sp>
      <p:sp>
        <p:nvSpPr>
          <p:cNvPr id="31" name="TextBox 31"/>
          <p:cNvSpPr txBox="1"/>
          <p:nvPr/>
        </p:nvSpPr>
        <p:spPr>
          <a:xfrm>
            <a:off x="504190" y="505460"/>
            <a:ext cx="1903730" cy="842645"/>
          </a:xfrm>
          <a:prstGeom prst="rect">
            <a:avLst/>
          </a:prstGeom>
        </p:spPr>
        <p:txBody>
          <a:bodyPr wrap="square" lIns="0" tIns="0" rIns="0" bIns="0" rtlCol="0" anchor="t">
            <a:spAutoFit/>
          </a:bodyPr>
          <a:lstStyle/>
          <a:p>
            <a:pPr algn="ctr">
              <a:lnSpc>
                <a:spcPts val="6575"/>
              </a:lnSpc>
            </a:pPr>
            <a:r>
              <a:rPr lang="en-US" sz="4695"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rPr>
              <a:t>3.2.2</a:t>
            </a:r>
            <a:endParaRPr lang="en-US" sz="4695"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endParaRPr>
          </a:p>
        </p:txBody>
      </p:sp>
      <p:pic>
        <p:nvPicPr>
          <p:cNvPr id="1231" name="图片 12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324600" y="4638675"/>
            <a:ext cx="5198110" cy="4580890"/>
          </a:xfrm>
          <a:prstGeom prst="rect">
            <a:avLst/>
          </a:prstGeom>
        </p:spPr>
      </p:pic>
      <p:sp>
        <p:nvSpPr>
          <p:cNvPr id="6" name="文本框 5"/>
          <p:cNvSpPr txBox="1"/>
          <p:nvPr/>
        </p:nvSpPr>
        <p:spPr>
          <a:xfrm>
            <a:off x="5982970" y="9486900"/>
            <a:ext cx="6096000" cy="368300"/>
          </a:xfrm>
          <a:prstGeom prst="rect">
            <a:avLst/>
          </a:prstGeom>
          <a:noFill/>
        </p:spPr>
        <p:txBody>
          <a:bodyPr wrap="square" rtlCol="0">
            <a:spAutoFit/>
          </a:bodyPr>
          <a:lstStyle/>
          <a:p>
            <a:pPr algn="ctr"/>
            <a:r>
              <a:rPr lang="zh-CN" altLang="en-US"/>
              <a:t>图3.8　函数</a:t>
            </a:r>
            <a:r>
              <a:rPr lang="en-US" altLang="zh-CN"/>
              <a:t>f</a:t>
            </a:r>
            <a:endParaRPr lang="en-US" altLang="zh-CN"/>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398526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对第1个变元</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由给定的选择扩展函数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将其扩展成48比特串</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其中选择扩展函数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如表3.5所示。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a:t>
            </a:r>
            <a:r>
              <a:rPr lang="en-US" altLang="zh-CN" sz="3600" dirty="0">
                <a:solidFill>
                  <a:srgbClr val="000000"/>
                </a:solidFill>
                <a:latin typeface="微软雅黑" panose="020B0503020204020204" pitchFamily="34" charset="-122"/>
                <a:ea typeface="微软雅黑" panose="020B0503020204020204" pitchFamily="34"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J</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按位模2加运算，并把结果写成连续的8个6比特串，</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B=B1B2B3B4B5B6B7B8；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使用8个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盒，每个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Sj</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是一个固定的416矩阵，它的元素取0～15的整数，经过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缩减为4位。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为固定置换，置换运算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如表3.6所示。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5" name="图片 4"/>
          <p:cNvPicPr/>
          <p:nvPr/>
        </p:nvPicPr>
        <p:blipFill>
          <a:blip r:embed="rId1"/>
          <a:stretch>
            <a:fillRect/>
          </a:stretch>
        </p:blipFill>
        <p:spPr>
          <a:xfrm>
            <a:off x="3505200" y="6286500"/>
            <a:ext cx="4630420" cy="3242945"/>
          </a:xfrm>
          <a:prstGeom prst="rect">
            <a:avLst/>
          </a:prstGeom>
        </p:spPr>
      </p:pic>
      <p:sp>
        <p:nvSpPr>
          <p:cNvPr id="7" name="文本框 6"/>
          <p:cNvSpPr txBox="1"/>
          <p:nvPr/>
        </p:nvSpPr>
        <p:spPr>
          <a:xfrm>
            <a:off x="8586629" y="6350953"/>
            <a:ext cx="5080000" cy="305435"/>
          </a:xfrm>
          <a:prstGeom prst="rect">
            <a:avLst/>
          </a:prstGeom>
        </p:spPr>
        <p:txBody>
          <a:bodyPr>
            <a:spAutoFit/>
          </a:bodyPr>
          <a:lstStyle/>
          <a:p>
            <a:pPr marL="0" indent="127000" algn="just" defTabSz="266700">
              <a:lnSpc>
                <a:spcPts val="1670"/>
              </a:lnSpc>
              <a:spcBef>
                <a:spcPct val="0"/>
              </a:spcBef>
              <a:spcAft>
                <a:spcPct val="0"/>
              </a:spcAft>
            </a:pPr>
            <a:r>
              <a:rPr lang="en-US" altLang="zh-CN" sz="1600">
                <a:latin typeface="Times New Roman" panose="02020603050405020304"/>
                <a:ea typeface="宋体" panose="02010600030101010101" pitchFamily="2" charset="-122"/>
              </a:rPr>
              <a:t>          </a:t>
            </a:r>
            <a:endParaRPr lang="en-US" altLang="zh-CN" sz="1600">
              <a:latin typeface="Times New Roman" panose="02020603050405020304"/>
              <a:ea typeface="宋体" panose="02010600030101010101" pitchFamily="2" charset="-122"/>
            </a:endParaRPr>
          </a:p>
        </p:txBody>
      </p:sp>
      <p:pic>
        <p:nvPicPr>
          <p:cNvPr id="8" name="图片 7"/>
          <p:cNvPicPr/>
          <p:nvPr/>
        </p:nvPicPr>
        <p:blipFill>
          <a:blip r:embed="rId2"/>
          <a:stretch>
            <a:fillRect/>
          </a:stretch>
        </p:blipFill>
        <p:spPr>
          <a:xfrm>
            <a:off x="9906000" y="6210300"/>
            <a:ext cx="4371340" cy="3373755"/>
          </a:xfrm>
          <a:prstGeom prst="rect">
            <a:avLst/>
          </a:prstGeom>
        </p:spPr>
      </p:pic>
      <p:sp>
        <p:nvSpPr>
          <p:cNvPr id="9" name="文本框 8"/>
          <p:cNvSpPr txBox="1"/>
          <p:nvPr/>
        </p:nvSpPr>
        <p:spPr>
          <a:xfrm>
            <a:off x="4572000" y="5612765"/>
            <a:ext cx="10668635" cy="368300"/>
          </a:xfrm>
          <a:prstGeom prst="rect">
            <a:avLst/>
          </a:prstGeom>
          <a:noFill/>
        </p:spPr>
        <p:txBody>
          <a:bodyPr wrap="square" rtlCol="0">
            <a:spAutoFit/>
          </a:bodyPr>
          <a:lstStyle/>
          <a:p>
            <a:r>
              <a:rPr lang="zh-CN" altLang="en-US"/>
              <a:t>表3.5　位选择函数</a:t>
            </a:r>
            <a:r>
              <a:rPr lang="en-US" altLang="zh-CN"/>
              <a:t>E                                                                                         </a:t>
            </a:r>
            <a:r>
              <a:rPr lang="zh-CN" altLang="en-US"/>
              <a:t>表3.6　置换运算</a:t>
            </a:r>
            <a:r>
              <a:rPr lang="en-US" altLang="zh-CN"/>
              <a:t>P</a:t>
            </a:r>
            <a:endParaRPr lang="en-US" altLang="zh-CN"/>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597852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8个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盒的输入/输出如表3.7所示。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算法中唯一的非线性部件，当然也是整个算法的安全性所在。每个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盒都是6位输入、4位输出的变换，其变换规则如下。取{0，1，…，15}上的4个置换，即它的4个置换排列成4行，得到一个4×16的矩阵。若给定该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盒的输入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其输出对应该矩阵第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列对应数的二进制数。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为由</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形成的十进制数表示，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为由</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形成的十进制数表示，这样每个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盒可用一个4×16矩阵来表示。例如，</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的输入为011001，行选为01（第1行），列选为1100（第12列），行列交叉位置的数为9，其4位二进制数表示为1001，所以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的输出为1001。</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nvGraphicFramePr>
        <p:xfrm>
          <a:off x="4953000" y="1562100"/>
          <a:ext cx="9458718" cy="7948972"/>
        </p:xfrm>
        <a:graphic>
          <a:graphicData uri="http://schemas.openxmlformats.org/drawingml/2006/table">
            <a:tbl>
              <a:tblPr/>
              <a:tblGrid>
                <a:gridCol w="437001"/>
                <a:gridCol w="516455"/>
                <a:gridCol w="516971"/>
                <a:gridCol w="516455"/>
                <a:gridCol w="515423"/>
                <a:gridCol w="515423"/>
                <a:gridCol w="515939"/>
                <a:gridCol w="512844"/>
                <a:gridCol w="512844"/>
                <a:gridCol w="513360"/>
                <a:gridCol w="512844"/>
                <a:gridCol w="513876"/>
                <a:gridCol w="512844"/>
                <a:gridCol w="513360"/>
                <a:gridCol w="512844"/>
                <a:gridCol w="513360"/>
                <a:gridCol w="513360"/>
                <a:gridCol w="793515"/>
              </a:tblGrid>
              <a:tr h="315724">
                <a:tc>
                  <a:txBody>
                    <a:bodyPr/>
                    <a:lstStyle/>
                    <a:p>
                      <a:pPr algn="ctr" defTabSz="914400">
                        <a:spcBef>
                          <a:spcPct val="0"/>
                        </a:spcBef>
                        <a:spcAft>
                          <a:spcPct val="0"/>
                        </a:spcAft>
                        <a:tabLst>
                          <a:tab pos="1828800" algn="l"/>
                        </a:tabLst>
                      </a:pPr>
                      <a:endParaRPr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 </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1</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2</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dirty="0">
                          <a:solidFill>
                            <a:srgbClr val="000000"/>
                          </a:solidFill>
                          <a:latin typeface="Times New Roman" panose="02020603050405020304"/>
                          <a:ea typeface="宋体" panose="02010600030101010101" pitchFamily="2" charset="-122"/>
                        </a:rPr>
                        <a:t>6</a:t>
                      </a:r>
                      <a:endParaRPr lang="en-US" altLang="zh-CN" sz="2000" dirty="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3</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4</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5</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6</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Times New Roman" panose="02020603050405020304"/>
                        </a:rPr>
                        <a:t>0</a:t>
                      </a:r>
                      <a:endParaRPr lang="en-US" altLang="zh-CN" sz="2000">
                        <a:solidFill>
                          <a:srgbClr val="000000"/>
                        </a:solidFill>
                        <a:latin typeface="Times New Roman" panose="02020603050405020304"/>
                        <a:ea typeface="Times New Roman" panose="02020603050405020304"/>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7</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Times New Roman" panose="02020603050405020304"/>
                        </a:rPr>
                        <a:t>1</a:t>
                      </a:r>
                      <a:endParaRPr lang="en-US" altLang="zh-CN" sz="2000">
                        <a:solidFill>
                          <a:srgbClr val="000000"/>
                        </a:solidFill>
                        <a:latin typeface="Times New Roman" panose="02020603050405020304"/>
                        <a:ea typeface="Times New Roman" panose="02020603050405020304"/>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Times New Roman" panose="02020603050405020304"/>
                        </a:rPr>
                        <a:t>2</a:t>
                      </a:r>
                      <a:endParaRPr lang="en-US" altLang="zh-CN" sz="2000">
                        <a:solidFill>
                          <a:srgbClr val="000000"/>
                        </a:solidFill>
                        <a:latin typeface="Times New Roman" panose="02020603050405020304"/>
                        <a:ea typeface="Times New Roman" panose="02020603050405020304"/>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Times New Roman" panose="02020603050405020304"/>
                        </a:rPr>
                        <a:t>3</a:t>
                      </a:r>
                      <a:endParaRPr lang="en-US" altLang="zh-CN" sz="2000">
                        <a:solidFill>
                          <a:srgbClr val="000000"/>
                        </a:solidFill>
                        <a:latin typeface="Times New Roman" panose="02020603050405020304"/>
                        <a:ea typeface="Times New Roman" panose="02020603050405020304"/>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w="6350" cap="flat" cmpd="sng">
                      <a:solidFill>
                        <a:srgbClr val="000008"/>
                      </a:solidFill>
                      <a:prstDash val="solid"/>
                      <a:headEnd type="none" w="med" len="med"/>
                      <a:tailEnd type="none" w="med" len="med"/>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a:noFill/>
                    </a:lnB>
                    <a:noFill/>
                  </a:tcPr>
                </a:tc>
                <a:tc rowSpan="4">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宋体" panose="02010600030101010101" pitchFamily="2" charset="-122"/>
                        </a:rPr>
                        <a:t>S</a:t>
                      </a:r>
                      <a:r>
                        <a:rPr lang="en-US" altLang="zh-CN" sz="2000" baseline="-25000">
                          <a:solidFill>
                            <a:srgbClr val="000000"/>
                          </a:solidFill>
                          <a:latin typeface="Times New Roman" panose="02020603050405020304"/>
                          <a:ea typeface="宋体" panose="02010600030101010101" pitchFamily="2" charset="-122"/>
                        </a:rPr>
                        <a:t>8</a:t>
                      </a:r>
                      <a:endParaRPr lang="en-US" altLang="zh-CN" sz="2000" baseline="-25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a:noFill/>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238539">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w="6350" cap="flat" cmpd="sng">
                      <a:solidFill>
                        <a:srgbClr val="000008"/>
                      </a:solidFill>
                      <a:prstDash val="solid"/>
                      <a:headEnd type="none" w="med" len="med"/>
                      <a:tailEnd type="none" w="med" len="med"/>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7</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4</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8</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12</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9</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0</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3</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5</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6</a:t>
                      </a:r>
                      <a:endParaRPr lang="en-US" altLang="zh-CN" sz="2000">
                        <a:solidFill>
                          <a:srgbClr val="000000"/>
                        </a:solidFill>
                        <a:latin typeface="Times New Roman" panose="02020603050405020304"/>
                        <a:ea typeface="宋体" panose="02010600030101010101" pitchFamily="2" charset="-122"/>
                      </a:endParaRPr>
                    </a:p>
                  </a:txBody>
                  <a:tcPr marL="36195" marR="36195" marT="0" marB="0" anchor="ctr">
                    <a:lnL>
                      <a:noFill/>
                    </a:lnL>
                    <a:lnR>
                      <a:noFill/>
                    </a:lnR>
                    <a:lnT>
                      <a:noFill/>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dirty="0">
                          <a:solidFill>
                            <a:srgbClr val="000000"/>
                          </a:solidFill>
                          <a:latin typeface="Times New Roman" panose="02020603050405020304"/>
                          <a:ea typeface="宋体" panose="02010600030101010101" pitchFamily="2" charset="-122"/>
                        </a:rPr>
                        <a:t>11</a:t>
                      </a:r>
                      <a:endParaRPr lang="en-US" altLang="zh-CN" sz="2000" dirty="0">
                        <a:solidFill>
                          <a:srgbClr val="000000"/>
                        </a:solidFill>
                        <a:latin typeface="Times New Roman" panose="02020603050405020304"/>
                        <a:ea typeface="宋体" panose="02010600030101010101" pitchFamily="2" charset="-122"/>
                      </a:endParaRPr>
                    </a:p>
                  </a:txBody>
                  <a:tcPr marL="36195" marR="36195" marT="0" marB="0" anchor="ctr">
                    <a:lnL>
                      <a:noFill/>
                    </a:lnL>
                    <a:lnR w="6350" cap="flat" cmpd="sng">
                      <a:solidFill>
                        <a:srgbClr val="000008"/>
                      </a:solidFill>
                      <a:prstDash val="solid"/>
                      <a:headEnd type="none" w="med" len="med"/>
                      <a:tailEnd type="none" w="med" len="med"/>
                    </a:lnR>
                    <a:lnT>
                      <a:noFill/>
                    </a:lnT>
                    <a:lnB w="1270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bl>
          </a:graphicData>
        </a:graphic>
      </p:graphicFrame>
      <p:sp>
        <p:nvSpPr>
          <p:cNvPr id="6" name="文本框 5"/>
          <p:cNvSpPr txBox="1"/>
          <p:nvPr/>
        </p:nvSpPr>
        <p:spPr>
          <a:xfrm>
            <a:off x="8077200" y="9692209"/>
            <a:ext cx="6096000" cy="368300"/>
          </a:xfrm>
          <a:prstGeom prst="rect">
            <a:avLst/>
          </a:prstGeom>
          <a:noFill/>
        </p:spPr>
        <p:txBody>
          <a:bodyPr wrap="square" rtlCol="0">
            <a:spAutoFit/>
          </a:bodyPr>
          <a:lstStyle/>
          <a:p>
            <a:r>
              <a:rPr lang="zh-CN" altLang="en-US"/>
              <a:t>表3.7　8个</a:t>
            </a:r>
            <a:r>
              <a:rPr lang="en-US" altLang="zh-CN"/>
              <a:t>S</a:t>
            </a:r>
            <a:r>
              <a:rPr lang="zh-CN" altLang="en-US"/>
              <a:t>盒的输入/输出</a:t>
            </a:r>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加密的一个例子。取十六进制明文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为0123456789</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ABCDEF，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含奇偶校验位的密钥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为133457799</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BBCDFF1，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去掉奇偶校验位的二进制数为00010010011010010101101111001001101101111011011111111000。应用初始置换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可以得到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L0=11001100000000001100110011111111，L1=R0=11110000101010101111000010101010，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然后进行16轮加密，最后对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L16、R16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使用逆初始置换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得到密文为85</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E813540F0AB405。</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的解密过程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的解密过程与加密过程相同，只不过在16次迭代中使用子密钥的次序正好相反。解密时，第1次迭代使用子密钥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第2次迭代使用子密钥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K15，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以此类推，第16次迭代使用子密钥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具体过程可形式化地表示为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第1步为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步为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依次类推，第16步为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232"/>
          <p:cNvGraphicFramePr>
            <a:graphicFrameLocks noChangeAspect="1"/>
          </p:cNvGraphicFramePr>
          <p:nvPr/>
        </p:nvGraphicFramePr>
        <p:xfrm>
          <a:off x="3733800" y="4457700"/>
          <a:ext cx="9765030" cy="824865"/>
        </p:xfrm>
        <a:graphic>
          <a:graphicData uri="http://schemas.openxmlformats.org/presentationml/2006/ole">
            <mc:AlternateContent xmlns:mc="http://schemas.openxmlformats.org/markup-compatibility/2006">
              <mc:Choice xmlns:v="urn:schemas-microsoft-com:vml" Requires="v">
                <p:oleObj spid="_x0000_s0" name="" r:id="rId1" imgW="2209800" imgH="203200" progId="Equation.DSMT4">
                  <p:embed/>
                </p:oleObj>
              </mc:Choice>
              <mc:Fallback>
                <p:oleObj name="" r:id="rId1" imgW="2209800" imgH="203200" progId="Equation.DSMT4">
                  <p:embed/>
                  <p:pic>
                    <p:nvPicPr>
                      <p:cNvPr id="0" name="图片 3075"/>
                      <p:cNvPicPr/>
                      <p:nvPr/>
                    </p:nvPicPr>
                    <p:blipFill>
                      <a:blip r:embed="rId2"/>
                      <a:stretch>
                        <a:fillRect/>
                      </a:stretch>
                    </p:blipFill>
                    <p:spPr>
                      <a:xfrm>
                        <a:off x="3733800" y="4457700"/>
                        <a:ext cx="9765030" cy="824865"/>
                      </a:xfrm>
                      <a:prstGeom prst="rect">
                        <a:avLst/>
                      </a:prstGeom>
                      <a:noFill/>
                      <a:ln w="38100">
                        <a:noFill/>
                        <a:miter/>
                      </a:ln>
                    </p:spPr>
                  </p:pic>
                </p:oleObj>
              </mc:Fallback>
            </mc:AlternateContent>
          </a:graphicData>
        </a:graphic>
      </p:graphicFrame>
      <p:graphicFrame>
        <p:nvGraphicFramePr>
          <p:cNvPr id="6" name="对象 -2147482231"/>
          <p:cNvGraphicFramePr>
            <a:graphicFrameLocks noChangeAspect="1"/>
          </p:cNvGraphicFramePr>
          <p:nvPr/>
        </p:nvGraphicFramePr>
        <p:xfrm>
          <a:off x="1130935" y="5829300"/>
          <a:ext cx="16360140" cy="925195"/>
        </p:xfrm>
        <a:graphic>
          <a:graphicData uri="http://schemas.openxmlformats.org/presentationml/2006/ole">
            <mc:AlternateContent xmlns:mc="http://schemas.openxmlformats.org/markup-compatibility/2006">
              <mc:Choice xmlns:v="urn:schemas-microsoft-com:vml" Requires="v">
                <p:oleObj spid="_x0000_s0" name="" r:id="rId3" imgW="4851400" imgH="228600" progId="Equation.DSMT4">
                  <p:embed/>
                </p:oleObj>
              </mc:Choice>
              <mc:Fallback>
                <p:oleObj name="" r:id="rId3" imgW="4851400" imgH="228600" progId="Equation.DSMT4">
                  <p:embed/>
                  <p:pic>
                    <p:nvPicPr>
                      <p:cNvPr id="0" name="图片 5"/>
                      <p:cNvPicPr/>
                      <p:nvPr/>
                    </p:nvPicPr>
                    <p:blipFill>
                      <a:blip r:embed="rId4"/>
                      <a:stretch>
                        <a:fillRect/>
                      </a:stretch>
                    </p:blipFill>
                    <p:spPr>
                      <a:xfrm>
                        <a:off x="1130935" y="5829300"/>
                        <a:ext cx="16360140" cy="925195"/>
                      </a:xfrm>
                      <a:prstGeom prst="rect">
                        <a:avLst/>
                      </a:prstGeom>
                      <a:noFill/>
                      <a:ln w="38100">
                        <a:noFill/>
                        <a:miter/>
                      </a:ln>
                    </p:spPr>
                  </p:pic>
                </p:oleObj>
              </mc:Fallback>
            </mc:AlternateContent>
          </a:graphicData>
        </a:graphic>
      </p:graphicFrame>
      <p:graphicFrame>
        <p:nvGraphicFramePr>
          <p:cNvPr id="8" name="对象 -2147482230"/>
          <p:cNvGraphicFramePr>
            <a:graphicFrameLocks noChangeAspect="1"/>
          </p:cNvGraphicFramePr>
          <p:nvPr/>
        </p:nvGraphicFramePr>
        <p:xfrm>
          <a:off x="1143000" y="7581900"/>
          <a:ext cx="16471900" cy="874395"/>
        </p:xfrm>
        <a:graphic>
          <a:graphicData uri="http://schemas.openxmlformats.org/presentationml/2006/ole">
            <mc:AlternateContent xmlns:mc="http://schemas.openxmlformats.org/markup-compatibility/2006">
              <mc:Choice xmlns:v="urn:schemas-microsoft-com:vml" Requires="v">
                <p:oleObj spid="_x0000_s0" name="" r:id="rId5" imgW="5156200" imgH="228600" progId="Equation.DSMT4">
                  <p:embed/>
                </p:oleObj>
              </mc:Choice>
              <mc:Fallback>
                <p:oleObj name="" r:id="rId5" imgW="5156200" imgH="228600" progId="Equation.DSMT4">
                  <p:embed/>
                  <p:pic>
                    <p:nvPicPr>
                      <p:cNvPr id="0" name="图片 6"/>
                      <p:cNvPicPr/>
                      <p:nvPr/>
                    </p:nvPicPr>
                    <p:blipFill>
                      <a:blip r:embed="rId6"/>
                      <a:stretch>
                        <a:fillRect/>
                      </a:stretch>
                    </p:blipFill>
                    <p:spPr>
                      <a:xfrm>
                        <a:off x="1143000" y="7581900"/>
                        <a:ext cx="16471900" cy="874395"/>
                      </a:xfrm>
                      <a:prstGeom prst="rect">
                        <a:avLst/>
                      </a:prstGeom>
                      <a:noFill/>
                      <a:ln w="38100">
                        <a:noFill/>
                        <a:miter/>
                      </a:ln>
                    </p:spPr>
                  </p:pic>
                </p:oleObj>
              </mc:Fallback>
            </mc:AlternateContent>
          </a:graphicData>
        </a:graphic>
      </p:graphicFrame>
      <p:graphicFrame>
        <p:nvGraphicFramePr>
          <p:cNvPr id="10" name="对象 -2147482229"/>
          <p:cNvGraphicFramePr>
            <a:graphicFrameLocks noChangeAspect="1"/>
          </p:cNvGraphicFramePr>
          <p:nvPr/>
        </p:nvGraphicFramePr>
        <p:xfrm>
          <a:off x="914400" y="9029700"/>
          <a:ext cx="16553815" cy="910590"/>
        </p:xfrm>
        <a:graphic>
          <a:graphicData uri="http://schemas.openxmlformats.org/presentationml/2006/ole">
            <mc:AlternateContent xmlns:mc="http://schemas.openxmlformats.org/markup-compatibility/2006">
              <mc:Choice xmlns:v="urn:schemas-microsoft-com:vml" Requires="v">
                <p:oleObj spid="_x0000_s0" name="" r:id="rId7" imgW="4953000" imgH="241300" progId="Equation.DSMT4">
                  <p:embed/>
                </p:oleObj>
              </mc:Choice>
              <mc:Fallback>
                <p:oleObj name="" r:id="rId7" imgW="4953000" imgH="241300" progId="Equation.DSMT4">
                  <p:embed/>
                  <p:pic>
                    <p:nvPicPr>
                      <p:cNvPr id="0" name="图片 7"/>
                      <p:cNvPicPr/>
                      <p:nvPr/>
                    </p:nvPicPr>
                    <p:blipFill>
                      <a:blip r:embed="rId8"/>
                      <a:stretch>
                        <a:fillRect/>
                      </a:stretch>
                    </p:blipFill>
                    <p:spPr>
                      <a:xfrm>
                        <a:off x="914400" y="9029700"/>
                        <a:ext cx="16553815" cy="91059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9">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的解密过程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。经逆初始置换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后，得到明文。通过上述证明，可知解密过程的正确性。这是由于在16次加密后并未交换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而是直接将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作为逆初始置换</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IP</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表示当密钥为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时利用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进行加密得到的密文，用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表示当密钥为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时利用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进行解密得到的明文，则对任意明文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                                    ，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1944"/>
          <p:cNvGraphicFramePr>
            <a:graphicFrameLocks noChangeAspect="1"/>
          </p:cNvGraphicFramePr>
          <p:nvPr/>
        </p:nvGraphicFramePr>
        <p:xfrm>
          <a:off x="2743200" y="2337435"/>
          <a:ext cx="2659380" cy="672465"/>
        </p:xfrm>
        <a:graphic>
          <a:graphicData uri="http://schemas.openxmlformats.org/presentationml/2006/ole">
            <mc:AlternateContent xmlns:mc="http://schemas.openxmlformats.org/markup-compatibility/2006">
              <mc:Choice xmlns:v="urn:schemas-microsoft-com:vml" Requires="v">
                <p:oleObj spid="_x0000_s0" name="" r:id="rId1" imgW="723900" imgH="203200" progId="Equation.DSMT4">
                  <p:embed/>
                </p:oleObj>
              </mc:Choice>
              <mc:Fallback>
                <p:oleObj name="" r:id="rId1" imgW="723900" imgH="203200" progId="Equation.DSMT4">
                  <p:embed/>
                  <p:pic>
                    <p:nvPicPr>
                      <p:cNvPr id="0" name="图片 11"/>
                      <p:cNvPicPr/>
                      <p:nvPr/>
                    </p:nvPicPr>
                    <p:blipFill>
                      <a:blip r:embed="rId2"/>
                      <a:stretch>
                        <a:fillRect/>
                      </a:stretch>
                    </p:blipFill>
                    <p:spPr>
                      <a:xfrm>
                        <a:off x="2743200" y="2337435"/>
                        <a:ext cx="2659380" cy="672465"/>
                      </a:xfrm>
                      <a:prstGeom prst="rect">
                        <a:avLst/>
                      </a:prstGeom>
                      <a:noFill/>
                      <a:ln w="38100">
                        <a:noFill/>
                        <a:miter/>
                      </a:ln>
                    </p:spPr>
                  </p:pic>
                </p:oleObj>
              </mc:Fallback>
            </mc:AlternateContent>
          </a:graphicData>
        </a:graphic>
      </p:graphicFrame>
      <p:graphicFrame>
        <p:nvGraphicFramePr>
          <p:cNvPr id="6" name="对象 -2147482226"/>
          <p:cNvGraphicFramePr>
            <a:graphicFrameLocks noChangeAspect="1"/>
          </p:cNvGraphicFramePr>
          <p:nvPr/>
        </p:nvGraphicFramePr>
        <p:xfrm>
          <a:off x="15621000" y="4381500"/>
          <a:ext cx="1787525" cy="605155"/>
        </p:xfrm>
        <a:graphic>
          <a:graphicData uri="http://schemas.openxmlformats.org/presentationml/2006/ole">
            <mc:AlternateContent xmlns:mc="http://schemas.openxmlformats.org/markup-compatibility/2006">
              <mc:Choice xmlns:v="urn:schemas-microsoft-com:vml" Requires="v">
                <p:oleObj spid="_x0000_s0" name="" r:id="rId3" imgW="533400" imgH="203200" progId="Equation.DSMT4">
                  <p:embed/>
                </p:oleObj>
              </mc:Choice>
              <mc:Fallback>
                <p:oleObj name="" r:id="rId3" imgW="533400" imgH="203200" progId="Equation.DSMT4">
                  <p:embed/>
                  <p:pic>
                    <p:nvPicPr>
                      <p:cNvPr id="0" name="图片 12"/>
                      <p:cNvPicPr/>
                      <p:nvPr/>
                    </p:nvPicPr>
                    <p:blipFill>
                      <a:blip r:embed="rId4"/>
                      <a:stretch>
                        <a:fillRect/>
                      </a:stretch>
                    </p:blipFill>
                    <p:spPr>
                      <a:xfrm>
                        <a:off x="15621000" y="4381500"/>
                        <a:ext cx="1787525" cy="605155"/>
                      </a:xfrm>
                      <a:prstGeom prst="rect">
                        <a:avLst/>
                      </a:prstGeom>
                      <a:noFill/>
                      <a:ln w="38100">
                        <a:noFill/>
                        <a:miter/>
                      </a:ln>
                    </p:spPr>
                  </p:pic>
                </p:oleObj>
              </mc:Fallback>
            </mc:AlternateContent>
          </a:graphicData>
        </a:graphic>
      </p:graphicFrame>
      <p:graphicFrame>
        <p:nvGraphicFramePr>
          <p:cNvPr id="7" name="对象 -2147482225"/>
          <p:cNvGraphicFramePr>
            <a:graphicFrameLocks noChangeAspect="1"/>
          </p:cNvGraphicFramePr>
          <p:nvPr/>
        </p:nvGraphicFramePr>
        <p:xfrm>
          <a:off x="1295400" y="5676900"/>
          <a:ext cx="4519930" cy="765175"/>
        </p:xfrm>
        <a:graphic>
          <a:graphicData uri="http://schemas.openxmlformats.org/presentationml/2006/ole">
            <mc:AlternateContent xmlns:mc="http://schemas.openxmlformats.org/markup-compatibility/2006">
              <mc:Choice xmlns:v="urn:schemas-microsoft-com:vml" Requires="v">
                <p:oleObj spid="_x0000_s0" name="" r:id="rId5" imgW="1129665" imgH="215900" progId="Equation.DSMT4">
                  <p:embed/>
                </p:oleObj>
              </mc:Choice>
              <mc:Fallback>
                <p:oleObj name="" r:id="rId5" imgW="1129665" imgH="215900" progId="Equation.DSMT4">
                  <p:embed/>
                  <p:pic>
                    <p:nvPicPr>
                      <p:cNvPr id="0" name="图片 13"/>
                      <p:cNvPicPr/>
                      <p:nvPr/>
                    </p:nvPicPr>
                    <p:blipFill>
                      <a:blip r:embed="rId6"/>
                      <a:stretch>
                        <a:fillRect/>
                      </a:stretch>
                    </p:blipFill>
                    <p:spPr>
                      <a:xfrm>
                        <a:off x="1295400" y="5676900"/>
                        <a:ext cx="4519930" cy="765175"/>
                      </a:xfrm>
                      <a:prstGeom prst="rect">
                        <a:avLst/>
                      </a:prstGeom>
                      <a:noFill/>
                      <a:ln w="38100">
                        <a:noFill/>
                        <a:miter/>
                      </a:ln>
                    </p:spPr>
                  </p:pic>
                </p:oleObj>
              </mc:Fallback>
            </mc:AlternateContent>
          </a:graphicData>
        </a:graphic>
      </p:graphicFrame>
      <p:graphicFrame>
        <p:nvGraphicFramePr>
          <p:cNvPr id="8" name="对象 -2147482224"/>
          <p:cNvGraphicFramePr>
            <a:graphicFrameLocks noChangeAspect="1"/>
          </p:cNvGraphicFramePr>
          <p:nvPr/>
        </p:nvGraphicFramePr>
        <p:xfrm>
          <a:off x="5867400" y="5596255"/>
          <a:ext cx="4024630" cy="922020"/>
        </p:xfrm>
        <a:graphic>
          <a:graphicData uri="http://schemas.openxmlformats.org/presentationml/2006/ole">
            <mc:AlternateContent xmlns:mc="http://schemas.openxmlformats.org/markup-compatibility/2006">
              <mc:Choice xmlns:v="urn:schemas-microsoft-com:vml" Requires="v">
                <p:oleObj spid="_x0000_s0" name="" r:id="rId7" imgW="1180465" imgH="241300" progId="Equation.DSMT4">
                  <p:embed/>
                </p:oleObj>
              </mc:Choice>
              <mc:Fallback>
                <p:oleObj name="" r:id="rId7" imgW="1180465" imgH="241300" progId="Equation.DSMT4">
                  <p:embed/>
                  <p:pic>
                    <p:nvPicPr>
                      <p:cNvPr id="0" name="图片 14"/>
                      <p:cNvPicPr/>
                      <p:nvPr/>
                    </p:nvPicPr>
                    <p:blipFill>
                      <a:blip r:embed="rId8"/>
                      <a:stretch>
                        <a:fillRect/>
                      </a:stretch>
                    </p:blipFill>
                    <p:spPr>
                      <a:xfrm>
                        <a:off x="5867400" y="5596255"/>
                        <a:ext cx="4024630" cy="922020"/>
                      </a:xfrm>
                      <a:prstGeom prst="rect">
                        <a:avLst/>
                      </a:prstGeom>
                      <a:noFill/>
                      <a:ln w="38100">
                        <a:noFill/>
                        <a:miter/>
                      </a:ln>
                    </p:spPr>
                  </p:pic>
                </p:oleObj>
              </mc:Fallback>
            </mc:AlternateContent>
          </a:graphicData>
        </a:graphic>
      </p:graphicFrame>
      <p:sp>
        <p:nvSpPr>
          <p:cNvPr id="9" name="灯片编号占位符 8"/>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9">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的安全性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的安全性完全依赖所用的密钥。自从其算法作为标准公开以来，人们对它的安全性就有激烈的争论。下面简要介绍几十年来人们就其安全方面的一些主要研究结果。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1）取反特性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对于明文组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和主密钥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C=DES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分别为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的逐位取反。</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2）弱密钥与半弱密钥</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大多数密码体制都有某些明显的“坏密钥”，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也不例外。对于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，若由</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扩展出来的加密子密钥为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15</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而由扩展出来的加密子密钥却是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15</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即，则称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互为对合。</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2223"/>
          <p:cNvGraphicFramePr>
            <a:graphicFrameLocks noChangeAspect="1"/>
          </p:cNvGraphicFramePr>
          <p:nvPr/>
        </p:nvGraphicFramePr>
        <p:xfrm>
          <a:off x="13182600" y="4914900"/>
          <a:ext cx="2351405" cy="775970"/>
        </p:xfrm>
        <a:graphic>
          <a:graphicData uri="http://schemas.openxmlformats.org/presentationml/2006/ole">
            <mc:AlternateContent xmlns:mc="http://schemas.openxmlformats.org/markup-compatibility/2006">
              <mc:Choice xmlns:v="urn:schemas-microsoft-com:vml" Requires="v">
                <p:oleObj spid="_x0000_s0" name="" r:id="rId1" imgW="824865" imgH="266700" progId="Equation.DSMT4">
                  <p:embed/>
                </p:oleObj>
              </mc:Choice>
              <mc:Fallback>
                <p:oleObj name="" r:id="rId1" imgW="824865" imgH="266700" progId="Equation.DSMT4">
                  <p:embed/>
                  <p:pic>
                    <p:nvPicPr>
                      <p:cNvPr id="0" name="图片 3075"/>
                      <p:cNvPicPr/>
                      <p:nvPr/>
                    </p:nvPicPr>
                    <p:blipFill>
                      <a:blip r:embed="rId2"/>
                      <a:stretch>
                        <a:fillRect/>
                      </a:stretch>
                    </p:blipFill>
                    <p:spPr>
                      <a:xfrm>
                        <a:off x="13182600" y="4914900"/>
                        <a:ext cx="2351405" cy="775970"/>
                      </a:xfrm>
                      <a:prstGeom prst="rect">
                        <a:avLst/>
                      </a:prstGeom>
                      <a:noFill/>
                      <a:ln w="38100">
                        <a:noFill/>
                        <a:miter/>
                      </a:ln>
                    </p:spPr>
                  </p:pic>
                </p:oleObj>
              </mc:Fallback>
            </mc:AlternateContent>
          </a:graphicData>
        </a:graphic>
      </p:graphicFrame>
      <p:graphicFrame>
        <p:nvGraphicFramePr>
          <p:cNvPr id="6" name="对象 -2147482222"/>
          <p:cNvGraphicFramePr>
            <a:graphicFrameLocks noChangeAspect="1"/>
          </p:cNvGraphicFramePr>
          <p:nvPr/>
        </p:nvGraphicFramePr>
        <p:xfrm>
          <a:off x="16687800" y="4991100"/>
          <a:ext cx="662940" cy="662940"/>
        </p:xfrm>
        <a:graphic>
          <a:graphicData uri="http://schemas.openxmlformats.org/presentationml/2006/ole">
            <mc:AlternateContent xmlns:mc="http://schemas.openxmlformats.org/markup-compatibility/2006">
              <mc:Choice xmlns:v="urn:schemas-microsoft-com:vml" Requires="v">
                <p:oleObj spid="_x0000_s0" name="" r:id="rId3" imgW="177800" imgH="177800" progId="Equation.DSMT4">
                  <p:embed/>
                </p:oleObj>
              </mc:Choice>
              <mc:Fallback>
                <p:oleObj name="" r:id="rId3" imgW="177800" imgH="177800" progId="Equation.DSMT4">
                  <p:embed/>
                  <p:pic>
                    <p:nvPicPr>
                      <p:cNvPr id="0" name="图片 4"/>
                      <p:cNvPicPr/>
                      <p:nvPr/>
                    </p:nvPicPr>
                    <p:blipFill>
                      <a:blip r:embed="rId4"/>
                      <a:stretch>
                        <a:fillRect/>
                      </a:stretch>
                    </p:blipFill>
                    <p:spPr>
                      <a:xfrm>
                        <a:off x="16687800" y="4991100"/>
                        <a:ext cx="662940" cy="662940"/>
                      </a:xfrm>
                      <a:prstGeom prst="rect">
                        <a:avLst/>
                      </a:prstGeom>
                      <a:noFill/>
                      <a:ln w="38100">
                        <a:noFill/>
                        <a:miter/>
                      </a:ln>
                    </p:spPr>
                  </p:pic>
                </p:oleObj>
              </mc:Fallback>
            </mc:AlternateContent>
          </a:graphicData>
        </a:graphic>
      </p:graphicFrame>
      <p:graphicFrame>
        <p:nvGraphicFramePr>
          <p:cNvPr id="8" name="对象 -2147482221"/>
          <p:cNvGraphicFramePr>
            <a:graphicFrameLocks noChangeAspect="1"/>
          </p:cNvGraphicFramePr>
          <p:nvPr/>
        </p:nvGraphicFramePr>
        <p:xfrm>
          <a:off x="304800" y="5600700"/>
          <a:ext cx="705485" cy="705485"/>
        </p:xfrm>
        <a:graphic>
          <a:graphicData uri="http://schemas.openxmlformats.org/presentationml/2006/ole">
            <mc:AlternateContent xmlns:mc="http://schemas.openxmlformats.org/markup-compatibility/2006">
              <mc:Choice xmlns:v="urn:schemas-microsoft-com:vml" Requires="v">
                <p:oleObj spid="_x0000_s0" name="" r:id="rId5" imgW="139700" imgH="190500" progId="Equation.DSMT4">
                  <p:embed/>
                </p:oleObj>
              </mc:Choice>
              <mc:Fallback>
                <p:oleObj name="" r:id="rId5" imgW="139700" imgH="190500" progId="Equation.DSMT4">
                  <p:embed/>
                  <p:pic>
                    <p:nvPicPr>
                      <p:cNvPr id="0" name="图片 5"/>
                      <p:cNvPicPr/>
                      <p:nvPr/>
                    </p:nvPicPr>
                    <p:blipFill>
                      <a:blip r:embed="rId6"/>
                      <a:stretch>
                        <a:fillRect/>
                      </a:stretch>
                    </p:blipFill>
                    <p:spPr>
                      <a:xfrm>
                        <a:off x="304800" y="5600700"/>
                        <a:ext cx="705485" cy="705485"/>
                      </a:xfrm>
                      <a:prstGeom prst="rect">
                        <a:avLst/>
                      </a:prstGeom>
                      <a:noFill/>
                      <a:ln w="38100">
                        <a:noFill/>
                        <a:miter/>
                      </a:ln>
                    </p:spPr>
                  </p:pic>
                </p:oleObj>
              </mc:Fallback>
            </mc:AlternateContent>
          </a:graphicData>
        </a:graphic>
      </p:graphicFrame>
      <p:graphicFrame>
        <p:nvGraphicFramePr>
          <p:cNvPr id="10" name="对象 -2147482220"/>
          <p:cNvGraphicFramePr>
            <a:graphicFrameLocks noChangeAspect="1"/>
          </p:cNvGraphicFramePr>
          <p:nvPr/>
        </p:nvGraphicFramePr>
        <p:xfrm>
          <a:off x="1485265" y="5601970"/>
          <a:ext cx="795655" cy="793115"/>
        </p:xfrm>
        <a:graphic>
          <a:graphicData uri="http://schemas.openxmlformats.org/presentationml/2006/ole">
            <mc:AlternateContent xmlns:mc="http://schemas.openxmlformats.org/markup-compatibility/2006">
              <mc:Choice xmlns:v="urn:schemas-microsoft-com:vml" Requires="v">
                <p:oleObj spid="_x0000_s0" name="" r:id="rId7" imgW="152400" imgH="177165" progId="Equation.DSMT4">
                  <p:embed/>
                </p:oleObj>
              </mc:Choice>
              <mc:Fallback>
                <p:oleObj name="" r:id="rId7" imgW="152400" imgH="177165" progId="Equation.DSMT4">
                  <p:embed/>
                  <p:pic>
                    <p:nvPicPr>
                      <p:cNvPr id="0" name="图片 6"/>
                      <p:cNvPicPr/>
                      <p:nvPr/>
                    </p:nvPicPr>
                    <p:blipFill>
                      <a:blip r:embed="rId8"/>
                      <a:stretch>
                        <a:fillRect/>
                      </a:stretch>
                    </p:blipFill>
                    <p:spPr>
                      <a:xfrm>
                        <a:off x="1485265" y="5601970"/>
                        <a:ext cx="795655" cy="793115"/>
                      </a:xfrm>
                      <a:prstGeom prst="rect">
                        <a:avLst/>
                      </a:prstGeom>
                      <a:noFill/>
                      <a:ln w="38100">
                        <a:noFill/>
                        <a:miter/>
                      </a:ln>
                    </p:spPr>
                  </p:pic>
                </p:oleObj>
              </mc:Fallback>
            </mc:AlternateContent>
          </a:graphicData>
        </a:graphic>
      </p:graphicFrame>
      <p:graphicFrame>
        <p:nvGraphicFramePr>
          <p:cNvPr id="12" name="对象 -2147482208"/>
          <p:cNvGraphicFramePr>
            <a:graphicFrameLocks noChangeAspect="1"/>
          </p:cNvGraphicFramePr>
          <p:nvPr/>
        </p:nvGraphicFramePr>
        <p:xfrm>
          <a:off x="1371600" y="7590790"/>
          <a:ext cx="2731135" cy="694690"/>
        </p:xfrm>
        <a:graphic>
          <a:graphicData uri="http://schemas.openxmlformats.org/presentationml/2006/ole">
            <mc:AlternateContent xmlns:mc="http://schemas.openxmlformats.org/markup-compatibility/2006">
              <mc:Choice xmlns:v="urn:schemas-microsoft-com:vml" Requires="v">
                <p:oleObj spid="_x0000_s0" name="" r:id="rId9" imgW="685800" imgH="203200" progId="Equation.DSMT4">
                  <p:embed/>
                </p:oleObj>
              </mc:Choice>
              <mc:Fallback>
                <p:oleObj name="" r:id="rId9" imgW="685800" imgH="203200" progId="Equation.DSMT4">
                  <p:embed/>
                  <p:pic>
                    <p:nvPicPr>
                      <p:cNvPr id="0" name="图片 7"/>
                      <p:cNvPicPr/>
                      <p:nvPr/>
                    </p:nvPicPr>
                    <p:blipFill>
                      <a:blip r:embed="rId10"/>
                      <a:stretch>
                        <a:fillRect/>
                      </a:stretch>
                    </p:blipFill>
                    <p:spPr>
                      <a:xfrm>
                        <a:off x="1371600" y="7590790"/>
                        <a:ext cx="2731135" cy="69469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4"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1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9" name="图片 18"/>
            <p:cNvPicPr>
              <a:picLocks noChangeAspect="1"/>
            </p:cNvPicPr>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132842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的安全性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16" name="文本框 15"/>
          <p:cNvSpPr txBox="1"/>
          <p:nvPr/>
        </p:nvSpPr>
        <p:spPr>
          <a:xfrm>
            <a:off x="1371600" y="2705100"/>
            <a:ext cx="15732125" cy="4401820"/>
          </a:xfrm>
          <a:prstGeom prst="rect">
            <a:avLst/>
          </a:prstGeom>
        </p:spPr>
        <p:txBody>
          <a:bodyPr>
            <a:noAutofit/>
          </a:bodyPr>
          <a:lstStyle/>
          <a:p>
            <a:pPr indent="914400" algn="just" defTabSz="914400" fontAlgn="auto" latinLnBrk="1">
              <a:lnSpc>
                <a:spcPct val="120000"/>
              </a:lnSpc>
              <a:buClrTx/>
              <a:buSzTx/>
              <a:buFontTx/>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对于                  ，若K是自己的对合，则称K为DES的一个弱密钥；若K存在异于自己的对合，则称K为DES的一个半弱密钥。显然，C0与D0分别是{00，11，10，01}中任意一项的14次重复的情况共有42=16种，其中C0与D0分别是{00，11}中任意一项的14次重复的情况（计22=4种）对应的弱密钥，剩下的（16-4=12种）对应半弱密钥。弱密钥与半弱密钥直接引起的“危险”是在多重使用DES加密中，第二次加密有可能使第一次加密复原。另外，弱密钥与半弱密钥使得扩展出来的各加密子密钥至多有两种差异，如此导致原本多轮迭代的复杂结构简化并容易分析。所幸在总数256个可选密钥中，弱密钥与半弱密钥所占的比例极小，如果是随机选择，（半）弱密钥出现的概率很小，因而其存在性并不会危及DES的安全。</a:t>
            </a:r>
            <a:endParaRPr lang="en-US" altLang="zh-CN" sz="3600" dirty="0">
              <a:solidFill>
                <a:srgbClr val="000000"/>
              </a:solidFill>
              <a:latin typeface="Times New Roman" panose="02020603050405020304" pitchFamily="18" charset="0"/>
              <a:ea typeface="宋体" panose="02010600030101010101" pitchFamily="2" charset="-122"/>
              <a:cs typeface="字由点字典黑 2"/>
            </a:endParaRPr>
          </a:p>
        </p:txBody>
      </p:sp>
      <p:graphicFrame>
        <p:nvGraphicFramePr>
          <p:cNvPr id="5" name="对象 -2147482194"/>
          <p:cNvGraphicFramePr>
            <a:graphicFrameLocks noChangeAspect="1"/>
          </p:cNvGraphicFramePr>
          <p:nvPr/>
        </p:nvGraphicFramePr>
        <p:xfrm>
          <a:off x="3352800" y="2628900"/>
          <a:ext cx="2040890" cy="827405"/>
        </p:xfrm>
        <a:graphic>
          <a:graphicData uri="http://schemas.openxmlformats.org/presentationml/2006/ole">
            <mc:AlternateContent xmlns:mc="http://schemas.openxmlformats.org/markup-compatibility/2006">
              <mc:Choice xmlns:v="urn:schemas-microsoft-com:vml" Requires="v">
                <p:oleObj spid="_x0000_s0" name="" r:id="rId1" imgW="444500" imgH="203200" progId="Equation.DSMT4">
                  <p:embed/>
                </p:oleObj>
              </mc:Choice>
              <mc:Fallback>
                <p:oleObj name="" r:id="rId1" imgW="444500" imgH="203200" progId="Equation.DSMT4">
                  <p:embed/>
                  <p:pic>
                    <p:nvPicPr>
                      <p:cNvPr id="0" name="图片 16"/>
                      <p:cNvPicPr/>
                      <p:nvPr/>
                    </p:nvPicPr>
                    <p:blipFill>
                      <a:blip r:embed="rId2"/>
                      <a:stretch>
                        <a:fillRect/>
                      </a:stretch>
                    </p:blipFill>
                    <p:spPr>
                      <a:xfrm>
                        <a:off x="3352800" y="2628900"/>
                        <a:ext cx="2040890" cy="827405"/>
                      </a:xfrm>
                      <a:prstGeom prst="rect">
                        <a:avLst/>
                      </a:prstGeom>
                      <a:noFill/>
                      <a:ln w="38100">
                        <a:noFill/>
                        <a:miter/>
                      </a:ln>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132842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的安全性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16" name="文本框 15"/>
          <p:cNvSpPr txBox="1"/>
          <p:nvPr/>
        </p:nvSpPr>
        <p:spPr>
          <a:xfrm>
            <a:off x="1371600" y="2705100"/>
            <a:ext cx="15732125" cy="4401820"/>
          </a:xfrm>
          <a:prstGeom prst="rect">
            <a:avLst/>
          </a:prstGeom>
        </p:spPr>
        <p:txBody>
          <a:bodyPr>
            <a:noAutofit/>
          </a:bodyPr>
          <a:lstStyle/>
          <a:p>
            <a:pPr indent="914400" algn="just" defTabSz="914400" fontAlgn="auto"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3）密文与明文、密文与密钥的相关性</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defTabSz="914400" fontAlgn="auto"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研究结果表明：</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的编码过程可使每个密文比特都是所有明文比特和所有密钥比特的复杂混合函数，而要达到这一要求至少需要</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迭代5轮。</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-检验证明：</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迭代8轮以后，就可认为输出和输入不相关了。</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defTabSz="914400" fontAlgn="auto"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4）密钥的长度</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defTabSz="914400" fontAlgn="auto"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在对</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安全性的批评意见中，较一致的看法是</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的密钥太短，其长度为56</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致使密钥量仅为256≈1017，不能抵抗穷举攻击，事实证明的确如此。</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p:txBody>
      </p:sp>
      <p:graphicFrame>
        <p:nvGraphicFramePr>
          <p:cNvPr id="5" name="对象 -2147482193"/>
          <p:cNvGraphicFramePr>
            <a:graphicFrameLocks noChangeAspect="1"/>
          </p:cNvGraphicFramePr>
          <p:nvPr/>
        </p:nvGraphicFramePr>
        <p:xfrm>
          <a:off x="15773400" y="4076700"/>
          <a:ext cx="650240" cy="650240"/>
        </p:xfrm>
        <a:graphic>
          <a:graphicData uri="http://schemas.openxmlformats.org/presentationml/2006/ole">
            <mc:AlternateContent xmlns:mc="http://schemas.openxmlformats.org/markup-compatibility/2006">
              <mc:Choice xmlns:v="urn:schemas-microsoft-com:vml" Requires="v">
                <p:oleObj spid="_x0000_s0" name="" r:id="rId1" imgW="177800" imgH="203200" progId="Equation.DSMT4">
                  <p:embed/>
                </p:oleObj>
              </mc:Choice>
              <mc:Fallback>
                <p:oleObj name="" r:id="rId1" imgW="177800" imgH="203200" progId="Equation.DSMT4">
                  <p:embed/>
                  <p:pic>
                    <p:nvPicPr>
                      <p:cNvPr id="0" name="图片 3075"/>
                      <p:cNvPicPr/>
                      <p:nvPr/>
                    </p:nvPicPr>
                    <p:blipFill>
                      <a:blip r:embed="rId2"/>
                      <a:stretch>
                        <a:fillRect/>
                      </a:stretch>
                    </p:blipFill>
                    <p:spPr>
                      <a:xfrm>
                        <a:off x="15773400" y="4076700"/>
                        <a:ext cx="650240" cy="650240"/>
                      </a:xfrm>
                      <a:prstGeom prst="rect">
                        <a:avLst/>
                      </a:prstGeom>
                      <a:noFill/>
                      <a:ln w="38100">
                        <a:noFill/>
                        <a:miter/>
                      </a:ln>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398526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的密钥长度被证明已经不能满足当前安全的要求，但为了充分利用有关</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的已有软件和硬件资源，人们开始提出针对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的各种改进方案，一种简单的方案是使用多重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多重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就是使用多个密钥利用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对明文进行多次加密。使用多重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可以增加密钥量，从而大大提高抵抗穷举攻击的能力，其中三重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被广泛采用。</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714500"/>
            <a:ext cx="16233140" cy="597852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是三个长度为56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的密钥。给定明文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则密文为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(3.4)</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给定密文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则明文为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(3.5)</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中，如果</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或</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就退化为使用一个56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单钥的单重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在1999年10月发布的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标准报告</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FIPS PUB 46-3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中推荐使用的三重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的情形，这是一种比较受欢迎的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的替代方案。</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互不相同的三重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在实际应用中也经常被采用。</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2147481943"/>
          <p:cNvGraphicFramePr>
            <a:graphicFrameLocks noChangeAspect="1"/>
          </p:cNvGraphicFramePr>
          <p:nvPr/>
        </p:nvGraphicFramePr>
        <p:xfrm>
          <a:off x="5486400" y="3009900"/>
          <a:ext cx="5243830" cy="867410"/>
        </p:xfrm>
        <a:graphic>
          <a:graphicData uri="http://schemas.openxmlformats.org/presentationml/2006/ole">
            <mc:AlternateContent xmlns:mc="http://schemas.openxmlformats.org/markup-compatibility/2006">
              <mc:Choice xmlns:v="urn:schemas-microsoft-com:vml" Requires="v">
                <p:oleObj spid="_x0000_s0" name="" r:id="rId1" imgW="1624965" imgH="266700" progId="Equation.DSMT4">
                  <p:embed/>
                </p:oleObj>
              </mc:Choice>
              <mc:Fallback>
                <p:oleObj name="" r:id="rId1" imgW="1624965" imgH="266700" progId="Equation.DSMT4">
                  <p:embed/>
                  <p:pic>
                    <p:nvPicPr>
                      <p:cNvPr id="0" name="图片 3075"/>
                      <p:cNvPicPr/>
                      <p:nvPr/>
                    </p:nvPicPr>
                    <p:blipFill>
                      <a:blip r:embed="rId2"/>
                      <a:stretch>
                        <a:fillRect/>
                      </a:stretch>
                    </p:blipFill>
                    <p:spPr>
                      <a:xfrm>
                        <a:off x="5486400" y="3009900"/>
                        <a:ext cx="5243830" cy="867410"/>
                      </a:xfrm>
                      <a:prstGeom prst="rect">
                        <a:avLst/>
                      </a:prstGeom>
                      <a:noFill/>
                      <a:ln w="38100">
                        <a:noFill/>
                        <a:miter/>
                      </a:ln>
                    </p:spPr>
                  </p:pic>
                </p:oleObj>
              </mc:Fallback>
            </mc:AlternateContent>
          </a:graphicData>
        </a:graphic>
      </p:graphicFrame>
      <p:graphicFrame>
        <p:nvGraphicFramePr>
          <p:cNvPr id="6" name="对象 -2147482190"/>
          <p:cNvGraphicFramePr>
            <a:graphicFrameLocks noChangeAspect="1"/>
          </p:cNvGraphicFramePr>
          <p:nvPr/>
        </p:nvGraphicFramePr>
        <p:xfrm>
          <a:off x="5793105" y="4229100"/>
          <a:ext cx="4937125" cy="816610"/>
        </p:xfrm>
        <a:graphic>
          <a:graphicData uri="http://schemas.openxmlformats.org/presentationml/2006/ole">
            <mc:AlternateContent xmlns:mc="http://schemas.openxmlformats.org/markup-compatibility/2006">
              <mc:Choice xmlns:v="urn:schemas-microsoft-com:vml" Requires="v">
                <p:oleObj spid="_x0000_s0" name="" r:id="rId3" imgW="1637665" imgH="266700" progId="Equation.DSMT4">
                  <p:embed/>
                </p:oleObj>
              </mc:Choice>
              <mc:Fallback>
                <p:oleObj name="" r:id="rId3" imgW="1637665" imgH="266700" progId="Equation.DSMT4">
                  <p:embed/>
                  <p:pic>
                    <p:nvPicPr>
                      <p:cNvPr id="0" name="图片 5"/>
                      <p:cNvPicPr/>
                      <p:nvPr/>
                    </p:nvPicPr>
                    <p:blipFill>
                      <a:blip r:embed="rId4"/>
                      <a:stretch>
                        <a:fillRect/>
                      </a:stretch>
                    </p:blipFill>
                    <p:spPr>
                      <a:xfrm>
                        <a:off x="5793105" y="4229100"/>
                        <a:ext cx="4937125" cy="81661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914400" y="1409700"/>
            <a:ext cx="16233140" cy="863536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有如下优点。</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（1）密钥长度增加到112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或168</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可以有效克服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面临的穷举攻击。</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（2）相对于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增强了抗差分分析和线性分析的能力。</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（3）具备继续使用现有的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实现的可能，对密码分析攻击有很强的免疫力。</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（4）由于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的软硬件产品已经在世界上大规模使用，升级到三重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比更换新算法的成本小得多。</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但由于是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的改进版本，三重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也具有许多先天不足：</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最初设计是基于硬件实现的，软件运行本身就偏慢，而三重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使用了三次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运算，故实现速度更慢；虽然密钥长度增加了，但明文分组的长度没有变化，仍为64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就效率和安全性而言，与密钥的增长不匹配。因此，三重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只是在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变得不安全的情况下的一种临时解决方案，根本的解决办法是开发能够适应当今计算能力的新算法。</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lang="en-US" altLang="zh-CN"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a:t>
            </a:r>
            <a:r>
              <a:rPr kumimoji="0" lang="en-US" altLang="zh-CN"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ES</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553210" y="2933700"/>
            <a:ext cx="15180310" cy="2748280"/>
          </a:xfrm>
          <a:prstGeom prst="rect">
            <a:avLst/>
          </a:prstGeom>
          <a:noFill/>
        </p:spPr>
        <p:txBody>
          <a:bodyPr wrap="square"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1977年1月15日，美国正式公布实施的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是一个众所周知的分组密码，其分组长度为64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密钥长度为56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目前尽管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已被</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所取代，但其设计思想仍然值得借鉴。下面将对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的产生、</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算法描述进行具体的阐述。</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a:t>
            </a:r>
            <a:r>
              <a:rPr kumimoji="0" lang="en-US" altLang="zh-CN"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ES</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79170" y="2324100"/>
            <a:ext cx="16329025" cy="6069965"/>
          </a:xfrm>
          <a:prstGeom prst="rect">
            <a:avLst/>
          </a:prstGeom>
          <a:noFill/>
        </p:spPr>
        <p:txBody>
          <a:bodyPr wrap="square" rtlCol="0" anchor="t">
            <a:spAutoFit/>
          </a:bodyPr>
          <a:lstStyle/>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随着计算能力的突飞猛进，超期“服役”若干年的DES算法终于显得力不从心，已走到了生命的尽头。DES的56bit密钥长度太小，虽然三重DES可以解决密钥长度的问题，但是正如3.2节指出的那样，三重DES存在一些根本缺陷，使得其不能成为长期使用的加密算法。鉴于此，1997年4月15日NIST发起征集AES算法的活动，目的是确定一个非保密的、公开的、全球免费使用的加密算法，用于保护政府的敏感信息，也希望能够成为保密和非保密部门公用的数字加密标准。1997年9月12日，美国联邦登记处公布了正式征集AES候选算法的通告，对AES的基本要求是：执行性能比三重DES快、至少与三重DES一样安全、数据分组长度为128bit、密钥长度为128/192/256bi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的产生</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524000" y="1790700"/>
            <a:ext cx="15688310" cy="7398385"/>
          </a:xfrm>
          <a:prstGeom prst="rect">
            <a:avLst/>
          </a:prstGeom>
        </p:spPr>
        <p:txBody>
          <a:bodyPr wrap="square">
            <a:spAutoFit/>
          </a:bodyPr>
          <a:lstStyle/>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由比利时密码学家Joan Daemen和Vincent Rijmen设计的Rijndael算法最终获胜，成为NIST选定的高级加密标准AES。该算法源于Square算法，采用针对差分分析和线性分析提出的宽轨迹策略，能够给出最佳差分特征概率和最佳线性逼近偏差的界，从而评估其抵抗差分密码分析与线性密码分析的能力。</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Rijndael采用非线性S盒，具有良好的安全性；在软硬件及不同工作模式下均有较高性能，密钥安装速度快，灵活性强。其内存需求较低，适用于资源受限环境，同时结构简单，并具备抵抗时间攻击和能量攻击的能力。算法还支持不同的分组长度和密钥长度，可根据参数组合调整迭代次数，内在的迭代结构也具有较好的防御潜力。</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总体来看，AES兼具安全性、效率和灵活性。经过多年分析与测试，尚未发现明显安全漏洞，目前已广泛应用于通信、金融、网络和日常生活等领域。</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的产生</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09600" y="1866900"/>
            <a:ext cx="16329025" cy="6734175"/>
          </a:xfrm>
          <a:prstGeom prst="rect">
            <a:avLst/>
          </a:prstGeom>
          <a:noFill/>
        </p:spPr>
        <p:txBody>
          <a:bodyPr wrap="square" rtlCol="0" anchor="t">
            <a:spAutoFit/>
          </a:bodyPr>
          <a:lstStyle/>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．有限域</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GF(28)</a:t>
            </a:r>
            <a:endParaRPr lang="en-US" altLang="zh-CN"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中的许多运算是按字节（</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Byte</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）定义的，一个字节为</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8bit</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中还有一些运算是按</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个字节的字定义的，一个</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个字节的字为</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32bit</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。将一个字节看成有限域</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中的一个元素，一个</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字节的字看成系数在</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中并且次数小于</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的多项式。</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有限域中的元素可以用多种不同的方式表示，本算法采用传统的多项式表示法。</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中的所有元素为所有系数在</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中并且次数小于</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8</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的多项式。将构成的一个字节看成多项式，其中。例如，十六进制数对应的二进制数为</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01010111</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，看成一个字节，对应的多项式为。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本算法采用的基本运算有三种，分别为加法运算、乘法运算和</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乘运算。</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2400300"/>
            <a:ext cx="16329025" cy="4741545"/>
          </a:xfrm>
          <a:prstGeom prst="rect">
            <a:avLst/>
          </a:prstGeom>
          <a:noFill/>
        </p:spPr>
        <p:txBody>
          <a:bodyPr wrap="square" rtlCol="0" anchor="t">
            <a:spAutoFit/>
          </a:bodyPr>
          <a:lstStyle/>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）加法运算</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有限域</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中的两个元素相加，结果是一个次数不超过</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7</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的多项式，其系数等于两个元素对应系数的模</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加（比特异或，符号定义为）。显然，有限域</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中的两个元素的加法与两个字节的按位模</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加是一致的。</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例如，十六进制数表示，多项式表示为，二进制数表示为，这三种表示方法是相互等价的。每个元素的加法逆元等于它本身，所以减法运算和加法运算相同。</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790700"/>
            <a:ext cx="16329025" cy="7842250"/>
          </a:xfrm>
          <a:prstGeom prst="rect">
            <a:avLst/>
          </a:prstGeom>
          <a:noFill/>
        </p:spPr>
        <p:txBody>
          <a:bodyPr wrap="square" rtlCol="0" anchor="t">
            <a:spAutoFit/>
          </a:bodyPr>
          <a:lstStyle/>
          <a:p>
            <a:pPr indent="914400" algn="just" latinLnBrk="1">
              <a:lnSpc>
                <a:spcPct val="120000"/>
              </a:lnSpc>
              <a:buClrTx/>
              <a:buSzTx/>
              <a:buFontTx/>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）乘法运算</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要计算有限域</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上的乘法，必须先确定一个</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GF(2)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上的</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次不可约多项式。</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上两个元素的乘积就是这两个多项式的模乘（以这个</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次不可约多项式为模）。如果一个多项式除了</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和其自身没有其他因子，那么它是不可约的。对于</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，这个</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次不可约多项式确定为，它的十六进制数表示为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011b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，二进制数表示为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0000000100011011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例如，十六进制数表示，多项式表示为</a:t>
            </a: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二进制数表示为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0101011110000011=11000001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。以上的乘法满足结合律，且有单位元</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（十六进制数表示）。对任何系数在二元域</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GF(2)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中并且次数小于</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的多项式</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b(x)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，可用推广的欧几里得算法得</a:t>
            </a: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即，因此</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是</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b(x)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的乘法逆元。</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再者，乘法还满足分配律。</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由以上的讨论可以看出，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256</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个字节值构成的集合，在以上定义的加法和乘法运算下，具有有限域</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GF(28)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的结构。</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409700"/>
            <a:ext cx="16329025" cy="8473440"/>
          </a:xfrm>
          <a:prstGeom prst="rect">
            <a:avLst/>
          </a:prstGeom>
          <a:noFill/>
        </p:spPr>
        <p:txBody>
          <a:bodyPr wrap="square" rtlCol="0" anchor="t">
            <a:noAutofit/>
          </a:bodyPr>
          <a:lstStyle/>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乘运算</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将上面的结果模</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m(x)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求余得到</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xb(x)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。若，则结果为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xb(x)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；若</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b7=1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，则必须先将乘积结果减去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m(x)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，结果为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xb(x)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乘以一个多项式简称</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乘。</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（十六进制数表示为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）乘可以用字节内左移一位和紧接着一个与</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的按位模</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加来实现，该运算记为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xtime</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运算。</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的更高次的乘法可以重复应用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xtime()</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来实现。对任意常数的乘法可以通过对中间结果相加来实现。例如，可按如下方式实现：</a:t>
            </a: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所以</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graphicFrame>
        <p:nvGraphicFramePr>
          <p:cNvPr id="5" name="对象 -2147482164"/>
          <p:cNvGraphicFramePr>
            <a:graphicFrameLocks noChangeAspect="1"/>
          </p:cNvGraphicFramePr>
          <p:nvPr/>
        </p:nvGraphicFramePr>
        <p:xfrm>
          <a:off x="4190683" y="1790700"/>
          <a:ext cx="9092565" cy="1788160"/>
        </p:xfrm>
        <a:graphic>
          <a:graphicData uri="http://schemas.openxmlformats.org/presentationml/2006/ole">
            <mc:AlternateContent xmlns:mc="http://schemas.openxmlformats.org/markup-compatibility/2006">
              <mc:Choice xmlns:v="urn:schemas-microsoft-com:vml" Requires="v">
                <p:oleObj spid="_x0000_s0" name="" r:id="rId1" imgW="9029700" imgH="1638300" progId="Equation.DSMT4">
                  <p:embed/>
                </p:oleObj>
              </mc:Choice>
              <mc:Fallback>
                <p:oleObj name="" r:id="rId1" imgW="9029700" imgH="1638300" progId="Equation.DSMT4">
                  <p:embed/>
                  <p:pic>
                    <p:nvPicPr>
                      <p:cNvPr id="0" name="图片 4"/>
                      <p:cNvPicPr/>
                      <p:nvPr/>
                    </p:nvPicPr>
                    <p:blipFill>
                      <a:blip r:embed="rId2"/>
                      <a:stretch>
                        <a:fillRect/>
                      </a:stretch>
                    </p:blipFill>
                    <p:spPr>
                      <a:xfrm>
                        <a:off x="4190683" y="1790700"/>
                        <a:ext cx="9092565" cy="1788160"/>
                      </a:xfrm>
                      <a:prstGeom prst="rect">
                        <a:avLst/>
                      </a:prstGeom>
                      <a:noFill/>
                      <a:ln w="38100">
                        <a:noFill/>
                        <a:miter/>
                      </a:ln>
                    </p:spPr>
                  </p:pic>
                </p:oleObj>
              </mc:Fallback>
            </mc:AlternateContent>
          </a:graphicData>
        </a:graphic>
      </p:graphicFrame>
      <p:graphicFrame>
        <p:nvGraphicFramePr>
          <p:cNvPr id="8" name="对象 -2147482158"/>
          <p:cNvGraphicFramePr>
            <a:graphicFrameLocks noChangeAspect="1"/>
          </p:cNvGraphicFramePr>
          <p:nvPr/>
        </p:nvGraphicFramePr>
        <p:xfrm>
          <a:off x="2883535" y="7048500"/>
          <a:ext cx="11932920" cy="494030"/>
        </p:xfrm>
        <a:graphic>
          <a:graphicData uri="http://schemas.openxmlformats.org/presentationml/2006/ole">
            <mc:AlternateContent xmlns:mc="http://schemas.openxmlformats.org/markup-compatibility/2006">
              <mc:Choice xmlns:v="urn:schemas-microsoft-com:vml" Requires="v">
                <p:oleObj spid="_x0000_s0" name="" r:id="rId3" imgW="4445000" imgH="190500" progId="Equation.DSMT4">
                  <p:embed/>
                </p:oleObj>
              </mc:Choice>
              <mc:Fallback>
                <p:oleObj name="" r:id="rId3" imgW="4445000" imgH="190500" progId="Equation.DSMT4">
                  <p:embed/>
                  <p:pic>
                    <p:nvPicPr>
                      <p:cNvPr id="0" name="图片 6"/>
                      <p:cNvPicPr/>
                      <p:nvPr/>
                    </p:nvPicPr>
                    <p:blipFill>
                      <a:blip r:embed="rId4"/>
                      <a:stretch>
                        <a:fillRect/>
                      </a:stretch>
                    </p:blipFill>
                    <p:spPr>
                      <a:xfrm>
                        <a:off x="2883535" y="7048500"/>
                        <a:ext cx="11932920" cy="494030"/>
                      </a:xfrm>
                      <a:prstGeom prst="rect">
                        <a:avLst/>
                      </a:prstGeom>
                      <a:noFill/>
                      <a:ln w="38100">
                        <a:noFill/>
                        <a:miter/>
                      </a:ln>
                    </p:spPr>
                  </p:pic>
                </p:oleObj>
              </mc:Fallback>
            </mc:AlternateContent>
          </a:graphicData>
        </a:graphic>
      </p:graphicFrame>
      <p:graphicFrame>
        <p:nvGraphicFramePr>
          <p:cNvPr id="10" name="对象 -2147482157"/>
          <p:cNvGraphicFramePr>
            <a:graphicFrameLocks noChangeAspect="1"/>
          </p:cNvGraphicFramePr>
          <p:nvPr/>
        </p:nvGraphicFramePr>
        <p:xfrm>
          <a:off x="3014345" y="7649845"/>
          <a:ext cx="11859895" cy="548640"/>
        </p:xfrm>
        <a:graphic>
          <a:graphicData uri="http://schemas.openxmlformats.org/presentationml/2006/ole">
            <mc:AlternateContent xmlns:mc="http://schemas.openxmlformats.org/markup-compatibility/2006">
              <mc:Choice xmlns:v="urn:schemas-microsoft-com:vml" Requires="v">
                <p:oleObj spid="_x0000_s0" name="" r:id="rId5" imgW="4445000" imgH="190500" progId="Equation.DSMT4">
                  <p:embed/>
                </p:oleObj>
              </mc:Choice>
              <mc:Fallback>
                <p:oleObj name="" r:id="rId5" imgW="4445000" imgH="190500" progId="Equation.DSMT4">
                  <p:embed/>
                  <p:pic>
                    <p:nvPicPr>
                      <p:cNvPr id="0" name="图片 7"/>
                      <p:cNvPicPr/>
                      <p:nvPr/>
                    </p:nvPicPr>
                    <p:blipFill>
                      <a:blip r:embed="rId6"/>
                      <a:stretch>
                        <a:fillRect/>
                      </a:stretch>
                    </p:blipFill>
                    <p:spPr>
                      <a:xfrm>
                        <a:off x="3014345" y="7649845"/>
                        <a:ext cx="11859895" cy="548640"/>
                      </a:xfrm>
                      <a:prstGeom prst="rect">
                        <a:avLst/>
                      </a:prstGeom>
                      <a:noFill/>
                      <a:ln w="38100">
                        <a:noFill/>
                        <a:miter/>
                      </a:ln>
                    </p:spPr>
                  </p:pic>
                </p:oleObj>
              </mc:Fallback>
            </mc:AlternateContent>
          </a:graphicData>
        </a:graphic>
      </p:graphicFrame>
      <p:graphicFrame>
        <p:nvGraphicFramePr>
          <p:cNvPr id="12" name="对象 -2147482156"/>
          <p:cNvGraphicFramePr>
            <a:graphicFrameLocks noChangeAspect="1"/>
          </p:cNvGraphicFramePr>
          <p:nvPr/>
        </p:nvGraphicFramePr>
        <p:xfrm>
          <a:off x="2971800" y="8323580"/>
          <a:ext cx="11791315" cy="498475"/>
        </p:xfrm>
        <a:graphic>
          <a:graphicData uri="http://schemas.openxmlformats.org/presentationml/2006/ole">
            <mc:AlternateContent xmlns:mc="http://schemas.openxmlformats.org/markup-compatibility/2006">
              <mc:Choice xmlns:v="urn:schemas-microsoft-com:vml" Requires="v">
                <p:oleObj spid="_x0000_s0" name="" r:id="rId7" imgW="4419600" imgH="190500" progId="Equation.DSMT4">
                  <p:embed/>
                </p:oleObj>
              </mc:Choice>
              <mc:Fallback>
                <p:oleObj name="" r:id="rId7" imgW="4419600" imgH="190500" progId="Equation.DSMT4">
                  <p:embed/>
                  <p:pic>
                    <p:nvPicPr>
                      <p:cNvPr id="0" name="图片 8"/>
                      <p:cNvPicPr/>
                      <p:nvPr/>
                    </p:nvPicPr>
                    <p:blipFill>
                      <a:blip r:embed="rId8"/>
                      <a:stretch>
                        <a:fillRect/>
                      </a:stretch>
                    </p:blipFill>
                    <p:spPr>
                      <a:xfrm>
                        <a:off x="2971800" y="8323580"/>
                        <a:ext cx="11791315" cy="498475"/>
                      </a:xfrm>
                      <a:prstGeom prst="rect">
                        <a:avLst/>
                      </a:prstGeom>
                      <a:noFill/>
                      <a:ln w="38100">
                        <a:noFill/>
                        <a:miter/>
                      </a:ln>
                    </p:spPr>
                  </p:pic>
                </p:oleObj>
              </mc:Fallback>
            </mc:AlternateContent>
          </a:graphicData>
        </a:graphic>
      </p:graphicFrame>
      <p:graphicFrame>
        <p:nvGraphicFramePr>
          <p:cNvPr id="14" name="对象 -2147482155"/>
          <p:cNvGraphicFramePr>
            <a:graphicFrameLocks noChangeAspect="1"/>
          </p:cNvGraphicFramePr>
          <p:nvPr/>
        </p:nvGraphicFramePr>
        <p:xfrm>
          <a:off x="3048000" y="8874125"/>
          <a:ext cx="11825605" cy="499110"/>
        </p:xfrm>
        <a:graphic>
          <a:graphicData uri="http://schemas.openxmlformats.org/presentationml/2006/ole">
            <mc:AlternateContent xmlns:mc="http://schemas.openxmlformats.org/markup-compatibility/2006">
              <mc:Choice xmlns:v="urn:schemas-microsoft-com:vml" Requires="v">
                <p:oleObj spid="_x0000_s0" name="" r:id="rId9" imgW="4406900" imgH="190500" progId="Equation.DSMT4">
                  <p:embed/>
                </p:oleObj>
              </mc:Choice>
              <mc:Fallback>
                <p:oleObj name="" r:id="rId9" imgW="4406900" imgH="190500" progId="Equation.DSMT4">
                  <p:embed/>
                  <p:pic>
                    <p:nvPicPr>
                      <p:cNvPr id="0" name="图片 9"/>
                      <p:cNvPicPr/>
                      <p:nvPr/>
                    </p:nvPicPr>
                    <p:blipFill>
                      <a:blip r:embed="rId10"/>
                      <a:stretch>
                        <a:fillRect/>
                      </a:stretch>
                    </p:blipFill>
                    <p:spPr>
                      <a:xfrm>
                        <a:off x="3048000" y="8874125"/>
                        <a:ext cx="11825605" cy="499110"/>
                      </a:xfrm>
                      <a:prstGeom prst="rect">
                        <a:avLst/>
                      </a:prstGeom>
                      <a:noFill/>
                      <a:ln w="38100">
                        <a:noFill/>
                        <a:miter/>
                      </a:ln>
                    </p:spPr>
                  </p:pic>
                </p:oleObj>
              </mc:Fallback>
            </mc:AlternateContent>
          </a:graphicData>
        </a:graphic>
      </p:graphicFrame>
      <p:graphicFrame>
        <p:nvGraphicFramePr>
          <p:cNvPr id="16" name="对象 15"/>
          <p:cNvGraphicFramePr>
            <a:graphicFrameLocks noChangeAspect="1"/>
          </p:cNvGraphicFramePr>
          <p:nvPr/>
        </p:nvGraphicFramePr>
        <p:xfrm>
          <a:off x="4876800" y="9486900"/>
          <a:ext cx="8229600" cy="556260"/>
        </p:xfrm>
        <a:graphic>
          <a:graphicData uri="http://schemas.openxmlformats.org/presentationml/2006/ole">
            <mc:AlternateContent xmlns:mc="http://schemas.openxmlformats.org/markup-compatibility/2006">
              <mc:Choice xmlns:v="urn:schemas-microsoft-com:vml" Requires="v">
                <p:oleObj spid="_x0000_s0" name="" r:id="rId11" imgW="2755900" imgH="190500" progId="Equation.DSMT4">
                  <p:embed/>
                </p:oleObj>
              </mc:Choice>
              <mc:Fallback>
                <p:oleObj name="" r:id="rId11" imgW="2755900" imgH="190500" progId="Equation.DSMT4">
                  <p:embed/>
                  <p:pic>
                    <p:nvPicPr>
                      <p:cNvPr id="0" name="图片 11"/>
                      <p:cNvPicPr/>
                      <p:nvPr/>
                    </p:nvPicPr>
                    <p:blipFill>
                      <a:blip r:embed="rId12"/>
                      <a:stretch>
                        <a:fillRect/>
                      </a:stretch>
                    </p:blipFill>
                    <p:spPr>
                      <a:xfrm>
                        <a:off x="4876800" y="9486900"/>
                        <a:ext cx="8229600" cy="55626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1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9" name="组合 18"/>
          <p:cNvGrpSpPr/>
          <p:nvPr/>
        </p:nvGrpSpPr>
        <p:grpSpPr>
          <a:xfrm>
            <a:off x="13639786" y="733421"/>
            <a:ext cx="3700052" cy="416951"/>
            <a:chOff x="13811849" y="507954"/>
            <a:chExt cx="3700052" cy="416951"/>
          </a:xfrm>
        </p:grpSpPr>
        <p:sp>
          <p:nvSpPr>
            <p:cNvPr id="20" name="文本框 19"/>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1" name="图片 20"/>
            <p:cNvPicPr>
              <a:picLocks noChangeAspect="1"/>
            </p:cNvPicPr>
            <p:nvPr/>
          </p:nvPicPr>
          <p:blipFill>
            <a:blip r:embed="rId14"/>
            <a:stretch>
              <a:fillRect/>
            </a:stretch>
          </p:blipFill>
          <p:spPr>
            <a:xfrm>
              <a:off x="13944600" y="877286"/>
              <a:ext cx="2771429" cy="47619"/>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1143000" y="1866900"/>
            <a:ext cx="15883255" cy="7237095"/>
          </a:xfrm>
          <a:prstGeom prst="rect">
            <a:avLst/>
          </a:prstGeom>
        </p:spPr>
        <p:txBody>
          <a:bodyPr>
            <a:noAutofit/>
          </a:bodyPr>
          <a:lstStyle/>
          <a:p>
            <a:pPr indent="279400" algn="just" defTabSz="266700">
              <a:lnSpc>
                <a:spcPts val="1670"/>
              </a:lnSpc>
              <a:spcBef>
                <a:spcPts val="300"/>
              </a:spcBef>
              <a:spcAft>
                <a:spcPts val="100"/>
              </a:spcAft>
            </a:pPr>
            <a:r>
              <a:rPr lang="en-US" altLang="zh-CN" sz="3600" dirty="0">
                <a:latin typeface="宋体" panose="02010600030101010101" pitchFamily="2" charset="-122"/>
                <a:ea typeface="宋体" panose="02010600030101010101" pitchFamily="2" charset="-122"/>
                <a:cs typeface="宋体" panose="02010600030101010101" pitchFamily="2" charset="-122"/>
              </a:rPr>
              <a:t>2</a:t>
            </a:r>
            <a:r>
              <a:rPr lang="zh-CN" altLang="en-US" sz="3600" dirty="0">
                <a:latin typeface="宋体" panose="02010600030101010101" pitchFamily="2" charset="-122"/>
                <a:ea typeface="宋体" panose="02010600030101010101" pitchFamily="2" charset="-122"/>
                <a:cs typeface="宋体" panose="02010600030101010101" pitchFamily="2" charset="-122"/>
              </a:rPr>
              <a:t>．系数在</a:t>
            </a:r>
            <a:r>
              <a:rPr lang="en-US" altLang="zh-CN" sz="3600" dirty="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dirty="0">
                <a:latin typeface="宋体" panose="02010600030101010101" pitchFamily="2" charset="-122"/>
                <a:ea typeface="宋体" panose="02010600030101010101" pitchFamily="2" charset="-122"/>
                <a:cs typeface="宋体" panose="02010600030101010101" pitchFamily="2" charset="-122"/>
              </a:rPr>
              <a:t>8</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上的多项式</a:t>
            </a:r>
            <a:endParaRPr lang="zh-CN" altLang="en-US" sz="3600" dirty="0">
              <a:latin typeface="宋体" panose="02010600030101010101" pitchFamily="2" charset="-122"/>
              <a:ea typeface="宋体" panose="02010600030101010101" pitchFamily="2" charset="-122"/>
              <a:cs typeface="宋体" panose="02010600030101010101" pitchFamily="2" charset="-122"/>
            </a:endParaRPr>
          </a:p>
          <a:p>
            <a:pPr indent="279400" algn="just" defTabSz="266700">
              <a:lnSpc>
                <a:spcPts val="1670"/>
              </a:lnSpc>
              <a:spcBef>
                <a:spcPts val="300"/>
              </a:spcBef>
              <a:spcAft>
                <a:spcPts val="100"/>
              </a:spcAft>
            </a:pPr>
            <a:endParaRPr lang="zh-CN" altLang="en-US" sz="3600" dirty="0">
              <a:latin typeface="宋体" panose="02010600030101010101" pitchFamily="2" charset="-122"/>
              <a:ea typeface="宋体" panose="02010600030101010101" pitchFamily="2" charset="-122"/>
              <a:cs typeface="宋体" panose="02010600030101010101" pitchFamily="2" charset="-122"/>
            </a:endParaRPr>
          </a:p>
          <a:p>
            <a:pPr defTabSz="266700"/>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多项式的系数可以定义为</a:t>
            </a:r>
            <a:r>
              <a:rPr lang="en-US" altLang="zh-CN" sz="3600" dirty="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dirty="0">
                <a:latin typeface="宋体" panose="02010600030101010101" pitchFamily="2" charset="-122"/>
                <a:ea typeface="宋体" panose="02010600030101010101" pitchFamily="2" charset="-122"/>
                <a:cs typeface="宋体" panose="02010600030101010101" pitchFamily="2" charset="-122"/>
              </a:rPr>
              <a:t>8</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中的元素，通过这一方法，</a:t>
            </a:r>
            <a:r>
              <a:rPr lang="en-US" altLang="zh-CN" sz="3600" dirty="0">
                <a:latin typeface="宋体" panose="02010600030101010101" pitchFamily="2" charset="-122"/>
                <a:ea typeface="宋体" panose="02010600030101010101" pitchFamily="2" charset="-122"/>
                <a:cs typeface="宋体" panose="02010600030101010101" pitchFamily="2" charset="-122"/>
              </a:rPr>
              <a:t>4</a:t>
            </a:r>
            <a:r>
              <a:rPr lang="zh-CN" altLang="en-US" sz="3600" dirty="0">
                <a:latin typeface="宋体" panose="02010600030101010101" pitchFamily="2" charset="-122"/>
                <a:ea typeface="宋体" panose="02010600030101010101" pitchFamily="2" charset="-122"/>
                <a:cs typeface="宋体" panose="02010600030101010101" pitchFamily="2" charset="-122"/>
              </a:rPr>
              <a:t>个字节构成的字可以表示为系数在</a:t>
            </a:r>
            <a:r>
              <a:rPr lang="en-US" altLang="zh-CN" sz="3600" dirty="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dirty="0">
                <a:latin typeface="宋体" panose="02010600030101010101" pitchFamily="2" charset="-122"/>
                <a:ea typeface="宋体" panose="02010600030101010101" pitchFamily="2" charset="-122"/>
                <a:cs typeface="宋体" panose="02010600030101010101" pitchFamily="2" charset="-122"/>
              </a:rPr>
              <a:t>8</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上的次数小于</a:t>
            </a:r>
            <a:r>
              <a:rPr lang="en-US" altLang="zh-CN" sz="3600" dirty="0">
                <a:latin typeface="宋体" panose="02010600030101010101" pitchFamily="2" charset="-122"/>
                <a:ea typeface="宋体" panose="02010600030101010101" pitchFamily="2" charset="-122"/>
                <a:cs typeface="宋体" panose="02010600030101010101" pitchFamily="2" charset="-122"/>
              </a:rPr>
              <a:t>4</a:t>
            </a:r>
            <a:r>
              <a:rPr lang="zh-CN" altLang="en-US" sz="3600" dirty="0">
                <a:latin typeface="宋体" panose="02010600030101010101" pitchFamily="2" charset="-122"/>
                <a:ea typeface="宋体" panose="02010600030101010101" pitchFamily="2" charset="-122"/>
                <a:cs typeface="宋体" panose="02010600030101010101" pitchFamily="2" charset="-122"/>
              </a:rPr>
              <a:t>的多项式，多项式的加法就是对应系数相加。</a:t>
            </a:r>
            <a:r>
              <a:rPr lang="en-US" altLang="zh-CN" sz="3600" dirty="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dirty="0">
                <a:latin typeface="宋体" panose="02010600030101010101" pitchFamily="2" charset="-122"/>
                <a:ea typeface="宋体" panose="02010600030101010101" pitchFamily="2" charset="-122"/>
                <a:cs typeface="宋体" panose="02010600030101010101" pitchFamily="2" charset="-122"/>
              </a:rPr>
              <a:t>8</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中的加法为按位模</a:t>
            </a:r>
            <a:r>
              <a:rPr lang="en-US" altLang="zh-CN" sz="3600" dirty="0">
                <a:latin typeface="宋体" panose="02010600030101010101" pitchFamily="2" charset="-122"/>
                <a:ea typeface="宋体" panose="02010600030101010101" pitchFamily="2" charset="-122"/>
                <a:cs typeface="宋体" panose="02010600030101010101" pitchFamily="2" charset="-122"/>
              </a:rPr>
              <a:t>2</a:t>
            </a:r>
            <a:r>
              <a:rPr lang="zh-CN" altLang="en-US" sz="3600" dirty="0">
                <a:latin typeface="宋体" panose="02010600030101010101" pitchFamily="2" charset="-122"/>
                <a:ea typeface="宋体" panose="02010600030101010101" pitchFamily="2" charset="-122"/>
                <a:cs typeface="宋体" panose="02010600030101010101" pitchFamily="2" charset="-122"/>
              </a:rPr>
              <a:t>加，因此两个</a:t>
            </a:r>
            <a:r>
              <a:rPr lang="en-US" altLang="zh-CN" sz="3600" dirty="0">
                <a:latin typeface="宋体" panose="02010600030101010101" pitchFamily="2" charset="-122"/>
                <a:ea typeface="宋体" panose="02010600030101010101" pitchFamily="2" charset="-122"/>
                <a:cs typeface="宋体" panose="02010600030101010101" pitchFamily="2" charset="-122"/>
              </a:rPr>
              <a:t>4</a:t>
            </a:r>
            <a:r>
              <a:rPr lang="zh-CN" altLang="en-US" sz="3600" dirty="0">
                <a:latin typeface="宋体" panose="02010600030101010101" pitchFamily="2" charset="-122"/>
                <a:ea typeface="宋体" panose="02010600030101010101" pitchFamily="2" charset="-122"/>
                <a:cs typeface="宋体" panose="02010600030101010101" pitchFamily="2" charset="-122"/>
              </a:rPr>
              <a:t>字节字的加法就是按位模</a:t>
            </a:r>
            <a:r>
              <a:rPr lang="en-US" altLang="zh-CN" sz="3600" dirty="0">
                <a:latin typeface="宋体" panose="02010600030101010101" pitchFamily="2" charset="-122"/>
                <a:ea typeface="宋体" panose="02010600030101010101" pitchFamily="2" charset="-122"/>
                <a:cs typeface="宋体" panose="02010600030101010101" pitchFamily="2" charset="-122"/>
              </a:rPr>
              <a:t>2</a:t>
            </a:r>
            <a:r>
              <a:rPr lang="zh-CN" altLang="en-US" sz="3600" dirty="0">
                <a:latin typeface="宋体" panose="02010600030101010101" pitchFamily="2" charset="-122"/>
                <a:ea typeface="宋体" panose="02010600030101010101" pitchFamily="2" charset="-122"/>
                <a:cs typeface="宋体" panose="02010600030101010101" pitchFamily="2" charset="-122"/>
              </a:rPr>
              <a:t>加。</a:t>
            </a:r>
            <a:endParaRPr lang="zh-CN" altLang="en-US" sz="3600" dirty="0">
              <a:latin typeface="宋体" panose="02010600030101010101" pitchFamily="2" charset="-122"/>
              <a:ea typeface="宋体" panose="02010600030101010101" pitchFamily="2" charset="-122"/>
              <a:cs typeface="宋体" panose="02010600030101010101" pitchFamily="2" charset="-122"/>
            </a:endParaRPr>
          </a:p>
          <a:p>
            <a:pPr defTabSz="266700"/>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乘法运算比较复杂，规定多项式的乘法运算必须要取模</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这样使得次数小于</a:t>
            </a:r>
            <a:r>
              <a:rPr lang="en-US" altLang="zh-CN" sz="3600" dirty="0">
                <a:latin typeface="宋体" panose="02010600030101010101" pitchFamily="2" charset="-122"/>
                <a:ea typeface="宋体" panose="02010600030101010101" pitchFamily="2" charset="-122"/>
                <a:cs typeface="宋体" panose="02010600030101010101" pitchFamily="2" charset="-122"/>
              </a:rPr>
              <a:t>4</a:t>
            </a:r>
            <a:r>
              <a:rPr lang="zh-CN" altLang="en-US" sz="3600" dirty="0">
                <a:latin typeface="宋体" panose="02010600030101010101" pitchFamily="2" charset="-122"/>
                <a:ea typeface="宋体" panose="02010600030101010101" pitchFamily="2" charset="-122"/>
                <a:cs typeface="宋体" panose="02010600030101010101" pitchFamily="2" charset="-122"/>
              </a:rPr>
              <a:t>的多项式的乘积仍然是一个次数小于</a:t>
            </a:r>
            <a:r>
              <a:rPr lang="en-US" altLang="zh-CN" sz="3600" dirty="0">
                <a:latin typeface="宋体" panose="02010600030101010101" pitchFamily="2" charset="-122"/>
                <a:ea typeface="宋体" panose="02010600030101010101" pitchFamily="2" charset="-122"/>
                <a:cs typeface="宋体" panose="02010600030101010101" pitchFamily="2" charset="-122"/>
              </a:rPr>
              <a:t>4</a:t>
            </a:r>
            <a:r>
              <a:rPr lang="zh-CN" altLang="en-US" sz="3600" dirty="0">
                <a:latin typeface="宋体" panose="02010600030101010101" pitchFamily="2" charset="-122"/>
                <a:ea typeface="宋体" panose="02010600030101010101" pitchFamily="2" charset="-122"/>
                <a:cs typeface="宋体" panose="02010600030101010101" pitchFamily="2" charset="-122"/>
              </a:rPr>
              <a:t>的多项式，将多项式的模乘运算记为</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。设</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和</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为</a:t>
            </a:r>
            <a:r>
              <a:rPr lang="en-US" altLang="zh-CN" sz="3600" dirty="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dirty="0">
                <a:latin typeface="宋体" panose="02010600030101010101" pitchFamily="2" charset="-122"/>
                <a:ea typeface="宋体" panose="02010600030101010101" pitchFamily="2" charset="-122"/>
                <a:cs typeface="宋体" panose="02010600030101010101" pitchFamily="2" charset="-122"/>
              </a:rPr>
              <a:t>8</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上的两个多项式，有</a:t>
            </a:r>
            <a:r>
              <a:rPr lang="en-US" altLang="zh-CN" sz="3600" dirty="0">
                <a:latin typeface="宋体" panose="02010600030101010101" pitchFamily="2" charset="-122"/>
                <a:ea typeface="宋体" panose="02010600030101010101" pitchFamily="2" charset="-122"/>
                <a:cs typeface="宋体" panose="02010600030101010101" pitchFamily="2" charset="-122"/>
              </a:rPr>
              <a:t> </a:t>
            </a:r>
            <a:endParaRPr lang="en-US" altLang="zh-CN" sz="3600" dirty="0">
              <a:latin typeface="宋体" panose="02010600030101010101" pitchFamily="2" charset="-122"/>
              <a:ea typeface="宋体" panose="02010600030101010101" pitchFamily="2" charset="-122"/>
              <a:cs typeface="宋体" panose="02010600030101010101" pitchFamily="2" charset="-122"/>
            </a:endParaRPr>
          </a:p>
          <a:p>
            <a:pPr defTabSz="266700"/>
            <a:r>
              <a:rPr lang="zh-CN" altLang="en-US" sz="3600" dirty="0">
                <a:latin typeface="宋体" panose="02010600030101010101" pitchFamily="2" charset="-122"/>
                <a:ea typeface="宋体" panose="02010600030101010101" pitchFamily="2" charset="-122"/>
                <a:cs typeface="宋体" panose="02010600030101010101" pitchFamily="2" charset="-122"/>
              </a:rPr>
              <a:t>则：</a:t>
            </a:r>
            <a:r>
              <a:rPr lang="en-US" altLang="zh-CN" sz="3600" dirty="0">
                <a:latin typeface="宋体" panose="02010600030101010101" pitchFamily="2" charset="-122"/>
                <a:ea typeface="宋体" panose="02010600030101010101" pitchFamily="2" charset="-122"/>
                <a:cs typeface="宋体" panose="02010600030101010101" pitchFamily="2" charset="-122"/>
              </a:rPr>
              <a:t>                       </a:t>
            </a:r>
            <a:endParaRPr lang="en-US" altLang="zh-CN" sz="36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153"/>
          <p:cNvGraphicFramePr>
            <a:graphicFrameLocks noChangeAspect="1"/>
          </p:cNvGraphicFramePr>
          <p:nvPr/>
        </p:nvGraphicFramePr>
        <p:xfrm>
          <a:off x="12725400" y="4000500"/>
          <a:ext cx="2355850" cy="599440"/>
        </p:xfrm>
        <a:graphic>
          <a:graphicData uri="http://schemas.openxmlformats.org/presentationml/2006/ole">
            <mc:AlternateContent xmlns:mc="http://schemas.openxmlformats.org/markup-compatibility/2006">
              <mc:Choice xmlns:v="urn:schemas-microsoft-com:vml" Requires="v">
                <p:oleObj spid="_x0000_s0" name="" r:id="rId1" imgW="736600" imgH="203200" progId="Equation.DSMT4">
                  <p:embed/>
                </p:oleObj>
              </mc:Choice>
              <mc:Fallback>
                <p:oleObj name="" r:id="rId1" imgW="736600" imgH="203200" progId="Equation.DSMT4">
                  <p:embed/>
                  <p:pic>
                    <p:nvPicPr>
                      <p:cNvPr id="0" name="图片 3075"/>
                      <p:cNvPicPr/>
                      <p:nvPr/>
                    </p:nvPicPr>
                    <p:blipFill>
                      <a:blip r:embed="rId2"/>
                      <a:stretch>
                        <a:fillRect/>
                      </a:stretch>
                    </p:blipFill>
                    <p:spPr>
                      <a:xfrm>
                        <a:off x="12725400" y="4000500"/>
                        <a:ext cx="2355850" cy="599440"/>
                      </a:xfrm>
                      <a:prstGeom prst="rect">
                        <a:avLst/>
                      </a:prstGeom>
                      <a:noFill/>
                      <a:ln w="38100">
                        <a:noFill/>
                        <a:miter/>
                      </a:ln>
                    </p:spPr>
                  </p:pic>
                </p:oleObj>
              </mc:Fallback>
            </mc:AlternateContent>
          </a:graphicData>
        </a:graphic>
      </p:graphicFrame>
      <p:graphicFrame>
        <p:nvGraphicFramePr>
          <p:cNvPr id="6" name="对象 -2147482152"/>
          <p:cNvGraphicFramePr>
            <a:graphicFrameLocks noChangeAspect="1"/>
          </p:cNvGraphicFramePr>
          <p:nvPr/>
        </p:nvGraphicFramePr>
        <p:xfrm>
          <a:off x="3124200" y="5219700"/>
          <a:ext cx="382905" cy="413385"/>
        </p:xfrm>
        <a:graphic>
          <a:graphicData uri="http://schemas.openxmlformats.org/presentationml/2006/ole">
            <mc:AlternateContent xmlns:mc="http://schemas.openxmlformats.org/markup-compatibility/2006">
              <mc:Choice xmlns:v="urn:schemas-microsoft-com:vml" Requires="v">
                <p:oleObj spid="_x0000_s0" name="" r:id="rId3" imgW="139700" imgH="152400" progId="Equation.DSMT4">
                  <p:embed/>
                </p:oleObj>
              </mc:Choice>
              <mc:Fallback>
                <p:oleObj name="" r:id="rId3" imgW="139700" imgH="152400" progId="Equation.DSMT4">
                  <p:embed/>
                  <p:pic>
                    <p:nvPicPr>
                      <p:cNvPr id="0" name="图片 36"/>
                      <p:cNvPicPr/>
                      <p:nvPr/>
                    </p:nvPicPr>
                    <p:blipFill>
                      <a:blip r:embed="rId4"/>
                      <a:stretch>
                        <a:fillRect/>
                      </a:stretch>
                    </p:blipFill>
                    <p:spPr>
                      <a:xfrm>
                        <a:off x="3124200" y="5219700"/>
                        <a:ext cx="382905" cy="413385"/>
                      </a:xfrm>
                      <a:prstGeom prst="rect">
                        <a:avLst/>
                      </a:prstGeom>
                      <a:noFill/>
                      <a:ln w="38100">
                        <a:noFill/>
                        <a:miter/>
                      </a:ln>
                    </p:spPr>
                  </p:pic>
                </p:oleObj>
              </mc:Fallback>
            </mc:AlternateContent>
          </a:graphicData>
        </a:graphic>
      </p:graphicFrame>
      <p:graphicFrame>
        <p:nvGraphicFramePr>
          <p:cNvPr id="7" name="对象 -2147482151"/>
          <p:cNvGraphicFramePr>
            <a:graphicFrameLocks noChangeAspect="1"/>
          </p:cNvGraphicFramePr>
          <p:nvPr/>
        </p:nvGraphicFramePr>
        <p:xfrm>
          <a:off x="4495800" y="5143500"/>
          <a:ext cx="3800475" cy="481965"/>
        </p:xfrm>
        <a:graphic>
          <a:graphicData uri="http://schemas.openxmlformats.org/presentationml/2006/ole">
            <mc:AlternateContent xmlns:mc="http://schemas.openxmlformats.org/markup-compatibility/2006">
              <mc:Choice xmlns:v="urn:schemas-microsoft-com:vml" Requires="v">
                <p:oleObj spid="_x0000_s0" name="" r:id="rId5" imgW="1459865" imgH="203200" progId="Equation.DSMT4">
                  <p:embed/>
                </p:oleObj>
              </mc:Choice>
              <mc:Fallback>
                <p:oleObj name="" r:id="rId5" imgW="1459865" imgH="203200" progId="Equation.DSMT4">
                  <p:embed/>
                  <p:pic>
                    <p:nvPicPr>
                      <p:cNvPr id="0" name="图片 37"/>
                      <p:cNvPicPr/>
                      <p:nvPr/>
                    </p:nvPicPr>
                    <p:blipFill>
                      <a:blip r:embed="rId6"/>
                      <a:stretch>
                        <a:fillRect/>
                      </a:stretch>
                    </p:blipFill>
                    <p:spPr>
                      <a:xfrm>
                        <a:off x="4495800" y="5143500"/>
                        <a:ext cx="3800475" cy="481965"/>
                      </a:xfrm>
                      <a:prstGeom prst="rect">
                        <a:avLst/>
                      </a:prstGeom>
                      <a:noFill/>
                      <a:ln w="38100">
                        <a:noFill/>
                        <a:miter/>
                      </a:ln>
                    </p:spPr>
                  </p:pic>
                </p:oleObj>
              </mc:Fallback>
            </mc:AlternateContent>
          </a:graphicData>
        </a:graphic>
      </p:graphicFrame>
      <p:graphicFrame>
        <p:nvGraphicFramePr>
          <p:cNvPr id="8" name="对象 -2147482150"/>
          <p:cNvGraphicFramePr>
            <a:graphicFrameLocks noChangeAspect="1"/>
          </p:cNvGraphicFramePr>
          <p:nvPr/>
        </p:nvGraphicFramePr>
        <p:xfrm>
          <a:off x="8915400" y="5192395"/>
          <a:ext cx="3258185" cy="440690"/>
        </p:xfrm>
        <a:graphic>
          <a:graphicData uri="http://schemas.openxmlformats.org/presentationml/2006/ole">
            <mc:AlternateContent xmlns:mc="http://schemas.openxmlformats.org/markup-compatibility/2006">
              <mc:Choice xmlns:v="urn:schemas-microsoft-com:vml" Requires="v">
                <p:oleObj spid="_x0000_s0" name="" r:id="rId7" imgW="1409065" imgH="203200" progId="Equation.DSMT4">
                  <p:embed/>
                </p:oleObj>
              </mc:Choice>
              <mc:Fallback>
                <p:oleObj name="" r:id="rId7" imgW="1409065" imgH="203200" progId="Equation.DSMT4">
                  <p:embed/>
                  <p:pic>
                    <p:nvPicPr>
                      <p:cNvPr id="0" name="图片 38"/>
                      <p:cNvPicPr/>
                      <p:nvPr/>
                    </p:nvPicPr>
                    <p:blipFill>
                      <a:blip r:embed="rId8"/>
                      <a:stretch>
                        <a:fillRect/>
                      </a:stretch>
                    </p:blipFill>
                    <p:spPr>
                      <a:xfrm>
                        <a:off x="8915400" y="5192395"/>
                        <a:ext cx="3258185" cy="440690"/>
                      </a:xfrm>
                      <a:prstGeom prst="rect">
                        <a:avLst/>
                      </a:prstGeom>
                      <a:noFill/>
                      <a:ln w="38100">
                        <a:noFill/>
                        <a:miter/>
                      </a:ln>
                    </p:spPr>
                  </p:pic>
                </p:oleObj>
              </mc:Fallback>
            </mc:AlternateContent>
          </a:graphicData>
        </a:graphic>
      </p:graphicFrame>
      <p:graphicFrame>
        <p:nvGraphicFramePr>
          <p:cNvPr id="9" name="对象 -2147482149"/>
          <p:cNvGraphicFramePr>
            <a:graphicFrameLocks noChangeAspect="1"/>
          </p:cNvGraphicFramePr>
          <p:nvPr/>
        </p:nvGraphicFramePr>
        <p:xfrm>
          <a:off x="6248400" y="5753100"/>
          <a:ext cx="5625465" cy="496570"/>
        </p:xfrm>
        <a:graphic>
          <a:graphicData uri="http://schemas.openxmlformats.org/presentationml/2006/ole">
            <mc:AlternateContent xmlns:mc="http://schemas.openxmlformats.org/markup-compatibility/2006">
              <mc:Choice xmlns:v="urn:schemas-microsoft-com:vml" Requires="v">
                <p:oleObj spid="_x0000_s0" name="" r:id="rId9" imgW="2159000" imgH="215900" progId="Equation.DSMT4">
                  <p:embed/>
                </p:oleObj>
              </mc:Choice>
              <mc:Fallback>
                <p:oleObj name="" r:id="rId9" imgW="2159000" imgH="215900" progId="Equation.DSMT4">
                  <p:embed/>
                  <p:pic>
                    <p:nvPicPr>
                      <p:cNvPr id="0" name="图片 39"/>
                      <p:cNvPicPr/>
                      <p:nvPr/>
                    </p:nvPicPr>
                    <p:blipFill>
                      <a:blip r:embed="rId10"/>
                      <a:stretch>
                        <a:fillRect/>
                      </a:stretch>
                    </p:blipFill>
                    <p:spPr>
                      <a:xfrm>
                        <a:off x="6248400" y="5753100"/>
                        <a:ext cx="5625465" cy="496570"/>
                      </a:xfrm>
                      <a:prstGeom prst="rect">
                        <a:avLst/>
                      </a:prstGeom>
                      <a:noFill/>
                      <a:ln w="38100">
                        <a:noFill/>
                        <a:miter/>
                      </a:ln>
                    </p:spPr>
                  </p:pic>
                </p:oleObj>
              </mc:Fallback>
            </mc:AlternateContent>
          </a:graphicData>
        </a:graphic>
      </p:graphicFrame>
      <p:graphicFrame>
        <p:nvGraphicFramePr>
          <p:cNvPr id="10" name="对象 -2147482148"/>
          <p:cNvGraphicFramePr>
            <a:graphicFrameLocks noChangeAspect="1"/>
          </p:cNvGraphicFramePr>
          <p:nvPr/>
        </p:nvGraphicFramePr>
        <p:xfrm>
          <a:off x="6934200" y="6459855"/>
          <a:ext cx="4415155" cy="447675"/>
        </p:xfrm>
        <a:graphic>
          <a:graphicData uri="http://schemas.openxmlformats.org/presentationml/2006/ole">
            <mc:AlternateContent xmlns:mc="http://schemas.openxmlformats.org/markup-compatibility/2006">
              <mc:Choice xmlns:v="urn:schemas-microsoft-com:vml" Requires="v">
                <p:oleObj spid="_x0000_s0" name="" r:id="rId11" imgW="1790700" imgH="190500" progId="Equation.DSMT4">
                  <p:embed/>
                </p:oleObj>
              </mc:Choice>
              <mc:Fallback>
                <p:oleObj name="" r:id="rId11" imgW="1790700" imgH="190500" progId="Equation.DSMT4">
                  <p:embed/>
                  <p:pic>
                    <p:nvPicPr>
                      <p:cNvPr id="0" name="图片 40"/>
                      <p:cNvPicPr/>
                      <p:nvPr/>
                    </p:nvPicPr>
                    <p:blipFill>
                      <a:blip r:embed="rId12"/>
                      <a:stretch>
                        <a:fillRect/>
                      </a:stretch>
                    </p:blipFill>
                    <p:spPr>
                      <a:xfrm>
                        <a:off x="6934200" y="6459855"/>
                        <a:ext cx="4415155" cy="447675"/>
                      </a:xfrm>
                      <a:prstGeom prst="rect">
                        <a:avLst/>
                      </a:prstGeom>
                      <a:noFill/>
                      <a:ln w="38100">
                        <a:noFill/>
                        <a:miter/>
                      </a:ln>
                    </p:spPr>
                  </p:pic>
                </p:oleObj>
              </mc:Fallback>
            </mc:AlternateContent>
          </a:graphicData>
        </a:graphic>
      </p:graphicFrame>
      <p:graphicFrame>
        <p:nvGraphicFramePr>
          <p:cNvPr id="11" name="对象 -2147482147"/>
          <p:cNvGraphicFramePr>
            <a:graphicFrameLocks noChangeAspect="1"/>
          </p:cNvGraphicFramePr>
          <p:nvPr/>
        </p:nvGraphicFramePr>
        <p:xfrm>
          <a:off x="6934200" y="6948170"/>
          <a:ext cx="4500880" cy="481330"/>
        </p:xfrm>
        <a:graphic>
          <a:graphicData uri="http://schemas.openxmlformats.org/presentationml/2006/ole">
            <mc:AlternateContent xmlns:mc="http://schemas.openxmlformats.org/markup-compatibility/2006">
              <mc:Choice xmlns:v="urn:schemas-microsoft-com:vml" Requires="v">
                <p:oleObj spid="_x0000_s0" name="" r:id="rId13" imgW="1778000" imgH="190500" progId="Equation.DSMT4">
                  <p:embed/>
                </p:oleObj>
              </mc:Choice>
              <mc:Fallback>
                <p:oleObj name="" r:id="rId13" imgW="1778000" imgH="190500" progId="Equation.DSMT4">
                  <p:embed/>
                  <p:pic>
                    <p:nvPicPr>
                      <p:cNvPr id="0" name="图片 41"/>
                      <p:cNvPicPr/>
                      <p:nvPr/>
                    </p:nvPicPr>
                    <p:blipFill>
                      <a:blip r:embed="rId14"/>
                      <a:stretch>
                        <a:fillRect/>
                      </a:stretch>
                    </p:blipFill>
                    <p:spPr>
                      <a:xfrm>
                        <a:off x="6934200" y="6948170"/>
                        <a:ext cx="4500880" cy="481330"/>
                      </a:xfrm>
                      <a:prstGeom prst="rect">
                        <a:avLst/>
                      </a:prstGeom>
                      <a:noFill/>
                      <a:ln w="38100">
                        <a:noFill/>
                        <a:miter/>
                      </a:ln>
                    </p:spPr>
                  </p:pic>
                </p:oleObj>
              </mc:Fallback>
            </mc:AlternateContent>
          </a:graphicData>
        </a:graphic>
      </p:graphicFrame>
      <p:graphicFrame>
        <p:nvGraphicFramePr>
          <p:cNvPr id="12" name="对象 -2147482146"/>
          <p:cNvGraphicFramePr>
            <a:graphicFrameLocks noChangeAspect="1"/>
          </p:cNvGraphicFramePr>
          <p:nvPr/>
        </p:nvGraphicFramePr>
        <p:xfrm>
          <a:off x="6934200" y="7429500"/>
          <a:ext cx="4557395" cy="468630"/>
        </p:xfrm>
        <a:graphic>
          <a:graphicData uri="http://schemas.openxmlformats.org/presentationml/2006/ole">
            <mc:AlternateContent xmlns:mc="http://schemas.openxmlformats.org/markup-compatibility/2006">
              <mc:Choice xmlns:v="urn:schemas-microsoft-com:vml" Requires="v">
                <p:oleObj spid="_x0000_s0" name="" r:id="rId15" imgW="1765300" imgH="190500" progId="Equation.DSMT4">
                  <p:embed/>
                </p:oleObj>
              </mc:Choice>
              <mc:Fallback>
                <p:oleObj name="" r:id="rId15" imgW="1765300" imgH="190500" progId="Equation.DSMT4">
                  <p:embed/>
                  <p:pic>
                    <p:nvPicPr>
                      <p:cNvPr id="0" name="图片 42"/>
                      <p:cNvPicPr/>
                      <p:nvPr/>
                    </p:nvPicPr>
                    <p:blipFill>
                      <a:blip r:embed="rId16"/>
                      <a:stretch>
                        <a:fillRect/>
                      </a:stretch>
                    </p:blipFill>
                    <p:spPr>
                      <a:xfrm>
                        <a:off x="6934200" y="7429500"/>
                        <a:ext cx="4557395" cy="468630"/>
                      </a:xfrm>
                      <a:prstGeom prst="rect">
                        <a:avLst/>
                      </a:prstGeom>
                      <a:noFill/>
                      <a:ln w="38100">
                        <a:noFill/>
                        <a:miter/>
                      </a:ln>
                    </p:spPr>
                  </p:pic>
                </p:oleObj>
              </mc:Fallback>
            </mc:AlternateContent>
          </a:graphicData>
        </a:graphic>
      </p:graphicFrame>
      <p:graphicFrame>
        <p:nvGraphicFramePr>
          <p:cNvPr id="13" name="对象 -2147482145"/>
          <p:cNvGraphicFramePr>
            <a:graphicFrameLocks noChangeAspect="1"/>
          </p:cNvGraphicFramePr>
          <p:nvPr/>
        </p:nvGraphicFramePr>
        <p:xfrm>
          <a:off x="6934200" y="7967980"/>
          <a:ext cx="4527550" cy="459105"/>
        </p:xfrm>
        <a:graphic>
          <a:graphicData uri="http://schemas.openxmlformats.org/presentationml/2006/ole">
            <mc:AlternateContent xmlns:mc="http://schemas.openxmlformats.org/markup-compatibility/2006">
              <mc:Choice xmlns:v="urn:schemas-microsoft-com:vml" Requires="v">
                <p:oleObj spid="_x0000_s0" name="" r:id="rId17" imgW="1790700" imgH="190500" progId="Equation.DSMT4">
                  <p:embed/>
                </p:oleObj>
              </mc:Choice>
              <mc:Fallback>
                <p:oleObj name="" r:id="rId17" imgW="1790700" imgH="190500" progId="Equation.DSMT4">
                  <p:embed/>
                  <p:pic>
                    <p:nvPicPr>
                      <p:cNvPr id="0" name="图片 43"/>
                      <p:cNvPicPr/>
                      <p:nvPr/>
                    </p:nvPicPr>
                    <p:blipFill>
                      <a:blip r:embed="rId18"/>
                      <a:stretch>
                        <a:fillRect/>
                      </a:stretch>
                    </p:blipFill>
                    <p:spPr>
                      <a:xfrm>
                        <a:off x="6934200" y="7967980"/>
                        <a:ext cx="4527550" cy="459105"/>
                      </a:xfrm>
                      <a:prstGeom prst="rect">
                        <a:avLst/>
                      </a:prstGeom>
                      <a:noFill/>
                      <a:ln w="38100">
                        <a:noFill/>
                        <a:miter/>
                      </a:ln>
                    </p:spPr>
                  </p:pic>
                </p:oleObj>
              </mc:Fallback>
            </mc:AlternateContent>
          </a:graphicData>
        </a:graphic>
      </p:graphicFrame>
      <p:sp>
        <p:nvSpPr>
          <p:cNvPr id="14" name="灯片编号占位符 13"/>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5" name="Group 2"/>
          <p:cNvGrpSpPr/>
          <p:nvPr/>
        </p:nvGrpSpPr>
        <p:grpSpPr>
          <a:xfrm>
            <a:off x="412090" y="1028700"/>
            <a:ext cx="7800783" cy="275915"/>
            <a:chOff x="0" y="0"/>
            <a:chExt cx="2054527" cy="72669"/>
          </a:xfrm>
        </p:grpSpPr>
        <p:sp>
          <p:nvSpPr>
            <p:cNvPr id="16"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7"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8"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9"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0" name="图片 2"/>
          <p:cNvPicPr>
            <a:picLocks noChangeAspect="1"/>
          </p:cNvPicPr>
          <p:nvPr/>
        </p:nvPicPr>
        <p:blipFill>
          <a:blip r:embed="rId19">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1" name="组合 20"/>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4" name="图片 23"/>
            <p:cNvPicPr>
              <a:picLocks noChangeAspect="1"/>
            </p:cNvPicPr>
            <p:nvPr/>
          </p:nvPicPr>
          <p:blipFill>
            <a:blip r:embed="rId20"/>
            <a:stretch>
              <a:fillRect/>
            </a:stretch>
          </p:blipFill>
          <p:spPr>
            <a:xfrm>
              <a:off x="13944600" y="877286"/>
              <a:ext cx="2771429" cy="47619"/>
            </a:xfrm>
            <a:prstGeom prst="rect">
              <a:avLst/>
            </a:prstGeom>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838200" y="2095500"/>
            <a:ext cx="16640175" cy="1198880"/>
          </a:xfrm>
          <a:prstGeom prst="rect">
            <a:avLst/>
          </a:prstGeom>
          <a:noFill/>
        </p:spPr>
        <p:txBody>
          <a:bodyPr wrap="square" rtlCol="0" anchor="t">
            <a:spAutoFit/>
          </a:bodyPr>
          <a:lstStyle/>
          <a:p>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用一个固定多项式</a:t>
            </a: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与多项式</a:t>
            </a: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做运算可以写成矩阵乘法，故可以将上述计算表示为</a:t>
            </a:r>
            <a:endParaRPr lang="zh-CN" altLang="en-US" sz="36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144"/>
          <p:cNvGraphicFramePr>
            <a:graphicFrameLocks noChangeAspect="1"/>
          </p:cNvGraphicFramePr>
          <p:nvPr/>
        </p:nvGraphicFramePr>
        <p:xfrm>
          <a:off x="5410200" y="2171700"/>
          <a:ext cx="834390" cy="570230"/>
        </p:xfrm>
        <a:graphic>
          <a:graphicData uri="http://schemas.openxmlformats.org/presentationml/2006/ole">
            <mc:AlternateContent xmlns:mc="http://schemas.openxmlformats.org/markup-compatibility/2006">
              <mc:Choice xmlns:v="urn:schemas-microsoft-com:vml" Requires="v">
                <p:oleObj spid="_x0000_s0" name="" r:id="rId1" imgW="266700" imgH="190500" progId="Equation.DSMT4">
                  <p:embed/>
                </p:oleObj>
              </mc:Choice>
              <mc:Fallback>
                <p:oleObj name="" r:id="rId1" imgW="266700" imgH="190500" progId="Equation.DSMT4">
                  <p:embed/>
                  <p:pic>
                    <p:nvPicPr>
                      <p:cNvPr id="0" name="图片 22"/>
                      <p:cNvPicPr/>
                      <p:nvPr/>
                    </p:nvPicPr>
                    <p:blipFill>
                      <a:blip r:embed="rId2"/>
                      <a:stretch>
                        <a:fillRect/>
                      </a:stretch>
                    </p:blipFill>
                    <p:spPr>
                      <a:xfrm>
                        <a:off x="5410200" y="2171700"/>
                        <a:ext cx="834390" cy="570230"/>
                      </a:xfrm>
                      <a:prstGeom prst="rect">
                        <a:avLst/>
                      </a:prstGeom>
                      <a:noFill/>
                      <a:ln w="38100">
                        <a:noFill/>
                        <a:miter/>
                      </a:ln>
                    </p:spPr>
                  </p:pic>
                </p:oleObj>
              </mc:Fallback>
            </mc:AlternateContent>
          </a:graphicData>
        </a:graphic>
      </p:graphicFrame>
      <p:graphicFrame>
        <p:nvGraphicFramePr>
          <p:cNvPr id="6" name="对象 -2147482143"/>
          <p:cNvGraphicFramePr>
            <a:graphicFrameLocks noChangeAspect="1"/>
          </p:cNvGraphicFramePr>
          <p:nvPr/>
        </p:nvGraphicFramePr>
        <p:xfrm>
          <a:off x="8077200" y="2171700"/>
          <a:ext cx="835660" cy="570230"/>
        </p:xfrm>
        <a:graphic>
          <a:graphicData uri="http://schemas.openxmlformats.org/presentationml/2006/ole">
            <mc:AlternateContent xmlns:mc="http://schemas.openxmlformats.org/markup-compatibility/2006">
              <mc:Choice xmlns:v="urn:schemas-microsoft-com:vml" Requires="v">
                <p:oleObj spid="_x0000_s0" name="" r:id="rId3" imgW="266700" imgH="190500" progId="Equation.DSMT4">
                  <p:embed/>
                </p:oleObj>
              </mc:Choice>
              <mc:Fallback>
                <p:oleObj name="" r:id="rId3" imgW="266700" imgH="190500" progId="Equation.DSMT4">
                  <p:embed/>
                  <p:pic>
                    <p:nvPicPr>
                      <p:cNvPr id="0" name="图片 23"/>
                      <p:cNvPicPr/>
                      <p:nvPr/>
                    </p:nvPicPr>
                    <p:blipFill>
                      <a:blip r:embed="rId4"/>
                      <a:stretch>
                        <a:fillRect/>
                      </a:stretch>
                    </p:blipFill>
                    <p:spPr>
                      <a:xfrm>
                        <a:off x="8077200" y="2171700"/>
                        <a:ext cx="835660" cy="570230"/>
                      </a:xfrm>
                      <a:prstGeom prst="rect">
                        <a:avLst/>
                      </a:prstGeom>
                      <a:noFill/>
                      <a:ln w="38100">
                        <a:noFill/>
                        <a:miter/>
                      </a:ln>
                    </p:spPr>
                  </p:pic>
                </p:oleObj>
              </mc:Fallback>
            </mc:AlternateContent>
          </a:graphicData>
        </a:graphic>
      </p:graphicFrame>
      <p:graphicFrame>
        <p:nvGraphicFramePr>
          <p:cNvPr id="7" name="对象 -2147481944"/>
          <p:cNvGraphicFramePr>
            <a:graphicFrameLocks noChangeAspect="1"/>
          </p:cNvGraphicFramePr>
          <p:nvPr/>
        </p:nvGraphicFramePr>
        <p:xfrm>
          <a:off x="5486400" y="3162300"/>
          <a:ext cx="4820285" cy="2422525"/>
        </p:xfrm>
        <a:graphic>
          <a:graphicData uri="http://schemas.openxmlformats.org/presentationml/2006/ole">
            <mc:AlternateContent xmlns:mc="http://schemas.openxmlformats.org/markup-compatibility/2006">
              <mc:Choice xmlns:v="urn:schemas-microsoft-com:vml" Requires="v">
                <p:oleObj spid="_x0000_s0" name="" r:id="rId5" imgW="1612900" imgH="774700" progId="Equation.DSMT4">
                  <p:embed/>
                </p:oleObj>
              </mc:Choice>
              <mc:Fallback>
                <p:oleObj name="" r:id="rId5" imgW="1612900" imgH="774700" progId="Equation.DSMT4">
                  <p:embed/>
                  <p:pic>
                    <p:nvPicPr>
                      <p:cNvPr id="0" name="图片 24"/>
                      <p:cNvPicPr/>
                      <p:nvPr/>
                    </p:nvPicPr>
                    <p:blipFill>
                      <a:blip r:embed="rId6"/>
                      <a:stretch>
                        <a:fillRect/>
                      </a:stretch>
                    </p:blipFill>
                    <p:spPr>
                      <a:xfrm>
                        <a:off x="5486400" y="3162300"/>
                        <a:ext cx="4820285" cy="2422525"/>
                      </a:xfrm>
                      <a:prstGeom prst="rect">
                        <a:avLst/>
                      </a:prstGeom>
                      <a:noFill/>
                      <a:ln w="38100">
                        <a:noFill/>
                        <a:miter/>
                      </a:ln>
                    </p:spPr>
                  </p:pic>
                </p:oleObj>
              </mc:Fallback>
            </mc:AlternateContent>
          </a:graphicData>
        </a:graphic>
      </p:graphicFrame>
      <p:sp>
        <p:nvSpPr>
          <p:cNvPr id="26" name="文本框 25"/>
          <p:cNvSpPr txBox="1"/>
          <p:nvPr/>
        </p:nvSpPr>
        <p:spPr>
          <a:xfrm>
            <a:off x="1000760" y="5676900"/>
            <a:ext cx="16087725" cy="1868170"/>
          </a:xfrm>
          <a:prstGeom prst="rect">
            <a:avLst/>
          </a:prstGeom>
        </p:spPr>
        <p:txBody>
          <a:bodyPr>
            <a:noAutofit/>
          </a:bodyPr>
          <a:lstStyle/>
          <a:p>
            <a:pPr indent="0" algn="just" defTabSz="266700" fontAlgn="auto">
              <a:lnSpc>
                <a:spcPct val="100000"/>
              </a:lnSpc>
              <a:spcBef>
                <a:spcPct val="0"/>
              </a:spcBef>
              <a:spcAft>
                <a:spcPct val="0"/>
              </a:spcAft>
            </a:pP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其中，矩阵是一个循环矩阵。注意到</a:t>
            </a:r>
            <a:r>
              <a:rPr lang="en-US" altLang="zh-CN" sz="3600" i="1">
                <a:latin typeface="宋体" panose="02010600030101010101" pitchFamily="2" charset="-122"/>
                <a:ea typeface="宋体" panose="02010600030101010101" pitchFamily="2" charset="-122"/>
                <a:cs typeface="宋体" panose="02010600030101010101" pitchFamily="2" charset="-122"/>
              </a:rPr>
              <a:t>M</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en-US" altLang="zh-CN" sz="3600" i="1">
                <a:latin typeface="宋体" panose="02010600030101010101" pitchFamily="2" charset="-122"/>
                <a:ea typeface="宋体" panose="02010600030101010101" pitchFamily="2" charset="-122"/>
                <a:cs typeface="宋体" panose="02010600030101010101" pitchFamily="2" charset="-122"/>
              </a:rPr>
              <a:t>x</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不是</a:t>
            </a:r>
            <a:r>
              <a:rPr lang="en-US" altLang="zh-CN" sz="360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a:latin typeface="宋体" panose="02010600030101010101" pitchFamily="2" charset="-122"/>
                <a:ea typeface="宋体" panose="02010600030101010101" pitchFamily="2" charset="-122"/>
                <a:cs typeface="宋体" panose="02010600030101010101" pitchFamily="2" charset="-122"/>
              </a:rPr>
              <a:t>8</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上的不可约多项式</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甚至也不是</a:t>
            </a:r>
            <a:r>
              <a:rPr lang="en-US" altLang="zh-CN" sz="3600">
                <a:latin typeface="宋体" panose="02010600030101010101" pitchFamily="2" charset="-122"/>
                <a:ea typeface="宋体" panose="02010600030101010101" pitchFamily="2" charset="-122"/>
                <a:cs typeface="宋体" panose="02010600030101010101" pitchFamily="2" charset="-122"/>
              </a:rPr>
              <a:t>GF(2)</a:t>
            </a:r>
            <a:r>
              <a:rPr lang="zh-CN" altLang="en-US" sz="3600">
                <a:latin typeface="宋体" panose="02010600030101010101" pitchFamily="2" charset="-122"/>
                <a:ea typeface="宋体" panose="02010600030101010101" pitchFamily="2" charset="-122"/>
                <a:cs typeface="宋体" panose="02010600030101010101" pitchFamily="2" charset="-122"/>
              </a:rPr>
              <a:t>上的不可约多项式</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，因此被一个固定多项式相乘不一定是可逆的。</a:t>
            </a:r>
            <a:r>
              <a:rPr lang="en-US" altLang="zh-CN" sz="3600">
                <a:latin typeface="宋体" panose="02010600030101010101" pitchFamily="2" charset="-122"/>
                <a:ea typeface="宋体" panose="02010600030101010101" pitchFamily="2" charset="-122"/>
                <a:cs typeface="宋体" panose="02010600030101010101" pitchFamily="2" charset="-122"/>
              </a:rPr>
              <a:t>AES</a:t>
            </a:r>
            <a:r>
              <a:rPr lang="zh-CN" altLang="en-US" sz="3600">
                <a:latin typeface="宋体" panose="02010600030101010101" pitchFamily="2" charset="-122"/>
                <a:ea typeface="宋体" panose="02010600030101010101" pitchFamily="2" charset="-122"/>
                <a:cs typeface="宋体" panose="02010600030101010101" pitchFamily="2" charset="-122"/>
              </a:rPr>
              <a:t>选择了一个有逆元的固定多项式，即</a:t>
            </a:r>
            <a:endParaRPr lang="zh-CN" altLang="en-US" sz="36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8" name="对象 -2147482140"/>
          <p:cNvGraphicFramePr>
            <a:graphicFrameLocks noChangeAspect="1"/>
          </p:cNvGraphicFramePr>
          <p:nvPr/>
        </p:nvGraphicFramePr>
        <p:xfrm>
          <a:off x="4953000" y="7545070"/>
          <a:ext cx="6438265" cy="1969770"/>
        </p:xfrm>
        <a:graphic>
          <a:graphicData uri="http://schemas.openxmlformats.org/presentationml/2006/ole">
            <mc:AlternateContent xmlns:mc="http://schemas.openxmlformats.org/markup-compatibility/2006">
              <mc:Choice xmlns:v="urn:schemas-microsoft-com:vml" Requires="v">
                <p:oleObj spid="_x0000_s0" name="" r:id="rId7" imgW="2133600" imgH="660400" progId="Equation.DSMT4">
                  <p:embed/>
                </p:oleObj>
              </mc:Choice>
              <mc:Fallback>
                <p:oleObj name="" r:id="rId7" imgW="2133600" imgH="660400" progId="Equation.DSMT4">
                  <p:embed/>
                  <p:pic>
                    <p:nvPicPr>
                      <p:cNvPr id="0" name="图片 26"/>
                      <p:cNvPicPr/>
                      <p:nvPr/>
                    </p:nvPicPr>
                    <p:blipFill>
                      <a:blip r:embed="rId8"/>
                      <a:stretch>
                        <a:fillRect/>
                      </a:stretch>
                    </p:blipFill>
                    <p:spPr>
                      <a:xfrm>
                        <a:off x="4953000" y="7545070"/>
                        <a:ext cx="6438265" cy="1969770"/>
                      </a:xfrm>
                      <a:prstGeom prst="rect">
                        <a:avLst/>
                      </a:prstGeom>
                      <a:noFill/>
                      <a:ln w="38100">
                        <a:noFill/>
                        <a:miter/>
                      </a:ln>
                    </p:spPr>
                  </p:pic>
                </p:oleObj>
              </mc:Fallback>
            </mc:AlternateContent>
          </a:graphicData>
        </a:graphic>
      </p:graphicFrame>
      <p:sp>
        <p:nvSpPr>
          <p:cNvPr id="9" name="灯片编号占位符 8"/>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86784" y="920792"/>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80"/>
                </a:lnSpc>
              </a:pPr>
            </a:p>
          </p:txBody>
        </p:sp>
      </p:grpSp>
      <p:sp>
        <p:nvSpPr>
          <p:cNvPr id="11" name="TextBox 30"/>
          <p:cNvSpPr txBox="1"/>
          <p:nvPr/>
        </p:nvSpPr>
        <p:spPr>
          <a:xfrm>
            <a:off x="2682775" y="396889"/>
            <a:ext cx="9458717" cy="62517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370094" y="321516"/>
            <a:ext cx="1373952" cy="77591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12"/>
          <p:cNvPicPr>
            <a:picLocks noChangeAspect="1"/>
          </p:cNvPicPr>
          <p:nvPr/>
        </p:nvPicPr>
        <p:blipFill>
          <a:blip r:embed="rId9">
            <a:alphaModFix amt="80000"/>
          </a:blip>
          <a:stretch>
            <a:fillRect/>
          </a:stretch>
        </p:blipFill>
        <p:spPr>
          <a:xfrm>
            <a:off x="836694" y="386122"/>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714480" y="625513"/>
            <a:ext cx="3700052" cy="416951"/>
            <a:chOff x="13811849" y="507954"/>
            <a:chExt cx="3700052" cy="416951"/>
          </a:xfrm>
        </p:grpSpPr>
        <p:sp>
          <p:nvSpPr>
            <p:cNvPr id="15" name="文本框 13"/>
            <p:cNvSpPr txBox="1"/>
            <p:nvPr/>
          </p:nvSpPr>
          <p:spPr>
            <a:xfrm>
              <a:off x="13811849" y="507954"/>
              <a:ext cx="37000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p:cNvSpPr txBox="1"/>
          <p:nvPr/>
        </p:nvSpPr>
        <p:spPr>
          <a:xfrm>
            <a:off x="1295400" y="1979930"/>
            <a:ext cx="15513685" cy="1198880"/>
          </a:xfrm>
          <a:prstGeom prst="rect">
            <a:avLst/>
          </a:prstGeom>
          <a:noFill/>
        </p:spPr>
        <p:txBody>
          <a:bodyPr wrap="square" rtlCol="0" anchor="t">
            <a:spAutoFit/>
          </a:bodyPr>
          <a:lstStyle/>
          <a:p>
            <a:r>
              <a:rPr lang="zh-CN" altLang="en-US" sz="3600" dirty="0">
                <a:latin typeface="宋体" panose="02010600030101010101" pitchFamily="2" charset="-122"/>
                <a:ea typeface="宋体" panose="02010600030101010101" pitchFamily="2" charset="-122"/>
                <a:cs typeface="宋体" panose="02010600030101010101" pitchFamily="2" charset="-122"/>
              </a:rPr>
              <a:t>假设</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定义为</a:t>
            </a:r>
            <a:r>
              <a:rPr lang="en-US" altLang="zh-CN" sz="3600" dirty="0">
                <a:latin typeface="宋体" panose="02010600030101010101" pitchFamily="2" charset="-122"/>
                <a:ea typeface="宋体" panose="02010600030101010101" pitchFamily="2" charset="-122"/>
                <a:cs typeface="宋体" panose="02010600030101010101" pitchFamily="2" charset="-122"/>
              </a:rPr>
              <a:t>x</a:t>
            </a:r>
            <a:r>
              <a:rPr lang="zh-CN" altLang="en-US" sz="3600" dirty="0">
                <a:latin typeface="宋体" panose="02010600030101010101" pitchFamily="2" charset="-122"/>
                <a:ea typeface="宋体" panose="02010600030101010101" pitchFamily="2" charset="-122"/>
                <a:cs typeface="宋体" panose="02010600030101010101" pitchFamily="2" charset="-122"/>
              </a:rPr>
              <a:t>与</a:t>
            </a:r>
            <a:r>
              <a:rPr lang="en-US" altLang="zh-CN" sz="3600" dirty="0">
                <a:latin typeface="宋体" panose="02010600030101010101" pitchFamily="2" charset="-122"/>
                <a:ea typeface="宋体" panose="02010600030101010101" pitchFamily="2" charset="-122"/>
                <a:cs typeface="宋体" panose="02010600030101010101" pitchFamily="2" charset="-122"/>
              </a:rPr>
              <a:t>b(x)</a:t>
            </a:r>
            <a:r>
              <a:rPr lang="zh-CN" altLang="en-US" sz="3600" dirty="0">
                <a:latin typeface="宋体" panose="02010600030101010101" pitchFamily="2" charset="-122"/>
                <a:ea typeface="宋体" panose="02010600030101010101" pitchFamily="2" charset="-122"/>
                <a:cs typeface="宋体" panose="02010600030101010101" pitchFamily="2" charset="-122"/>
              </a:rPr>
              <a:t>的模</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乘法，即</a:t>
            </a:r>
            <a:r>
              <a:rPr lang="en-US" altLang="zh-CN" sz="3600" dirty="0">
                <a:latin typeface="宋体" panose="02010600030101010101" pitchFamily="2" charset="-122"/>
                <a:ea typeface="宋体" panose="02010600030101010101" pitchFamily="2" charset="-122"/>
                <a:cs typeface="宋体" panose="02010600030101010101" pitchFamily="2" charset="-122"/>
              </a:rPr>
              <a:t>                        </a:t>
            </a:r>
            <a:r>
              <a:rPr lang="zh-CN" altLang="en-US" sz="3600" dirty="0">
                <a:latin typeface="宋体" panose="02010600030101010101" pitchFamily="2" charset="-122"/>
                <a:ea typeface="宋体" panose="02010600030101010101" pitchFamily="2" charset="-122"/>
                <a:cs typeface="宋体" panose="02010600030101010101" pitchFamily="2" charset="-122"/>
              </a:rPr>
              <a:t>即，则用矩阵表示为</a:t>
            </a:r>
            <a:endParaRPr lang="zh-CN" altLang="en-US" sz="36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139"/>
          <p:cNvGraphicFramePr>
            <a:graphicFrameLocks noChangeAspect="1"/>
          </p:cNvGraphicFramePr>
          <p:nvPr/>
        </p:nvGraphicFramePr>
        <p:xfrm>
          <a:off x="2362200" y="2132330"/>
          <a:ext cx="1971040" cy="443865"/>
        </p:xfrm>
        <a:graphic>
          <a:graphicData uri="http://schemas.openxmlformats.org/presentationml/2006/ole">
            <mc:AlternateContent xmlns:mc="http://schemas.openxmlformats.org/markup-compatibility/2006">
              <mc:Choice xmlns:v="urn:schemas-microsoft-com:vml" Requires="v">
                <p:oleObj spid="_x0000_s0" name="" r:id="rId1" imgW="812165" imgH="190500" progId="Equation.DSMT4">
                  <p:embed/>
                </p:oleObj>
              </mc:Choice>
              <mc:Fallback>
                <p:oleObj name="" r:id="rId1" imgW="812165" imgH="190500" progId="Equation.DSMT4">
                  <p:embed/>
                  <p:pic>
                    <p:nvPicPr>
                      <p:cNvPr id="0" name="图片 3075"/>
                      <p:cNvPicPr/>
                      <p:nvPr/>
                    </p:nvPicPr>
                    <p:blipFill>
                      <a:blip r:embed="rId2"/>
                      <a:stretch>
                        <a:fillRect/>
                      </a:stretch>
                    </p:blipFill>
                    <p:spPr>
                      <a:xfrm>
                        <a:off x="2362200" y="2132330"/>
                        <a:ext cx="1971040" cy="443865"/>
                      </a:xfrm>
                      <a:prstGeom prst="rect">
                        <a:avLst/>
                      </a:prstGeom>
                      <a:noFill/>
                      <a:ln w="38100">
                        <a:noFill/>
                        <a:miter/>
                      </a:ln>
                    </p:spPr>
                  </p:pic>
                </p:oleObj>
              </mc:Fallback>
            </mc:AlternateContent>
          </a:graphicData>
        </a:graphic>
      </p:graphicFrame>
      <p:graphicFrame>
        <p:nvGraphicFramePr>
          <p:cNvPr id="6" name="对象 -2147482138"/>
          <p:cNvGraphicFramePr>
            <a:graphicFrameLocks noChangeAspect="1"/>
          </p:cNvGraphicFramePr>
          <p:nvPr/>
        </p:nvGraphicFramePr>
        <p:xfrm>
          <a:off x="8305800" y="1943100"/>
          <a:ext cx="928370" cy="633095"/>
        </p:xfrm>
        <a:graphic>
          <a:graphicData uri="http://schemas.openxmlformats.org/presentationml/2006/ole">
            <mc:AlternateContent xmlns:mc="http://schemas.openxmlformats.org/markup-compatibility/2006">
              <mc:Choice xmlns:v="urn:schemas-microsoft-com:vml" Requires="v">
                <p:oleObj spid="_x0000_s0" name="" r:id="rId3" imgW="330200" imgH="177800" progId="Equation.DSMT4">
                  <p:embed/>
                </p:oleObj>
              </mc:Choice>
              <mc:Fallback>
                <p:oleObj name="" r:id="rId3" imgW="330200" imgH="177800" progId="Equation.DSMT4">
                  <p:embed/>
                  <p:pic>
                    <p:nvPicPr>
                      <p:cNvPr id="0" name="图片 43"/>
                      <p:cNvPicPr/>
                      <p:nvPr/>
                    </p:nvPicPr>
                    <p:blipFill>
                      <a:blip r:embed="rId4"/>
                      <a:stretch>
                        <a:fillRect/>
                      </a:stretch>
                    </p:blipFill>
                    <p:spPr>
                      <a:xfrm>
                        <a:off x="8305800" y="1943100"/>
                        <a:ext cx="928370" cy="633095"/>
                      </a:xfrm>
                      <a:prstGeom prst="rect">
                        <a:avLst/>
                      </a:prstGeom>
                      <a:noFill/>
                      <a:ln w="38100">
                        <a:noFill/>
                        <a:miter/>
                      </a:ln>
                    </p:spPr>
                  </p:pic>
                </p:oleObj>
              </mc:Fallback>
            </mc:AlternateContent>
          </a:graphicData>
        </a:graphic>
      </p:graphicFrame>
      <p:graphicFrame>
        <p:nvGraphicFramePr>
          <p:cNvPr id="7" name="对象 -2147482137"/>
          <p:cNvGraphicFramePr>
            <a:graphicFrameLocks noChangeAspect="1"/>
          </p:cNvGraphicFramePr>
          <p:nvPr/>
        </p:nvGraphicFramePr>
        <p:xfrm>
          <a:off x="11201400" y="2045335"/>
          <a:ext cx="2616835" cy="530860"/>
        </p:xfrm>
        <a:graphic>
          <a:graphicData uri="http://schemas.openxmlformats.org/presentationml/2006/ole">
            <mc:AlternateContent xmlns:mc="http://schemas.openxmlformats.org/markup-compatibility/2006">
              <mc:Choice xmlns:v="urn:schemas-microsoft-com:vml" Requires="v">
                <p:oleObj spid="_x0000_s0" name="" r:id="rId5" imgW="914400" imgH="190500" progId="Equation.DSMT4">
                  <p:embed/>
                </p:oleObj>
              </mc:Choice>
              <mc:Fallback>
                <p:oleObj name="" r:id="rId5" imgW="914400" imgH="190500" progId="Equation.DSMT4">
                  <p:embed/>
                  <p:pic>
                    <p:nvPicPr>
                      <p:cNvPr id="0" name="图片 44"/>
                      <p:cNvPicPr/>
                      <p:nvPr/>
                    </p:nvPicPr>
                    <p:blipFill>
                      <a:blip r:embed="rId6"/>
                      <a:stretch>
                        <a:fillRect/>
                      </a:stretch>
                    </p:blipFill>
                    <p:spPr>
                      <a:xfrm>
                        <a:off x="11201400" y="2045335"/>
                        <a:ext cx="2616835" cy="530860"/>
                      </a:xfrm>
                      <a:prstGeom prst="rect">
                        <a:avLst/>
                      </a:prstGeom>
                      <a:noFill/>
                      <a:ln w="38100">
                        <a:noFill/>
                        <a:miter/>
                      </a:ln>
                    </p:spPr>
                  </p:pic>
                </p:oleObj>
              </mc:Fallback>
            </mc:AlternateContent>
          </a:graphicData>
        </a:graphic>
      </p:graphicFrame>
      <p:graphicFrame>
        <p:nvGraphicFramePr>
          <p:cNvPr id="8" name="对象 -2147482136"/>
          <p:cNvGraphicFramePr>
            <a:graphicFrameLocks noChangeAspect="1"/>
          </p:cNvGraphicFramePr>
          <p:nvPr/>
        </p:nvGraphicFramePr>
        <p:xfrm>
          <a:off x="13817918" y="2032000"/>
          <a:ext cx="3190875" cy="544195"/>
        </p:xfrm>
        <a:graphic>
          <a:graphicData uri="http://schemas.openxmlformats.org/presentationml/2006/ole">
            <mc:AlternateContent xmlns:mc="http://schemas.openxmlformats.org/markup-compatibility/2006">
              <mc:Choice xmlns:v="urn:schemas-microsoft-com:vml" Requires="v">
                <p:oleObj spid="_x0000_s0" name="" r:id="rId7" imgW="1054100" imgH="203200" progId="Equation.DSMT4">
                  <p:embed/>
                </p:oleObj>
              </mc:Choice>
              <mc:Fallback>
                <p:oleObj name="" r:id="rId7" imgW="1054100" imgH="203200" progId="Equation.DSMT4">
                  <p:embed/>
                  <p:pic>
                    <p:nvPicPr>
                      <p:cNvPr id="0" name="图片 45"/>
                      <p:cNvPicPr/>
                      <p:nvPr/>
                    </p:nvPicPr>
                    <p:blipFill>
                      <a:blip r:embed="rId8"/>
                      <a:stretch>
                        <a:fillRect/>
                      </a:stretch>
                    </p:blipFill>
                    <p:spPr>
                      <a:xfrm>
                        <a:off x="13817918" y="2032000"/>
                        <a:ext cx="3190875" cy="544195"/>
                      </a:xfrm>
                      <a:prstGeom prst="rect">
                        <a:avLst/>
                      </a:prstGeom>
                      <a:noFill/>
                      <a:ln w="38100">
                        <a:noFill/>
                        <a:miter/>
                      </a:ln>
                    </p:spPr>
                  </p:pic>
                </p:oleObj>
              </mc:Fallback>
            </mc:AlternateContent>
          </a:graphicData>
        </a:graphic>
      </p:graphicFrame>
      <p:graphicFrame>
        <p:nvGraphicFramePr>
          <p:cNvPr id="9" name="对象 -2147482135"/>
          <p:cNvGraphicFramePr>
            <a:graphicFrameLocks noChangeAspect="1"/>
          </p:cNvGraphicFramePr>
          <p:nvPr/>
        </p:nvGraphicFramePr>
        <p:xfrm>
          <a:off x="5867400" y="2894330"/>
          <a:ext cx="5144135" cy="2157730"/>
        </p:xfrm>
        <a:graphic>
          <a:graphicData uri="http://schemas.openxmlformats.org/presentationml/2006/ole">
            <mc:AlternateContent xmlns:mc="http://schemas.openxmlformats.org/markup-compatibility/2006">
              <mc:Choice xmlns:v="urn:schemas-microsoft-com:vml" Requires="v">
                <p:oleObj spid="_x0000_s0" name="" r:id="rId9" imgW="1714500" imgH="774700" progId="Equation.DSMT4">
                  <p:embed/>
                </p:oleObj>
              </mc:Choice>
              <mc:Fallback>
                <p:oleObj name="" r:id="rId9" imgW="1714500" imgH="774700" progId="Equation.DSMT4">
                  <p:embed/>
                  <p:pic>
                    <p:nvPicPr>
                      <p:cNvPr id="0" name="图片 46"/>
                      <p:cNvPicPr/>
                      <p:nvPr/>
                    </p:nvPicPr>
                    <p:blipFill>
                      <a:blip r:embed="rId10"/>
                      <a:stretch>
                        <a:fillRect/>
                      </a:stretch>
                    </p:blipFill>
                    <p:spPr>
                      <a:xfrm>
                        <a:off x="5867400" y="2894330"/>
                        <a:ext cx="5144135" cy="2157730"/>
                      </a:xfrm>
                      <a:prstGeom prst="rect">
                        <a:avLst/>
                      </a:prstGeom>
                      <a:noFill/>
                      <a:ln w="38100">
                        <a:noFill/>
                        <a:miter/>
                      </a:ln>
                    </p:spPr>
                  </p:pic>
                </p:oleObj>
              </mc:Fallback>
            </mc:AlternateContent>
          </a:graphicData>
        </a:graphic>
      </p:graphicFrame>
      <p:sp>
        <p:nvSpPr>
          <p:cNvPr id="48" name="文本框 47"/>
          <p:cNvSpPr txBox="1"/>
          <p:nvPr/>
        </p:nvSpPr>
        <p:spPr>
          <a:xfrm>
            <a:off x="1371600" y="5104130"/>
            <a:ext cx="15782290" cy="1188720"/>
          </a:xfrm>
          <a:prstGeom prst="rect">
            <a:avLst/>
          </a:prstGeom>
        </p:spPr>
        <p:txBody>
          <a:bodyPr wrap="square">
            <a:noAutofit/>
          </a:bodyPr>
          <a:lstStyle/>
          <a:p>
            <a:pPr indent="0" algn="just" defTabSz="266700" fontAlgn="auto">
              <a:lnSpc>
                <a:spcPct val="100000"/>
              </a:lnSpc>
              <a:spcBef>
                <a:spcPct val="0"/>
              </a:spcBef>
              <a:spcAft>
                <a:spcPct val="0"/>
              </a:spcAft>
            </a:pPr>
            <a:r>
              <a:rPr lang="zh-CN" altLang="en-US" sz="3600">
                <a:latin typeface="宋体" panose="02010600030101010101" pitchFamily="2" charset="-122"/>
                <a:ea typeface="宋体" panose="02010600030101010101" pitchFamily="2" charset="-122"/>
                <a:cs typeface="宋体" panose="02010600030101010101" pitchFamily="2" charset="-122"/>
              </a:rPr>
              <a:t>因此，</a:t>
            </a:r>
            <a:r>
              <a:rPr lang="en-US" altLang="zh-CN" sz="3600" i="1">
                <a:latin typeface="宋体" panose="02010600030101010101" pitchFamily="2" charset="-122"/>
                <a:ea typeface="宋体" panose="02010600030101010101" pitchFamily="2" charset="-122"/>
                <a:cs typeface="宋体" panose="02010600030101010101" pitchFamily="2" charset="-122"/>
              </a:rPr>
              <a:t>x</a:t>
            </a:r>
            <a:r>
              <a:rPr lang="zh-CN" altLang="en-US" sz="3600">
                <a:latin typeface="宋体" panose="02010600030101010101" pitchFamily="2" charset="-122"/>
                <a:ea typeface="宋体" panose="02010600030101010101" pitchFamily="2" charset="-122"/>
                <a:cs typeface="宋体" panose="02010600030101010101" pitchFamily="2" charset="-122"/>
              </a:rPr>
              <a:t>（或</a:t>
            </a:r>
            <a:r>
              <a:rPr lang="en-US" altLang="zh-CN" sz="3600" i="1">
                <a:latin typeface="宋体" panose="02010600030101010101" pitchFamily="2" charset="-122"/>
                <a:ea typeface="宋体" panose="02010600030101010101" pitchFamily="2" charset="-122"/>
                <a:cs typeface="宋体" panose="02010600030101010101" pitchFamily="2" charset="-122"/>
              </a:rPr>
              <a:t>x</a:t>
            </a:r>
            <a:r>
              <a:rPr lang="zh-CN" altLang="en-US" sz="3600">
                <a:latin typeface="宋体" panose="02010600030101010101" pitchFamily="2" charset="-122"/>
                <a:ea typeface="宋体" panose="02010600030101010101" pitchFamily="2" charset="-122"/>
                <a:cs typeface="宋体" panose="02010600030101010101" pitchFamily="2" charset="-122"/>
              </a:rPr>
              <a:t>的幂）模乘</a:t>
            </a:r>
            <a:r>
              <a:rPr lang="en-US" altLang="zh-CN" sz="360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a:latin typeface="宋体" panose="02010600030101010101" pitchFamily="2" charset="-122"/>
                <a:ea typeface="宋体" panose="02010600030101010101" pitchFamily="2" charset="-122"/>
                <a:cs typeface="宋体" panose="02010600030101010101" pitchFamily="2" charset="-122"/>
              </a:rPr>
              <a:t>8</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上的多项式相当于对字节构成的向量进行字节循环移位。</a:t>
            </a:r>
            <a:endParaRPr lang="zh-CN" altLang="en-US" sz="3600">
              <a:latin typeface="宋体" panose="02010600030101010101" pitchFamily="2" charset="-122"/>
              <a:ea typeface="宋体" panose="02010600030101010101" pitchFamily="2" charset="-122"/>
              <a:cs typeface="宋体" panose="02010600030101010101" pitchFamily="2" charset="-122"/>
            </a:endParaRPr>
          </a:p>
        </p:txBody>
      </p:sp>
      <p:sp>
        <p:nvSpPr>
          <p:cNvPr id="59" name="文本框 58"/>
          <p:cNvSpPr txBox="1"/>
          <p:nvPr/>
        </p:nvSpPr>
        <p:spPr>
          <a:xfrm>
            <a:off x="1447800" y="6419850"/>
            <a:ext cx="15539720" cy="1198880"/>
          </a:xfrm>
          <a:prstGeom prst="rect">
            <a:avLst/>
          </a:prstGeom>
          <a:noFill/>
        </p:spPr>
        <p:txBody>
          <a:bodyPr wrap="square" rtlCol="0" anchor="t">
            <a:spAutoFit/>
          </a:bodyPr>
          <a:lstStyle/>
          <a:p>
            <a:r>
              <a:rPr lang="zh-CN" altLang="en-US" sz="3600">
                <a:latin typeface="宋体" panose="02010600030101010101" pitchFamily="2" charset="-122"/>
                <a:ea typeface="宋体" panose="02010600030101010101" pitchFamily="2" charset="-122"/>
                <a:cs typeface="宋体" panose="02010600030101010101" pitchFamily="2" charset="-122"/>
              </a:rPr>
              <a:t>定理</a:t>
            </a:r>
            <a:r>
              <a:rPr lang="en-US" altLang="zh-CN" sz="3600">
                <a:latin typeface="宋体" panose="02010600030101010101" pitchFamily="2" charset="-122"/>
                <a:ea typeface="宋体" panose="02010600030101010101" pitchFamily="2" charset="-122"/>
                <a:cs typeface="宋体" panose="02010600030101010101" pitchFamily="2" charset="-122"/>
              </a:rPr>
              <a:t>3.1</a:t>
            </a:r>
            <a:r>
              <a:rPr lang="zh-CN" altLang="en-US" sz="3600">
                <a:latin typeface="宋体" panose="02010600030101010101" pitchFamily="2" charset="-122"/>
                <a:ea typeface="宋体" panose="02010600030101010101" pitchFamily="2" charset="-122"/>
                <a:cs typeface="宋体" panose="02010600030101010101" pitchFamily="2" charset="-122"/>
              </a:rPr>
              <a:t>　系数在</a:t>
            </a:r>
            <a:r>
              <a:rPr lang="en-US" altLang="zh-CN" sz="3600">
                <a:latin typeface="宋体" panose="02010600030101010101" pitchFamily="2" charset="-122"/>
                <a:ea typeface="宋体" panose="02010600030101010101" pitchFamily="2" charset="-122"/>
                <a:cs typeface="宋体" panose="02010600030101010101" pitchFamily="2" charset="-122"/>
              </a:rPr>
              <a:t>GF(2</a:t>
            </a:r>
            <a:r>
              <a:rPr lang="en-US" altLang="zh-CN" sz="3600" baseline="30000">
                <a:latin typeface="宋体" panose="02010600030101010101" pitchFamily="2" charset="-122"/>
                <a:ea typeface="宋体" panose="02010600030101010101" pitchFamily="2" charset="-122"/>
                <a:cs typeface="宋体" panose="02010600030101010101" pitchFamily="2" charset="-122"/>
              </a:rPr>
              <a:t>8</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上的多项式</a:t>
            </a: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是模</a:t>
            </a: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可逆的，当且仅当矩阵</a:t>
            </a: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在</a:t>
            </a:r>
            <a:r>
              <a:rPr lang="en-US" altLang="zh-CN" sz="3600">
                <a:latin typeface="宋体" panose="02010600030101010101" pitchFamily="2" charset="-122"/>
                <a:ea typeface="宋体" panose="02010600030101010101" pitchFamily="2" charset="-122"/>
                <a:cs typeface="宋体" panose="02010600030101010101" pitchFamily="2" charset="-122"/>
              </a:rPr>
              <a:t>GF(28)</a:t>
            </a:r>
            <a:r>
              <a:rPr lang="zh-CN" altLang="en-US" sz="3600">
                <a:latin typeface="宋体" panose="02010600030101010101" pitchFamily="2" charset="-122"/>
                <a:ea typeface="宋体" panose="02010600030101010101" pitchFamily="2" charset="-122"/>
                <a:cs typeface="宋体" panose="02010600030101010101" pitchFamily="2" charset="-122"/>
              </a:rPr>
              <a:t>上可逆。</a:t>
            </a:r>
            <a:endParaRPr lang="zh-CN" altLang="en-US" sz="36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0" name="对象 -2147482134"/>
          <p:cNvGraphicFramePr>
            <a:graphicFrameLocks noChangeAspect="1"/>
          </p:cNvGraphicFramePr>
          <p:nvPr/>
        </p:nvGraphicFramePr>
        <p:xfrm>
          <a:off x="8610600" y="6504940"/>
          <a:ext cx="3001010" cy="506095"/>
        </p:xfrm>
        <a:graphic>
          <a:graphicData uri="http://schemas.openxmlformats.org/presentationml/2006/ole">
            <mc:AlternateContent xmlns:mc="http://schemas.openxmlformats.org/markup-compatibility/2006">
              <mc:Choice xmlns:v="urn:schemas-microsoft-com:vml" Requires="v">
                <p:oleObj spid="_x0000_s0" name="" r:id="rId11" imgW="1104900" imgH="203200" progId="Equation.DSMT4">
                  <p:embed/>
                </p:oleObj>
              </mc:Choice>
              <mc:Fallback>
                <p:oleObj name="" r:id="rId11" imgW="1104900" imgH="203200" progId="Equation.DSMT4">
                  <p:embed/>
                  <p:pic>
                    <p:nvPicPr>
                      <p:cNvPr id="0" name="图片 59"/>
                      <p:cNvPicPr/>
                      <p:nvPr/>
                    </p:nvPicPr>
                    <p:blipFill>
                      <a:blip r:embed="rId12"/>
                      <a:stretch>
                        <a:fillRect/>
                      </a:stretch>
                    </p:blipFill>
                    <p:spPr>
                      <a:xfrm>
                        <a:off x="8610600" y="6504940"/>
                        <a:ext cx="3001010" cy="506095"/>
                      </a:xfrm>
                      <a:prstGeom prst="rect">
                        <a:avLst/>
                      </a:prstGeom>
                      <a:noFill/>
                      <a:ln w="38100">
                        <a:noFill/>
                        <a:miter/>
                      </a:ln>
                    </p:spPr>
                  </p:pic>
                </p:oleObj>
              </mc:Fallback>
            </mc:AlternateContent>
          </a:graphicData>
        </a:graphic>
      </p:graphicFrame>
      <p:graphicFrame>
        <p:nvGraphicFramePr>
          <p:cNvPr id="11" name="对象 -2147482133"/>
          <p:cNvGraphicFramePr>
            <a:graphicFrameLocks noChangeAspect="1"/>
          </p:cNvGraphicFramePr>
          <p:nvPr/>
        </p:nvGraphicFramePr>
        <p:xfrm>
          <a:off x="8960803" y="4706620"/>
          <a:ext cx="366395" cy="185420"/>
        </p:xfrm>
        <a:graphic>
          <a:graphicData uri="http://schemas.openxmlformats.org/presentationml/2006/ole">
            <mc:AlternateContent xmlns:mc="http://schemas.openxmlformats.org/markup-compatibility/2006">
              <mc:Choice xmlns:v="urn:schemas-microsoft-com:vml" Requires="v">
                <p:oleObj spid="_x0000_s0" name="" r:id="rId13" imgW="330200" imgH="177800" progId="Equation.DSMT4">
                  <p:embed/>
                </p:oleObj>
              </mc:Choice>
              <mc:Fallback>
                <p:oleObj name="" r:id="rId13" imgW="330200" imgH="177800" progId="Equation.DSMT4">
                  <p:embed/>
                  <p:pic>
                    <p:nvPicPr>
                      <p:cNvPr id="0" name="图片 60"/>
                      <p:cNvPicPr/>
                      <p:nvPr/>
                    </p:nvPicPr>
                    <p:blipFill>
                      <a:blip r:embed="rId14"/>
                      <a:stretch>
                        <a:fillRect/>
                      </a:stretch>
                    </p:blipFill>
                    <p:spPr>
                      <a:xfrm>
                        <a:off x="8960803" y="4706620"/>
                        <a:ext cx="366395" cy="185420"/>
                      </a:xfrm>
                      <a:prstGeom prst="rect">
                        <a:avLst/>
                      </a:prstGeom>
                      <a:noFill/>
                      <a:ln w="38100">
                        <a:noFill/>
                        <a:miter/>
                      </a:ln>
                    </p:spPr>
                  </p:pic>
                </p:oleObj>
              </mc:Fallback>
            </mc:AlternateContent>
          </a:graphicData>
        </a:graphic>
      </p:graphicFrame>
      <p:graphicFrame>
        <p:nvGraphicFramePr>
          <p:cNvPr id="62" name="对象 61"/>
          <p:cNvGraphicFramePr>
            <a:graphicFrameLocks noChangeAspect="1"/>
          </p:cNvGraphicFramePr>
          <p:nvPr/>
        </p:nvGraphicFramePr>
        <p:xfrm>
          <a:off x="12801600" y="6504940"/>
          <a:ext cx="1016635" cy="514350"/>
        </p:xfrm>
        <a:graphic>
          <a:graphicData uri="http://schemas.openxmlformats.org/presentationml/2006/ole">
            <mc:AlternateContent xmlns:mc="http://schemas.openxmlformats.org/markup-compatibility/2006">
              <mc:Choice xmlns:v="urn:schemas-microsoft-com:vml" Requires="v">
                <p:oleObj spid="_x0000_s0" name="" r:id="rId15" imgW="330200" imgH="177800" progId="Equation.DSMT4">
                  <p:embed/>
                </p:oleObj>
              </mc:Choice>
              <mc:Fallback>
                <p:oleObj name="" r:id="rId15" imgW="330200" imgH="177800" progId="Equation.DSMT4">
                  <p:embed/>
                  <p:pic>
                    <p:nvPicPr>
                      <p:cNvPr id="0" name="图片 62"/>
                      <p:cNvPicPr/>
                      <p:nvPr/>
                    </p:nvPicPr>
                    <p:blipFill>
                      <a:blip r:embed="rId14"/>
                      <a:stretch>
                        <a:fillRect/>
                      </a:stretch>
                    </p:blipFill>
                    <p:spPr>
                      <a:xfrm>
                        <a:off x="12801600" y="6504940"/>
                        <a:ext cx="1016635" cy="514350"/>
                      </a:xfrm>
                      <a:prstGeom prst="rect">
                        <a:avLst/>
                      </a:prstGeom>
                      <a:noFill/>
                      <a:ln w="38100">
                        <a:noFill/>
                        <a:miter/>
                      </a:ln>
                    </p:spPr>
                  </p:pic>
                </p:oleObj>
              </mc:Fallback>
            </mc:AlternateContent>
          </a:graphicData>
        </a:graphic>
      </p:graphicFrame>
      <p:graphicFrame>
        <p:nvGraphicFramePr>
          <p:cNvPr id="12" name="对象 -2147482132"/>
          <p:cNvGraphicFramePr>
            <a:graphicFrameLocks noChangeAspect="1"/>
          </p:cNvGraphicFramePr>
          <p:nvPr/>
        </p:nvGraphicFramePr>
        <p:xfrm>
          <a:off x="6705600" y="7161530"/>
          <a:ext cx="3571240" cy="2590165"/>
        </p:xfrm>
        <a:graphic>
          <a:graphicData uri="http://schemas.openxmlformats.org/presentationml/2006/ole">
            <mc:AlternateContent xmlns:mc="http://schemas.openxmlformats.org/markup-compatibility/2006">
              <mc:Choice xmlns:v="urn:schemas-microsoft-com:vml" Requires="v">
                <p:oleObj spid="_x0000_s0" name="" r:id="rId16" imgW="1002665" imgH="774065" progId="Equation.DSMT4">
                  <p:embed/>
                </p:oleObj>
              </mc:Choice>
              <mc:Fallback>
                <p:oleObj name="" r:id="rId16" imgW="1002665" imgH="774065" progId="Equation.DSMT4">
                  <p:embed/>
                  <p:pic>
                    <p:nvPicPr>
                      <p:cNvPr id="0" name="图片 63"/>
                      <p:cNvPicPr/>
                      <p:nvPr/>
                    </p:nvPicPr>
                    <p:blipFill>
                      <a:blip r:embed="rId17"/>
                      <a:stretch>
                        <a:fillRect/>
                      </a:stretch>
                    </p:blipFill>
                    <p:spPr>
                      <a:xfrm>
                        <a:off x="6705600" y="7161530"/>
                        <a:ext cx="3571240" cy="2590165"/>
                      </a:xfrm>
                      <a:prstGeom prst="rect">
                        <a:avLst/>
                      </a:prstGeom>
                      <a:noFill/>
                      <a:ln w="38100">
                        <a:noFill/>
                        <a:miter/>
                      </a:ln>
                    </p:spPr>
                  </p:pic>
                </p:oleObj>
              </mc:Fallback>
            </mc:AlternateContent>
          </a:graphicData>
        </a:graphic>
      </p:graphicFrame>
      <p:sp>
        <p:nvSpPr>
          <p:cNvPr id="13" name="灯片编号占位符 12"/>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23" name="Group 2"/>
          <p:cNvGrpSpPr/>
          <p:nvPr/>
        </p:nvGrpSpPr>
        <p:grpSpPr>
          <a:xfrm>
            <a:off x="412090" y="1028700"/>
            <a:ext cx="7800783" cy="275915"/>
            <a:chOff x="0" y="0"/>
            <a:chExt cx="2054527" cy="72669"/>
          </a:xfrm>
        </p:grpSpPr>
        <p:sp>
          <p:nvSpPr>
            <p:cNvPr id="24"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25"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26"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8" name="图片 2"/>
          <p:cNvPicPr>
            <a:picLocks noChangeAspect="1"/>
          </p:cNvPicPr>
          <p:nvPr/>
        </p:nvPicPr>
        <p:blipFill>
          <a:blip r:embed="rId1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9" name="组合 28"/>
          <p:cNvGrpSpPr/>
          <p:nvPr/>
        </p:nvGrpSpPr>
        <p:grpSpPr>
          <a:xfrm>
            <a:off x="13639786" y="733421"/>
            <a:ext cx="3700052" cy="416951"/>
            <a:chOff x="13811849" y="507954"/>
            <a:chExt cx="3700052" cy="416951"/>
          </a:xfrm>
        </p:grpSpPr>
        <p:sp>
          <p:nvSpPr>
            <p:cNvPr id="32" name="文本框 3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3" name="图片 32"/>
            <p:cNvPicPr>
              <a:picLocks noChangeAspect="1"/>
            </p:cNvPicPr>
            <p:nvPr/>
          </p:nvPicPr>
          <p:blipFill>
            <a:blip r:embed="rId19"/>
            <a:stretch>
              <a:fillRect/>
            </a:stretch>
          </p:blipFill>
          <p:spPr>
            <a:xfrm>
              <a:off x="13944600" y="877286"/>
              <a:ext cx="2771429" cy="47619"/>
            </a:xfrm>
            <a:prstGeom prst="rect">
              <a:avLst/>
            </a:prstGeom>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762000" y="1790700"/>
            <a:ext cx="16436975" cy="5077460"/>
          </a:xfrm>
          <a:prstGeom prst="rect">
            <a:avLst/>
          </a:prstGeom>
          <a:noFill/>
        </p:spPr>
        <p:txBody>
          <a:bodyPr wrap="square" rtlCol="0" anchor="t">
            <a:spAutoFit/>
          </a:bodyPr>
          <a:lstStyle/>
          <a:p>
            <a:r>
              <a:rPr lang="zh-CN" altLang="en-US" sz="3600">
                <a:latin typeface="宋体" panose="02010600030101010101" pitchFamily="2" charset="-122"/>
                <a:ea typeface="宋体" panose="02010600030101010101" pitchFamily="2" charset="-122"/>
                <a:cs typeface="宋体" panose="02010600030101010101" pitchFamily="2" charset="-122"/>
              </a:rPr>
              <a:t>证明：</a:t>
            </a:r>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sym typeface="+mn-ea"/>
              </a:rPr>
              <a:t>是模</a:t>
            </a:r>
            <a:r>
              <a:rPr lang="en-US" altLang="zh-CN" sz="3600">
                <a:latin typeface="宋体" panose="02010600030101010101" pitchFamily="2" charset="-122"/>
                <a:ea typeface="宋体" panose="02010600030101010101" pitchFamily="2" charset="-122"/>
                <a:cs typeface="宋体" panose="02010600030101010101" pitchFamily="2" charset="-122"/>
                <a:sym typeface="+mn-ea"/>
              </a:rPr>
              <a:t>     </a:t>
            </a:r>
            <a:r>
              <a:rPr lang="zh-CN" altLang="en-US" sz="3600">
                <a:latin typeface="宋体" panose="02010600030101010101" pitchFamily="2" charset="-122"/>
                <a:ea typeface="宋体" panose="02010600030101010101" pitchFamily="2" charset="-122"/>
                <a:cs typeface="宋体" panose="02010600030101010101" pitchFamily="2" charset="-122"/>
                <a:sym typeface="+mn-ea"/>
              </a:rPr>
              <a:t>可逆的，当且仅当存在多项式</a:t>
            </a:r>
            <a:r>
              <a:rPr lang="en-US" altLang="zh-CN" sz="3600">
                <a:latin typeface="宋体" panose="02010600030101010101" pitchFamily="2" charset="-122"/>
                <a:ea typeface="宋体" panose="02010600030101010101" pitchFamily="2" charset="-122"/>
                <a:cs typeface="宋体" panose="02010600030101010101" pitchFamily="2" charset="-122"/>
                <a:sym typeface="+mn-ea"/>
              </a:rPr>
              <a:t>             </a:t>
            </a:r>
            <a:r>
              <a:rPr lang="zh-CN" altLang="en-US" sz="3600">
                <a:latin typeface="宋体" panose="02010600030101010101" pitchFamily="2" charset="-122"/>
                <a:ea typeface="宋体" panose="02010600030101010101" pitchFamily="2" charset="-122"/>
                <a:cs typeface="宋体" panose="02010600030101010101" pitchFamily="2" charset="-122"/>
                <a:sym typeface="+mn-ea"/>
              </a:rPr>
              <a:t>使</a:t>
            </a:r>
            <a:endParaRPr lang="zh-CN" altLang="en-US" sz="3600">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3600">
              <a:latin typeface="宋体" panose="02010600030101010101" pitchFamily="2" charset="-122"/>
              <a:ea typeface="宋体" panose="02010600030101010101" pitchFamily="2" charset="-122"/>
              <a:cs typeface="宋体" panose="02010600030101010101" pitchFamily="2" charset="-122"/>
            </a:endParaRPr>
          </a:p>
          <a:p>
            <a:r>
              <a:rPr lang="en-US" altLang="zh-CN" sz="3600">
                <a:latin typeface="宋体" panose="02010600030101010101" pitchFamily="2" charset="-122"/>
                <a:ea typeface="宋体" panose="02010600030101010101" pitchFamily="2" charset="-122"/>
                <a:cs typeface="宋体" panose="02010600030101010101" pitchFamily="2" charset="-122"/>
              </a:rPr>
              <a:t> </a:t>
            </a:r>
            <a:r>
              <a:rPr lang="zh-CN" altLang="en-US" sz="3600">
                <a:latin typeface="宋体" panose="02010600030101010101" pitchFamily="2" charset="-122"/>
                <a:ea typeface="宋体" panose="02010600030101010101" pitchFamily="2" charset="-122"/>
                <a:cs typeface="宋体" panose="02010600030101010101" pitchFamily="2" charset="-122"/>
              </a:rPr>
              <a:t>因此，有</a:t>
            </a:r>
            <a:r>
              <a:rPr lang="en-US" altLang="zh-CN" sz="3600">
                <a:latin typeface="宋体" panose="02010600030101010101" pitchFamily="2" charset="-122"/>
                <a:ea typeface="宋体" panose="02010600030101010101" pitchFamily="2" charset="-122"/>
                <a:cs typeface="宋体" panose="02010600030101010101" pitchFamily="2" charset="-122"/>
              </a:rPr>
              <a:t>   </a:t>
            </a:r>
            <a:endParaRPr lang="en-US" altLang="zh-CN" sz="3600">
              <a:latin typeface="宋体" panose="02010600030101010101" pitchFamily="2" charset="-122"/>
              <a:ea typeface="宋体" panose="02010600030101010101" pitchFamily="2" charset="-122"/>
              <a:cs typeface="宋体" panose="02010600030101010101" pitchFamily="2" charset="-122"/>
            </a:endParaRPr>
          </a:p>
          <a:p>
            <a:endParaRPr lang="en-US" altLang="zh-CN" sz="3600">
              <a:latin typeface="宋体" panose="02010600030101010101" pitchFamily="2" charset="-122"/>
              <a:ea typeface="宋体" panose="02010600030101010101" pitchFamily="2" charset="-122"/>
              <a:cs typeface="宋体" panose="02010600030101010101" pitchFamily="2" charset="-122"/>
            </a:endParaRPr>
          </a:p>
          <a:p>
            <a:endParaRPr lang="en-US" altLang="zh-CN" sz="3600">
              <a:latin typeface="宋体" panose="02010600030101010101" pitchFamily="2" charset="-122"/>
              <a:ea typeface="宋体" panose="02010600030101010101" pitchFamily="2" charset="-122"/>
              <a:cs typeface="宋体" panose="02010600030101010101" pitchFamily="2" charset="-122"/>
            </a:endParaRPr>
          </a:p>
          <a:p>
            <a:endParaRPr lang="en-US" altLang="zh-CN" sz="3600">
              <a:latin typeface="宋体" panose="02010600030101010101" pitchFamily="2" charset="-122"/>
              <a:ea typeface="宋体" panose="02010600030101010101" pitchFamily="2" charset="-122"/>
              <a:cs typeface="宋体" panose="02010600030101010101" pitchFamily="2" charset="-122"/>
            </a:endParaRPr>
          </a:p>
          <a:p>
            <a:endParaRPr lang="en-US" altLang="zh-CN" sz="3600">
              <a:latin typeface="宋体" panose="02010600030101010101" pitchFamily="2" charset="-122"/>
              <a:ea typeface="宋体" panose="02010600030101010101" pitchFamily="2" charset="-122"/>
              <a:cs typeface="宋体" panose="02010600030101010101" pitchFamily="2" charset="-122"/>
            </a:endParaRPr>
          </a:p>
          <a:p>
            <a:r>
              <a:rPr lang="zh-CN" altLang="en-US" sz="3600">
                <a:latin typeface="宋体" panose="02010600030101010101" pitchFamily="2" charset="-122"/>
                <a:ea typeface="宋体" panose="02010600030101010101" pitchFamily="2" charset="-122"/>
                <a:cs typeface="宋体" panose="02010600030101010101" pitchFamily="2" charset="-122"/>
              </a:rPr>
              <a:t>将以上关系写成矩阵形式为</a:t>
            </a:r>
            <a:r>
              <a:rPr lang="en-US" altLang="zh-CN" sz="3600">
                <a:latin typeface="宋体" panose="02010600030101010101" pitchFamily="2" charset="-122"/>
                <a:ea typeface="宋体" panose="02010600030101010101" pitchFamily="2" charset="-122"/>
                <a:cs typeface="宋体" panose="02010600030101010101" pitchFamily="2" charset="-122"/>
              </a:rPr>
              <a:t>     </a:t>
            </a:r>
            <a:endParaRPr lang="en-US" altLang="zh-CN" sz="3600">
              <a:latin typeface="宋体" panose="02010600030101010101" pitchFamily="2" charset="-122"/>
              <a:ea typeface="宋体" panose="02010600030101010101" pitchFamily="2" charset="-122"/>
              <a:cs typeface="宋体" panose="02010600030101010101" pitchFamily="2" charset="-122"/>
            </a:endParaRPr>
          </a:p>
          <a:p>
            <a:r>
              <a:rPr lang="en-US" altLang="zh-CN" sz="3600">
                <a:latin typeface="宋体" panose="02010600030101010101" pitchFamily="2" charset="-122"/>
                <a:ea typeface="宋体" panose="02010600030101010101" pitchFamily="2" charset="-122"/>
                <a:cs typeface="宋体" panose="02010600030101010101" pitchFamily="2" charset="-122"/>
              </a:rPr>
              <a:t>                      </a:t>
            </a:r>
            <a:endParaRPr lang="zh-CN" altLang="en-US" sz="36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对象 -2147482131"/>
          <p:cNvGraphicFramePr>
            <a:graphicFrameLocks noChangeAspect="1"/>
          </p:cNvGraphicFramePr>
          <p:nvPr/>
        </p:nvGraphicFramePr>
        <p:xfrm>
          <a:off x="2133600" y="1866900"/>
          <a:ext cx="3065780" cy="516890"/>
        </p:xfrm>
        <a:graphic>
          <a:graphicData uri="http://schemas.openxmlformats.org/presentationml/2006/ole">
            <mc:AlternateContent xmlns:mc="http://schemas.openxmlformats.org/markup-compatibility/2006">
              <mc:Choice xmlns:v="urn:schemas-microsoft-com:vml" Requires="v">
                <p:oleObj spid="_x0000_s0" name="" r:id="rId1" imgW="1104900" imgH="203200" progId="Equation.DSMT4">
                  <p:embed/>
                </p:oleObj>
              </mc:Choice>
              <mc:Fallback>
                <p:oleObj name="" r:id="rId1" imgW="1104900" imgH="203200" progId="Equation.DSMT4">
                  <p:embed/>
                  <p:pic>
                    <p:nvPicPr>
                      <p:cNvPr id="0" name="图片 20"/>
                      <p:cNvPicPr/>
                      <p:nvPr/>
                    </p:nvPicPr>
                    <p:blipFill>
                      <a:blip r:embed="rId2"/>
                      <a:stretch>
                        <a:fillRect/>
                      </a:stretch>
                    </p:blipFill>
                    <p:spPr>
                      <a:xfrm>
                        <a:off x="2133600" y="1866900"/>
                        <a:ext cx="3065780" cy="516890"/>
                      </a:xfrm>
                      <a:prstGeom prst="rect">
                        <a:avLst/>
                      </a:prstGeom>
                      <a:noFill/>
                      <a:ln w="38100">
                        <a:noFill/>
                        <a:miter/>
                      </a:ln>
                    </p:spPr>
                  </p:pic>
                </p:oleObj>
              </mc:Fallback>
            </mc:AlternateContent>
          </a:graphicData>
        </a:graphic>
      </p:graphicFrame>
      <p:graphicFrame>
        <p:nvGraphicFramePr>
          <p:cNvPr id="6" name="对象 -2147482130"/>
          <p:cNvGraphicFramePr>
            <a:graphicFrameLocks noChangeAspect="1"/>
          </p:cNvGraphicFramePr>
          <p:nvPr/>
        </p:nvGraphicFramePr>
        <p:xfrm>
          <a:off x="6096000" y="1798320"/>
          <a:ext cx="1157605" cy="585470"/>
        </p:xfrm>
        <a:graphic>
          <a:graphicData uri="http://schemas.openxmlformats.org/presentationml/2006/ole">
            <mc:AlternateContent xmlns:mc="http://schemas.openxmlformats.org/markup-compatibility/2006">
              <mc:Choice xmlns:v="urn:schemas-microsoft-com:vml" Requires="v">
                <p:oleObj spid="_x0000_s0" name="" r:id="rId3" imgW="330200" imgH="177800" progId="Equation.DSMT4">
                  <p:embed/>
                </p:oleObj>
              </mc:Choice>
              <mc:Fallback>
                <p:oleObj name="" r:id="rId3" imgW="330200" imgH="177800" progId="Equation.DSMT4">
                  <p:embed/>
                  <p:pic>
                    <p:nvPicPr>
                      <p:cNvPr id="0" name="图片 21"/>
                      <p:cNvPicPr/>
                      <p:nvPr/>
                    </p:nvPicPr>
                    <p:blipFill>
                      <a:blip r:embed="rId4"/>
                      <a:stretch>
                        <a:fillRect/>
                      </a:stretch>
                    </p:blipFill>
                    <p:spPr>
                      <a:xfrm>
                        <a:off x="6096000" y="1798320"/>
                        <a:ext cx="1157605" cy="585470"/>
                      </a:xfrm>
                      <a:prstGeom prst="rect">
                        <a:avLst/>
                      </a:prstGeom>
                      <a:noFill/>
                      <a:ln w="38100">
                        <a:noFill/>
                        <a:miter/>
                      </a:ln>
                    </p:spPr>
                  </p:pic>
                </p:oleObj>
              </mc:Fallback>
            </mc:AlternateContent>
          </a:graphicData>
        </a:graphic>
      </p:graphicFrame>
      <p:graphicFrame>
        <p:nvGraphicFramePr>
          <p:cNvPr id="7" name="对象 -2147482129"/>
          <p:cNvGraphicFramePr>
            <a:graphicFrameLocks noChangeAspect="1"/>
          </p:cNvGraphicFramePr>
          <p:nvPr/>
        </p:nvGraphicFramePr>
        <p:xfrm>
          <a:off x="13258800" y="1943100"/>
          <a:ext cx="2851150" cy="480695"/>
        </p:xfrm>
        <a:graphic>
          <a:graphicData uri="http://schemas.openxmlformats.org/presentationml/2006/ole">
            <mc:AlternateContent xmlns:mc="http://schemas.openxmlformats.org/markup-compatibility/2006">
              <mc:Choice xmlns:v="urn:schemas-microsoft-com:vml" Requires="v">
                <p:oleObj spid="_x0000_s0" name="" r:id="rId5" imgW="1078865" imgH="203200" progId="Equation.DSMT4">
                  <p:embed/>
                </p:oleObj>
              </mc:Choice>
              <mc:Fallback>
                <p:oleObj name="" r:id="rId5" imgW="1078865" imgH="203200" progId="Equation.DSMT4">
                  <p:embed/>
                  <p:pic>
                    <p:nvPicPr>
                      <p:cNvPr id="0" name="图片 22"/>
                      <p:cNvPicPr/>
                      <p:nvPr/>
                    </p:nvPicPr>
                    <p:blipFill>
                      <a:blip r:embed="rId6"/>
                      <a:stretch>
                        <a:fillRect/>
                      </a:stretch>
                    </p:blipFill>
                    <p:spPr>
                      <a:xfrm>
                        <a:off x="13258800" y="1943100"/>
                        <a:ext cx="2851150" cy="480695"/>
                      </a:xfrm>
                      <a:prstGeom prst="rect">
                        <a:avLst/>
                      </a:prstGeom>
                      <a:noFill/>
                      <a:ln w="38100">
                        <a:noFill/>
                        <a:miter/>
                      </a:ln>
                    </p:spPr>
                  </p:pic>
                </p:oleObj>
              </mc:Fallback>
            </mc:AlternateContent>
          </a:graphicData>
        </a:graphic>
      </p:graphicFrame>
      <p:graphicFrame>
        <p:nvGraphicFramePr>
          <p:cNvPr id="24" name="对象 23"/>
          <p:cNvGraphicFramePr>
            <a:graphicFrameLocks noChangeAspect="1"/>
          </p:cNvGraphicFramePr>
          <p:nvPr/>
        </p:nvGraphicFramePr>
        <p:xfrm>
          <a:off x="838200" y="2476500"/>
          <a:ext cx="8625205" cy="514350"/>
        </p:xfrm>
        <a:graphic>
          <a:graphicData uri="http://schemas.openxmlformats.org/presentationml/2006/ole">
            <mc:AlternateContent xmlns:mc="http://schemas.openxmlformats.org/markup-compatibility/2006">
              <mc:Choice xmlns:v="urn:schemas-microsoft-com:vml" Requires="v">
                <p:oleObj spid="_x0000_s0" name="" r:id="rId7" imgW="3124200" imgH="203200" progId="Equation.DSMT4">
                  <p:embed/>
                </p:oleObj>
              </mc:Choice>
              <mc:Fallback>
                <p:oleObj name="" r:id="rId7" imgW="3124200" imgH="203200" progId="Equation.DSMT4">
                  <p:embed/>
                  <p:pic>
                    <p:nvPicPr>
                      <p:cNvPr id="0" name="图片 24"/>
                      <p:cNvPicPr/>
                      <p:nvPr/>
                    </p:nvPicPr>
                    <p:blipFill>
                      <a:blip r:embed="rId8"/>
                      <a:stretch>
                        <a:fillRect/>
                      </a:stretch>
                    </p:blipFill>
                    <p:spPr>
                      <a:xfrm>
                        <a:off x="838200" y="2476500"/>
                        <a:ext cx="8625205" cy="514350"/>
                      </a:xfrm>
                      <a:prstGeom prst="rect">
                        <a:avLst/>
                      </a:prstGeom>
                      <a:noFill/>
                      <a:ln w="38100">
                        <a:noFill/>
                        <a:miter/>
                      </a:ln>
                    </p:spPr>
                  </p:pic>
                </p:oleObj>
              </mc:Fallback>
            </mc:AlternateContent>
          </a:graphicData>
        </a:graphic>
      </p:graphicFrame>
      <p:graphicFrame>
        <p:nvGraphicFramePr>
          <p:cNvPr id="8" name="对象 -2147482127"/>
          <p:cNvGraphicFramePr>
            <a:graphicFrameLocks noChangeAspect="1"/>
          </p:cNvGraphicFramePr>
          <p:nvPr/>
        </p:nvGraphicFramePr>
        <p:xfrm>
          <a:off x="4648200" y="3619500"/>
          <a:ext cx="7571105" cy="452120"/>
        </p:xfrm>
        <a:graphic>
          <a:graphicData uri="http://schemas.openxmlformats.org/presentationml/2006/ole">
            <mc:AlternateContent xmlns:mc="http://schemas.openxmlformats.org/markup-compatibility/2006">
              <mc:Choice xmlns:v="urn:schemas-microsoft-com:vml" Requires="v">
                <p:oleObj spid="_x0000_s0" name="" r:id="rId9" imgW="3149600" imgH="203200" progId="Equation.DSMT4">
                  <p:embed/>
                </p:oleObj>
              </mc:Choice>
              <mc:Fallback>
                <p:oleObj name="" r:id="rId9" imgW="3149600" imgH="203200" progId="Equation.DSMT4">
                  <p:embed/>
                  <p:pic>
                    <p:nvPicPr>
                      <p:cNvPr id="0" name="图片 25"/>
                      <p:cNvPicPr/>
                      <p:nvPr/>
                    </p:nvPicPr>
                    <p:blipFill>
                      <a:blip r:embed="rId10"/>
                      <a:stretch>
                        <a:fillRect/>
                      </a:stretch>
                    </p:blipFill>
                    <p:spPr>
                      <a:xfrm>
                        <a:off x="4648200" y="3619500"/>
                        <a:ext cx="7571105" cy="452120"/>
                      </a:xfrm>
                      <a:prstGeom prst="rect">
                        <a:avLst/>
                      </a:prstGeom>
                      <a:noFill/>
                      <a:ln w="38100">
                        <a:noFill/>
                        <a:miter/>
                      </a:ln>
                    </p:spPr>
                  </p:pic>
                </p:oleObj>
              </mc:Fallback>
            </mc:AlternateContent>
          </a:graphicData>
        </a:graphic>
      </p:graphicFrame>
      <p:graphicFrame>
        <p:nvGraphicFramePr>
          <p:cNvPr id="9" name="对象 -2147482126"/>
          <p:cNvGraphicFramePr>
            <a:graphicFrameLocks noChangeAspect="1"/>
          </p:cNvGraphicFramePr>
          <p:nvPr/>
        </p:nvGraphicFramePr>
        <p:xfrm>
          <a:off x="4724400" y="4305300"/>
          <a:ext cx="7495540" cy="433705"/>
        </p:xfrm>
        <a:graphic>
          <a:graphicData uri="http://schemas.openxmlformats.org/presentationml/2006/ole">
            <mc:AlternateContent xmlns:mc="http://schemas.openxmlformats.org/markup-compatibility/2006">
              <mc:Choice xmlns:v="urn:schemas-microsoft-com:vml" Requires="v">
                <p:oleObj spid="_x0000_s0" name="" r:id="rId11" imgW="3200400" imgH="203200" progId="Equation.DSMT4">
                  <p:embed/>
                </p:oleObj>
              </mc:Choice>
              <mc:Fallback>
                <p:oleObj name="" r:id="rId11" imgW="3200400" imgH="203200" progId="Equation.DSMT4">
                  <p:embed/>
                  <p:pic>
                    <p:nvPicPr>
                      <p:cNvPr id="0" name="图片 26"/>
                      <p:cNvPicPr/>
                      <p:nvPr/>
                    </p:nvPicPr>
                    <p:blipFill>
                      <a:blip r:embed="rId12"/>
                      <a:stretch>
                        <a:fillRect/>
                      </a:stretch>
                    </p:blipFill>
                    <p:spPr>
                      <a:xfrm>
                        <a:off x="4724400" y="4305300"/>
                        <a:ext cx="7495540" cy="433705"/>
                      </a:xfrm>
                      <a:prstGeom prst="rect">
                        <a:avLst/>
                      </a:prstGeom>
                      <a:noFill/>
                      <a:ln w="38100">
                        <a:noFill/>
                        <a:miter/>
                      </a:ln>
                    </p:spPr>
                  </p:pic>
                </p:oleObj>
              </mc:Fallback>
            </mc:AlternateContent>
          </a:graphicData>
        </a:graphic>
      </p:graphicFrame>
      <p:graphicFrame>
        <p:nvGraphicFramePr>
          <p:cNvPr id="10" name="对象 -2147482125"/>
          <p:cNvGraphicFramePr>
            <a:graphicFrameLocks noChangeAspect="1"/>
          </p:cNvGraphicFramePr>
          <p:nvPr/>
        </p:nvGraphicFramePr>
        <p:xfrm>
          <a:off x="4648200" y="4975225"/>
          <a:ext cx="7558405" cy="437515"/>
        </p:xfrm>
        <a:graphic>
          <a:graphicData uri="http://schemas.openxmlformats.org/presentationml/2006/ole">
            <mc:AlternateContent xmlns:mc="http://schemas.openxmlformats.org/markup-compatibility/2006">
              <mc:Choice xmlns:v="urn:schemas-microsoft-com:vml" Requires="v">
                <p:oleObj spid="_x0000_s0" name="" r:id="rId13" imgW="3200400" imgH="203200" progId="Equation.DSMT4">
                  <p:embed/>
                </p:oleObj>
              </mc:Choice>
              <mc:Fallback>
                <p:oleObj name="" r:id="rId13" imgW="3200400" imgH="203200" progId="Equation.DSMT4">
                  <p:embed/>
                  <p:pic>
                    <p:nvPicPr>
                      <p:cNvPr id="0" name="图片 27"/>
                      <p:cNvPicPr/>
                      <p:nvPr/>
                    </p:nvPicPr>
                    <p:blipFill>
                      <a:blip r:embed="rId14"/>
                      <a:stretch>
                        <a:fillRect/>
                      </a:stretch>
                    </p:blipFill>
                    <p:spPr>
                      <a:xfrm>
                        <a:off x="4648200" y="4975225"/>
                        <a:ext cx="7558405" cy="437515"/>
                      </a:xfrm>
                      <a:prstGeom prst="rect">
                        <a:avLst/>
                      </a:prstGeom>
                      <a:noFill/>
                      <a:ln w="38100">
                        <a:noFill/>
                        <a:miter/>
                      </a:ln>
                    </p:spPr>
                  </p:pic>
                </p:oleObj>
              </mc:Fallback>
            </mc:AlternateContent>
          </a:graphicData>
        </a:graphic>
      </p:graphicFrame>
      <p:graphicFrame>
        <p:nvGraphicFramePr>
          <p:cNvPr id="11" name="对象 -2147481943"/>
          <p:cNvGraphicFramePr>
            <a:graphicFrameLocks noChangeAspect="1"/>
          </p:cNvGraphicFramePr>
          <p:nvPr/>
        </p:nvGraphicFramePr>
        <p:xfrm>
          <a:off x="4800600" y="6402070"/>
          <a:ext cx="7487920" cy="1925955"/>
        </p:xfrm>
        <a:graphic>
          <a:graphicData uri="http://schemas.openxmlformats.org/presentationml/2006/ole">
            <mc:AlternateContent xmlns:mc="http://schemas.openxmlformats.org/markup-compatibility/2006">
              <mc:Choice xmlns:v="urn:schemas-microsoft-com:vml" Requires="v">
                <p:oleObj spid="_x0000_s0" name="" r:id="rId15" imgW="2870200" imgH="774700" progId="Equation.DSMT4">
                  <p:embed/>
                </p:oleObj>
              </mc:Choice>
              <mc:Fallback>
                <p:oleObj name="" r:id="rId15" imgW="2870200" imgH="774700" progId="Equation.DSMT4">
                  <p:embed/>
                  <p:pic>
                    <p:nvPicPr>
                      <p:cNvPr id="0" name="图片 28"/>
                      <p:cNvPicPr/>
                      <p:nvPr/>
                    </p:nvPicPr>
                    <p:blipFill>
                      <a:blip r:embed="rId16"/>
                      <a:stretch>
                        <a:fillRect/>
                      </a:stretch>
                    </p:blipFill>
                    <p:spPr>
                      <a:xfrm>
                        <a:off x="4800600" y="6402070"/>
                        <a:ext cx="7487920" cy="1925955"/>
                      </a:xfrm>
                      <a:prstGeom prst="rect">
                        <a:avLst/>
                      </a:prstGeom>
                      <a:noFill/>
                      <a:ln w="38100">
                        <a:noFill/>
                        <a:miter/>
                      </a:ln>
                    </p:spPr>
                  </p:pic>
                </p:oleObj>
              </mc:Fallback>
            </mc:AlternateContent>
          </a:graphicData>
        </a:graphic>
      </p:graphicFrame>
      <p:sp>
        <p:nvSpPr>
          <p:cNvPr id="12" name="灯片编号占位符 11"/>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Group 2"/>
          <p:cNvGrpSpPr/>
          <p:nvPr/>
        </p:nvGrpSpPr>
        <p:grpSpPr>
          <a:xfrm>
            <a:off x="412090" y="1028700"/>
            <a:ext cx="7800783" cy="275915"/>
            <a:chOff x="0" y="0"/>
            <a:chExt cx="2054527" cy="72669"/>
          </a:xfrm>
        </p:grpSpPr>
        <p:sp>
          <p:nvSpPr>
            <p:cNvPr id="14"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5"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的数学基础</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1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9" name="组合 18"/>
          <p:cNvGrpSpPr/>
          <p:nvPr/>
        </p:nvGrpSpPr>
        <p:grpSpPr>
          <a:xfrm>
            <a:off x="13639786" y="733421"/>
            <a:ext cx="3700052" cy="416951"/>
            <a:chOff x="13811849" y="507954"/>
            <a:chExt cx="3700052" cy="416951"/>
          </a:xfrm>
        </p:grpSpPr>
        <p:sp>
          <p:nvSpPr>
            <p:cNvPr id="21" name="文本框 20"/>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2" name="图片 21"/>
            <p:cNvPicPr>
              <a:picLocks noChangeAspect="1"/>
            </p:cNvPicPr>
            <p:nvPr/>
          </p:nvPicPr>
          <p:blipFill>
            <a:blip r:embed="rId18"/>
            <a:stretch>
              <a:fillRect/>
            </a:stretch>
          </p:blipFill>
          <p:spPr>
            <a:xfrm>
              <a:off x="13944600" y="877286"/>
              <a:ext cx="2771429" cy="47619"/>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790700"/>
            <a:ext cx="16329025" cy="2453640"/>
          </a:xfrm>
          <a:prstGeom prst="rect">
            <a:avLst/>
          </a:prstGeom>
          <a:noFill/>
        </p:spPr>
        <p:txBody>
          <a:bodyPr wrap="square" rtlCol="0" anchor="t">
            <a:spAutoFit/>
          </a:bodyPr>
          <a:lstStyle/>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在原始的</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Rijndael</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算法中分组长度和密钥长度都可变，各自可以独立地指定为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128bit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192bit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256bit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中，分组长度只能是</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128bit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，密钥长度可以为三者中的任意一种。密钥长度不同，则加密轮数不同，</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参数如表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所示。本节中，假定密钥长度为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128bit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，那么</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的迭代轮数为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10</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轮，这也是目前使用最广泛的实现方式。</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5" name="文本框 4"/>
          <p:cNvSpPr txBox="1"/>
          <p:nvPr/>
        </p:nvSpPr>
        <p:spPr>
          <a:xfrm>
            <a:off x="5257800" y="4229100"/>
            <a:ext cx="7428865" cy="974725"/>
          </a:xfrm>
          <a:prstGeom prst="rect">
            <a:avLst/>
          </a:prstGeom>
        </p:spPr>
        <p:txBody>
          <a:bodyPr>
            <a:noAutofit/>
          </a:bodyPr>
          <a:lstStyle/>
          <a:p>
            <a:pPr marL="0" indent="0" algn="ctr" defTabSz="266700">
              <a:lnSpc>
                <a:spcPts val="1600"/>
              </a:lnSpc>
              <a:spcBef>
                <a:spcPts val="400"/>
              </a:spcBef>
              <a:spcAft>
                <a:spcPts val="300"/>
              </a:spcAft>
              <a:tabLst>
                <a:tab pos="1828800" algn="l"/>
              </a:tabLst>
            </a:pPr>
            <a:r>
              <a:rPr lang="zh-CN" altLang="en-US">
                <a:solidFill>
                  <a:srgbClr val="000000"/>
                </a:solidFill>
                <a:latin typeface="宋体" panose="02010600030101010101" pitchFamily="2" charset="-122"/>
                <a:ea typeface="宋体" panose="02010600030101010101" pitchFamily="2" charset="-122"/>
                <a:cs typeface="宋体" panose="02010600030101010101" pitchFamily="2" charset="-122"/>
              </a:rPr>
              <a:t>表</a:t>
            </a:r>
            <a:r>
              <a:rPr lang="en-US" altLang="zh-CN">
                <a:solidFill>
                  <a:srgbClr val="000000"/>
                </a:solidFill>
                <a:latin typeface="宋体" panose="02010600030101010101" pitchFamily="2" charset="-122"/>
                <a:ea typeface="宋体" panose="02010600030101010101" pitchFamily="2" charset="-122"/>
                <a:cs typeface="宋体" panose="02010600030101010101" pitchFamily="2" charset="-122"/>
              </a:rPr>
              <a:t>3.8</a:t>
            </a:r>
            <a:r>
              <a:rPr lang="zh-CN" altLang="en-US">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a:solidFill>
                  <a:srgbClr val="000000"/>
                </a:solidFill>
                <a:latin typeface="宋体" panose="02010600030101010101" pitchFamily="2" charset="-122"/>
                <a:ea typeface="宋体" panose="02010600030101010101" pitchFamily="2" charset="-122"/>
                <a:cs typeface="宋体" panose="02010600030101010101" pitchFamily="2" charset="-122"/>
              </a:rPr>
              <a:t>AES</a:t>
            </a:r>
            <a:r>
              <a:rPr lang="zh-CN" altLang="en-US">
                <a:solidFill>
                  <a:srgbClr val="000000"/>
                </a:solidFill>
                <a:latin typeface="宋体" panose="02010600030101010101" pitchFamily="2" charset="-122"/>
                <a:ea typeface="宋体" panose="02010600030101010101" pitchFamily="2" charset="-122"/>
                <a:cs typeface="宋体" panose="02010600030101010101" pitchFamily="2" charset="-122"/>
              </a:rPr>
              <a:t>参数</a:t>
            </a:r>
            <a:endParaRPr lang="zh-CN" altLang="en-US">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7" name="表格 6"/>
          <p:cNvGraphicFramePr/>
          <p:nvPr/>
        </p:nvGraphicFramePr>
        <p:xfrm>
          <a:off x="3139440" y="4533900"/>
          <a:ext cx="11303000" cy="2062480"/>
        </p:xfrm>
        <a:graphic>
          <a:graphicData uri="http://schemas.openxmlformats.org/drawingml/2006/table">
            <a:tbl>
              <a:tblPr/>
              <a:tblGrid>
                <a:gridCol w="2825750"/>
                <a:gridCol w="2825750"/>
                <a:gridCol w="2825750"/>
                <a:gridCol w="2825750"/>
              </a:tblGrid>
              <a:tr h="548005">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cs typeface="宋体" panose="02010600030101010101" pitchFamily="2" charset="-122"/>
                        </a:rPr>
                        <a:t>AES</a:t>
                      </a: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算法</a:t>
                      </a:r>
                      <a:endParaRPr lang="zh-CN" sz="24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ts val="400"/>
                        </a:spcBef>
                        <a:spcAft>
                          <a:spcPts val="100"/>
                        </a:spcAft>
                        <a:tabLst>
                          <a:tab pos="1828800" algn="l"/>
                        </a:tabLst>
                      </a:pP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密钥长度（</a:t>
                      </a:r>
                      <a:r>
                        <a:rPr lang="en-US" altLang="zh-CN" sz="2400">
                          <a:solidFill>
                            <a:srgbClr val="000000"/>
                          </a:solidFill>
                          <a:latin typeface="宋体" panose="02010600030101010101" pitchFamily="2" charset="-122"/>
                          <a:ea typeface="宋体" panose="02010600030101010101" pitchFamily="2" charset="-122"/>
                          <a:cs typeface="宋体" panose="02010600030101010101" pitchFamily="2" charset="-122"/>
                        </a:rPr>
                        <a:t>32bit</a:t>
                      </a: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zh-CN" sz="24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ts val="400"/>
                        </a:spcBef>
                        <a:spcAft>
                          <a:spcPts val="100"/>
                        </a:spcAft>
                        <a:tabLst>
                          <a:tab pos="1828800" algn="l"/>
                        </a:tabLst>
                      </a:pP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分组长度（</a:t>
                      </a:r>
                      <a:r>
                        <a:rPr lang="en-US" altLang="zh-CN" sz="2400">
                          <a:solidFill>
                            <a:srgbClr val="000000"/>
                          </a:solidFill>
                          <a:latin typeface="宋体" panose="02010600030101010101" pitchFamily="2" charset="-122"/>
                          <a:ea typeface="宋体" panose="02010600030101010101" pitchFamily="2" charset="-122"/>
                          <a:cs typeface="宋体" panose="02010600030101010101" pitchFamily="2" charset="-122"/>
                        </a:rPr>
                        <a:t>32bit</a:t>
                      </a: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zh-CN" sz="24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加密和解密轮数</a:t>
                      </a:r>
                      <a:r>
                        <a:rPr lang="en-US" altLang="zh-CN" sz="240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zh-CN" sz="2400">
                          <a:solidFill>
                            <a:srgbClr val="000000"/>
                          </a:solidFill>
                          <a:latin typeface="宋体" panose="02010600030101010101" pitchFamily="2" charset="-122"/>
                          <a:ea typeface="宋体" panose="02010600030101010101" pitchFamily="2" charset="-122"/>
                          <a:cs typeface="宋体" panose="02010600030101010101" pitchFamily="2" charset="-122"/>
                        </a:rPr>
                        <a:t>轮</a:t>
                      </a:r>
                      <a:endParaRPr lang="zh-CN" sz="24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04825">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AES-128</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4</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4</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10</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04825">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AES-192</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6</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4</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12</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04825">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AES-256</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8</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4</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600"/>
                        </a:lnSpc>
                        <a:spcBef>
                          <a:spcPts val="400"/>
                        </a:spcBef>
                        <a:spcAft>
                          <a:spcPts val="100"/>
                        </a:spcAft>
                        <a:tabLst>
                          <a:tab pos="1828800" algn="l"/>
                        </a:tabLst>
                      </a:pPr>
                      <a:r>
                        <a:rPr lang="en-US" altLang="zh-CN" sz="2400">
                          <a:solidFill>
                            <a:srgbClr val="000000"/>
                          </a:solidFill>
                          <a:latin typeface="宋体" panose="02010600030101010101" pitchFamily="2" charset="-122"/>
                          <a:ea typeface="宋体" panose="02010600030101010101" pitchFamily="2" charset="-122"/>
                        </a:rPr>
                        <a:t>14</a:t>
                      </a:r>
                      <a:endParaRPr lang="en-US" altLang="zh-CN" sz="24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838200" y="6743700"/>
            <a:ext cx="16414115" cy="2306955"/>
          </a:xfrm>
          <a:prstGeom prst="rect">
            <a:avLst/>
          </a:prstGeom>
        </p:spPr>
        <p:txBody>
          <a:bodyPr wrap="square">
            <a:spAutoFit/>
          </a:bodyPr>
          <a:lstStyle/>
          <a:p>
            <a:pPr indent="254000" algn="just" defTabSz="266700" fontAlgn="auto">
              <a:lnSpc>
                <a:spcPct val="100000"/>
              </a:lnSpc>
              <a:spcBef>
                <a:spcPts val="300"/>
              </a:spcBef>
              <a:spcAft>
                <a:spcPts val="400"/>
              </a:spcAft>
            </a:pPr>
            <a:r>
              <a:rPr lang="en-US" altLang="zh-CN" sz="3600">
                <a:latin typeface="宋体" panose="02010600030101010101" pitchFamily="2" charset="-122"/>
                <a:ea typeface="宋体" panose="02010600030101010101" pitchFamily="2" charset="-122"/>
                <a:cs typeface="宋体" panose="02010600030101010101" pitchFamily="2" charset="-122"/>
              </a:rPr>
              <a:t>AES</a:t>
            </a:r>
            <a:r>
              <a:rPr lang="zh-CN" altLang="en-US" sz="3600">
                <a:latin typeface="宋体" panose="02010600030101010101" pitchFamily="2" charset="-122"/>
                <a:ea typeface="宋体" panose="02010600030101010101" pitchFamily="2" charset="-122"/>
                <a:cs typeface="宋体" panose="02010600030101010101" pitchFamily="2" charset="-122"/>
              </a:rPr>
              <a:t>的处理单位是字节，</a:t>
            </a:r>
            <a:r>
              <a:rPr lang="en-US" altLang="zh-CN" sz="3600">
                <a:latin typeface="宋体" panose="02010600030101010101" pitchFamily="2" charset="-122"/>
                <a:ea typeface="宋体" panose="02010600030101010101" pitchFamily="2" charset="-122"/>
                <a:cs typeface="宋体" panose="02010600030101010101" pitchFamily="2" charset="-122"/>
              </a:rPr>
              <a:t>128bit</a:t>
            </a:r>
            <a:r>
              <a:rPr lang="zh-CN" altLang="en-US" sz="3600">
                <a:latin typeface="宋体" panose="02010600030101010101" pitchFamily="2" charset="-122"/>
                <a:ea typeface="宋体" panose="02010600030101010101" pitchFamily="2" charset="-122"/>
                <a:cs typeface="宋体" panose="02010600030101010101" pitchFamily="2" charset="-122"/>
              </a:rPr>
              <a:t>的输入明文分组</a:t>
            </a:r>
            <a:r>
              <a:rPr lang="en-US" altLang="zh-CN" sz="3600" i="1">
                <a:latin typeface="宋体" panose="02010600030101010101" pitchFamily="2" charset="-122"/>
                <a:ea typeface="宋体" panose="02010600030101010101" pitchFamily="2" charset="-122"/>
                <a:cs typeface="宋体" panose="02010600030101010101" pitchFamily="2" charset="-122"/>
              </a:rPr>
              <a:t>P</a:t>
            </a:r>
            <a:r>
              <a:rPr lang="zh-CN" altLang="en-US" sz="3600">
                <a:latin typeface="宋体" panose="02010600030101010101" pitchFamily="2" charset="-122"/>
                <a:ea typeface="宋体" panose="02010600030101010101" pitchFamily="2" charset="-122"/>
                <a:cs typeface="宋体" panose="02010600030101010101" pitchFamily="2" charset="-122"/>
              </a:rPr>
              <a:t>和输入密钥</a:t>
            </a:r>
            <a:r>
              <a:rPr lang="en-US" altLang="zh-CN" sz="3600" i="1">
                <a:latin typeface="宋体" panose="02010600030101010101" pitchFamily="2" charset="-122"/>
                <a:ea typeface="宋体" panose="02010600030101010101" pitchFamily="2" charset="-122"/>
                <a:cs typeface="宋体" panose="02010600030101010101" pitchFamily="2" charset="-122"/>
              </a:rPr>
              <a:t>K</a:t>
            </a:r>
            <a:r>
              <a:rPr lang="zh-CN" altLang="en-US" sz="3600">
                <a:latin typeface="宋体" panose="02010600030101010101" pitchFamily="2" charset="-122"/>
                <a:ea typeface="宋体" panose="02010600030101010101" pitchFamily="2" charset="-122"/>
                <a:cs typeface="宋体" panose="02010600030101010101" pitchFamily="2" charset="-122"/>
              </a:rPr>
              <a:t>都被分为</a:t>
            </a:r>
            <a:r>
              <a:rPr lang="en-US" altLang="zh-CN" sz="3600">
                <a:latin typeface="宋体" panose="02010600030101010101" pitchFamily="2" charset="-122"/>
                <a:ea typeface="宋体" panose="02010600030101010101" pitchFamily="2" charset="-122"/>
                <a:cs typeface="宋体" panose="02010600030101010101" pitchFamily="2" charset="-122"/>
              </a:rPr>
              <a:t>16</a:t>
            </a:r>
            <a:r>
              <a:rPr lang="zh-CN" altLang="en-US" sz="3600">
                <a:latin typeface="宋体" panose="02010600030101010101" pitchFamily="2" charset="-122"/>
                <a:ea typeface="宋体" panose="02010600030101010101" pitchFamily="2" charset="-122"/>
                <a:cs typeface="宋体" panose="02010600030101010101" pitchFamily="2" charset="-122"/>
              </a:rPr>
              <a:t>个字节。一般明文分组用以字节为单位的正方形矩阵描述，称为状态（</a:t>
            </a:r>
            <a:r>
              <a:rPr lang="en-US" altLang="zh-CN" sz="3600">
                <a:latin typeface="宋体" panose="02010600030101010101" pitchFamily="2" charset="-122"/>
                <a:ea typeface="宋体" panose="02010600030101010101" pitchFamily="2" charset="-122"/>
                <a:cs typeface="宋体" panose="02010600030101010101" pitchFamily="2" charset="-122"/>
              </a:rPr>
              <a:t>State</a:t>
            </a:r>
            <a:r>
              <a:rPr lang="zh-CN" altLang="en-US" sz="3600">
                <a:latin typeface="宋体" panose="02010600030101010101" pitchFamily="2" charset="-122"/>
                <a:ea typeface="宋体" panose="02010600030101010101" pitchFamily="2" charset="-122"/>
                <a:cs typeface="宋体" panose="02010600030101010101" pitchFamily="2" charset="-122"/>
              </a:rPr>
              <a:t>）矩阵。在算法的每一轮，状态矩阵的内容不断发生变化，最后的结果作为密文输出</a:t>
            </a:r>
            <a:r>
              <a:rPr lang="en-US" altLang="zh-CN" sz="3600" i="1">
                <a:latin typeface="宋体" panose="02010600030101010101" pitchFamily="2" charset="-122"/>
                <a:ea typeface="宋体" panose="02010600030101010101" pitchFamily="2" charset="-122"/>
                <a:cs typeface="宋体" panose="02010600030101010101" pitchFamily="2" charset="-122"/>
              </a:rPr>
              <a:t>C</a:t>
            </a:r>
            <a:r>
              <a:rPr lang="zh-CN" altLang="en-US" sz="3600">
                <a:latin typeface="宋体" panose="02010600030101010101" pitchFamily="2" charset="-122"/>
                <a:ea typeface="宋体" panose="02010600030101010101" pitchFamily="2" charset="-122"/>
                <a:cs typeface="宋体" panose="02010600030101010101" pitchFamily="2" charset="-122"/>
              </a:rPr>
              <a:t>。该矩阵中字节的排列顺序为从上到下、从左至右，输入矩阵和输出矩阵如图</a:t>
            </a:r>
            <a:r>
              <a:rPr lang="en-US" altLang="zh-CN" sz="3600">
                <a:latin typeface="宋体" panose="02010600030101010101" pitchFamily="2" charset="-122"/>
                <a:ea typeface="宋体" panose="02010600030101010101" pitchFamily="2" charset="-122"/>
                <a:cs typeface="宋体" panose="02010600030101010101" pitchFamily="2" charset="-122"/>
              </a:rPr>
              <a:t>3.9</a:t>
            </a:r>
            <a:r>
              <a:rPr lang="zh-CN" altLang="en-US" sz="3600">
                <a:latin typeface="宋体" panose="02010600030101010101" pitchFamily="2" charset="-122"/>
                <a:ea typeface="宋体" panose="02010600030101010101" pitchFamily="2" charset="-122"/>
                <a:cs typeface="宋体" panose="02010600030101010101" pitchFamily="2" charset="-122"/>
              </a:rPr>
              <a:t>所示。</a:t>
            </a:r>
            <a:endParaRPr lang="zh-CN" altLang="en-US" sz="3600">
              <a:latin typeface="宋体" panose="02010600030101010101" pitchFamily="2" charset="-122"/>
              <a:ea typeface="宋体" panose="02010600030101010101" pitchFamily="2" charset="-122"/>
              <a:cs typeface="宋体" panose="02010600030101010101" pitchFamily="2" charset="-122"/>
            </a:endParaRPr>
          </a:p>
        </p:txBody>
      </p:sp>
      <p:sp>
        <p:nvSpPr>
          <p:cNvPr id="9" name="灯片编号占位符 8"/>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210310" y="1708785"/>
            <a:ext cx="15321915" cy="2865120"/>
          </a:xfrm>
          <a:prstGeom prst="rect">
            <a:avLst/>
          </a:prstGeom>
        </p:spPr>
        <p:txBody>
          <a:bodyPr>
            <a:noAutofit/>
          </a:bodyPr>
          <a:lstStyle/>
          <a:p>
            <a:pPr indent="720090" algn="just" defTabSz="266700" fontAlgn="auto">
              <a:lnSpc>
                <a:spcPct val="100000"/>
              </a:lnSpc>
              <a:spcBef>
                <a:spcPts val="300"/>
              </a:spcBef>
              <a:spcAft>
                <a:spcPts val="400"/>
              </a:spcAft>
            </a:pPr>
            <a:r>
              <a:rPr lang="en-US" altLang="zh-CN" sz="3600" dirty="0">
                <a:latin typeface="Times New Roman" panose="02020603050405020304" pitchFamily="18" charset="0"/>
                <a:cs typeface="Times New Roman" panose="02020603050405020304" pitchFamily="18" charset="0"/>
              </a:rPr>
              <a:t>AES</a:t>
            </a:r>
            <a:r>
              <a:rPr lang="zh-CN" altLang="en-US" sz="3600" dirty="0">
                <a:latin typeface="Times New Roman" panose="02020603050405020304" pitchFamily="18" charset="0"/>
                <a:cs typeface="Times New Roman" panose="02020603050405020304" pitchFamily="18" charset="0"/>
              </a:rPr>
              <a:t>的处理单位是字节，</a:t>
            </a:r>
            <a:r>
              <a:rPr lang="en-US" altLang="zh-CN" sz="3600" dirty="0">
                <a:latin typeface="Times New Roman" panose="02020603050405020304" pitchFamily="18" charset="0"/>
                <a:cs typeface="Times New Roman" panose="02020603050405020304" pitchFamily="18" charset="0"/>
              </a:rPr>
              <a:t>128bit</a:t>
            </a:r>
            <a:r>
              <a:rPr lang="zh-CN" altLang="en-US" sz="3600" dirty="0">
                <a:latin typeface="Times New Roman" panose="02020603050405020304" pitchFamily="18" charset="0"/>
                <a:cs typeface="Times New Roman" panose="02020603050405020304" pitchFamily="18" charset="0"/>
              </a:rPr>
              <a:t>的输入明文分组</a:t>
            </a:r>
            <a:r>
              <a:rPr lang="en-US" altLang="zh-CN" sz="3600" i="1" dirty="0">
                <a:latin typeface="Times New Roman" panose="02020603050405020304" pitchFamily="18" charset="0"/>
                <a:cs typeface="Times New Roman" panose="02020603050405020304" pitchFamily="18" charset="0"/>
              </a:rPr>
              <a:t>P</a:t>
            </a:r>
            <a:r>
              <a:rPr lang="zh-CN" altLang="en-US" sz="3600" dirty="0">
                <a:latin typeface="Times New Roman" panose="02020603050405020304" pitchFamily="18" charset="0"/>
                <a:cs typeface="Times New Roman" panose="02020603050405020304" pitchFamily="18" charset="0"/>
              </a:rPr>
              <a:t>和输入密钥</a:t>
            </a:r>
            <a:r>
              <a:rPr lang="en-US" altLang="zh-CN" sz="3600" i="1" dirty="0">
                <a:latin typeface="Times New Roman" panose="02020603050405020304" pitchFamily="18" charset="0"/>
                <a:cs typeface="Times New Roman" panose="02020603050405020304" pitchFamily="18" charset="0"/>
              </a:rPr>
              <a:t>K</a:t>
            </a:r>
            <a:r>
              <a:rPr lang="zh-CN" altLang="en-US" sz="3600" dirty="0">
                <a:latin typeface="Times New Roman" panose="02020603050405020304" pitchFamily="18" charset="0"/>
                <a:cs typeface="Times New Roman" panose="02020603050405020304" pitchFamily="18" charset="0"/>
              </a:rPr>
              <a:t>都被分为</a:t>
            </a:r>
            <a:r>
              <a:rPr lang="en-US" altLang="zh-CN" sz="3600" dirty="0">
                <a:latin typeface="Times New Roman" panose="02020603050405020304" pitchFamily="18" charset="0"/>
                <a:cs typeface="Times New Roman" panose="02020603050405020304" pitchFamily="18" charset="0"/>
              </a:rPr>
              <a:t>16</a:t>
            </a:r>
            <a:r>
              <a:rPr lang="zh-CN" altLang="en-US" sz="3600" dirty="0">
                <a:latin typeface="Times New Roman" panose="02020603050405020304" pitchFamily="18" charset="0"/>
                <a:cs typeface="Times New Roman" panose="02020603050405020304" pitchFamily="18" charset="0"/>
              </a:rPr>
              <a:t>个字节。一般明文分组用以字节为单位的正方形矩阵描述，称为状态（</a:t>
            </a:r>
            <a:r>
              <a:rPr lang="en-US" altLang="zh-CN" sz="3600" dirty="0">
                <a:latin typeface="Times New Roman" panose="02020603050405020304" pitchFamily="18" charset="0"/>
                <a:cs typeface="Times New Roman" panose="02020603050405020304" pitchFamily="18" charset="0"/>
              </a:rPr>
              <a:t>State</a:t>
            </a:r>
            <a:r>
              <a:rPr lang="zh-CN" altLang="en-US" sz="3600" dirty="0">
                <a:latin typeface="Times New Roman" panose="02020603050405020304" pitchFamily="18" charset="0"/>
                <a:cs typeface="Times New Roman" panose="02020603050405020304" pitchFamily="18" charset="0"/>
              </a:rPr>
              <a:t>）矩阵。在算法的每一轮，状态矩阵的内容不断发生变化，最后的结果作为密文输出</a:t>
            </a:r>
            <a:r>
              <a:rPr lang="en-US" altLang="zh-CN" sz="3600" i="1" dirty="0">
                <a:latin typeface="Times New Roman" panose="02020603050405020304" pitchFamily="18" charset="0"/>
                <a:cs typeface="Times New Roman" panose="02020603050405020304" pitchFamily="18" charset="0"/>
              </a:rPr>
              <a:t>C</a:t>
            </a:r>
            <a:r>
              <a:rPr lang="zh-CN" altLang="en-US" sz="3600" dirty="0">
                <a:latin typeface="Times New Roman" panose="02020603050405020304" pitchFamily="18" charset="0"/>
                <a:cs typeface="Times New Roman" panose="02020603050405020304" pitchFamily="18" charset="0"/>
              </a:rPr>
              <a:t>。该矩阵中字节的排列顺序为从上到下、从左至右，输入矩阵和输出矩阵如图</a:t>
            </a:r>
            <a:r>
              <a:rPr lang="en-US" altLang="zh-CN" sz="3600" dirty="0">
                <a:latin typeface="Times New Roman" panose="02020603050405020304" pitchFamily="18" charset="0"/>
                <a:cs typeface="Times New Roman" panose="02020603050405020304" pitchFamily="18" charset="0"/>
              </a:rPr>
              <a:t>3.9</a:t>
            </a:r>
            <a:r>
              <a:rPr lang="zh-CN" altLang="en-US" sz="3600" dirty="0">
                <a:latin typeface="Times New Roman" panose="02020603050405020304" pitchFamily="18" charset="0"/>
                <a:cs typeface="Times New Roman" panose="02020603050405020304" pitchFamily="18" charset="0"/>
              </a:rPr>
              <a:t>所示。</a:t>
            </a:r>
            <a:endParaRPr lang="zh-CN" altLang="en-US" sz="3600" dirty="0">
              <a:latin typeface="Times New Roman" panose="02020603050405020304" pitchFamily="18" charset="0"/>
              <a:cs typeface="Times New Roman" panose="02020603050405020304" pitchFamily="18" charset="0"/>
            </a:endParaRPr>
          </a:p>
        </p:txBody>
      </p:sp>
      <p:graphicFrame>
        <p:nvGraphicFramePr>
          <p:cNvPr id="10" name="表格 9"/>
          <p:cNvGraphicFramePr/>
          <p:nvPr/>
        </p:nvGraphicFramePr>
        <p:xfrm>
          <a:off x="4495800" y="4838700"/>
          <a:ext cx="8079740" cy="1813560"/>
        </p:xfrm>
        <a:graphic>
          <a:graphicData uri="http://schemas.openxmlformats.org/drawingml/2006/table">
            <a:tbl>
              <a:tblPr/>
              <a:tblGrid>
                <a:gridCol w="745490"/>
                <a:gridCol w="746125"/>
                <a:gridCol w="745490"/>
                <a:gridCol w="746760"/>
                <a:gridCol w="1879600"/>
                <a:gridCol w="803910"/>
                <a:gridCol w="803910"/>
                <a:gridCol w="804545"/>
                <a:gridCol w="803910"/>
              </a:tblGrid>
              <a:tr h="453390">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0</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4</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8</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12</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 </a:t>
                      </a:r>
                      <a:endParaRPr lang="en-US" altLang="zh-CN" sz="2000">
                        <a:solidFill>
                          <a:srgbClr val="000000"/>
                        </a:solidFill>
                        <a:latin typeface="Times New Roman" panose="02020603050405020304"/>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0</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4</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8</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12</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53390">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5</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9</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13</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 </a:t>
                      </a:r>
                      <a:endParaRPr lang="en-US" altLang="zh-CN" sz="2000">
                        <a:solidFill>
                          <a:srgbClr val="000000"/>
                        </a:solidFill>
                        <a:latin typeface="Times New Roman" panose="02020603050405020304"/>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5</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9</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13</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53390">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2</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6</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10</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14</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 </a:t>
                      </a:r>
                      <a:endParaRPr lang="en-US" altLang="zh-CN" sz="2000">
                        <a:solidFill>
                          <a:srgbClr val="000000"/>
                        </a:solidFill>
                        <a:latin typeface="Times New Roman" panose="02020603050405020304"/>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2</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6</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10</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14</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53390">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3</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7</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11</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P</a:t>
                      </a:r>
                      <a:r>
                        <a:rPr lang="en-US" altLang="zh-CN" sz="2000" baseline="-25000">
                          <a:solidFill>
                            <a:srgbClr val="000000"/>
                          </a:solidFill>
                          <a:latin typeface="Times New Roman" panose="02020603050405020304"/>
                          <a:ea typeface="Times New Roman" panose="02020603050405020304"/>
                        </a:rPr>
                        <a:t>15</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just" defTabSz="914400">
                        <a:lnSpc>
                          <a:spcPts val="1200"/>
                        </a:lnSpc>
                        <a:spcBef>
                          <a:spcPct val="0"/>
                        </a:spcBef>
                        <a:spcAft>
                          <a:spcPct val="0"/>
                        </a:spcAft>
                        <a:tabLst>
                          <a:tab pos="1828800" algn="l"/>
                        </a:tabLst>
                      </a:pPr>
                      <a:r>
                        <a:rPr lang="en-US" altLang="zh-CN" sz="2000">
                          <a:solidFill>
                            <a:srgbClr val="000000"/>
                          </a:solidFill>
                          <a:latin typeface="Times New Roman" panose="02020603050405020304"/>
                          <a:ea typeface="宋体" panose="02010600030101010101" pitchFamily="2" charset="-122"/>
                        </a:rPr>
                        <a:t> </a:t>
                      </a:r>
                      <a:endParaRPr lang="en-US" altLang="zh-CN" sz="2000">
                        <a:solidFill>
                          <a:srgbClr val="000000"/>
                        </a:solidFill>
                        <a:latin typeface="Times New Roman" panose="02020603050405020304"/>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3</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7</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11</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2000" i="1">
                          <a:solidFill>
                            <a:srgbClr val="000000"/>
                          </a:solidFill>
                          <a:latin typeface="Times New Roman" panose="02020603050405020304"/>
                          <a:ea typeface="Times New Roman" panose="02020603050405020304"/>
                        </a:rPr>
                        <a:t>C</a:t>
                      </a:r>
                      <a:r>
                        <a:rPr lang="en-US" altLang="zh-CN" sz="2000" baseline="-25000">
                          <a:solidFill>
                            <a:srgbClr val="000000"/>
                          </a:solidFill>
                          <a:latin typeface="Times New Roman" panose="02020603050405020304"/>
                          <a:ea typeface="Times New Roman" panose="02020603050405020304"/>
                        </a:rPr>
                        <a:t>15</a:t>
                      </a:r>
                      <a:endParaRPr lang="en-US" altLang="zh-CN" sz="2000" baseline="-250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11" name="文本框 10"/>
          <p:cNvSpPr txBox="1"/>
          <p:nvPr/>
        </p:nvSpPr>
        <p:spPr>
          <a:xfrm>
            <a:off x="7086600" y="6804660"/>
            <a:ext cx="2720975" cy="320040"/>
          </a:xfrm>
          <a:prstGeom prst="rect">
            <a:avLst/>
          </a:prstGeom>
        </p:spPr>
        <p:txBody>
          <a:bodyPr>
            <a:noAutofit/>
          </a:bodyPr>
          <a:lstStyle/>
          <a:p>
            <a:pPr defTabSz="266700"/>
            <a:r>
              <a:rPr lang="zh-CN" altLang="en-US" sz="1600">
                <a:latin typeface="Times New Roman" panose="02020603050405020304"/>
                <a:ea typeface="宋体" panose="02010600030101010101" pitchFamily="2" charset="-122"/>
              </a:rPr>
              <a:t>图</a:t>
            </a:r>
            <a:r>
              <a:rPr lang="en-US" altLang="zh-CN" sz="1600">
                <a:latin typeface="Times New Roman" panose="02020603050405020304"/>
                <a:ea typeface="Times New Roman" panose="02020603050405020304"/>
              </a:rPr>
              <a:t>3.9</a:t>
            </a:r>
            <a:r>
              <a:rPr lang="zh-CN" altLang="en-US" sz="1600">
                <a:latin typeface="Times New Roman" panose="02020603050405020304"/>
                <a:ea typeface="宋体" panose="02010600030101010101" pitchFamily="2" charset="-122"/>
              </a:rPr>
              <a:t>　输入矩阵和输出矩阵</a:t>
            </a:r>
            <a:endParaRPr lang="zh-CN" altLang="en-US" sz="1600">
              <a:latin typeface="Times New Roman" panose="02020603050405020304"/>
              <a:ea typeface="宋体" panose="02010600030101010101" pitchFamily="2" charset="-122"/>
            </a:endParaRPr>
          </a:p>
        </p:txBody>
      </p:sp>
      <p:sp>
        <p:nvSpPr>
          <p:cNvPr id="15" name="文本框 14"/>
          <p:cNvSpPr txBox="1"/>
          <p:nvPr/>
        </p:nvSpPr>
        <p:spPr>
          <a:xfrm>
            <a:off x="1295400" y="7277100"/>
            <a:ext cx="15575280" cy="2098675"/>
          </a:xfrm>
          <a:prstGeom prst="rect">
            <a:avLst/>
          </a:prstGeom>
          <a:noFill/>
        </p:spPr>
        <p:txBody>
          <a:bodyPr wrap="square" rtlCol="0" anchor="t">
            <a:noAutofit/>
          </a:bodyPr>
          <a:lstStyle/>
          <a:p>
            <a:r>
              <a:rPr lang="zh-CN" altLang="en-US" sz="3600" dirty="0">
                <a:latin typeface="Times New Roman" panose="02020603050405020304" pitchFamily="18" charset="0"/>
                <a:cs typeface="Times New Roman" panose="02020603050405020304" pitchFamily="18" charset="0"/>
              </a:rPr>
              <a:t>类似地，</a:t>
            </a:r>
            <a:r>
              <a:rPr lang="en-US" altLang="zh-CN" sz="3600" dirty="0">
                <a:latin typeface="Times New Roman" panose="02020603050405020304" pitchFamily="18" charset="0"/>
                <a:cs typeface="Times New Roman" panose="02020603050405020304" pitchFamily="18" charset="0"/>
              </a:rPr>
              <a:t>128bit</a:t>
            </a:r>
            <a:r>
              <a:rPr lang="zh-CN" altLang="en-US" sz="3600" dirty="0">
                <a:latin typeface="Times New Roman" panose="02020603050405020304" pitchFamily="18" charset="0"/>
                <a:cs typeface="Times New Roman" panose="02020603050405020304" pitchFamily="18" charset="0"/>
              </a:rPr>
              <a:t>密钥也是用以字节为单位的矩阵表示，矩阵的每一列被称为</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个</a:t>
            </a:r>
            <a:r>
              <a:rPr lang="en-US" altLang="zh-CN" sz="3600" dirty="0">
                <a:latin typeface="Times New Roman" panose="02020603050405020304" pitchFamily="18" charset="0"/>
                <a:cs typeface="Times New Roman" panose="02020603050405020304" pitchFamily="18" charset="0"/>
              </a:rPr>
              <a:t>32bit</a:t>
            </a:r>
            <a:r>
              <a:rPr lang="zh-CN" altLang="en-US" sz="3600" dirty="0">
                <a:latin typeface="Times New Roman" panose="02020603050405020304" pitchFamily="18" charset="0"/>
                <a:cs typeface="Times New Roman" panose="02020603050405020304" pitchFamily="18" charset="0"/>
              </a:rPr>
              <a:t>的字。通过密钥编排程序，该密钥矩阵被扩展成一个由</a:t>
            </a:r>
            <a:r>
              <a:rPr lang="en-US" altLang="zh-CN" sz="3600" dirty="0">
                <a:latin typeface="Times New Roman" panose="02020603050405020304" pitchFamily="18" charset="0"/>
                <a:cs typeface="Times New Roman" panose="02020603050405020304" pitchFamily="18" charset="0"/>
              </a:rPr>
              <a:t>44</a:t>
            </a:r>
            <a:r>
              <a:rPr lang="zh-CN" altLang="en-US" sz="3600" dirty="0">
                <a:latin typeface="Times New Roman" panose="02020603050405020304" pitchFamily="18" charset="0"/>
                <a:cs typeface="Times New Roman" panose="02020603050405020304" pitchFamily="18" charset="0"/>
              </a:rPr>
              <a:t>个字组成的序列</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该序列的前</a:t>
            </a:r>
            <a:r>
              <a:rPr lang="en-US" altLang="zh-CN" sz="3600" dirty="0">
                <a:latin typeface="Times New Roman" panose="02020603050405020304" pitchFamily="18" charset="0"/>
                <a:cs typeface="Times New Roman" panose="02020603050405020304" pitchFamily="18" charset="0"/>
              </a:rPr>
              <a:t>4</a:t>
            </a:r>
            <a:r>
              <a:rPr lang="zh-CN" altLang="en-US" sz="3600" dirty="0">
                <a:latin typeface="Times New Roman" panose="02020603050405020304" pitchFamily="18" charset="0"/>
                <a:cs typeface="Times New Roman" panose="02020603050405020304" pitchFamily="18" charset="0"/>
              </a:rPr>
              <a:t>个元素是原始密钥，用于加密运算中的初始密钥加；后</a:t>
            </a:r>
            <a:r>
              <a:rPr lang="en-US" altLang="zh-CN" sz="3600" dirty="0">
                <a:latin typeface="Times New Roman" panose="02020603050405020304" pitchFamily="18" charset="0"/>
                <a:cs typeface="Times New Roman" panose="02020603050405020304" pitchFamily="18" charset="0"/>
              </a:rPr>
              <a:t>40</a:t>
            </a:r>
            <a:r>
              <a:rPr lang="zh-CN" altLang="en-US" sz="3600" dirty="0">
                <a:latin typeface="Times New Roman" panose="02020603050405020304" pitchFamily="18" charset="0"/>
                <a:cs typeface="Times New Roman" panose="02020603050405020304" pitchFamily="18" charset="0"/>
              </a:rPr>
              <a:t>个字分为</a:t>
            </a:r>
            <a:r>
              <a:rPr lang="en-US" altLang="zh-CN" sz="3600" dirty="0">
                <a:latin typeface="Times New Roman" panose="02020603050405020304" pitchFamily="18" charset="0"/>
                <a:cs typeface="Times New Roman" panose="02020603050405020304" pitchFamily="18" charset="0"/>
              </a:rPr>
              <a:t>10</a:t>
            </a:r>
            <a:r>
              <a:rPr lang="zh-CN" altLang="en-US" sz="3600" dirty="0">
                <a:latin typeface="Times New Roman" panose="02020603050405020304" pitchFamily="18" charset="0"/>
                <a:cs typeface="Times New Roman" panose="02020603050405020304" pitchFamily="18" charset="0"/>
              </a:rPr>
              <a:t>组，每组</a:t>
            </a:r>
            <a:r>
              <a:rPr lang="en-US" altLang="zh-CN" sz="3600" dirty="0">
                <a:latin typeface="Times New Roman" panose="02020603050405020304" pitchFamily="18" charset="0"/>
                <a:cs typeface="Times New Roman" panose="02020603050405020304" pitchFamily="18" charset="0"/>
              </a:rPr>
              <a:t>4</a:t>
            </a:r>
            <a:r>
              <a:rPr lang="zh-CN" altLang="en-US" sz="3600" dirty="0">
                <a:latin typeface="Times New Roman" panose="02020603050405020304" pitchFamily="18" charset="0"/>
                <a:cs typeface="Times New Roman" panose="02020603050405020304" pitchFamily="18" charset="0"/>
              </a:rPr>
              <a:t>个字（</a:t>
            </a:r>
            <a:r>
              <a:rPr lang="en-US" altLang="zh-CN" sz="3600" dirty="0">
                <a:latin typeface="Times New Roman" panose="02020603050405020304" pitchFamily="18" charset="0"/>
                <a:cs typeface="Times New Roman" panose="02020603050405020304" pitchFamily="18" charset="0"/>
              </a:rPr>
              <a:t>128bit</a:t>
            </a:r>
            <a:r>
              <a:rPr lang="zh-CN" altLang="en-US" sz="3600" dirty="0">
                <a:latin typeface="Times New Roman" panose="02020603050405020304" pitchFamily="18" charset="0"/>
                <a:cs typeface="Times New Roman" panose="02020603050405020304" pitchFamily="18" charset="0"/>
              </a:rPr>
              <a:t>）分别用于</a:t>
            </a:r>
            <a:r>
              <a:rPr lang="en-US" altLang="zh-CN" sz="3600" dirty="0">
                <a:latin typeface="Times New Roman" panose="02020603050405020304" pitchFamily="18" charset="0"/>
                <a:cs typeface="Times New Roman" panose="02020603050405020304" pitchFamily="18" charset="0"/>
              </a:rPr>
              <a:t>10</a:t>
            </a:r>
            <a:r>
              <a:rPr lang="zh-CN" altLang="en-US" sz="3600" dirty="0">
                <a:latin typeface="Times New Roman" panose="02020603050405020304" pitchFamily="18" charset="0"/>
                <a:cs typeface="Times New Roman" panose="02020603050405020304" pitchFamily="18" charset="0"/>
              </a:rPr>
              <a:t>轮运算中的轮密钥加。</a:t>
            </a:r>
            <a:endParaRPr lang="zh-CN" altLang="en-US" sz="3600" dirty="0">
              <a:latin typeface="Times New Roman" panose="02020603050405020304" pitchFamily="18" charset="0"/>
              <a:cs typeface="Times New Roman" panose="02020603050405020304" pitchFamily="18" charset="0"/>
            </a:endParaRPr>
          </a:p>
        </p:txBody>
      </p:sp>
      <p:graphicFrame>
        <p:nvGraphicFramePr>
          <p:cNvPr id="5" name="对象 -2147482123"/>
          <p:cNvGraphicFramePr>
            <a:graphicFrameLocks noChangeAspect="1"/>
          </p:cNvGraphicFramePr>
          <p:nvPr/>
        </p:nvGraphicFramePr>
        <p:xfrm>
          <a:off x="2362200" y="8496300"/>
          <a:ext cx="2868295" cy="448310"/>
        </p:xfrm>
        <a:graphic>
          <a:graphicData uri="http://schemas.openxmlformats.org/presentationml/2006/ole">
            <mc:AlternateContent xmlns:mc="http://schemas.openxmlformats.org/markup-compatibility/2006">
              <mc:Choice xmlns:v="urn:schemas-microsoft-com:vml" Requires="v">
                <p:oleObj spid="_x0000_s0" name="" r:id="rId1" imgW="1231265" imgH="177800" progId="Equation.DSMT4">
                  <p:embed/>
                </p:oleObj>
              </mc:Choice>
              <mc:Fallback>
                <p:oleObj name="" r:id="rId1" imgW="1231265" imgH="177800" progId="Equation.DSMT4">
                  <p:embed/>
                  <p:pic>
                    <p:nvPicPr>
                      <p:cNvPr id="0" name="图片 3075"/>
                      <p:cNvPicPr/>
                      <p:nvPr/>
                    </p:nvPicPr>
                    <p:blipFill>
                      <a:blip r:embed="rId2"/>
                      <a:stretch>
                        <a:fillRect/>
                      </a:stretch>
                    </p:blipFill>
                    <p:spPr>
                      <a:xfrm>
                        <a:off x="2362200" y="8496300"/>
                        <a:ext cx="2868295" cy="448310"/>
                      </a:xfrm>
                      <a:prstGeom prst="rect">
                        <a:avLst/>
                      </a:prstGeom>
                      <a:noFill/>
                      <a:ln w="38100">
                        <a:noFill/>
                        <a:miter/>
                      </a:ln>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9" name="图片 18"/>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38200" y="1638300"/>
            <a:ext cx="12367895" cy="7157720"/>
          </a:xfrm>
          <a:prstGeom prst="rect">
            <a:avLst/>
          </a:prstGeom>
        </p:spPr>
        <p:txBody>
          <a:bodyPr wrap="square">
            <a:noAutofit/>
          </a:bodyPr>
          <a:lstStyle/>
          <a:p>
            <a:pPr indent="720090" algn="just" defTabSz="266700" fontAlgn="auto">
              <a:lnSpc>
                <a:spcPct val="100000"/>
              </a:lnSpc>
              <a:spcBef>
                <a:spcPct val="0"/>
              </a:spcBef>
              <a:spcAft>
                <a:spcPct val="0"/>
              </a:spcAft>
            </a:pPr>
            <a:r>
              <a:rPr lang="en-US" altLang="zh-CN" sz="3600" dirty="0">
                <a:latin typeface="Times New Roman" panose="02020603050405020304"/>
                <a:ea typeface="Times New Roman" panose="02020603050405020304"/>
              </a:rPr>
              <a:t>AES</a:t>
            </a:r>
            <a:r>
              <a:rPr lang="zh-CN" altLang="en-US" sz="3600" dirty="0">
                <a:latin typeface="Times New Roman" panose="02020603050405020304"/>
                <a:ea typeface="宋体" panose="02010600030101010101" pitchFamily="2" charset="-122"/>
              </a:rPr>
              <a:t>算法的加密与解密如图</a:t>
            </a:r>
            <a:r>
              <a:rPr lang="en-US" altLang="zh-CN" sz="3600" dirty="0">
                <a:latin typeface="Times New Roman" panose="02020603050405020304"/>
                <a:ea typeface="Times New Roman" panose="02020603050405020304"/>
              </a:rPr>
              <a:t>3.10</a:t>
            </a:r>
            <a:r>
              <a:rPr lang="zh-CN" altLang="en-US" sz="3600" dirty="0">
                <a:latin typeface="Times New Roman" panose="02020603050405020304"/>
                <a:ea typeface="宋体" panose="02010600030101010101" pitchFamily="2" charset="-122"/>
              </a:rPr>
              <a:t>所示，加密的第</a:t>
            </a:r>
            <a:r>
              <a:rPr lang="en-US" altLang="zh-CN" sz="3600" dirty="0">
                <a:latin typeface="Times New Roman" panose="02020603050405020304"/>
                <a:ea typeface="Times New Roman" panose="02020603050405020304"/>
              </a:rPr>
              <a:t>1</a:t>
            </a:r>
            <a:r>
              <a:rPr lang="zh-CN" altLang="en-US" sz="3600" dirty="0">
                <a:latin typeface="Times New Roman" panose="02020603050405020304"/>
                <a:ea typeface="宋体" panose="02010600030101010101" pitchFamily="2" charset="-122"/>
              </a:rPr>
              <a:t>轮至第</a:t>
            </a:r>
            <a:r>
              <a:rPr lang="en-US" altLang="zh-CN" sz="3600" dirty="0">
                <a:latin typeface="Times New Roman" panose="02020603050405020304"/>
                <a:ea typeface="Times New Roman" panose="02020603050405020304"/>
              </a:rPr>
              <a:t>9</a:t>
            </a:r>
            <a:r>
              <a:rPr lang="zh-CN" altLang="en-US" sz="3600" dirty="0">
                <a:latin typeface="Times New Roman" panose="02020603050405020304"/>
                <a:ea typeface="宋体" panose="02010600030101010101" pitchFamily="2" charset="-122"/>
              </a:rPr>
              <a:t>轮的轮函数一样，包括</a:t>
            </a:r>
            <a:r>
              <a:rPr lang="en-US" altLang="zh-CN" sz="3600" dirty="0">
                <a:latin typeface="Times New Roman" panose="02020603050405020304"/>
                <a:ea typeface="Times New Roman" panose="02020603050405020304"/>
              </a:rPr>
              <a:t>4</a:t>
            </a:r>
            <a:r>
              <a:rPr lang="zh-CN" altLang="en-US" sz="3600" dirty="0">
                <a:latin typeface="Times New Roman" panose="02020603050405020304"/>
                <a:ea typeface="宋体" panose="02010600030101010101" pitchFamily="2" charset="-122"/>
              </a:rPr>
              <a:t>个操作即字节代换、行移位、列混合和轮密钥加，最后一轮不执行列混合。另外，在第</a:t>
            </a:r>
            <a:r>
              <a:rPr lang="en-US" altLang="zh-CN" sz="3600" dirty="0">
                <a:latin typeface="Times New Roman" panose="02020603050405020304"/>
                <a:ea typeface="Times New Roman" panose="02020603050405020304"/>
              </a:rPr>
              <a:t>1</a:t>
            </a:r>
            <a:r>
              <a:rPr lang="zh-CN" altLang="en-US" sz="3600" dirty="0">
                <a:latin typeface="Times New Roman" panose="02020603050405020304"/>
                <a:ea typeface="宋体" panose="02010600030101010101" pitchFamily="2" charset="-122"/>
              </a:rPr>
              <a:t>轮迭代之前，先将明文和原始密钥进行一次轮密钥加操作。</a:t>
            </a:r>
            <a:endParaRPr lang="zh-CN" altLang="en-US" sz="3600" dirty="0">
              <a:latin typeface="Times New Roman" panose="02020603050405020304"/>
              <a:ea typeface="宋体" panose="02010600030101010101" pitchFamily="2" charset="-122"/>
            </a:endParaRPr>
          </a:p>
          <a:p>
            <a:pPr indent="720090" algn="just" defTabSz="266700" fontAlgn="auto">
              <a:lnSpc>
                <a:spcPct val="100000"/>
              </a:lnSpc>
              <a:spcBef>
                <a:spcPct val="0"/>
              </a:spcBef>
              <a:spcAft>
                <a:spcPct val="0"/>
              </a:spcAft>
            </a:pPr>
            <a:r>
              <a:rPr lang="zh-CN" altLang="en-US" sz="3600" dirty="0">
                <a:latin typeface="Times New Roman" panose="02020603050405020304"/>
                <a:ea typeface="宋体" panose="02010600030101010101" pitchFamily="2" charset="-122"/>
              </a:rPr>
              <a:t>与</a:t>
            </a:r>
            <a:r>
              <a:rPr lang="en-US" altLang="zh-CN" sz="3600" dirty="0">
                <a:latin typeface="Times New Roman" panose="02020603050405020304"/>
                <a:ea typeface="Times New Roman" panose="02020603050405020304"/>
              </a:rPr>
              <a:t>DES</a:t>
            </a:r>
            <a:r>
              <a:rPr lang="zh-CN" altLang="en-US" sz="3600" dirty="0">
                <a:latin typeface="Times New Roman" panose="02020603050405020304"/>
                <a:ea typeface="宋体" panose="02010600030101010101" pitchFamily="2" charset="-122"/>
              </a:rPr>
              <a:t>不同的是，</a:t>
            </a:r>
            <a:r>
              <a:rPr lang="en-US" altLang="zh-CN" sz="3600" dirty="0">
                <a:latin typeface="Times New Roman" panose="02020603050405020304"/>
                <a:ea typeface="Times New Roman" panose="02020603050405020304"/>
              </a:rPr>
              <a:t>AES</a:t>
            </a:r>
            <a:r>
              <a:rPr lang="zh-CN" altLang="en-US" sz="3600" dirty="0">
                <a:latin typeface="Times New Roman" panose="02020603050405020304"/>
                <a:ea typeface="宋体" panose="02010600030101010101" pitchFamily="2" charset="-122"/>
              </a:rPr>
              <a:t>的解密过程与加密过程并不一致。因为</a:t>
            </a:r>
            <a:r>
              <a:rPr lang="en-US" altLang="zh-CN" sz="3600" dirty="0">
                <a:latin typeface="Times New Roman" panose="02020603050405020304"/>
                <a:ea typeface="Times New Roman" panose="02020603050405020304"/>
              </a:rPr>
              <a:t>AES</a:t>
            </a:r>
            <a:r>
              <a:rPr lang="zh-CN" altLang="en-US" sz="3600" dirty="0">
                <a:latin typeface="Times New Roman" panose="02020603050405020304"/>
                <a:ea typeface="宋体" panose="02010600030101010101" pitchFamily="2" charset="-122"/>
              </a:rPr>
              <a:t>并未使用</a:t>
            </a:r>
            <a:r>
              <a:rPr lang="en-US" altLang="zh-CN" sz="3600" dirty="0">
                <a:latin typeface="Times New Roman" panose="02020603050405020304"/>
                <a:ea typeface="Times New Roman" panose="02020603050405020304"/>
              </a:rPr>
              <a:t>Feistel</a:t>
            </a:r>
            <a:r>
              <a:rPr lang="zh-CN" altLang="en-US" sz="3600" dirty="0">
                <a:latin typeface="Times New Roman" panose="02020603050405020304"/>
                <a:ea typeface="宋体" panose="02010600030101010101" pitchFamily="2" charset="-122"/>
              </a:rPr>
              <a:t>结构，在每轮操作时，对整个分组进行处理。解密过程仍为</a:t>
            </a:r>
            <a:r>
              <a:rPr lang="en-US" altLang="zh-CN" sz="3600" dirty="0">
                <a:latin typeface="Times New Roman" panose="02020603050405020304"/>
                <a:ea typeface="Times New Roman" panose="02020603050405020304"/>
              </a:rPr>
              <a:t>10</a:t>
            </a:r>
            <a:r>
              <a:rPr lang="zh-CN" altLang="en-US" sz="3600" dirty="0">
                <a:latin typeface="Times New Roman" panose="02020603050405020304"/>
                <a:ea typeface="宋体" panose="02010600030101010101" pitchFamily="2" charset="-122"/>
              </a:rPr>
              <a:t>轮，每轮操作是加密操作的逆变换。解密操作的第</a:t>
            </a:r>
            <a:r>
              <a:rPr lang="en-US" altLang="zh-CN" sz="3600" dirty="0">
                <a:latin typeface="Times New Roman" panose="02020603050405020304"/>
                <a:ea typeface="Times New Roman" panose="02020603050405020304"/>
              </a:rPr>
              <a:t>1</a:t>
            </a:r>
            <a:r>
              <a:rPr lang="zh-CN" altLang="en-US" sz="3600" dirty="0">
                <a:latin typeface="Times New Roman" panose="02020603050405020304"/>
                <a:ea typeface="宋体" panose="02010600030101010101" pitchFamily="2" charset="-122"/>
              </a:rPr>
              <a:t>轮就是顺序执行逆行移位、逆字节变换、轮密钥加和逆列混合。与加密操作类似，最后一轮不执行逆列混合，在第</a:t>
            </a:r>
            <a:r>
              <a:rPr lang="en-US" altLang="zh-CN" sz="3600" dirty="0">
                <a:latin typeface="Times New Roman" panose="02020603050405020304"/>
                <a:ea typeface="Times New Roman" panose="02020603050405020304"/>
              </a:rPr>
              <a:t>1</a:t>
            </a:r>
            <a:r>
              <a:rPr lang="zh-CN" altLang="en-US" sz="3600" dirty="0">
                <a:latin typeface="Times New Roman" panose="02020603050405020304"/>
                <a:ea typeface="宋体" panose="02010600030101010101" pitchFamily="2" charset="-122"/>
              </a:rPr>
              <a:t>轮解密之前，要执行一次轮密钥加操作。因此</a:t>
            </a:r>
            <a:r>
              <a:rPr lang="en-US" altLang="zh-CN" sz="3600" dirty="0">
                <a:latin typeface="Times New Roman" panose="02020603050405020304"/>
                <a:ea typeface="Times New Roman" panose="02020603050405020304"/>
              </a:rPr>
              <a:t>AES</a:t>
            </a:r>
            <a:r>
              <a:rPr lang="zh-CN" altLang="en-US" sz="3600" dirty="0">
                <a:latin typeface="宋体" panose="02010600030101010101" pitchFamily="2" charset="-122"/>
                <a:ea typeface="宋体" panose="02010600030101010101" pitchFamily="2" charset="-122"/>
              </a:rPr>
              <a:t>解密是正确的。</a:t>
            </a:r>
            <a:endParaRPr lang="zh-CN" altLang="en-US" sz="3600" dirty="0">
              <a:latin typeface="宋体" panose="02010600030101010101" pitchFamily="2" charset="-122"/>
              <a:ea typeface="宋体" panose="02010600030101010101" pitchFamily="2" charset="-122"/>
            </a:endParaRPr>
          </a:p>
          <a:p>
            <a:pPr indent="720090" defTabSz="266700" fontAlgn="auto">
              <a:lnSpc>
                <a:spcPct val="100000"/>
              </a:lnSpc>
            </a:pPr>
            <a:r>
              <a:rPr lang="zh-CN" altLang="en-US" sz="3600" dirty="0">
                <a:latin typeface="Times New Roman" panose="02020603050405020304"/>
                <a:ea typeface="宋体" panose="02010600030101010101" pitchFamily="2" charset="-122"/>
              </a:rPr>
              <a:t>加密和解密分别由轮密钥加开始和结束，是因为只有轮密钥加阶段使用了密钥。如果将其他操作用于算法的开始或者结束阶段，在不知道密钥的情况下就能计算其逆，这不能增加算法的安全性。</a:t>
            </a:r>
            <a:endParaRPr lang="zh-CN" altLang="en-US" sz="3600" dirty="0">
              <a:latin typeface="Times New Roman" panose="02020603050405020304"/>
              <a:ea typeface="宋体" panose="02010600030101010101" pitchFamily="2" charset="-122"/>
            </a:endParaRPr>
          </a:p>
        </p:txBody>
      </p:sp>
      <p:pic>
        <p:nvPicPr>
          <p:cNvPr id="15"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335000" y="1532255"/>
            <a:ext cx="4656455" cy="7263765"/>
          </a:xfrm>
          <a:prstGeom prst="rect">
            <a:avLst/>
          </a:prstGeom>
        </p:spPr>
      </p:pic>
      <p:sp>
        <p:nvSpPr>
          <p:cNvPr id="7" name="文本框 6"/>
          <p:cNvSpPr txBox="1"/>
          <p:nvPr/>
        </p:nvSpPr>
        <p:spPr>
          <a:xfrm>
            <a:off x="14173200" y="9029700"/>
            <a:ext cx="3022600" cy="337185"/>
          </a:xfrm>
          <a:prstGeom prst="rect">
            <a:avLst/>
          </a:prstGeom>
        </p:spPr>
        <p:txBody>
          <a:bodyPr wrap="square">
            <a:spAutoFit/>
          </a:bodyPr>
          <a:lstStyle/>
          <a:p>
            <a:pPr defTabSz="266700"/>
            <a:r>
              <a:rPr lang="zh-CN" altLang="en-US" sz="1600">
                <a:latin typeface="宋体" panose="02010600030101010101" pitchFamily="2" charset="-122"/>
                <a:ea typeface="宋体" panose="02010600030101010101" pitchFamily="2" charset="-122"/>
              </a:rPr>
              <a:t>图</a:t>
            </a:r>
            <a:r>
              <a:rPr lang="en-US" altLang="zh-CN" sz="1600">
                <a:latin typeface="Times New Roman" panose="02020603050405020304"/>
                <a:ea typeface="宋体" panose="02010600030101010101" pitchFamily="2" charset="-122"/>
              </a:rPr>
              <a:t>3.</a:t>
            </a:r>
            <a:r>
              <a:rPr lang="en-US" altLang="zh-CN" sz="1600">
                <a:latin typeface="Times New Roman" panose="02020603050405020304"/>
                <a:ea typeface="Times New Roman" panose="02020603050405020304"/>
              </a:rPr>
              <a:t>10</a:t>
            </a:r>
            <a:r>
              <a:rPr lang="zh-CN" altLang="en-US" sz="1600">
                <a:latin typeface="Times New Roman" panose="02020603050405020304"/>
                <a:ea typeface="宋体" panose="02010600030101010101" pitchFamily="2" charset="-122"/>
              </a:rPr>
              <a:t>　</a:t>
            </a:r>
            <a:r>
              <a:rPr lang="en-US" altLang="zh-CN" sz="1600">
                <a:latin typeface="Times New Roman" panose="02020603050405020304"/>
                <a:ea typeface="宋体" panose="02010600030101010101" pitchFamily="2" charset="-122"/>
              </a:rPr>
              <a:t>AES</a:t>
            </a:r>
            <a:r>
              <a:rPr lang="zh-CN" altLang="en-US" sz="1600">
                <a:latin typeface="宋体" panose="02010600030101010101" pitchFamily="2" charset="-122"/>
                <a:ea typeface="宋体" panose="02010600030101010101" pitchFamily="2" charset="-122"/>
              </a:rPr>
              <a:t>算法</a:t>
            </a:r>
            <a:r>
              <a:rPr lang="zh-CN" altLang="en-US" sz="1600">
                <a:latin typeface="Times New Roman" panose="02020603050405020304"/>
                <a:ea typeface="宋体" panose="02010600030101010101" pitchFamily="2" charset="-122"/>
              </a:rPr>
              <a:t>的</a:t>
            </a:r>
            <a:r>
              <a:rPr lang="zh-CN" altLang="en-US" sz="1600">
                <a:latin typeface="宋体" panose="02010600030101010101" pitchFamily="2" charset="-122"/>
                <a:ea typeface="宋体" panose="02010600030101010101" pitchFamily="2" charset="-122"/>
              </a:rPr>
              <a:t>加密</a:t>
            </a:r>
            <a:r>
              <a:rPr lang="zh-CN" altLang="en-US" sz="1600">
                <a:latin typeface="Times New Roman" panose="02020603050405020304"/>
                <a:ea typeface="宋体" panose="02010600030101010101" pitchFamily="2" charset="-122"/>
              </a:rPr>
              <a:t>与</a:t>
            </a:r>
            <a:r>
              <a:rPr lang="zh-CN" altLang="en-US" sz="1600">
                <a:latin typeface="宋体" panose="02010600030101010101" pitchFamily="2" charset="-122"/>
                <a:ea typeface="宋体" panose="02010600030101010101" pitchFamily="2" charset="-122"/>
              </a:rPr>
              <a:t>解密</a:t>
            </a:r>
            <a:endParaRPr lang="zh-CN" altLang="en-US" sz="1600">
              <a:latin typeface="宋体" panose="02010600030101010101" pitchFamily="2" charset="-122"/>
              <a:ea typeface="宋体" panose="02010600030101010101" pitchFamily="2" charset="-122"/>
            </a:endParaRPr>
          </a:p>
        </p:txBody>
      </p:sp>
      <p:sp>
        <p:nvSpPr>
          <p:cNvPr id="9" name="灯片编号占位符 8"/>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9" name="图片 18"/>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58265" y="1866900"/>
            <a:ext cx="15570835" cy="3338830"/>
          </a:xfrm>
          <a:prstGeom prst="rect">
            <a:avLst/>
          </a:prstGeom>
        </p:spPr>
        <p:txBody>
          <a:bodyPr>
            <a:noAutofit/>
          </a:bodyPr>
          <a:lstStyle/>
          <a:p>
            <a:pPr indent="279400" algn="just" defTabSz="266700" fontAlgn="auto">
              <a:lnSpc>
                <a:spcPct val="100000"/>
              </a:lnSpc>
              <a:spcBef>
                <a:spcPts val="400"/>
              </a:spcBef>
              <a:spcAft>
                <a:spcPts val="300"/>
              </a:spcAft>
            </a:pPr>
            <a:r>
              <a:rPr lang="en-US" altLang="zh-CN" sz="3600">
                <a:latin typeface="Arial" panose="020B0604020202020204"/>
                <a:ea typeface="Arial" panose="020B0604020202020204"/>
              </a:rPr>
              <a:t>1</a:t>
            </a:r>
            <a:r>
              <a:rPr lang="zh-CN" altLang="en-US" sz="3600">
                <a:latin typeface="Arial" panose="020B0604020202020204"/>
                <a:ea typeface="黑体" panose="02010609060101010101" charset="-122"/>
              </a:rPr>
              <a:t>．</a:t>
            </a:r>
            <a:r>
              <a:rPr lang="zh-CN" altLang="en-US" sz="3600">
                <a:latin typeface="黑体" panose="02010609060101010101" charset="-122"/>
                <a:ea typeface="黑体" panose="02010609060101010101" charset="-122"/>
              </a:rPr>
              <a:t>字节代换</a:t>
            </a:r>
            <a:endParaRPr lang="zh-CN" altLang="en-US" sz="3600">
              <a:latin typeface="黑体" panose="02010609060101010101" charset="-122"/>
              <a:ea typeface="黑体" panose="02010609060101010101" charset="-122"/>
            </a:endParaRPr>
          </a:p>
          <a:p>
            <a:pPr indent="254000" algn="just" defTabSz="266700" fontAlgn="auto">
              <a:lnSpc>
                <a:spcPct val="100000"/>
              </a:lnSpc>
              <a:spcBef>
                <a:spcPct val="0"/>
              </a:spcBef>
              <a:spcAft>
                <a:spcPct val="0"/>
              </a:spcAft>
            </a:pPr>
            <a:r>
              <a:rPr lang="en-US" altLang="zh-CN" sz="3600">
                <a:latin typeface="宋体" panose="02010600030101010101" pitchFamily="2" charset="-122"/>
                <a:ea typeface="宋体" panose="02010600030101010101" pitchFamily="2" charset="-122"/>
              </a:rPr>
              <a:t>  </a:t>
            </a:r>
            <a:r>
              <a:rPr lang="zh-CN" altLang="en-US" sz="3600">
                <a:latin typeface="宋体" panose="02010600030101010101" pitchFamily="2" charset="-122"/>
                <a:ea typeface="宋体" panose="02010600030101010101" pitchFamily="2" charset="-122"/>
              </a:rPr>
              <a:t>字节代换是</a:t>
            </a:r>
            <a:r>
              <a:rPr lang="zh-CN" altLang="en-US" sz="3600">
                <a:latin typeface="Times New Roman" panose="02020603050405020304"/>
                <a:ea typeface="宋体" panose="02010600030101010101" pitchFamily="2" charset="-122"/>
              </a:rPr>
              <a:t>一个关于字节的</a:t>
            </a:r>
            <a:r>
              <a:rPr lang="zh-CN" altLang="en-US" sz="3600">
                <a:latin typeface="宋体" panose="02010600030101010101" pitchFamily="2" charset="-122"/>
                <a:ea typeface="宋体" panose="02010600030101010101" pitchFamily="2" charset="-122"/>
              </a:rPr>
              <a:t>非线</a:t>
            </a:r>
            <a:r>
              <a:rPr lang="zh-CN" altLang="en-US" sz="3600">
                <a:latin typeface="Times New Roman" panose="02020603050405020304"/>
                <a:ea typeface="宋体" panose="02010600030101010101" pitchFamily="2" charset="-122"/>
              </a:rPr>
              <a:t>性</a:t>
            </a:r>
            <a:r>
              <a:rPr lang="zh-CN" altLang="en-US" sz="3600">
                <a:latin typeface="宋体" panose="02010600030101010101" pitchFamily="2" charset="-122"/>
                <a:ea typeface="宋体" panose="02010600030101010101" pitchFamily="2" charset="-122"/>
              </a:rPr>
              <a:t>变换，独立地对状态的每个字节进行</a:t>
            </a:r>
            <a:r>
              <a:rPr lang="zh-CN" altLang="en-US" sz="3600">
                <a:latin typeface="Times New Roman" panose="02020603050405020304"/>
                <a:ea typeface="宋体" panose="02010600030101010101" pitchFamily="2" charset="-122"/>
              </a:rPr>
              <a:t>代换</a:t>
            </a:r>
            <a:r>
              <a:rPr lang="zh-CN" altLang="en-US" sz="3600">
                <a:latin typeface="宋体" panose="02010600030101010101" pitchFamily="2" charset="-122"/>
                <a:ea typeface="宋体" panose="02010600030101010101" pitchFamily="2" charset="-122"/>
              </a:rPr>
              <a:t>。</a:t>
            </a:r>
            <a:r>
              <a:rPr lang="zh-CN" altLang="en-US" sz="3600">
                <a:latin typeface="Times New Roman" panose="02020603050405020304"/>
                <a:ea typeface="宋体" panose="02010600030101010101" pitchFamily="2" charset="-122"/>
              </a:rPr>
              <a:t>字节代换</a:t>
            </a:r>
            <a:r>
              <a:rPr lang="zh-CN" altLang="en-US" sz="3600">
                <a:latin typeface="宋体" panose="02010600030101010101" pitchFamily="2" charset="-122"/>
                <a:ea typeface="宋体" panose="02010600030101010101" pitchFamily="2" charset="-122"/>
              </a:rPr>
              <a:t>是可逆的，由以下两个</a:t>
            </a:r>
            <a:r>
              <a:rPr lang="zh-CN" altLang="en-US" sz="3600">
                <a:latin typeface="Times New Roman" panose="02020603050405020304"/>
                <a:ea typeface="宋体" panose="02010600030101010101" pitchFamily="2" charset="-122"/>
              </a:rPr>
              <a:t>可逆</a:t>
            </a:r>
            <a:r>
              <a:rPr lang="zh-CN" altLang="en-US" sz="3600">
                <a:latin typeface="宋体" panose="02010600030101010101" pitchFamily="2" charset="-122"/>
                <a:ea typeface="宋体" panose="02010600030101010101" pitchFamily="2" charset="-122"/>
              </a:rPr>
              <a:t>变换</a:t>
            </a:r>
            <a:r>
              <a:rPr lang="zh-CN" altLang="en-US" sz="3600">
                <a:latin typeface="Times New Roman" panose="02020603050405020304"/>
                <a:ea typeface="宋体" panose="02010600030101010101" pitchFamily="2" charset="-122"/>
              </a:rPr>
              <a:t>复合</a:t>
            </a:r>
            <a:r>
              <a:rPr lang="zh-CN" altLang="en-US" sz="3600">
                <a:latin typeface="宋体" panose="02010600030101010101" pitchFamily="2" charset="-122"/>
                <a:ea typeface="宋体" panose="02010600030101010101" pitchFamily="2" charset="-122"/>
              </a:rPr>
              <a:t>得到</a:t>
            </a:r>
            <a:r>
              <a:rPr lang="zh-CN" altLang="en-US" sz="3600">
                <a:latin typeface="Times New Roman" panose="02020603050405020304"/>
                <a:ea typeface="宋体" panose="02010600030101010101" pitchFamily="2" charset="-122"/>
              </a:rPr>
              <a:t>。</a:t>
            </a:r>
            <a:endParaRPr lang="zh-CN" altLang="en-US" sz="3600">
              <a:latin typeface="Times New Roman" panose="02020603050405020304"/>
              <a:ea typeface="宋体" panose="02010600030101010101" pitchFamily="2" charset="-122"/>
            </a:endParaRPr>
          </a:p>
          <a:p>
            <a:pPr indent="254000" algn="just" defTabSz="266700" fontAlgn="auto">
              <a:lnSpc>
                <a:spcPct val="100000"/>
              </a:lnSpc>
              <a:spcBef>
                <a:spcPct val="0"/>
              </a:spcBef>
              <a:spcAft>
                <a:spcPct val="0"/>
              </a:spcAft>
            </a:pPr>
            <a:r>
              <a:rPr lang="en-US" altLang="zh-CN" sz="3600">
                <a:latin typeface="宋体" panose="02010600030101010101" pitchFamily="2" charset="-122"/>
                <a:ea typeface="宋体" panose="02010600030101010101" pitchFamily="2" charset="-122"/>
              </a:rPr>
              <a:t>  </a:t>
            </a:r>
            <a:r>
              <a:rPr lang="zh-CN" altLang="en-US" sz="3600">
                <a:latin typeface="宋体" panose="02010600030101010101" pitchFamily="2" charset="-122"/>
                <a:ea typeface="宋体" panose="02010600030101010101" pitchFamily="2" charset="-122"/>
              </a:rPr>
              <a:t>首先，将</a:t>
            </a:r>
            <a:r>
              <a:rPr lang="zh-CN" altLang="en-US" sz="3600">
                <a:latin typeface="Times New Roman" panose="02020603050405020304"/>
                <a:ea typeface="宋体" panose="02010600030101010101" pitchFamily="2" charset="-122"/>
              </a:rPr>
              <a:t>一个字节变换成有限域</a:t>
            </a:r>
            <a:r>
              <a:rPr lang="en-US" altLang="zh-CN" sz="3600">
                <a:latin typeface="Times New Roman" panose="02020603050405020304"/>
                <a:ea typeface="宋体" panose="02010600030101010101" pitchFamily="2" charset="-122"/>
              </a:rPr>
              <a:t>GF(2</a:t>
            </a:r>
            <a:r>
              <a:rPr lang="en-US" altLang="zh-CN" sz="3600" baseline="30000">
                <a:latin typeface="Times New Roman" panose="02020603050405020304"/>
                <a:ea typeface="宋体" panose="02010600030101010101" pitchFamily="2" charset="-122"/>
              </a:rPr>
              <a:t>8</a:t>
            </a:r>
            <a:r>
              <a:rPr lang="en-US" altLang="zh-CN" sz="3600">
                <a:latin typeface="Times New Roman" panose="02020603050405020304"/>
                <a:ea typeface="宋体" panose="02010600030101010101" pitchFamily="2" charset="-122"/>
              </a:rPr>
              <a:t>)</a:t>
            </a:r>
            <a:r>
              <a:rPr lang="zh-CN" altLang="en-US" sz="3600">
                <a:latin typeface="Times New Roman" panose="02020603050405020304"/>
                <a:ea typeface="宋体" panose="02010600030101010101" pitchFamily="2" charset="-122"/>
              </a:rPr>
              <a:t>中</a:t>
            </a:r>
            <a:r>
              <a:rPr lang="zh-CN" altLang="en-US" sz="3600">
                <a:latin typeface="宋体" panose="02010600030101010101" pitchFamily="2" charset="-122"/>
                <a:ea typeface="宋体" panose="02010600030101010101" pitchFamily="2" charset="-122"/>
              </a:rPr>
              <a:t>的</a:t>
            </a:r>
            <a:r>
              <a:rPr lang="zh-CN" altLang="en-US" sz="3600">
                <a:latin typeface="Times New Roman" panose="02020603050405020304"/>
                <a:ea typeface="宋体" panose="02010600030101010101" pitchFamily="2" charset="-122"/>
              </a:rPr>
              <a:t>乘法逆</a:t>
            </a:r>
            <a:r>
              <a:rPr lang="zh-CN" altLang="en-US" sz="3600">
                <a:latin typeface="宋体" panose="02010600030101010101" pitchFamily="2" charset="-122"/>
                <a:ea typeface="宋体" panose="02010600030101010101" pitchFamily="2" charset="-122"/>
              </a:rPr>
              <a:t>元素，</a:t>
            </a:r>
            <a:r>
              <a:rPr lang="zh-CN" altLang="en-US" sz="3600">
                <a:latin typeface="Times New Roman" panose="02020603050405020304"/>
                <a:ea typeface="宋体" panose="02010600030101010101" pitchFamily="2" charset="-122"/>
              </a:rPr>
              <a:t>规定</a:t>
            </a:r>
            <a:r>
              <a:rPr lang="en-US" altLang="zh-CN" sz="3600">
                <a:latin typeface="Times New Roman" panose="02020603050405020304"/>
                <a:ea typeface="宋体" panose="02010600030101010101" pitchFamily="2" charset="-122"/>
              </a:rPr>
              <a:t>00</a:t>
            </a:r>
            <a:r>
              <a:rPr lang="zh-CN" altLang="en-US" sz="3600">
                <a:latin typeface="宋体" panose="02010600030101010101" pitchFamily="2" charset="-122"/>
                <a:ea typeface="宋体" panose="02010600030101010101" pitchFamily="2" charset="-122"/>
              </a:rPr>
              <a:t>映射到自</a:t>
            </a:r>
            <a:r>
              <a:rPr lang="zh-CN" altLang="en-US" sz="3600">
                <a:latin typeface="Times New Roman" panose="02020603050405020304"/>
                <a:ea typeface="宋体" panose="02010600030101010101" pitchFamily="2" charset="-122"/>
              </a:rPr>
              <a:t>身</a:t>
            </a:r>
            <a:r>
              <a:rPr lang="en-US" altLang="zh-CN" sz="3600">
                <a:latin typeface="Times New Roman" panose="02020603050405020304"/>
                <a:ea typeface="Times New Roman" panose="02020603050405020304"/>
              </a:rPr>
              <a:t>00</a:t>
            </a:r>
            <a:r>
              <a:rPr lang="zh-CN" altLang="en-US" sz="3600">
                <a:latin typeface="Times New Roman" panose="02020603050405020304"/>
                <a:ea typeface="宋体" panose="02010600030101010101" pitchFamily="2" charset="-122"/>
              </a:rPr>
              <a:t>；</a:t>
            </a:r>
            <a:r>
              <a:rPr lang="zh-CN" altLang="en-US" sz="3600">
                <a:latin typeface="宋体" panose="02010600030101010101" pitchFamily="2" charset="-122"/>
                <a:ea typeface="宋体" panose="02010600030101010101" pitchFamily="2" charset="-122"/>
              </a:rPr>
              <a:t>其次，对</a:t>
            </a:r>
            <a:r>
              <a:rPr lang="zh-CN" altLang="en-US" sz="3600">
                <a:latin typeface="Times New Roman" panose="02020603050405020304"/>
                <a:ea typeface="宋体" panose="02010600030101010101" pitchFamily="2" charset="-122"/>
              </a:rPr>
              <a:t>之前的结果进行</a:t>
            </a:r>
            <a:r>
              <a:rPr lang="zh-CN" altLang="en-US" sz="3600">
                <a:latin typeface="宋体" panose="02010600030101010101" pitchFamily="2" charset="-122"/>
                <a:ea typeface="宋体" panose="02010600030101010101" pitchFamily="2" charset="-122"/>
              </a:rPr>
              <a:t>如下</a:t>
            </a:r>
            <a:r>
              <a:rPr lang="zh-CN" altLang="en-US" sz="3600">
                <a:latin typeface="Times New Roman" panose="02020603050405020304"/>
                <a:ea typeface="宋体" panose="02010600030101010101" pitchFamily="2" charset="-122"/>
              </a:rPr>
              <a:t>（</a:t>
            </a:r>
            <a:r>
              <a:rPr lang="en-US" altLang="zh-CN" sz="3600">
                <a:latin typeface="Times New Roman" panose="02020603050405020304"/>
                <a:ea typeface="宋体" panose="02010600030101010101" pitchFamily="2" charset="-122"/>
              </a:rPr>
              <a:t>GF(2)</a:t>
            </a:r>
            <a:r>
              <a:rPr lang="zh-CN" altLang="en-US" sz="3600">
                <a:latin typeface="宋体" panose="02010600030101010101" pitchFamily="2" charset="-122"/>
                <a:ea typeface="宋体" panose="02010600030101010101" pitchFamily="2" charset="-122"/>
              </a:rPr>
              <a:t>上的，可逆的</a:t>
            </a:r>
            <a:r>
              <a:rPr lang="zh-CN" altLang="en-US" sz="3600">
                <a:latin typeface="Times New Roman" panose="02020603050405020304"/>
                <a:ea typeface="宋体" panose="02010600030101010101" pitchFamily="2" charset="-122"/>
              </a:rPr>
              <a:t>）</a:t>
            </a:r>
            <a:r>
              <a:rPr lang="zh-CN" altLang="en-US" sz="3600">
                <a:latin typeface="宋体" panose="02010600030101010101" pitchFamily="2" charset="-122"/>
                <a:ea typeface="宋体" panose="02010600030101010101" pitchFamily="2" charset="-122"/>
              </a:rPr>
              <a:t>仿射变换</a:t>
            </a:r>
            <a:r>
              <a:rPr lang="zh-CN" altLang="en-US" sz="3600">
                <a:latin typeface="Times New Roman" panose="02020603050405020304"/>
                <a:ea typeface="宋体" panose="02010600030101010101" pitchFamily="2" charset="-122"/>
              </a:rPr>
              <a:t>，可由以下矩阵变换表示。</a:t>
            </a:r>
            <a:endParaRPr lang="zh-CN" altLang="en-US" sz="3600">
              <a:latin typeface="Times New Roman" panose="02020603050405020304"/>
              <a:ea typeface="宋体" panose="02010600030101010101" pitchFamily="2" charset="-122"/>
            </a:endParaRPr>
          </a:p>
        </p:txBody>
      </p:sp>
      <p:graphicFrame>
        <p:nvGraphicFramePr>
          <p:cNvPr id="6" name="对象 -2147482122"/>
          <p:cNvGraphicFramePr>
            <a:graphicFrameLocks noChangeAspect="1"/>
          </p:cNvGraphicFramePr>
          <p:nvPr/>
        </p:nvGraphicFramePr>
        <p:xfrm>
          <a:off x="5943600" y="5524500"/>
          <a:ext cx="5619115" cy="3540125"/>
        </p:xfrm>
        <a:graphic>
          <a:graphicData uri="http://schemas.openxmlformats.org/presentationml/2006/ole">
            <mc:AlternateContent xmlns:mc="http://schemas.openxmlformats.org/markup-compatibility/2006">
              <mc:Choice xmlns:v="urn:schemas-microsoft-com:vml" Requires="v">
                <p:oleObj spid="_x0000_s0" name="" r:id="rId1" imgW="2438400" imgH="1562100" progId="Equation.DSMT4">
                  <p:embed/>
                </p:oleObj>
              </mc:Choice>
              <mc:Fallback>
                <p:oleObj name="" r:id="rId1" imgW="2438400" imgH="1562100" progId="Equation.DSMT4">
                  <p:embed/>
                  <p:pic>
                    <p:nvPicPr>
                      <p:cNvPr id="0" name="图片 3075"/>
                      <p:cNvPicPr/>
                      <p:nvPr/>
                    </p:nvPicPr>
                    <p:blipFill>
                      <a:blip r:embed="rId2"/>
                      <a:stretch>
                        <a:fillRect/>
                      </a:stretch>
                    </p:blipFill>
                    <p:spPr>
                      <a:xfrm>
                        <a:off x="5943600" y="5524500"/>
                        <a:ext cx="5619115" cy="3540125"/>
                      </a:xfrm>
                      <a:prstGeom prst="rect">
                        <a:avLst/>
                      </a:prstGeom>
                      <a:noFill/>
                      <a:ln w="38100">
                        <a:noFill/>
                        <a:miter/>
                      </a:ln>
                    </p:spPr>
                  </p:pic>
                </p:oleObj>
              </mc:Fallback>
            </mc:AlternateContent>
          </a:graphicData>
        </a:graphic>
      </p:graphicFrame>
      <p:sp>
        <p:nvSpPr>
          <p:cNvPr id="9" name="灯片编号占位符 8"/>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90600" y="2019300"/>
            <a:ext cx="10572115" cy="652145"/>
          </a:xfrm>
          <a:prstGeom prst="rect">
            <a:avLst/>
          </a:prstGeom>
        </p:spPr>
        <p:txBody>
          <a:bodyPr wrap="square">
            <a:noAutofit/>
          </a:bodyPr>
          <a:lstStyle/>
          <a:p>
            <a:pPr indent="720090" algn="just" defTabSz="266700">
              <a:lnSpc>
                <a:spcPts val="1670"/>
              </a:lnSpc>
              <a:spcBef>
                <a:spcPct val="0"/>
              </a:spcBef>
              <a:spcAft>
                <a:spcPct val="0"/>
              </a:spcAft>
            </a:pPr>
            <a:r>
              <a:rPr lang="zh-CN" altLang="en-US" sz="3600" dirty="0">
                <a:latin typeface="+mn-ea"/>
                <a:cs typeface="+mn-ea"/>
              </a:rPr>
              <a:t>例如，对于（</a:t>
            </a:r>
            <a:r>
              <a:rPr lang="en-US" altLang="zh-CN" sz="3600" dirty="0">
                <a:latin typeface="+mn-ea"/>
                <a:cs typeface="+mn-ea"/>
              </a:rPr>
              <a:t>11101001</a:t>
            </a:r>
            <a:r>
              <a:rPr lang="zh-CN" altLang="en-US" sz="3600" dirty="0">
                <a:latin typeface="+mn-ea"/>
                <a:cs typeface="+mn-ea"/>
              </a:rPr>
              <a:t>），该矩阵的运算为</a:t>
            </a:r>
            <a:endParaRPr lang="zh-CN" altLang="en-US" sz="3600" dirty="0">
              <a:latin typeface="+mn-ea"/>
              <a:cs typeface="+mn-ea"/>
            </a:endParaRPr>
          </a:p>
        </p:txBody>
      </p:sp>
      <p:graphicFrame>
        <p:nvGraphicFramePr>
          <p:cNvPr id="5" name="对象 -2147482121"/>
          <p:cNvGraphicFramePr>
            <a:graphicFrameLocks noChangeAspect="1"/>
          </p:cNvGraphicFramePr>
          <p:nvPr/>
        </p:nvGraphicFramePr>
        <p:xfrm>
          <a:off x="2057400" y="2552700"/>
          <a:ext cx="3806190" cy="2091690"/>
        </p:xfrm>
        <a:graphic>
          <a:graphicData uri="http://schemas.openxmlformats.org/presentationml/2006/ole">
            <mc:AlternateContent xmlns:mc="http://schemas.openxmlformats.org/markup-compatibility/2006">
              <mc:Choice xmlns:v="urn:schemas-microsoft-com:vml" Requires="v">
                <p:oleObj spid="_x0000_s0" name="" r:id="rId1" imgW="2882900" imgH="1536700" progId="Equation.DSMT4">
                  <p:embed/>
                </p:oleObj>
              </mc:Choice>
              <mc:Fallback>
                <p:oleObj name="" r:id="rId1" imgW="2882900" imgH="1536700" progId="Equation.DSMT4">
                  <p:embed/>
                  <p:pic>
                    <p:nvPicPr>
                      <p:cNvPr id="0" name="图片 7"/>
                      <p:cNvPicPr/>
                      <p:nvPr/>
                    </p:nvPicPr>
                    <p:blipFill>
                      <a:blip r:embed="rId2"/>
                      <a:stretch>
                        <a:fillRect/>
                      </a:stretch>
                    </p:blipFill>
                    <p:spPr>
                      <a:xfrm>
                        <a:off x="2057400" y="2552700"/>
                        <a:ext cx="3806190" cy="2091690"/>
                      </a:xfrm>
                      <a:prstGeom prst="rect">
                        <a:avLst/>
                      </a:prstGeom>
                      <a:noFill/>
                      <a:ln w="38100">
                        <a:noFill/>
                        <a:miter/>
                      </a:ln>
                    </p:spPr>
                  </p:pic>
                </p:oleObj>
              </mc:Fallback>
            </mc:AlternateContent>
          </a:graphicData>
        </a:graphic>
      </p:graphicFrame>
      <p:sp>
        <p:nvSpPr>
          <p:cNvPr id="9" name="文本框 8"/>
          <p:cNvSpPr txBox="1"/>
          <p:nvPr/>
        </p:nvSpPr>
        <p:spPr>
          <a:xfrm>
            <a:off x="1219200" y="4762500"/>
            <a:ext cx="10430510" cy="2419350"/>
          </a:xfrm>
          <a:prstGeom prst="rect">
            <a:avLst/>
          </a:prstGeom>
        </p:spPr>
        <p:txBody>
          <a:bodyPr wrap="square">
            <a:noAutofit/>
          </a:bodyPr>
          <a:lstStyle/>
          <a:p>
            <a:pPr indent="720090" algn="just" defTabSz="266700" fontAlgn="auto">
              <a:lnSpc>
                <a:spcPct val="100000"/>
              </a:lnSpc>
              <a:spcBef>
                <a:spcPct val="0"/>
              </a:spcBef>
              <a:spcAft>
                <a:spcPct val="0"/>
              </a:spcAft>
            </a:pPr>
            <a:r>
              <a:rPr lang="zh-CN" altLang="en-US" sz="3600" dirty="0">
                <a:latin typeface="+mn-ea"/>
                <a:cs typeface="+mn-ea"/>
              </a:rPr>
              <a:t>将计算结果从下往上读，最终为（</a:t>
            </a:r>
            <a:r>
              <a:rPr lang="en-US" altLang="zh-CN" sz="3600" dirty="0">
                <a:latin typeface="+mn-ea"/>
                <a:cs typeface="+mn-ea"/>
              </a:rPr>
              <a:t>00101111</a:t>
            </a:r>
            <a:r>
              <a:rPr lang="zh-CN" altLang="en-US" sz="3600" dirty="0">
                <a:latin typeface="+mn-ea"/>
                <a:cs typeface="+mn-ea"/>
              </a:rPr>
              <a:t>），写成十六进制数为</a:t>
            </a:r>
            <a:r>
              <a:rPr lang="en-US" altLang="zh-CN" sz="3600" dirty="0">
                <a:latin typeface="+mn-ea"/>
                <a:cs typeface="+mn-ea"/>
              </a:rPr>
              <a:t>0x2F</a:t>
            </a:r>
            <a:r>
              <a:rPr lang="zh-CN" altLang="en-US" sz="3600" dirty="0">
                <a:latin typeface="+mn-ea"/>
                <a:cs typeface="+mn-ea"/>
              </a:rPr>
              <a:t>。</a:t>
            </a:r>
            <a:endParaRPr lang="zh-CN" altLang="en-US" sz="3600" dirty="0">
              <a:latin typeface="+mn-ea"/>
              <a:cs typeface="+mn-ea"/>
            </a:endParaRPr>
          </a:p>
          <a:p>
            <a:pPr indent="720090" algn="just" defTabSz="266700" fontAlgn="auto">
              <a:lnSpc>
                <a:spcPct val="100000"/>
              </a:lnSpc>
              <a:spcBef>
                <a:spcPct val="0"/>
              </a:spcBef>
              <a:spcAft>
                <a:spcPct val="0"/>
              </a:spcAft>
            </a:pPr>
            <a:r>
              <a:rPr lang="zh-CN" altLang="en-US" sz="3600" dirty="0">
                <a:latin typeface="+mn-ea"/>
                <a:cs typeface="+mn-ea"/>
              </a:rPr>
              <a:t>也可以将字节代换的各种可能字节的变换结果排成一个表，如图</a:t>
            </a:r>
            <a:r>
              <a:rPr lang="en-US" altLang="zh-CN" sz="3600" dirty="0">
                <a:latin typeface="+mn-ea"/>
                <a:cs typeface="+mn-ea"/>
              </a:rPr>
              <a:t>3.11</a:t>
            </a:r>
            <a:r>
              <a:rPr lang="zh-CN" altLang="en-US" sz="3600" dirty="0">
                <a:latin typeface="+mn-ea"/>
                <a:cs typeface="+mn-ea"/>
              </a:rPr>
              <a:t>所示，它称为</a:t>
            </a:r>
            <a:r>
              <a:rPr lang="en-US" altLang="zh-CN" sz="3600" dirty="0">
                <a:latin typeface="+mn-ea"/>
                <a:cs typeface="+mn-ea"/>
              </a:rPr>
              <a:t>AES</a:t>
            </a:r>
            <a:r>
              <a:rPr lang="zh-CN" altLang="en-US" sz="3600" dirty="0">
                <a:latin typeface="+mn-ea"/>
                <a:cs typeface="+mn-ea"/>
              </a:rPr>
              <a:t>的字节代替表或</a:t>
            </a:r>
            <a:r>
              <a:rPr lang="en-US" altLang="zh-CN" sz="3600" dirty="0">
                <a:latin typeface="+mn-ea"/>
                <a:cs typeface="+mn-ea"/>
              </a:rPr>
              <a:t>S</a:t>
            </a:r>
            <a:r>
              <a:rPr lang="zh-CN" altLang="en-US" sz="3600" dirty="0">
                <a:latin typeface="+mn-ea"/>
                <a:cs typeface="+mn-ea"/>
              </a:rPr>
              <a:t>盒。状态矩阵中的元素按照下面的方式通过</a:t>
            </a:r>
            <a:r>
              <a:rPr lang="en-US" altLang="zh-CN" sz="3600" dirty="0">
                <a:latin typeface="+mn-ea"/>
                <a:cs typeface="+mn-ea"/>
              </a:rPr>
              <a:t>S</a:t>
            </a:r>
            <a:r>
              <a:rPr lang="zh-CN" altLang="en-US" sz="3600" dirty="0">
                <a:latin typeface="+mn-ea"/>
                <a:cs typeface="+mn-ea"/>
              </a:rPr>
              <a:t>盒映射为一个新的字节：把该字节的高</a:t>
            </a:r>
            <a:r>
              <a:rPr lang="en-US" altLang="zh-CN" sz="3600" dirty="0">
                <a:latin typeface="+mn-ea"/>
                <a:cs typeface="+mn-ea"/>
              </a:rPr>
              <a:t>4</a:t>
            </a:r>
            <a:r>
              <a:rPr lang="zh-CN" altLang="en-US" sz="3600" dirty="0">
                <a:latin typeface="+mn-ea"/>
                <a:cs typeface="+mn-ea"/>
              </a:rPr>
              <a:t>位作为行值，低</a:t>
            </a:r>
            <a:r>
              <a:rPr lang="en-US" altLang="zh-CN" sz="3600" dirty="0">
                <a:latin typeface="+mn-ea"/>
                <a:cs typeface="+mn-ea"/>
              </a:rPr>
              <a:t>4</a:t>
            </a:r>
            <a:r>
              <a:rPr lang="zh-CN" altLang="en-US" sz="3600" dirty="0">
                <a:latin typeface="+mn-ea"/>
                <a:cs typeface="+mn-ea"/>
              </a:rPr>
              <a:t>位作为列值，取出</a:t>
            </a:r>
            <a:r>
              <a:rPr lang="en-US" altLang="zh-CN" sz="3600" dirty="0">
                <a:latin typeface="+mn-ea"/>
                <a:cs typeface="+mn-ea"/>
              </a:rPr>
              <a:t>S</a:t>
            </a:r>
            <a:r>
              <a:rPr lang="zh-CN" altLang="en-US" sz="3600" dirty="0">
                <a:latin typeface="+mn-ea"/>
                <a:cs typeface="+mn-ea"/>
              </a:rPr>
              <a:t>盒对应行列的元素作为输出。例如，加密时，输入字节</a:t>
            </a:r>
            <a:r>
              <a:rPr lang="en-US" altLang="zh-CN" sz="3600" dirty="0">
                <a:latin typeface="+mn-ea"/>
                <a:cs typeface="+mn-ea"/>
              </a:rPr>
              <a:t>0x12</a:t>
            </a:r>
            <a:r>
              <a:rPr lang="zh-CN" altLang="en-US" sz="3600" dirty="0">
                <a:latin typeface="+mn-ea"/>
                <a:cs typeface="+mn-ea"/>
              </a:rPr>
              <a:t>，则查找</a:t>
            </a:r>
            <a:r>
              <a:rPr lang="en-US" altLang="zh-CN" sz="3600" dirty="0">
                <a:latin typeface="+mn-ea"/>
                <a:cs typeface="+mn-ea"/>
              </a:rPr>
              <a:t>S</a:t>
            </a:r>
            <a:r>
              <a:rPr lang="zh-CN" altLang="en-US" sz="3600" dirty="0">
                <a:latin typeface="+mn-ea"/>
                <a:cs typeface="+mn-ea"/>
              </a:rPr>
              <a:t>盒的第</a:t>
            </a:r>
            <a:r>
              <a:rPr lang="en-US" altLang="zh-CN" sz="3600" dirty="0">
                <a:latin typeface="+mn-ea"/>
                <a:cs typeface="+mn-ea"/>
              </a:rPr>
              <a:t>0x01</a:t>
            </a:r>
            <a:r>
              <a:rPr lang="zh-CN" altLang="en-US" sz="3600" dirty="0">
                <a:latin typeface="+mn-ea"/>
                <a:cs typeface="+mn-ea"/>
              </a:rPr>
              <a:t>行</a:t>
            </a:r>
            <a:r>
              <a:rPr lang="en-US" altLang="zh-CN" sz="3600" dirty="0">
                <a:latin typeface="+mn-ea"/>
                <a:cs typeface="+mn-ea"/>
              </a:rPr>
              <a:t>0x02</a:t>
            </a:r>
            <a:r>
              <a:rPr lang="zh-CN" altLang="en-US" sz="3600" dirty="0">
                <a:latin typeface="+mn-ea"/>
                <a:cs typeface="+mn-ea"/>
              </a:rPr>
              <a:t>列，得到值</a:t>
            </a:r>
            <a:r>
              <a:rPr lang="en-US" altLang="zh-CN" sz="3600" dirty="0">
                <a:latin typeface="+mn-ea"/>
                <a:cs typeface="+mn-ea"/>
              </a:rPr>
              <a:t>0xC9</a:t>
            </a:r>
            <a:r>
              <a:rPr lang="zh-CN" altLang="en-US" sz="3600" dirty="0">
                <a:latin typeface="+mn-ea"/>
                <a:cs typeface="+mn-ea"/>
              </a:rPr>
              <a:t>。</a:t>
            </a:r>
            <a:endParaRPr lang="zh-CN" altLang="en-US" sz="3600" dirty="0">
              <a:latin typeface="+mn-ea"/>
              <a:cs typeface="+mn-ea"/>
            </a:endParaRPr>
          </a:p>
        </p:txBody>
      </p:sp>
      <p:pic>
        <p:nvPicPr>
          <p:cNvPr id="1233" name="图片 12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039600" y="2019300"/>
            <a:ext cx="5775960" cy="5775960"/>
          </a:xfrm>
          <a:prstGeom prst="rect">
            <a:avLst/>
          </a:prstGeom>
        </p:spPr>
      </p:pic>
      <p:sp>
        <p:nvSpPr>
          <p:cNvPr id="10" name="文本框 9"/>
          <p:cNvSpPr txBox="1"/>
          <p:nvPr/>
        </p:nvSpPr>
        <p:spPr>
          <a:xfrm>
            <a:off x="12496800" y="8039417"/>
            <a:ext cx="5080000" cy="291465"/>
          </a:xfrm>
          <a:prstGeom prst="rect">
            <a:avLst/>
          </a:prstGeom>
        </p:spPr>
        <p:txBody>
          <a:bodyPr>
            <a:spAutoFit/>
          </a:bodyPr>
          <a:lstStyle/>
          <a:p>
            <a:pPr marL="0" indent="0" algn="ctr" defTabSz="266700">
              <a:lnSpc>
                <a:spcPts val="1560"/>
              </a:lnSpc>
              <a:spcBef>
                <a:spcPts val="300"/>
              </a:spcBef>
              <a:spcAft>
                <a:spcPts val="600"/>
              </a:spcAft>
            </a:pPr>
            <a:r>
              <a:rPr lang="zh-CN" altLang="en-US" sz="1600">
                <a:solidFill>
                  <a:srgbClr val="000000"/>
                </a:solidFill>
                <a:latin typeface="Arial" panose="020B0604020202020204"/>
                <a:ea typeface="黑体" panose="02010609060101010101" charset="-122"/>
              </a:rPr>
              <a:t>图</a:t>
            </a:r>
            <a:r>
              <a:rPr lang="en-US" altLang="zh-CN" sz="1600">
                <a:solidFill>
                  <a:srgbClr val="000000"/>
                </a:solidFill>
                <a:latin typeface="Arial" panose="020B0604020202020204"/>
                <a:ea typeface="Arial" panose="020B0604020202020204"/>
              </a:rPr>
              <a:t>3.11</a:t>
            </a:r>
            <a:r>
              <a:rPr lang="zh-CN" altLang="en-US" sz="1600">
                <a:solidFill>
                  <a:srgbClr val="000000"/>
                </a:solidFill>
                <a:latin typeface="Arial" panose="020B0604020202020204"/>
                <a:ea typeface="黑体" panose="02010609060101010101" charset="-122"/>
              </a:rPr>
              <a:t>　</a:t>
            </a:r>
            <a:r>
              <a:rPr lang="en-US" altLang="zh-CN" sz="1600">
                <a:solidFill>
                  <a:srgbClr val="000000"/>
                </a:solidFill>
                <a:latin typeface="Arial" panose="020B0604020202020204"/>
                <a:ea typeface="Arial" panose="020B0604020202020204"/>
              </a:rPr>
              <a:t>S</a:t>
            </a:r>
            <a:r>
              <a:rPr lang="zh-CN" altLang="en-US" sz="1600">
                <a:solidFill>
                  <a:srgbClr val="000000"/>
                </a:solidFill>
                <a:latin typeface="Arial" panose="020B0604020202020204"/>
                <a:ea typeface="黑体" panose="02010609060101010101" charset="-122"/>
              </a:rPr>
              <a:t>盒</a:t>
            </a:r>
            <a:endParaRPr lang="zh-CN" altLang="en-US" sz="1600">
              <a:solidFill>
                <a:srgbClr val="000000"/>
              </a:solidFill>
              <a:latin typeface="Arial" panose="020B0604020202020204"/>
              <a:ea typeface="黑体" panose="02010609060101010101" charset="-122"/>
            </a:endParaRPr>
          </a:p>
        </p:txBody>
      </p:sp>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6"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7"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8" name="组合 17"/>
          <p:cNvGrpSpPr/>
          <p:nvPr/>
        </p:nvGrpSpPr>
        <p:grpSpPr>
          <a:xfrm>
            <a:off x="13639786" y="733421"/>
            <a:ext cx="3700052" cy="416951"/>
            <a:chOff x="13811849" y="507954"/>
            <a:chExt cx="3700052" cy="416951"/>
          </a:xfrm>
        </p:grpSpPr>
        <p:sp>
          <p:nvSpPr>
            <p:cNvPr id="19" name="文本框 18"/>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0" name="图片 19"/>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744200" y="1866900"/>
            <a:ext cx="1688465" cy="461010"/>
          </a:xfrm>
          <a:prstGeom prst="rect">
            <a:avLst/>
          </a:prstGeom>
        </p:spPr>
        <p:txBody>
          <a:bodyPr>
            <a:noAutofit/>
          </a:bodyPr>
          <a:lstStyle/>
          <a:p>
            <a:pPr indent="254000" algn="just" defTabSz="266700">
              <a:lnSpc>
                <a:spcPts val="1670"/>
              </a:lnSpc>
              <a:spcBef>
                <a:spcPct val="0"/>
              </a:spcBef>
              <a:spcAft>
                <a:spcPct val="0"/>
              </a:spcAft>
            </a:pPr>
            <a:r>
              <a:rPr lang="zh-CN" altLang="en-US" sz="3600">
                <a:latin typeface="Times New Roman" panose="02020603050405020304"/>
                <a:ea typeface="宋体" panose="02010600030101010101" pitchFamily="2" charset="-122"/>
              </a:rPr>
              <a:t>例如</a:t>
            </a:r>
            <a:r>
              <a:rPr lang="zh-CN" altLang="en-US" sz="1600">
                <a:latin typeface="Times New Roman" panose="02020603050405020304"/>
                <a:ea typeface="宋体" panose="02010600030101010101" pitchFamily="2" charset="-122"/>
              </a:rPr>
              <a:t>，</a:t>
            </a:r>
            <a:endParaRPr lang="zh-CN" altLang="en-US" sz="1600">
              <a:latin typeface="Times New Roman" panose="02020603050405020304"/>
              <a:ea typeface="宋体" panose="02010600030101010101" pitchFamily="2" charset="-122"/>
            </a:endParaRPr>
          </a:p>
        </p:txBody>
      </p:sp>
      <p:pic>
        <p:nvPicPr>
          <p:cNvPr id="7" name="图片 6"/>
          <p:cNvPicPr/>
          <p:nvPr/>
        </p:nvPicPr>
        <p:blipFill>
          <a:blip r:embed="rId1"/>
          <a:stretch>
            <a:fillRect/>
          </a:stretch>
        </p:blipFill>
        <p:spPr>
          <a:xfrm>
            <a:off x="12801600" y="1943100"/>
            <a:ext cx="3502025" cy="1263650"/>
          </a:xfrm>
          <a:prstGeom prst="rect">
            <a:avLst/>
          </a:prstGeom>
        </p:spPr>
      </p:pic>
      <p:sp>
        <p:nvSpPr>
          <p:cNvPr id="8" name="文本框 7"/>
          <p:cNvSpPr txBox="1"/>
          <p:nvPr/>
        </p:nvSpPr>
        <p:spPr>
          <a:xfrm>
            <a:off x="381000" y="1257300"/>
            <a:ext cx="11216005" cy="461010"/>
          </a:xfrm>
          <a:prstGeom prst="rect">
            <a:avLst/>
          </a:prstGeom>
        </p:spPr>
        <p:txBody>
          <a:bodyPr>
            <a:noAutofit/>
          </a:bodyPr>
          <a:lstStyle/>
          <a:p>
            <a:endParaRPr lang="en-US" altLang="zh-CN" sz="2600"/>
          </a:p>
          <a:p>
            <a:pPr indent="0" algn="ctr" defTabSz="266700">
              <a:lnSpc>
                <a:spcPts val="1560"/>
              </a:lnSpc>
              <a:spcBef>
                <a:spcPts val="700"/>
              </a:spcBef>
              <a:spcAft>
                <a:spcPts val="500"/>
              </a:spcAft>
            </a:pPr>
            <a:r>
              <a:rPr lang="en-US" altLang="zh-CN" sz="3600">
                <a:solidFill>
                  <a:srgbClr val="000000"/>
                </a:solidFill>
                <a:latin typeface="Times New Roman" panose="02020603050405020304"/>
                <a:ea typeface="宋体" panose="02010600030101010101" pitchFamily="2" charset="-122"/>
              </a:rPr>
              <a:t> </a:t>
            </a:r>
            <a:endParaRPr lang="en-US" altLang="zh-CN" sz="3600">
              <a:solidFill>
                <a:srgbClr val="000000"/>
              </a:solidFill>
              <a:latin typeface="Times New Roman" panose="02020603050405020304"/>
              <a:ea typeface="宋体" panose="02010600030101010101" pitchFamily="2" charset="-122"/>
            </a:endParaRPr>
          </a:p>
          <a:p>
            <a:pPr indent="0" algn="just" defTabSz="266700">
              <a:lnSpc>
                <a:spcPts val="1670"/>
              </a:lnSpc>
              <a:spcBef>
                <a:spcPct val="0"/>
              </a:spcBef>
              <a:spcAft>
                <a:spcPct val="0"/>
              </a:spcAft>
            </a:pPr>
            <a:r>
              <a:rPr lang="zh-CN" altLang="en-US" sz="3600">
                <a:latin typeface="Times New Roman" panose="02020603050405020304"/>
                <a:ea typeface="宋体" panose="02010600030101010101" pitchFamily="2" charset="-122"/>
              </a:rPr>
              <a:t>字节代换逆变换可以由以下矩阵变换表示为</a:t>
            </a:r>
            <a:endParaRPr lang="zh-CN" altLang="en-US" sz="3600">
              <a:latin typeface="Times New Roman" panose="02020603050405020304"/>
              <a:ea typeface="宋体" panose="02010600030101010101" pitchFamily="2" charset="-122"/>
            </a:endParaRPr>
          </a:p>
        </p:txBody>
      </p:sp>
      <p:graphicFrame>
        <p:nvGraphicFramePr>
          <p:cNvPr id="6" name="对象 -2147481942"/>
          <p:cNvGraphicFramePr>
            <a:graphicFrameLocks noChangeAspect="1"/>
          </p:cNvGraphicFramePr>
          <p:nvPr/>
        </p:nvGraphicFramePr>
        <p:xfrm>
          <a:off x="2209800" y="2552700"/>
          <a:ext cx="4705350" cy="2964180"/>
        </p:xfrm>
        <a:graphic>
          <a:graphicData uri="http://schemas.openxmlformats.org/presentationml/2006/ole">
            <mc:AlternateContent xmlns:mc="http://schemas.openxmlformats.org/markup-compatibility/2006">
              <mc:Choice xmlns:v="urn:schemas-microsoft-com:vml" Requires="v">
                <p:oleObj spid="_x0000_s0" name="" r:id="rId2" imgW="2463800" imgH="1562100" progId="Equation.DSMT4">
                  <p:embed/>
                </p:oleObj>
              </mc:Choice>
              <mc:Fallback>
                <p:oleObj name="" r:id="rId2" imgW="2463800" imgH="1562100" progId="Equation.DSMT4">
                  <p:embed/>
                  <p:pic>
                    <p:nvPicPr>
                      <p:cNvPr id="0" name="图片 3075"/>
                      <p:cNvPicPr/>
                      <p:nvPr/>
                    </p:nvPicPr>
                    <p:blipFill>
                      <a:blip r:embed="rId3"/>
                      <a:stretch>
                        <a:fillRect/>
                      </a:stretch>
                    </p:blipFill>
                    <p:spPr>
                      <a:xfrm>
                        <a:off x="2209800" y="2552700"/>
                        <a:ext cx="4705350" cy="2964180"/>
                      </a:xfrm>
                      <a:prstGeom prst="rect">
                        <a:avLst/>
                      </a:prstGeom>
                      <a:noFill/>
                      <a:ln w="38100">
                        <a:noFill/>
                        <a:miter/>
                      </a:ln>
                    </p:spPr>
                  </p:pic>
                </p:oleObj>
              </mc:Fallback>
            </mc:AlternateContent>
          </a:graphicData>
        </a:graphic>
      </p:graphicFrame>
      <p:sp>
        <p:nvSpPr>
          <p:cNvPr id="9" name="文本框 8"/>
          <p:cNvSpPr txBox="1"/>
          <p:nvPr/>
        </p:nvSpPr>
        <p:spPr>
          <a:xfrm>
            <a:off x="381000" y="5829300"/>
            <a:ext cx="9340850" cy="305435"/>
          </a:xfrm>
          <a:prstGeom prst="rect">
            <a:avLst/>
          </a:prstGeom>
        </p:spPr>
        <p:txBody>
          <a:bodyPr wrap="square">
            <a:spAutoFit/>
          </a:bodyPr>
          <a:lstStyle/>
          <a:p>
            <a:pPr indent="254000" algn="just" defTabSz="266700">
              <a:lnSpc>
                <a:spcPts val="1670"/>
              </a:lnSpc>
              <a:spcBef>
                <a:spcPct val="0"/>
              </a:spcBef>
              <a:spcAft>
                <a:spcPct val="0"/>
              </a:spcAft>
            </a:pPr>
            <a:r>
              <a:rPr lang="zh-CN" altLang="en-US" sz="3600">
                <a:latin typeface="+mn-ea"/>
                <a:cs typeface="+mn-ea"/>
              </a:rPr>
              <a:t>例如，对于（</a:t>
            </a:r>
            <a:r>
              <a:rPr lang="en-US" altLang="zh-CN" sz="3600">
                <a:latin typeface="+mn-ea"/>
                <a:cs typeface="+mn-ea"/>
              </a:rPr>
              <a:t>00101111</a:t>
            </a:r>
            <a:r>
              <a:rPr lang="zh-CN" altLang="en-US" sz="3600">
                <a:latin typeface="+mn-ea"/>
                <a:cs typeface="+mn-ea"/>
              </a:rPr>
              <a:t>），该矩阵的运算为</a:t>
            </a:r>
            <a:endParaRPr lang="zh-CN" altLang="en-US" sz="3600">
              <a:latin typeface="+mn-ea"/>
              <a:cs typeface="+mn-ea"/>
            </a:endParaRPr>
          </a:p>
        </p:txBody>
      </p:sp>
      <p:graphicFrame>
        <p:nvGraphicFramePr>
          <p:cNvPr id="10" name="对象 -2147481941"/>
          <p:cNvGraphicFramePr>
            <a:graphicFrameLocks noChangeAspect="1"/>
          </p:cNvGraphicFramePr>
          <p:nvPr/>
        </p:nvGraphicFramePr>
        <p:xfrm>
          <a:off x="1981200" y="6134100"/>
          <a:ext cx="5326380" cy="2832100"/>
        </p:xfrm>
        <a:graphic>
          <a:graphicData uri="http://schemas.openxmlformats.org/presentationml/2006/ole">
            <mc:AlternateContent xmlns:mc="http://schemas.openxmlformats.org/markup-compatibility/2006">
              <mc:Choice xmlns:v="urn:schemas-microsoft-com:vml" Requires="v">
                <p:oleObj spid="_x0000_s0" name="" r:id="rId4" imgW="2933700" imgH="1536700" progId="Equation.DSMT4">
                  <p:embed/>
                </p:oleObj>
              </mc:Choice>
              <mc:Fallback>
                <p:oleObj name="" r:id="rId4" imgW="2933700" imgH="1536700" progId="Equation.DSMT4">
                  <p:embed/>
                  <p:pic>
                    <p:nvPicPr>
                      <p:cNvPr id="0" name="图片 9"/>
                      <p:cNvPicPr/>
                      <p:nvPr/>
                    </p:nvPicPr>
                    <p:blipFill>
                      <a:blip r:embed="rId5"/>
                      <a:stretch>
                        <a:fillRect/>
                      </a:stretch>
                    </p:blipFill>
                    <p:spPr>
                      <a:xfrm>
                        <a:off x="1981200" y="6134100"/>
                        <a:ext cx="5326380" cy="2832100"/>
                      </a:xfrm>
                      <a:prstGeom prst="rect">
                        <a:avLst/>
                      </a:prstGeom>
                      <a:noFill/>
                      <a:ln w="38100">
                        <a:noFill/>
                        <a:miter/>
                      </a:ln>
                    </p:spPr>
                  </p:pic>
                </p:oleObj>
              </mc:Fallback>
            </mc:AlternateContent>
          </a:graphicData>
        </a:graphic>
      </p:graphicFrame>
      <p:sp>
        <p:nvSpPr>
          <p:cNvPr id="12" name="文本框 11"/>
          <p:cNvSpPr txBox="1"/>
          <p:nvPr/>
        </p:nvSpPr>
        <p:spPr>
          <a:xfrm>
            <a:off x="687705" y="8953500"/>
            <a:ext cx="10909300" cy="1198880"/>
          </a:xfrm>
          <a:prstGeom prst="rect">
            <a:avLst/>
          </a:prstGeom>
        </p:spPr>
        <p:txBody>
          <a:bodyPr wrap="square">
            <a:spAutoFit/>
          </a:bodyPr>
          <a:lstStyle/>
          <a:p>
            <a:pPr indent="0" algn="just" defTabSz="266700" fontAlgn="auto">
              <a:lnSpc>
                <a:spcPct val="100000"/>
              </a:lnSpc>
              <a:spcBef>
                <a:spcPct val="0"/>
              </a:spcBef>
              <a:spcAft>
                <a:spcPct val="0"/>
              </a:spcAft>
            </a:pPr>
            <a:r>
              <a:rPr lang="zh-CN" altLang="en-US" sz="3600">
                <a:latin typeface="+mn-ea"/>
                <a:cs typeface="+mn-ea"/>
              </a:rPr>
              <a:t>将计算结果从下往上读，最终为（</a:t>
            </a:r>
            <a:r>
              <a:rPr lang="en-US" altLang="zh-CN" sz="3600">
                <a:latin typeface="+mn-ea"/>
                <a:cs typeface="+mn-ea"/>
              </a:rPr>
              <a:t>11101001</a:t>
            </a:r>
            <a:r>
              <a:rPr lang="zh-CN" altLang="en-US" sz="3600">
                <a:latin typeface="+mn-ea"/>
                <a:cs typeface="+mn-ea"/>
              </a:rPr>
              <a:t>），写成十六进制数为</a:t>
            </a:r>
            <a:r>
              <a:rPr lang="en-US" altLang="zh-CN" sz="3600">
                <a:latin typeface="+mn-ea"/>
                <a:cs typeface="+mn-ea"/>
              </a:rPr>
              <a:t>0xE9</a:t>
            </a:r>
            <a:r>
              <a:rPr lang="zh-CN" altLang="en-US" sz="3600">
                <a:latin typeface="+mn-ea"/>
                <a:cs typeface="+mn-ea"/>
              </a:rPr>
              <a:t>。</a:t>
            </a:r>
            <a:endParaRPr lang="zh-CN" altLang="en-US" sz="3600">
              <a:latin typeface="+mn-ea"/>
              <a:cs typeface="+mn-ea"/>
            </a:endParaRPr>
          </a:p>
        </p:txBody>
      </p:sp>
      <p:sp>
        <p:nvSpPr>
          <p:cNvPr id="11" name="灯片编号占位符 10"/>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5" name="Group 2"/>
          <p:cNvGrpSpPr/>
          <p:nvPr/>
        </p:nvGrpSpPr>
        <p:grpSpPr>
          <a:xfrm>
            <a:off x="412090" y="1028700"/>
            <a:ext cx="7800783" cy="275915"/>
            <a:chOff x="0" y="0"/>
            <a:chExt cx="2054527" cy="72669"/>
          </a:xfrm>
        </p:grpSpPr>
        <p:sp>
          <p:nvSpPr>
            <p:cNvPr id="16"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7"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8"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9"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0"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1" name="组合 20"/>
          <p:cNvGrpSpPr/>
          <p:nvPr/>
        </p:nvGrpSpPr>
        <p:grpSpPr>
          <a:xfrm>
            <a:off x="13639786" y="733421"/>
            <a:ext cx="3700052" cy="416951"/>
            <a:chOff x="13811849" y="507954"/>
            <a:chExt cx="3700052" cy="416951"/>
          </a:xfrm>
        </p:grpSpPr>
        <p:sp>
          <p:nvSpPr>
            <p:cNvPr id="22" name="文本框 2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3" name="图片 22"/>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790700"/>
            <a:ext cx="16329025" cy="8359140"/>
          </a:xfrm>
          <a:prstGeom prst="rect">
            <a:avLst/>
          </a:prstGeom>
          <a:noFill/>
        </p:spPr>
        <p:txBody>
          <a:bodyPr wrap="square" rtlCol="0" anchor="t">
            <a:spAutoFit/>
          </a:bodyPr>
          <a:lstStyle/>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．行移位</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行移位是将状态矩阵的各行进行循环移位，不同状态行的位移量不同。第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行不移动，第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行循环左移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个字节，第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行循环左移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个字节，第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行循环左移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个字节，行移位示意图如图</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3.12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所示。</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en-US" altLang="zh-CN"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1600" dirty="0">
                <a:solidFill>
                  <a:srgbClr val="000000"/>
                </a:solidFill>
                <a:latin typeface="Times New Roman" panose="02020603050405020304" pitchFamily="18" charset="0"/>
                <a:ea typeface="宋体" panose="02010600030101010101" pitchFamily="2" charset="-122"/>
                <a:cs typeface="字由点字典黑 2"/>
              </a:rPr>
              <a:t>图</a:t>
            </a:r>
            <a:r>
              <a:rPr lang="en-US" altLang="zh-CN" sz="1600" dirty="0">
                <a:solidFill>
                  <a:srgbClr val="000000"/>
                </a:solidFill>
                <a:latin typeface="Times New Roman" panose="02020603050405020304" pitchFamily="18" charset="0"/>
                <a:ea typeface="宋体" panose="02010600030101010101" pitchFamily="2" charset="-122"/>
                <a:cs typeface="字由点字典黑 2"/>
              </a:rPr>
              <a:t>3.12</a:t>
            </a:r>
            <a:r>
              <a:rPr lang="zh-CN" altLang="en-US" sz="1600" dirty="0">
                <a:solidFill>
                  <a:srgbClr val="000000"/>
                </a:solidFill>
                <a:latin typeface="Times New Roman" panose="02020603050405020304" pitchFamily="18" charset="0"/>
                <a:ea typeface="宋体" panose="02010600030101010101" pitchFamily="2" charset="-122"/>
                <a:cs typeface="字由点字典黑 2"/>
              </a:rPr>
              <a:t>　行移位示意图</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行移位逆变换是将状态矩阵的每行执行相反的移位操作。例如，</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AES-128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中，状态矩阵的第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行右移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字节，第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行右移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字节，第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行右移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字节，第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行右移</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字节。行移位虽然简单，但是相当有用。它将某个字节从其中一列移到另一列中，它的线性距离是</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字节（</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个字）的倍数，同时这个变换确保了某列的</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字节被扩展到了</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个不同的列。</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pic>
        <p:nvPicPr>
          <p:cNvPr id="1234" name="图片 12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72000" y="4000500"/>
            <a:ext cx="7631430" cy="2992755"/>
          </a:xfrm>
          <a:prstGeom prst="rect">
            <a:avLst/>
          </a:prstGeom>
        </p:spPr>
      </p:pic>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790700"/>
            <a:ext cx="16329025" cy="7768590"/>
          </a:xfrm>
          <a:prstGeom prst="rect">
            <a:avLst/>
          </a:prstGeom>
          <a:noFill/>
        </p:spPr>
        <p:txBody>
          <a:bodyPr wrap="square" rtlCol="0" anchor="t">
            <a:spAutoFit/>
          </a:bodyPr>
          <a:lstStyle/>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．列混合</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列混合变换是一个替代操作，是</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算法中最具技巧性的部分。该步骤的设计中包含了多个方面，包括维数、线性、扩散性和在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位处理器上的运算性能，它只在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0</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N</a:t>
            </a:r>
            <a:r>
              <a:rPr lang="en-US" altLang="zh-CN" sz="3200" baseline="-25000" dirty="0">
                <a:solidFill>
                  <a:srgbClr val="000000"/>
                </a:solidFill>
                <a:latin typeface="Times New Roman" panose="02020603050405020304" pitchFamily="18" charset="0"/>
                <a:ea typeface="宋体" panose="02010600030101010101" pitchFamily="2" charset="-122"/>
                <a:cs typeface="字由点字典黑 2"/>
              </a:rPr>
              <a:t>r</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轮中使用，在第</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N</a:t>
            </a:r>
            <a:r>
              <a:rPr lang="en-US" altLang="zh-CN" sz="3200" baseline="-25000" dirty="0">
                <a:solidFill>
                  <a:srgbClr val="000000"/>
                </a:solidFill>
                <a:latin typeface="Times New Roman" panose="02020603050405020304" pitchFamily="18" charset="0"/>
                <a:ea typeface="宋体" panose="02010600030101010101" pitchFamily="2" charset="-122"/>
                <a:cs typeface="字由点字典黑 2"/>
              </a:rPr>
              <a:t>r</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轮中不使用该变换，</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mn-ea"/>
              </a:rPr>
              <a:t>N</a:t>
            </a:r>
            <a:r>
              <a:rPr lang="en-US" altLang="zh-CN" sz="3200" baseline="-25000" dirty="0">
                <a:solidFill>
                  <a:srgbClr val="000000"/>
                </a:solidFill>
                <a:latin typeface="Times New Roman" panose="02020603050405020304" pitchFamily="18" charset="0"/>
                <a:ea typeface="宋体" panose="02010600030101010101" pitchFamily="2" charset="-122"/>
                <a:cs typeface="字由点字典黑 2"/>
                <a:sym typeface="+mn-ea"/>
              </a:rPr>
              <a:t>r</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是轮数。列混合变换是通过矩阵相乘实现的，经行移位后的状态矩阵与固定的矩阵相乘，得到混淆后的状态矩阵。</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令</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则</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zh-CN" altLang="en-US" sz="3200" dirty="0">
                <a:solidFill>
                  <a:srgbClr val="000000"/>
                </a:solidFill>
                <a:latin typeface="Times New Roman" panose="02020603050405020304" pitchFamily="18" charset="0"/>
                <a:ea typeface="宋体" panose="02010600030101010101" pitchFamily="2" charset="-122"/>
                <a:cs typeface="字由点字典黑 2"/>
              </a:rPr>
              <a:t>其中，</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表示模</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乘法。可以将，</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表示为矩阵乘法，</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             </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即</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graphicFrame>
        <p:nvGraphicFramePr>
          <p:cNvPr id="5" name="对象 -2147482115"/>
          <p:cNvGraphicFramePr>
            <a:graphicFrameLocks noChangeAspect="1"/>
          </p:cNvGraphicFramePr>
          <p:nvPr/>
        </p:nvGraphicFramePr>
        <p:xfrm>
          <a:off x="5791200" y="5067300"/>
          <a:ext cx="5304790" cy="1062990"/>
        </p:xfrm>
        <a:graphic>
          <a:graphicData uri="http://schemas.openxmlformats.org/presentationml/2006/ole">
            <mc:AlternateContent xmlns:mc="http://schemas.openxmlformats.org/markup-compatibility/2006">
              <mc:Choice xmlns:v="urn:schemas-microsoft-com:vml" Requires="v">
                <p:oleObj spid="_x0000_s0" name="" r:id="rId1" imgW="2311400" imgH="444500" progId="Equation.DSMT4">
                  <p:embed/>
                </p:oleObj>
              </mc:Choice>
              <mc:Fallback>
                <p:oleObj name="" r:id="rId1" imgW="2311400" imgH="444500" progId="Equation.DSMT4">
                  <p:embed/>
                  <p:pic>
                    <p:nvPicPr>
                      <p:cNvPr id="0" name="图片 3075"/>
                      <p:cNvPicPr/>
                      <p:nvPr/>
                    </p:nvPicPr>
                    <p:blipFill>
                      <a:blip r:embed="rId2"/>
                      <a:stretch>
                        <a:fillRect/>
                      </a:stretch>
                    </p:blipFill>
                    <p:spPr>
                      <a:xfrm>
                        <a:off x="5791200" y="5067300"/>
                        <a:ext cx="5304790" cy="1062990"/>
                      </a:xfrm>
                      <a:prstGeom prst="rect">
                        <a:avLst/>
                      </a:prstGeom>
                      <a:noFill/>
                      <a:ln w="38100">
                        <a:noFill/>
                        <a:miter/>
                      </a:ln>
                    </p:spPr>
                  </p:pic>
                </p:oleObj>
              </mc:Fallback>
            </mc:AlternateContent>
          </a:graphicData>
        </a:graphic>
      </p:graphicFrame>
      <p:graphicFrame>
        <p:nvGraphicFramePr>
          <p:cNvPr id="7" name="对象 -2147482114"/>
          <p:cNvGraphicFramePr>
            <a:graphicFrameLocks noChangeAspect="1"/>
          </p:cNvGraphicFramePr>
          <p:nvPr/>
        </p:nvGraphicFramePr>
        <p:xfrm>
          <a:off x="5837555" y="6515100"/>
          <a:ext cx="4575810" cy="488315"/>
        </p:xfrm>
        <a:graphic>
          <a:graphicData uri="http://schemas.openxmlformats.org/presentationml/2006/ole">
            <mc:AlternateContent xmlns:mc="http://schemas.openxmlformats.org/markup-compatibility/2006">
              <mc:Choice xmlns:v="urn:schemas-microsoft-com:vml" Requires="v">
                <p:oleObj spid="_x0000_s0" name="" r:id="rId3" imgW="1764665" imgH="215900" progId="Equation.DSMT4">
                  <p:embed/>
                </p:oleObj>
              </mc:Choice>
              <mc:Fallback>
                <p:oleObj name="" r:id="rId3" imgW="1764665" imgH="215900" progId="Equation.DSMT4">
                  <p:embed/>
                  <p:pic>
                    <p:nvPicPr>
                      <p:cNvPr id="0" name="图片 4"/>
                      <p:cNvPicPr/>
                      <p:nvPr/>
                    </p:nvPicPr>
                    <p:blipFill>
                      <a:blip r:embed="rId4"/>
                      <a:stretch>
                        <a:fillRect/>
                      </a:stretch>
                    </p:blipFill>
                    <p:spPr>
                      <a:xfrm>
                        <a:off x="5837555" y="6515100"/>
                        <a:ext cx="4575810" cy="488315"/>
                      </a:xfrm>
                      <a:prstGeom prst="rect">
                        <a:avLst/>
                      </a:prstGeom>
                      <a:noFill/>
                      <a:ln w="38100">
                        <a:noFill/>
                        <a:miter/>
                      </a:ln>
                    </p:spPr>
                  </p:pic>
                </p:oleObj>
              </mc:Fallback>
            </mc:AlternateContent>
          </a:graphicData>
        </a:graphic>
      </p:graphicFrame>
      <p:graphicFrame>
        <p:nvGraphicFramePr>
          <p:cNvPr id="9" name="对象 -2147482113"/>
          <p:cNvGraphicFramePr>
            <a:graphicFrameLocks noChangeAspect="1"/>
          </p:cNvGraphicFramePr>
          <p:nvPr/>
        </p:nvGraphicFramePr>
        <p:xfrm>
          <a:off x="2590800" y="7220585"/>
          <a:ext cx="4566285" cy="421640"/>
        </p:xfrm>
        <a:graphic>
          <a:graphicData uri="http://schemas.openxmlformats.org/presentationml/2006/ole">
            <mc:AlternateContent xmlns:mc="http://schemas.openxmlformats.org/markup-compatibility/2006">
              <mc:Choice xmlns:v="urn:schemas-microsoft-com:vml" Requires="v">
                <p:oleObj spid="_x0000_s0" name="" r:id="rId5" imgW="2005965" imgH="215900" progId="Equation.DSMT4">
                  <p:embed/>
                </p:oleObj>
              </mc:Choice>
              <mc:Fallback>
                <p:oleObj name="" r:id="rId5" imgW="2005965" imgH="215900" progId="Equation.DSMT4">
                  <p:embed/>
                  <p:pic>
                    <p:nvPicPr>
                      <p:cNvPr id="0" name="图片 6"/>
                      <p:cNvPicPr/>
                      <p:nvPr/>
                    </p:nvPicPr>
                    <p:blipFill>
                      <a:blip r:embed="rId6"/>
                      <a:stretch>
                        <a:fillRect/>
                      </a:stretch>
                    </p:blipFill>
                    <p:spPr>
                      <a:xfrm>
                        <a:off x="2590800" y="7220585"/>
                        <a:ext cx="4566285" cy="421640"/>
                      </a:xfrm>
                      <a:prstGeom prst="rect">
                        <a:avLst/>
                      </a:prstGeom>
                      <a:noFill/>
                      <a:ln w="38100">
                        <a:noFill/>
                        <a:miter/>
                      </a:ln>
                    </p:spPr>
                  </p:pic>
                </p:oleObj>
              </mc:Fallback>
            </mc:AlternateContent>
          </a:graphicData>
        </a:graphic>
      </p:graphicFrame>
      <p:graphicFrame>
        <p:nvGraphicFramePr>
          <p:cNvPr id="11" name="对象 -2147482112"/>
          <p:cNvGraphicFramePr>
            <a:graphicFrameLocks noChangeAspect="1"/>
          </p:cNvGraphicFramePr>
          <p:nvPr/>
        </p:nvGraphicFramePr>
        <p:xfrm>
          <a:off x="7391400" y="7200900"/>
          <a:ext cx="410845" cy="410845"/>
        </p:xfrm>
        <a:graphic>
          <a:graphicData uri="http://schemas.openxmlformats.org/presentationml/2006/ole">
            <mc:AlternateContent xmlns:mc="http://schemas.openxmlformats.org/markup-compatibility/2006">
              <mc:Choice xmlns:v="urn:schemas-microsoft-com:vml" Requires="v">
                <p:oleObj spid="_x0000_s0" name="" r:id="rId7" imgW="139700" imgH="152400" progId="Equation.DSMT4">
                  <p:embed/>
                </p:oleObj>
              </mc:Choice>
              <mc:Fallback>
                <p:oleObj name="" r:id="rId7" imgW="139700" imgH="152400" progId="Equation.DSMT4">
                  <p:embed/>
                  <p:pic>
                    <p:nvPicPr>
                      <p:cNvPr id="0" name="图片 7"/>
                      <p:cNvPicPr/>
                      <p:nvPr/>
                    </p:nvPicPr>
                    <p:blipFill>
                      <a:blip r:embed="rId8"/>
                      <a:stretch>
                        <a:fillRect/>
                      </a:stretch>
                    </p:blipFill>
                    <p:spPr>
                      <a:xfrm>
                        <a:off x="7391400" y="7200900"/>
                        <a:ext cx="410845" cy="410845"/>
                      </a:xfrm>
                      <a:prstGeom prst="rect">
                        <a:avLst/>
                      </a:prstGeom>
                      <a:noFill/>
                      <a:ln w="38100">
                        <a:noFill/>
                        <a:miter/>
                      </a:ln>
                    </p:spPr>
                  </p:pic>
                </p:oleObj>
              </mc:Fallback>
            </mc:AlternateContent>
          </a:graphicData>
        </a:graphic>
      </p:graphicFrame>
      <p:graphicFrame>
        <p:nvGraphicFramePr>
          <p:cNvPr id="13" name="对象 -2147482111"/>
          <p:cNvGraphicFramePr>
            <a:graphicFrameLocks noChangeAspect="1"/>
          </p:cNvGraphicFramePr>
          <p:nvPr/>
        </p:nvGraphicFramePr>
        <p:xfrm>
          <a:off x="8991600" y="7251065"/>
          <a:ext cx="772160" cy="391160"/>
        </p:xfrm>
        <a:graphic>
          <a:graphicData uri="http://schemas.openxmlformats.org/presentationml/2006/ole">
            <mc:AlternateContent xmlns:mc="http://schemas.openxmlformats.org/markup-compatibility/2006">
              <mc:Choice xmlns:v="urn:schemas-microsoft-com:vml" Requires="v">
                <p:oleObj spid="_x0000_s0" name="" r:id="rId9" imgW="330200" imgH="177800" progId="Equation.DSMT4">
                  <p:embed/>
                </p:oleObj>
              </mc:Choice>
              <mc:Fallback>
                <p:oleObj name="" r:id="rId9" imgW="330200" imgH="177800" progId="Equation.DSMT4">
                  <p:embed/>
                  <p:pic>
                    <p:nvPicPr>
                      <p:cNvPr id="0" name="图片 8"/>
                      <p:cNvPicPr/>
                      <p:nvPr/>
                    </p:nvPicPr>
                    <p:blipFill>
                      <a:blip r:embed="rId10"/>
                      <a:stretch>
                        <a:fillRect/>
                      </a:stretch>
                    </p:blipFill>
                    <p:spPr>
                      <a:xfrm>
                        <a:off x="8991600" y="7251065"/>
                        <a:ext cx="772160" cy="391160"/>
                      </a:xfrm>
                      <a:prstGeom prst="rect">
                        <a:avLst/>
                      </a:prstGeom>
                      <a:noFill/>
                      <a:ln w="38100">
                        <a:noFill/>
                        <a:miter/>
                      </a:ln>
                    </p:spPr>
                  </p:pic>
                </p:oleObj>
              </mc:Fallback>
            </mc:AlternateContent>
          </a:graphicData>
        </a:graphic>
      </p:graphicFrame>
      <p:graphicFrame>
        <p:nvGraphicFramePr>
          <p:cNvPr id="15" name="对象 -2147482110"/>
          <p:cNvGraphicFramePr>
            <a:graphicFrameLocks noChangeAspect="1"/>
          </p:cNvGraphicFramePr>
          <p:nvPr/>
        </p:nvGraphicFramePr>
        <p:xfrm>
          <a:off x="12649200" y="7200900"/>
          <a:ext cx="2606675" cy="441325"/>
        </p:xfrm>
        <a:graphic>
          <a:graphicData uri="http://schemas.openxmlformats.org/presentationml/2006/ole">
            <mc:AlternateContent xmlns:mc="http://schemas.openxmlformats.org/markup-compatibility/2006">
              <mc:Choice xmlns:v="urn:schemas-microsoft-com:vml" Requires="v">
                <p:oleObj spid="_x0000_s0" name="" r:id="rId11" imgW="1116965" imgH="215900" progId="Equation.DSMT4">
                  <p:embed/>
                </p:oleObj>
              </mc:Choice>
              <mc:Fallback>
                <p:oleObj name="" r:id="rId11" imgW="1116965" imgH="215900" progId="Equation.DSMT4">
                  <p:embed/>
                  <p:pic>
                    <p:nvPicPr>
                      <p:cNvPr id="0" name="图片 9"/>
                      <p:cNvPicPr/>
                      <p:nvPr/>
                    </p:nvPicPr>
                    <p:blipFill>
                      <a:blip r:embed="rId12"/>
                      <a:stretch>
                        <a:fillRect/>
                      </a:stretch>
                    </p:blipFill>
                    <p:spPr>
                      <a:xfrm>
                        <a:off x="12649200" y="7200900"/>
                        <a:ext cx="2606675" cy="441325"/>
                      </a:xfrm>
                      <a:prstGeom prst="rect">
                        <a:avLst/>
                      </a:prstGeom>
                      <a:noFill/>
                      <a:ln w="38100">
                        <a:noFill/>
                        <a:miter/>
                      </a:ln>
                    </p:spPr>
                  </p:pic>
                </p:oleObj>
              </mc:Fallback>
            </mc:AlternateContent>
          </a:graphicData>
        </a:graphic>
      </p:graphicFrame>
      <p:graphicFrame>
        <p:nvGraphicFramePr>
          <p:cNvPr id="17" name="对象 -2147482109"/>
          <p:cNvGraphicFramePr>
            <a:graphicFrameLocks noChangeAspect="1"/>
          </p:cNvGraphicFramePr>
          <p:nvPr/>
        </p:nvGraphicFramePr>
        <p:xfrm>
          <a:off x="2286000" y="7734300"/>
          <a:ext cx="1356360" cy="459105"/>
        </p:xfrm>
        <a:graphic>
          <a:graphicData uri="http://schemas.openxmlformats.org/presentationml/2006/ole">
            <mc:AlternateContent xmlns:mc="http://schemas.openxmlformats.org/markup-compatibility/2006">
              <mc:Choice xmlns:v="urn:schemas-microsoft-com:vml" Requires="v">
                <p:oleObj spid="_x0000_s0" name="" r:id="rId13" imgW="545465" imgH="177800" progId="Equation.DSMT4">
                  <p:embed/>
                </p:oleObj>
              </mc:Choice>
              <mc:Fallback>
                <p:oleObj name="" r:id="rId13" imgW="545465" imgH="177800" progId="Equation.DSMT4">
                  <p:embed/>
                  <p:pic>
                    <p:nvPicPr>
                      <p:cNvPr id="0" name="图片 10"/>
                      <p:cNvPicPr/>
                      <p:nvPr/>
                    </p:nvPicPr>
                    <p:blipFill>
                      <a:blip r:embed="rId14"/>
                      <a:stretch>
                        <a:fillRect/>
                      </a:stretch>
                    </p:blipFill>
                    <p:spPr>
                      <a:xfrm>
                        <a:off x="2286000" y="7734300"/>
                        <a:ext cx="1356360" cy="459105"/>
                      </a:xfrm>
                      <a:prstGeom prst="rect">
                        <a:avLst/>
                      </a:prstGeom>
                      <a:noFill/>
                      <a:ln w="38100">
                        <a:noFill/>
                        <a:miter/>
                      </a:ln>
                    </p:spPr>
                  </p:pic>
                </p:oleObj>
              </mc:Fallback>
            </mc:AlternateContent>
          </a:graphicData>
        </a:graphic>
      </p:graphicFrame>
      <p:graphicFrame>
        <p:nvGraphicFramePr>
          <p:cNvPr id="19" name="对象 -2147481943"/>
          <p:cNvGraphicFramePr>
            <a:graphicFrameLocks noChangeAspect="1"/>
          </p:cNvGraphicFramePr>
          <p:nvPr/>
        </p:nvGraphicFramePr>
        <p:xfrm>
          <a:off x="5105400" y="7960995"/>
          <a:ext cx="7192645" cy="1578610"/>
        </p:xfrm>
        <a:graphic>
          <a:graphicData uri="http://schemas.openxmlformats.org/presentationml/2006/ole">
            <mc:AlternateContent xmlns:mc="http://schemas.openxmlformats.org/markup-compatibility/2006">
              <mc:Choice xmlns:v="urn:schemas-microsoft-com:vml" Requires="v">
                <p:oleObj spid="_x0000_s0" name="" r:id="rId15" imgW="3721100" imgH="800100" progId="Equation.DSMT4">
                  <p:embed/>
                </p:oleObj>
              </mc:Choice>
              <mc:Fallback>
                <p:oleObj name="" r:id="rId15" imgW="3721100" imgH="800100" progId="Equation.DSMT4">
                  <p:embed/>
                  <p:pic>
                    <p:nvPicPr>
                      <p:cNvPr id="0" name="图片 11"/>
                      <p:cNvPicPr/>
                      <p:nvPr/>
                    </p:nvPicPr>
                    <p:blipFill>
                      <a:blip r:embed="rId16"/>
                      <a:stretch>
                        <a:fillRect/>
                      </a:stretch>
                    </p:blipFill>
                    <p:spPr>
                      <a:xfrm>
                        <a:off x="5105400" y="7960995"/>
                        <a:ext cx="7192645" cy="1578610"/>
                      </a:xfrm>
                      <a:prstGeom prst="rect">
                        <a:avLst/>
                      </a:prstGeom>
                      <a:noFill/>
                      <a:ln w="38100">
                        <a:noFill/>
                        <a:miter/>
                      </a:ln>
                    </p:spPr>
                  </p:pic>
                </p:oleObj>
              </mc:Fallback>
            </mc:AlternateContent>
          </a:graphicData>
        </a:graphic>
      </p:graphicFrame>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8"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0" name="图片 2"/>
          <p:cNvPicPr>
            <a:picLocks noChangeAspect="1"/>
          </p:cNvPicPr>
          <p:nvPr/>
        </p:nvPicPr>
        <p:blipFill>
          <a:blip r:embed="rId1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3" name="组合 22"/>
          <p:cNvGrpSpPr/>
          <p:nvPr/>
        </p:nvGrpSpPr>
        <p:grpSpPr>
          <a:xfrm>
            <a:off x="13639786" y="733421"/>
            <a:ext cx="3700052" cy="416951"/>
            <a:chOff x="13811849" y="507954"/>
            <a:chExt cx="3700052" cy="416951"/>
          </a:xfrm>
        </p:grpSpPr>
        <p:sp>
          <p:nvSpPr>
            <p:cNvPr id="24" name="文本框 2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5" name="图片 24"/>
            <p:cNvPicPr>
              <a:picLocks noChangeAspect="1"/>
            </p:cNvPicPr>
            <p:nvPr/>
          </p:nvPicPr>
          <p:blipFill>
            <a:blip r:embed="rId18"/>
            <a:stretch>
              <a:fillRect/>
            </a:stretch>
          </p:blipFill>
          <p:spPr>
            <a:xfrm>
              <a:off x="13944600" y="877286"/>
              <a:ext cx="2771429" cy="47619"/>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295400" y="2019300"/>
            <a:ext cx="6096000" cy="645160"/>
          </a:xfrm>
          <a:prstGeom prst="rect">
            <a:avLst/>
          </a:prstGeom>
          <a:noFill/>
        </p:spPr>
        <p:txBody>
          <a:bodyPr wrap="square" rtlCol="0">
            <a:spAutoFit/>
          </a:bodyPr>
          <a:lstStyle/>
          <a:p>
            <a:r>
              <a:rPr lang="zh-CN" altLang="en-US" sz="3600"/>
              <a:t>即</a:t>
            </a:r>
            <a:endParaRPr lang="zh-CN" altLang="en-US" sz="3600"/>
          </a:p>
        </p:txBody>
      </p:sp>
      <p:graphicFrame>
        <p:nvGraphicFramePr>
          <p:cNvPr id="5" name="对象 -2147482107"/>
          <p:cNvGraphicFramePr>
            <a:graphicFrameLocks noChangeAspect="1"/>
          </p:cNvGraphicFramePr>
          <p:nvPr/>
        </p:nvGraphicFramePr>
        <p:xfrm>
          <a:off x="6553200" y="2019300"/>
          <a:ext cx="4984750" cy="2042795"/>
        </p:xfrm>
        <a:graphic>
          <a:graphicData uri="http://schemas.openxmlformats.org/presentationml/2006/ole">
            <mc:AlternateContent xmlns:mc="http://schemas.openxmlformats.org/markup-compatibility/2006">
              <mc:Choice xmlns:v="urn:schemas-microsoft-com:vml" Requires="v">
                <p:oleObj spid="_x0000_s0" name="" r:id="rId1" imgW="1993900" imgH="825500" progId="Equation.DSMT4">
                  <p:embed/>
                </p:oleObj>
              </mc:Choice>
              <mc:Fallback>
                <p:oleObj name="" r:id="rId1" imgW="1993900" imgH="825500" progId="Equation.DSMT4">
                  <p:embed/>
                  <p:pic>
                    <p:nvPicPr>
                      <p:cNvPr id="0" name="图片 3075"/>
                      <p:cNvPicPr/>
                      <p:nvPr/>
                    </p:nvPicPr>
                    <p:blipFill>
                      <a:blip r:embed="rId2"/>
                      <a:stretch>
                        <a:fillRect/>
                      </a:stretch>
                    </p:blipFill>
                    <p:spPr>
                      <a:xfrm>
                        <a:off x="6553200" y="2019300"/>
                        <a:ext cx="4984750" cy="2042795"/>
                      </a:xfrm>
                      <a:prstGeom prst="rect">
                        <a:avLst/>
                      </a:prstGeom>
                      <a:noFill/>
                      <a:ln w="38100">
                        <a:noFill/>
                        <a:miter/>
                      </a:ln>
                    </p:spPr>
                  </p:pic>
                </p:oleObj>
              </mc:Fallback>
            </mc:AlternateContent>
          </a:graphicData>
        </a:graphic>
      </p:graphicFrame>
      <p:sp>
        <p:nvSpPr>
          <p:cNvPr id="32" name="文本框 31"/>
          <p:cNvSpPr txBox="1"/>
          <p:nvPr/>
        </p:nvSpPr>
        <p:spPr>
          <a:xfrm>
            <a:off x="1524000" y="4076700"/>
            <a:ext cx="15557500" cy="2435225"/>
          </a:xfrm>
          <a:prstGeom prst="rect">
            <a:avLst/>
          </a:prstGeom>
          <a:noFill/>
        </p:spPr>
        <p:txBody>
          <a:bodyPr wrap="square" rtlCol="0" anchor="t">
            <a:noAutofit/>
          </a:bodyPr>
          <a:lstStyle/>
          <a:p>
            <a:pPr indent="0" algn="just" fontAlgn="auto"/>
            <a:r>
              <a:rPr lang="zh-CN" altLang="en-US" sz="3600">
                <a:latin typeface="+mn-ea"/>
                <a:cs typeface="+mn-ea"/>
              </a:rPr>
              <a:t>列混合过程用到有限域</a:t>
            </a:r>
            <a:r>
              <a:rPr lang="en-US" altLang="zh-CN" sz="3600">
                <a:latin typeface="+mn-ea"/>
                <a:cs typeface="+mn-ea"/>
              </a:rPr>
              <a:t>GF(2</a:t>
            </a:r>
            <a:r>
              <a:rPr lang="en-US" altLang="zh-CN" sz="3600" baseline="30000">
                <a:latin typeface="+mn-ea"/>
                <a:cs typeface="+mn-ea"/>
              </a:rPr>
              <a:t>8</a:t>
            </a:r>
            <a:r>
              <a:rPr lang="en-US" altLang="zh-CN" sz="3600">
                <a:latin typeface="+mn-ea"/>
                <a:cs typeface="+mn-ea"/>
              </a:rPr>
              <a:t>)</a:t>
            </a:r>
            <a:r>
              <a:rPr lang="zh-CN" altLang="en-US" sz="3600">
                <a:latin typeface="+mn-ea"/>
                <a:cs typeface="+mn-ea"/>
              </a:rPr>
              <a:t>乘法，其中任何值乘</a:t>
            </a:r>
            <a:r>
              <a:rPr lang="en-US" altLang="zh-CN" sz="3600">
                <a:latin typeface="+mn-ea"/>
                <a:cs typeface="+mn-ea"/>
              </a:rPr>
              <a:t>0x01</a:t>
            </a:r>
            <a:r>
              <a:rPr lang="zh-CN" altLang="en-US" sz="3600">
                <a:latin typeface="+mn-ea"/>
                <a:cs typeface="+mn-ea"/>
              </a:rPr>
              <a:t>都等于其自身；用</a:t>
            </a:r>
            <a:r>
              <a:rPr lang="en-US" altLang="zh-CN" sz="3600">
                <a:latin typeface="+mn-ea"/>
                <a:cs typeface="+mn-ea"/>
              </a:rPr>
              <a:t>0x02</a:t>
            </a:r>
            <a:r>
              <a:rPr lang="zh-CN" altLang="en-US" sz="3600">
                <a:latin typeface="+mn-ea"/>
                <a:cs typeface="+mn-ea"/>
              </a:rPr>
              <a:t>做乘法时可以使用乘法运算</a:t>
            </a:r>
            <a:r>
              <a:rPr lang="en-US" altLang="zh-CN" sz="3600">
                <a:latin typeface="+mn-ea"/>
                <a:cs typeface="+mn-ea"/>
              </a:rPr>
              <a:t>xtime()</a:t>
            </a:r>
            <a:r>
              <a:rPr lang="zh-CN" altLang="en-US" sz="3600">
                <a:latin typeface="+mn-ea"/>
                <a:cs typeface="+mn-ea"/>
              </a:rPr>
              <a:t>来描述；用</a:t>
            </a:r>
            <a:r>
              <a:rPr lang="en-US" altLang="zh-CN" sz="3600">
                <a:latin typeface="+mn-ea"/>
                <a:cs typeface="+mn-ea"/>
              </a:rPr>
              <a:t>0x03</a:t>
            </a:r>
            <a:r>
              <a:rPr lang="zh-CN" altLang="en-US" sz="3600">
                <a:latin typeface="+mn-ea"/>
                <a:cs typeface="+mn-ea"/>
              </a:rPr>
              <a:t>做乘法时，可以采用</a:t>
            </a:r>
            <a:r>
              <a:rPr lang="en-US" altLang="zh-CN" sz="3600">
                <a:latin typeface="+mn-ea"/>
                <a:cs typeface="+mn-ea"/>
              </a:rPr>
              <a:t>b 0x03 = b (0x02⊕0x01) = (b 0x02)⊕(b 0x01)</a:t>
            </a:r>
            <a:r>
              <a:rPr lang="zh-CN" altLang="en-US" sz="3600">
                <a:latin typeface="+mn-ea"/>
                <a:cs typeface="+mn-ea"/>
              </a:rPr>
              <a:t>，这里表示</a:t>
            </a:r>
            <a:r>
              <a:rPr lang="en-US" altLang="zh-CN" sz="3600">
                <a:latin typeface="+mn-ea"/>
                <a:cs typeface="+mn-ea"/>
              </a:rPr>
              <a:t>GF(28)</a:t>
            </a:r>
            <a:r>
              <a:rPr lang="zh-CN" altLang="en-US" sz="3600">
                <a:latin typeface="+mn-ea"/>
                <a:cs typeface="+mn-ea"/>
              </a:rPr>
              <a:t>乘法，</a:t>
            </a:r>
            <a:r>
              <a:rPr lang="en-US" altLang="zh-CN" sz="3600">
                <a:latin typeface="+mn-ea"/>
                <a:cs typeface="+mn-ea"/>
              </a:rPr>
              <a:t>⊕</a:t>
            </a:r>
            <a:r>
              <a:rPr lang="zh-CN" altLang="en-US" sz="3600">
                <a:latin typeface="+mn-ea"/>
                <a:cs typeface="+mn-ea"/>
              </a:rPr>
              <a:t>表示异或操作。</a:t>
            </a:r>
            <a:endParaRPr lang="zh-CN" altLang="en-US" sz="3600">
              <a:latin typeface="+mn-ea"/>
              <a:cs typeface="+mn-ea"/>
            </a:endParaRPr>
          </a:p>
          <a:p>
            <a:pPr indent="0" algn="just" fontAlgn="auto"/>
            <a:r>
              <a:rPr lang="zh-CN" altLang="en-US" sz="3600">
                <a:latin typeface="+mn-ea"/>
                <a:cs typeface="+mn-ea"/>
              </a:rPr>
              <a:t>列混合运算示意图如图</a:t>
            </a:r>
            <a:endParaRPr lang="zh-CN" altLang="en-US" sz="3600">
              <a:latin typeface="+mn-ea"/>
              <a:cs typeface="+mn-ea"/>
            </a:endParaRPr>
          </a:p>
        </p:txBody>
      </p:sp>
      <p:graphicFrame>
        <p:nvGraphicFramePr>
          <p:cNvPr id="6" name="对象 -2147482106"/>
          <p:cNvGraphicFramePr>
            <a:graphicFrameLocks noChangeAspect="1"/>
          </p:cNvGraphicFramePr>
          <p:nvPr/>
        </p:nvGraphicFramePr>
        <p:xfrm>
          <a:off x="1752600" y="5219700"/>
          <a:ext cx="517525" cy="517525"/>
        </p:xfrm>
        <a:graphic>
          <a:graphicData uri="http://schemas.openxmlformats.org/presentationml/2006/ole">
            <mc:AlternateContent xmlns:mc="http://schemas.openxmlformats.org/markup-compatibility/2006">
              <mc:Choice xmlns:v="urn:schemas-microsoft-com:vml" Requires="v">
                <p:oleObj spid="_x0000_s0" name="" r:id="rId3" imgW="76200" imgH="101600" progId="Equation.DSMT4">
                  <p:embed/>
                </p:oleObj>
              </mc:Choice>
              <mc:Fallback>
                <p:oleObj name="" r:id="rId3" imgW="76200" imgH="101600" progId="Equation.DSMT4">
                  <p:embed/>
                  <p:pic>
                    <p:nvPicPr>
                      <p:cNvPr id="0" name="图片 32"/>
                      <p:cNvPicPr/>
                      <p:nvPr/>
                    </p:nvPicPr>
                    <p:blipFill>
                      <a:blip r:embed="rId4"/>
                      <a:stretch>
                        <a:fillRect/>
                      </a:stretch>
                    </p:blipFill>
                    <p:spPr>
                      <a:xfrm>
                        <a:off x="1752600" y="5219700"/>
                        <a:ext cx="517525" cy="517525"/>
                      </a:xfrm>
                      <a:prstGeom prst="rect">
                        <a:avLst/>
                      </a:prstGeom>
                      <a:noFill/>
                      <a:ln w="38100">
                        <a:noFill/>
                        <a:miter/>
                      </a:ln>
                    </p:spPr>
                  </p:pic>
                </p:oleObj>
              </mc:Fallback>
            </mc:AlternateContent>
          </a:graphicData>
        </a:graphic>
      </p:graphicFrame>
      <p:graphicFrame>
        <p:nvGraphicFramePr>
          <p:cNvPr id="34" name="对象 -2147482106"/>
          <p:cNvGraphicFramePr>
            <a:graphicFrameLocks noChangeAspect="1"/>
          </p:cNvGraphicFramePr>
          <p:nvPr/>
        </p:nvGraphicFramePr>
        <p:xfrm>
          <a:off x="3886200" y="5235575"/>
          <a:ext cx="517525" cy="517525"/>
        </p:xfrm>
        <a:graphic>
          <a:graphicData uri="http://schemas.openxmlformats.org/presentationml/2006/ole">
            <mc:AlternateContent xmlns:mc="http://schemas.openxmlformats.org/markup-compatibility/2006">
              <mc:Choice xmlns:v="urn:schemas-microsoft-com:vml" Requires="v">
                <p:oleObj spid="_x0000_s0" name="" r:id="rId5" imgW="76200" imgH="101600" progId="Equation.DSMT4">
                  <p:embed/>
                </p:oleObj>
              </mc:Choice>
              <mc:Fallback>
                <p:oleObj name="" r:id="rId5" imgW="76200" imgH="101600" progId="Equation.DSMT4">
                  <p:embed/>
                  <p:pic>
                    <p:nvPicPr>
                      <p:cNvPr id="0" name="图片 32"/>
                      <p:cNvPicPr/>
                      <p:nvPr/>
                    </p:nvPicPr>
                    <p:blipFill>
                      <a:blip r:embed="rId4"/>
                      <a:stretch>
                        <a:fillRect/>
                      </a:stretch>
                    </p:blipFill>
                    <p:spPr>
                      <a:xfrm>
                        <a:off x="3886200" y="5235575"/>
                        <a:ext cx="517525" cy="517525"/>
                      </a:xfrm>
                      <a:prstGeom prst="rect">
                        <a:avLst/>
                      </a:prstGeom>
                      <a:noFill/>
                      <a:ln w="38100">
                        <a:noFill/>
                        <a:miter/>
                      </a:ln>
                    </p:spPr>
                  </p:pic>
                </p:oleObj>
              </mc:Fallback>
            </mc:AlternateContent>
          </a:graphicData>
        </a:graphic>
      </p:graphicFrame>
      <p:graphicFrame>
        <p:nvGraphicFramePr>
          <p:cNvPr id="36" name="对象 -2147482106"/>
          <p:cNvGraphicFramePr>
            <a:graphicFrameLocks noChangeAspect="1"/>
          </p:cNvGraphicFramePr>
          <p:nvPr/>
        </p:nvGraphicFramePr>
        <p:xfrm>
          <a:off x="8077200" y="5295900"/>
          <a:ext cx="517525" cy="517525"/>
        </p:xfrm>
        <a:graphic>
          <a:graphicData uri="http://schemas.openxmlformats.org/presentationml/2006/ole">
            <mc:AlternateContent xmlns:mc="http://schemas.openxmlformats.org/markup-compatibility/2006">
              <mc:Choice xmlns:v="urn:schemas-microsoft-com:vml" Requires="v">
                <p:oleObj spid="_x0000_s0" name="" r:id="rId6" imgW="76200" imgH="101600" progId="Equation.DSMT4">
                  <p:embed/>
                </p:oleObj>
              </mc:Choice>
              <mc:Fallback>
                <p:oleObj name="" r:id="rId6" imgW="76200" imgH="101600" progId="Equation.DSMT4">
                  <p:embed/>
                  <p:pic>
                    <p:nvPicPr>
                      <p:cNvPr id="0" name="图片 32"/>
                      <p:cNvPicPr/>
                      <p:nvPr/>
                    </p:nvPicPr>
                    <p:blipFill>
                      <a:blip r:embed="rId4"/>
                      <a:stretch>
                        <a:fillRect/>
                      </a:stretch>
                    </p:blipFill>
                    <p:spPr>
                      <a:xfrm>
                        <a:off x="8077200" y="5295900"/>
                        <a:ext cx="517525" cy="517525"/>
                      </a:xfrm>
                      <a:prstGeom prst="rect">
                        <a:avLst/>
                      </a:prstGeom>
                      <a:noFill/>
                      <a:ln w="38100">
                        <a:noFill/>
                        <a:miter/>
                      </a:ln>
                    </p:spPr>
                  </p:pic>
                </p:oleObj>
              </mc:Fallback>
            </mc:AlternateContent>
          </a:graphicData>
        </a:graphic>
      </p:graphicFrame>
      <p:graphicFrame>
        <p:nvGraphicFramePr>
          <p:cNvPr id="38" name="对象 -2147482106"/>
          <p:cNvGraphicFramePr>
            <a:graphicFrameLocks noChangeAspect="1"/>
          </p:cNvGraphicFramePr>
          <p:nvPr/>
        </p:nvGraphicFramePr>
        <p:xfrm>
          <a:off x="10439400" y="5295900"/>
          <a:ext cx="517525" cy="517525"/>
        </p:xfrm>
        <a:graphic>
          <a:graphicData uri="http://schemas.openxmlformats.org/presentationml/2006/ole">
            <mc:AlternateContent xmlns:mc="http://schemas.openxmlformats.org/markup-compatibility/2006">
              <mc:Choice xmlns:v="urn:schemas-microsoft-com:vml" Requires="v">
                <p:oleObj spid="_x0000_s0" name="" r:id="rId7" imgW="76200" imgH="101600" progId="Equation.DSMT4">
                  <p:embed/>
                </p:oleObj>
              </mc:Choice>
              <mc:Fallback>
                <p:oleObj name="" r:id="rId7" imgW="76200" imgH="101600" progId="Equation.DSMT4">
                  <p:embed/>
                  <p:pic>
                    <p:nvPicPr>
                      <p:cNvPr id="0" name="图片 32"/>
                      <p:cNvPicPr/>
                      <p:nvPr/>
                    </p:nvPicPr>
                    <p:blipFill>
                      <a:blip r:embed="rId4"/>
                      <a:stretch>
                        <a:fillRect/>
                      </a:stretch>
                    </p:blipFill>
                    <p:spPr>
                      <a:xfrm>
                        <a:off x="10439400" y="5295900"/>
                        <a:ext cx="517525" cy="517525"/>
                      </a:xfrm>
                      <a:prstGeom prst="rect">
                        <a:avLst/>
                      </a:prstGeom>
                      <a:noFill/>
                      <a:ln w="38100">
                        <a:noFill/>
                        <a:miter/>
                      </a:ln>
                    </p:spPr>
                  </p:pic>
                </p:oleObj>
              </mc:Fallback>
            </mc:AlternateContent>
          </a:graphicData>
        </a:graphic>
      </p:graphicFrame>
      <p:pic>
        <p:nvPicPr>
          <p:cNvPr id="1235" name="图片 12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00800" y="6210300"/>
            <a:ext cx="5502275" cy="3611245"/>
          </a:xfrm>
          <a:prstGeom prst="rect">
            <a:avLst/>
          </a:prstGeom>
        </p:spPr>
      </p:pic>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9">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19200" y="2019300"/>
            <a:ext cx="15367000" cy="4523105"/>
          </a:xfrm>
          <a:prstGeom prst="rect">
            <a:avLst/>
          </a:prstGeom>
          <a:noFill/>
        </p:spPr>
        <p:txBody>
          <a:bodyPr wrap="square" rtlCol="0">
            <a:spAutoFit/>
          </a:bodyPr>
          <a:lstStyle/>
          <a:p>
            <a:r>
              <a:rPr lang="zh-CN" altLang="en-US" sz="3600" dirty="0"/>
              <a:t>例如，</a:t>
            </a:r>
            <a:endParaRPr lang="zh-CN" altLang="en-US" sz="3600" dirty="0"/>
          </a:p>
          <a:p>
            <a:endParaRPr lang="zh-CN" altLang="en-US" sz="3600" dirty="0"/>
          </a:p>
          <a:p>
            <a:endParaRPr lang="zh-CN" altLang="en-US" sz="3600" dirty="0"/>
          </a:p>
          <a:p>
            <a:endParaRPr lang="zh-CN" altLang="en-US" sz="3600" dirty="0"/>
          </a:p>
          <a:p>
            <a:r>
              <a:rPr lang="en-US" altLang="zh-CN" sz="3600" dirty="0"/>
              <a:t>       </a:t>
            </a:r>
            <a:r>
              <a:rPr lang="zh-CN" altLang="en-US" sz="3600" dirty="0">
                <a:latin typeface="Times New Roman" panose="02020603050405020304" pitchFamily="18" charset="0"/>
                <a:cs typeface="Times New Roman" panose="02020603050405020304" pitchFamily="18" charset="0"/>
              </a:rPr>
              <a:t>列混合运算的逆运算是类似的，即每列都用一个特定的多项式</a:t>
            </a:r>
            <a:r>
              <a:rPr lang="en-US" altLang="zh-CN" sz="3600" dirty="0">
                <a:latin typeface="Times New Roman" panose="02020603050405020304" pitchFamily="18" charset="0"/>
                <a:cs typeface="Times New Roman" panose="02020603050405020304" pitchFamily="18" charset="0"/>
              </a:rPr>
              <a:t>d(x)</a:t>
            </a:r>
            <a:r>
              <a:rPr lang="zh-CN" altLang="en-US" sz="3600" dirty="0">
                <a:latin typeface="Times New Roman" panose="02020603050405020304" pitchFamily="18" charset="0"/>
                <a:cs typeface="Times New Roman" panose="02020603050405020304" pitchFamily="18" charset="0"/>
              </a:rPr>
              <a:t>相乘。</a:t>
            </a:r>
            <a:endParaRPr lang="zh-CN" altLang="en-US" sz="3600" dirty="0">
              <a:latin typeface="Times New Roman" panose="02020603050405020304" pitchFamily="18" charset="0"/>
              <a:cs typeface="Times New Roman" panose="02020603050405020304" pitchFamily="18" charset="0"/>
            </a:endParaRPr>
          </a:p>
          <a:p>
            <a:r>
              <a:rPr lang="en-US" altLang="zh-CN" sz="3600" dirty="0">
                <a:latin typeface="Times New Roman" panose="02020603050405020304" pitchFamily="18" charset="0"/>
                <a:cs typeface="Times New Roman" panose="02020603050405020304" pitchFamily="18" charset="0"/>
              </a:rPr>
              <a:t>       d(x)</a:t>
            </a:r>
            <a:r>
              <a:rPr lang="zh-CN" altLang="en-US" sz="3600" dirty="0">
                <a:latin typeface="Times New Roman" panose="02020603050405020304" pitchFamily="18" charset="0"/>
                <a:cs typeface="Times New Roman" panose="02020603050405020304" pitchFamily="18" charset="0"/>
              </a:rPr>
              <a:t>满足</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，由此可得</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。可由图</a:t>
            </a:r>
            <a:r>
              <a:rPr lang="en-US" altLang="zh-CN" sz="3600" dirty="0">
                <a:latin typeface="Times New Roman" panose="02020603050405020304" pitchFamily="18" charset="0"/>
                <a:cs typeface="Times New Roman" panose="02020603050405020304" pitchFamily="18" charset="0"/>
              </a:rPr>
              <a:t>3.14</a:t>
            </a:r>
            <a:r>
              <a:rPr lang="zh-CN" altLang="en-US" sz="3600" dirty="0">
                <a:latin typeface="Times New Roman" panose="02020603050405020304" pitchFamily="18" charset="0"/>
                <a:cs typeface="Times New Roman" panose="02020603050405020304" pitchFamily="18" charset="0"/>
              </a:rPr>
              <a:t>所示的列混合逆运算来定义，并且可以验证逆变换矩阵同正变换矩阵的乘积恰好为单位矩阵。</a:t>
            </a:r>
            <a:endParaRPr lang="zh-CN" altLang="en-US" sz="3600" dirty="0">
              <a:latin typeface="Times New Roman" panose="02020603050405020304" pitchFamily="18" charset="0"/>
              <a:cs typeface="Times New Roman" panose="02020603050405020304" pitchFamily="18" charset="0"/>
            </a:endParaRPr>
          </a:p>
        </p:txBody>
      </p:sp>
      <p:pic>
        <p:nvPicPr>
          <p:cNvPr id="1236" name="图片 123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72200" y="2095500"/>
            <a:ext cx="4869180" cy="2063115"/>
          </a:xfrm>
          <a:prstGeom prst="rect">
            <a:avLst/>
          </a:prstGeom>
        </p:spPr>
      </p:pic>
      <p:graphicFrame>
        <p:nvGraphicFramePr>
          <p:cNvPr id="6" name="对象 -2147482101"/>
          <p:cNvGraphicFramePr>
            <a:graphicFrameLocks noChangeAspect="1"/>
          </p:cNvGraphicFramePr>
          <p:nvPr/>
        </p:nvGraphicFramePr>
        <p:xfrm>
          <a:off x="3733800" y="4838699"/>
          <a:ext cx="5181600" cy="477091"/>
        </p:xfrm>
        <a:graphic>
          <a:graphicData uri="http://schemas.openxmlformats.org/presentationml/2006/ole">
            <mc:AlternateContent xmlns:mc="http://schemas.openxmlformats.org/markup-compatibility/2006">
              <mc:Choice xmlns:v="urn:schemas-microsoft-com:vml" Requires="v">
                <p:oleObj spid="_x0000_s0" name="" r:id="rId2" imgW="2057400" imgH="203200" progId="Equation.DSMT4">
                  <p:embed/>
                </p:oleObj>
              </mc:Choice>
              <mc:Fallback>
                <p:oleObj name="" r:id="rId2" imgW="2057400" imgH="203200" progId="Equation.DSMT4">
                  <p:embed/>
                  <p:pic>
                    <p:nvPicPr>
                      <p:cNvPr id="0" name="图片 3075"/>
                      <p:cNvPicPr/>
                      <p:nvPr/>
                    </p:nvPicPr>
                    <p:blipFill>
                      <a:blip r:embed="rId3"/>
                      <a:stretch>
                        <a:fillRect/>
                      </a:stretch>
                    </p:blipFill>
                    <p:spPr>
                      <a:xfrm>
                        <a:off x="3733800" y="4838699"/>
                        <a:ext cx="5181600" cy="477091"/>
                      </a:xfrm>
                      <a:prstGeom prst="rect">
                        <a:avLst/>
                      </a:prstGeom>
                      <a:noFill/>
                      <a:ln w="38100">
                        <a:noFill/>
                        <a:miter/>
                      </a:ln>
                    </p:spPr>
                  </p:pic>
                </p:oleObj>
              </mc:Fallback>
            </mc:AlternateContent>
          </a:graphicData>
        </a:graphic>
      </p:graphicFrame>
      <p:graphicFrame>
        <p:nvGraphicFramePr>
          <p:cNvPr id="7" name="对象 -2147482100"/>
          <p:cNvGraphicFramePr>
            <a:graphicFrameLocks noChangeAspect="1"/>
          </p:cNvGraphicFramePr>
          <p:nvPr/>
        </p:nvGraphicFramePr>
        <p:xfrm>
          <a:off x="11385218" y="4890495"/>
          <a:ext cx="4864081" cy="469900"/>
        </p:xfrm>
        <a:graphic>
          <a:graphicData uri="http://schemas.openxmlformats.org/presentationml/2006/ole">
            <mc:AlternateContent xmlns:mc="http://schemas.openxmlformats.org/markup-compatibility/2006">
              <mc:Choice xmlns:v="urn:schemas-microsoft-com:vml" Requires="v">
                <p:oleObj spid="_x0000_s0" name="" r:id="rId4" imgW="1892300" imgH="203200" progId="Equation.DSMT4">
                  <p:embed/>
                </p:oleObj>
              </mc:Choice>
              <mc:Fallback>
                <p:oleObj name="" r:id="rId4" imgW="1892300" imgH="203200" progId="Equation.DSMT4">
                  <p:embed/>
                  <p:pic>
                    <p:nvPicPr>
                      <p:cNvPr id="0" name="图片 6"/>
                      <p:cNvPicPr/>
                      <p:nvPr/>
                    </p:nvPicPr>
                    <p:blipFill>
                      <a:blip r:embed="rId5"/>
                      <a:stretch>
                        <a:fillRect/>
                      </a:stretch>
                    </p:blipFill>
                    <p:spPr>
                      <a:xfrm>
                        <a:off x="11385218" y="4890495"/>
                        <a:ext cx="4864081" cy="469900"/>
                      </a:xfrm>
                      <a:prstGeom prst="rect">
                        <a:avLst/>
                      </a:prstGeom>
                      <a:noFill/>
                      <a:ln w="38100">
                        <a:noFill/>
                        <a:miter/>
                      </a:ln>
                    </p:spPr>
                  </p:pic>
                </p:oleObj>
              </mc:Fallback>
            </mc:AlternateContent>
          </a:graphicData>
        </a:graphic>
      </p:graphicFrame>
      <p:graphicFrame>
        <p:nvGraphicFramePr>
          <p:cNvPr id="9" name="对象 -2147481942"/>
          <p:cNvGraphicFramePr>
            <a:graphicFrameLocks noChangeAspect="1"/>
          </p:cNvGraphicFramePr>
          <p:nvPr/>
        </p:nvGraphicFramePr>
        <p:xfrm>
          <a:off x="4572000" y="6667500"/>
          <a:ext cx="8686800" cy="1778000"/>
        </p:xfrm>
        <a:graphic>
          <a:graphicData uri="http://schemas.openxmlformats.org/presentationml/2006/ole">
            <mc:AlternateContent xmlns:mc="http://schemas.openxmlformats.org/markup-compatibility/2006">
              <mc:Choice xmlns:v="urn:schemas-microsoft-com:vml" Requires="v">
                <p:oleObj spid="_x0000_s0" name="" r:id="rId6" imgW="4038600" imgH="800100" progId="Equation.DSMT4">
                  <p:embed/>
                </p:oleObj>
              </mc:Choice>
              <mc:Fallback>
                <p:oleObj name="" r:id="rId6" imgW="4038600" imgH="800100" progId="Equation.DSMT4">
                  <p:embed/>
                  <p:pic>
                    <p:nvPicPr>
                      <p:cNvPr id="0" name="图片 7"/>
                      <p:cNvPicPr/>
                      <p:nvPr/>
                    </p:nvPicPr>
                    <p:blipFill>
                      <a:blip r:embed="rId7"/>
                      <a:stretch>
                        <a:fillRect/>
                      </a:stretch>
                    </p:blipFill>
                    <p:spPr>
                      <a:xfrm>
                        <a:off x="4572000" y="6667500"/>
                        <a:ext cx="8686800" cy="1778000"/>
                      </a:xfrm>
                      <a:prstGeom prst="rect">
                        <a:avLst/>
                      </a:prstGeom>
                      <a:noFill/>
                      <a:ln w="38100">
                        <a:noFill/>
                        <a:miter/>
                      </a:ln>
                    </p:spPr>
                  </p:pic>
                </p:oleObj>
              </mc:Fallback>
            </mc:AlternateContent>
          </a:graphicData>
        </a:graphic>
      </p:graphicFrame>
      <p:sp>
        <p:nvSpPr>
          <p:cNvPr id="11" name="文本框 10"/>
          <p:cNvSpPr txBox="1"/>
          <p:nvPr/>
        </p:nvSpPr>
        <p:spPr>
          <a:xfrm>
            <a:off x="6477000" y="8649017"/>
            <a:ext cx="5080000" cy="291465"/>
          </a:xfrm>
          <a:prstGeom prst="rect">
            <a:avLst/>
          </a:prstGeom>
        </p:spPr>
        <p:txBody>
          <a:bodyPr>
            <a:spAutoFit/>
          </a:bodyPr>
          <a:lstStyle/>
          <a:p>
            <a:pPr marL="0" indent="0" algn="ctr" defTabSz="266700">
              <a:lnSpc>
                <a:spcPts val="1560"/>
              </a:lnSpc>
              <a:spcBef>
                <a:spcPts val="300"/>
              </a:spcBef>
              <a:spcAft>
                <a:spcPts val="600"/>
              </a:spcAft>
            </a:pPr>
            <a:r>
              <a:rPr lang="zh-CN" altLang="en-US" sz="1600">
                <a:solidFill>
                  <a:srgbClr val="000000"/>
                </a:solidFill>
                <a:latin typeface="Arial" panose="020B0604020202020204"/>
                <a:ea typeface="黑体" panose="02010609060101010101" charset="-122"/>
              </a:rPr>
              <a:t>图</a:t>
            </a:r>
            <a:r>
              <a:rPr lang="en-US" altLang="zh-CN" sz="1600">
                <a:solidFill>
                  <a:srgbClr val="000000"/>
                </a:solidFill>
                <a:latin typeface="Arial" panose="020B0604020202020204"/>
                <a:ea typeface="Arial" panose="020B0604020202020204"/>
              </a:rPr>
              <a:t>3.14</a:t>
            </a:r>
            <a:r>
              <a:rPr lang="zh-CN" altLang="en-US" sz="1600">
                <a:solidFill>
                  <a:srgbClr val="000000"/>
                </a:solidFill>
                <a:latin typeface="Arial" panose="020B0604020202020204"/>
                <a:ea typeface="黑体" panose="02010609060101010101" charset="-122"/>
              </a:rPr>
              <a:t>　列混合逆运算</a:t>
            </a:r>
            <a:endParaRPr lang="zh-CN" altLang="en-US" sz="1600">
              <a:solidFill>
                <a:srgbClr val="000000"/>
              </a:solidFill>
              <a:latin typeface="Arial" panose="020B0604020202020204"/>
              <a:ea typeface="黑体" panose="02010609060101010101" charset="-122"/>
            </a:endParaRPr>
          </a:p>
        </p:txBody>
      </p:sp>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4"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5"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9" name="组合 18"/>
          <p:cNvGrpSpPr/>
          <p:nvPr/>
        </p:nvGrpSpPr>
        <p:grpSpPr>
          <a:xfrm>
            <a:off x="13639786" y="733421"/>
            <a:ext cx="3700052" cy="416951"/>
            <a:chOff x="13811849" y="507954"/>
            <a:chExt cx="3700052" cy="416951"/>
          </a:xfrm>
        </p:grpSpPr>
        <p:sp>
          <p:nvSpPr>
            <p:cNvPr id="20" name="文本框 19"/>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1" name="图片 20"/>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219200" y="1943100"/>
            <a:ext cx="15398750" cy="6442710"/>
          </a:xfrm>
          <a:prstGeom prst="rect">
            <a:avLst/>
          </a:prstGeom>
          <a:noFill/>
        </p:spPr>
        <p:txBody>
          <a:bodyPr wrap="square" rtlCol="0">
            <a:noAutofit/>
          </a:bodyPr>
          <a:lstStyle/>
          <a:p>
            <a:r>
              <a:rPr lang="en-US" altLang="zh-CN" sz="3600" dirty="0">
                <a:latin typeface="Times New Roman" panose="02020603050405020304" pitchFamily="18" charset="0"/>
                <a:cs typeface="Times New Roman" panose="02020603050405020304" pitchFamily="18" charset="0"/>
              </a:rPr>
              <a:t>4</a:t>
            </a:r>
            <a:r>
              <a:rPr lang="zh-CN" altLang="en-US" sz="3600" dirty="0">
                <a:latin typeface="Times New Roman" panose="02020603050405020304" pitchFamily="18" charset="0"/>
                <a:cs typeface="Times New Roman" panose="02020603050405020304" pitchFamily="18" charset="0"/>
              </a:rPr>
              <a:t>．轮密钥加</a:t>
            </a:r>
            <a:endParaRPr lang="zh-CN" altLang="en-US" sz="3600" dirty="0">
              <a:latin typeface="Times New Roman" panose="02020603050405020304" pitchFamily="18" charset="0"/>
              <a:cs typeface="Times New Roman" panose="02020603050405020304" pitchFamily="18" charset="0"/>
            </a:endParaRPr>
          </a:p>
          <a:p>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现在介绍轮密钥加的过程。</a:t>
            </a:r>
            <a:r>
              <a:rPr lang="en-US" altLang="zh-CN" sz="3600" dirty="0">
                <a:latin typeface="Times New Roman" panose="02020603050405020304" pitchFamily="18" charset="0"/>
                <a:cs typeface="Times New Roman" panose="02020603050405020304" pitchFamily="18" charset="0"/>
              </a:rPr>
              <a:t>128bit</a:t>
            </a:r>
            <a:r>
              <a:rPr lang="zh-CN" altLang="en-US" sz="3600" dirty="0">
                <a:latin typeface="Times New Roman" panose="02020603050405020304" pitchFamily="18" charset="0"/>
                <a:cs typeface="Times New Roman" panose="02020603050405020304" pitchFamily="18" charset="0"/>
              </a:rPr>
              <a:t>的</a:t>
            </a:r>
            <a:r>
              <a:rPr lang="en-US" altLang="zh-CN" sz="3600" dirty="0">
                <a:latin typeface="Times New Roman" panose="02020603050405020304" pitchFamily="18" charset="0"/>
                <a:cs typeface="Times New Roman" panose="02020603050405020304" pitchFamily="18" charset="0"/>
              </a:rPr>
              <a:t>State</a:t>
            </a:r>
            <a:r>
              <a:rPr lang="zh-CN" altLang="en-US" sz="3600" dirty="0">
                <a:latin typeface="Times New Roman" panose="02020603050405020304" pitchFamily="18" charset="0"/>
                <a:cs typeface="Times New Roman" panose="02020603050405020304" pitchFamily="18" charset="0"/>
              </a:rPr>
              <a:t>按位与</a:t>
            </a:r>
            <a:r>
              <a:rPr lang="en-US" altLang="zh-CN" sz="3600" dirty="0">
                <a:latin typeface="Times New Roman" panose="02020603050405020304" pitchFamily="18" charset="0"/>
                <a:cs typeface="Times New Roman" panose="02020603050405020304" pitchFamily="18" charset="0"/>
              </a:rPr>
              <a:t>128bit</a:t>
            </a:r>
            <a:r>
              <a:rPr lang="zh-CN" altLang="en-US" sz="3600" dirty="0">
                <a:latin typeface="Times New Roman" panose="02020603050405020304" pitchFamily="18" charset="0"/>
                <a:cs typeface="Times New Roman" panose="02020603050405020304" pitchFamily="18" charset="0"/>
              </a:rPr>
              <a:t>的密钥逐位异或（</a:t>
            </a:r>
            <a:r>
              <a:rPr lang="en-US" altLang="zh-CN" sz="3600" dirty="0">
                <a:latin typeface="Times New Roman" panose="02020603050405020304" pitchFamily="18" charset="0"/>
                <a:cs typeface="Times New Roman" panose="02020603050405020304" pitchFamily="18" charset="0"/>
              </a:rPr>
              <a:t>XOR</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10</a:t>
            </a:r>
            <a:r>
              <a:rPr lang="zh-CN" altLang="en-US" sz="3600" dirty="0">
                <a:latin typeface="Times New Roman" panose="02020603050405020304" pitchFamily="18" charset="0"/>
                <a:cs typeface="Times New Roman" panose="02020603050405020304" pitchFamily="18" charset="0"/>
              </a:rPr>
              <a:t>轮轮密钥加变换虽然简单，却影响了状态</a:t>
            </a:r>
            <a:r>
              <a:rPr lang="en-US" altLang="zh-CN" sz="3600" dirty="0">
                <a:latin typeface="Times New Roman" panose="02020603050405020304" pitchFamily="18" charset="0"/>
                <a:cs typeface="Times New Roman" panose="02020603050405020304" pitchFamily="18" charset="0"/>
              </a:rPr>
              <a:t>State</a:t>
            </a:r>
            <a:r>
              <a:rPr lang="zh-CN" altLang="en-US" sz="3600" dirty="0">
                <a:latin typeface="Times New Roman" panose="02020603050405020304" pitchFamily="18" charset="0"/>
                <a:cs typeface="Times New Roman" panose="02020603050405020304" pitchFamily="18" charset="0"/>
              </a:rPr>
              <a:t>中的每一位。密钥扩展的复杂性和</a:t>
            </a:r>
            <a:r>
              <a:rPr lang="en-US" altLang="zh-CN" sz="3600" dirty="0">
                <a:latin typeface="Times New Roman" panose="02020603050405020304" pitchFamily="18" charset="0"/>
                <a:cs typeface="Times New Roman" panose="02020603050405020304" pitchFamily="18" charset="0"/>
              </a:rPr>
              <a:t>AES</a:t>
            </a:r>
            <a:r>
              <a:rPr lang="zh-CN" altLang="en-US" sz="3600" dirty="0">
                <a:latin typeface="Times New Roman" panose="02020603050405020304" pitchFamily="18" charset="0"/>
                <a:cs typeface="Times New Roman" panose="02020603050405020304" pitchFamily="18" charset="0"/>
              </a:rPr>
              <a:t>其他阶段运算的复杂性，确保了该算法的安全性。轮密钥加是将</a:t>
            </a:r>
            <a:r>
              <a:rPr lang="en-US" altLang="zh-CN" sz="3600" dirty="0">
                <a:latin typeface="Times New Roman" panose="02020603050405020304" pitchFamily="18" charset="0"/>
                <a:cs typeface="Times New Roman" panose="02020603050405020304" pitchFamily="18" charset="0"/>
              </a:rPr>
              <a:t>128bit</a:t>
            </a:r>
            <a:r>
              <a:rPr lang="zh-CN" altLang="en-US" sz="3600" dirty="0">
                <a:latin typeface="Times New Roman" panose="02020603050405020304" pitchFamily="18" charset="0"/>
                <a:cs typeface="Times New Roman" panose="02020603050405020304" pitchFamily="18" charset="0"/>
              </a:rPr>
              <a:t>密钥</a:t>
            </a:r>
            <a:r>
              <a:rPr lang="en-US" altLang="zh-CN" sz="3600" dirty="0">
                <a:latin typeface="Times New Roman" panose="02020603050405020304" pitchFamily="18" charset="0"/>
                <a:cs typeface="Times New Roman" panose="02020603050405020304" pitchFamily="18" charset="0"/>
              </a:rPr>
              <a:t>K</a:t>
            </a:r>
            <a:r>
              <a:rPr lang="en-US" altLang="zh-CN" sz="3600" baseline="-25000" dirty="0">
                <a:latin typeface="Times New Roman" panose="02020603050405020304" pitchFamily="18" charset="0"/>
                <a:cs typeface="Times New Roman" panose="02020603050405020304" pitchFamily="18" charset="0"/>
              </a:rPr>
              <a:t>i</a:t>
            </a:r>
            <a:r>
              <a:rPr lang="zh-CN" altLang="en-US" sz="3600" dirty="0">
                <a:latin typeface="Times New Roman" panose="02020603050405020304" pitchFamily="18" charset="0"/>
                <a:cs typeface="Times New Roman" panose="02020603050405020304" pitchFamily="18" charset="0"/>
              </a:rPr>
              <a:t>同</a:t>
            </a:r>
            <a:r>
              <a:rPr lang="en-US" altLang="zh-CN" sz="3600" dirty="0">
                <a:latin typeface="Times New Roman" panose="02020603050405020304" pitchFamily="18" charset="0"/>
                <a:cs typeface="Times New Roman" panose="02020603050405020304" pitchFamily="18" charset="0"/>
              </a:rPr>
              <a:t>State</a:t>
            </a:r>
            <a:r>
              <a:rPr lang="zh-CN" altLang="en-US" sz="3600" dirty="0">
                <a:latin typeface="Times New Roman" panose="02020603050405020304" pitchFamily="18" charset="0"/>
                <a:cs typeface="Times New Roman" panose="02020603050405020304" pitchFamily="18" charset="0"/>
              </a:rPr>
              <a:t>中的数据进行逐位异或操作，该过程可以看作字逐位异或的结果，也可以看作字节级别的操作。其中，密钥</a:t>
            </a:r>
            <a:r>
              <a:rPr lang="en-US" altLang="zh-CN" sz="3600" dirty="0">
                <a:latin typeface="Times New Roman" panose="02020603050405020304" pitchFamily="18" charset="0"/>
                <a:cs typeface="Times New Roman" panose="02020603050405020304" pitchFamily="18" charset="0"/>
              </a:rPr>
              <a:t>K</a:t>
            </a:r>
            <a:r>
              <a:rPr lang="en-US" altLang="zh-CN" sz="3600" baseline="-25000" dirty="0">
                <a:latin typeface="Times New Roman" panose="02020603050405020304" pitchFamily="18" charset="0"/>
                <a:cs typeface="Times New Roman" panose="02020603050405020304" pitchFamily="18" charset="0"/>
              </a:rPr>
              <a:t>i</a:t>
            </a:r>
            <a:r>
              <a:rPr lang="zh-CN" altLang="en-US" sz="3600" dirty="0">
                <a:latin typeface="Times New Roman" panose="02020603050405020304" pitchFamily="18" charset="0"/>
                <a:cs typeface="Times New Roman" panose="02020603050405020304" pitchFamily="18" charset="0"/>
              </a:rPr>
              <a:t>中每个字</a:t>
            </a:r>
            <a:r>
              <a:rPr lang="en-US" altLang="zh-CN" sz="3600" dirty="0">
                <a:latin typeface="Times New Roman" panose="02020603050405020304" pitchFamily="18" charset="0"/>
                <a:cs typeface="Times New Roman" panose="02020603050405020304" pitchFamily="18" charset="0"/>
              </a:rPr>
              <a:t>w[4i]</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w[4i+1]</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w[4i+2]</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w[4i+3]</a:t>
            </a:r>
            <a:r>
              <a:rPr lang="zh-CN" altLang="en-US" sz="3600" dirty="0">
                <a:latin typeface="Times New Roman" panose="02020603050405020304" pitchFamily="18" charset="0"/>
                <a:cs typeface="Times New Roman" panose="02020603050405020304" pitchFamily="18" charset="0"/>
              </a:rPr>
              <a:t>均为</a:t>
            </a:r>
            <a:r>
              <a:rPr lang="en-US" altLang="zh-CN" sz="3600" dirty="0">
                <a:latin typeface="Times New Roman" panose="02020603050405020304" pitchFamily="18" charset="0"/>
                <a:cs typeface="Times New Roman" panose="02020603050405020304" pitchFamily="18" charset="0"/>
              </a:rPr>
              <a:t>32bit</a:t>
            </a:r>
            <a:r>
              <a:rPr lang="zh-CN" altLang="en-US" sz="3600" dirty="0">
                <a:latin typeface="Times New Roman" panose="02020603050405020304" pitchFamily="18" charset="0"/>
                <a:cs typeface="Times New Roman" panose="02020603050405020304" pitchFamily="18" charset="0"/>
              </a:rPr>
              <a:t>，包含</a:t>
            </a:r>
            <a:r>
              <a:rPr lang="en-US" altLang="zh-CN" sz="3600" dirty="0">
                <a:latin typeface="Times New Roman" panose="02020603050405020304" pitchFamily="18" charset="0"/>
                <a:cs typeface="Times New Roman" panose="02020603050405020304" pitchFamily="18" charset="0"/>
              </a:rPr>
              <a:t>4</a:t>
            </a:r>
            <a:r>
              <a:rPr lang="zh-CN" altLang="en-US" sz="3600" dirty="0">
                <a:latin typeface="Times New Roman" panose="02020603050405020304" pitchFamily="18" charset="0"/>
                <a:cs typeface="Times New Roman" panose="02020603050405020304" pitchFamily="18" charset="0"/>
              </a:rPr>
              <a:t>个字节。密钥</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的生成过程为密钥扩展算法，轮密钥加运算示意图如图所示。</a:t>
            </a:r>
            <a:endParaRPr lang="zh-CN" altLang="en-US" sz="3600" dirty="0">
              <a:latin typeface="Times New Roman" panose="02020603050405020304" pitchFamily="18" charset="0"/>
              <a:cs typeface="Times New Roman" panose="02020603050405020304" pitchFamily="18" charset="0"/>
            </a:endParaRPr>
          </a:p>
          <a:p>
            <a:endParaRPr lang="zh-CN" altLang="en-US" sz="3600" dirty="0">
              <a:latin typeface="Times New Roman" panose="02020603050405020304" pitchFamily="18" charset="0"/>
              <a:cs typeface="Times New Roman" panose="02020603050405020304" pitchFamily="18" charset="0"/>
            </a:endParaRPr>
          </a:p>
          <a:p>
            <a:endParaRPr lang="zh-CN" altLang="en-US" sz="3600" dirty="0">
              <a:latin typeface="Times New Roman" panose="02020603050405020304" pitchFamily="18" charset="0"/>
              <a:cs typeface="Times New Roman" panose="02020603050405020304" pitchFamily="18" charset="0"/>
            </a:endParaRPr>
          </a:p>
          <a:p>
            <a:endParaRPr lang="zh-CN" altLang="en-US" sz="3600" dirty="0">
              <a:latin typeface="Times New Roman" panose="02020603050405020304" pitchFamily="18" charset="0"/>
              <a:cs typeface="Times New Roman" panose="02020603050405020304" pitchFamily="18" charset="0"/>
            </a:endParaRPr>
          </a:p>
          <a:p>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轮密钥加运算的逆运算同正向的轮密钥加运算完全一致，这是因为异或的逆操作是其本身。</a:t>
            </a:r>
            <a:endParaRPr lang="zh-CN" altLang="en-US" sz="3600" dirty="0">
              <a:latin typeface="Times New Roman" panose="02020603050405020304" pitchFamily="18" charset="0"/>
              <a:cs typeface="Times New Roman" panose="02020603050405020304" pitchFamily="18" charset="0"/>
            </a:endParaRPr>
          </a:p>
        </p:txBody>
      </p:sp>
      <p:graphicFrame>
        <p:nvGraphicFramePr>
          <p:cNvPr id="5" name="对象 -2147482096"/>
          <p:cNvGraphicFramePr>
            <a:graphicFrameLocks noChangeAspect="1"/>
          </p:cNvGraphicFramePr>
          <p:nvPr/>
        </p:nvGraphicFramePr>
        <p:xfrm>
          <a:off x="14121679" y="5372100"/>
          <a:ext cx="2378710" cy="438785"/>
        </p:xfrm>
        <a:graphic>
          <a:graphicData uri="http://schemas.openxmlformats.org/presentationml/2006/ole">
            <mc:AlternateContent xmlns:mc="http://schemas.openxmlformats.org/markup-compatibility/2006">
              <mc:Choice xmlns:v="urn:schemas-microsoft-com:vml" Requires="v">
                <p:oleObj spid="_x0000_s0" name="" r:id="rId1" imgW="1028700" imgH="190500" progId="Equation.DSMT4">
                  <p:embed/>
                </p:oleObj>
              </mc:Choice>
              <mc:Fallback>
                <p:oleObj name="" r:id="rId1" imgW="1028700" imgH="190500" progId="Equation.DSMT4">
                  <p:embed/>
                  <p:pic>
                    <p:nvPicPr>
                      <p:cNvPr id="0" name="图片 3075"/>
                      <p:cNvPicPr/>
                      <p:nvPr/>
                    </p:nvPicPr>
                    <p:blipFill>
                      <a:blip r:embed="rId2"/>
                      <a:stretch>
                        <a:fillRect/>
                      </a:stretch>
                    </p:blipFill>
                    <p:spPr>
                      <a:xfrm>
                        <a:off x="14121679" y="5372100"/>
                        <a:ext cx="2378710" cy="438785"/>
                      </a:xfrm>
                      <a:prstGeom prst="rect">
                        <a:avLst/>
                      </a:prstGeom>
                      <a:noFill/>
                      <a:ln w="38100">
                        <a:noFill/>
                        <a:miter/>
                      </a:ln>
                    </p:spPr>
                  </p:pic>
                </p:oleObj>
              </mc:Fallback>
            </mc:AlternateContent>
          </a:graphicData>
        </a:graphic>
      </p:graphicFrame>
      <p:pic>
        <p:nvPicPr>
          <p:cNvPr id="1237" name="图片 12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0" y="6502400"/>
            <a:ext cx="6627495" cy="1747520"/>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485900"/>
            <a:ext cx="16329025" cy="8877300"/>
          </a:xfrm>
          <a:prstGeom prst="rect">
            <a:avLst/>
          </a:prstGeom>
          <a:noFill/>
        </p:spPr>
        <p:txBody>
          <a:bodyPr wrap="square" rtlCol="0" anchor="t">
            <a:spAutoFit/>
          </a:bodyPr>
          <a:lstStyle/>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en-US" altLang="zh-CN" sz="2800" dirty="0">
                <a:solidFill>
                  <a:srgbClr val="000000"/>
                </a:solidFill>
                <a:latin typeface="Times New Roman" panose="02020603050405020304" pitchFamily="18" charset="0"/>
                <a:ea typeface="宋体" panose="02010600030101010101" pitchFamily="2" charset="-122"/>
                <a:cs typeface="字由点字典黑 2"/>
              </a:rPr>
              <a:t>5.</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密钥扩展</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en-US" altLang="zh-CN" sz="2800" dirty="0">
                <a:solidFill>
                  <a:srgbClr val="000000"/>
                </a:solidFill>
                <a:latin typeface="Times New Roman" panose="02020603050405020304" pitchFamily="18" charset="0"/>
                <a:ea typeface="宋体" panose="02010600030101010101" pitchFamily="2" charset="-122"/>
                <a:cs typeface="字由点字典黑 2"/>
              </a:rPr>
              <a:t>AES</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密钥扩展（</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Key Expansion</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）通过种子密钥生成多个轮密钥，用于提高算法的扩散能力。</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AES-128</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以</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个</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32 bit</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字作为输入，扩展生成</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44</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个</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32 bit</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字，为初始轮和后续</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10</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轮提供轮密钥。</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首先将</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128 bit</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密钥输入</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a:t>
            </a:r>
            <a:r>
              <a:rPr lang="en-US"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矩阵，每列组成</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个</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32 bit</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字，依次记为</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w[0]</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w[1]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w[2]</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w[3]</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。随后通过递推方式生成扩展密钥。</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对于下标</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i</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不是</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的倍数的元素：</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en-US" altLang="zh-CN" sz="2800" dirty="0">
                <a:solidFill>
                  <a:srgbClr val="000000"/>
                </a:solidFill>
                <a:latin typeface="Times New Roman" panose="02020603050405020304" pitchFamily="18" charset="0"/>
                <a:ea typeface="宋体" panose="02010600030101010101" pitchFamily="2" charset="-122"/>
                <a:cs typeface="字由点字典黑 2"/>
              </a:rPr>
              <a:t>w[i] = w[i−1] ⊕ w[i−4]</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对于下标</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i</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为</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的倍数的元素：</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en-US" altLang="zh-CN" sz="2800" dirty="0">
                <a:solidFill>
                  <a:srgbClr val="000000"/>
                </a:solidFill>
                <a:latin typeface="Times New Roman" panose="02020603050405020304" pitchFamily="18" charset="0"/>
                <a:ea typeface="宋体" panose="02010600030101010101" pitchFamily="2" charset="-122"/>
                <a:cs typeface="字由点字典黑 2"/>
              </a:rPr>
              <a:t>w[i] = w[i−4] ⊕ T(w[i−1])</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其中：</a:t>
            </a:r>
            <a:endParaRPr lang="zh-CN" altLang="en-US"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en-US" altLang="zh-CN" sz="2800" dirty="0">
                <a:solidFill>
                  <a:srgbClr val="000000"/>
                </a:solidFill>
                <a:latin typeface="Times New Roman" panose="02020603050405020304" pitchFamily="18" charset="0"/>
                <a:ea typeface="宋体" panose="02010600030101010101" pitchFamily="2" charset="-122"/>
                <a:cs typeface="字由点字典黑 2"/>
              </a:rPr>
              <a:t>T(w[i−1]) = ByteSub(RotByte(w[i−1])) ⊕ Rcon[i]</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en-US" altLang="zh-CN" sz="2800" dirty="0">
                <a:solidFill>
                  <a:srgbClr val="000000"/>
                </a:solidFill>
                <a:latin typeface="Times New Roman" panose="02020603050405020304" pitchFamily="18" charset="0"/>
                <a:ea typeface="宋体" panose="02010600030101010101" pitchFamily="2" charset="-122"/>
                <a:cs typeface="字由点字典黑 2"/>
              </a:rPr>
              <a:t>T</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函数由以下</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部分组成：</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）字循环</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RotByte()</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：将</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个字的</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4</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个字节循环左移</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个字节，即将</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B0</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B2</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B3</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变为</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B1</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B2</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B3</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B0</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2</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）字节代换</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ByteSub()</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：基于</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S</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盒对输入字中的每个字节进行替换。</a:t>
            </a:r>
            <a:endParaRPr lang="en-US" altLang="zh-CN" sz="2800" dirty="0">
              <a:solidFill>
                <a:srgbClr val="000000"/>
              </a:solidFill>
              <a:latin typeface="Times New Roman" panose="02020603050405020304" pitchFamily="18" charset="0"/>
              <a:ea typeface="宋体" panose="02010600030101010101" pitchFamily="2" charset="-122"/>
              <a:cs typeface="字由点字典黑 2"/>
            </a:endParaRPr>
          </a:p>
          <a:p>
            <a:pPr indent="711200" algn="just" latinLnBrk="1">
              <a:lnSpc>
                <a:spcPct val="120000"/>
              </a:lnSpc>
              <a:buClrTx/>
              <a:buSzTx/>
              <a:buFontTx/>
              <a:extLst>
                <a:ext uri="{35155182-B16C-46BC-9424-99874614C6A1}">
                  <wpsdc:indentchar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宋体" panose="02010600030101010101" pitchFamily="2" charset="-122"/>
                <a:cs typeface="字由点字典黑 2"/>
              </a:rPr>
              <a:t>（</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3</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）轮常量异或：将上述结果与轮常量</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Rcon[i]</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进行异或，其中</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i</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表示轮数。</a:t>
            </a:r>
            <a:r>
              <a:rPr lang="en-US" altLang="zh-CN" sz="2800" dirty="0">
                <a:solidFill>
                  <a:srgbClr val="000000"/>
                </a:solidFill>
                <a:latin typeface="Times New Roman" panose="02020603050405020304" pitchFamily="18" charset="0"/>
                <a:ea typeface="宋体" panose="02010600030101010101" pitchFamily="2" charset="-122"/>
                <a:cs typeface="字由点字典黑 2"/>
              </a:rPr>
              <a:t>Rcon[i]</a:t>
            </a:r>
            <a:r>
              <a:rPr lang="zh-CN" altLang="en-US" sz="2800" dirty="0">
                <a:solidFill>
                  <a:srgbClr val="000000"/>
                </a:solidFill>
                <a:latin typeface="Times New Roman" panose="02020603050405020304" pitchFamily="18" charset="0"/>
                <a:ea typeface="宋体" panose="02010600030101010101" pitchFamily="2" charset="-122"/>
                <a:cs typeface="字由点字典黑 2"/>
              </a:rPr>
              <a:t>用于破坏不同轮密钥之间的对称性和相似性。</a:t>
            </a:r>
            <a:endParaRPr lang="zh-CN" altLang="en-US" sz="2800" dirty="0">
              <a:solidFill>
                <a:srgbClr val="000000"/>
              </a:solidFill>
              <a:latin typeface="Times New Roman" panose="02020603050405020304" pitchFamily="18" charset="0"/>
              <a:ea typeface="宋体" panose="02010600030101010101" pitchFamily="2" charset="-122"/>
              <a:cs typeface="字由点字典黑 2"/>
            </a:endParaRPr>
          </a:p>
        </p:txBody>
      </p:sp>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nvGraphicFramePr>
        <p:xfrm>
          <a:off x="5715000" y="2095500"/>
          <a:ext cx="6617970" cy="2070100"/>
        </p:xfrm>
        <a:graphic>
          <a:graphicData uri="http://schemas.openxmlformats.org/drawingml/2006/table">
            <a:tbl>
              <a:tblPr/>
              <a:tblGrid>
                <a:gridCol w="1102995"/>
                <a:gridCol w="1102995"/>
                <a:gridCol w="1102995"/>
                <a:gridCol w="1102995"/>
                <a:gridCol w="1102995"/>
                <a:gridCol w="1102995"/>
              </a:tblGrid>
              <a:tr h="517525">
                <a:tc>
                  <a:txBody>
                    <a:bodyPr/>
                    <a:lstStyle/>
                    <a:p>
                      <a:pPr marL="0" indent="0" algn="ctr" defTabSz="914400">
                        <a:lnSpc>
                          <a:spcPts val="1200"/>
                        </a:lnSpc>
                        <a:spcBef>
                          <a:spcPct val="0"/>
                        </a:spcBef>
                        <a:spcAft>
                          <a:spcPct val="0"/>
                        </a:spcAft>
                        <a:tabLst>
                          <a:tab pos="1828800" algn="l"/>
                        </a:tabLst>
                      </a:pPr>
                      <a:r>
                        <a:rPr lang="en-US" altLang="zh-CN" sz="1600" i="1">
                          <a:solidFill>
                            <a:srgbClr val="000000"/>
                          </a:solidFill>
                          <a:latin typeface="Times New Roman" panose="02020603050405020304"/>
                          <a:ea typeface="宋体" panose="02010600030101010101" pitchFamily="2" charset="-122"/>
                        </a:rPr>
                        <a:t>i</a:t>
                      </a:r>
                      <a:endParaRPr lang="en-US" altLang="zh-CN" sz="1600" i="1">
                        <a:solidFill>
                          <a:srgbClr val="000000"/>
                        </a:solidFill>
                        <a:latin typeface="Times New Roman" panose="02020603050405020304"/>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1</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2</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3</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4</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5</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17525">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Rcon[</a:t>
                      </a:r>
                      <a:r>
                        <a:rPr lang="en-US" altLang="zh-CN" sz="1600" i="1">
                          <a:solidFill>
                            <a:srgbClr val="000000"/>
                          </a:solidFill>
                          <a:latin typeface="Times New Roman" panose="02020603050405020304"/>
                          <a:ea typeface="宋体" panose="02010600030101010101" pitchFamily="2" charset="-122"/>
                        </a:rPr>
                        <a:t>i</a:t>
                      </a:r>
                      <a:r>
                        <a:rPr lang="en-US" altLang="zh-CN" sz="1600">
                          <a:solidFill>
                            <a:srgbClr val="000000"/>
                          </a:solidFill>
                          <a:latin typeface="Times New Roman" panose="02020603050405020304"/>
                          <a:ea typeface="宋体" panose="02010600030101010101" pitchFamily="2" charset="-122"/>
                        </a:rPr>
                        <a:t>]</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01000000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02000000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04000000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08000000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10000000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17525">
                <a:tc>
                  <a:txBody>
                    <a:bodyPr/>
                    <a:lstStyle/>
                    <a:p>
                      <a:pPr marL="0" indent="0" algn="ctr" defTabSz="914400">
                        <a:lnSpc>
                          <a:spcPts val="1200"/>
                        </a:lnSpc>
                        <a:spcBef>
                          <a:spcPct val="0"/>
                        </a:spcBef>
                        <a:spcAft>
                          <a:spcPct val="0"/>
                        </a:spcAft>
                        <a:tabLst>
                          <a:tab pos="1828800" algn="l"/>
                        </a:tabLst>
                      </a:pPr>
                      <a:r>
                        <a:rPr lang="en-US" altLang="zh-CN" sz="1600" i="1">
                          <a:solidFill>
                            <a:srgbClr val="000000"/>
                          </a:solidFill>
                          <a:latin typeface="Times New Roman" panose="02020603050405020304"/>
                          <a:ea typeface="宋体" panose="02010600030101010101" pitchFamily="2" charset="-122"/>
                        </a:rPr>
                        <a:t>i</a:t>
                      </a:r>
                      <a:endParaRPr lang="en-US" altLang="zh-CN" sz="1600" i="1">
                        <a:solidFill>
                          <a:srgbClr val="000000"/>
                        </a:solidFill>
                        <a:latin typeface="Times New Roman" panose="02020603050405020304"/>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6</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7</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9</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10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17525">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Rcon[</a:t>
                      </a:r>
                      <a:r>
                        <a:rPr lang="en-US" altLang="zh-CN" sz="1600" i="1">
                          <a:solidFill>
                            <a:srgbClr val="000000"/>
                          </a:solidFill>
                          <a:latin typeface="Times New Roman" panose="02020603050405020304"/>
                          <a:ea typeface="宋体" panose="02010600030101010101" pitchFamily="2" charset="-122"/>
                        </a:rPr>
                        <a:t>i</a:t>
                      </a:r>
                      <a:r>
                        <a:rPr lang="en-US" altLang="zh-CN" sz="1600">
                          <a:solidFill>
                            <a:srgbClr val="000000"/>
                          </a:solidFill>
                          <a:latin typeface="Times New Roman" panose="02020603050405020304"/>
                          <a:ea typeface="宋体" panose="02010600030101010101" pitchFamily="2" charset="-122"/>
                        </a:rPr>
                        <a:t>]</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20000000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40000000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80000000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1b000000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0" algn="ctr" defTabSz="914400">
                        <a:lnSpc>
                          <a:spcPts val="1200"/>
                        </a:lnSpc>
                        <a:spcBef>
                          <a:spcPct val="0"/>
                        </a:spcBef>
                        <a:spcAft>
                          <a:spcPct val="0"/>
                        </a:spcAft>
                        <a:tabLst>
                          <a:tab pos="1828800" algn="l"/>
                        </a:tabLst>
                      </a:pPr>
                      <a:r>
                        <a:rPr lang="en-US" altLang="zh-CN" sz="1600">
                          <a:solidFill>
                            <a:srgbClr val="000000"/>
                          </a:solidFill>
                          <a:latin typeface="Times New Roman" panose="02020603050405020304"/>
                          <a:ea typeface="宋体" panose="02010600030101010101" pitchFamily="2" charset="-122"/>
                        </a:rPr>
                        <a:t>36000000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14" name="文本框 13"/>
          <p:cNvSpPr txBox="1"/>
          <p:nvPr/>
        </p:nvSpPr>
        <p:spPr>
          <a:xfrm>
            <a:off x="1075690" y="4215765"/>
            <a:ext cx="16232505" cy="5682615"/>
          </a:xfrm>
          <a:prstGeom prst="rect">
            <a:avLst/>
          </a:prstGeom>
          <a:noFill/>
        </p:spPr>
        <p:txBody>
          <a:bodyPr wrap="square" rtlCol="0" anchor="t">
            <a:noAutofit/>
          </a:bodyPr>
          <a:lstStyle/>
          <a:p>
            <a:r>
              <a:rPr lang="en-US" altLang="zh-CN" sz="3600" dirty="0">
                <a:latin typeface="Times New Roman" panose="02020603050405020304" pitchFamily="18" charset="0"/>
                <a:cs typeface="Times New Roman" panose="02020603050405020304" pitchFamily="18" charset="0"/>
              </a:rPr>
              <a:t>Rijndael</a:t>
            </a:r>
            <a:r>
              <a:rPr lang="zh-CN" altLang="en-US" sz="3600" dirty="0">
                <a:latin typeface="Times New Roman" panose="02020603050405020304" pitchFamily="18" charset="0"/>
                <a:cs typeface="Times New Roman" panose="02020603050405020304" pitchFamily="18" charset="0"/>
              </a:rPr>
              <a:t>算法的开发者希望密钥扩展算法可以抵抗已有的密码分析攻击，其设计标准如下。</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）知道密钥或轮密钥的部分位不能计算出轮密钥的其他位。</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2</a:t>
            </a:r>
            <a:r>
              <a:rPr lang="zh-CN" altLang="en-US" sz="3600" dirty="0">
                <a:latin typeface="Times New Roman" panose="02020603050405020304" pitchFamily="18" charset="0"/>
                <a:cs typeface="Times New Roman" panose="02020603050405020304" pitchFamily="18" charset="0"/>
              </a:rPr>
              <a:t>）它是一个可逆的变换，即知道扩展密钥中任何连续</a:t>
            </a:r>
            <a:r>
              <a:rPr lang="en-US" altLang="zh-CN" sz="3600" dirty="0" err="1">
                <a:latin typeface="Times New Roman" panose="02020603050405020304" pitchFamily="18" charset="0"/>
                <a:cs typeface="Times New Roman" panose="02020603050405020304" pitchFamily="18" charset="0"/>
              </a:rPr>
              <a:t>N</a:t>
            </a:r>
            <a:r>
              <a:rPr lang="en-US" altLang="zh-CN" sz="3600" baseline="-25000" dirty="0" err="1">
                <a:latin typeface="Times New Roman" panose="02020603050405020304" pitchFamily="18" charset="0"/>
                <a:cs typeface="Times New Roman" panose="02020603050405020304" pitchFamily="18" charset="0"/>
              </a:rPr>
              <a:t>k</a:t>
            </a:r>
            <a:r>
              <a:rPr lang="zh-CN" altLang="en-US" sz="3600" dirty="0">
                <a:latin typeface="Times New Roman" panose="02020603050405020304" pitchFamily="18" charset="0"/>
                <a:cs typeface="Times New Roman" panose="02020603050405020304" pitchFamily="18" charset="0"/>
              </a:rPr>
              <a:t>的个字能够重新产生整个扩展密钥（</a:t>
            </a:r>
            <a:r>
              <a:rPr lang="en-US" altLang="zh-CN" sz="3600" dirty="0" err="1">
                <a:latin typeface="Times New Roman" panose="02020603050405020304" pitchFamily="18" charset="0"/>
                <a:cs typeface="Times New Roman" panose="02020603050405020304" pitchFamily="18" charset="0"/>
              </a:rPr>
              <a:t>N</a:t>
            </a:r>
            <a:r>
              <a:rPr lang="en-US" altLang="zh-CN" sz="3600" baseline="-25000" dirty="0" err="1">
                <a:latin typeface="Times New Roman" panose="02020603050405020304" pitchFamily="18" charset="0"/>
                <a:cs typeface="Times New Roman" panose="02020603050405020304" pitchFamily="18" charset="0"/>
              </a:rPr>
              <a:t>k</a:t>
            </a:r>
            <a:r>
              <a:rPr lang="zh-CN" altLang="en-US" sz="3600" dirty="0">
                <a:latin typeface="Times New Roman" panose="02020603050405020304" pitchFamily="18" charset="0"/>
                <a:cs typeface="Times New Roman" panose="02020603050405020304" pitchFamily="18" charset="0"/>
              </a:rPr>
              <a:t>是构成密钥所需要的字数）。</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3</a:t>
            </a:r>
            <a:r>
              <a:rPr lang="zh-CN" altLang="en-US" sz="3600" dirty="0">
                <a:latin typeface="Times New Roman" panose="02020603050405020304" pitchFamily="18" charset="0"/>
                <a:cs typeface="Times New Roman" panose="02020603050405020304" pitchFamily="18" charset="0"/>
              </a:rPr>
              <a:t>）能够在各种处理器上有效执行。</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4</a:t>
            </a:r>
            <a:r>
              <a:rPr lang="zh-CN" altLang="en-US" sz="3600" dirty="0">
                <a:latin typeface="Times New Roman" panose="02020603050405020304" pitchFamily="18" charset="0"/>
                <a:cs typeface="Times New Roman" panose="02020603050405020304" pitchFamily="18" charset="0"/>
              </a:rPr>
              <a:t>）使用轮常量来排除对称性。</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5</a:t>
            </a:r>
            <a:r>
              <a:rPr lang="zh-CN" altLang="en-US" sz="3600" dirty="0">
                <a:latin typeface="Times New Roman" panose="02020603050405020304" pitchFamily="18" charset="0"/>
                <a:cs typeface="Times New Roman" panose="02020603050405020304" pitchFamily="18" charset="0"/>
              </a:rPr>
              <a:t>）密钥的每一位能影响到轮密钥的一些位。</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6</a:t>
            </a:r>
            <a:r>
              <a:rPr lang="zh-CN" altLang="en-US" sz="3600" dirty="0">
                <a:latin typeface="Times New Roman" panose="02020603050405020304" pitchFamily="18" charset="0"/>
                <a:cs typeface="Times New Roman" panose="02020603050405020304" pitchFamily="18" charset="0"/>
              </a:rPr>
              <a:t>）足够的非线性以防止轮密钥的差完全由密钥的差所决定。</a:t>
            </a:r>
            <a:endParaRPr lang="zh-CN" altLang="en-US" sz="3600" dirty="0">
              <a:latin typeface="Times New Roman" panose="02020603050405020304" pitchFamily="18" charset="0"/>
              <a:cs typeface="Times New Roman" panose="02020603050405020304" pitchFamily="18" charset="0"/>
            </a:endParaRPr>
          </a:p>
          <a:p>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7</a:t>
            </a:r>
            <a:r>
              <a:rPr lang="zh-CN" altLang="en-US" sz="3600" dirty="0">
                <a:latin typeface="Times New Roman" panose="02020603050405020304" pitchFamily="18" charset="0"/>
                <a:cs typeface="Times New Roman" panose="02020603050405020304" pitchFamily="18" charset="0"/>
              </a:rPr>
              <a:t>）易于描述。</a:t>
            </a:r>
            <a:endParaRPr lang="zh-CN" altLang="en-US" sz="3600" dirty="0">
              <a:latin typeface="Times New Roman" panose="02020603050405020304" pitchFamily="18" charset="0"/>
              <a:cs typeface="Times New Roman" panose="02020603050405020304" pitchFamily="18" charset="0"/>
            </a:endParaRPr>
          </a:p>
          <a:p>
            <a:endParaRPr lang="zh-CN" altLang="en-US" sz="3600" dirty="0"/>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AES</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算法描述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3.4</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分组密码的工作模式</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371600" y="2171700"/>
            <a:ext cx="15379700" cy="6275705"/>
          </a:xfrm>
          <a:prstGeom prst="rect">
            <a:avLst/>
          </a:prstGeom>
          <a:noFill/>
        </p:spPr>
        <p:txBody>
          <a:bodyPr wrap="square" rtlCol="0" anchor="t">
            <a:noAutofit/>
          </a:bodyPr>
          <a:lstStyle/>
          <a:p>
            <a:r>
              <a:rPr lang="en-US" altLang="zh-CN" sz="3600" dirty="0">
                <a:latin typeface="+mn-ea"/>
                <a:cs typeface="+mn-ea"/>
              </a:rPr>
              <a:t>   </a:t>
            </a:r>
            <a:r>
              <a:rPr lang="zh-CN" altLang="en-US" sz="3600" dirty="0">
                <a:latin typeface="Times New Roman" panose="02020603050405020304" pitchFamily="18" charset="0"/>
                <a:cs typeface="Times New Roman" panose="02020603050405020304" pitchFamily="18" charset="0"/>
              </a:rPr>
              <a:t>分组密码在加密时，明文分组的长度是固定的，而在实际应用中待加密消息的数据量是不固定的，数据格式可能多种多样。为了能在各种应用场合使用</a:t>
            </a:r>
            <a:r>
              <a:rPr lang="en-US" altLang="zh-CN" sz="3600" dirty="0">
                <a:latin typeface="Times New Roman" panose="02020603050405020304" pitchFamily="18" charset="0"/>
                <a:cs typeface="Times New Roman" panose="02020603050405020304" pitchFamily="18" charset="0"/>
              </a:rPr>
              <a:t>DES</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1980</a:t>
            </a:r>
            <a:r>
              <a:rPr lang="zh-CN" altLang="en-US" sz="3600" dirty="0">
                <a:latin typeface="Times New Roman" panose="02020603050405020304" pitchFamily="18" charset="0"/>
                <a:cs typeface="Times New Roman" panose="02020603050405020304" pitchFamily="18" charset="0"/>
              </a:rPr>
              <a:t>年</a:t>
            </a:r>
            <a:r>
              <a:rPr lang="en-US" altLang="zh-CN" sz="3600" dirty="0">
                <a:latin typeface="Times New Roman" panose="02020603050405020304" pitchFamily="18" charset="0"/>
                <a:cs typeface="Times New Roman" panose="02020603050405020304" pitchFamily="18" charset="0"/>
              </a:rPr>
              <a:t>NIST</a:t>
            </a:r>
            <a:r>
              <a:rPr lang="zh-CN" altLang="en-US" sz="3600" dirty="0">
                <a:latin typeface="Times New Roman" panose="02020603050405020304" pitchFamily="18" charset="0"/>
                <a:cs typeface="Times New Roman" panose="02020603050405020304" pitchFamily="18" charset="0"/>
              </a:rPr>
              <a:t>公布了</a:t>
            </a:r>
            <a:r>
              <a:rPr lang="en-US" altLang="zh-CN" sz="3600" dirty="0">
                <a:latin typeface="Times New Roman" panose="02020603050405020304" pitchFamily="18" charset="0"/>
                <a:cs typeface="Times New Roman" panose="02020603050405020304" pitchFamily="18" charset="0"/>
              </a:rPr>
              <a:t>DES</a:t>
            </a:r>
            <a:r>
              <a:rPr lang="zh-CN" altLang="en-US" sz="3600" dirty="0">
                <a:latin typeface="Times New Roman" panose="02020603050405020304" pitchFamily="18" charset="0"/>
                <a:cs typeface="Times New Roman" panose="02020603050405020304" pitchFamily="18" charset="0"/>
              </a:rPr>
              <a:t>的</a:t>
            </a:r>
            <a:r>
              <a:rPr lang="en-US" altLang="zh-CN" sz="3600" dirty="0">
                <a:latin typeface="Times New Roman" panose="02020603050405020304" pitchFamily="18" charset="0"/>
                <a:cs typeface="Times New Roman" panose="02020603050405020304" pitchFamily="18" charset="0"/>
              </a:rPr>
              <a:t>4</a:t>
            </a:r>
            <a:r>
              <a:rPr lang="zh-CN" altLang="en-US" sz="3600" dirty="0">
                <a:latin typeface="Times New Roman" panose="02020603050405020304" pitchFamily="18" charset="0"/>
                <a:cs typeface="Times New Roman" panose="02020603050405020304" pitchFamily="18" charset="0"/>
              </a:rPr>
              <a:t>种工作模式：电子密码本（</a:t>
            </a:r>
            <a:r>
              <a:rPr lang="en-US" altLang="zh-CN" sz="3600" dirty="0">
                <a:latin typeface="Times New Roman" panose="02020603050405020304" pitchFamily="18" charset="0"/>
                <a:cs typeface="Times New Roman" panose="02020603050405020304" pitchFamily="18" charset="0"/>
              </a:rPr>
              <a:t>Electronic Code Book</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ECB</a:t>
            </a:r>
            <a:r>
              <a:rPr lang="zh-CN" altLang="en-US" sz="3600" dirty="0">
                <a:latin typeface="Times New Roman" panose="02020603050405020304" pitchFamily="18" charset="0"/>
                <a:cs typeface="Times New Roman" panose="02020603050405020304" pitchFamily="18" charset="0"/>
              </a:rPr>
              <a:t>）模式、密码分组链接（</a:t>
            </a:r>
            <a:r>
              <a:rPr lang="en-US" altLang="zh-CN" sz="3600" dirty="0">
                <a:latin typeface="Times New Roman" panose="02020603050405020304" pitchFamily="18" charset="0"/>
                <a:cs typeface="Times New Roman" panose="02020603050405020304" pitchFamily="18" charset="0"/>
              </a:rPr>
              <a:t>Cipher Block Chaining</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CBC</a:t>
            </a:r>
            <a:r>
              <a:rPr lang="zh-CN" altLang="en-US" sz="3600" dirty="0">
                <a:latin typeface="Times New Roman" panose="02020603050405020304" pitchFamily="18" charset="0"/>
                <a:cs typeface="Times New Roman" panose="02020603050405020304" pitchFamily="18" charset="0"/>
              </a:rPr>
              <a:t>）模式、密码反馈（</a:t>
            </a:r>
            <a:r>
              <a:rPr lang="en-US" altLang="zh-CN" sz="3600" dirty="0">
                <a:latin typeface="Times New Roman" panose="02020603050405020304" pitchFamily="18" charset="0"/>
                <a:cs typeface="Times New Roman" panose="02020603050405020304" pitchFamily="18" charset="0"/>
              </a:rPr>
              <a:t>Cipher Feedback</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CFB</a:t>
            </a:r>
            <a:r>
              <a:rPr lang="zh-CN" altLang="en-US" sz="3600" dirty="0">
                <a:latin typeface="Times New Roman" panose="02020603050405020304" pitchFamily="18" charset="0"/>
                <a:cs typeface="Times New Roman" panose="02020603050405020304" pitchFamily="18" charset="0"/>
              </a:rPr>
              <a:t>）模式和输出反馈（</a:t>
            </a:r>
            <a:r>
              <a:rPr lang="en-US" altLang="zh-CN" sz="3600" dirty="0">
                <a:latin typeface="Times New Roman" panose="02020603050405020304" pitchFamily="18" charset="0"/>
                <a:cs typeface="Times New Roman" panose="02020603050405020304" pitchFamily="18" charset="0"/>
              </a:rPr>
              <a:t>Output Feedback</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OFB</a:t>
            </a:r>
            <a:r>
              <a:rPr lang="zh-CN" altLang="en-US" sz="3600" dirty="0">
                <a:latin typeface="Times New Roman" panose="02020603050405020304" pitchFamily="18" charset="0"/>
                <a:cs typeface="Times New Roman" panose="02020603050405020304" pitchFamily="18" charset="0"/>
              </a:rPr>
              <a:t>）模式。</a:t>
            </a:r>
            <a:r>
              <a:rPr lang="en-US" altLang="zh-CN" sz="3600" dirty="0">
                <a:latin typeface="Times New Roman" panose="02020603050405020304" pitchFamily="18" charset="0"/>
                <a:cs typeface="Times New Roman" panose="02020603050405020304" pitchFamily="18" charset="0"/>
              </a:rPr>
              <a:t>2000</a:t>
            </a:r>
            <a:r>
              <a:rPr lang="zh-CN" altLang="en-US" sz="3600" dirty="0">
                <a:latin typeface="Times New Roman" panose="02020603050405020304" pitchFamily="18" charset="0"/>
                <a:cs typeface="Times New Roman" panose="02020603050405020304" pitchFamily="18" charset="0"/>
              </a:rPr>
              <a:t>年</a:t>
            </a:r>
            <a:r>
              <a:rPr lang="en-US" altLang="zh-CN" sz="3600" dirty="0">
                <a:latin typeface="Times New Roman" panose="02020603050405020304" pitchFamily="18" charset="0"/>
                <a:cs typeface="Times New Roman" panose="02020603050405020304" pitchFamily="18" charset="0"/>
              </a:rPr>
              <a:t>3</a:t>
            </a:r>
            <a:r>
              <a:rPr lang="zh-CN" altLang="en-US" sz="3600" dirty="0">
                <a:latin typeface="Times New Roman" panose="02020603050405020304" pitchFamily="18" charset="0"/>
                <a:cs typeface="Times New Roman" panose="02020603050405020304" pitchFamily="18" charset="0"/>
              </a:rPr>
              <a:t>月，</a:t>
            </a:r>
            <a:r>
              <a:rPr lang="en-US" altLang="zh-CN" sz="3600" dirty="0">
                <a:latin typeface="Times New Roman" panose="02020603050405020304" pitchFamily="18" charset="0"/>
                <a:cs typeface="Times New Roman" panose="02020603050405020304" pitchFamily="18" charset="0"/>
              </a:rPr>
              <a:t>NIST</a:t>
            </a:r>
            <a:r>
              <a:rPr lang="zh-CN" altLang="en-US" sz="3600" dirty="0">
                <a:latin typeface="Times New Roman" panose="02020603050405020304" pitchFamily="18" charset="0"/>
                <a:cs typeface="Times New Roman" panose="02020603050405020304" pitchFamily="18" charset="0"/>
              </a:rPr>
              <a:t>为</a:t>
            </a:r>
            <a:r>
              <a:rPr lang="en-US" altLang="zh-CN" sz="3600" dirty="0">
                <a:latin typeface="Times New Roman" panose="02020603050405020304" pitchFamily="18" charset="0"/>
                <a:cs typeface="Times New Roman" panose="02020603050405020304" pitchFamily="18" charset="0"/>
              </a:rPr>
              <a:t>AES</a:t>
            </a:r>
            <a:r>
              <a:rPr lang="zh-CN" altLang="en-US" sz="3600" dirty="0">
                <a:latin typeface="Times New Roman" panose="02020603050405020304" pitchFamily="18" charset="0"/>
                <a:cs typeface="Times New Roman" panose="02020603050405020304" pitchFamily="18" charset="0"/>
              </a:rPr>
              <a:t>公开征集工作模式，并在</a:t>
            </a:r>
            <a:r>
              <a:rPr lang="en-US" altLang="zh-CN" sz="3600" dirty="0">
                <a:latin typeface="Times New Roman" panose="02020603050405020304" pitchFamily="18" charset="0"/>
                <a:cs typeface="Times New Roman" panose="02020603050405020304" pitchFamily="18" charset="0"/>
              </a:rPr>
              <a:t>2001</a:t>
            </a:r>
            <a:r>
              <a:rPr lang="zh-CN" altLang="en-US" sz="3600" dirty="0">
                <a:latin typeface="Times New Roman" panose="02020603050405020304" pitchFamily="18" charset="0"/>
                <a:cs typeface="Times New Roman" panose="02020603050405020304" pitchFamily="18" charset="0"/>
              </a:rPr>
              <a:t>年</a:t>
            </a:r>
            <a:r>
              <a:rPr lang="en-US" altLang="zh-CN" sz="3600" dirty="0">
                <a:latin typeface="Times New Roman" panose="02020603050405020304" pitchFamily="18" charset="0"/>
                <a:cs typeface="Times New Roman" panose="02020603050405020304" pitchFamily="18" charset="0"/>
              </a:rPr>
              <a:t>12</a:t>
            </a:r>
            <a:r>
              <a:rPr lang="zh-CN" altLang="en-US" sz="3600" dirty="0">
                <a:latin typeface="Times New Roman" panose="02020603050405020304" pitchFamily="18" charset="0"/>
                <a:cs typeface="Times New Roman" panose="02020603050405020304" pitchFamily="18" charset="0"/>
              </a:rPr>
              <a:t>月公布了</a:t>
            </a:r>
            <a:r>
              <a:rPr lang="en-US" altLang="zh-CN" sz="3600" dirty="0">
                <a:latin typeface="Times New Roman" panose="02020603050405020304" pitchFamily="18" charset="0"/>
                <a:cs typeface="Times New Roman" panose="02020603050405020304" pitchFamily="18" charset="0"/>
              </a:rPr>
              <a:t>AES</a:t>
            </a:r>
            <a:r>
              <a:rPr lang="zh-CN" altLang="en-US" sz="3600" dirty="0">
                <a:latin typeface="Times New Roman" panose="02020603050405020304" pitchFamily="18" charset="0"/>
                <a:cs typeface="Times New Roman" panose="02020603050405020304" pitchFamily="18" charset="0"/>
              </a:rPr>
              <a:t>的</a:t>
            </a:r>
            <a:r>
              <a:rPr lang="en-US" altLang="zh-CN" sz="3600" dirty="0">
                <a:latin typeface="Times New Roman" panose="02020603050405020304" pitchFamily="18" charset="0"/>
                <a:cs typeface="Times New Roman" panose="02020603050405020304" pitchFamily="18" charset="0"/>
              </a:rPr>
              <a:t>5</a:t>
            </a:r>
            <a:r>
              <a:rPr lang="zh-CN" altLang="en-US" sz="3600" dirty="0">
                <a:latin typeface="Times New Roman" panose="02020603050405020304" pitchFamily="18" charset="0"/>
                <a:cs typeface="Times New Roman" panose="02020603050405020304" pitchFamily="18" charset="0"/>
              </a:rPr>
              <a:t>种工作模式，即</a:t>
            </a:r>
            <a:r>
              <a:rPr lang="en-US" altLang="zh-CN" sz="3600" dirty="0">
                <a:latin typeface="Times New Roman" panose="02020603050405020304" pitchFamily="18" charset="0"/>
                <a:cs typeface="Times New Roman" panose="02020603050405020304" pitchFamily="18" charset="0"/>
              </a:rPr>
              <a:t>ECB</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CBC</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CFB</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OFB</a:t>
            </a:r>
            <a:r>
              <a:rPr lang="zh-CN" altLang="en-US" sz="3600" dirty="0">
                <a:latin typeface="Times New Roman" panose="02020603050405020304" pitchFamily="18" charset="0"/>
                <a:cs typeface="Times New Roman" panose="02020603050405020304" pitchFamily="18" charset="0"/>
              </a:rPr>
              <a:t>和</a:t>
            </a:r>
            <a:r>
              <a:rPr lang="en-US" altLang="zh-CN" sz="3600" dirty="0">
                <a:latin typeface="Times New Roman" panose="02020603050405020304" pitchFamily="18" charset="0"/>
                <a:cs typeface="Times New Roman" panose="02020603050405020304" pitchFamily="18" charset="0"/>
              </a:rPr>
              <a:t>CTR</a:t>
            </a:r>
            <a:r>
              <a:rPr lang="zh-CN" altLang="en-US" sz="3600" dirty="0">
                <a:latin typeface="Times New Roman" panose="02020603050405020304" pitchFamily="18" charset="0"/>
                <a:cs typeface="Times New Roman" panose="02020603050405020304" pitchFamily="18" charset="0"/>
              </a:rPr>
              <a:t>（计数器模式，</a:t>
            </a:r>
            <a:r>
              <a:rPr lang="en-US" altLang="zh-CN" sz="3600" dirty="0">
                <a:latin typeface="Times New Roman" panose="02020603050405020304" pitchFamily="18" charset="0"/>
                <a:cs typeface="Times New Roman" panose="02020603050405020304" pitchFamily="18" charset="0"/>
              </a:rPr>
              <a:t>Counter Mode</a:t>
            </a:r>
            <a:r>
              <a:rPr lang="zh-CN" altLang="en-US" sz="3600" dirty="0">
                <a:latin typeface="Times New Roman" panose="02020603050405020304" pitchFamily="18" charset="0"/>
                <a:cs typeface="Times New Roman" panose="02020603050405020304" pitchFamily="18" charset="0"/>
              </a:rPr>
              <a:t>）。</a:t>
            </a:r>
            <a:endParaRPr lang="zh-CN" altLang="en-US" sz="3600" dirty="0">
              <a:latin typeface="Times New Roman" panose="02020603050405020304" pitchFamily="18" charset="0"/>
              <a:cs typeface="Times New Roman" panose="02020603050405020304" pitchFamily="18" charset="0"/>
            </a:endParaRPr>
          </a:p>
          <a:p>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假设密钥为</a:t>
            </a:r>
            <a:r>
              <a:rPr lang="en-US" altLang="zh-CN" sz="3600" dirty="0">
                <a:latin typeface="Times New Roman" panose="02020603050405020304" pitchFamily="18" charset="0"/>
                <a:cs typeface="Times New Roman" panose="02020603050405020304" pitchFamily="18" charset="0"/>
              </a:rPr>
              <a:t>k</a:t>
            </a:r>
            <a:r>
              <a:rPr lang="zh-CN" altLang="en-US" sz="3600" dirty="0">
                <a:latin typeface="Times New Roman" panose="02020603050405020304" pitchFamily="18" charset="0"/>
                <a:cs typeface="Times New Roman" panose="02020603050405020304" pitchFamily="18" charset="0"/>
              </a:rPr>
              <a:t>，明文为           </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密文为         </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，这里</a:t>
            </a:r>
            <a:r>
              <a:rPr lang="en-US" altLang="zh-CN" sz="3600" dirty="0">
                <a:latin typeface="Times New Roman" panose="02020603050405020304" pitchFamily="18" charset="0"/>
                <a:cs typeface="Times New Roman" panose="02020603050405020304" pitchFamily="18" charset="0"/>
              </a:rPr>
              <a:t>x</a:t>
            </a:r>
            <a:r>
              <a:rPr lang="zh-CN" altLang="en-US" sz="3600" dirty="0">
                <a:latin typeface="Times New Roman" panose="02020603050405020304" pitchFamily="18" charset="0"/>
                <a:cs typeface="Times New Roman" panose="02020603050405020304" pitchFamily="18" charset="0"/>
              </a:rPr>
              <a:t>和</a:t>
            </a:r>
            <a:r>
              <a:rPr lang="en-US" altLang="zh-CN" sz="3600" dirty="0">
                <a:latin typeface="Times New Roman" panose="02020603050405020304" pitchFamily="18" charset="0"/>
                <a:cs typeface="Times New Roman" panose="02020603050405020304" pitchFamily="18" charset="0"/>
              </a:rPr>
              <a:t>y</a:t>
            </a:r>
            <a:r>
              <a:rPr lang="zh-CN" altLang="en-US" sz="3600" dirty="0">
                <a:latin typeface="Times New Roman" panose="02020603050405020304" pitchFamily="18" charset="0"/>
                <a:cs typeface="Times New Roman" panose="02020603050405020304" pitchFamily="18" charset="0"/>
              </a:rPr>
              <a:t>都是（</a:t>
            </a:r>
            <a:r>
              <a:rPr lang="en-US" altLang="zh-CN" sz="3600" dirty="0">
                <a:latin typeface="Times New Roman" panose="02020603050405020304" pitchFamily="18" charset="0"/>
                <a:cs typeface="Times New Roman" panose="02020603050405020304" pitchFamily="18" charset="0"/>
              </a:rPr>
              <a:t>0</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）序列，</a:t>
            </a:r>
            <a:r>
              <a:rPr lang="en-US" altLang="zh-CN" sz="3600" dirty="0">
                <a:latin typeface="Times New Roman" panose="02020603050405020304" pitchFamily="18" charset="0"/>
                <a:cs typeface="Times New Roman" panose="02020603050405020304" pitchFamily="18" charset="0"/>
              </a:rPr>
              <a:t>x</a:t>
            </a:r>
            <a:r>
              <a:rPr lang="en-US" altLang="zh-CN" sz="3600" baseline="-25000" dirty="0">
                <a:latin typeface="Times New Roman" panose="02020603050405020304" pitchFamily="18" charset="0"/>
                <a:cs typeface="Times New Roman" panose="02020603050405020304" pitchFamily="18" charset="0"/>
              </a:rPr>
              <a:t>i</a:t>
            </a:r>
            <a:r>
              <a:rPr lang="zh-CN" altLang="en-US" sz="3600" dirty="0">
                <a:latin typeface="Times New Roman" panose="02020603050405020304" pitchFamily="18" charset="0"/>
                <a:cs typeface="Times New Roman" panose="02020603050405020304" pitchFamily="18" charset="0"/>
              </a:rPr>
              <a:t>和</a:t>
            </a:r>
            <a:r>
              <a:rPr lang="en-US" altLang="zh-CN" sz="3600" dirty="0" err="1">
                <a:latin typeface="Times New Roman" panose="02020603050405020304" pitchFamily="18" charset="0"/>
                <a:cs typeface="Times New Roman" panose="02020603050405020304" pitchFamily="18" charset="0"/>
              </a:rPr>
              <a:t>y</a:t>
            </a:r>
            <a:r>
              <a:rPr lang="en-US" altLang="zh-CN" sz="3600" baseline="-25000" dirty="0" err="1">
                <a:latin typeface="Times New Roman" panose="02020603050405020304" pitchFamily="18" charset="0"/>
                <a:cs typeface="Times New Roman" panose="02020603050405020304" pitchFamily="18" charset="0"/>
              </a:rPr>
              <a:t>i</a:t>
            </a:r>
            <a:r>
              <a:rPr lang="zh-CN" altLang="en-US" sz="3600" dirty="0">
                <a:latin typeface="Times New Roman" panose="02020603050405020304" pitchFamily="18" charset="0"/>
                <a:cs typeface="Times New Roman" panose="02020603050405020304" pitchFamily="18" charset="0"/>
              </a:rPr>
              <a:t>的长度都是</a:t>
            </a:r>
            <a:r>
              <a:rPr lang="en-US" altLang="zh-CN" sz="3600" dirty="0" err="1">
                <a:latin typeface="Times New Roman" panose="02020603050405020304" pitchFamily="18" charset="0"/>
                <a:cs typeface="Times New Roman" panose="02020603050405020304" pitchFamily="18" charset="0"/>
              </a:rPr>
              <a:t>nbit</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n</a:t>
            </a:r>
            <a:r>
              <a:rPr lang="zh-CN" altLang="en-US" sz="3600" dirty="0">
                <a:latin typeface="Times New Roman" panose="02020603050405020304" pitchFamily="18" charset="0"/>
                <a:cs typeface="Times New Roman" panose="02020603050405020304" pitchFamily="18" charset="0"/>
              </a:rPr>
              <a:t>是分组密码的分组长度。设</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是分组密码的加密变换，</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是分组密码的解密变换。下面将对分组密码的</a:t>
            </a:r>
            <a:r>
              <a:rPr lang="en-US" altLang="zh-CN" sz="3600" dirty="0">
                <a:latin typeface="Times New Roman" panose="02020603050405020304" pitchFamily="18" charset="0"/>
                <a:cs typeface="Times New Roman" panose="02020603050405020304" pitchFamily="18" charset="0"/>
              </a:rPr>
              <a:t>5</a:t>
            </a:r>
            <a:r>
              <a:rPr lang="zh-CN" altLang="en-US" sz="3600" dirty="0">
                <a:latin typeface="Times New Roman" panose="02020603050405020304" pitchFamily="18" charset="0"/>
                <a:cs typeface="Times New Roman" panose="02020603050405020304" pitchFamily="18" charset="0"/>
              </a:rPr>
              <a:t>种工作模式进行介绍</a:t>
            </a:r>
            <a:endParaRPr lang="zh-CN" altLang="en-US" sz="3600" dirty="0">
              <a:latin typeface="Times New Roman" panose="02020603050405020304" pitchFamily="18" charset="0"/>
              <a:cs typeface="Times New Roman" panose="02020603050405020304" pitchFamily="18" charset="0"/>
            </a:endParaRPr>
          </a:p>
        </p:txBody>
      </p:sp>
      <p:graphicFrame>
        <p:nvGraphicFramePr>
          <p:cNvPr id="5" name="对象 -2147482088"/>
          <p:cNvGraphicFramePr>
            <a:graphicFrameLocks noChangeAspect="1"/>
          </p:cNvGraphicFramePr>
          <p:nvPr/>
        </p:nvGraphicFramePr>
        <p:xfrm>
          <a:off x="6125353" y="6591300"/>
          <a:ext cx="2066925" cy="541655"/>
        </p:xfrm>
        <a:graphic>
          <a:graphicData uri="http://schemas.openxmlformats.org/presentationml/2006/ole">
            <mc:AlternateContent xmlns:mc="http://schemas.openxmlformats.org/markup-compatibility/2006">
              <mc:Choice xmlns:v="urn:schemas-microsoft-com:vml" Requires="v">
                <p:oleObj spid="_x0000_s0" name="" r:id="rId1" imgW="711200" imgH="190500" progId="Equation.DSMT4">
                  <p:embed/>
                </p:oleObj>
              </mc:Choice>
              <mc:Fallback>
                <p:oleObj name="" r:id="rId1" imgW="711200" imgH="190500" progId="Equation.DSMT4">
                  <p:embed/>
                  <p:pic>
                    <p:nvPicPr>
                      <p:cNvPr id="0" name="图片 3075"/>
                      <p:cNvPicPr/>
                      <p:nvPr/>
                    </p:nvPicPr>
                    <p:blipFill>
                      <a:blip r:embed="rId2"/>
                      <a:stretch>
                        <a:fillRect/>
                      </a:stretch>
                    </p:blipFill>
                    <p:spPr>
                      <a:xfrm>
                        <a:off x="6125353" y="6591300"/>
                        <a:ext cx="2066925" cy="541655"/>
                      </a:xfrm>
                      <a:prstGeom prst="rect">
                        <a:avLst/>
                      </a:prstGeom>
                      <a:noFill/>
                      <a:ln w="38100">
                        <a:noFill/>
                        <a:miter/>
                      </a:ln>
                    </p:spPr>
                  </p:pic>
                </p:oleObj>
              </mc:Fallback>
            </mc:AlternateContent>
          </a:graphicData>
        </a:graphic>
      </p:graphicFrame>
      <p:graphicFrame>
        <p:nvGraphicFramePr>
          <p:cNvPr id="6" name="对象 -2147482087"/>
          <p:cNvGraphicFramePr>
            <a:graphicFrameLocks noChangeAspect="1"/>
          </p:cNvGraphicFramePr>
          <p:nvPr/>
        </p:nvGraphicFramePr>
        <p:xfrm>
          <a:off x="9982200" y="6591300"/>
          <a:ext cx="2115820" cy="554355"/>
        </p:xfrm>
        <a:graphic>
          <a:graphicData uri="http://schemas.openxmlformats.org/presentationml/2006/ole">
            <mc:AlternateContent xmlns:mc="http://schemas.openxmlformats.org/markup-compatibility/2006">
              <mc:Choice xmlns:v="urn:schemas-microsoft-com:vml" Requires="v">
                <p:oleObj spid="_x0000_s0" name="" r:id="rId3" imgW="736600" imgH="190500" progId="Equation.DSMT4">
                  <p:embed/>
                </p:oleObj>
              </mc:Choice>
              <mc:Fallback>
                <p:oleObj name="" r:id="rId3" imgW="736600" imgH="190500" progId="Equation.DSMT4">
                  <p:embed/>
                  <p:pic>
                    <p:nvPicPr>
                      <p:cNvPr id="0" name="图片 28"/>
                      <p:cNvPicPr/>
                      <p:nvPr/>
                    </p:nvPicPr>
                    <p:blipFill>
                      <a:blip r:embed="rId4"/>
                      <a:stretch>
                        <a:fillRect/>
                      </a:stretch>
                    </p:blipFill>
                    <p:spPr>
                      <a:xfrm>
                        <a:off x="9982200" y="6591300"/>
                        <a:ext cx="2115820" cy="554355"/>
                      </a:xfrm>
                      <a:prstGeom prst="rect">
                        <a:avLst/>
                      </a:prstGeom>
                      <a:noFill/>
                      <a:ln w="38100">
                        <a:noFill/>
                        <a:miter/>
                      </a:ln>
                    </p:spPr>
                  </p:pic>
                </p:oleObj>
              </mc:Fallback>
            </mc:AlternateContent>
          </a:graphicData>
        </a:graphic>
      </p:graphicFrame>
      <p:graphicFrame>
        <p:nvGraphicFramePr>
          <p:cNvPr id="7" name="对象 -2147482081"/>
          <p:cNvGraphicFramePr>
            <a:graphicFrameLocks noChangeAspect="1"/>
          </p:cNvGraphicFramePr>
          <p:nvPr/>
        </p:nvGraphicFramePr>
        <p:xfrm>
          <a:off x="7862742" y="7175817"/>
          <a:ext cx="1407160" cy="492125"/>
        </p:xfrm>
        <a:graphic>
          <a:graphicData uri="http://schemas.openxmlformats.org/presentationml/2006/ole">
            <mc:AlternateContent xmlns:mc="http://schemas.openxmlformats.org/markup-compatibility/2006">
              <mc:Choice xmlns:v="urn:schemas-microsoft-com:vml" Requires="v">
                <p:oleObj spid="_x0000_s0" name="" r:id="rId5" imgW="533400" imgH="152400" progId="Equation.DSMT4">
                  <p:embed/>
                </p:oleObj>
              </mc:Choice>
              <mc:Fallback>
                <p:oleObj name="" r:id="rId5" imgW="533400" imgH="152400" progId="Equation.DSMT4">
                  <p:embed/>
                  <p:pic>
                    <p:nvPicPr>
                      <p:cNvPr id="0" name="图片 31"/>
                      <p:cNvPicPr/>
                      <p:nvPr/>
                    </p:nvPicPr>
                    <p:blipFill>
                      <a:blip r:embed="rId6"/>
                      <a:stretch>
                        <a:fillRect/>
                      </a:stretch>
                    </p:blipFill>
                    <p:spPr>
                      <a:xfrm>
                        <a:off x="7862742" y="7175817"/>
                        <a:ext cx="1407160" cy="492125"/>
                      </a:xfrm>
                      <a:prstGeom prst="rect">
                        <a:avLst/>
                      </a:prstGeom>
                      <a:noFill/>
                      <a:ln w="38100">
                        <a:noFill/>
                        <a:miter/>
                      </a:ln>
                    </p:spPr>
                  </p:pic>
                </p:oleObj>
              </mc:Fallback>
            </mc:AlternateContent>
          </a:graphicData>
        </a:graphic>
      </p:graphicFrame>
      <p:graphicFrame>
        <p:nvGraphicFramePr>
          <p:cNvPr id="8" name="对象 -2147481941"/>
          <p:cNvGraphicFramePr>
            <a:graphicFrameLocks noChangeAspect="1"/>
          </p:cNvGraphicFramePr>
          <p:nvPr/>
        </p:nvGraphicFramePr>
        <p:xfrm>
          <a:off x="15392400" y="7125652"/>
          <a:ext cx="542290" cy="542290"/>
        </p:xfrm>
        <a:graphic>
          <a:graphicData uri="http://schemas.openxmlformats.org/presentationml/2006/ole">
            <mc:AlternateContent xmlns:mc="http://schemas.openxmlformats.org/markup-compatibility/2006">
              <mc:Choice xmlns:v="urn:schemas-microsoft-com:vml" Requires="v">
                <p:oleObj spid="_x0000_s0" name="" r:id="rId7" imgW="177800" imgH="190500" progId="Equation.DSMT4">
                  <p:embed/>
                </p:oleObj>
              </mc:Choice>
              <mc:Fallback>
                <p:oleObj name="" r:id="rId7" imgW="177800" imgH="190500" progId="Equation.DSMT4">
                  <p:embed/>
                  <p:pic>
                    <p:nvPicPr>
                      <p:cNvPr id="0" name="图片 32"/>
                      <p:cNvPicPr/>
                      <p:nvPr/>
                    </p:nvPicPr>
                    <p:blipFill>
                      <a:blip r:embed="rId8"/>
                      <a:stretch>
                        <a:fillRect/>
                      </a:stretch>
                    </p:blipFill>
                    <p:spPr>
                      <a:xfrm>
                        <a:off x="15392400" y="7125652"/>
                        <a:ext cx="542290" cy="542290"/>
                      </a:xfrm>
                      <a:prstGeom prst="rect">
                        <a:avLst/>
                      </a:prstGeom>
                      <a:noFill/>
                      <a:ln w="38100">
                        <a:noFill/>
                        <a:miter/>
                      </a:ln>
                    </p:spPr>
                  </p:pic>
                </p:oleObj>
              </mc:Fallback>
            </mc:AlternateContent>
          </a:graphicData>
        </a:graphic>
      </p:graphicFrame>
      <p:graphicFrame>
        <p:nvGraphicFramePr>
          <p:cNvPr id="9" name="对象 -2147482079"/>
          <p:cNvGraphicFramePr>
            <a:graphicFrameLocks noChangeAspect="1"/>
          </p:cNvGraphicFramePr>
          <p:nvPr/>
        </p:nvGraphicFramePr>
        <p:xfrm>
          <a:off x="5791200" y="7734300"/>
          <a:ext cx="509905" cy="509905"/>
        </p:xfrm>
        <a:graphic>
          <a:graphicData uri="http://schemas.openxmlformats.org/presentationml/2006/ole">
            <mc:AlternateContent xmlns:mc="http://schemas.openxmlformats.org/markup-compatibility/2006">
              <mc:Choice xmlns:v="urn:schemas-microsoft-com:vml" Requires="v">
                <p:oleObj spid="_x0000_s0" name="" r:id="rId9" imgW="177800" imgH="190500" progId="Equation.DSMT4">
                  <p:embed/>
                </p:oleObj>
              </mc:Choice>
              <mc:Fallback>
                <p:oleObj name="" r:id="rId9" imgW="177800" imgH="190500" progId="Equation.DSMT4">
                  <p:embed/>
                  <p:pic>
                    <p:nvPicPr>
                      <p:cNvPr id="0" name="图片 33"/>
                      <p:cNvPicPr/>
                      <p:nvPr/>
                    </p:nvPicPr>
                    <p:blipFill>
                      <a:blip r:embed="rId10"/>
                      <a:stretch>
                        <a:fillRect/>
                      </a:stretch>
                    </p:blipFill>
                    <p:spPr>
                      <a:xfrm>
                        <a:off x="5791200" y="7734300"/>
                        <a:ext cx="509905" cy="509905"/>
                      </a:xfrm>
                      <a:prstGeom prst="rect">
                        <a:avLst/>
                      </a:prstGeom>
                      <a:noFill/>
                      <a:ln w="38100">
                        <a:noFill/>
                        <a:miter/>
                      </a:ln>
                    </p:spPr>
                  </p:pic>
                </p:oleObj>
              </mc:Fallback>
            </mc:AlternateContent>
          </a:graphicData>
        </a:graphic>
      </p:graphicFrame>
      <p:sp>
        <p:nvSpPr>
          <p:cNvPr id="10" name="灯片编号占位符 9"/>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1" name="Group 2"/>
          <p:cNvGrpSpPr/>
          <p:nvPr/>
        </p:nvGrpSpPr>
        <p:grpSpPr>
          <a:xfrm>
            <a:off x="412090" y="1028700"/>
            <a:ext cx="7800783" cy="275915"/>
            <a:chOff x="0" y="0"/>
            <a:chExt cx="2054527" cy="72669"/>
          </a:xfrm>
        </p:grpSpPr>
        <p:sp>
          <p:nvSpPr>
            <p:cNvPr id="1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分组密码的工作模式</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5"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1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9" name="图片 18"/>
            <p:cNvPicPr>
              <a:picLocks noChangeAspect="1"/>
            </p:cNvPicPr>
            <p:nvPr/>
          </p:nvPicPr>
          <p:blipFill>
            <a:blip r:embed="rId12"/>
            <a:stretch>
              <a:fillRect/>
            </a:stretch>
          </p:blipFill>
          <p:spPr>
            <a:xfrm>
              <a:off x="13944600" y="877286"/>
              <a:ext cx="2771429" cy="47619"/>
            </a:xfrm>
            <a:prstGeom prst="rect">
              <a:avLst/>
            </a:prstGeom>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447800" y="1714500"/>
            <a:ext cx="15067915" cy="2757170"/>
          </a:xfrm>
          <a:prstGeom prst="rect">
            <a:avLst/>
          </a:prstGeom>
          <a:noFill/>
        </p:spPr>
        <p:txBody>
          <a:bodyPr wrap="square" rtlCol="0" anchor="t">
            <a:noAutofit/>
          </a:bodyPr>
          <a:lstStyle/>
          <a:p>
            <a:pPr indent="720090"/>
            <a:r>
              <a:rPr lang="en-US" altLang="zh-CN" sz="3600" dirty="0">
                <a:latin typeface="Times New Roman" panose="02020603050405020304" pitchFamily="18" charset="0"/>
                <a:cs typeface="Times New Roman" panose="02020603050405020304" pitchFamily="18" charset="0"/>
              </a:rPr>
              <a:t>ECB</a:t>
            </a:r>
            <a:r>
              <a:rPr lang="zh-CN" altLang="en-US" sz="3600" dirty="0">
                <a:latin typeface="Times New Roman" panose="02020603050405020304" pitchFamily="18" charset="0"/>
                <a:cs typeface="Times New Roman" panose="02020603050405020304" pitchFamily="18" charset="0"/>
              </a:rPr>
              <a:t>模式是最简单的工作模式，</a:t>
            </a:r>
            <a:r>
              <a:rPr lang="en-US" altLang="zh-CN" sz="3600" dirty="0">
                <a:latin typeface="Times New Roman" panose="02020603050405020304" pitchFamily="18" charset="0"/>
                <a:cs typeface="Times New Roman" panose="02020603050405020304" pitchFamily="18" charset="0"/>
              </a:rPr>
              <a:t>ECB</a:t>
            </a:r>
            <a:r>
              <a:rPr lang="zh-CN" altLang="en-US" sz="3600" dirty="0">
                <a:latin typeface="Times New Roman" panose="02020603050405020304" pitchFamily="18" charset="0"/>
                <a:cs typeface="Times New Roman" panose="02020603050405020304" pitchFamily="18" charset="0"/>
              </a:rPr>
              <a:t>模式的加密操作和</a:t>
            </a:r>
            <a:r>
              <a:rPr lang="en-US" altLang="zh-CN" sz="3600" dirty="0">
                <a:latin typeface="Times New Roman" panose="02020603050405020304" pitchFamily="18" charset="0"/>
                <a:cs typeface="Times New Roman" panose="02020603050405020304" pitchFamily="18" charset="0"/>
              </a:rPr>
              <a:t>ECB</a:t>
            </a:r>
            <a:r>
              <a:rPr lang="zh-CN" altLang="en-US" sz="3600" dirty="0">
                <a:latin typeface="Times New Roman" panose="02020603050405020304" pitchFamily="18" charset="0"/>
                <a:cs typeface="Times New Roman" panose="02020603050405020304" pitchFamily="18" charset="0"/>
              </a:rPr>
              <a:t>模式的解密操作分别如图</a:t>
            </a:r>
            <a:r>
              <a:rPr lang="en-US" altLang="zh-CN" sz="3600" dirty="0">
                <a:latin typeface="Times New Roman" panose="02020603050405020304" pitchFamily="18" charset="0"/>
                <a:cs typeface="Times New Roman" panose="02020603050405020304" pitchFamily="18" charset="0"/>
              </a:rPr>
              <a:t>3.16</a:t>
            </a:r>
            <a:r>
              <a:rPr lang="zh-CN" altLang="en-US" sz="3600" dirty="0">
                <a:latin typeface="Times New Roman" panose="02020603050405020304" pitchFamily="18" charset="0"/>
                <a:cs typeface="Times New Roman" panose="02020603050405020304" pitchFamily="18" charset="0"/>
              </a:rPr>
              <a:t>和图</a:t>
            </a:r>
            <a:r>
              <a:rPr lang="en-US" altLang="zh-CN" sz="3600" dirty="0">
                <a:latin typeface="Times New Roman" panose="02020603050405020304" pitchFamily="18" charset="0"/>
                <a:cs typeface="Times New Roman" panose="02020603050405020304" pitchFamily="18" charset="0"/>
              </a:rPr>
              <a:t>3.17</a:t>
            </a:r>
            <a:r>
              <a:rPr lang="zh-CN" altLang="en-US" sz="3600" dirty="0">
                <a:latin typeface="Times New Roman" panose="02020603050405020304" pitchFamily="18" charset="0"/>
                <a:cs typeface="Times New Roman" panose="02020603050405020304" pitchFamily="18" charset="0"/>
              </a:rPr>
              <a:t>所示。它一次对一个</a:t>
            </a:r>
            <a:r>
              <a:rPr lang="en-US" altLang="zh-CN" sz="3600" dirty="0">
                <a:latin typeface="Times New Roman" panose="02020603050405020304" pitchFamily="18" charset="0"/>
                <a:cs typeface="Times New Roman" panose="02020603050405020304" pitchFamily="18" charset="0"/>
              </a:rPr>
              <a:t>64bit</a:t>
            </a:r>
            <a:r>
              <a:rPr lang="zh-CN" altLang="en-US" sz="3600" dirty="0">
                <a:latin typeface="Times New Roman" panose="02020603050405020304" pitchFamily="18" charset="0"/>
                <a:cs typeface="Times New Roman" panose="02020603050405020304" pitchFamily="18" charset="0"/>
              </a:rPr>
              <a:t>长的明文分组加密，而且每次的加密密钥都相同。当密钥取定时，对明文的每个分组都有唯一的密文与之对应。形象地说，可以认为有一个非常大的电子密码本，对任意一个可能的明文分组，电子密码本中都有一项对应于它的密文。</a:t>
            </a:r>
            <a:endParaRPr lang="zh-CN" altLang="en-US" sz="3600" dirty="0">
              <a:latin typeface="Times New Roman" panose="02020603050405020304" pitchFamily="18" charset="0"/>
              <a:cs typeface="Times New Roman" panose="02020603050405020304" pitchFamily="18" charset="0"/>
            </a:endParaRPr>
          </a:p>
          <a:p>
            <a:pPr indent="720090"/>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pic>
        <p:nvPicPr>
          <p:cNvPr id="1238" name="图片 123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70400" y="4838065"/>
            <a:ext cx="3507105" cy="2225040"/>
          </a:xfrm>
          <a:prstGeom prst="rect">
            <a:avLst/>
          </a:prstGeom>
        </p:spPr>
      </p:pic>
      <p:pic>
        <p:nvPicPr>
          <p:cNvPr id="1239" name="图片 12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4400" y="4838065"/>
            <a:ext cx="3487420" cy="2212340"/>
          </a:xfrm>
          <a:prstGeom prst="rect">
            <a:avLst/>
          </a:prstGeom>
        </p:spPr>
      </p:pic>
      <p:sp>
        <p:nvSpPr>
          <p:cNvPr id="13" name="文本框 12"/>
          <p:cNvSpPr txBox="1"/>
          <p:nvPr/>
        </p:nvSpPr>
        <p:spPr>
          <a:xfrm>
            <a:off x="4797439" y="7153310"/>
            <a:ext cx="5080000" cy="337185"/>
          </a:xfrm>
          <a:prstGeom prst="rect">
            <a:avLst/>
          </a:prstGeom>
        </p:spPr>
        <p:txBody>
          <a:bodyPr>
            <a:spAutoFit/>
          </a:bodyPr>
          <a:lstStyle/>
          <a:p>
            <a:pPr defTabSz="266700"/>
            <a:r>
              <a:rPr lang="zh-CN" altLang="en-US" sz="1600" dirty="0">
                <a:latin typeface="宋体" panose="02010600030101010101" pitchFamily="2" charset="-122"/>
                <a:ea typeface="宋体" panose="02010600030101010101" pitchFamily="2" charset="-122"/>
              </a:rPr>
              <a:t>图</a:t>
            </a:r>
            <a:r>
              <a:rPr lang="en-US" altLang="zh-CN" sz="1600" dirty="0">
                <a:latin typeface="Times New Roman" panose="02020603050405020304"/>
                <a:ea typeface="宋体" panose="02010600030101010101" pitchFamily="2" charset="-122"/>
              </a:rPr>
              <a:t>3.</a:t>
            </a:r>
            <a:r>
              <a:rPr lang="en-US" altLang="zh-CN" sz="1600" dirty="0">
                <a:latin typeface="Times New Roman" panose="02020603050405020304"/>
                <a:ea typeface="Times New Roman" panose="02020603050405020304"/>
              </a:rPr>
              <a:t>16</a:t>
            </a:r>
            <a:r>
              <a:rPr lang="zh-CN" altLang="en-US" sz="1600" dirty="0">
                <a:latin typeface="Times New Roman" panose="02020603050405020304"/>
                <a:ea typeface="宋体" panose="02010600030101010101" pitchFamily="2" charset="-122"/>
              </a:rPr>
              <a:t>　</a:t>
            </a:r>
            <a:r>
              <a:rPr lang="en-US" altLang="zh-CN" sz="1600" dirty="0">
                <a:latin typeface="Times New Roman" panose="02020603050405020304"/>
                <a:ea typeface="宋体" panose="02010600030101010101" pitchFamily="2" charset="-122"/>
              </a:rPr>
              <a:t>ECB</a:t>
            </a:r>
            <a:r>
              <a:rPr lang="zh-CN" altLang="en-US" sz="1600" dirty="0">
                <a:latin typeface="宋体" panose="02010600030101010101" pitchFamily="2" charset="-122"/>
                <a:ea typeface="宋体" panose="02010600030101010101" pitchFamily="2" charset="-122"/>
              </a:rPr>
              <a:t>模式的加密操作</a:t>
            </a:r>
            <a:r>
              <a:rPr lang="en-US" altLang="zh-CN" sz="1600" dirty="0">
                <a:latin typeface="Times New Roman" panose="02020603050405020304"/>
                <a:ea typeface="宋体" panose="02010600030101010101" pitchFamily="2" charset="-122"/>
              </a:rPr>
              <a:t> </a:t>
            </a:r>
            <a:endParaRPr lang="en-US" altLang="zh-CN" sz="1600" dirty="0">
              <a:latin typeface="Times New Roman" panose="02020603050405020304"/>
              <a:ea typeface="宋体" panose="02010600030101010101" pitchFamily="2" charset="-122"/>
            </a:endParaRPr>
          </a:p>
        </p:txBody>
      </p:sp>
      <p:sp>
        <p:nvSpPr>
          <p:cNvPr id="14" name="文本框 13"/>
          <p:cNvSpPr txBox="1"/>
          <p:nvPr/>
        </p:nvSpPr>
        <p:spPr>
          <a:xfrm>
            <a:off x="9296400" y="7199030"/>
            <a:ext cx="5080000" cy="291465"/>
          </a:xfrm>
          <a:prstGeom prst="rect">
            <a:avLst/>
          </a:prstGeom>
        </p:spPr>
        <p:txBody>
          <a:bodyPr>
            <a:spAutoFit/>
          </a:bodyPr>
          <a:lstStyle/>
          <a:p>
            <a:pPr marL="0" indent="742950" algn="l" defTabSz="266700">
              <a:lnSpc>
                <a:spcPts val="1560"/>
              </a:lnSpc>
              <a:spcBef>
                <a:spcPts val="300"/>
              </a:spcBef>
              <a:spcAft>
                <a:spcPts val="600"/>
              </a:spcAft>
            </a:pPr>
            <a:r>
              <a:rPr lang="zh-CN" altLang="en-US" sz="1600">
                <a:solidFill>
                  <a:srgbClr val="000000"/>
                </a:solidFill>
                <a:latin typeface="黑体" panose="02010609060101010101" charset="-122"/>
                <a:ea typeface="黑体" panose="02010609060101010101" charset="-122"/>
              </a:rPr>
              <a:t>图</a:t>
            </a:r>
            <a:r>
              <a:rPr lang="en-US" altLang="zh-CN" sz="1600">
                <a:solidFill>
                  <a:srgbClr val="000000"/>
                </a:solidFill>
                <a:latin typeface="Arial" panose="020B0604020202020204"/>
                <a:ea typeface="黑体" panose="02010609060101010101" charset="-122"/>
              </a:rPr>
              <a:t>3.</a:t>
            </a:r>
            <a:r>
              <a:rPr lang="en-US" altLang="zh-CN" sz="1600">
                <a:solidFill>
                  <a:srgbClr val="000000"/>
                </a:solidFill>
                <a:latin typeface="Arial" panose="020B0604020202020204"/>
                <a:ea typeface="Arial" panose="020B0604020202020204"/>
              </a:rPr>
              <a:t>17</a:t>
            </a:r>
            <a:r>
              <a:rPr lang="zh-CN" altLang="en-US" sz="1600">
                <a:solidFill>
                  <a:srgbClr val="000000"/>
                </a:solidFill>
                <a:latin typeface="Arial" panose="020B0604020202020204"/>
                <a:ea typeface="黑体" panose="02010609060101010101" charset="-122"/>
              </a:rPr>
              <a:t>　</a:t>
            </a:r>
            <a:r>
              <a:rPr lang="en-US" altLang="zh-CN" sz="1600">
                <a:solidFill>
                  <a:srgbClr val="000000"/>
                </a:solidFill>
                <a:latin typeface="Arial" panose="020B0604020202020204"/>
                <a:ea typeface="黑体" panose="02010609060101010101" charset="-122"/>
              </a:rPr>
              <a:t>ECB</a:t>
            </a:r>
            <a:r>
              <a:rPr lang="zh-CN" altLang="en-US" sz="1600">
                <a:solidFill>
                  <a:srgbClr val="000000"/>
                </a:solidFill>
                <a:latin typeface="黑体" panose="02010609060101010101" charset="-122"/>
                <a:ea typeface="黑体" panose="02010609060101010101" charset="-122"/>
              </a:rPr>
              <a:t>模式的解密操作</a:t>
            </a:r>
            <a:endParaRPr lang="zh-CN" altLang="en-US" sz="1600">
              <a:solidFill>
                <a:srgbClr val="000000"/>
              </a:solidFill>
              <a:latin typeface="黑体" panose="02010609060101010101" charset="-122"/>
              <a:ea typeface="黑体" panose="02010609060101010101" charset="-122"/>
            </a:endParaRPr>
          </a:p>
        </p:txBody>
      </p:sp>
      <p:sp>
        <p:nvSpPr>
          <p:cNvPr id="16" name="文本框 15"/>
          <p:cNvSpPr txBox="1"/>
          <p:nvPr/>
        </p:nvSpPr>
        <p:spPr>
          <a:xfrm>
            <a:off x="1676400" y="7658100"/>
            <a:ext cx="14884400" cy="1758950"/>
          </a:xfrm>
          <a:prstGeom prst="rect">
            <a:avLst/>
          </a:prstGeom>
          <a:noFill/>
        </p:spPr>
        <p:txBody>
          <a:bodyPr wrap="square" rtlCol="0" anchor="t">
            <a:noAutofit/>
          </a:bodyPr>
          <a:lstStyle>
            <a:defPPr>
              <a:defRPr lang="en-US"/>
            </a:defPPr>
            <a:lvl1pPr indent="720090">
              <a:defRPr sz="3600">
                <a:latin typeface="Times New Roman" panose="02020603050405020304" pitchFamily="18" charset="0"/>
                <a:cs typeface="Times New Roman" panose="02020603050405020304" pitchFamily="18" charset="0"/>
              </a:defRPr>
            </a:lvl1pPr>
          </a:lstStyle>
          <a:p>
            <a:r>
              <a:rPr lang="en-US" altLang="zh-CN" dirty="0"/>
              <a:t>ECB</a:t>
            </a:r>
            <a:r>
              <a:rPr lang="zh-CN" altLang="en-US" dirty="0"/>
              <a:t>模式适用于短数据（如密钥）加密，若消息超过</a:t>
            </a:r>
            <a:r>
              <a:rPr lang="en-US" altLang="zh-CN" dirty="0"/>
              <a:t>64bit</a:t>
            </a:r>
            <a:r>
              <a:rPr lang="zh-CN" altLang="en-US" dirty="0"/>
              <a:t>，则需分组处理，不足部分需填充。其缺陷是相同明文分组会产生相同密文，导致长消息中存在模式泄露。若消息具有固定结构或重复周期，密码分析者可能利用明文密文关系进行分析，从而降低安全性。</a:t>
            </a:r>
            <a:endParaRPr lang="zh-CN" altLang="en-US" dirty="0"/>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ECB</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模式</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7"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8" name="组合 17"/>
          <p:cNvGrpSpPr/>
          <p:nvPr/>
        </p:nvGrpSpPr>
        <p:grpSpPr>
          <a:xfrm>
            <a:off x="13639786" y="733421"/>
            <a:ext cx="3700052" cy="416951"/>
            <a:chOff x="13811849" y="507954"/>
            <a:chExt cx="3700052" cy="416951"/>
          </a:xfrm>
        </p:grpSpPr>
        <p:sp>
          <p:nvSpPr>
            <p:cNvPr id="19" name="文本框 18"/>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0" name="图片 19"/>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95400" y="1562100"/>
            <a:ext cx="15444470" cy="3415030"/>
          </a:xfrm>
          <a:prstGeom prst="rect">
            <a:avLst/>
          </a:prstGeom>
        </p:spPr>
        <p:txBody>
          <a:bodyPr wrap="square">
            <a:spAutoFit/>
          </a:bodyPr>
          <a:lstStyle/>
          <a:p>
            <a:pPr indent="720090" algn="just" defTabSz="266700" fontAlgn="auto">
              <a:lnSpc>
                <a:spcPct val="100000"/>
              </a:lnSpc>
              <a:spcBef>
                <a:spcPct val="0"/>
              </a:spcBef>
              <a:spcAft>
                <a:spcPct val="0"/>
              </a:spcAft>
            </a:pPr>
            <a:r>
              <a:rPr lang="en-US" altLang="zh-CN" sz="3600" dirty="0">
                <a:latin typeface="Times New Roman" panose="02020603050405020304"/>
                <a:ea typeface="宋体" panose="02010600030101010101" pitchFamily="2" charset="-122"/>
                <a:sym typeface="+mn-ea"/>
              </a:rPr>
              <a:t>CBC</a:t>
            </a:r>
            <a:r>
              <a:rPr lang="zh-CN" altLang="en-US" sz="3600" dirty="0">
                <a:latin typeface="Times New Roman" panose="02020603050405020304"/>
                <a:ea typeface="宋体" panose="02010600030101010101" pitchFamily="2" charset="-122"/>
                <a:sym typeface="+mn-ea"/>
              </a:rPr>
              <a:t>模式可以</a:t>
            </a:r>
            <a:r>
              <a:rPr lang="zh-CN" altLang="en-US" sz="3600" dirty="0">
                <a:latin typeface="宋体" panose="02010600030101010101" pitchFamily="2" charset="-122"/>
                <a:ea typeface="宋体" panose="02010600030101010101" pitchFamily="2" charset="-122"/>
              </a:rPr>
              <a:t>解决</a:t>
            </a:r>
            <a:r>
              <a:rPr lang="en-US" altLang="zh-CN" sz="3600" dirty="0">
                <a:latin typeface="Times New Roman" panose="02020603050405020304"/>
                <a:ea typeface="宋体" panose="02010600030101010101" pitchFamily="2" charset="-122"/>
              </a:rPr>
              <a:t>ECB</a:t>
            </a:r>
            <a:r>
              <a:rPr lang="zh-CN" altLang="en-US" sz="3600" dirty="0">
                <a:latin typeface="Times New Roman" panose="02020603050405020304"/>
                <a:ea typeface="宋体" panose="02010600030101010101" pitchFamily="2" charset="-122"/>
              </a:rPr>
              <a:t>模式</a:t>
            </a:r>
            <a:r>
              <a:rPr lang="zh-CN" altLang="en-US" sz="3600" dirty="0">
                <a:latin typeface="宋体" panose="02010600030101010101" pitchFamily="2" charset="-122"/>
                <a:ea typeface="宋体" panose="02010600030101010101" pitchFamily="2" charset="-122"/>
              </a:rPr>
              <a:t>的安全缺陷，可以让重复的明文分组产生不同的密文分组。</a:t>
            </a:r>
            <a:r>
              <a:rPr lang="en-US" altLang="zh-CN" sz="3600" dirty="0">
                <a:latin typeface="Times New Roman" panose="02020603050405020304"/>
                <a:ea typeface="Times New Roman" panose="02020603050405020304"/>
              </a:rPr>
              <a:t>CBC</a:t>
            </a:r>
            <a:r>
              <a:rPr lang="zh-CN" altLang="en-US" sz="3600" dirty="0">
                <a:latin typeface="Times New Roman" panose="02020603050405020304"/>
                <a:ea typeface="宋体" panose="02010600030101010101" pitchFamily="2" charset="-122"/>
              </a:rPr>
              <a:t>模式一</a:t>
            </a:r>
            <a:r>
              <a:rPr lang="zh-CN" altLang="en-US" sz="3600" dirty="0">
                <a:latin typeface="宋体" panose="02010600030101010101" pitchFamily="2" charset="-122"/>
                <a:ea typeface="宋体" panose="02010600030101010101" pitchFamily="2" charset="-122"/>
              </a:rPr>
              <a:t>次对一个明文分组加密，每次加密使用同一密钥</a:t>
            </a:r>
            <a:r>
              <a:rPr lang="zh-CN" altLang="en-US" sz="3600" dirty="0">
                <a:latin typeface="Times New Roman" panose="02020603050405020304"/>
                <a:ea typeface="宋体" panose="02010600030101010101" pitchFamily="2" charset="-122"/>
              </a:rPr>
              <a:t>，</a:t>
            </a:r>
            <a:r>
              <a:rPr lang="zh-CN" altLang="en-US" sz="3600" dirty="0">
                <a:latin typeface="宋体" panose="02010600030101010101" pitchFamily="2" charset="-122"/>
                <a:ea typeface="宋体" panose="02010600030101010101" pitchFamily="2" charset="-122"/>
              </a:rPr>
              <a:t>加密算法的输入是当前明文分组和前一次密文分组的异或，因此加密算法的输入不会显示与这次的明文分组之间的固定关系，</a:t>
            </a:r>
            <a:r>
              <a:rPr lang="zh-CN" altLang="en-US" sz="3600" dirty="0">
                <a:latin typeface="Times New Roman" panose="02020603050405020304"/>
                <a:ea typeface="宋体" panose="02010600030101010101" pitchFamily="2" charset="-122"/>
              </a:rPr>
              <a:t>且</a:t>
            </a:r>
            <a:r>
              <a:rPr lang="zh-CN" altLang="en-US" sz="3600" dirty="0">
                <a:latin typeface="宋体" panose="02010600030101010101" pitchFamily="2" charset="-122"/>
                <a:ea typeface="宋体" panose="02010600030101010101" pitchFamily="2" charset="-122"/>
              </a:rPr>
              <a:t>重复的明文分组不会在密文</a:t>
            </a:r>
            <a:r>
              <a:rPr lang="zh-CN" altLang="en-US" sz="3600" dirty="0">
                <a:latin typeface="Times New Roman" panose="02020603050405020304"/>
                <a:ea typeface="宋体" panose="02010600030101010101" pitchFamily="2" charset="-122"/>
              </a:rPr>
              <a:t>分组</a:t>
            </a:r>
            <a:r>
              <a:rPr lang="zh-CN" altLang="en-US" sz="3600" dirty="0">
                <a:latin typeface="宋体" panose="02010600030101010101" pitchFamily="2" charset="-122"/>
                <a:ea typeface="宋体" panose="02010600030101010101" pitchFamily="2" charset="-122"/>
              </a:rPr>
              <a:t>中暴露这种重复关系。解密时，每个密文分组被解密后，再与前一个密文分组异或，即</a:t>
            </a:r>
            <a:endParaRPr lang="zh-CN" altLang="en-US" sz="3600" dirty="0">
              <a:latin typeface="宋体" panose="02010600030101010101" pitchFamily="2" charset="-122"/>
              <a:ea typeface="宋体" panose="02010600030101010101" pitchFamily="2" charset="-122"/>
            </a:endParaRPr>
          </a:p>
        </p:txBody>
      </p:sp>
      <p:graphicFrame>
        <p:nvGraphicFramePr>
          <p:cNvPr id="8" name="对象 -2147481940"/>
          <p:cNvGraphicFramePr>
            <a:graphicFrameLocks noChangeAspect="1"/>
          </p:cNvGraphicFramePr>
          <p:nvPr/>
        </p:nvGraphicFramePr>
        <p:xfrm>
          <a:off x="4800600" y="5067300"/>
          <a:ext cx="7240270" cy="602615"/>
        </p:xfrm>
        <a:graphic>
          <a:graphicData uri="http://schemas.openxmlformats.org/presentationml/2006/ole">
            <mc:AlternateContent xmlns:mc="http://schemas.openxmlformats.org/markup-compatibility/2006">
              <mc:Choice xmlns:v="urn:schemas-microsoft-com:vml" Requires="v">
                <p:oleObj spid="_x0000_s0" name="" r:id="rId1" imgW="3340100" imgH="241300" progId="Equation.DSMT4">
                  <p:embed/>
                </p:oleObj>
              </mc:Choice>
              <mc:Fallback>
                <p:oleObj name="" r:id="rId1" imgW="3340100" imgH="241300" progId="Equation.DSMT4">
                  <p:embed/>
                  <p:pic>
                    <p:nvPicPr>
                      <p:cNvPr id="0" name="图片 3075"/>
                      <p:cNvPicPr/>
                      <p:nvPr/>
                    </p:nvPicPr>
                    <p:blipFill>
                      <a:blip r:embed="rId2"/>
                      <a:stretch>
                        <a:fillRect/>
                      </a:stretch>
                    </p:blipFill>
                    <p:spPr>
                      <a:xfrm>
                        <a:off x="4800600" y="5067300"/>
                        <a:ext cx="7240270" cy="602615"/>
                      </a:xfrm>
                      <a:prstGeom prst="rect">
                        <a:avLst/>
                      </a:prstGeom>
                      <a:noFill/>
                      <a:ln w="38100">
                        <a:noFill/>
                        <a:miter/>
                      </a:ln>
                    </p:spPr>
                  </p:pic>
                </p:oleObj>
              </mc:Fallback>
            </mc:AlternateContent>
          </a:graphicData>
        </a:graphic>
      </p:graphicFrame>
      <p:sp>
        <p:nvSpPr>
          <p:cNvPr id="9" name="文本框 8"/>
          <p:cNvSpPr txBox="1"/>
          <p:nvPr/>
        </p:nvSpPr>
        <p:spPr>
          <a:xfrm>
            <a:off x="1295400" y="5981383"/>
            <a:ext cx="5080000" cy="305435"/>
          </a:xfrm>
          <a:prstGeom prst="rect">
            <a:avLst/>
          </a:prstGeom>
        </p:spPr>
        <p:txBody>
          <a:bodyPr>
            <a:spAutoFit/>
          </a:bodyPr>
          <a:lstStyle/>
          <a:p>
            <a:pPr marL="0" indent="0" algn="just" defTabSz="266700">
              <a:lnSpc>
                <a:spcPts val="1670"/>
              </a:lnSpc>
              <a:spcBef>
                <a:spcPct val="0"/>
              </a:spcBef>
              <a:spcAft>
                <a:spcPct val="0"/>
              </a:spcAft>
            </a:pPr>
            <a:r>
              <a:rPr lang="zh-CN" altLang="en-US" sz="3600">
                <a:latin typeface="宋体" panose="02010600030101010101" pitchFamily="2" charset="-122"/>
                <a:ea typeface="宋体" panose="02010600030101010101" pitchFamily="2" charset="-122"/>
              </a:rPr>
              <a:t>因而产生明文分组。</a:t>
            </a:r>
            <a:endParaRPr lang="zh-CN" altLang="en-US" sz="3600">
              <a:latin typeface="宋体" panose="02010600030101010101" pitchFamily="2" charset="-122"/>
              <a:ea typeface="宋体" panose="02010600030101010101" pitchFamily="2" charset="-122"/>
            </a:endParaRPr>
          </a:p>
        </p:txBody>
      </p:sp>
      <p:pic>
        <p:nvPicPr>
          <p:cNvPr id="1240" name="图片 12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9600" y="6438900"/>
            <a:ext cx="3097530" cy="1524635"/>
          </a:xfrm>
          <a:prstGeom prst="rect">
            <a:avLst/>
          </a:prstGeom>
        </p:spPr>
      </p:pic>
      <p:pic>
        <p:nvPicPr>
          <p:cNvPr id="1241" name="图片 12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39200" y="6438900"/>
            <a:ext cx="3097530" cy="1524635"/>
          </a:xfrm>
          <a:prstGeom prst="rect">
            <a:avLst/>
          </a:prstGeom>
        </p:spPr>
      </p:pic>
      <p:sp>
        <p:nvSpPr>
          <p:cNvPr id="10" name="文本框 9"/>
          <p:cNvSpPr txBox="1"/>
          <p:nvPr/>
        </p:nvSpPr>
        <p:spPr>
          <a:xfrm>
            <a:off x="5029200" y="8068310"/>
            <a:ext cx="2362200" cy="337185"/>
          </a:xfrm>
          <a:prstGeom prst="rect">
            <a:avLst/>
          </a:prstGeom>
        </p:spPr>
        <p:txBody>
          <a:bodyPr wrap="square">
            <a:spAutoFit/>
          </a:bodyPr>
          <a:lstStyle/>
          <a:p>
            <a:pPr defTabSz="266700"/>
            <a:r>
              <a:rPr lang="en-US" altLang="zh-CN" sz="1600">
                <a:latin typeface="Times New Roman" panose="02020603050405020304"/>
                <a:ea typeface="宋体" panose="02010600030101010101" pitchFamily="2" charset="-122"/>
              </a:rPr>
              <a:t>CBC</a:t>
            </a:r>
            <a:r>
              <a:rPr lang="zh-CN" altLang="en-US" sz="1600">
                <a:latin typeface="宋体" panose="02010600030101010101" pitchFamily="2" charset="-122"/>
                <a:ea typeface="宋体" panose="02010600030101010101" pitchFamily="2" charset="-122"/>
              </a:rPr>
              <a:t>模式的加密操作</a:t>
            </a:r>
            <a:r>
              <a:rPr lang="en-US" altLang="zh-CN" sz="1600">
                <a:latin typeface="Times New Roman" panose="02020603050405020304"/>
                <a:ea typeface="宋体" panose="02010600030101010101" pitchFamily="2" charset="-122"/>
              </a:rPr>
              <a:t> </a:t>
            </a:r>
            <a:endParaRPr lang="en-US" altLang="zh-CN" sz="1600">
              <a:latin typeface="Times New Roman" panose="02020603050405020304"/>
              <a:ea typeface="宋体" panose="02010600030101010101" pitchFamily="2" charset="-122"/>
            </a:endParaRPr>
          </a:p>
        </p:txBody>
      </p:sp>
      <p:sp>
        <p:nvSpPr>
          <p:cNvPr id="11" name="文本框 10"/>
          <p:cNvSpPr txBox="1"/>
          <p:nvPr/>
        </p:nvSpPr>
        <p:spPr>
          <a:xfrm>
            <a:off x="8839200" y="8068310"/>
            <a:ext cx="3404870" cy="368300"/>
          </a:xfrm>
          <a:prstGeom prst="rect">
            <a:avLst/>
          </a:prstGeom>
        </p:spPr>
        <p:txBody>
          <a:bodyPr>
            <a:noAutofit/>
          </a:bodyPr>
          <a:lstStyle/>
          <a:p>
            <a:pPr marL="0" indent="571500" algn="l" defTabSz="266700">
              <a:lnSpc>
                <a:spcPts val="1560"/>
              </a:lnSpc>
              <a:spcBef>
                <a:spcPts val="300"/>
              </a:spcBef>
              <a:spcAft>
                <a:spcPts val="600"/>
              </a:spcAft>
            </a:pPr>
            <a:r>
              <a:rPr lang="en-US" altLang="zh-CN" sz="1600">
                <a:solidFill>
                  <a:srgbClr val="000000"/>
                </a:solidFill>
                <a:latin typeface="Arial" panose="020B0604020202020204"/>
                <a:ea typeface="黑体" panose="02010609060101010101" charset="-122"/>
              </a:rPr>
              <a:t>CBC</a:t>
            </a:r>
            <a:r>
              <a:rPr lang="zh-CN" altLang="en-US" sz="1600">
                <a:solidFill>
                  <a:srgbClr val="000000"/>
                </a:solidFill>
                <a:latin typeface="黑体" panose="02010609060101010101" charset="-122"/>
                <a:ea typeface="黑体" panose="02010609060101010101" charset="-122"/>
              </a:rPr>
              <a:t>模式的解密操作</a:t>
            </a:r>
            <a:endParaRPr lang="zh-CN" altLang="en-US" sz="1600">
              <a:solidFill>
                <a:srgbClr val="000000"/>
              </a:solidFill>
              <a:latin typeface="黑体" panose="02010609060101010101" charset="-122"/>
              <a:ea typeface="黑体" panose="02010609060101010101" charset="-122"/>
            </a:endParaRPr>
          </a:p>
        </p:txBody>
      </p:sp>
      <p:sp>
        <p:nvSpPr>
          <p:cNvPr id="12" name="灯片编号占位符 11"/>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Group 2"/>
          <p:cNvGrpSpPr/>
          <p:nvPr/>
        </p:nvGrpSpPr>
        <p:grpSpPr>
          <a:xfrm>
            <a:off x="412090" y="1028700"/>
            <a:ext cx="7800783" cy="275915"/>
            <a:chOff x="0" y="0"/>
            <a:chExt cx="2054527" cy="72669"/>
          </a:xfrm>
        </p:grpSpPr>
        <p:sp>
          <p:nvSpPr>
            <p:cNvPr id="14"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5"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CBC</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模式</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9" name="组合 18"/>
          <p:cNvGrpSpPr/>
          <p:nvPr/>
        </p:nvGrpSpPr>
        <p:grpSpPr>
          <a:xfrm>
            <a:off x="13639786" y="733421"/>
            <a:ext cx="3700052" cy="416951"/>
            <a:chOff x="13811849" y="507954"/>
            <a:chExt cx="3700052" cy="416951"/>
          </a:xfrm>
        </p:grpSpPr>
        <p:sp>
          <p:nvSpPr>
            <p:cNvPr id="20" name="文本框 19"/>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1" name="图片 20"/>
            <p:cNvPicPr>
              <a:picLocks noChangeAspect="1"/>
            </p:cNvPicPr>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30"/>
          <p:cNvSpPr txBox="1"/>
          <p:nvPr/>
        </p:nvSpPr>
        <p:spPr>
          <a:xfrm>
            <a:off x="1219200" y="2247900"/>
            <a:ext cx="15909925" cy="6064885"/>
          </a:xfrm>
          <a:prstGeom prst="rect">
            <a:avLst/>
          </a:prstGeom>
          <a:noFill/>
        </p:spPr>
        <p:txBody>
          <a:bodyPr wrap="square" rtlCol="0" anchor="t">
            <a:noAutofit/>
          </a:bodyPr>
          <a:lstStyle/>
          <a:p>
            <a:r>
              <a:rPr lang="en-US" altLang="zh-CN" sz="3600" dirty="0"/>
              <a:t>       </a:t>
            </a:r>
            <a:r>
              <a:rPr lang="zh-CN" altLang="en-US" sz="3600" dirty="0">
                <a:latin typeface="Times New Roman" panose="02020603050405020304" pitchFamily="18" charset="0"/>
                <a:cs typeface="Times New Roman" panose="02020603050405020304" pitchFamily="18" charset="0"/>
              </a:rPr>
              <a:t>在产生第</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个密文分组时，需要有一个初始变量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与第</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个明文分组异或。解密时，初始变量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和解密算法对第</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个密文分组的输出进行异或以恢复第</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个明文分组。初始变量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对于收发双方都应是已知的，为使安全性提高，初始变量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应像密钥一样被保护，可使用</a:t>
            </a:r>
            <a:r>
              <a:rPr lang="en-US" altLang="zh-CN" sz="3600" dirty="0">
                <a:latin typeface="Times New Roman" panose="02020603050405020304" pitchFamily="18" charset="0"/>
                <a:cs typeface="Times New Roman" panose="02020603050405020304" pitchFamily="18" charset="0"/>
              </a:rPr>
              <a:t>ECB</a:t>
            </a:r>
            <a:r>
              <a:rPr lang="zh-CN" altLang="en-US" sz="3600" dirty="0">
                <a:latin typeface="Times New Roman" panose="02020603050405020304" pitchFamily="18" charset="0"/>
                <a:cs typeface="Times New Roman" panose="02020603050405020304" pitchFamily="18" charset="0"/>
              </a:rPr>
              <a:t>模式来发送初始变量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。保护初始变量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的原因如下：</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，如果攻击者能欺骗接收方使用不同的初始变量</a:t>
            </a:r>
            <a:r>
              <a:rPr lang="en-US" altLang="zh-CN" sz="3600" dirty="0">
                <a:latin typeface="Times New Roman" panose="02020603050405020304" pitchFamily="18" charset="0"/>
                <a:cs typeface="Times New Roman" panose="02020603050405020304" pitchFamily="18" charset="0"/>
              </a:rPr>
              <a:t>IV</a:t>
            </a:r>
            <a:r>
              <a:rPr lang="zh-CN" altLang="en-US" sz="3600" dirty="0">
                <a:latin typeface="Times New Roman" panose="02020603050405020304" pitchFamily="18" charset="0"/>
                <a:cs typeface="Times New Roman" panose="02020603050405020304" pitchFamily="18" charset="0"/>
              </a:rPr>
              <a:t>，那么攻击者就能够在明文的第</a:t>
            </a:r>
            <a:r>
              <a:rPr lang="en-US" altLang="zh-CN" sz="36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个分组中插入自己选择的比特值。用表示</a:t>
            </a:r>
            <a:r>
              <a:rPr lang="en-US" altLang="zh-CN" sz="3600" dirty="0">
                <a:latin typeface="Times New Roman" panose="02020603050405020304" pitchFamily="18" charset="0"/>
                <a:cs typeface="Times New Roman" panose="02020603050405020304" pitchFamily="18" charset="0"/>
              </a:rPr>
              <a:t>64bit</a:t>
            </a:r>
            <a:r>
              <a:rPr lang="zh-CN" altLang="en-US" sz="3600" dirty="0">
                <a:latin typeface="Times New Roman" panose="02020603050405020304" pitchFamily="18" charset="0"/>
                <a:cs typeface="Times New Roman" panose="02020603050405020304" pitchFamily="18" charset="0"/>
              </a:rPr>
              <a:t>分组的第个比特，那么，由异或的性质得</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，其中撇号（＇）表示比特补。若攻击者篡改初始变量中的某些比特，则接收方收到的中相应的比特也会发生变化。由于</a:t>
            </a:r>
            <a:r>
              <a:rPr lang="en-US" altLang="zh-CN" sz="3600" dirty="0">
                <a:latin typeface="Times New Roman" panose="02020603050405020304" pitchFamily="18" charset="0"/>
                <a:cs typeface="Times New Roman" panose="02020603050405020304" pitchFamily="18" charset="0"/>
              </a:rPr>
              <a:t>CBC</a:t>
            </a:r>
            <a:r>
              <a:rPr lang="zh-CN" altLang="en-US" sz="3600" dirty="0">
                <a:latin typeface="Times New Roman" panose="02020603050405020304" pitchFamily="18" charset="0"/>
                <a:cs typeface="Times New Roman" panose="02020603050405020304" pitchFamily="18" charset="0"/>
              </a:rPr>
              <a:t>模式的链接机制，</a:t>
            </a:r>
            <a:r>
              <a:rPr lang="en-US" altLang="zh-CN" sz="3600" dirty="0">
                <a:latin typeface="Times New Roman" panose="02020603050405020304" pitchFamily="18" charset="0"/>
                <a:cs typeface="Times New Roman" panose="02020603050405020304" pitchFamily="18" charset="0"/>
              </a:rPr>
              <a:t>CBC</a:t>
            </a:r>
            <a:r>
              <a:rPr lang="zh-CN" altLang="en-US" sz="3600" dirty="0">
                <a:latin typeface="Times New Roman" panose="02020603050405020304" pitchFamily="18" charset="0"/>
                <a:cs typeface="Times New Roman" panose="02020603050405020304" pitchFamily="18" charset="0"/>
              </a:rPr>
              <a:t>模式非常适合加密长于</a:t>
            </a:r>
            <a:r>
              <a:rPr lang="en-US" altLang="zh-CN" sz="3600" dirty="0">
                <a:latin typeface="Times New Roman" panose="02020603050405020304" pitchFamily="18" charset="0"/>
                <a:cs typeface="Times New Roman" panose="02020603050405020304" pitchFamily="18" charset="0"/>
              </a:rPr>
              <a:t>64bit</a:t>
            </a:r>
            <a:r>
              <a:rPr lang="zh-CN" altLang="en-US" sz="3600" dirty="0">
                <a:latin typeface="Times New Roman" panose="02020603050405020304" pitchFamily="18" charset="0"/>
                <a:cs typeface="Times New Roman" panose="02020603050405020304" pitchFamily="18" charset="0"/>
              </a:rPr>
              <a:t>的消息。</a:t>
            </a:r>
            <a:endParaRPr lang="zh-CN" altLang="en-US" sz="3600" dirty="0">
              <a:latin typeface="Times New Roman" panose="02020603050405020304" pitchFamily="18" charset="0"/>
              <a:cs typeface="Times New Roman" panose="02020603050405020304" pitchFamily="18" charset="0"/>
            </a:endParaRPr>
          </a:p>
          <a:p>
            <a:r>
              <a:rPr lang="en-US" altLang="zh-CN" sz="3600" dirty="0">
                <a:latin typeface="Times New Roman" panose="02020603050405020304" pitchFamily="18" charset="0"/>
                <a:cs typeface="Times New Roman" panose="02020603050405020304" pitchFamily="18" charset="0"/>
              </a:rPr>
              <a:t>        CBC</a:t>
            </a:r>
            <a:r>
              <a:rPr lang="zh-CN" altLang="en-US" sz="3600" dirty="0">
                <a:latin typeface="Times New Roman" panose="02020603050405020304" pitchFamily="18" charset="0"/>
                <a:cs typeface="Times New Roman" panose="02020603050405020304" pitchFamily="18" charset="0"/>
              </a:rPr>
              <a:t>模式除能够获得保密性，还能用于认证。</a:t>
            </a:r>
            <a:endParaRPr lang="zh-CN" altLang="en-US" sz="3600" dirty="0">
              <a:latin typeface="Times New Roman" panose="02020603050405020304" pitchFamily="18" charset="0"/>
              <a:cs typeface="Times New Roman" panose="02020603050405020304" pitchFamily="18" charset="0"/>
            </a:endParaRPr>
          </a:p>
        </p:txBody>
      </p:sp>
      <p:graphicFrame>
        <p:nvGraphicFramePr>
          <p:cNvPr id="6" name="对象 -2147482076"/>
          <p:cNvGraphicFramePr>
            <a:graphicFrameLocks noChangeAspect="1"/>
          </p:cNvGraphicFramePr>
          <p:nvPr/>
        </p:nvGraphicFramePr>
        <p:xfrm>
          <a:off x="4231005" y="4533900"/>
          <a:ext cx="2169795" cy="536575"/>
        </p:xfrm>
        <a:graphic>
          <a:graphicData uri="http://schemas.openxmlformats.org/presentationml/2006/ole">
            <mc:AlternateContent xmlns:mc="http://schemas.openxmlformats.org/markup-compatibility/2006">
              <mc:Choice xmlns:v="urn:schemas-microsoft-com:vml" Requires="v">
                <p:oleObj spid="_x0000_s0" name="" r:id="rId1" imgW="862965" imgH="215900" progId="Equation.DSMT4">
                  <p:embed/>
                </p:oleObj>
              </mc:Choice>
              <mc:Fallback>
                <p:oleObj name="" r:id="rId1" imgW="862965" imgH="215900" progId="Equation.DSMT4">
                  <p:embed/>
                  <p:pic>
                    <p:nvPicPr>
                      <p:cNvPr id="0" name="图片 31"/>
                      <p:cNvPicPr/>
                      <p:nvPr/>
                    </p:nvPicPr>
                    <p:blipFill>
                      <a:blip r:embed="rId2"/>
                      <a:stretch>
                        <a:fillRect/>
                      </a:stretch>
                    </p:blipFill>
                    <p:spPr>
                      <a:xfrm>
                        <a:off x="4231005" y="4533900"/>
                        <a:ext cx="2169795" cy="536575"/>
                      </a:xfrm>
                      <a:prstGeom prst="rect">
                        <a:avLst/>
                      </a:prstGeom>
                      <a:noFill/>
                      <a:ln w="38100">
                        <a:noFill/>
                        <a:miter/>
                      </a:ln>
                    </p:spPr>
                  </p:pic>
                </p:oleObj>
              </mc:Fallback>
            </mc:AlternateContent>
          </a:graphicData>
        </a:graphic>
      </p:graphicFrame>
      <p:graphicFrame>
        <p:nvGraphicFramePr>
          <p:cNvPr id="8" name="对象 -2147482075"/>
          <p:cNvGraphicFramePr>
            <a:graphicFrameLocks noChangeAspect="1"/>
          </p:cNvGraphicFramePr>
          <p:nvPr/>
        </p:nvGraphicFramePr>
        <p:xfrm>
          <a:off x="6858000" y="4526692"/>
          <a:ext cx="2153920" cy="508635"/>
        </p:xfrm>
        <a:graphic>
          <a:graphicData uri="http://schemas.openxmlformats.org/presentationml/2006/ole">
            <mc:AlternateContent xmlns:mc="http://schemas.openxmlformats.org/markup-compatibility/2006">
              <mc:Choice xmlns:v="urn:schemas-microsoft-com:vml" Requires="v">
                <p:oleObj spid="_x0000_s0" name="" r:id="rId3" imgW="901065" imgH="215900" progId="Equation.DSMT4">
                  <p:embed/>
                </p:oleObj>
              </mc:Choice>
              <mc:Fallback>
                <p:oleObj name="" r:id="rId3" imgW="901065" imgH="215900" progId="Equation.DSMT4">
                  <p:embed/>
                  <p:pic>
                    <p:nvPicPr>
                      <p:cNvPr id="0" name="图片 32"/>
                      <p:cNvPicPr/>
                      <p:nvPr/>
                    </p:nvPicPr>
                    <p:blipFill>
                      <a:blip r:embed="rId4"/>
                      <a:stretch>
                        <a:fillRect/>
                      </a:stretch>
                    </p:blipFill>
                    <p:spPr>
                      <a:xfrm>
                        <a:off x="6858000" y="4526692"/>
                        <a:ext cx="2153920" cy="508635"/>
                      </a:xfrm>
                      <a:prstGeom prst="rect">
                        <a:avLst/>
                      </a:prstGeom>
                      <a:noFill/>
                      <a:ln w="38100">
                        <a:noFill/>
                        <a:miter/>
                      </a:ln>
                    </p:spPr>
                  </p:pic>
                </p:oleObj>
              </mc:Fallback>
            </mc:AlternateContent>
          </a:graphicData>
        </a:graphic>
      </p:graphicFrame>
      <p:graphicFrame>
        <p:nvGraphicFramePr>
          <p:cNvPr id="9" name="对象 -2147482070"/>
          <p:cNvGraphicFramePr>
            <a:graphicFrameLocks noChangeAspect="1"/>
          </p:cNvGraphicFramePr>
          <p:nvPr/>
        </p:nvGraphicFramePr>
        <p:xfrm>
          <a:off x="11911329" y="5676900"/>
          <a:ext cx="3241675" cy="506095"/>
        </p:xfrm>
        <a:graphic>
          <a:graphicData uri="http://schemas.openxmlformats.org/presentationml/2006/ole">
            <mc:AlternateContent xmlns:mc="http://schemas.openxmlformats.org/markup-compatibility/2006">
              <mc:Choice xmlns:v="urn:schemas-microsoft-com:vml" Requires="v">
                <p:oleObj spid="_x0000_s0" name="" r:id="rId5" imgW="1358265" imgH="215900" progId="Equation.DSMT4">
                  <p:embed/>
                </p:oleObj>
              </mc:Choice>
              <mc:Fallback>
                <p:oleObj name="" r:id="rId5" imgW="1358265" imgH="215900" progId="Equation.DSMT4">
                  <p:embed/>
                  <p:pic>
                    <p:nvPicPr>
                      <p:cNvPr id="0" name="图片 33"/>
                      <p:cNvPicPr/>
                      <p:nvPr/>
                    </p:nvPicPr>
                    <p:blipFill>
                      <a:blip r:embed="rId6"/>
                      <a:stretch>
                        <a:fillRect/>
                      </a:stretch>
                    </p:blipFill>
                    <p:spPr>
                      <a:xfrm>
                        <a:off x="11911329" y="5676900"/>
                        <a:ext cx="3241675" cy="506095"/>
                      </a:xfrm>
                      <a:prstGeom prst="rect">
                        <a:avLst/>
                      </a:prstGeom>
                      <a:noFill/>
                      <a:ln w="38100">
                        <a:noFill/>
                        <a:miter/>
                      </a:ln>
                    </p:spPr>
                  </p:pic>
                </p:oleObj>
              </mc:Fallback>
            </mc:AlternateContent>
          </a:graphicData>
        </a:graphic>
      </p:graphicFrame>
      <p:sp>
        <p:nvSpPr>
          <p:cNvPr id="10" name="灯片编号占位符 9"/>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1" name="Group 2"/>
          <p:cNvGrpSpPr/>
          <p:nvPr/>
        </p:nvGrpSpPr>
        <p:grpSpPr>
          <a:xfrm>
            <a:off x="412090" y="1028700"/>
            <a:ext cx="7800783" cy="275915"/>
            <a:chOff x="0" y="0"/>
            <a:chExt cx="2054527" cy="72669"/>
          </a:xfrm>
        </p:grpSpPr>
        <p:sp>
          <p:nvSpPr>
            <p:cNvPr id="1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4"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CBC</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模式</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9" name="图片 18"/>
            <p:cNvPicPr>
              <a:picLocks noChangeAspect="1"/>
            </p:cNvPicPr>
            <p:nvPr/>
          </p:nvPicPr>
          <p:blipFill>
            <a:blip r:embed="rId8"/>
            <a:stretch>
              <a:fillRect/>
            </a:stretch>
          </p:blipFill>
          <p:spPr>
            <a:xfrm>
              <a:off x="13944600" y="877286"/>
              <a:ext cx="2771429" cy="47619"/>
            </a:xfrm>
            <a:prstGeom prst="rect">
              <a:avLst/>
            </a:prstGeom>
          </p:spPr>
        </p:pic>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790700"/>
            <a:ext cx="16329025" cy="3044190"/>
          </a:xfrm>
          <a:prstGeom prst="rect">
            <a:avLst/>
          </a:prstGeom>
          <a:noFill/>
        </p:spPr>
        <p:txBody>
          <a:bodyPr wrap="square" rtlCol="0" anchor="t">
            <a:spAutoFit/>
          </a:bodyPr>
          <a:lstStyle/>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是分组长度为</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64bit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的分组密码，但利用</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CFB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模式或</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OFB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模式可将</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DES</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转换为流密码。</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CFB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模式的加密操作和</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CFB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模式的解密操作分别如图</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3.20</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和图</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3.21</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所示。设传送的每个单元（如一个字符）是</a:t>
            </a:r>
            <a:r>
              <a:rPr lang="en-US" altLang="zh-CN" sz="3200" dirty="0" err="1">
                <a:solidFill>
                  <a:srgbClr val="000000"/>
                </a:solidFill>
                <a:latin typeface="Times New Roman" panose="02020603050405020304" pitchFamily="18" charset="0"/>
                <a:ea typeface="宋体" panose="02010600030101010101" pitchFamily="2" charset="-122"/>
                <a:cs typeface="字由点字典黑 2"/>
              </a:rPr>
              <a:t>jbit</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长，通常取</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j=8</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，与</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CBC</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模式一样，明文单元被链接在一起，使得密文是前面所有明文的函数。</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a:p>
            <a:pPr indent="812800" algn="just" latinLnBrk="1">
              <a:lnSpc>
                <a:spcPct val="120000"/>
              </a:lnSpc>
              <a:buClrTx/>
              <a:buSzTx/>
              <a:buFontTx/>
              <a:extLst>
                <a:ext uri="{35155182-B16C-46BC-9424-99874614C6A1}">
                  <wpsdc:indentchars xmlns:wpsdc="http://www.wps.cn/officeDocument/2017/drawingmlCustomData" val="200" checksum="3877492575"/>
                </a:ext>
              </a:extLst>
            </a:pP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pic>
        <p:nvPicPr>
          <p:cNvPr id="1242" name="图片 124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19400" y="4381500"/>
            <a:ext cx="4986655" cy="1275715"/>
          </a:xfrm>
          <a:prstGeom prst="rect">
            <a:avLst/>
          </a:prstGeom>
        </p:spPr>
      </p:pic>
      <p:pic>
        <p:nvPicPr>
          <p:cNvPr id="1243" name="图片 124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3600" y="4381500"/>
            <a:ext cx="4893310" cy="1251585"/>
          </a:xfrm>
          <a:prstGeom prst="rect">
            <a:avLst/>
          </a:prstGeom>
        </p:spPr>
      </p:pic>
      <p:sp>
        <p:nvSpPr>
          <p:cNvPr id="9" name="文本框 8"/>
          <p:cNvSpPr txBox="1"/>
          <p:nvPr/>
        </p:nvSpPr>
        <p:spPr>
          <a:xfrm>
            <a:off x="3581400" y="5828983"/>
            <a:ext cx="5080000" cy="337185"/>
          </a:xfrm>
          <a:prstGeom prst="rect">
            <a:avLst/>
          </a:prstGeom>
        </p:spPr>
        <p:txBody>
          <a:bodyPr>
            <a:spAutoFit/>
          </a:bodyPr>
          <a:lstStyle/>
          <a:p>
            <a:pPr defTabSz="266700"/>
            <a:r>
              <a:rPr lang="zh-CN" altLang="en-US" sz="1600">
                <a:latin typeface="宋体" panose="02010600030101010101" pitchFamily="2" charset="-122"/>
                <a:ea typeface="宋体" panose="02010600030101010101" pitchFamily="2" charset="-122"/>
              </a:rPr>
              <a:t>图</a:t>
            </a:r>
            <a:r>
              <a:rPr lang="en-US" altLang="zh-CN" sz="1600">
                <a:latin typeface="Times New Roman" panose="02020603050405020304"/>
                <a:ea typeface="宋体" panose="02010600030101010101" pitchFamily="2" charset="-122"/>
              </a:rPr>
              <a:t>3.</a:t>
            </a:r>
            <a:r>
              <a:rPr lang="en-US" altLang="zh-CN" sz="1600">
                <a:latin typeface="Times New Roman" panose="02020603050405020304"/>
                <a:ea typeface="Times New Roman" panose="02020603050405020304"/>
              </a:rPr>
              <a:t>20</a:t>
            </a:r>
            <a:r>
              <a:rPr lang="zh-CN" altLang="en-US" sz="1600">
                <a:latin typeface="Times New Roman" panose="02020603050405020304"/>
                <a:ea typeface="宋体" panose="02010600030101010101" pitchFamily="2" charset="-122"/>
              </a:rPr>
              <a:t>　</a:t>
            </a:r>
            <a:r>
              <a:rPr lang="en-US" altLang="zh-CN" sz="1600">
                <a:latin typeface="Times New Roman" panose="02020603050405020304"/>
                <a:ea typeface="宋体" panose="02010600030101010101" pitchFamily="2" charset="-122"/>
              </a:rPr>
              <a:t>CFB</a:t>
            </a:r>
            <a:r>
              <a:rPr lang="zh-CN" altLang="en-US" sz="1600">
                <a:latin typeface="宋体" panose="02010600030101010101" pitchFamily="2" charset="-122"/>
                <a:ea typeface="宋体" panose="02010600030101010101" pitchFamily="2" charset="-122"/>
              </a:rPr>
              <a:t>模式的加密操作</a:t>
            </a:r>
            <a:endParaRPr lang="zh-CN" altLang="en-US" sz="1600">
              <a:latin typeface="宋体" panose="02010600030101010101" pitchFamily="2" charset="-122"/>
              <a:ea typeface="宋体" panose="02010600030101010101" pitchFamily="2" charset="-122"/>
            </a:endParaRPr>
          </a:p>
        </p:txBody>
      </p:sp>
      <p:sp>
        <p:nvSpPr>
          <p:cNvPr id="10" name="文本框 9"/>
          <p:cNvSpPr txBox="1"/>
          <p:nvPr/>
        </p:nvSpPr>
        <p:spPr>
          <a:xfrm>
            <a:off x="9906000" y="5829617"/>
            <a:ext cx="5080000" cy="291465"/>
          </a:xfrm>
          <a:prstGeom prst="rect">
            <a:avLst/>
          </a:prstGeom>
        </p:spPr>
        <p:txBody>
          <a:bodyPr>
            <a:spAutoFit/>
          </a:bodyPr>
          <a:lstStyle/>
          <a:p>
            <a:pPr indent="571500" defTabSz="266700">
              <a:lnSpc>
                <a:spcPts val="1560"/>
              </a:lnSpc>
              <a:spcBef>
                <a:spcPts val="300"/>
              </a:spcBef>
              <a:spcAft>
                <a:spcPts val="600"/>
              </a:spcAft>
            </a:pPr>
            <a:r>
              <a:rPr lang="zh-CN" altLang="en-US" sz="1600">
                <a:solidFill>
                  <a:srgbClr val="000000"/>
                </a:solidFill>
                <a:latin typeface="黑体" panose="02010609060101010101" charset="-122"/>
                <a:ea typeface="黑体" panose="02010609060101010101" charset="-122"/>
              </a:rPr>
              <a:t>图</a:t>
            </a:r>
            <a:r>
              <a:rPr lang="en-US" altLang="zh-CN" sz="1600">
                <a:solidFill>
                  <a:srgbClr val="000000"/>
                </a:solidFill>
                <a:latin typeface="Arial" panose="020B0604020202020204"/>
                <a:ea typeface="黑体" panose="02010609060101010101" charset="-122"/>
              </a:rPr>
              <a:t>3.</a:t>
            </a:r>
            <a:r>
              <a:rPr lang="en-US" altLang="zh-CN" sz="1600">
                <a:solidFill>
                  <a:srgbClr val="000000"/>
                </a:solidFill>
                <a:latin typeface="Arial" panose="020B0604020202020204"/>
                <a:ea typeface="Arial" panose="020B0604020202020204"/>
              </a:rPr>
              <a:t>21</a:t>
            </a:r>
            <a:r>
              <a:rPr lang="zh-CN" altLang="en-US" sz="1600">
                <a:solidFill>
                  <a:srgbClr val="000000"/>
                </a:solidFill>
                <a:latin typeface="Arial" panose="020B0604020202020204"/>
                <a:ea typeface="黑体" panose="02010609060101010101" charset="-122"/>
              </a:rPr>
              <a:t>　</a:t>
            </a:r>
            <a:r>
              <a:rPr lang="en-US" altLang="zh-CN" sz="1600">
                <a:solidFill>
                  <a:srgbClr val="000000"/>
                </a:solidFill>
                <a:latin typeface="Arial" panose="020B0604020202020204"/>
                <a:ea typeface="黑体" panose="02010609060101010101" charset="-122"/>
              </a:rPr>
              <a:t>CFB</a:t>
            </a:r>
            <a:r>
              <a:rPr lang="zh-CN" altLang="en-US" sz="1600">
                <a:solidFill>
                  <a:srgbClr val="000000"/>
                </a:solidFill>
                <a:latin typeface="黑体" panose="02010609060101010101" charset="-122"/>
                <a:ea typeface="黑体" panose="02010609060101010101" charset="-122"/>
              </a:rPr>
              <a:t>模式的解密操作</a:t>
            </a:r>
            <a:endParaRPr lang="zh-CN" altLang="en-US" sz="1600">
              <a:solidFill>
                <a:srgbClr val="000000"/>
              </a:solidFill>
              <a:latin typeface="黑体" panose="02010609060101010101" charset="-122"/>
              <a:ea typeface="黑体" panose="02010609060101010101" charset="-122"/>
            </a:endParaRPr>
          </a:p>
        </p:txBody>
      </p:sp>
      <p:sp>
        <p:nvSpPr>
          <p:cNvPr id="24" name="文本框 23"/>
          <p:cNvSpPr txBox="1"/>
          <p:nvPr/>
        </p:nvSpPr>
        <p:spPr>
          <a:xfrm>
            <a:off x="762000" y="6272530"/>
            <a:ext cx="16577838" cy="3682365"/>
          </a:xfrm>
          <a:prstGeom prst="rect">
            <a:avLst/>
          </a:prstGeom>
          <a:noFill/>
        </p:spPr>
        <p:txBody>
          <a:bodyPr wrap="square" rtlCol="0" anchor="t">
            <a:noAutofit/>
          </a:bodyPr>
          <a:lstStyle/>
          <a:p>
            <a:r>
              <a:rPr lang="en-US" altLang="zh-CN" sz="3600" dirty="0"/>
              <a:t>           </a:t>
            </a:r>
            <a:r>
              <a:rPr lang="zh-CN" altLang="en-US" sz="3600" dirty="0">
                <a:latin typeface="Times New Roman" panose="02020603050405020304" pitchFamily="18" charset="0"/>
                <a:cs typeface="Times New Roman" panose="02020603050405020304" pitchFamily="18" charset="0"/>
              </a:rPr>
              <a:t>加密时，加密算法的输入是</a:t>
            </a:r>
            <a:r>
              <a:rPr lang="en-US" altLang="zh-CN" sz="3600" dirty="0">
                <a:latin typeface="Times New Roman" panose="02020603050405020304" pitchFamily="18" charset="0"/>
                <a:cs typeface="Times New Roman" panose="02020603050405020304" pitchFamily="18" charset="0"/>
              </a:rPr>
              <a:t>64bit</a:t>
            </a:r>
            <a:r>
              <a:rPr lang="zh-CN" altLang="en-US" sz="3600" dirty="0">
                <a:latin typeface="Times New Roman" panose="02020603050405020304" pitchFamily="18" charset="0"/>
                <a:cs typeface="Times New Roman" panose="02020603050405020304" pitchFamily="18" charset="0"/>
              </a:rPr>
              <a:t>移位寄存器，其初值为某个初始变量</a:t>
            </a:r>
            <a:r>
              <a:rPr lang="en-US" altLang="zh-CN" sz="3600" dirty="0">
                <a:latin typeface="Times New Roman" panose="02020603050405020304" pitchFamily="18" charset="0"/>
                <a:cs typeface="Times New Roman" panose="02020603050405020304" pitchFamily="18" charset="0"/>
              </a:rPr>
              <a:t>Ⅳ</a:t>
            </a:r>
            <a:r>
              <a:rPr lang="zh-CN" altLang="en-US" sz="3600" dirty="0">
                <a:latin typeface="Times New Roman" panose="02020603050405020304" pitchFamily="18" charset="0"/>
                <a:cs typeface="Times New Roman" panose="02020603050405020304" pitchFamily="18" charset="0"/>
              </a:rPr>
              <a:t>。加密算法输出的最左边的</a:t>
            </a:r>
            <a:r>
              <a:rPr lang="en-US" altLang="zh-CN" sz="3600" dirty="0" err="1">
                <a:latin typeface="Times New Roman" panose="02020603050405020304" pitchFamily="18" charset="0"/>
                <a:cs typeface="Times New Roman" panose="02020603050405020304" pitchFamily="18" charset="0"/>
              </a:rPr>
              <a:t>jbit</a:t>
            </a:r>
            <a:r>
              <a:rPr lang="zh-CN" altLang="en-US" sz="3600" dirty="0">
                <a:latin typeface="Times New Roman" panose="02020603050405020304" pitchFamily="18" charset="0"/>
                <a:cs typeface="Times New Roman" panose="02020603050405020304" pitchFamily="18" charset="0"/>
              </a:rPr>
              <a:t>（最高有效位）与明文的第一个单元进行异或，产生密文的第一个单元</a:t>
            </a:r>
            <a:r>
              <a:rPr lang="en-US" altLang="zh-CN" sz="3600" dirty="0">
                <a:latin typeface="Times New Roman" panose="02020603050405020304" pitchFamily="18" charset="0"/>
                <a:cs typeface="Times New Roman" panose="02020603050405020304" pitchFamily="18" charset="0"/>
              </a:rPr>
              <a:t>x</a:t>
            </a:r>
            <a:r>
              <a:rPr lang="en-US" altLang="zh-CN" sz="3600" baseline="-250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，并传送该单元，然后将移位寄存器的内容左移</a:t>
            </a:r>
            <a:r>
              <a:rPr lang="en-US" altLang="zh-CN" sz="3600" dirty="0">
                <a:latin typeface="Times New Roman" panose="02020603050405020304" pitchFamily="18" charset="0"/>
                <a:cs typeface="Times New Roman" panose="02020603050405020304" pitchFamily="18" charset="0"/>
              </a:rPr>
              <a:t>j</a:t>
            </a:r>
            <a:r>
              <a:rPr lang="zh-CN" altLang="en-US" sz="3600" dirty="0">
                <a:latin typeface="Times New Roman" panose="02020603050405020304" pitchFamily="18" charset="0"/>
                <a:cs typeface="Times New Roman" panose="02020603050405020304" pitchFamily="18" charset="0"/>
              </a:rPr>
              <a:t>位并将</a:t>
            </a:r>
            <a:r>
              <a:rPr lang="en-US" altLang="zh-CN" sz="3600" dirty="0">
                <a:latin typeface="Times New Roman" panose="02020603050405020304" pitchFamily="18" charset="0"/>
                <a:cs typeface="Times New Roman" panose="02020603050405020304" pitchFamily="18" charset="0"/>
              </a:rPr>
              <a:t>y</a:t>
            </a:r>
            <a:r>
              <a:rPr lang="en-US" altLang="zh-CN" sz="3600" baseline="-250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送入移位寄存器最右边的</a:t>
            </a:r>
            <a:r>
              <a:rPr lang="en-US" altLang="zh-CN" sz="3600" dirty="0">
                <a:latin typeface="Times New Roman" panose="02020603050405020304" pitchFamily="18" charset="0"/>
                <a:cs typeface="Times New Roman" panose="02020603050405020304" pitchFamily="18" charset="0"/>
              </a:rPr>
              <a:t>j</a:t>
            </a:r>
            <a:r>
              <a:rPr lang="zh-CN" altLang="en-US" sz="3600" dirty="0">
                <a:latin typeface="Times New Roman" panose="02020603050405020304" pitchFamily="18" charset="0"/>
                <a:cs typeface="Times New Roman" panose="02020603050405020304" pitchFamily="18" charset="0"/>
              </a:rPr>
              <a:t>位，这一过程一直进行到明文的所有单元都被加密为止。解密时，将收到的密文单元与加密函数的输出进行异或。注意这时仍然使用加密算法而不是解密算法，原因为：设</a:t>
            </a:r>
            <a:r>
              <a:rPr lang="en-US" altLang="zh-CN" sz="3600" dirty="0" err="1">
                <a:latin typeface="Times New Roman" panose="02020603050405020304" pitchFamily="18" charset="0"/>
                <a:cs typeface="Times New Roman" panose="02020603050405020304" pitchFamily="18" charset="0"/>
              </a:rPr>
              <a:t>S</a:t>
            </a:r>
            <a:r>
              <a:rPr lang="en-US" altLang="zh-CN" sz="3600" baseline="-25000" dirty="0" err="1">
                <a:latin typeface="Times New Roman" panose="02020603050405020304" pitchFamily="18" charset="0"/>
                <a:cs typeface="Times New Roman" panose="02020603050405020304" pitchFamily="18" charset="0"/>
              </a:rPr>
              <a:t>j</a:t>
            </a:r>
            <a:r>
              <a:rPr lang="en-US" altLang="zh-CN" sz="3600" dirty="0">
                <a:latin typeface="Times New Roman" panose="02020603050405020304" pitchFamily="18" charset="0"/>
                <a:cs typeface="Times New Roman" panose="02020603050405020304" pitchFamily="18" charset="0"/>
              </a:rPr>
              <a:t>(X)</a:t>
            </a:r>
            <a:r>
              <a:rPr lang="zh-CN" altLang="en-US" sz="3600" dirty="0">
                <a:latin typeface="Times New Roman" panose="02020603050405020304" pitchFamily="18" charset="0"/>
                <a:cs typeface="Times New Roman" panose="02020603050405020304" pitchFamily="18" charset="0"/>
              </a:rPr>
              <a:t>是</a:t>
            </a:r>
            <a:r>
              <a:rPr lang="en-US" altLang="zh-CN" sz="3600" dirty="0">
                <a:latin typeface="Times New Roman" panose="02020603050405020304" pitchFamily="18" charset="0"/>
                <a:cs typeface="Times New Roman" panose="02020603050405020304" pitchFamily="18" charset="0"/>
              </a:rPr>
              <a:t>X</a:t>
            </a:r>
            <a:r>
              <a:rPr lang="zh-CN" altLang="en-US" sz="3600" dirty="0">
                <a:latin typeface="Times New Roman" panose="02020603050405020304" pitchFamily="18" charset="0"/>
                <a:cs typeface="Times New Roman" panose="02020603050405020304" pitchFamily="18" charset="0"/>
              </a:rPr>
              <a:t>的</a:t>
            </a:r>
            <a:r>
              <a:rPr lang="en-US" altLang="zh-CN" sz="3600" dirty="0">
                <a:latin typeface="Times New Roman" panose="02020603050405020304" pitchFamily="18" charset="0"/>
                <a:cs typeface="Times New Roman" panose="02020603050405020304" pitchFamily="18" charset="0"/>
              </a:rPr>
              <a:t>j</a:t>
            </a:r>
            <a:r>
              <a:rPr lang="zh-CN" altLang="en-US" sz="3600" dirty="0">
                <a:latin typeface="Times New Roman" panose="02020603050405020304" pitchFamily="18" charset="0"/>
                <a:cs typeface="Times New Roman" panose="02020603050405020304" pitchFamily="18" charset="0"/>
              </a:rPr>
              <a:t>个最高有效位，那   </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。可证明以后各步也有类似的这种关系。</a:t>
            </a:r>
            <a:endParaRPr lang="zh-CN" altLang="en-US" sz="3600" dirty="0">
              <a:latin typeface="Times New Roman" panose="02020603050405020304" pitchFamily="18" charset="0"/>
              <a:cs typeface="Times New Roman" panose="02020603050405020304" pitchFamily="18" charset="0"/>
            </a:endParaRPr>
          </a:p>
          <a:p>
            <a:endParaRPr lang="zh-CN" altLang="en-US" sz="3600" dirty="0"/>
          </a:p>
        </p:txBody>
      </p:sp>
      <p:graphicFrame>
        <p:nvGraphicFramePr>
          <p:cNvPr id="8" name="对象 -2147482060"/>
          <p:cNvGraphicFramePr>
            <a:graphicFrameLocks noChangeAspect="1"/>
          </p:cNvGraphicFramePr>
          <p:nvPr/>
        </p:nvGraphicFramePr>
        <p:xfrm>
          <a:off x="13258800" y="9108123"/>
          <a:ext cx="2550160" cy="479425"/>
        </p:xfrm>
        <a:graphic>
          <a:graphicData uri="http://schemas.openxmlformats.org/presentationml/2006/ole">
            <mc:AlternateContent xmlns:mc="http://schemas.openxmlformats.org/markup-compatibility/2006">
              <mc:Choice xmlns:v="urn:schemas-microsoft-com:vml" Requires="v">
                <p:oleObj spid="_x0000_s0" name="" r:id="rId3" imgW="1054100" imgH="203200" progId="Equation.DSMT4">
                  <p:embed/>
                </p:oleObj>
              </mc:Choice>
              <mc:Fallback>
                <p:oleObj name="" r:id="rId3" imgW="1054100" imgH="203200" progId="Equation.DSMT4">
                  <p:embed/>
                  <p:pic>
                    <p:nvPicPr>
                      <p:cNvPr id="0" name="图片 3075"/>
                      <p:cNvPicPr/>
                      <p:nvPr/>
                    </p:nvPicPr>
                    <p:blipFill>
                      <a:blip r:embed="rId4"/>
                      <a:stretch>
                        <a:fillRect/>
                      </a:stretch>
                    </p:blipFill>
                    <p:spPr>
                      <a:xfrm>
                        <a:off x="13258800" y="9108123"/>
                        <a:ext cx="2550160" cy="479425"/>
                      </a:xfrm>
                      <a:prstGeom prst="rect">
                        <a:avLst/>
                      </a:prstGeom>
                      <a:noFill/>
                      <a:ln w="38100">
                        <a:noFill/>
                        <a:miter/>
                      </a:ln>
                    </p:spPr>
                  </p:pic>
                </p:oleObj>
              </mc:Fallback>
            </mc:AlternateContent>
          </a:graphicData>
        </a:graphic>
      </p:graphicFrame>
      <p:sp>
        <p:nvSpPr>
          <p:cNvPr id="11" name="灯片编号占位符 10"/>
          <p:cNvSpPr>
            <a:spLocks noGrp="1"/>
          </p:cNvSpPr>
          <p:nvPr>
            <p:ph type="sldNum" sz="quarter" idx="12"/>
          </p:nvPr>
        </p:nvSpPr>
        <p:spPr/>
        <p:txBody>
          <a:bodyPr/>
          <a:lstStyle/>
          <a:p>
            <a:fld id="{B6F15528-21DE-4FAA-801E-634DDDAF4B2B}" type="slidenum">
              <a:rPr lang="en-US" altLang="zh-CN" smtClean="0"/>
            </a:fld>
            <a:endParaRPr lang="en-US" sz="1400" baseline="0" dirty="0">
              <a:solidFill>
                <a:srgbClr val="FFC000"/>
              </a:solidFill>
            </a:endParaRPr>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CBF</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模式</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6"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7"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8" name="组合 17"/>
          <p:cNvGrpSpPr/>
          <p:nvPr/>
        </p:nvGrpSpPr>
        <p:grpSpPr>
          <a:xfrm>
            <a:off x="13639786" y="733421"/>
            <a:ext cx="3700052" cy="416951"/>
            <a:chOff x="13811849" y="507954"/>
            <a:chExt cx="3700052" cy="416951"/>
          </a:xfrm>
        </p:grpSpPr>
        <p:sp>
          <p:nvSpPr>
            <p:cNvPr id="19" name="文本框 18"/>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0" name="图片 19"/>
            <p:cNvPicPr>
              <a:picLocks noChangeAspect="1"/>
            </p:cNvPicPr>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5800" y="1790700"/>
            <a:ext cx="16329025" cy="1863090"/>
          </a:xfrm>
          <a:prstGeom prst="rect">
            <a:avLst/>
          </a:prstGeom>
          <a:noFill/>
        </p:spPr>
        <p:txBody>
          <a:bodyPr wrap="square" rtlCol="0" anchor="t">
            <a:spAutoFit/>
          </a:bodyPr>
          <a:lstStyle/>
          <a:p>
            <a:pPr indent="812800" algn="just" latinLnBrk="1">
              <a:lnSpc>
                <a:spcPct val="120000"/>
              </a:lnSpc>
              <a:buClrTx/>
              <a:buSzTx/>
              <a:buFontTx/>
              <a:extLst>
                <a:ext uri="{35155182-B16C-46BC-9424-99874614C6A1}">
                  <wpsdc:indentchars xmlns:wpsdc="http://www.wps.cn/officeDocument/2017/drawingmlCustomData" val="200" checksum="3877492575"/>
                </a:ext>
              </a:extLst>
            </a:pPr>
            <a:r>
              <a:rPr lang="en-US" altLang="zh-CN" sz="3200" dirty="0">
                <a:solidFill>
                  <a:srgbClr val="000000"/>
                </a:solidFill>
                <a:latin typeface="Times New Roman" panose="02020603050405020304" pitchFamily="18" charset="0"/>
                <a:ea typeface="宋体" panose="02010600030101010101" pitchFamily="2" charset="-122"/>
                <a:cs typeface="字由点字典黑 2"/>
              </a:rPr>
              <a:t>OFB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模式的结构类似于</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CFB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OFB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模式的加密操作和</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OFB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模式的解密操作分别如图</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3.22</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和图</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3.23</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所示。不同之处在于</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OFB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模式是将加密算法的输出反馈到移位寄存器，而</a:t>
            </a:r>
            <a:r>
              <a:rPr lang="en-US" altLang="zh-CN" sz="3200" dirty="0">
                <a:solidFill>
                  <a:srgbClr val="000000"/>
                </a:solidFill>
                <a:latin typeface="Times New Roman" panose="02020603050405020304" pitchFamily="18" charset="0"/>
                <a:ea typeface="宋体" panose="02010600030101010101" pitchFamily="2" charset="-122"/>
                <a:cs typeface="字由点字典黑 2"/>
              </a:rPr>
              <a:t>CFB</a:t>
            </a:r>
            <a:r>
              <a:rPr lang="zh-CN" altLang="en-US" sz="3200" dirty="0">
                <a:solidFill>
                  <a:srgbClr val="000000"/>
                </a:solidFill>
                <a:latin typeface="Times New Roman" panose="02020603050405020304" pitchFamily="18" charset="0"/>
                <a:ea typeface="宋体" panose="02010600030101010101" pitchFamily="2" charset="-122"/>
                <a:cs typeface="字由点字典黑 2"/>
              </a:rPr>
              <a:t>模式是将密文单元反馈到移位寄存器。</a:t>
            </a:r>
            <a:endParaRPr lang="zh-CN" altLang="en-US" sz="3200" dirty="0">
              <a:solidFill>
                <a:srgbClr val="000000"/>
              </a:solidFill>
              <a:latin typeface="Times New Roman" panose="02020603050405020304" pitchFamily="18" charset="0"/>
              <a:ea typeface="宋体" panose="02010600030101010101" pitchFamily="2" charset="-122"/>
              <a:cs typeface="字由点字典黑 2"/>
            </a:endParaRPr>
          </a:p>
        </p:txBody>
      </p:sp>
      <p:pic>
        <p:nvPicPr>
          <p:cNvPr id="1244" name="图片 12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657600" y="3924300"/>
            <a:ext cx="3999865" cy="1697355"/>
          </a:xfrm>
          <a:prstGeom prst="rect">
            <a:avLst/>
          </a:prstGeom>
        </p:spPr>
      </p:pic>
      <p:pic>
        <p:nvPicPr>
          <p:cNvPr id="1245" name="图片 124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0" y="3924300"/>
            <a:ext cx="4093845" cy="1736725"/>
          </a:xfrm>
          <a:prstGeom prst="rect">
            <a:avLst/>
          </a:prstGeom>
        </p:spPr>
      </p:pic>
      <p:sp>
        <p:nvSpPr>
          <p:cNvPr id="8" name="文本框 7"/>
          <p:cNvSpPr txBox="1"/>
          <p:nvPr/>
        </p:nvSpPr>
        <p:spPr>
          <a:xfrm>
            <a:off x="4648200" y="5753100"/>
            <a:ext cx="2591435" cy="337185"/>
          </a:xfrm>
          <a:prstGeom prst="rect">
            <a:avLst/>
          </a:prstGeom>
        </p:spPr>
        <p:txBody>
          <a:bodyPr wrap="square">
            <a:spAutoFit/>
          </a:bodyPr>
          <a:lstStyle/>
          <a:p>
            <a:pPr defTabSz="266700"/>
            <a:r>
              <a:rPr lang="en-US" altLang="zh-CN" sz="1600">
                <a:latin typeface="Times New Roman" panose="02020603050405020304"/>
                <a:ea typeface="宋体" panose="02010600030101010101" pitchFamily="2" charset="-122"/>
              </a:rPr>
              <a:t>OFB</a:t>
            </a:r>
            <a:r>
              <a:rPr lang="zh-CN" altLang="en-US" sz="1600">
                <a:latin typeface="宋体" panose="02010600030101010101" pitchFamily="2" charset="-122"/>
                <a:ea typeface="宋体" panose="02010600030101010101" pitchFamily="2" charset="-122"/>
              </a:rPr>
              <a:t>模式的加密操作</a:t>
            </a:r>
            <a:r>
              <a:rPr lang="en-US" altLang="zh-CN" sz="1600">
                <a:latin typeface="Times New Roman" panose="02020603050405020304"/>
                <a:ea typeface="宋体" panose="02010600030101010101" pitchFamily="2" charset="-122"/>
              </a:rPr>
              <a:t>     </a:t>
            </a:r>
            <a:endParaRPr lang="en-US" altLang="zh-CN" sz="1600">
              <a:latin typeface="Times New Roman" panose="02020603050405020304"/>
              <a:ea typeface="宋体" panose="02010600030101010101" pitchFamily="2" charset="-122"/>
            </a:endParaRPr>
          </a:p>
        </p:txBody>
      </p:sp>
      <p:sp>
        <p:nvSpPr>
          <p:cNvPr id="9" name="文本框 8"/>
          <p:cNvSpPr txBox="1"/>
          <p:nvPr/>
        </p:nvSpPr>
        <p:spPr>
          <a:xfrm>
            <a:off x="9677400" y="5762625"/>
            <a:ext cx="3355340" cy="327660"/>
          </a:xfrm>
          <a:prstGeom prst="rect">
            <a:avLst/>
          </a:prstGeom>
        </p:spPr>
        <p:txBody>
          <a:bodyPr>
            <a:noAutofit/>
          </a:bodyPr>
          <a:lstStyle/>
          <a:p>
            <a:pPr marL="0" indent="514350" algn="just" defTabSz="266700">
              <a:lnSpc>
                <a:spcPts val="1560"/>
              </a:lnSpc>
              <a:spcBef>
                <a:spcPts val="300"/>
              </a:spcBef>
              <a:spcAft>
                <a:spcPts val="600"/>
              </a:spcAft>
            </a:pPr>
            <a:r>
              <a:rPr lang="en-US" altLang="zh-CN" sz="1600">
                <a:solidFill>
                  <a:srgbClr val="000000"/>
                </a:solidFill>
                <a:latin typeface="Arial" panose="020B0604020202020204"/>
                <a:ea typeface="黑体" panose="02010609060101010101" charset="-122"/>
              </a:rPr>
              <a:t>OFB</a:t>
            </a:r>
            <a:r>
              <a:rPr lang="zh-CN" altLang="en-US" sz="1600">
                <a:solidFill>
                  <a:srgbClr val="000000"/>
                </a:solidFill>
                <a:latin typeface="黑体" panose="02010609060101010101" charset="-122"/>
                <a:ea typeface="黑体" panose="02010609060101010101" charset="-122"/>
              </a:rPr>
              <a:t>模式的解密操作</a:t>
            </a:r>
            <a:endParaRPr lang="zh-CN" altLang="en-US" sz="1600">
              <a:solidFill>
                <a:srgbClr val="000000"/>
              </a:solidFill>
              <a:latin typeface="黑体" panose="02010609060101010101" charset="-122"/>
              <a:ea typeface="黑体" panose="02010609060101010101" charset="-122"/>
            </a:endParaRPr>
          </a:p>
        </p:txBody>
      </p:sp>
      <p:sp>
        <p:nvSpPr>
          <p:cNvPr id="17" name="文本框 16"/>
          <p:cNvSpPr txBox="1"/>
          <p:nvPr/>
        </p:nvSpPr>
        <p:spPr>
          <a:xfrm>
            <a:off x="1367481" y="6628062"/>
            <a:ext cx="15771495" cy="2327275"/>
          </a:xfrm>
          <a:prstGeom prst="rect">
            <a:avLst/>
          </a:prstGeom>
          <a:noFill/>
        </p:spPr>
        <p:txBody>
          <a:bodyPr wrap="square" rtlCol="0" anchor="t">
            <a:noAutofit/>
          </a:bodyPr>
          <a:lstStyle/>
          <a:p>
            <a:pPr indent="720090"/>
            <a:r>
              <a:rPr lang="en-US" altLang="zh-CN" sz="3600" dirty="0">
                <a:latin typeface="Times New Roman" panose="02020603050405020304" pitchFamily="18" charset="0"/>
                <a:cs typeface="Times New Roman" panose="02020603050405020304" pitchFamily="18" charset="0"/>
              </a:rPr>
              <a:t>OFB</a:t>
            </a:r>
            <a:r>
              <a:rPr lang="zh-CN" altLang="en-US" sz="3600" dirty="0">
                <a:latin typeface="Times New Roman" panose="02020603050405020304" pitchFamily="18" charset="0"/>
                <a:cs typeface="Times New Roman" panose="02020603050405020304" pitchFamily="18" charset="0"/>
              </a:rPr>
              <a:t>模式的优点是传输过程中的比特错误不会被传播。例如，</a:t>
            </a:r>
            <a:r>
              <a:rPr lang="en-US" altLang="zh-CN" sz="3600" dirty="0">
                <a:latin typeface="Times New Roman" panose="02020603050405020304" pitchFamily="18" charset="0"/>
                <a:cs typeface="Times New Roman" panose="02020603050405020304" pitchFamily="18" charset="0"/>
              </a:rPr>
              <a:t>y</a:t>
            </a:r>
            <a:r>
              <a:rPr lang="en-US" altLang="zh-CN" sz="3600" baseline="-250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中出现</a:t>
            </a:r>
            <a:r>
              <a:rPr lang="en-US" altLang="zh-CN" sz="3600" dirty="0">
                <a:latin typeface="Times New Roman" panose="02020603050405020304" pitchFamily="18" charset="0"/>
                <a:cs typeface="Times New Roman" panose="02020603050405020304" pitchFamily="18" charset="0"/>
              </a:rPr>
              <a:t>1bit</a:t>
            </a:r>
            <a:r>
              <a:rPr lang="zh-CN" altLang="en-US" sz="3600" dirty="0">
                <a:latin typeface="Times New Roman" panose="02020603050405020304" pitchFamily="18" charset="0"/>
                <a:cs typeface="Times New Roman" panose="02020603050405020304" pitchFamily="18" charset="0"/>
              </a:rPr>
              <a:t>错误，在解密结果中只有</a:t>
            </a:r>
            <a:r>
              <a:rPr lang="en-US" altLang="zh-CN" sz="3600" dirty="0">
                <a:latin typeface="Times New Roman" panose="02020603050405020304" pitchFamily="18" charset="0"/>
                <a:cs typeface="Times New Roman" panose="02020603050405020304" pitchFamily="18" charset="0"/>
              </a:rPr>
              <a:t>x</a:t>
            </a:r>
            <a:r>
              <a:rPr lang="en-US" altLang="zh-CN" sz="3600" baseline="-250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受到影响，以后各明文单元不受影响。而在</a:t>
            </a:r>
            <a:r>
              <a:rPr lang="en-US" altLang="zh-CN" sz="3600" dirty="0">
                <a:latin typeface="Times New Roman" panose="02020603050405020304" pitchFamily="18" charset="0"/>
                <a:cs typeface="Times New Roman" panose="02020603050405020304" pitchFamily="18" charset="0"/>
              </a:rPr>
              <a:t>CFB</a:t>
            </a:r>
            <a:r>
              <a:rPr lang="zh-CN" altLang="en-US" sz="3600" dirty="0">
                <a:latin typeface="Times New Roman" panose="02020603050405020304" pitchFamily="18" charset="0"/>
                <a:cs typeface="Times New Roman" panose="02020603050405020304" pitchFamily="18" charset="0"/>
              </a:rPr>
              <a:t>模式中，</a:t>
            </a:r>
            <a:r>
              <a:rPr lang="en-US" altLang="zh-CN" sz="3600" dirty="0">
                <a:latin typeface="Times New Roman" panose="02020603050405020304" pitchFamily="18" charset="0"/>
                <a:cs typeface="Times New Roman" panose="02020603050405020304" pitchFamily="18" charset="0"/>
              </a:rPr>
              <a:t>y</a:t>
            </a:r>
            <a:r>
              <a:rPr lang="en-US" altLang="zh-CN" sz="3600" baseline="-25000" dirty="0">
                <a:latin typeface="Times New Roman" panose="02020603050405020304" pitchFamily="18" charset="0"/>
                <a:cs typeface="Times New Roman" panose="02020603050405020304" pitchFamily="18" charset="0"/>
              </a:rPr>
              <a:t>1</a:t>
            </a:r>
            <a:r>
              <a:rPr lang="zh-CN" altLang="en-US" sz="3600" dirty="0">
                <a:latin typeface="Times New Roman" panose="02020603050405020304" pitchFamily="18" charset="0"/>
                <a:cs typeface="Times New Roman" panose="02020603050405020304" pitchFamily="18" charset="0"/>
              </a:rPr>
              <a:t>也作为移位寄存器的输入，因此它的</a:t>
            </a:r>
            <a:r>
              <a:rPr lang="en-US" altLang="zh-CN" sz="3600" dirty="0">
                <a:latin typeface="Times New Roman" panose="02020603050405020304" pitchFamily="18" charset="0"/>
                <a:cs typeface="Times New Roman" panose="02020603050405020304" pitchFamily="18" charset="0"/>
              </a:rPr>
              <a:t>1bit</a:t>
            </a:r>
            <a:r>
              <a:rPr lang="zh-CN" altLang="en-US" sz="3600" dirty="0">
                <a:latin typeface="Times New Roman" panose="02020603050405020304" pitchFamily="18" charset="0"/>
                <a:cs typeface="Times New Roman" panose="02020603050405020304" pitchFamily="18" charset="0"/>
              </a:rPr>
              <a:t>错误会影响解密结果中各明文单元的值。</a:t>
            </a:r>
            <a:endParaRPr lang="zh-CN" altLang="en-US" sz="3600" dirty="0">
              <a:latin typeface="Times New Roman" panose="02020603050405020304" pitchFamily="18" charset="0"/>
              <a:cs typeface="Times New Roman" panose="02020603050405020304" pitchFamily="18" charset="0"/>
            </a:endParaRPr>
          </a:p>
        </p:txBody>
      </p:sp>
      <p:sp>
        <p:nvSpPr>
          <p:cNvPr id="10" name="灯片编号占位符 9"/>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1" name="Group 2"/>
          <p:cNvGrpSpPr/>
          <p:nvPr/>
        </p:nvGrpSpPr>
        <p:grpSpPr>
          <a:xfrm>
            <a:off x="412090" y="1028700"/>
            <a:ext cx="7800783" cy="275915"/>
            <a:chOff x="0" y="0"/>
            <a:chExt cx="2054527" cy="72669"/>
          </a:xfrm>
        </p:grpSpPr>
        <p:sp>
          <p:nvSpPr>
            <p:cNvPr id="1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4"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OFB</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模式</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8" name="组合 17"/>
          <p:cNvGrpSpPr/>
          <p:nvPr/>
        </p:nvGrpSpPr>
        <p:grpSpPr>
          <a:xfrm>
            <a:off x="13639786" y="733421"/>
            <a:ext cx="3700052" cy="416951"/>
            <a:chOff x="13811849" y="507954"/>
            <a:chExt cx="3700052" cy="416951"/>
          </a:xfrm>
        </p:grpSpPr>
        <p:sp>
          <p:nvSpPr>
            <p:cNvPr id="19" name="文本框 18"/>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0" name="图片 19"/>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094105" y="1790700"/>
            <a:ext cx="15934690" cy="1543685"/>
          </a:xfrm>
          <a:prstGeom prst="rect">
            <a:avLst/>
          </a:prstGeom>
        </p:spPr>
        <p:txBody>
          <a:bodyPr>
            <a:noAutofit/>
          </a:bodyPr>
          <a:lstStyle/>
          <a:p>
            <a:pPr indent="254000" algn="just" defTabSz="266700" fontAlgn="auto">
              <a:lnSpc>
                <a:spcPct val="100000"/>
              </a:lnSpc>
              <a:spcBef>
                <a:spcPct val="0"/>
              </a:spcBef>
              <a:spcAft>
                <a:spcPct val="0"/>
              </a:spcAft>
            </a:pPr>
            <a:r>
              <a:rPr lang="en-US" altLang="zh-CN" sz="3600">
                <a:latin typeface="Times New Roman" panose="02020603050405020304"/>
                <a:ea typeface="宋体" panose="02010600030101010101" pitchFamily="2" charset="-122"/>
              </a:rPr>
              <a:t>CTR</a:t>
            </a:r>
            <a:r>
              <a:rPr lang="zh-CN" altLang="en-US" sz="3600">
                <a:latin typeface="宋体" panose="02010600030101010101" pitchFamily="2" charset="-122"/>
                <a:ea typeface="宋体" panose="02010600030101010101" pitchFamily="2" charset="-122"/>
              </a:rPr>
              <a:t>模式被广泛用于</a:t>
            </a:r>
            <a:r>
              <a:rPr lang="en-US" altLang="zh-CN" sz="3600">
                <a:latin typeface="Times New Roman" panose="02020603050405020304"/>
                <a:ea typeface="宋体" panose="02010600030101010101" pitchFamily="2" charset="-122"/>
              </a:rPr>
              <a:t>ATM</a:t>
            </a:r>
            <a:r>
              <a:rPr lang="zh-CN" altLang="en-US" sz="3600">
                <a:latin typeface="宋体" panose="02010600030101010101" pitchFamily="2" charset="-122"/>
                <a:ea typeface="宋体" panose="02010600030101010101" pitchFamily="2" charset="-122"/>
              </a:rPr>
              <a:t>网络安全和</a:t>
            </a:r>
            <a:r>
              <a:rPr lang="en-US" altLang="zh-CN" sz="3600">
                <a:latin typeface="Times New Roman" panose="02020603050405020304"/>
                <a:ea typeface="宋体" panose="02010600030101010101" pitchFamily="2" charset="-122"/>
              </a:rPr>
              <a:t>IPSec</a:t>
            </a:r>
            <a:r>
              <a:rPr lang="zh-CN" altLang="en-US" sz="3600">
                <a:latin typeface="宋体" panose="02010600030101010101" pitchFamily="2" charset="-122"/>
                <a:ea typeface="宋体" panose="02010600030101010101" pitchFamily="2" charset="-122"/>
              </a:rPr>
              <a:t>应用中，</a:t>
            </a:r>
            <a:r>
              <a:rPr lang="en-US" altLang="zh-CN" sz="3600">
                <a:latin typeface="Times New Roman" panose="02020603050405020304"/>
                <a:ea typeface="Times New Roman" panose="02020603050405020304"/>
              </a:rPr>
              <a:t>CTR</a:t>
            </a:r>
            <a:r>
              <a:rPr lang="zh-CN" altLang="en-US" sz="3600">
                <a:latin typeface="Times New Roman" panose="02020603050405020304"/>
                <a:ea typeface="宋体" panose="02010600030101010101" pitchFamily="2" charset="-122"/>
              </a:rPr>
              <a:t>模式的加密操作和</a:t>
            </a:r>
            <a:r>
              <a:rPr lang="en-US" altLang="zh-CN" sz="3600">
                <a:latin typeface="Times New Roman" panose="02020603050405020304"/>
                <a:ea typeface="Times New Roman" panose="02020603050405020304"/>
              </a:rPr>
              <a:t>CTR</a:t>
            </a:r>
            <a:r>
              <a:rPr lang="zh-CN" altLang="en-US" sz="3600">
                <a:latin typeface="Times New Roman" panose="02020603050405020304"/>
                <a:ea typeface="宋体" panose="02010600030101010101" pitchFamily="2" charset="-122"/>
              </a:rPr>
              <a:t>模式的解密操作分别如图</a:t>
            </a:r>
            <a:r>
              <a:rPr lang="en-US" altLang="zh-CN" sz="3600">
                <a:latin typeface="Times New Roman" panose="02020603050405020304"/>
                <a:ea typeface="Times New Roman" panose="02020603050405020304"/>
              </a:rPr>
              <a:t>3.24</a:t>
            </a:r>
            <a:r>
              <a:rPr lang="zh-CN" altLang="en-US" sz="3600">
                <a:latin typeface="Times New Roman" panose="02020603050405020304"/>
                <a:ea typeface="宋体" panose="02010600030101010101" pitchFamily="2" charset="-122"/>
              </a:rPr>
              <a:t>和</a:t>
            </a:r>
            <a:r>
              <a:rPr lang="zh-CN" altLang="en-US" sz="3600">
                <a:latin typeface="宋体" panose="02010600030101010101" pitchFamily="2" charset="-122"/>
                <a:ea typeface="宋体" panose="02010600030101010101" pitchFamily="2" charset="-122"/>
              </a:rPr>
              <a:t>图</a:t>
            </a:r>
            <a:r>
              <a:rPr lang="en-US" altLang="zh-CN" sz="3600">
                <a:latin typeface="Times New Roman" panose="02020603050405020304"/>
                <a:ea typeface="宋体" panose="02010600030101010101" pitchFamily="2" charset="-122"/>
              </a:rPr>
              <a:t>3.</a:t>
            </a:r>
            <a:r>
              <a:rPr lang="en-US" altLang="zh-CN" sz="3600">
                <a:latin typeface="Times New Roman" panose="02020603050405020304"/>
                <a:ea typeface="Times New Roman" panose="02020603050405020304"/>
              </a:rPr>
              <a:t>25</a:t>
            </a:r>
            <a:r>
              <a:rPr lang="zh-CN" altLang="en-US" sz="3600">
                <a:latin typeface="Times New Roman" panose="02020603050405020304"/>
                <a:ea typeface="宋体" panose="02010600030101010101" pitchFamily="2" charset="-122"/>
              </a:rPr>
              <a:t>所示。其中</a:t>
            </a:r>
            <a:r>
              <a:rPr lang="en-US" altLang="zh-CN" sz="3600" i="1">
                <a:latin typeface="Times New Roman" panose="02020603050405020304"/>
                <a:ea typeface="宋体" panose="02010600030101010101" pitchFamily="2" charset="-122"/>
              </a:rPr>
              <a:t>T</a:t>
            </a:r>
            <a:r>
              <a:rPr lang="en-US" altLang="zh-CN" sz="3600" i="1" baseline="-25000">
                <a:latin typeface="Times New Roman" panose="02020603050405020304"/>
                <a:ea typeface="宋体" panose="02010600030101010101" pitchFamily="2" charset="-122"/>
              </a:rPr>
              <a:t>i</a:t>
            </a:r>
            <a:r>
              <a:rPr lang="zh-CN" altLang="en-US" sz="3600">
                <a:latin typeface="Times New Roman" panose="02020603050405020304"/>
                <a:ea typeface="宋体" panose="02010600030101010101" pitchFamily="2" charset="-122"/>
              </a:rPr>
              <a:t>为计数器</a:t>
            </a:r>
            <a:r>
              <a:rPr lang="zh-CN" altLang="en-US" sz="3600">
                <a:latin typeface="宋体" panose="02010600030101010101" pitchFamily="2" charset="-122"/>
                <a:ea typeface="宋体" panose="02010600030101010101" pitchFamily="2" charset="-122"/>
              </a:rPr>
              <a:t>，</a:t>
            </a:r>
            <a:r>
              <a:rPr lang="en-US" altLang="zh-CN" sz="3600" i="1">
                <a:latin typeface="Times New Roman" panose="02020603050405020304"/>
                <a:ea typeface="宋体" panose="02010600030101010101" pitchFamily="2" charset="-122"/>
              </a:rPr>
              <a:t>T</a:t>
            </a:r>
            <a:r>
              <a:rPr lang="en-US" altLang="zh-CN" sz="3600" i="1" baseline="-25000">
                <a:latin typeface="Times New Roman" panose="02020603050405020304"/>
                <a:ea typeface="宋体" panose="02010600030101010101" pitchFamily="2" charset="-122"/>
              </a:rPr>
              <a:t>i</a:t>
            </a:r>
            <a:r>
              <a:rPr lang="en-US" altLang="zh-CN" sz="3600">
                <a:latin typeface="Times New Roman" panose="02020603050405020304"/>
                <a:ea typeface="宋体" panose="02010600030101010101" pitchFamily="2" charset="-122"/>
              </a:rPr>
              <a:t>=</a:t>
            </a:r>
            <a:r>
              <a:rPr lang="en-US" altLang="zh-CN" sz="3600" i="1">
                <a:latin typeface="Times New Roman" panose="02020603050405020304"/>
                <a:ea typeface="宋体" panose="02010600030101010101" pitchFamily="2" charset="-122"/>
              </a:rPr>
              <a:t>T</a:t>
            </a:r>
            <a:r>
              <a:rPr lang="en-US" altLang="zh-CN" sz="3600" i="1" baseline="-25000">
                <a:latin typeface="Times New Roman" panose="02020603050405020304"/>
                <a:ea typeface="宋体" panose="02010600030101010101" pitchFamily="2" charset="-122"/>
              </a:rPr>
              <a:t>i</a:t>
            </a:r>
            <a:r>
              <a:rPr lang="en-US" altLang="zh-CN" sz="3600" baseline="-25000">
                <a:latin typeface="Times New Roman" panose="02020603050405020304"/>
                <a:ea typeface="宋体" panose="02010600030101010101" pitchFamily="2" charset="-122"/>
              </a:rPr>
              <a:t>-1</a:t>
            </a:r>
            <a:r>
              <a:rPr lang="en-US" altLang="zh-CN" sz="3600">
                <a:latin typeface="Times New Roman" panose="02020603050405020304"/>
                <a:ea typeface="宋体" panose="02010600030101010101" pitchFamily="2" charset="-122"/>
              </a:rPr>
              <a:t>+1</a:t>
            </a:r>
            <a:r>
              <a:rPr lang="zh-CN" altLang="en-US" sz="3600">
                <a:latin typeface="Times New Roman" panose="02020603050405020304"/>
                <a:ea typeface="宋体" panose="02010600030101010101" pitchFamily="2" charset="-122"/>
              </a:rPr>
              <a:t>，</a:t>
            </a:r>
            <a:r>
              <a:rPr lang="en-US" altLang="zh-CN" sz="3600">
                <a:latin typeface="Times New Roman" panose="02020603050405020304"/>
                <a:ea typeface="Times New Roman" panose="02020603050405020304"/>
              </a:rPr>
              <a:t>1</a:t>
            </a:r>
            <a:r>
              <a:rPr lang="en-US" altLang="zh-CN" sz="3600">
                <a:latin typeface="Times New Roman" panose="02020603050405020304"/>
                <a:ea typeface="宋体" panose="02010600030101010101" pitchFamily="2" charset="-122"/>
              </a:rPr>
              <a:t>≤</a:t>
            </a:r>
            <a:r>
              <a:rPr lang="en-US" altLang="zh-CN" sz="3600" i="1">
                <a:latin typeface="Times New Roman" panose="02020603050405020304"/>
                <a:ea typeface="宋体" panose="02010600030101010101" pitchFamily="2" charset="-122"/>
              </a:rPr>
              <a:t>i</a:t>
            </a:r>
            <a:r>
              <a:rPr lang="en-US" altLang="zh-CN" sz="3600">
                <a:latin typeface="Times New Roman" panose="02020603050405020304"/>
                <a:ea typeface="宋体" panose="02010600030101010101" pitchFamily="2" charset="-122"/>
              </a:rPr>
              <a:t>≤</a:t>
            </a:r>
            <a:r>
              <a:rPr lang="en-US" altLang="zh-CN" sz="3600" i="1">
                <a:latin typeface="Times New Roman" panose="02020603050405020304"/>
                <a:ea typeface="宋体" panose="02010600030101010101" pitchFamily="2" charset="-122"/>
              </a:rPr>
              <a:t>m</a:t>
            </a:r>
            <a:r>
              <a:rPr lang="zh-CN" altLang="en-US" sz="3600">
                <a:latin typeface="Times New Roman" panose="02020603050405020304"/>
                <a:ea typeface="宋体" panose="02010600030101010101" pitchFamily="2" charset="-122"/>
              </a:rPr>
              <a:t>。</a:t>
            </a:r>
            <a:endParaRPr lang="zh-CN" altLang="en-US" sz="3600">
              <a:latin typeface="Times New Roman" panose="02020603050405020304"/>
              <a:ea typeface="宋体" panose="02010600030101010101" pitchFamily="2" charset="-122"/>
            </a:endParaRPr>
          </a:p>
        </p:txBody>
      </p:sp>
      <p:pic>
        <p:nvPicPr>
          <p:cNvPr id="1246" name="图片 124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657600" y="3543300"/>
            <a:ext cx="4505960" cy="1907540"/>
          </a:xfrm>
          <a:prstGeom prst="rect">
            <a:avLst/>
          </a:prstGeom>
        </p:spPr>
      </p:pic>
      <p:pic>
        <p:nvPicPr>
          <p:cNvPr id="1247" name="图片 124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29800" y="3467100"/>
            <a:ext cx="4813935" cy="2037715"/>
          </a:xfrm>
          <a:prstGeom prst="rect">
            <a:avLst/>
          </a:prstGeom>
        </p:spPr>
      </p:pic>
      <p:sp>
        <p:nvSpPr>
          <p:cNvPr id="12" name="文本框 11"/>
          <p:cNvSpPr txBox="1"/>
          <p:nvPr/>
        </p:nvSpPr>
        <p:spPr>
          <a:xfrm>
            <a:off x="1094105" y="5676900"/>
            <a:ext cx="16079470" cy="4399915"/>
          </a:xfrm>
          <a:prstGeom prst="rect">
            <a:avLst/>
          </a:prstGeom>
        </p:spPr>
        <p:txBody>
          <a:bodyPr wrap="square">
            <a:spAutoFit/>
          </a:bodyPr>
          <a:lstStyle/>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相对于其</a:t>
            </a:r>
            <a:r>
              <a:rPr lang="zh-CN" altLang="en-US" sz="2800">
                <a:latin typeface="Times New Roman" panose="02020603050405020304"/>
                <a:ea typeface="宋体" panose="02010600030101010101" pitchFamily="2" charset="-122"/>
              </a:rPr>
              <a:t>他</a:t>
            </a:r>
            <a:r>
              <a:rPr lang="zh-CN" altLang="en-US" sz="2800">
                <a:latin typeface="宋体" panose="02010600030101010101" pitchFamily="2" charset="-122"/>
                <a:ea typeface="宋体" panose="02010600030101010101" pitchFamily="2" charset="-122"/>
              </a:rPr>
              <a:t>模式而言，</a:t>
            </a:r>
            <a:r>
              <a:rPr lang="en-US" altLang="zh-CN" sz="2800">
                <a:latin typeface="Times New Roman" panose="02020603050405020304"/>
                <a:ea typeface="宋体" panose="02010600030101010101" pitchFamily="2" charset="-122"/>
              </a:rPr>
              <a:t>CTR</a:t>
            </a:r>
            <a:r>
              <a:rPr lang="zh-CN" altLang="en-US" sz="2800">
                <a:latin typeface="宋体" panose="02010600030101010101" pitchFamily="2" charset="-122"/>
                <a:ea typeface="宋体" panose="02010600030101010101" pitchFamily="2" charset="-122"/>
              </a:rPr>
              <a:t>模式具有如下特点</a:t>
            </a:r>
            <a:r>
              <a:rPr lang="zh-CN" altLang="en-US" sz="2800">
                <a:latin typeface="Times New Roman" panose="02020603050405020304"/>
                <a:ea typeface="宋体" panose="02010600030101010101" pitchFamily="2" charset="-122"/>
              </a:rPr>
              <a:t>。</a:t>
            </a:r>
            <a:endParaRPr lang="zh-CN" altLang="en-US" sz="2800">
              <a:latin typeface="Times New Roman" panose="02020603050405020304"/>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1</a:t>
            </a:r>
            <a:r>
              <a:rPr lang="zh-CN" altLang="en-US" sz="2800">
                <a:latin typeface="宋体" panose="02010600030101010101" pitchFamily="2" charset="-122"/>
                <a:ea typeface="宋体" panose="02010600030101010101" pitchFamily="2" charset="-122"/>
              </a:rPr>
              <a:t>）硬件效率：允许同时处理多块明文</a:t>
            </a:r>
            <a:r>
              <a:rPr lang="en-US" altLang="zh-CN" sz="2800">
                <a:latin typeface="Times New Roman" panose="02020603050405020304"/>
                <a:ea typeface="宋体" panose="02010600030101010101" pitchFamily="2" charset="-122"/>
              </a:rPr>
              <a:t>/</a:t>
            </a:r>
            <a:r>
              <a:rPr lang="zh-CN" altLang="en-US" sz="2800">
                <a:latin typeface="宋体" panose="02010600030101010101" pitchFamily="2" charset="-122"/>
                <a:ea typeface="宋体" panose="02010600030101010101" pitchFamily="2" charset="-122"/>
              </a:rPr>
              <a:t>密文。</a:t>
            </a:r>
            <a:endParaRPr lang="zh-CN" altLang="en-US" sz="2800">
              <a:latin typeface="宋体" panose="02010600030101010101" pitchFamily="2" charset="-122"/>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2</a:t>
            </a:r>
            <a:r>
              <a:rPr lang="zh-CN" altLang="en-US" sz="2800">
                <a:latin typeface="宋体" panose="02010600030101010101" pitchFamily="2" charset="-122"/>
                <a:ea typeface="宋体" panose="02010600030101010101" pitchFamily="2" charset="-122"/>
              </a:rPr>
              <a:t>）软件效率：允许并行计算，可以很好地利用</a:t>
            </a:r>
            <a:r>
              <a:rPr lang="en-US" altLang="zh-CN" sz="2800">
                <a:latin typeface="Times New Roman" panose="02020603050405020304"/>
                <a:ea typeface="宋体" panose="02010600030101010101" pitchFamily="2" charset="-122"/>
              </a:rPr>
              <a:t>CPU</a:t>
            </a:r>
            <a:r>
              <a:rPr lang="zh-CN" altLang="en-US" sz="2800">
                <a:latin typeface="宋体" panose="02010600030101010101" pitchFamily="2" charset="-122"/>
                <a:ea typeface="宋体" panose="02010600030101010101" pitchFamily="2" charset="-122"/>
              </a:rPr>
              <a:t>流水等并行技术。</a:t>
            </a:r>
            <a:endParaRPr lang="zh-CN" altLang="en-US" sz="2800">
              <a:latin typeface="宋体" panose="02010600030101010101" pitchFamily="2" charset="-122"/>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3</a:t>
            </a:r>
            <a:r>
              <a:rPr lang="zh-CN" altLang="en-US" sz="2800">
                <a:latin typeface="宋体" panose="02010600030101010101" pitchFamily="2" charset="-122"/>
                <a:ea typeface="宋体" panose="02010600030101010101" pitchFamily="2" charset="-122"/>
              </a:rPr>
              <a:t>）预处理：算法和加密盒的输出不依靠明文和密文的输入，因此如果有足够的保证安全的存储器，</a:t>
            </a:r>
            <a:r>
              <a:rPr lang="zh-CN" altLang="en-US" sz="2800">
                <a:latin typeface="Times New Roman" panose="02020603050405020304"/>
                <a:ea typeface="宋体" panose="02010600030101010101" pitchFamily="2" charset="-122"/>
              </a:rPr>
              <a:t>那么</a:t>
            </a:r>
            <a:r>
              <a:rPr lang="zh-CN" altLang="en-US" sz="2800">
                <a:latin typeface="宋体" panose="02010600030101010101" pitchFamily="2" charset="-122"/>
                <a:ea typeface="宋体" panose="02010600030101010101" pitchFamily="2" charset="-122"/>
              </a:rPr>
              <a:t>加密算法仅是一系列异或运算，这将极大地提高吞吐量。</a:t>
            </a:r>
            <a:endParaRPr lang="zh-CN" altLang="en-US" sz="2800">
              <a:latin typeface="宋体" panose="02010600030101010101" pitchFamily="2" charset="-122"/>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4</a:t>
            </a:r>
            <a:r>
              <a:rPr lang="zh-CN" altLang="en-US" sz="2800">
                <a:latin typeface="宋体" panose="02010600030101010101" pitchFamily="2" charset="-122"/>
                <a:ea typeface="宋体" panose="02010600030101010101" pitchFamily="2" charset="-122"/>
              </a:rPr>
              <a:t>）随机访问：第</a:t>
            </a:r>
            <a:r>
              <a:rPr lang="en-US" altLang="zh-CN" sz="2800" i="1">
                <a:latin typeface="Times New Roman" panose="02020603050405020304"/>
                <a:ea typeface="宋体" panose="02010600030101010101" pitchFamily="2" charset="-122"/>
              </a:rPr>
              <a:t>i</a:t>
            </a:r>
            <a:r>
              <a:rPr lang="zh-CN" altLang="en-US" sz="2800">
                <a:latin typeface="宋体" panose="02010600030101010101" pitchFamily="2" charset="-122"/>
                <a:ea typeface="宋体" panose="02010600030101010101" pitchFamily="2" charset="-122"/>
              </a:rPr>
              <a:t>块密文的解密不依赖于第</a:t>
            </a:r>
            <a:r>
              <a:rPr lang="en-US" altLang="zh-CN" sz="2800" i="1">
                <a:latin typeface="Times New Roman" panose="02020603050405020304"/>
                <a:ea typeface="宋体" panose="02010600030101010101" pitchFamily="2" charset="-122"/>
              </a:rPr>
              <a:t>i</a:t>
            </a:r>
            <a:r>
              <a:rPr lang="en-US" altLang="zh-CN"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1</a:t>
            </a:r>
            <a:r>
              <a:rPr lang="zh-CN" altLang="en-US" sz="2800">
                <a:latin typeface="宋体" panose="02010600030101010101" pitchFamily="2" charset="-122"/>
                <a:ea typeface="宋体" panose="02010600030101010101" pitchFamily="2" charset="-122"/>
              </a:rPr>
              <a:t>块密文，提供很高的随机访问能力。</a:t>
            </a:r>
            <a:endParaRPr lang="zh-CN" altLang="en-US" sz="2800">
              <a:latin typeface="宋体" panose="02010600030101010101" pitchFamily="2" charset="-122"/>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5</a:t>
            </a:r>
            <a:r>
              <a:rPr lang="zh-CN" altLang="en-US" sz="2800">
                <a:latin typeface="宋体" panose="02010600030101010101" pitchFamily="2" charset="-122"/>
                <a:ea typeface="宋体" panose="02010600030101010101" pitchFamily="2" charset="-122"/>
              </a:rPr>
              <a:t>）可证明的安全性：能够证明</a:t>
            </a:r>
            <a:r>
              <a:rPr lang="en-US" altLang="zh-CN" sz="2800">
                <a:latin typeface="Times New Roman" panose="02020603050405020304"/>
                <a:ea typeface="宋体" panose="02010600030101010101" pitchFamily="2" charset="-122"/>
              </a:rPr>
              <a:t>CTR</a:t>
            </a:r>
            <a:r>
              <a:rPr lang="zh-CN" altLang="en-US" sz="2800">
                <a:latin typeface="宋体" panose="02010600030101010101" pitchFamily="2" charset="-122"/>
                <a:ea typeface="宋体" panose="02010600030101010101" pitchFamily="2" charset="-122"/>
              </a:rPr>
              <a:t>模式至少和其他模式（</a:t>
            </a:r>
            <a:r>
              <a:rPr lang="en-US" altLang="zh-CN" sz="2800">
                <a:latin typeface="Times New Roman" panose="02020603050405020304"/>
                <a:ea typeface="宋体" panose="02010600030101010101" pitchFamily="2" charset="-122"/>
              </a:rPr>
              <a:t>CBC</a:t>
            </a:r>
            <a:r>
              <a:rPr lang="zh-CN" altLang="en-US" sz="2800">
                <a:latin typeface="Times New Roman" panose="02020603050405020304"/>
                <a:ea typeface="宋体" panose="02010600030101010101" pitchFamily="2" charset="-122"/>
              </a:rPr>
              <a:t>，</a:t>
            </a:r>
            <a:r>
              <a:rPr lang="en-US" altLang="zh-CN" sz="2800">
                <a:latin typeface="Times New Roman" panose="02020603050405020304"/>
                <a:ea typeface="宋体" panose="02010600030101010101" pitchFamily="2" charset="-122"/>
              </a:rPr>
              <a:t>CFB</a:t>
            </a:r>
            <a:r>
              <a:rPr lang="zh-CN" altLang="en-US" sz="2800">
                <a:latin typeface="Times New Roman" panose="02020603050405020304"/>
                <a:ea typeface="宋体" panose="02010600030101010101" pitchFamily="2" charset="-122"/>
              </a:rPr>
              <a:t>，</a:t>
            </a:r>
            <a:r>
              <a:rPr lang="en-US" altLang="zh-CN" sz="2800">
                <a:latin typeface="Times New Roman" panose="02020603050405020304"/>
                <a:ea typeface="宋体" panose="02010600030101010101" pitchFamily="2" charset="-122"/>
              </a:rPr>
              <a:t>OFB</a:t>
            </a:r>
            <a:r>
              <a:rPr lang="zh-CN" altLang="en-US" sz="2800">
                <a:latin typeface="Times New Roman" panose="02020603050405020304"/>
                <a:ea typeface="宋体" panose="02010600030101010101" pitchFamily="2" charset="-122"/>
              </a:rPr>
              <a:t>，</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）一样安全。</a:t>
            </a:r>
            <a:endParaRPr lang="zh-CN" altLang="en-US" sz="2800">
              <a:latin typeface="宋体" panose="02010600030101010101" pitchFamily="2" charset="-122"/>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6</a:t>
            </a:r>
            <a:r>
              <a:rPr lang="zh-CN" altLang="en-US" sz="2800">
                <a:latin typeface="宋体" panose="02010600030101010101" pitchFamily="2" charset="-122"/>
                <a:ea typeface="宋体" panose="02010600030101010101" pitchFamily="2" charset="-122"/>
              </a:rPr>
              <a:t>）简单性：与其</a:t>
            </a:r>
            <a:r>
              <a:rPr lang="zh-CN" altLang="en-US" sz="2800">
                <a:latin typeface="Times New Roman" panose="02020603050405020304"/>
                <a:ea typeface="宋体" panose="02010600030101010101" pitchFamily="2" charset="-122"/>
              </a:rPr>
              <a:t>他</a:t>
            </a:r>
            <a:r>
              <a:rPr lang="zh-CN" altLang="en-US" sz="2800">
                <a:latin typeface="宋体" panose="02010600030101010101" pitchFamily="2" charset="-122"/>
                <a:ea typeface="宋体" panose="02010600030101010101" pitchFamily="2" charset="-122"/>
              </a:rPr>
              <a:t>模式不同，</a:t>
            </a:r>
            <a:r>
              <a:rPr lang="en-US" altLang="zh-CN" sz="2800">
                <a:latin typeface="Times New Roman" panose="02020603050405020304"/>
                <a:ea typeface="宋体" panose="02010600030101010101" pitchFamily="2" charset="-122"/>
              </a:rPr>
              <a:t>CTR</a:t>
            </a:r>
            <a:r>
              <a:rPr lang="zh-CN" altLang="en-US" sz="2800">
                <a:latin typeface="宋体" panose="02010600030101010101" pitchFamily="2" charset="-122"/>
                <a:ea typeface="宋体" panose="02010600030101010101" pitchFamily="2" charset="-122"/>
              </a:rPr>
              <a:t>模式仅要求实现加密算法，</a:t>
            </a:r>
            <a:r>
              <a:rPr lang="zh-CN" altLang="en-US" sz="2800">
                <a:latin typeface="Times New Roman" panose="02020603050405020304"/>
                <a:ea typeface="宋体" panose="02010600030101010101" pitchFamily="2" charset="-122"/>
              </a:rPr>
              <a:t>且</a:t>
            </a:r>
            <a:r>
              <a:rPr lang="zh-CN" altLang="en-US" sz="2800">
                <a:latin typeface="宋体" panose="02010600030101010101" pitchFamily="2" charset="-122"/>
                <a:ea typeface="宋体" panose="02010600030101010101" pitchFamily="2" charset="-122"/>
              </a:rPr>
              <a:t>不要求实现解密算法。对于</a:t>
            </a:r>
            <a:r>
              <a:rPr lang="en-US" altLang="zh-CN" sz="2800">
                <a:latin typeface="Times New Roman" panose="02020603050405020304"/>
                <a:ea typeface="宋体" panose="02010600030101010101" pitchFamily="2" charset="-122"/>
              </a:rPr>
              <a:t>AES</a:t>
            </a:r>
            <a:r>
              <a:rPr lang="zh-CN" altLang="en-US" sz="2800">
                <a:latin typeface="宋体" panose="02010600030101010101" pitchFamily="2" charset="-122"/>
                <a:ea typeface="宋体" panose="02010600030101010101" pitchFamily="2" charset="-122"/>
              </a:rPr>
              <a:t>等算法来说，这种简化是巨大的。</a:t>
            </a:r>
            <a:endParaRPr lang="zh-CN" altLang="en-US" sz="2800">
              <a:latin typeface="宋体" panose="02010600030101010101" pitchFamily="2" charset="-122"/>
              <a:ea typeface="宋体" panose="02010600030101010101" pitchFamily="2" charset="-122"/>
            </a:endParaRPr>
          </a:p>
          <a:p>
            <a:pPr indent="254000" algn="just" defTabSz="266700" fontAlgn="auto">
              <a:lnSpc>
                <a:spcPct val="100000"/>
              </a:lnSpc>
              <a:spcBef>
                <a:spcPct val="0"/>
              </a:spcBef>
              <a:spcAft>
                <a:spcPct val="0"/>
              </a:spcAft>
            </a:pPr>
            <a:r>
              <a:rPr lang="zh-CN" altLang="en-US" sz="2800">
                <a:latin typeface="宋体" panose="02010600030101010101" pitchFamily="2" charset="-122"/>
                <a:ea typeface="宋体" panose="02010600030101010101" pitchFamily="2" charset="-122"/>
              </a:rPr>
              <a:t>（</a:t>
            </a:r>
            <a:r>
              <a:rPr lang="en-US" altLang="zh-CN" sz="2800">
                <a:latin typeface="Times New Roman" panose="02020603050405020304"/>
                <a:ea typeface="宋体" panose="02010600030101010101" pitchFamily="2" charset="-122"/>
              </a:rPr>
              <a:t>7</a:t>
            </a:r>
            <a:r>
              <a:rPr lang="zh-CN" altLang="en-US" sz="2800">
                <a:latin typeface="宋体" panose="02010600030101010101" pitchFamily="2" charset="-122"/>
                <a:ea typeface="宋体" panose="02010600030101010101" pitchFamily="2" charset="-122"/>
              </a:rPr>
              <a:t>）无填充</a:t>
            </a:r>
            <a:r>
              <a:rPr lang="zh-CN" altLang="en-US" sz="2800">
                <a:latin typeface="Times New Roman" panose="02020603050405020304"/>
                <a:ea typeface="宋体" panose="02010600030101010101" pitchFamily="2" charset="-122"/>
              </a:rPr>
              <a:t>：</a:t>
            </a:r>
            <a:r>
              <a:rPr lang="zh-CN" altLang="en-US" sz="2800">
                <a:latin typeface="宋体" panose="02010600030101010101" pitchFamily="2" charset="-122"/>
                <a:ea typeface="宋体" panose="02010600030101010101" pitchFamily="2" charset="-122"/>
              </a:rPr>
              <a:t>可以高效地作为流式加密使用。</a:t>
            </a:r>
            <a:endParaRPr lang="zh-CN" altLang="en-US" sz="2800">
              <a:latin typeface="宋体" panose="02010600030101010101" pitchFamily="2" charset="-122"/>
              <a:ea typeface="宋体" panose="02010600030101010101" pitchFamily="2" charset="-12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CTR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模式</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3.4.5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5</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a:t>
            </a: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分析</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600200" y="1712595"/>
            <a:ext cx="15356840" cy="6861810"/>
          </a:xfrm>
          <a:prstGeom prst="rect">
            <a:avLst/>
          </a:prstGeom>
        </p:spPr>
        <p:txBody>
          <a:bodyPr wrap="square">
            <a:noAutofit/>
          </a:bodyPr>
          <a:lstStyle/>
          <a:p>
            <a:pPr indent="720090" algn="just" defTabSz="266700" fontAlgn="auto">
              <a:lnSpc>
                <a:spcPct val="100000"/>
              </a:lnSpc>
              <a:spcBef>
                <a:spcPct val="0"/>
              </a:spcBef>
              <a:spcAft>
                <a:spcPct val="0"/>
              </a:spcAft>
            </a:pPr>
            <a:r>
              <a:rPr lang="zh-CN" altLang="en-US" sz="3600" dirty="0">
                <a:latin typeface="Times New Roman" panose="02020603050405020304"/>
                <a:ea typeface="宋体" panose="02010600030101010101" pitchFamily="2" charset="-122"/>
              </a:rPr>
              <a:t>密码算法的设计与分析相辅相成，相互促进，在不断地“攻”与“防”之间，推动着密码学的发展。对分组密码的安全性分析主要包括</a:t>
            </a:r>
            <a:r>
              <a:rPr lang="en-US" altLang="zh-CN" sz="3600" dirty="0">
                <a:latin typeface="Times New Roman" panose="02020603050405020304"/>
                <a:ea typeface="Times New Roman" panose="02020603050405020304"/>
              </a:rPr>
              <a:t>3</a:t>
            </a:r>
            <a:r>
              <a:rPr lang="zh-CN" altLang="en-US" sz="3600" dirty="0">
                <a:latin typeface="Times New Roman" panose="02020603050405020304"/>
                <a:ea typeface="宋体" panose="02010600030101010101" pitchFamily="2" charset="-122"/>
              </a:rPr>
              <a:t>个方面的内容：一是基于数学方法研究，如差分分析、线性分析及其变体不可能差分分析、截断差分分析、高阶差分分析、多重线性分析等，此外还存在积分攻击、相关密钥攻击、碰撞攻击、代数攻击等不同思想的分析方法；二是结合物理实现方式研究，如侧信道攻击；三是研究算法在使用不同模式下的安全性，如分析算法在</a:t>
            </a:r>
            <a:r>
              <a:rPr lang="en-US" altLang="zh-CN" sz="3600" dirty="0">
                <a:latin typeface="Times New Roman" panose="02020603050405020304"/>
                <a:ea typeface="宋体" panose="02010600030101010101" pitchFamily="2" charset="-122"/>
              </a:rPr>
              <a:t>CBC</a:t>
            </a:r>
            <a:r>
              <a:rPr lang="zh-CN" altLang="en-US" sz="3600" dirty="0">
                <a:latin typeface="Times New Roman" panose="02020603050405020304"/>
                <a:ea typeface="宋体" panose="02010600030101010101" pitchFamily="2" charset="-122"/>
              </a:rPr>
              <a:t>模式下的安全性等。被人所熟知的穷举攻击假定攻击者的能力是无限的，任何现实中使用的密码算法都能够被穷举攻破，因此不能将穷举攻击看作一种真正的攻击，因为这是密码设计者能够预见的攻击手段。</a:t>
            </a:r>
            <a:endParaRPr lang="zh-CN" altLang="en-US" sz="3600" dirty="0">
              <a:latin typeface="Times New Roman" panose="02020603050405020304"/>
              <a:ea typeface="宋体" panose="02010600030101010101" pitchFamily="2" charset="-122"/>
            </a:endParaRPr>
          </a:p>
          <a:p>
            <a:pPr indent="720090" algn="just" defTabSz="266700" fontAlgn="auto">
              <a:lnSpc>
                <a:spcPct val="100000"/>
              </a:lnSpc>
              <a:spcBef>
                <a:spcPct val="0"/>
              </a:spcBef>
              <a:spcAft>
                <a:spcPct val="0"/>
              </a:spcAft>
            </a:pPr>
            <a:r>
              <a:rPr lang="zh-CN" altLang="en-US" sz="3600" dirty="0">
                <a:latin typeface="Times New Roman" panose="02020603050405020304"/>
                <a:ea typeface="宋体" panose="02010600030101010101" pitchFamily="2" charset="-122"/>
              </a:rPr>
              <a:t>在设计分组密码时，应该充分考虑这些攻击方法，尽可能地抵抗所有已知的可能攻击。目前，差分分析和线性分析是两种有效的分析方法，它们的出现促使分组密码算法的设计技术走上了一个新的高度，任何一个新的密码的提出首先得经过它们的考验。下面对这两种典型的分析方法进行简单介绍，其余分析方法不再赘述，有兴趣的读者可参阅相关文献。</a:t>
            </a:r>
            <a:endParaRPr lang="zh-CN" altLang="en-US" sz="3600" dirty="0">
              <a:latin typeface="Times New Roman" panose="02020603050405020304"/>
              <a:ea typeface="宋体" panose="02010600030101010101" pitchFamily="2" charset="-122"/>
            </a:endParaRPr>
          </a:p>
        </p:txBody>
      </p:sp>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分组密码分析</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5</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71600" y="1714500"/>
            <a:ext cx="15063470" cy="7557770"/>
          </a:xfrm>
          <a:prstGeom prst="rect">
            <a:avLst/>
          </a:prstGeom>
          <a:noFill/>
        </p:spPr>
        <p:txBody>
          <a:bodyPr wrap="square" rtlCol="0">
            <a:noAutofit/>
          </a:bodyPr>
          <a:lstStyle/>
          <a:p>
            <a:pPr indent="720090"/>
            <a:r>
              <a:rPr lang="zh-CN" altLang="en-US" sz="2800" dirty="0">
                <a:latin typeface="Times New Roman" panose="02020603050405020304" pitchFamily="18" charset="0"/>
                <a:cs typeface="Times New Roman" panose="02020603050405020304" pitchFamily="18" charset="0"/>
              </a:rPr>
              <a:t>差分分析是一种针对分组密码的有效攻击方法，最早用于分析</a:t>
            </a:r>
            <a:r>
              <a:rPr lang="en-US" altLang="zh-CN" sz="2800" dirty="0">
                <a:latin typeface="Times New Roman" panose="02020603050405020304" pitchFamily="18" charset="0"/>
                <a:cs typeface="Times New Roman" panose="02020603050405020304" pitchFamily="18" charset="0"/>
              </a:rPr>
              <a:t>DES</a:t>
            </a:r>
            <a:r>
              <a:rPr lang="zh-CN" altLang="en-US" sz="2800" dirty="0">
                <a:latin typeface="Times New Roman" panose="02020603050405020304" pitchFamily="18" charset="0"/>
                <a:cs typeface="Times New Roman" panose="02020603050405020304" pitchFamily="18" charset="0"/>
              </a:rPr>
              <a:t>。其基本思想是研究明文差分对密文差分的影响，通过分析差分传播规律寻找密钥。</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设分组长度为</a:t>
            </a:r>
            <a:r>
              <a:rPr lang="en-US" altLang="zh-CN" sz="2800" dirty="0">
                <a:latin typeface="Times New Roman" panose="02020603050405020304" pitchFamily="18" charset="0"/>
                <a:cs typeface="Times New Roman" panose="02020603050405020304" pitchFamily="18" charset="0"/>
              </a:rPr>
              <a:t>n</a:t>
            </a:r>
            <a:r>
              <a:rPr lang="zh-CN" altLang="en-US" sz="2800" dirty="0">
                <a:latin typeface="Times New Roman" panose="02020603050405020304" pitchFamily="18" charset="0"/>
                <a:cs typeface="Times New Roman" panose="02020603050405020304" pitchFamily="18" charset="0"/>
              </a:rPr>
              <a:t>的</a:t>
            </a:r>
            <a:r>
              <a:rPr lang="en-US" altLang="zh-CN" sz="2800" dirty="0">
                <a:latin typeface="Times New Roman" panose="02020603050405020304" pitchFamily="18" charset="0"/>
                <a:cs typeface="Times New Roman" panose="02020603050405020304" pitchFamily="18" charset="0"/>
              </a:rPr>
              <a:t>r</a:t>
            </a:r>
            <a:r>
              <a:rPr lang="zh-CN" altLang="en-US" sz="2800" dirty="0">
                <a:latin typeface="Times New Roman" panose="02020603050405020304" pitchFamily="18" charset="0"/>
                <a:cs typeface="Times New Roman" panose="02020603050405020304" pitchFamily="18" charset="0"/>
              </a:rPr>
              <a:t>轮迭代密码，两组明文为</a:t>
            </a:r>
            <a:r>
              <a:rPr lang="en-US" altLang="zh-CN" sz="2800" dirty="0">
                <a:latin typeface="Times New Roman" panose="02020603050405020304" pitchFamily="18" charset="0"/>
                <a:cs typeface="Times New Roman" panose="02020603050405020304" pitchFamily="18" charset="0"/>
              </a:rPr>
              <a:t>Y</a:t>
            </a:r>
            <a:r>
              <a:rPr lang="en-US" altLang="en-US" sz="2800" dirty="0">
                <a:latin typeface="Times New Roman" panose="02020603050405020304" pitchFamily="18" charset="0"/>
                <a:cs typeface="Times New Roman" panose="02020603050405020304" pitchFamily="18" charset="0"/>
              </a:rPr>
              <a:t>₀</a:t>
            </a:r>
            <a:r>
              <a:rPr lang="zh-CN" altLang="en-US" sz="2800" dirty="0">
                <a:latin typeface="Times New Roman" panose="02020603050405020304" pitchFamily="18" charset="0"/>
                <a:cs typeface="Times New Roman" panose="02020603050405020304" pitchFamily="18" charset="0"/>
              </a:rPr>
              <a:t>和</a:t>
            </a:r>
            <a:r>
              <a:rPr lang="en-US" altLang="zh-CN" sz="2800" dirty="0">
                <a:latin typeface="Times New Roman" panose="02020603050405020304" pitchFamily="18" charset="0"/>
                <a:cs typeface="Times New Roman" panose="02020603050405020304" pitchFamily="18" charset="0"/>
              </a:rPr>
              <a:t>Y</a:t>
            </a:r>
            <a:r>
              <a:rPr lang="en-US" altLang="en-US" sz="2800" dirty="0">
                <a:latin typeface="Times New Roman" panose="02020603050405020304" pitchFamily="18" charset="0"/>
                <a:cs typeface="Times New Roman" panose="02020603050405020304" pitchFamily="18" charset="0"/>
              </a:rPr>
              <a:t>₀</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，其差分定义为：</a:t>
            </a:r>
            <a:endParaRPr lang="en-US" altLang="zh-CN" sz="2800" dirty="0">
              <a:latin typeface="Times New Roman" panose="02020603050405020304" pitchFamily="18" charset="0"/>
              <a:cs typeface="Times New Roman" panose="02020603050405020304" pitchFamily="18" charset="0"/>
            </a:endParaRPr>
          </a:p>
          <a:p>
            <a:pPr indent="720090"/>
            <a:r>
              <a:rPr lang="en-US" altLang="zh-CN" sz="2800" dirty="0">
                <a:latin typeface="Times New Roman" panose="02020603050405020304" pitchFamily="18" charset="0"/>
                <a:cs typeface="Times New Roman" panose="02020603050405020304" pitchFamily="18" charset="0"/>
              </a:rPr>
              <a:t>ΔY</a:t>
            </a:r>
            <a:r>
              <a:rPr lang="en-US" altLang="en-US" sz="2800" dirty="0">
                <a:latin typeface="Times New Roman" panose="02020603050405020304" pitchFamily="18" charset="0"/>
                <a:cs typeface="Times New Roman" panose="02020603050405020304" pitchFamily="18" charset="0"/>
              </a:rPr>
              <a:t>ᵢ</a:t>
            </a:r>
            <a:r>
              <a:rPr lang="en-US" altLang="zh-CN" sz="2800" dirty="0">
                <a:latin typeface="Times New Roman" panose="02020603050405020304" pitchFamily="18" charset="0"/>
                <a:cs typeface="Times New Roman" panose="02020603050405020304" pitchFamily="18" charset="0"/>
              </a:rPr>
              <a:t> = Y</a:t>
            </a:r>
            <a:r>
              <a:rPr lang="en-US" altLang="en-US" sz="2800" dirty="0">
                <a:latin typeface="Times New Roman" panose="02020603050405020304" pitchFamily="18" charset="0"/>
                <a:cs typeface="Times New Roman" panose="02020603050405020304" pitchFamily="18" charset="0"/>
              </a:rPr>
              <a:t>ᵢ</a:t>
            </a:r>
            <a:r>
              <a:rPr lang="en-US" altLang="zh-CN" sz="2800" dirty="0">
                <a:latin typeface="Times New Roman" panose="02020603050405020304" pitchFamily="18" charset="0"/>
                <a:cs typeface="Times New Roman" panose="02020603050405020304" pitchFamily="18" charset="0"/>
              </a:rPr>
              <a:t> ⊕ Y</a:t>
            </a:r>
            <a:r>
              <a:rPr lang="en-US" altLang="en-US" sz="2800" dirty="0">
                <a:latin typeface="Times New Roman" panose="02020603050405020304" pitchFamily="18" charset="0"/>
                <a:cs typeface="Times New Roman" panose="02020603050405020304" pitchFamily="18" charset="0"/>
              </a:rPr>
              <a:t>ᵢ</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其中</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表示异或运算。通过分析各轮输入输出差分关系，可得到差分序列：</a:t>
            </a:r>
            <a:endParaRPr lang="en-US" altLang="zh-CN" sz="2800" dirty="0">
              <a:latin typeface="Times New Roman" panose="02020603050405020304" pitchFamily="18" charset="0"/>
              <a:cs typeface="Times New Roman" panose="02020603050405020304" pitchFamily="18" charset="0"/>
            </a:endParaRPr>
          </a:p>
          <a:p>
            <a:pPr indent="720090"/>
            <a:r>
              <a:rPr lang="en-US" altLang="zh-CN" sz="2800" dirty="0">
                <a:latin typeface="Times New Roman" panose="02020603050405020304" pitchFamily="18" charset="0"/>
                <a:cs typeface="Times New Roman" panose="02020603050405020304" pitchFamily="18" charset="0"/>
              </a:rPr>
              <a:t>ΔY</a:t>
            </a:r>
            <a:r>
              <a:rPr lang="en-US" altLang="en-US" sz="2800" dirty="0">
                <a:latin typeface="Times New Roman" panose="02020603050405020304" pitchFamily="18" charset="0"/>
                <a:cs typeface="Times New Roman" panose="02020603050405020304" pitchFamily="18" charset="0"/>
              </a:rPr>
              <a:t>₀</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ΔY</a:t>
            </a:r>
            <a:r>
              <a:rPr lang="en-US" altLang="en-US" sz="2800" dirty="0">
                <a:latin typeface="Times New Roman" panose="02020603050405020304" pitchFamily="18" charset="0"/>
                <a:cs typeface="Times New Roman" panose="02020603050405020304" pitchFamily="18" charset="0"/>
              </a:rPr>
              <a:t>₁</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ΔY</a:t>
            </a:r>
            <a:r>
              <a:rPr lang="en-US" altLang="en-US" sz="2800" dirty="0">
                <a:latin typeface="Times New Roman" panose="02020603050405020304" pitchFamily="18" charset="0"/>
                <a:cs typeface="Times New Roman" panose="02020603050405020304" pitchFamily="18" charset="0"/>
              </a:rPr>
              <a:t>ᵣ</a:t>
            </a:r>
            <a:endParaRPr lang="en-US" altLang="zh-CN" sz="2800" dirty="0">
              <a:latin typeface="Times New Roman" panose="02020603050405020304" pitchFamily="18" charset="0"/>
              <a:cs typeface="Times New Roman" panose="02020603050405020304" pitchFamily="18" charset="0"/>
            </a:endParaRPr>
          </a:p>
          <a:p>
            <a:pPr indent="720090"/>
            <a:r>
              <a:rPr lang="en-US" altLang="zh-CN" sz="2800" dirty="0">
                <a:latin typeface="Times New Roman" panose="02020603050405020304" pitchFamily="18" charset="0"/>
                <a:cs typeface="Times New Roman" panose="02020603050405020304" pitchFamily="18" charset="0"/>
              </a:rPr>
              <a:t>r</a:t>
            </a:r>
            <a:r>
              <a:rPr lang="zh-CN" altLang="en-US" sz="2800" dirty="0">
                <a:latin typeface="Times New Roman" panose="02020603050405020304" pitchFamily="18" charset="0"/>
                <a:cs typeface="Times New Roman" panose="02020603050405020304" pitchFamily="18" charset="0"/>
              </a:rPr>
              <a:t>轮差分特征表示某一差分序列出现的概率，可近似表示为各轮差分传播概率的乘积。</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差分分析过程主要包括：</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）选择高概率的</a:t>
            </a:r>
            <a:r>
              <a:rPr lang="en-US" altLang="zh-CN" sz="2800" dirty="0">
                <a:latin typeface="Times New Roman" panose="02020603050405020304" pitchFamily="18" charset="0"/>
                <a:cs typeface="Times New Roman" panose="02020603050405020304" pitchFamily="18" charset="0"/>
              </a:rPr>
              <a:t>r</a:t>
            </a:r>
            <a:r>
              <a:rPr lang="zh-CN" altLang="en-US" sz="2800" dirty="0">
                <a:latin typeface="Times New Roman" panose="02020603050405020304" pitchFamily="18" charset="0"/>
                <a:cs typeface="Times New Roman" panose="02020603050405020304" pitchFamily="18" charset="0"/>
              </a:rPr>
              <a:t>轮差分特征，使其出现概率最大。</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）随机选择满足差分条件的明文对，通过加密得到密文对，并利用最后一轮子密钥进行分析。</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3</a:t>
            </a:r>
            <a:r>
              <a:rPr lang="zh-CN" altLang="en-US" sz="2800" dirty="0">
                <a:latin typeface="Times New Roman" panose="02020603050405020304" pitchFamily="18" charset="0"/>
                <a:cs typeface="Times New Roman" panose="02020603050405020304" pitchFamily="18" charset="0"/>
              </a:rPr>
              <a:t>）重复实验，根据统计结果筛选可能的子密钥。</a:t>
            </a:r>
            <a:endParaRPr lang="en-US" altLang="zh-CN" sz="2800" dirty="0">
              <a:latin typeface="Times New Roman" panose="02020603050405020304" pitchFamily="18" charset="0"/>
              <a:cs typeface="Times New Roman" panose="02020603050405020304" pitchFamily="18" charset="0"/>
            </a:endParaRPr>
          </a:p>
          <a:p>
            <a:pPr indent="720090"/>
            <a:r>
              <a:rPr lang="zh-CN" altLang="en-US" sz="2800" dirty="0">
                <a:latin typeface="Times New Roman" panose="02020603050405020304" pitchFamily="18" charset="0"/>
                <a:cs typeface="Times New Roman" panose="02020603050405020304" pitchFamily="18" charset="0"/>
              </a:rPr>
              <a:t>差分分析的复杂度主要包括数据复杂度和处理复杂度。数据复杂度表示所需选择明文对数量，处理复杂度表示恢复密钥所需计算量。由于轮函数具有较强随机性，差分分析通常需要大量数据，其实际复杂度取决于密码结构。</a:t>
            </a:r>
            <a:endParaRPr lang="zh-CN" altLang="en-US" sz="2800" dirty="0">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差分分析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838200" y="2019300"/>
            <a:ext cx="16254095" cy="7416165"/>
          </a:xfrm>
          <a:prstGeom prst="rect">
            <a:avLst/>
          </a:prstGeom>
        </p:spPr>
        <p:txBody>
          <a:bodyPr wrap="square">
            <a:spAutoFit/>
          </a:bodyPr>
          <a:lstStyle/>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线性分析是一种针对迭代密码的已知明文攻击方法，其基本思想是寻找明文、密文和密钥之间的有效线性关系，通过大量明文密文对推测密钥信息。</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线性分析的关键是确定有效线性方程的线性偏差和线性组合系数。设明文分组为</a:t>
            </a:r>
            <a:r>
              <a:rPr lang="en-US" altLang="zh-CN" sz="2800" dirty="0">
                <a:latin typeface="Times New Roman" panose="02020603050405020304" pitchFamily="18" charset="0"/>
                <a:cs typeface="Times New Roman" panose="02020603050405020304" pitchFamily="18" charset="0"/>
              </a:rPr>
              <a:t>P</a:t>
            </a:r>
            <a:r>
              <a:rPr lang="zh-CN" altLang="en-US" sz="2800" dirty="0">
                <a:latin typeface="Times New Roman" panose="02020603050405020304" pitchFamily="18" charset="0"/>
                <a:cs typeface="Times New Roman" panose="02020603050405020304" pitchFamily="18" charset="0"/>
              </a:rPr>
              <a:t>，密文分组为</a:t>
            </a:r>
            <a:r>
              <a:rPr lang="en-US" altLang="zh-CN" sz="2800" dirty="0">
                <a:latin typeface="Times New Roman" panose="02020603050405020304" pitchFamily="18" charset="0"/>
                <a:cs typeface="Times New Roman" panose="02020603050405020304" pitchFamily="18" charset="0"/>
              </a:rPr>
              <a:t>C</a:t>
            </a:r>
            <a:r>
              <a:rPr lang="zh-CN" altLang="en-US" sz="2800" dirty="0">
                <a:latin typeface="Times New Roman" panose="02020603050405020304" pitchFamily="18" charset="0"/>
                <a:cs typeface="Times New Roman" panose="02020603050405020304" pitchFamily="18" charset="0"/>
              </a:rPr>
              <a:t>，密钥分组为</a:t>
            </a:r>
            <a:r>
              <a:rPr lang="en-US" altLang="zh-CN" sz="2800" dirty="0">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，则通过选择明文、密文和密钥中的部分比特，可以构造如下线性近似关系：</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rPr>
              <a:t>l₁,l</a:t>
            </a:r>
            <a:r>
              <a:rPr lang="en-US" altLang="zh-CN" sz="2800" dirty="0">
                <a:latin typeface="Times New Roman" panose="02020603050405020304" pitchFamily="18" charset="0"/>
                <a:cs typeface="Times New Roman" panose="02020603050405020304" pitchFamily="18" charset="0"/>
              </a:rPr>
              <a:t>₂,...,lₐ] ⊕ C[</a:t>
            </a:r>
            <a:r>
              <a:rPr lang="en-US" altLang="zh-CN" sz="2800" dirty="0" err="1">
                <a:latin typeface="Times New Roman" panose="02020603050405020304" pitchFamily="18" charset="0"/>
                <a:cs typeface="Times New Roman" panose="02020603050405020304" pitchFamily="18" charset="0"/>
              </a:rPr>
              <a:t>j₁,j</a:t>
            </a:r>
            <a:r>
              <a:rPr lang="en-US" altLang="zh-CN" sz="2800" dirty="0">
                <a:latin typeface="Times New Roman" panose="02020603050405020304" pitchFamily="18" charset="0"/>
                <a:cs typeface="Times New Roman" panose="02020603050405020304" pitchFamily="18" charset="0"/>
              </a:rPr>
              <a:t>₂,...,</a:t>
            </a:r>
            <a:r>
              <a:rPr lang="en-US" altLang="zh-CN" sz="2800" dirty="0" err="1">
                <a:latin typeface="Times New Roman" panose="02020603050405020304" pitchFamily="18" charset="0"/>
                <a:cs typeface="Times New Roman" panose="02020603050405020304" pitchFamily="18" charset="0"/>
              </a:rPr>
              <a:t>j_b</a:t>
            </a:r>
            <a:r>
              <a:rPr lang="en-US" altLang="zh-CN" sz="2800" dirty="0">
                <a:latin typeface="Times New Roman" panose="02020603050405020304" pitchFamily="18" charset="0"/>
                <a:cs typeface="Times New Roman" panose="02020603050405020304" pitchFamily="18" charset="0"/>
              </a:rPr>
              <a:t>] = K[</a:t>
            </a:r>
            <a:r>
              <a:rPr lang="en-US" altLang="zh-CN" sz="2800" dirty="0" err="1">
                <a:latin typeface="Times New Roman" panose="02020603050405020304" pitchFamily="18" charset="0"/>
                <a:cs typeface="Times New Roman" panose="02020603050405020304" pitchFamily="18" charset="0"/>
              </a:rPr>
              <a:t>k₁,k</a:t>
            </a:r>
            <a:r>
              <a:rPr lang="en-US" altLang="zh-CN" sz="2800" dirty="0">
                <a:latin typeface="Times New Roman" panose="02020603050405020304" pitchFamily="18" charset="0"/>
                <a:cs typeface="Times New Roman" panose="02020603050405020304" pitchFamily="18" charset="0"/>
              </a:rPr>
              <a:t>₂,...,k</a:t>
            </a:r>
            <a:r>
              <a:rPr lang="en-US" altLang="zh-CN" sz="2800" baseline="-25000" dirty="0">
                <a:latin typeface="Times New Roman" panose="02020603050405020304" pitchFamily="18" charset="0"/>
                <a:cs typeface="Times New Roman" panose="02020603050405020304" pitchFamily="18" charset="0"/>
              </a:rPr>
              <a:t>c</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其中</a:t>
            </a:r>
            <a:r>
              <a:rPr lang="en-US" altLang="zh-CN" sz="2800" dirty="0">
                <a:latin typeface="Times New Roman" panose="02020603050405020304" pitchFamily="18" charset="0"/>
                <a:cs typeface="Times New Roman" panose="02020603050405020304" pitchFamily="18" charset="0"/>
              </a:rPr>
              <a:t>P</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C</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分别表示明文、密文和密钥比特组合。通过大量样本统计，可以判断该线性关系成立的概率。</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若线性方程成立概率为</a:t>
            </a:r>
            <a:r>
              <a:rPr lang="en-US" altLang="zh-CN" sz="2800" dirty="0">
                <a:latin typeface="Times New Roman" panose="02020603050405020304" pitchFamily="18" charset="0"/>
                <a:cs typeface="Times New Roman" panose="02020603050405020304" pitchFamily="18" charset="0"/>
              </a:rPr>
              <a:t>p</a:t>
            </a:r>
            <a:r>
              <a:rPr lang="zh-CN" altLang="en-US" sz="2800" dirty="0">
                <a:latin typeface="Times New Roman" panose="02020603050405020304" pitchFamily="18" charset="0"/>
                <a:cs typeface="Times New Roman" panose="02020603050405020304" pitchFamily="18" charset="0"/>
              </a:rPr>
              <a:t>，则线性偏差为：</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ε = |p − 1/2|</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当</a:t>
            </a:r>
            <a:r>
              <a:rPr lang="en-US" altLang="zh-CN" sz="2800" dirty="0">
                <a:latin typeface="Times New Roman" panose="02020603050405020304" pitchFamily="18" charset="0"/>
                <a:cs typeface="Times New Roman" panose="02020603050405020304" pitchFamily="18" charset="0"/>
              </a:rPr>
              <a:t>p</a:t>
            </a:r>
            <a:r>
              <a:rPr lang="zh-CN" altLang="en-US" sz="2800" dirty="0">
                <a:latin typeface="Times New Roman" panose="02020603050405020304" pitchFamily="18" charset="0"/>
                <a:cs typeface="Times New Roman" panose="02020603050405020304" pitchFamily="18" charset="0"/>
              </a:rPr>
              <a:t>接近</a:t>
            </a:r>
            <a:r>
              <a:rPr lang="en-US" altLang="zh-CN" sz="2800" dirty="0">
                <a:latin typeface="Times New Roman" panose="02020603050405020304" pitchFamily="18" charset="0"/>
                <a:cs typeface="Times New Roman" panose="02020603050405020304" pitchFamily="18" charset="0"/>
              </a:rPr>
              <a:t>1/2</a:t>
            </a:r>
            <a:r>
              <a:rPr lang="zh-CN" altLang="en-US" sz="2800" dirty="0">
                <a:latin typeface="Times New Roman" panose="02020603050405020304" pitchFamily="18" charset="0"/>
                <a:cs typeface="Times New Roman" panose="02020603050405020304" pitchFamily="18" charset="0"/>
              </a:rPr>
              <a:t>时，该关系没有攻击价值；当偏差较大时，可利用该线性关系恢复部分密钥信息。</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线性分析过程主要包括：</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）寻找具有较大线性偏差的有效线性近似表达式。</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）收集大量明文和密文对，根据线性关系统计密钥候选。</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3</a:t>
            </a:r>
            <a:r>
              <a:rPr lang="zh-CN" altLang="en-US" sz="2800" dirty="0">
                <a:latin typeface="Times New Roman" panose="02020603050405020304" pitchFamily="18" charset="0"/>
                <a:cs typeface="Times New Roman" panose="02020603050405020304" pitchFamily="18" charset="0"/>
              </a:rPr>
              <a:t>）通过比较统计结果，确定可能的密钥比特。</a:t>
            </a:r>
            <a:endParaRPr lang="zh-CN" altLang="en-US"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线性分析的攻击效果主要取决于两个因素：明文数量</a:t>
            </a:r>
            <a:r>
              <a:rPr lang="en-US" altLang="zh-CN" sz="2800" dirty="0">
                <a:latin typeface="Times New Roman" panose="02020603050405020304" pitchFamily="18" charset="0"/>
                <a:cs typeface="Times New Roman" panose="02020603050405020304" pitchFamily="18" charset="0"/>
              </a:rPr>
              <a:t>N</a:t>
            </a:r>
            <a:r>
              <a:rPr lang="zh-CN" altLang="en-US" sz="2800" dirty="0">
                <a:latin typeface="Times New Roman" panose="02020603050405020304" pitchFamily="18" charset="0"/>
                <a:cs typeface="Times New Roman" panose="02020603050405020304" pitchFamily="18" charset="0"/>
              </a:rPr>
              <a:t>和线性偏差</a:t>
            </a:r>
            <a:r>
              <a:rPr lang="en-US" altLang="zh-CN" sz="2800" dirty="0">
                <a:latin typeface="Times New Roman" panose="02020603050405020304" pitchFamily="18" charset="0"/>
                <a:cs typeface="Times New Roman" panose="02020603050405020304" pitchFamily="18" charset="0"/>
              </a:rPr>
              <a:t>|p−1/2|</a:t>
            </a:r>
            <a:r>
              <a:rPr lang="zh-CN" altLang="en-US" sz="2800" dirty="0">
                <a:latin typeface="Times New Roman" panose="02020603050405020304" pitchFamily="18" charset="0"/>
                <a:cs typeface="Times New Roman" panose="02020603050405020304" pitchFamily="18" charset="0"/>
              </a:rPr>
              <a:t>。明文数量越大、线性偏差越明显，攻击成功概率越高。因此，提高密码算法的非线性程度、降低线性偏差，是抵抗线性分析的重要方法。</a:t>
            </a:r>
            <a:endParaRPr lang="zh-CN" altLang="en-US" sz="2800" dirty="0">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线性分析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3.5.2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2095450"/>
            <a:ext cx="14818191" cy="199263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本章对分组密码进行了总体的概述，并对具有代表性的两个分组密码体制</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及</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算法加以介绍，最后具体阐述了分组密码的各个工作模式及分组密码分析的相关知识。</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3.6</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2.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3.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4.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5.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6.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7.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8.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9.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10.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11.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ags/tag12.xml><?xml version="1.0" encoding="utf-8"?>
<p:tagLst xmlns:p="http://schemas.openxmlformats.org/presentationml/2006/main">
  <p:tag name="KSO_WM_DIAGRAM_VIRTUALLY_FRAME" val="{&quot;height&quot;:477.6533858267717,&quot;left&quot;:525.6677952755906,&quot;top&quot;:124.44661417322831,&quot;width&quot;:700.76030488608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22456</Words>
  <Application>WPS 演示</Application>
  <PresentationFormat>自定义</PresentationFormat>
  <Paragraphs>2482</Paragraphs>
  <Slides>81</Slides>
  <Notes>0</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127</vt:i4>
      </vt:variant>
      <vt:variant>
        <vt:lpstr>幻灯片标题</vt:lpstr>
      </vt:variant>
      <vt:variant>
        <vt:i4>81</vt:i4>
      </vt:variant>
    </vt:vector>
  </HeadingPairs>
  <TitlesOfParts>
    <vt:vector size="228" baseType="lpstr">
      <vt:lpstr>Arial</vt:lpstr>
      <vt:lpstr>宋体</vt:lpstr>
      <vt:lpstr>Wingdings</vt:lpstr>
      <vt:lpstr>Calibri</vt:lpstr>
      <vt:lpstr>仿宋</vt:lpstr>
      <vt:lpstr>字由文艺黑</vt:lpstr>
      <vt:lpstr>Times New Roman</vt:lpstr>
      <vt:lpstr>微软雅黑</vt:lpstr>
      <vt:lpstr>字由点字典黑 2</vt:lpstr>
      <vt:lpstr>黑体</vt:lpstr>
      <vt:lpstr>Arial Unicode MS</vt:lpstr>
      <vt:lpstr>等线</vt:lpstr>
      <vt:lpstr>Times New Roman</vt:lpstr>
      <vt:lpstr>Arial</vt:lpstr>
      <vt:lpstr>Calibri</vt:lpstr>
      <vt:lpstr>字由点字典黑 2</vt:lpstr>
      <vt:lpstr>字由点字典黑 65J</vt:lpstr>
      <vt:lpstr>MS PGothic</vt:lpstr>
      <vt:lpstr>Office Theme</vt:lpstr>
      <vt:lpstr>1_Office Theme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杨妮</cp:lastModifiedBy>
  <cp:revision>199</cp:revision>
  <dcterms:created xsi:type="dcterms:W3CDTF">2006-08-16T00:00:00Z</dcterms:created>
  <dcterms:modified xsi:type="dcterms:W3CDTF">2026-10-07T06:52:52Z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F90C18DC5B85441E9BD90FE1E21047A5_13</vt:lpwstr>
  </property>
  <property fmtid="{D5CDD505-2E9C-101B-9397-08002B2CF9AE}" pid="3" name="KSOProductBuildVer">
    <vt:lpwstr>2052-12.1.0.28505</vt:lpwstr>
  </property>
</Properties>
</file>