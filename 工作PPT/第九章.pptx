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69" r:id="rId9"/>
    <p:sldId id="270" r:id="rId10"/>
    <p:sldId id="259" r:id="rId11"/>
    <p:sldId id="260" r:id="rId12"/>
    <p:sldId id="272" r:id="rId13"/>
    <p:sldId id="273" r:id="rId14"/>
    <p:sldId id="271" r:id="rId15"/>
    <p:sldId id="274" r:id="rId16"/>
    <p:sldId id="275" r:id="rId17"/>
    <p:sldId id="276" r:id="rId18"/>
    <p:sldId id="262" r:id="rId19"/>
    <p:sldId id="263" r:id="rId20"/>
    <p:sldId id="264" r:id="rId21"/>
    <p:sldId id="277" r:id="rId22"/>
    <p:sldId id="265" r:id="rId23"/>
    <p:sldId id="278" r:id="rId24"/>
    <p:sldId id="266" r:id="rId25"/>
    <p:sldId id="267" r:id="rId26"/>
    <p:sldId id="279" r:id="rId27"/>
    <p:sldId id="280" r:id="rId28"/>
    <p:sldId id="268" r:id="rId29"/>
  </p:sldIdLst>
  <p:sldSz cx="18288000" cy="10287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40" d="100"/>
          <a:sy n="40" d="100"/>
        </p:scale>
        <p:origin x="53" y="54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txBody>
          <a:bodyPr/>
          <a:lstStyle/>
          <a:p>
            <a:endParaRPr lang="zh-CN" altLang="en-US"/>
          </a:p>
        </p:txBody>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685800" y="2130425"/>
            <a:ext cx="7772400" cy="1470025"/>
          </a:xfrm>
          <a:prstGeom prst="rect">
            <a:avLst/>
          </a:prstGeom>
          <a:noFill/>
          <a:ln w="12700">
            <a:noFill/>
            <a:prstDash val="solid"/>
          </a:ln>
        </p:spPr>
        <p:txBody>
          <a:bodyPr wrap="square" lIns="91440" tIns="45720" rIns="91440" bIns="45720" anchor="ctr">
            <a:no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xfrm>
            <a:off x="1371600" y="3886200"/>
            <a:ext cx="6400800" cy="1752600"/>
          </a:xfrm>
          <a:prstGeom prst="rect">
            <a:avLst/>
          </a:prstGeom>
          <a:noFill/>
          <a:ln w="12700">
            <a:noFill/>
            <a:prstDash val="solid"/>
          </a:ln>
        </p:spPr>
        <p:txBody>
          <a:bodyPr wrap="square" lIns="91440" tIns="45720" rIns="91440" bIns="45720" anchor="t">
            <a:normAutofit/>
          </a:bodyPr>
          <a:lstStyle>
            <a:lvl1pPr algn="ctr" defTabSz="914400">
              <a:lnSpc>
                <a:spcPct val="100000"/>
              </a:lnSpc>
              <a:defRPr sz="3200" b="0" i="0" u="none" strike="noStrike" spc="0">
                <a:solidFill>
                  <a:srgbClr val="898989">
                    <a:alpha val="100000"/>
                  </a:srgbClr>
                </a:solidFill>
                <a:latin typeface="Calibri" panose="020F0502020204030204"/>
              </a:defRPr>
            </a:lvl1pPr>
          </a:lstStyle>
          <a:p>
            <a:pPr marL="0" indent="0" algn="ctr" defTabSz="914400">
              <a:lnSpc>
                <a:spcPct val="100000"/>
              </a:lnSpc>
              <a:spcBef>
                <a:spcPct val="20000"/>
              </a:spcBef>
            </a:pPr>
            <a:r>
              <a:rPr lang="en-US" sz="3200" b="0" i="0" u="none" strike="noStrike">
                <a:solidFill>
                  <a:srgbClr val="898989"/>
                </a:solidFill>
                <a:latin typeface="Calibri" panose="020F0502020204030204"/>
                <a:ea typeface="Calibri" panose="020F0502020204030204"/>
                <a:cs typeface="Calibri" panose="020F0502020204030204"/>
                <a:sym typeface="Calibri" panose="020F0502020204030204"/>
              </a:rPr>
              <a:t>Click to edit Master subtitle style</a:t>
            </a:r>
            <a:endParaRPr lang="en-US" sz="3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508036E3-B92C-44EF-AE0D-24E0609C40AF}"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10"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9EC27F3D-86E0-4E10-A215-70F6397850A2}"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2"/>
          </p:nvPr>
        </p:nvSpPr>
        <p:spPr>
          <a:xfrm>
            <a:off x="457200" y="1600200"/>
            <a:ext cx="8229600" cy="4525963"/>
          </a:xfrm>
          <a:prstGeom prst="rect">
            <a:avLst/>
          </a:prstGeom>
          <a:noFill/>
          <a:ln w="12700">
            <a:noFill/>
            <a:prstDash val="solid"/>
          </a:ln>
        </p:spPr>
        <p:txBody>
          <a:bodyPr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3"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75C62866-109C-4DFD-96C2-24395706DBBD}"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4"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15"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0D6CA498-C7CE-4161-B3E3-A231B4C2CE19}"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722313" y="4406900"/>
            <a:ext cx="7772400" cy="1362075"/>
          </a:xfrm>
          <a:prstGeom prst="rect">
            <a:avLst/>
          </a:prstGeom>
          <a:noFill/>
          <a:ln w="12700">
            <a:noFill/>
            <a:prstDash val="solid"/>
          </a:ln>
        </p:spPr>
        <p:txBody>
          <a:bodyPr wrap="square" lIns="91440" tIns="45720" rIns="91440" bIns="45720" anchor="t">
            <a:normAutofit/>
          </a:bodyPr>
          <a:lstStyle>
            <a:lvl1pPr algn="l" defTabSz="914400">
              <a:lnSpc>
                <a:spcPct val="100000"/>
              </a:lnSpc>
              <a:defRPr sz="4000" b="1" i="0" u="none" strike="noStrike" spc="0">
                <a:solidFill>
                  <a:srgbClr val="000000">
                    <a:alpha val="100000"/>
                  </a:srgbClr>
                </a:solidFill>
                <a:latin typeface="Calibri" panose="020F0502020204030204"/>
              </a:defRPr>
            </a:lvl1pPr>
          </a:lstStyle>
          <a:p>
            <a:pPr marL="0" indent="0" algn="l" defTabSz="914400">
              <a:lnSpc>
                <a:spcPct val="100000"/>
              </a:lnSpc>
            </a:pPr>
            <a:r>
              <a:rPr lang="en-US" sz="40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0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7"/>
          </p:nvPr>
        </p:nvSpPr>
        <p:spPr>
          <a:xfrm>
            <a:off x="722313" y="2906713"/>
            <a:ext cx="7772400" cy="1500187"/>
          </a:xfrm>
          <a:prstGeom prst="rect">
            <a:avLst/>
          </a:prstGeom>
          <a:noFill/>
          <a:ln w="12700">
            <a:noFill/>
            <a:prstDash val="solid"/>
          </a:ln>
        </p:spPr>
        <p:txBody>
          <a:bodyPr wrap="square" lIns="91440" tIns="45720" rIns="91440" bIns="45720" anchor="b">
            <a:normAutofit/>
          </a:bodyPr>
          <a:lstStyle>
            <a:lvl1pPr algn="l" defTabSz="914400">
              <a:lnSpc>
                <a:spcPct val="100000"/>
              </a:lnSpc>
              <a:defRPr sz="2000" b="0" i="0" u="none" strike="noStrike" spc="0">
                <a:solidFill>
                  <a:srgbClr val="898989">
                    <a:alpha val="100000"/>
                  </a:srgbClr>
                </a:solidFill>
                <a:latin typeface="Calibri" panose="020F0502020204030204"/>
              </a:defRPr>
            </a:lvl1pPr>
          </a:lstStyle>
          <a:p>
            <a:pPr marL="0" indent="0" algn="l" defTabSz="914400">
              <a:lnSpc>
                <a:spcPct val="100000"/>
              </a:lnSpc>
              <a:spcBef>
                <a:spcPct val="20000"/>
              </a:spcBef>
            </a:pPr>
            <a:r>
              <a:rPr lang="en-US" sz="2000" b="0" i="0" u="none" strike="noStrike">
                <a:solidFill>
                  <a:srgbClr val="898989"/>
                </a:solidFill>
                <a:latin typeface="Calibri" panose="020F0502020204030204"/>
                <a:ea typeface="Calibri" panose="020F0502020204030204"/>
                <a:cs typeface="Calibri" panose="020F0502020204030204"/>
                <a:sym typeface="Calibri" panose="020F0502020204030204"/>
              </a:rPr>
              <a:t>Click to edit Master text styles</a:t>
            </a:r>
            <a:endParaRPr lang="en-US" sz="20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9E24F12F-0B76-4C29-B70B-0F164ED6DB3E}"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20"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3037C880-8D1A-470A-8777-F839FF3B688A}"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 Content">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22"/>
          </p:nvPr>
        </p:nvSpPr>
        <p:spPr>
          <a:xfrm>
            <a:off x="457200" y="1600200"/>
            <a:ext cx="4038600" cy="4525963"/>
          </a:xfrm>
          <a:prstGeom prst="rect">
            <a:avLst/>
          </a:prstGeom>
          <a:noFill/>
          <a:ln w="12700">
            <a:noFill/>
            <a:prstDash val="solid"/>
          </a:ln>
        </p:spPr>
        <p:txBody>
          <a:bodyPr wrap="square" lIns="91440" tIns="45720" rIns="91440" bIns="45720" anchor="t">
            <a:normAutofit/>
          </a:bodyPr>
          <a:lstStyle>
            <a:lvl1pPr marL="698500" indent="-355600" algn="l" defTabSz="914400">
              <a:lnSpc>
                <a:spcPct val="100000"/>
              </a:lnSpc>
              <a:defRPr sz="2800" b="0" i="0" u="none" strike="noStrike" spc="0">
                <a:solidFill>
                  <a:srgbClr val="000000">
                    <a:alpha val="100000"/>
                  </a:srgbClr>
                </a:solidFill>
                <a:latin typeface="Calibri" panose="020F0502020204030204"/>
              </a:defRPr>
            </a:lvl1pPr>
            <a:lvl2pPr marL="1047750" indent="-304800"/>
            <a:lvl3pPr marL="1397000" indent="-254000"/>
            <a:lvl4pPr marL="1828800" indent="-228600"/>
            <a:lvl5pPr marL="2286000" indent="-228600"/>
            <a:lvl6pPr marL="2743200" indent="-228600"/>
            <a:lvl7pPr marL="3200400" indent="-228600"/>
            <a:lvl8pPr marL="3657600" indent="-228600"/>
            <a:lvl9pPr marL="4114800" indent="-228600"/>
          </a:lstStyle>
          <a:p>
            <a:pPr marL="342900" indent="-342900" algn="l" defTabSz="914400">
              <a:lnSpc>
                <a:spcPct val="100000"/>
              </a:lnSpc>
              <a:spcBef>
                <a:spcPct val="20000"/>
              </a:spcBef>
              <a:buClr>
                <a:srgbClr val="000000"/>
              </a:buClr>
              <a:buFont typeface="Arial" panose="020B0604020202020204"/>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23"/>
          </p:nvPr>
        </p:nvSpPr>
        <p:spPr>
          <a:xfrm>
            <a:off x="4648200" y="1600200"/>
            <a:ext cx="4038600" cy="4525963"/>
          </a:xfrm>
          <a:prstGeom prst="rect">
            <a:avLst/>
          </a:prstGeom>
          <a:noFill/>
          <a:ln w="12700">
            <a:noFill/>
            <a:prstDash val="solid"/>
          </a:ln>
        </p:spPr>
        <p:txBody>
          <a:bodyPr wrap="square" lIns="91440" tIns="45720" rIns="91440" bIns="45720" anchor="t">
            <a:noAutofit/>
          </a:bodyPr>
          <a:lstStyle>
            <a:lvl1pPr marL="698500" indent="-355600" algn="l" defTabSz="914400">
              <a:lnSpc>
                <a:spcPct val="100000"/>
              </a:lnSpc>
              <a:defRPr sz="2800" b="0" i="0" u="none" strike="noStrike" spc="0">
                <a:solidFill>
                  <a:srgbClr val="000000">
                    <a:alpha val="100000"/>
                  </a:srgbClr>
                </a:solidFill>
                <a:latin typeface="Calibri" panose="020F0502020204030204"/>
              </a:defRPr>
            </a:lvl1pPr>
            <a:lvl2pPr marL="1047750" indent="-304800"/>
            <a:lvl3pPr marL="1397000" indent="-254000"/>
            <a:lvl4pPr marL="1828800" indent="-228600"/>
            <a:lvl5pPr marL="2286000" indent="-228600"/>
            <a:lvl6pPr marL="2743200" indent="-228600"/>
            <a:lvl7pPr marL="3200400" indent="-228600"/>
            <a:lvl8pPr marL="3657600" indent="-228600"/>
            <a:lvl9pPr marL="4114800" indent="-228600"/>
          </a:lstStyle>
          <a:p>
            <a:pPr marL="342900" indent="-342900" algn="l" defTabSz="914400">
              <a:lnSpc>
                <a:spcPct val="100000"/>
              </a:lnSpc>
              <a:spcBef>
                <a:spcPct val="20000"/>
              </a:spcBef>
              <a:buClr>
                <a:srgbClr val="000000"/>
              </a:buClr>
              <a:buFont typeface="Arial" panose="020B0604020202020204"/>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24"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4BEC5085-3110-4536-968F-D2F3E90E58CF}"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25"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26"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7221B5FA-F9EC-4846-AB17-E022B66A1F68}"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Comparison">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28"/>
          </p:nvPr>
        </p:nvSpPr>
        <p:spPr>
          <a:xfrm>
            <a:off x="457200" y="1535113"/>
            <a:ext cx="4040188" cy="639762"/>
          </a:xfrm>
          <a:prstGeom prst="rect">
            <a:avLst/>
          </a:prstGeom>
          <a:noFill/>
          <a:ln w="12700">
            <a:noFill/>
            <a:prstDash val="solid"/>
          </a:ln>
        </p:spPr>
        <p:txBody>
          <a:bodyPr wrap="square" lIns="91440" tIns="45720" rIns="91440" bIns="45720" anchor="b">
            <a:normAutofit/>
          </a:bodyPr>
          <a:lstStyle>
            <a:lvl1pPr algn="l" defTabSz="914400">
              <a:lnSpc>
                <a:spcPct val="100000"/>
              </a:lnSpc>
              <a:defRPr sz="2400" b="1"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29"/>
          </p:nvPr>
        </p:nvSpPr>
        <p:spPr>
          <a:xfrm>
            <a:off x="457200" y="2174875"/>
            <a:ext cx="4040188" cy="3951288"/>
          </a:xfrm>
          <a:prstGeom prst="rect">
            <a:avLst/>
          </a:prstGeom>
          <a:noFill/>
          <a:ln w="12700">
            <a:noFill/>
            <a:prstDash val="solid"/>
          </a:ln>
        </p:spPr>
        <p:txBody>
          <a:bodyPr wrap="square" lIns="91440" tIns="45720" rIns="91440" bIns="45720" anchor="t">
            <a:noAutofit/>
          </a:bodyPr>
          <a:lstStyle>
            <a:lvl1pPr marL="647700" indent="-304800" algn="l" defTabSz="914400">
              <a:lnSpc>
                <a:spcPct val="100000"/>
              </a:lnSpc>
              <a:defRPr sz="2400" b="0" i="0" u="none" strike="noStrike" spc="0">
                <a:solidFill>
                  <a:srgbClr val="000000">
                    <a:alpha val="100000"/>
                  </a:srgbClr>
                </a:solidFill>
                <a:latin typeface="Calibri" panose="020F0502020204030204"/>
              </a:defRPr>
            </a:lvl1pPr>
            <a:lvl2pPr marL="996950" indent="-254000"/>
            <a:lvl3pPr marL="1371600" indent="-228600"/>
            <a:lvl4pPr marL="1803400" indent="-203200"/>
            <a:lvl5pPr marL="2260600" indent="-203200"/>
            <a:lvl6pPr marL="2717800" indent="-203200"/>
            <a:lvl7pPr marL="3175000" indent="-203200"/>
            <a:lvl8pPr marL="3632200" indent="-203200"/>
            <a:lvl9pPr marL="4089400" indent="-203200"/>
          </a:lstStyle>
          <a:p>
            <a:pPr marL="342900" indent="-3429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30"/>
          </p:nvPr>
        </p:nvSpPr>
        <p:spPr>
          <a:xfrm>
            <a:off x="4645025" y="1535113"/>
            <a:ext cx="4041775" cy="639762"/>
          </a:xfrm>
          <a:prstGeom prst="rect">
            <a:avLst/>
          </a:prstGeom>
          <a:noFill/>
          <a:ln w="12700">
            <a:noFill/>
            <a:prstDash val="solid"/>
          </a:ln>
        </p:spPr>
        <p:txBody>
          <a:bodyPr wrap="square" lIns="91440" tIns="45720" rIns="91440" bIns="45720" anchor="b">
            <a:noAutofit/>
          </a:bodyPr>
          <a:lstStyle>
            <a:lvl1pPr algn="l" defTabSz="914400">
              <a:lnSpc>
                <a:spcPct val="100000"/>
              </a:lnSpc>
              <a:defRPr sz="2400" b="1"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31"/>
          </p:nvPr>
        </p:nvSpPr>
        <p:spPr>
          <a:xfrm>
            <a:off x="4645025" y="2174875"/>
            <a:ext cx="4041775" cy="3951288"/>
          </a:xfrm>
          <a:prstGeom prst="rect">
            <a:avLst/>
          </a:prstGeom>
          <a:noFill/>
          <a:ln w="12700">
            <a:noFill/>
            <a:prstDash val="solid"/>
          </a:ln>
        </p:spPr>
        <p:txBody>
          <a:bodyPr wrap="square" lIns="91440" tIns="45720" rIns="91440" bIns="45720" anchor="t">
            <a:noAutofit/>
          </a:bodyPr>
          <a:lstStyle>
            <a:lvl1pPr marL="647700" indent="-304800" algn="l" defTabSz="914400">
              <a:lnSpc>
                <a:spcPct val="100000"/>
              </a:lnSpc>
              <a:defRPr sz="2400" b="0" i="0" u="none" strike="noStrike" spc="0">
                <a:solidFill>
                  <a:srgbClr val="000000">
                    <a:alpha val="100000"/>
                  </a:srgbClr>
                </a:solidFill>
                <a:latin typeface="Calibri" panose="020F0502020204030204"/>
              </a:defRPr>
            </a:lvl1pPr>
            <a:lvl2pPr marL="996950" indent="-254000"/>
            <a:lvl3pPr marL="1371600" indent="-228600"/>
            <a:lvl4pPr marL="1803400" indent="-203200"/>
            <a:lvl5pPr marL="2260600" indent="-203200"/>
            <a:lvl6pPr marL="2717800" indent="-203200"/>
            <a:lvl7pPr marL="3175000" indent="-203200"/>
            <a:lvl8pPr marL="3632200" indent="-203200"/>
            <a:lvl9pPr marL="4089400" indent="-203200"/>
          </a:lstStyle>
          <a:p>
            <a:pPr marL="342900" indent="-3429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32"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449D1335-65AD-4643-8D9A-0A2AB165D9DC}"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8" name="AutoShape 8"/>
          <p:cNvSpPr>
            <a:spLocks noGrp="1"/>
          </p:cNvSpPr>
          <p:nvPr>
            <p:ph type="body" sz="quarter" idx="33"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9" name="AutoShape 9"/>
          <p:cNvSpPr>
            <a:spLocks noGrp="1"/>
          </p:cNvSpPr>
          <p:nvPr>
            <p:ph type="body" sz="quarter" idx="34"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958231F6-B610-4FB1-AE07-A6992CDD2B99}"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36"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AE846362-0705-4C5F-B659-4FE54822849F}"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37"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txBox="1"/>
          <p:nvPr/>
        </p:nvSpPr>
        <p:spPr>
          <a:xfrm>
            <a:off x="15544800" y="9563100"/>
            <a:ext cx="2133600" cy="441325"/>
          </a:xfrm>
          <a:prstGeom prst="rect">
            <a:avLst/>
          </a:prstGeom>
          <a:noFill/>
          <a:ln w="12700">
            <a:noFill/>
            <a:prstDash val="solid"/>
          </a:ln>
        </p:spPr>
        <p:txBody>
          <a:bodyPr vert="horz" wrap="square" lIns="91440" tIns="45720" rIns="91440" bIns="45720" rtlCol="0" anchor="ctr">
            <a:noAutofit/>
          </a:bodyPr>
          <a:lstStyle/>
          <a:p>
            <a:pPr marL="0" indent="0" algn="r" defTabSz="914400">
              <a:lnSpc>
                <a:spcPct val="100000"/>
              </a:lnSpc>
              <a:defRPr/>
            </a:pPr>
            <a:fld id="{BC9AA5AB-C5F2-4146-8F4C-ABEEDF572315}"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58A245FF-9A38-4F02-A0CD-7BC86CF88DE3}"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3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40" hasCustomPrompt="1"/>
          </p:nvPr>
        </p:nvSpPr>
        <p:spPr>
          <a:xfrm>
            <a:off x="15544800" y="9410700"/>
            <a:ext cx="2133600" cy="4413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400" b="0" i="0" u="none" strike="noStrike" spc="0">
                <a:solidFill>
                  <a:srgbClr val="FFC000">
                    <a:alpha val="100000"/>
                  </a:srgbClr>
                </a:solidFill>
                <a:latin typeface="Calibri" panose="020F0502020204030204"/>
              </a:defRPr>
            </a:lvl1pPr>
          </a:lstStyle>
          <a:p>
            <a:pPr marL="0" indent="0" algn="r" defTabSz="914400">
              <a:lnSpc>
                <a:spcPct val="100000"/>
              </a:lnSpc>
            </a:pPr>
            <a:fld id="{834EDCC5-DBF9-40C6-B012-8B41A482AB0A}"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sz="1400" b="0" i="0" u="none" strike="noStrike">
              <a:solidFill>
                <a:srgbClr val="FFC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ontent with Caption">
    <p:spTree>
      <p:nvGrpSpPr>
        <p:cNvPr id="1" name=""/>
        <p:cNvGrpSpPr/>
        <p:nvPr/>
      </p:nvGrpSpPr>
      <p:grpSpPr>
        <a:xfrm>
          <a:off x="0" y="0"/>
          <a:ext cx="0" cy="0"/>
          <a:chOff x="0" y="0"/>
          <a:chExt cx="0" cy="0"/>
        </a:xfrm>
      </p:grpSpPr>
      <p:sp>
        <p:nvSpPr>
          <p:cNvPr id="2" name="AutoShape 2"/>
          <p:cNvSpPr>
            <a:spLocks noGrp="1"/>
          </p:cNvSpPr>
          <p:nvPr>
            <p:ph type="body" sz="quarter" idx="41" hasCustomPrompt="1"/>
          </p:nvPr>
        </p:nvSpPr>
        <p:spPr>
          <a:xfrm>
            <a:off x="457200" y="273050"/>
            <a:ext cx="3008313" cy="1162050"/>
          </a:xfrm>
          <a:prstGeom prst="rect">
            <a:avLst/>
          </a:prstGeom>
          <a:noFill/>
          <a:ln w="12700">
            <a:noFill/>
            <a:prstDash val="solid"/>
          </a:ln>
        </p:spPr>
        <p:txBody>
          <a:bodyPr wrap="square" lIns="91440" tIns="45720" rIns="91440" bIns="45720" anchor="b">
            <a:normAutofit/>
          </a:bodyPr>
          <a:lstStyle>
            <a:lvl1pPr algn="l" defTabSz="914400">
              <a:lnSpc>
                <a:spcPct val="100000"/>
              </a:lnSpc>
              <a:defRPr sz="2000" b="1" i="0" u="none" strike="noStrike" spc="0">
                <a:solidFill>
                  <a:srgbClr val="000000">
                    <a:alpha val="100000"/>
                  </a:srgbClr>
                </a:solidFill>
                <a:latin typeface="Calibri" panose="020F0502020204030204"/>
              </a:defRPr>
            </a:lvl1pPr>
          </a:lstStyle>
          <a:p>
            <a:pPr marL="0" indent="0" algn="l" defTabSz="914400">
              <a:lnSpc>
                <a:spcPct val="100000"/>
              </a:lnSpc>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42"/>
          </p:nvPr>
        </p:nvSpPr>
        <p:spPr>
          <a:xfrm>
            <a:off x="3575050" y="273050"/>
            <a:ext cx="5111750" cy="5853113"/>
          </a:xfrm>
          <a:prstGeom prst="rect">
            <a:avLst/>
          </a:prstGeom>
          <a:noFill/>
          <a:ln w="12700">
            <a:noFill/>
            <a:prstDash val="solid"/>
          </a:ln>
        </p:spPr>
        <p:txBody>
          <a:bodyPr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43"/>
          </p:nvPr>
        </p:nvSpPr>
        <p:spPr>
          <a:xfrm>
            <a:off x="457200" y="1435100"/>
            <a:ext cx="3008313" cy="4691063"/>
          </a:xfrm>
          <a:prstGeom prst="rect">
            <a:avLst/>
          </a:prstGeom>
          <a:noFill/>
          <a:ln w="12700">
            <a:noFill/>
            <a:prstDash val="solid"/>
          </a:ln>
        </p:spPr>
        <p:txBody>
          <a:bodyPr wrap="square" lIns="91440" tIns="45720" rIns="91440" bIns="45720" anchor="t">
            <a:noAutofit/>
          </a:bodyPr>
          <a:lstStyle>
            <a:lvl1pPr algn="l" defTabSz="914400">
              <a:lnSpc>
                <a:spcPct val="100000"/>
              </a:lnSpc>
              <a:defRPr sz="1400" b="0"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44"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83AFBCBB-9D56-4637-9729-8E0FF7A7401F}"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45"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46"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5983D5E0-EE12-43AF-94F9-B047358A56F8}"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 with Caption">
    <p:spTree>
      <p:nvGrpSpPr>
        <p:cNvPr id="1" name=""/>
        <p:cNvGrpSpPr/>
        <p:nvPr/>
      </p:nvGrpSpPr>
      <p:grpSpPr>
        <a:xfrm>
          <a:off x="0" y="0"/>
          <a:ext cx="0" cy="0"/>
          <a:chOff x="0" y="0"/>
          <a:chExt cx="0" cy="0"/>
        </a:xfrm>
      </p:grpSpPr>
      <p:sp>
        <p:nvSpPr>
          <p:cNvPr id="2" name="AutoShape 2"/>
          <p:cNvSpPr>
            <a:spLocks noGrp="1"/>
          </p:cNvSpPr>
          <p:nvPr>
            <p:ph type="body" sz="quarter" idx="47" hasCustomPrompt="1"/>
          </p:nvPr>
        </p:nvSpPr>
        <p:spPr>
          <a:xfrm>
            <a:off x="1792288" y="4800600"/>
            <a:ext cx="5486400" cy="566738"/>
          </a:xfrm>
          <a:prstGeom prst="rect">
            <a:avLst/>
          </a:prstGeom>
          <a:noFill/>
          <a:ln w="12700">
            <a:noFill/>
            <a:prstDash val="solid"/>
          </a:ln>
        </p:spPr>
        <p:txBody>
          <a:bodyPr wrap="square" lIns="91440" tIns="45720" rIns="91440" bIns="45720" anchor="b">
            <a:normAutofit/>
          </a:bodyPr>
          <a:lstStyle>
            <a:lvl1pPr algn="l" defTabSz="914400">
              <a:lnSpc>
                <a:spcPct val="100000"/>
              </a:lnSpc>
              <a:defRPr sz="2000" b="1" i="0" u="none" strike="noStrike" spc="0">
                <a:solidFill>
                  <a:srgbClr val="000000">
                    <a:alpha val="100000"/>
                  </a:srgbClr>
                </a:solidFill>
                <a:latin typeface="Calibri" panose="020F0502020204030204"/>
              </a:defRPr>
            </a:lvl1pPr>
          </a:lstStyle>
          <a:p>
            <a:pPr marL="0" indent="0" algn="l" defTabSz="914400">
              <a:lnSpc>
                <a:spcPct val="100000"/>
              </a:lnSpc>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pic" sz="quarter" idx="48"/>
          </p:nvPr>
        </p:nvSpPr>
        <p:spPr>
          <a:xfrm>
            <a:off x="1792288" y="612775"/>
            <a:ext cx="5486400" cy="41148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4" name="AutoShape 4"/>
          <p:cNvSpPr>
            <a:spLocks noGrp="1"/>
          </p:cNvSpPr>
          <p:nvPr>
            <p:ph type="body" sz="quarter" idx="49"/>
          </p:nvPr>
        </p:nvSpPr>
        <p:spPr>
          <a:xfrm>
            <a:off x="1792288" y="5367338"/>
            <a:ext cx="5486400" cy="804862"/>
          </a:xfrm>
          <a:prstGeom prst="rect">
            <a:avLst/>
          </a:prstGeom>
          <a:noFill/>
          <a:ln w="12700">
            <a:noFill/>
            <a:prstDash val="solid"/>
          </a:ln>
        </p:spPr>
        <p:txBody>
          <a:bodyPr wrap="square" lIns="91440" tIns="45720" rIns="91440" bIns="45720" anchor="t">
            <a:noAutofit/>
          </a:bodyPr>
          <a:lstStyle>
            <a:lvl1pPr algn="l" defTabSz="914400">
              <a:lnSpc>
                <a:spcPct val="100000"/>
              </a:lnSpc>
              <a:defRPr sz="1400" b="0"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50"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59CC5AFD-2268-4C12-B32B-34B6F3D2429A}"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51"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52"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9CCAA45A-52CB-40B9-9677-68CDCE85BF4A}"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and Vertical Text">
    <p:spTree>
      <p:nvGrpSpPr>
        <p:cNvPr id="1" name=""/>
        <p:cNvGrpSpPr/>
        <p:nvPr/>
      </p:nvGrpSpPr>
      <p:grpSpPr>
        <a:xfrm>
          <a:off x="0" y="0"/>
          <a:ext cx="0" cy="0"/>
          <a:chOff x="0" y="0"/>
          <a:chExt cx="0" cy="0"/>
        </a:xfrm>
      </p:grpSpPr>
      <p:sp>
        <p:nvSpPr>
          <p:cNvPr id="2" name="AutoShape 2"/>
          <p:cNvSpPr>
            <a:spLocks noGrp="1"/>
          </p:cNvSpPr>
          <p:nvPr>
            <p:ph type="body" sz="quarter" idx="53"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54"/>
          </p:nvPr>
        </p:nvSpPr>
        <p:spPr>
          <a:xfrm>
            <a:off x="457200" y="1600200"/>
            <a:ext cx="8229600" cy="4525963"/>
          </a:xfrm>
          <a:prstGeom prst="rect">
            <a:avLst/>
          </a:prstGeom>
          <a:noFill/>
          <a:ln w="12700">
            <a:noFill/>
            <a:prstDash val="solid"/>
          </a:ln>
        </p:spPr>
        <p:txBody>
          <a:bodyPr vert="eaVert"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55"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878A6D10-C83F-4DEF-9163-4BA9037439A4}"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56"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57"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18673817-6161-44F1-AD4C-AF465470AB8D}"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 Title and Text">
    <p:spTree>
      <p:nvGrpSpPr>
        <p:cNvPr id="1" name=""/>
        <p:cNvGrpSpPr/>
        <p:nvPr/>
      </p:nvGrpSpPr>
      <p:grpSpPr>
        <a:xfrm>
          <a:off x="0" y="0"/>
          <a:ext cx="0" cy="0"/>
          <a:chOff x="0" y="0"/>
          <a:chExt cx="0" cy="0"/>
        </a:xfrm>
      </p:grpSpPr>
      <p:sp>
        <p:nvSpPr>
          <p:cNvPr id="2" name="AutoShape 2"/>
          <p:cNvSpPr>
            <a:spLocks noGrp="1"/>
          </p:cNvSpPr>
          <p:nvPr>
            <p:ph type="body" sz="quarter" idx="58" hasCustomPrompt="1"/>
          </p:nvPr>
        </p:nvSpPr>
        <p:spPr>
          <a:xfrm>
            <a:off x="6629400" y="274638"/>
            <a:ext cx="2057400" cy="5851525"/>
          </a:xfrm>
          <a:prstGeom prst="rect">
            <a:avLst/>
          </a:prstGeom>
          <a:noFill/>
          <a:ln w="12700">
            <a:noFill/>
            <a:prstDash val="solid"/>
          </a:ln>
        </p:spPr>
        <p:txBody>
          <a:bodyPr vert="eaVert"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59"/>
          </p:nvPr>
        </p:nvSpPr>
        <p:spPr>
          <a:xfrm>
            <a:off x="457200" y="274638"/>
            <a:ext cx="6019800" cy="5851525"/>
          </a:xfrm>
          <a:prstGeom prst="rect">
            <a:avLst/>
          </a:prstGeom>
          <a:noFill/>
          <a:ln w="12700">
            <a:noFill/>
            <a:prstDash val="solid"/>
          </a:ln>
        </p:spPr>
        <p:txBody>
          <a:bodyPr vert="eaVert"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60"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73BA2A39-3117-4E2A-B4E7-96B5BC561595}"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1"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62"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E460CA6D-8087-4D4E-9315-E7CAED15784D}"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3.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457200" y="274638"/>
            <a:ext cx="8229600" cy="1143000"/>
          </a:xfrm>
          <a:prstGeom prst="rect">
            <a:avLst/>
          </a:prstGeom>
          <a:noFill/>
          <a:ln w="12700">
            <a:noFill/>
            <a:prstDash val="solid"/>
          </a:ln>
        </p:spPr>
        <p:txBody>
          <a:bodyPr vert="horz" wrap="square" lIns="91440" tIns="45720" rIns="91440" bIns="45720" anchor="ctr">
            <a:normAutofit/>
          </a:bodyPr>
          <a:lstStyle>
            <a:lvl1pPr algn="ctr" defTabSz="914400">
              <a:lnSpc>
                <a:spcPct val="100000"/>
              </a:lnSpc>
              <a:defRPr sz="4400" b="1"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 name="AutoShape 2"/>
          <p:cNvSpPr>
            <a:spLocks noGrp="1"/>
          </p:cNvSpPr>
          <p:nvPr>
            <p:ph type="body" sz="quarter" idx="2" hasCustomPrompt="1"/>
          </p:nvPr>
        </p:nvSpPr>
        <p:spPr>
          <a:xfrm>
            <a:off x="457200" y="1600200"/>
            <a:ext cx="8229600" cy="4525963"/>
          </a:xfrm>
          <a:prstGeom prst="rect">
            <a:avLst/>
          </a:prstGeom>
          <a:noFill/>
          <a:ln w="12700">
            <a:noFill/>
            <a:prstDash val="solid"/>
          </a:ln>
        </p:spPr>
        <p:txBody>
          <a:bodyPr vert="horz"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3" hasCustomPrompt="1"/>
          </p:nvPr>
        </p:nvSpPr>
        <p:spPr>
          <a:xfrm>
            <a:off x="457200" y="6356350"/>
            <a:ext cx="21336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90F7566F-BD91-4F0E-B0AA-2231F5CB9FED}"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4"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5" hasCustomPrompt="1"/>
          </p:nvPr>
        </p:nvSpPr>
        <p:spPr>
          <a:xfrm>
            <a:off x="6553200" y="6356350"/>
            <a:ext cx="21336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D8C8486B-4C58-4B31-B1FA-3B2F304E614B}"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hyperlink" Target="https://baike.baidu.com/item/%E5%AF%86%E7%A0%81/65553" TargetMode="Externa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10800000">
            <a:off x="5340279" y="765907"/>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rot="10800000">
            <a:off x="6053477" y="1479105"/>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AutoShape 4"/>
          <p:cNvSpPr txBox="1"/>
          <p:nvPr/>
        </p:nvSpPr>
        <p:spPr>
          <a:xfrm>
            <a:off x="1925612" y="2707517"/>
            <a:ext cx="14436775" cy="1655966"/>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4935"/>
              </a:lnSpc>
              <a:defRPr/>
            </a:pPr>
            <a:r>
              <a:rPr lang="en-US" sz="103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密码学-基础理论与应用</a:t>
            </a:r>
            <a:endParaRPr lang="en-US" sz="1100" dirty="0">
              <a:latin typeface="仿宋" panose="02010609060101010101" pitchFamily="49" charset="-122"/>
              <a:ea typeface="仿宋" panose="02010609060101010101" pitchFamily="49" charset="-122"/>
            </a:endParaRPr>
          </a:p>
        </p:txBody>
      </p:sp>
      <p:sp>
        <p:nvSpPr>
          <p:cNvPr id="5" name="Freeform 5"/>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6" name="AutoShape 6"/>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7" name="Freeform 7"/>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8" name="AutoShape 8"/>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9" name="Freeform 9"/>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0" name="AutoShape 10"/>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1" name="Freeform 11"/>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2" name="AutoShape 12"/>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3" name="Freeform 13"/>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4" name="AutoShape 14"/>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5" name="Freeform 15"/>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6" name="AutoShape 16"/>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7" name="Freeform 17"/>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8" name="AutoShape 18"/>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9" name="Freeform 19"/>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0" name="AutoShape 20"/>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1" name="AutoShape 21"/>
          <p:cNvSpPr txBox="1"/>
          <p:nvPr/>
        </p:nvSpPr>
        <p:spPr>
          <a:xfrm>
            <a:off x="2183389" y="5333657"/>
            <a:ext cx="13921220" cy="123063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9600"/>
              </a:lnSpc>
              <a:defRPr/>
            </a:pPr>
            <a:r>
              <a:rPr lang="en-US" sz="80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第</a:t>
            </a:r>
            <a:r>
              <a:rPr lang="zh-CN" altLang="en-US" sz="80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九</a:t>
            </a:r>
            <a:r>
              <a:rPr lang="en-US" sz="80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章 </a:t>
            </a:r>
            <a:r>
              <a:rPr lang="en-US" sz="8000" b="1" i="0" u="none" strike="noStrike" dirty="0">
                <a:solidFill>
                  <a:srgbClr val="004AAD"/>
                </a:solidFill>
                <a:latin typeface="仿宋" panose="02010609060101010101" pitchFamily="49" charset="-122"/>
                <a:ea typeface="仿宋" panose="02010609060101010101" pitchFamily="49" charset="-122"/>
                <a:cs typeface="Times New Roman" panose="02020603050405020304" pitchFamily="18" charset="0"/>
                <a:sym typeface="Zhuque Fangsong"/>
              </a:rPr>
              <a:t>SM9</a:t>
            </a:r>
            <a:r>
              <a:rPr lang="en-US" sz="80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标识密码算法</a:t>
            </a:r>
            <a:endParaRPr lang="en-US" sz="1100" dirty="0">
              <a:latin typeface="仿宋" panose="02010609060101010101" pitchFamily="49" charset="-122"/>
              <a:ea typeface="仿宋" panose="02010609060101010101" pitchFamily="49" charset="-122"/>
            </a:endParaRPr>
          </a:p>
        </p:txBody>
      </p:sp>
      <p:sp>
        <p:nvSpPr>
          <p:cNvPr id="22" name="Freeform 22"/>
          <p:cNvSpPr/>
          <p:nvPr/>
        </p:nvSpPr>
        <p:spPr>
          <a:xfrm>
            <a:off x="0" y="8495193"/>
            <a:ext cx="18288000" cy="1518437"/>
          </a:xfrm>
          <a:custGeom>
            <a:avLst/>
            <a:gdLst/>
            <a:ahLst/>
            <a:cxnLst/>
            <a:rect l="l" t="t" r="r" b="b"/>
            <a:pathLst>
              <a:path w="20887940" h="1518437">
                <a:moveTo>
                  <a:pt x="71773" y="0"/>
                </a:moveTo>
                <a:lnTo>
                  <a:pt x="20816167" y="0"/>
                </a:lnTo>
                <a:cubicBezTo>
                  <a:pt x="20835201" y="0"/>
                  <a:pt x="20853457" y="7563"/>
                  <a:pt x="20866917" y="21020"/>
                </a:cubicBezTo>
                <a:cubicBezTo>
                  <a:pt x="20880376" y="34479"/>
                  <a:pt x="20887940" y="52734"/>
                  <a:pt x="20887940" y="71773"/>
                </a:cubicBezTo>
                <a:lnTo>
                  <a:pt x="20887940" y="1446666"/>
                </a:lnTo>
                <a:cubicBezTo>
                  <a:pt x="20887940" y="1486305"/>
                  <a:pt x="20855807" y="1518437"/>
                  <a:pt x="20816167" y="1518437"/>
                </a:cubicBezTo>
                <a:lnTo>
                  <a:pt x="71773" y="1518437"/>
                </a:lnTo>
                <a:cubicBezTo>
                  <a:pt x="32134" y="1518437"/>
                  <a:pt x="0" y="1486305"/>
                  <a:pt x="0" y="1446666"/>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 y="8495193"/>
            <a:ext cx="18288001" cy="1518438"/>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0" y="8706725"/>
            <a:ext cx="18288000" cy="1580275"/>
          </a:xfrm>
          <a:custGeom>
            <a:avLst/>
            <a:gdLst/>
            <a:ahLst/>
            <a:cxnLst/>
            <a:rect l="l" t="t" r="r" b="b"/>
            <a:pathLst>
              <a:path w="20887940" h="1718462">
                <a:moveTo>
                  <a:pt x="71773" y="0"/>
                </a:moveTo>
                <a:lnTo>
                  <a:pt x="20816167" y="0"/>
                </a:lnTo>
                <a:cubicBezTo>
                  <a:pt x="20835201" y="0"/>
                  <a:pt x="20853457" y="7563"/>
                  <a:pt x="20866917" y="21020"/>
                </a:cubicBezTo>
                <a:cubicBezTo>
                  <a:pt x="20880376" y="34479"/>
                  <a:pt x="20887940" y="52734"/>
                  <a:pt x="20887940" y="71773"/>
                </a:cubicBezTo>
                <a:lnTo>
                  <a:pt x="20887940" y="1646695"/>
                </a:lnTo>
                <a:cubicBezTo>
                  <a:pt x="20887940" y="1686330"/>
                  <a:pt x="20855807" y="1718462"/>
                  <a:pt x="20816167" y="1718462"/>
                </a:cubicBezTo>
                <a:lnTo>
                  <a:pt x="71773" y="1718462"/>
                </a:lnTo>
                <a:cubicBezTo>
                  <a:pt x="32134" y="1718462"/>
                  <a:pt x="0" y="1686330"/>
                  <a:pt x="0" y="1646695"/>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0" y="8706726"/>
            <a:ext cx="18288000" cy="120155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52206" y="9254412"/>
            <a:ext cx="2133600" cy="3651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7225AAB8-F26B-4C18-8C38-7392AA85C07D}"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AutoShape 18"/>
          <p:cNvSpPr txBox="1"/>
          <p:nvPr/>
        </p:nvSpPr>
        <p:spPr>
          <a:xfrm>
            <a:off x="2948781" y="3229337"/>
            <a:ext cx="2336788" cy="3175806"/>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2880"/>
              </a:lnSpc>
              <a:defRPr/>
            </a:pPr>
            <a:r>
              <a:rPr lang="en-US" sz="92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目录</a:t>
            </a:r>
            <a:endParaRPr lang="en-US" sz="1100" dirty="0">
              <a:latin typeface="仿宋" panose="02010609060101010101" pitchFamily="49" charset="-122"/>
              <a:ea typeface="仿宋" panose="02010609060101010101" pitchFamily="49" charset="-122"/>
            </a:endParaRPr>
          </a:p>
        </p:txBody>
      </p:sp>
      <p:sp>
        <p:nvSpPr>
          <p:cNvPr id="19" name="AutoShape 19"/>
          <p:cNvSpPr txBox="1"/>
          <p:nvPr/>
        </p:nvSpPr>
        <p:spPr>
          <a:xfrm>
            <a:off x="2744623" y="4610383"/>
            <a:ext cx="2745105" cy="49411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4200"/>
              </a:lnSpc>
              <a:defRPr/>
            </a:pPr>
            <a:r>
              <a:rPr lang="en-US" sz="3000" b="0"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CONTENTS</a:t>
            </a:r>
            <a:endParaRPr lang="en-US" sz="1100"/>
          </a:p>
        </p:txBody>
      </p:sp>
      <p:sp>
        <p:nvSpPr>
          <p:cNvPr id="20" name="AutoShape 20"/>
          <p:cNvSpPr txBox="1"/>
          <p:nvPr/>
        </p:nvSpPr>
        <p:spPr>
          <a:xfrm>
            <a:off x="6868513" y="3421658"/>
            <a:ext cx="836133"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9.1</a:t>
            </a:r>
            <a:endParaRPr lang="en-US" sz="1100" dirty="0"/>
          </a:p>
        </p:txBody>
      </p:sp>
      <p:sp>
        <p:nvSpPr>
          <p:cNvPr id="21" name="AutoShape 21"/>
          <p:cNvSpPr txBox="1"/>
          <p:nvPr/>
        </p:nvSpPr>
        <p:spPr>
          <a:xfrm>
            <a:off x="8199669" y="3421658"/>
            <a:ext cx="5664200" cy="65849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zh-CN" altLang="en-US" sz="4200" b="1" i="0" u="none" strike="noStrike" dirty="0">
                <a:solidFill>
                  <a:srgbClr val="000000"/>
                </a:solidFill>
                <a:latin typeface="仿宋" panose="02010609060101010101" pitchFamily="49" charset="-122"/>
                <a:ea typeface="仿宋" panose="02010609060101010101" pitchFamily="49" charset="-122"/>
                <a:cs typeface="Zhuque Fangsong"/>
                <a:sym typeface="Zhuque Fangsong"/>
              </a:rPr>
              <a:t>标识密码算法概述</a:t>
            </a:r>
            <a:endParaRPr lang="en-US" sz="1100" dirty="0">
              <a:latin typeface="仿宋" panose="02010609060101010101" pitchFamily="49" charset="-122"/>
              <a:ea typeface="仿宋" panose="02010609060101010101" pitchFamily="49" charset="-122"/>
            </a:endParaRPr>
          </a:p>
        </p:txBody>
      </p:sp>
      <p:sp>
        <p:nvSpPr>
          <p:cNvPr id="22" name="AutoShape 22"/>
          <p:cNvSpPr txBox="1"/>
          <p:nvPr/>
        </p:nvSpPr>
        <p:spPr>
          <a:xfrm>
            <a:off x="6868513" y="4406543"/>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9.2</a:t>
            </a:r>
            <a:endParaRPr lang="en-US" sz="1100"/>
          </a:p>
        </p:txBody>
      </p:sp>
      <p:sp>
        <p:nvSpPr>
          <p:cNvPr id="23" name="AutoShape 23"/>
          <p:cNvSpPr txBox="1"/>
          <p:nvPr/>
        </p:nvSpPr>
        <p:spPr>
          <a:xfrm>
            <a:off x="6888178" y="5311418"/>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9.3</a:t>
            </a:r>
            <a:endParaRPr lang="en-US" sz="1100"/>
          </a:p>
        </p:txBody>
      </p:sp>
      <p:sp>
        <p:nvSpPr>
          <p:cNvPr id="24" name="AutoShape 24"/>
          <p:cNvSpPr txBox="1"/>
          <p:nvPr/>
        </p:nvSpPr>
        <p:spPr>
          <a:xfrm>
            <a:off x="8212921" y="5299694"/>
            <a:ext cx="5539105" cy="75374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dirty="0" err="1">
                <a:solidFill>
                  <a:srgbClr val="000000"/>
                </a:solidFill>
                <a:latin typeface="仿宋" panose="02010609060101010101" pitchFamily="49" charset="-122"/>
                <a:ea typeface="仿宋" panose="02010609060101010101" pitchFamily="49" charset="-122"/>
                <a:cs typeface="Zhuque Fangsong"/>
                <a:sym typeface="Zhuque Fangsong"/>
              </a:rPr>
              <a:t>本章小结</a:t>
            </a:r>
            <a:endParaRPr lang="en-US" sz="1100" dirty="0">
              <a:latin typeface="仿宋" panose="02010609060101010101" pitchFamily="49" charset="-122"/>
              <a:ea typeface="仿宋" panose="02010609060101010101" pitchFamily="49" charset="-122"/>
            </a:endParaRPr>
          </a:p>
        </p:txBody>
      </p:sp>
      <p:sp>
        <p:nvSpPr>
          <p:cNvPr id="25" name="Freeform 25"/>
          <p:cNvSpPr/>
          <p:nvPr/>
        </p:nvSpPr>
        <p:spPr>
          <a:xfrm>
            <a:off x="0" y="9109075"/>
            <a:ext cx="18288000" cy="1035153"/>
          </a:xfrm>
          <a:custGeom>
            <a:avLst/>
            <a:gdLst/>
            <a:ahLst/>
            <a:cxnLst/>
            <a:rect l="l" t="t" r="r" b="b"/>
            <a:pathLst>
              <a:path w="20888195" h="1035153">
                <a:moveTo>
                  <a:pt x="71773" y="0"/>
                </a:moveTo>
                <a:lnTo>
                  <a:pt x="20816423" y="0"/>
                </a:lnTo>
                <a:cubicBezTo>
                  <a:pt x="20835456" y="0"/>
                  <a:pt x="20853712" y="5156"/>
                  <a:pt x="20867172" y="14329"/>
                </a:cubicBezTo>
                <a:cubicBezTo>
                  <a:pt x="20880633" y="23505"/>
                  <a:pt x="20888195" y="35950"/>
                  <a:pt x="20888195" y="48929"/>
                </a:cubicBezTo>
                <a:lnTo>
                  <a:pt x="20888195" y="986225"/>
                </a:lnTo>
                <a:cubicBezTo>
                  <a:pt x="20888195" y="1013247"/>
                  <a:pt x="20856063" y="1035153"/>
                  <a:pt x="20816423" y="1035153"/>
                </a:cubicBezTo>
                <a:lnTo>
                  <a:pt x="71773" y="1035153"/>
                </a:lnTo>
                <a:cubicBezTo>
                  <a:pt x="32134" y="1035153"/>
                  <a:pt x="0" y="1013247"/>
                  <a:pt x="0" y="986225"/>
                </a:cubicBezTo>
                <a:lnTo>
                  <a:pt x="0" y="48929"/>
                </a:lnTo>
                <a:cubicBezTo>
                  <a:pt x="0" y="21906"/>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6" name="AutoShape 26"/>
          <p:cNvSpPr txBox="1"/>
          <p:nvPr/>
        </p:nvSpPr>
        <p:spPr>
          <a:xfrm>
            <a:off x="0" y="9109075"/>
            <a:ext cx="18288000" cy="1035153"/>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7" name="Freeform 27"/>
          <p:cNvSpPr/>
          <p:nvPr/>
        </p:nvSpPr>
        <p:spPr>
          <a:xfrm>
            <a:off x="0" y="9253281"/>
            <a:ext cx="18288000" cy="1171514"/>
          </a:xfrm>
          <a:custGeom>
            <a:avLst/>
            <a:gdLst/>
            <a:ahLst/>
            <a:cxnLst/>
            <a:rect l="l" t="t" r="r" b="b"/>
            <a:pathLst>
              <a:path w="20888195" h="1171514">
                <a:moveTo>
                  <a:pt x="71773" y="0"/>
                </a:moveTo>
                <a:lnTo>
                  <a:pt x="20816423" y="0"/>
                </a:lnTo>
                <a:cubicBezTo>
                  <a:pt x="20835456" y="0"/>
                  <a:pt x="20853712" y="5156"/>
                  <a:pt x="20867172" y="14329"/>
                </a:cubicBezTo>
                <a:cubicBezTo>
                  <a:pt x="20880633" y="23505"/>
                  <a:pt x="20888195" y="35950"/>
                  <a:pt x="20888195" y="48929"/>
                </a:cubicBezTo>
                <a:lnTo>
                  <a:pt x="20888195" y="1122587"/>
                </a:lnTo>
                <a:cubicBezTo>
                  <a:pt x="20888195" y="1149608"/>
                  <a:pt x="20856063" y="1171514"/>
                  <a:pt x="20816423" y="1171514"/>
                </a:cubicBezTo>
                <a:lnTo>
                  <a:pt x="71773" y="1171514"/>
                </a:lnTo>
                <a:cubicBezTo>
                  <a:pt x="32134" y="1171514"/>
                  <a:pt x="0" y="1149608"/>
                  <a:pt x="0" y="1122587"/>
                </a:cubicBezTo>
                <a:lnTo>
                  <a:pt x="0" y="48929"/>
                </a:lnTo>
                <a:cubicBezTo>
                  <a:pt x="0" y="21906"/>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8" name="AutoShape 28"/>
          <p:cNvSpPr txBox="1"/>
          <p:nvPr/>
        </p:nvSpPr>
        <p:spPr>
          <a:xfrm>
            <a:off x="0" y="9253281"/>
            <a:ext cx="18288000" cy="1171514"/>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31" name="AutoShape 31"/>
          <p:cNvSpPr txBox="1"/>
          <p:nvPr/>
        </p:nvSpPr>
        <p:spPr>
          <a:xfrm>
            <a:off x="8199669" y="4378831"/>
            <a:ext cx="8423910" cy="842293"/>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zh-CN" altLang="en-US" sz="4200" b="1" i="0" u="none" strike="noStrike" dirty="0">
                <a:solidFill>
                  <a:srgbClr val="000000"/>
                </a:solidFill>
                <a:latin typeface="仿宋" panose="02010609060101010101" pitchFamily="49" charset="-122"/>
                <a:ea typeface="仿宋" panose="02010609060101010101" pitchFamily="49" charset="-122"/>
                <a:cs typeface="Zhuque Fangsong"/>
                <a:sym typeface="Zhuque Fangsong"/>
              </a:rPr>
              <a:t>标识密码算法</a:t>
            </a:r>
            <a:endParaRPr lang="en-US" sz="1100" dirty="0">
              <a:latin typeface="仿宋" panose="02010609060101010101" pitchFamily="49" charset="-122"/>
              <a:ea typeface="仿宋" panose="02010609060101010101" pitchFamily="49" charset="-122"/>
            </a:endParaRPr>
          </a:p>
        </p:txBody>
      </p:sp>
      <p:sp>
        <p:nvSpPr>
          <p:cNvPr id="32" name="AutoShape 32"/>
          <p:cNvSpPr txBox="1"/>
          <p:nvPr/>
        </p:nvSpPr>
        <p:spPr>
          <a:xfrm>
            <a:off x="8249196" y="6327795"/>
            <a:ext cx="6827520" cy="753745"/>
          </a:xfrm>
          <a:prstGeom prst="rect">
            <a:avLst/>
          </a:prstGeom>
          <a:noFill/>
          <a:ln w="19050" cap="flat" cmpd="sng">
            <a:noFill/>
            <a:prstDash val="solid"/>
            <a:round/>
          </a:ln>
        </p:spPr>
        <p:txBody>
          <a:bodyPr vert="horz" wrap="square" lIns="0" tIns="0" rIns="0" bIns="0" rtlCol="0" anchor="t" anchorCtr="0"/>
          <a:lstStyle/>
          <a:p>
            <a:pPr algn="l">
              <a:defRPr/>
            </a:pPr>
          </a:p>
        </p:txBody>
      </p:sp>
      <p:sp>
        <p:nvSpPr>
          <p:cNvPr id="33" name="AutoShape 33"/>
          <p:cNvSpPr txBox="1"/>
          <p:nvPr/>
        </p:nvSpPr>
        <p:spPr>
          <a:xfrm>
            <a:off x="6904857" y="6748009"/>
            <a:ext cx="923721" cy="717550"/>
          </a:xfrm>
          <a:prstGeom prst="rect">
            <a:avLst/>
          </a:prstGeom>
          <a:noFill/>
          <a:ln w="19050" cap="flat" cmpd="sng">
            <a:noFill/>
            <a:prstDash val="solid"/>
            <a:round/>
          </a:ln>
        </p:spPr>
        <p:txBody>
          <a:bodyPr vert="horz" wrap="square" lIns="0" tIns="0" rIns="0" bIns="0" rtlCol="0" anchor="t" anchorCtr="0"/>
          <a:lstStyle/>
          <a:p>
            <a:pPr algn="ctr">
              <a:defRPr/>
            </a:pPr>
          </a:p>
        </p:txBody>
      </p:sp>
      <p:sp>
        <p:nvSpPr>
          <p:cNvPr id="34" name="AutoShape 34"/>
          <p:cNvSpPr txBox="1"/>
          <p:nvPr/>
        </p:nvSpPr>
        <p:spPr>
          <a:xfrm>
            <a:off x="15378279" y="9581905"/>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F4E6B43-AA47-459B-86A8-90B282187F99}"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35" name="AutoShape 35"/>
          <p:cNvSpPr txBox="1"/>
          <p:nvPr/>
        </p:nvSpPr>
        <p:spPr>
          <a:xfrm>
            <a:off x="796975" y="605801"/>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pic>
        <p:nvPicPr>
          <p:cNvPr id="36" name="Picture 36"/>
          <p:cNvPicPr>
            <a:picLocks noChangeAspect="1"/>
          </p:cNvPicPr>
          <p:nvPr/>
        </p:nvPicPr>
        <p:blipFill>
          <a:blip r:embed="rId1"/>
          <a:srcRect/>
          <a:stretch>
            <a:fillRect/>
          </a:stretch>
        </p:blipFill>
        <p:spPr>
          <a:xfrm>
            <a:off x="929726" y="975133"/>
            <a:ext cx="2771429" cy="47619"/>
          </a:xfrm>
          <a:prstGeom prst="rect">
            <a:avLst/>
          </a:prstGeom>
          <a:noFill/>
          <a:ln w="25400" cap="flat" cmpd="sng">
            <a:noFill/>
            <a:prstDash val="solid"/>
            <a:rou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9.1</a:t>
            </a:r>
            <a:endParaRPr lang="en-US" sz="1100" dirty="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zh-CN" altLang="en-US" sz="96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标识密码算法概念</a:t>
            </a:r>
            <a:endParaRPr lang="en-US" sz="1100" dirty="0"/>
          </a:p>
        </p:txBody>
      </p:sp>
      <p:sp>
        <p:nvSpPr>
          <p:cNvPr id="22" name="Freeform 22"/>
          <p:cNvSpPr/>
          <p:nvPr/>
        </p:nvSpPr>
        <p:spPr>
          <a:xfrm>
            <a:off x="0" y="9030575"/>
            <a:ext cx="18381362"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 y="9030575"/>
            <a:ext cx="18137875"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0" y="9183427"/>
            <a:ext cx="1828800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0" y="9183427"/>
            <a:ext cx="18137875"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296488F1-DE29-44AB-9EBD-ABB4FA8D6069}"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796975" y="605801"/>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4"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9.1.1</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
        <p:nvSpPr>
          <p:cNvPr id="5" name="AutoShape 5"/>
          <p:cNvSpPr txBox="1"/>
          <p:nvPr/>
        </p:nvSpPr>
        <p:spPr>
          <a:xfrm>
            <a:off x="1451113" y="1798908"/>
            <a:ext cx="15385774" cy="7978913"/>
          </a:xfrm>
          <a:prstGeom prst="rect">
            <a:avLst/>
          </a:prstGeom>
          <a:noFill/>
          <a:ln w="19050" cap="flat" cmpd="sng">
            <a:noFill/>
            <a:prstDash val="solid"/>
            <a:round/>
          </a:ln>
        </p:spPr>
        <p:txBody>
          <a:bodyPr vert="horz" wrap="square" lIns="0" tIns="0" rIns="0" bIns="0" rtlCol="0" anchor="t" anchorCtr="0"/>
          <a:lstStyle/>
          <a:p>
            <a:pPr indent="899795" algn="l" defTabSz="914400" eaLnBrk="1" fontAlgn="auto" latinLnBrk="0" hangingPunct="1">
              <a:lnSpc>
                <a:spcPct val="120000"/>
              </a:lnSpc>
              <a:defRPr/>
            </a:pPr>
            <a:r>
              <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rPr>
              <a:t>标识密码（</a:t>
            </a:r>
            <a:r>
              <a:rPr lang="en-US" sz="3200" b="1" i="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Zhuque Fangsong"/>
              </a:rPr>
              <a:t>IBC</a:t>
            </a:r>
            <a:r>
              <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rPr>
              <a:t>）</a:t>
            </a:r>
            <a:endParaRPr lang="en-US" sz="3200" b="1" dirty="0">
              <a:solidFill>
                <a:schemeClr val="tx1"/>
              </a:solidFill>
              <a:latin typeface="Times New Roman" panose="02020603050405020304" pitchFamily="18" charset="0"/>
              <a:ea typeface="宋体" panose="02010600030101010101" pitchFamily="2" charset="-122"/>
            </a:endParaRPr>
          </a:p>
          <a:p>
            <a:pPr indent="899795" eaLnBrk="1" fontAlgn="auto" latinLnBrk="0" hangingPunct="1">
              <a:lnSpc>
                <a:spcPct val="120000"/>
              </a:lnSpc>
            </a:pPr>
            <a:r>
              <a:rPr lang="zh-CN" altLang="zh-CN" sz="3200" dirty="0">
                <a:latin typeface="Times New Roman" panose="02020603050405020304" pitchFamily="18" charset="0"/>
                <a:ea typeface="宋体" panose="02010600030101010101" pitchFamily="2" charset="-122"/>
              </a:rPr>
              <a:t>基于身份标识的</a:t>
            </a:r>
            <a:r>
              <a:rPr lang="en-US" altLang="zh-CN" sz="3200" dirty="0" err="1">
                <a:latin typeface="Times New Roman" panose="02020603050405020304" pitchFamily="18" charset="0"/>
                <a:ea typeface="宋体" panose="02010600030101010101" pitchFamily="2" charset="-122"/>
                <a:hlinkClick r:id="rId1"/>
              </a:rPr>
              <a:t>密码</a:t>
            </a:r>
            <a:r>
              <a:rPr lang="zh-CN" altLang="zh-CN" sz="3200" dirty="0">
                <a:latin typeface="Times New Roman" panose="02020603050405020304" pitchFamily="18" charset="0"/>
                <a:ea typeface="宋体" panose="02010600030101010101" pitchFamily="2" charset="-122"/>
              </a:rPr>
              <a:t>系统（</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Identity-</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BasedCryptograpy</a:t>
            </a:r>
            <a:r>
              <a:rPr lang="zh-CN" altLang="zh-CN" sz="32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IBC</a:t>
            </a:r>
            <a:r>
              <a:rPr lang="zh-CN" altLang="zh-CN" sz="3200" dirty="0">
                <a:latin typeface="Times New Roman" panose="02020603050405020304" pitchFamily="18" charset="0"/>
                <a:ea typeface="宋体" panose="02010600030101010101" pitchFamily="2" charset="-122"/>
              </a:rPr>
              <a:t>）是一种非对称的公钥密码体制。最主要的观点是系统中不需要证书，使用用户的标识，如姓名、</a:t>
            </a:r>
            <a:r>
              <a:rPr lang="en-US" altLang="zh-CN" sz="3200" dirty="0">
                <a:latin typeface="Times New Roman" panose="02020603050405020304" pitchFamily="18" charset="0"/>
                <a:ea typeface="宋体" panose="02010600030101010101" pitchFamily="2" charset="-122"/>
              </a:rPr>
              <a:t>IP</a:t>
            </a:r>
            <a:r>
              <a:rPr lang="zh-CN" altLang="zh-CN" sz="3200" dirty="0">
                <a:latin typeface="Times New Roman" panose="02020603050405020304" pitchFamily="18" charset="0"/>
                <a:ea typeface="宋体" panose="02010600030101010101" pitchFamily="2" charset="-122"/>
              </a:rPr>
              <a:t>地址、电子邮箱地址、手机号码等作为公钥。用户的私钥由密钥生成中心（</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KeyGenerateCenter</a:t>
            </a:r>
            <a:r>
              <a:rPr lang="zh-CN" altLang="zh-CN" sz="32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KGC</a:t>
            </a:r>
            <a:r>
              <a:rPr lang="zh-CN" altLang="zh-CN" sz="3200" dirty="0">
                <a:latin typeface="Times New Roman" panose="02020603050405020304" pitchFamily="18" charset="0"/>
                <a:ea typeface="宋体" panose="02010600030101010101" pitchFamily="2" charset="-122"/>
              </a:rPr>
              <a:t>）根据系统主密钥和用户标识计算得出。用户的公钥由用户标识唯一确定，从而用户不需要第三方来保证公钥的真实性。但那时，标识密码的思想停留在理论阶段，并未出现具体的实施方案。</a:t>
            </a:r>
            <a:endParaRPr lang="zh-CN" altLang="zh-CN" sz="3200" dirty="0">
              <a:latin typeface="宋体" panose="02010600030101010101" pitchFamily="2" charset="-122"/>
              <a:ea typeface="宋体" panose="02010600030101010101" pitchFamily="2" charset="-122"/>
            </a:endParaRPr>
          </a:p>
          <a:p>
            <a:pPr indent="899795">
              <a:lnSpc>
                <a:spcPct val="133000"/>
              </a:lnSpc>
            </a:pPr>
            <a:endParaRPr lang="zh-CN" altLang="zh-CN" sz="3200" dirty="0">
              <a:latin typeface="宋体" panose="02010600030101010101" pitchFamily="2" charset="-122"/>
              <a:ea typeface="宋体" panose="02010600030101010101" pitchFamily="2" charset="-122"/>
            </a:endParaRPr>
          </a:p>
        </p:txBody>
      </p:sp>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EAFB3792-B13C-409D-BAB8-027F2AA3F43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1365"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0" name="TextBox 30"/>
          <p:cNvSpPr txBox="1"/>
          <p:nvPr/>
        </p:nvSpPr>
        <p:spPr>
          <a:xfrm>
            <a:off x="2840355" y="51647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5" name="AutoShape 5"/>
          <p:cNvSpPr txBox="1"/>
          <p:nvPr/>
        </p:nvSpPr>
        <p:spPr>
          <a:xfrm>
            <a:off x="1451113" y="1798908"/>
            <a:ext cx="15385774" cy="7978913"/>
          </a:xfrm>
          <a:prstGeom prst="rect">
            <a:avLst/>
          </a:prstGeom>
          <a:noFill/>
          <a:ln w="19050" cap="flat" cmpd="sng">
            <a:noFill/>
            <a:prstDash val="solid"/>
            <a:round/>
          </a:ln>
        </p:spPr>
        <p:txBody>
          <a:bodyPr vert="horz" wrap="square" lIns="0" tIns="0" rIns="0" bIns="0" rtlCol="0" anchor="t" anchorCtr="0"/>
          <a:lstStyle/>
          <a:p>
            <a:pPr marL="0" indent="899795" algn="l" defTabSz="914400">
              <a:lnSpc>
                <a:spcPct val="133000"/>
              </a:lnSpc>
              <a:defRPr/>
            </a:pPr>
            <a:r>
              <a:rPr lang="en-US" sz="3200" b="1" i="0" u="none" strike="noStrike" dirty="0">
                <a:solidFill>
                  <a:schemeClr val="tx1"/>
                </a:solidFill>
                <a:latin typeface="宋体" panose="02010600030101010101" pitchFamily="2" charset="-122"/>
                <a:ea typeface="宋体" panose="02010600030101010101" pitchFamily="2" charset="-122"/>
                <a:cs typeface="Zhuque Fangsong"/>
                <a:sym typeface="Zhuque Fangsong"/>
              </a:rPr>
              <a:t>标识密码（</a:t>
            </a:r>
            <a:r>
              <a:rPr lang="en-US" sz="3200" b="1" i="0" u="none" strike="noStrike"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Zhuque Fangsong"/>
              </a:rPr>
              <a:t>IBC</a:t>
            </a:r>
            <a:r>
              <a:rPr lang="en-US" sz="3200" b="1" i="0" u="none" strike="noStrike" dirty="0">
                <a:solidFill>
                  <a:schemeClr val="tx1"/>
                </a:solidFill>
                <a:latin typeface="宋体" panose="02010600030101010101" pitchFamily="2" charset="-122"/>
                <a:ea typeface="宋体" panose="02010600030101010101" pitchFamily="2" charset="-122"/>
                <a:cs typeface="Zhuque Fangsong"/>
                <a:sym typeface="Zhuque Fangsong"/>
              </a:rPr>
              <a:t>）</a:t>
            </a:r>
            <a:endParaRPr lang="en-US" sz="3200" b="1" dirty="0">
              <a:solidFill>
                <a:schemeClr val="tx1"/>
              </a:solidFill>
              <a:latin typeface="宋体" panose="02010600030101010101" pitchFamily="2" charset="-122"/>
              <a:ea typeface="宋体" panose="02010600030101010101" pitchFamily="2" charset="-122"/>
            </a:endParaRPr>
          </a:p>
          <a:p>
            <a:pPr indent="899795">
              <a:lnSpc>
                <a:spcPct val="133000"/>
              </a:lnSpc>
            </a:pPr>
            <a:r>
              <a:rPr lang="zh-CN" altLang="zh-CN" sz="3200" dirty="0">
                <a:latin typeface="宋体" panose="02010600030101010101" pitchFamily="2" charset="-122"/>
                <a:ea typeface="宋体" panose="02010600030101010101" pitchFamily="2" charset="-122"/>
              </a:rPr>
              <a:t>直到</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2000</a:t>
            </a:r>
            <a:r>
              <a:rPr lang="zh-CN" altLang="zh-CN" sz="3200" dirty="0">
                <a:latin typeface="宋体" panose="02010600030101010101" pitchFamily="2" charset="-122"/>
                <a:ea typeface="宋体" panose="02010600030101010101" pitchFamily="2" charset="-122"/>
              </a:rPr>
              <a:t>年</a:t>
            </a:r>
            <a:r>
              <a:rPr lang="zh-CN" altLang="zh-CN" sz="3200" dirty="0">
                <a:solidFill>
                  <a:srgbClr val="000000"/>
                </a:solidFill>
                <a:uFillTx/>
                <a:latin typeface="Times New Roman" panose="02020603050405020304" pitchFamily="18" charset="0"/>
                <a:ea typeface="宋体" panose="02010600030101010101" pitchFamily="2" charset="-122"/>
              </a:rPr>
              <a:t>以后</a:t>
            </a:r>
            <a:r>
              <a:rPr lang="zh-CN" altLang="zh-CN" sz="3200" dirty="0">
                <a:latin typeface="宋体" panose="02010600030101010101" pitchFamily="2" charset="-122"/>
                <a:ea typeface="宋体" panose="02010600030101010101" pitchFamily="2" charset="-122"/>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Boneh</a:t>
            </a:r>
            <a:r>
              <a:rPr lang="zh-CN" altLang="zh-CN" sz="3200" dirty="0">
                <a:latin typeface="宋体" panose="02010600030101010101" pitchFamily="2" charset="-122"/>
                <a:ea typeface="宋体" panose="02010600030101010101" pitchFamily="2" charset="-122"/>
              </a:rPr>
              <a:t>和</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Franklin</a:t>
            </a:r>
            <a:r>
              <a:rPr lang="zh-CN" altLang="zh-CN" sz="3200" dirty="0">
                <a:latin typeface="宋体" panose="02010600030101010101" pitchFamily="2" charset="-122"/>
                <a:ea typeface="宋体" panose="02010600030101010101" pitchFamily="2" charset="-122"/>
              </a:rPr>
              <a:t>，以及</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Sakai</a:t>
            </a:r>
            <a:r>
              <a:rPr lang="zh-CN" altLang="zh-CN" sz="3200" dirty="0">
                <a:latin typeface="宋体" panose="02010600030101010101" pitchFamily="2" charset="-122"/>
                <a:ea typeface="宋体" panose="02010600030101010101" pitchFamily="2" charset="-122"/>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Ohgishi</a:t>
            </a:r>
            <a:r>
              <a:rPr lang="zh-CN" altLang="zh-CN" sz="3200" dirty="0">
                <a:latin typeface="宋体" panose="02010600030101010101" pitchFamily="2" charset="-122"/>
                <a:ea typeface="宋体" panose="02010600030101010101" pitchFamily="2" charset="-122"/>
              </a:rPr>
              <a:t>和</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Kasahara</a:t>
            </a:r>
            <a:r>
              <a:rPr lang="zh-CN" altLang="zh-CN" sz="3200" dirty="0">
                <a:latin typeface="宋体" panose="02010600030101010101" pitchFamily="2" charset="-122"/>
                <a:ea typeface="宋体" panose="02010600030101010101" pitchFamily="2" charset="-122"/>
              </a:rPr>
              <a:t>两个团队独立提出用椭圆曲线配对构造标识公钥密码，引发了标识密码的新发展。利用椭圆曲线对的双线性性质，在椭圆曲线的循环子群与扩域的乘法循环子群之间建立联系，构成了双线性</a:t>
            </a:r>
            <a:r>
              <a:rPr lang="en-US" altLang="zh-CN" sz="3200" dirty="0">
                <a:latin typeface="宋体" panose="02010600030101010101" pitchFamily="2" charset="-122"/>
                <a:ea typeface="宋体" panose="02010600030101010101" pitchFamily="2" charset="-122"/>
              </a:rPr>
              <a:t>DH</a:t>
            </a:r>
            <a:r>
              <a:rPr lang="zh-CN" altLang="zh-CN" sz="3200" dirty="0">
                <a:latin typeface="宋体" panose="02010600030101010101" pitchFamily="2" charset="-122"/>
                <a:ea typeface="宋体" panose="02010600030101010101" pitchFamily="2" charset="-122"/>
              </a:rPr>
              <a:t>、双线性逆</a:t>
            </a:r>
            <a:r>
              <a:rPr lang="en-US" altLang="zh-CN" sz="3200" dirty="0">
                <a:latin typeface="宋体" panose="02010600030101010101" pitchFamily="2" charset="-122"/>
                <a:ea typeface="宋体" panose="02010600030101010101" pitchFamily="2" charset="-122"/>
              </a:rPr>
              <a:t>DH</a:t>
            </a:r>
            <a:r>
              <a:rPr lang="zh-CN" altLang="zh-CN" sz="3200" dirty="0">
                <a:latin typeface="宋体" panose="02010600030101010101" pitchFamily="2" charset="-122"/>
                <a:ea typeface="宋体" panose="02010600030101010101" pitchFamily="2" charset="-122"/>
              </a:rPr>
              <a:t>、判决双线性逆</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DH</a:t>
            </a:r>
            <a:r>
              <a:rPr lang="zh-CN" altLang="zh-CN" sz="3200" dirty="0">
                <a:latin typeface="宋体" panose="02010600030101010101" pitchFamily="2" charset="-122"/>
                <a:ea typeface="宋体" panose="02010600030101010101" pitchFamily="2" charset="-122"/>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q-</a:t>
            </a:r>
            <a:r>
              <a:rPr lang="zh-CN" altLang="zh-CN" sz="3200" dirty="0">
                <a:latin typeface="宋体" panose="02010600030101010101" pitchFamily="2" charset="-122"/>
                <a:ea typeface="宋体" panose="02010600030101010101" pitchFamily="2" charset="-122"/>
              </a:rPr>
              <a:t>双线性逆</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DH</a:t>
            </a:r>
            <a:r>
              <a:rPr lang="zh-CN" altLang="zh-CN" sz="3200" dirty="0">
                <a:latin typeface="宋体" panose="02010600030101010101" pitchFamily="2" charset="-122"/>
                <a:ea typeface="宋体" panose="02010600030101010101" pitchFamily="2" charset="-122"/>
              </a:rPr>
              <a:t>和</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q-Gap-</a:t>
            </a:r>
            <a:r>
              <a:rPr lang="zh-CN" altLang="zh-CN" sz="3200" dirty="0">
                <a:latin typeface="宋体" panose="02010600030101010101" pitchFamily="2" charset="-122"/>
                <a:ea typeface="宋体" panose="02010600030101010101" pitchFamily="2" charset="-122"/>
              </a:rPr>
              <a:t>双线性逆</a:t>
            </a:r>
            <a:r>
              <a:rPr lang="en-US" altLang="zh-CN" sz="3200" dirty="0">
                <a:latin typeface="宋体" panose="02010600030101010101" pitchFamily="2" charset="-122"/>
                <a:ea typeface="宋体" panose="02010600030101010101" pitchFamily="2" charset="-122"/>
              </a:rPr>
              <a:t>DH</a:t>
            </a:r>
            <a:r>
              <a:rPr lang="zh-CN" altLang="zh-CN" sz="3200" dirty="0">
                <a:latin typeface="宋体" panose="02010600030101010101" pitchFamily="2" charset="-122"/>
                <a:ea typeface="宋体" panose="02010600030101010101" pitchFamily="2" charset="-122"/>
              </a:rPr>
              <a:t>等难题。当椭圆曲线离散对数问题和扩域离散对数问题的求解难度相当时，可用椭圆曲线对构造出安全性和实现效率最优化的标识密码。</a:t>
            </a:r>
            <a:endParaRPr lang="zh-CN" altLang="zh-CN" sz="3200" dirty="0">
              <a:latin typeface="宋体" panose="02010600030101010101" pitchFamily="2" charset="-122"/>
              <a:ea typeface="宋体" panose="02010600030101010101" pitchFamily="2" charset="-122"/>
            </a:endParaRPr>
          </a:p>
        </p:txBody>
      </p:sp>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EAFB3792-B13C-409D-BAB8-027F2AA3F43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1"/>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8"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11"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9.1.1</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pic>
        <p:nvPicPr>
          <p:cNvPr id="12" name="Picture 7"/>
          <p:cNvPicPr>
            <a:picLocks noChangeAspect="1"/>
          </p:cNvPicPr>
          <p:nvPr/>
        </p:nvPicPr>
        <p:blipFill>
          <a:blip r:embed="rId2">
            <a:alphaModFix amt="80000"/>
          </a:blip>
          <a:srcRect/>
          <a:stretch>
            <a:fillRect/>
          </a:stretch>
        </p:blipFill>
        <p:spPr>
          <a:xfrm>
            <a:off x="761365"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3" name="TextBox 30"/>
          <p:cNvSpPr txBox="1"/>
          <p:nvPr/>
        </p:nvSpPr>
        <p:spPr>
          <a:xfrm>
            <a:off x="2840355" y="51647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451113" y="1798908"/>
                <a:ext cx="15385774" cy="7978913"/>
              </a:xfrm>
              <a:prstGeom prst="rect">
                <a:avLst/>
              </a:prstGeom>
              <a:noFill/>
              <a:ln w="19050" cap="flat" cmpd="sng">
                <a:noFill/>
                <a:prstDash val="solid"/>
                <a:round/>
              </a:ln>
            </p:spPr>
            <p:txBody>
              <a:bodyPr vert="horz" wrap="square" lIns="0" tIns="0" rIns="0" bIns="0" rtlCol="0" anchor="t" anchorCtr="0"/>
              <a:lstStyle/>
              <a:p>
                <a:pPr marL="0" indent="899795" algn="l" defTabSz="914400">
                  <a:lnSpc>
                    <a:spcPct val="133000"/>
                  </a:lnSpc>
                </a:pPr>
                <a:r>
                  <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rPr>
                  <a:t>双线性对的定义与三大特性</a:t>
                </a:r>
                <a:endPar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endParaRPr>
              </a:p>
              <a:p>
                <a:pPr indent="899795">
                  <a:lnSpc>
                    <a:spcPct val="133000"/>
                  </a:lnSpc>
                </a:pP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双线性对是一个映射</a:t>
                </a:r>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indent="899795">
                  <a:lnSpc>
                    <a:spcPct val="133000"/>
                  </a:lnSpc>
                </a:pP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e:</a:t>
                </a:r>
                <a14:m>
                  <m:oMath xmlns:m="http://schemas.openxmlformats.org/officeDocument/2006/math">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zh-CN" altLang="en-US" sz="3200" dirty="0">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en-US" altLang="zh-CN" sz="3200" dirty="0">
                            <a:latin typeface="Cambria Math" panose="02040503050406030204" pitchFamily="18" charset="0"/>
                            <a:ea typeface="MS Mincho" charset="0"/>
                            <a:cs typeface="Cambria Math" panose="02040503050406030204" pitchFamily="18" charset="0"/>
                            <a:sym typeface="Songti SC"/>
                          </a:rPr>
                          <m:t>1</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zh-CN" altLang="en-US" sz="3200" dirty="0">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en-US" altLang="zh-CN" sz="3200" b="0" i="0" dirty="0" smtClean="0">
                            <a:latin typeface="Cambria Math" panose="02040503050406030204" pitchFamily="18" charset="0"/>
                            <a:ea typeface="MS Mincho" charset="0"/>
                            <a:cs typeface="Cambria Math" panose="02040503050406030204" pitchFamily="18" charset="0"/>
                            <a:sym typeface="Songti SC"/>
                          </a:rPr>
                          <m:t>2</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zh-CN" altLang="en-US" sz="3200" dirty="0" err="1">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zh-CN" altLang="en-US" sz="3200" dirty="0" err="1">
                            <a:latin typeface="Cambria Math" panose="02040503050406030204" pitchFamily="18" charset="0"/>
                            <a:ea typeface="宋体" panose="02010600030101010101" pitchFamily="2" charset="-122"/>
                            <a:cs typeface="Cambria Math" panose="02040503050406030204" pitchFamily="18" charset="0"/>
                            <a:sym typeface="Songti SC"/>
                          </a:rPr>
                          <m:t>𝑇</m:t>
                        </m:r>
                      </m:sub>
                    </m:sSub>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indent="899795">
                  <a:lnSpc>
                    <a:spcPct val="133000"/>
                  </a:lnSpc>
                </a:pP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其中</a:t>
                </a:r>
                <a14:m>
                  <m:oMath xmlns:m="http://schemas.openxmlformats.org/officeDocument/2006/math">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zh-CN" altLang="en-US" sz="3200" dirty="0">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en-US" altLang="zh-CN" sz="3200" dirty="0">
                            <a:latin typeface="Cambria Math" panose="02040503050406030204" pitchFamily="18" charset="0"/>
                            <a:ea typeface="MS Mincho" charset="0"/>
                            <a:cs typeface="Cambria Math" panose="02040503050406030204" pitchFamily="18" charset="0"/>
                            <a:sym typeface="Songti SC"/>
                          </a:rPr>
                          <m:t>1</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zh-CN" altLang="en-US" sz="3200" b="0" i="0"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en-US" altLang="zh-CN" sz="3200" b="0" i="0" dirty="0" smtClean="0">
                            <a:solidFill>
                              <a:srgbClr val="000000"/>
                            </a:solidFill>
                            <a:latin typeface="Cambria Math" panose="02040503050406030204" pitchFamily="18" charset="0"/>
                            <a:ea typeface="MS Mincho" charset="0"/>
                            <a:cs typeface="Cambria Math" panose="02040503050406030204" pitchFamily="18" charset="0"/>
                            <a:sym typeface="Songti SC"/>
                          </a:rPr>
                          <m:t>2</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是加法群</a:t>
                </a:r>
                <a:r>
                  <a:rPr lang="en-US" sz="3200" dirty="0">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zh-CN" altLang="en-US" sz="3200" b="0" i="0" dirty="0" err="1">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zh-CN" altLang="en-US" sz="3200" b="0" i="0" dirty="0" err="1">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𝑇</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是乘法群，必须满足：</a:t>
                </a:r>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indent="899795">
                  <a:lnSpc>
                    <a:spcPct val="133000"/>
                  </a:lnSpc>
                </a:pP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①</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双线性</a:t>
                </a:r>
                <a:r>
                  <a:rPr lang="zh-CN" altLang="en-US" sz="3200" b="0" i="0" dirty="0">
                    <a:solidFill>
                      <a:srgbClr val="000000"/>
                    </a:solidFill>
                    <a:latin typeface="Times New Roman" panose="02020603050405020304" pitchFamily="18" charset="0"/>
                    <a:ea typeface="宋体" panose="02010600030101010101" pitchFamily="2" charset="-122"/>
                    <a:cs typeface="Songti SC"/>
                    <a:sym typeface="Songti SC"/>
                  </a:rPr>
                  <a:t>性</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对任意</m:t>
                    </m:r>
                    <m:r>
                      <a:rPr lang="en-US" sz="3200" b="0" i="1"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𝑃</m:t>
                    </m:r>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𝐺</m:t>
                    </m:r>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₁、</m:t>
                    </m:r>
                    <m:r>
                      <a:rPr lang="en-US" sz="3200" b="0" i="1"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𝑄</m:t>
                    </m:r>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𝐺</m:t>
                    </m:r>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₂、</m:t>
                    </m:r>
                    <m:r>
                      <a:rPr lang="en-US" sz="3200" b="0" i="1"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𝑛</m:t>
                    </m:r>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𝑍</m:t>
                    </m:r>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m:t>
                    </m:r>
                  </m:oMath>
                </a14:m>
                <a:r>
                  <a:rPr lang="zh-CN" altLang="en-US" sz="3200" b="0" i="0" dirty="0">
                    <a:solidFill>
                      <a:srgbClr val="000000"/>
                    </a:solidFill>
                    <a:latin typeface="Times New Roman" panose="02020603050405020304" pitchFamily="18" charset="0"/>
                    <a:ea typeface="宋体" panose="02010600030101010101" pitchFamily="2" charset="-122"/>
                    <a:cs typeface="Songti SC"/>
                    <a:sym typeface="Songti SC"/>
                  </a:rPr>
                  <a:t>有</a:t>
                </a:r>
                <a14:m>
                  <m:oMath xmlns:m="http://schemas.openxmlformats.org/officeDocument/2006/math">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𝑒</m:t>
                    </m:r>
                    <m:d>
                      <m:dPr>
                        <m:ctrlPr>
                          <a:rPr lang="ar-AE"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d>
                          <m:dPr>
                            <m:begChr m:val="["/>
                            <m:endChr m:val="]"/>
                            <m:ctrlPr>
                              <a:rPr lang="ar-AE"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e>
                        </m:d>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r>
                          <a:rPr lang="ar-AE"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r>
                      <a:rPr lang="ar-AE"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𝑒</m:t>
                    </m:r>
                    <m:d>
                      <m:dPr>
                        <m:ctrlPr>
                          <a:rPr lang="ar-AE"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r>
                          <a:rPr lang="ar-AE" altLang="zh-CN" sz="3200" i="1" dirty="0">
                            <a:solidFill>
                              <a:schemeClr val="tx1"/>
                            </a:solidFill>
                            <a:latin typeface="Cambria Math" panose="02040503050406030204" pitchFamily="18" charset="0"/>
                            <a:ea typeface="MS Mincho" charset="0"/>
                            <a:cs typeface="Cambria Math" panose="02040503050406030204" pitchFamily="18" charset="0"/>
                          </a:rPr>
                          <m:t>,</m:t>
                        </m:r>
                        <m:d>
                          <m:dPr>
                            <m:begChr m:val="["/>
                            <m:endChr m:val="]"/>
                            <m:ctrlPr>
                              <a:rPr lang="ar-AE"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e>
                        </m:d>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r>
                      <a:rPr lang="ar-AE"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𝑒</m:t>
                    </m:r>
                    <m:sSup>
                      <m:sSupPr>
                        <m:ctrlPr>
                          <a:rPr lang="ar-AE"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d>
                          <m:dPr>
                            <m:ctrlPr>
                              <a:rPr lang="ar-AE"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r>
                              <a:rPr lang="ar-AE"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e>
                      <m:sup>
                        <m:r>
                          <a:rPr lang="zh-CN" altLang="ar-AE"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sup>
                    </m:sSup>
                    <m:r>
                      <a:rPr lang="zh-CN" altLang="ar-AE" sz="3200" i="1" dirty="0">
                        <a:solidFill>
                          <a:schemeClr val="tx1"/>
                        </a:solidFill>
                        <a:latin typeface="Cambria Math" panose="02040503050406030204" pitchFamily="18" charset="0"/>
                        <a:ea typeface="MS Mincho" charset="0"/>
                        <a:cs typeface="Cambria Math" panose="02040503050406030204" pitchFamily="18" charset="0"/>
                      </a:rPr>
                      <m:t>。</m:t>
                    </m:r>
                  </m:oMath>
                </a14:m>
                <a:endParaRPr lang="ar-AE" altLang="zh-CN" sz="3200" dirty="0">
                  <a:latin typeface="Times New Roman" panose="02020603050405020304" pitchFamily="18" charset="0"/>
                  <a:ea typeface="宋体" panose="02010600030101010101" pitchFamily="2" charset="-122"/>
                </a:endParaRPr>
              </a:p>
              <a:p>
                <a:pPr marL="0" indent="899795" algn="l" defTabSz="914400">
                  <a:lnSpc>
                    <a:spcPct val="133000"/>
                  </a:lnSpc>
                </a:pP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②</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非退化性：存在P、Q使e</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(P,Q)≠</a:t>
                </a:r>
                <a14:m>
                  <m:oMath xmlns:m="http://schemas.openxmlformats.org/officeDocument/2006/math">
                    <m:sSub>
                      <m:sSubPr>
                        <m:ctrlPr>
                          <a:rPr lang="en-US" altLang="zh-CN" sz="3200" b="0" i="1"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b="0" i="1" smtClean="0">
                            <a:solidFill>
                              <a:srgbClr val="000000"/>
                            </a:solidFill>
                            <a:latin typeface="Cambria Math" panose="02040503050406030204" pitchFamily="18" charset="0"/>
                            <a:ea typeface="MS Mincho" charset="0"/>
                            <a:cs typeface="Cambria Math" panose="02040503050406030204" pitchFamily="18" charset="0"/>
                            <a:sym typeface="Songti SC"/>
                          </a:rPr>
                          <m:t>1</m:t>
                        </m:r>
                      </m:e>
                      <m:sub>
                        <m:sSub>
                          <m:sSubPr>
                            <m:ctrlPr>
                              <a:rPr lang="en-US" altLang="zh-CN" sz="3200" b="0" i="1"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G</m:t>
                            </m:r>
                          </m:e>
                          <m:sub>
                            <m:r>
                              <m:rPr>
                                <m:sty m:val="p"/>
                              </m:rPr>
                              <a:rPr lang="en-US" altLang="zh-CN" sz="3200" b="0" i="1"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T</m:t>
                            </m:r>
                          </m:sub>
                        </m:sSub>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marL="0" indent="899795" algn="l" defTabSz="914400">
                  <a:lnSpc>
                    <a:spcPct val="133000"/>
                  </a:lnSpc>
                </a:pP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③</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可计算性：存在多项式时间算法能实际算出e</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(P,Q)</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的值</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p:txBody>
          </p:sp>
        </mc:Choice>
        <mc:Fallback>
          <p:sp>
            <p:nvSpPr>
              <p:cNvPr id="5" name="AutoShape 5"/>
              <p:cNvSpPr txBox="1">
                <a:spLocks noRot="1" noChangeAspect="1" noMove="1" noResize="1" noEditPoints="1" noAdjustHandles="1" noChangeArrowheads="1" noChangeShapeType="1" noTextEdit="1"/>
              </p:cNvSpPr>
              <p:nvPr/>
            </p:nvSpPr>
            <p:spPr>
              <a:xfrm>
                <a:off x="1451113" y="1798908"/>
                <a:ext cx="15385774" cy="7978913"/>
              </a:xfrm>
              <a:prstGeom prst="rect">
                <a:avLst/>
              </a:prstGeom>
              <a:blipFill rotWithShape="1">
                <a:blip r:embed="rId1"/>
                <a:stretch>
                  <a:fillRect l="-1" t="-7" r="3" b="1"/>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EAFB3792-B13C-409D-BAB8-027F2AA3F43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8"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11"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9.1.1</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pic>
        <p:nvPicPr>
          <p:cNvPr id="12" name="Picture 7"/>
          <p:cNvPicPr>
            <a:picLocks noChangeAspect="1"/>
          </p:cNvPicPr>
          <p:nvPr/>
        </p:nvPicPr>
        <p:blipFill>
          <a:blip r:embed="rId3">
            <a:alphaModFix amt="80000"/>
          </a:blip>
          <a:srcRect/>
          <a:stretch>
            <a:fillRect/>
          </a:stretch>
        </p:blipFill>
        <p:spPr>
          <a:xfrm>
            <a:off x="761365"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3" name="TextBox 30"/>
          <p:cNvSpPr txBox="1"/>
          <p:nvPr/>
        </p:nvSpPr>
        <p:spPr>
          <a:xfrm>
            <a:off x="2840355" y="51647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404730" y="1780302"/>
                <a:ext cx="15478539" cy="7773277"/>
              </a:xfrm>
              <a:prstGeom prst="rect">
                <a:avLst/>
              </a:prstGeom>
              <a:noFill/>
              <a:ln w="19050" cap="flat" cmpd="sng">
                <a:noFill/>
                <a:prstDash val="solid"/>
                <a:round/>
              </a:ln>
            </p:spPr>
            <p:txBody>
              <a:bodyPr vert="horz" wrap="square" lIns="0" tIns="0" rIns="0" bIns="0" rtlCol="0" anchor="t" anchorCtr="0"/>
              <a:lstStyle/>
              <a:p>
                <a:pPr marL="0" indent="899795" algn="l" defTabSz="914400">
                  <a:lnSpc>
                    <a:spcPct val="133000"/>
                  </a:lnSpc>
                  <a:defRPr/>
                </a:pPr>
                <a:r>
                  <a:rPr lang="en-US" sz="3200" b="1" i="0" dirty="0" err="1">
                    <a:solidFill>
                      <a:schemeClr val="tx1"/>
                    </a:solidFill>
                    <a:uFillTx/>
                    <a:latin typeface="Times New Roman" panose="02020603050405020304" pitchFamily="18" charset="0"/>
                    <a:ea typeface="宋体" panose="02010600030101010101" pitchFamily="2" charset="-122"/>
                    <a:cs typeface="Times New Roman" panose="02020603050405020304" pitchFamily="18" charset="0"/>
                    <a:sym typeface="Zhuque Fangsong"/>
                  </a:rPr>
                  <a:t>Miller</a:t>
                </a:r>
                <a:r>
                  <a:rPr lang="en-US" sz="3200" b="1"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算法</a:t>
                </a:r>
                <a:endParaRPr lang="en-US" sz="3200" b="1"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zh-CN" sz="3200" dirty="0">
                    <a:solidFill>
                      <a:schemeClr val="tx1"/>
                    </a:solidFill>
                    <a:uFillTx/>
                    <a:latin typeface="Times New Roman" panose="02020603050405020304" pitchFamily="18" charset="0"/>
                    <a:ea typeface="宋体" panose="02010600030101010101" pitchFamily="2" charset="-122"/>
                  </a:rPr>
                  <a:t>设</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sup>
                        </m:sSup>
                      </m:sub>
                    </m:sSub>
                  </m:oMath>
                </a14:m>
                <a:r>
                  <a:rPr lang="zh-CN" altLang="zh-CN" sz="3200" dirty="0">
                    <a:solidFill>
                      <a:schemeClr val="tx1"/>
                    </a:solidFill>
                    <a:uFillTx/>
                    <a:latin typeface="Times New Roman" panose="02020603050405020304" pitchFamily="18" charset="0"/>
                    <a:ea typeface="宋体" panose="02010600030101010101" pitchFamily="2" charset="-122"/>
                  </a:rPr>
                  <a:t>上椭圆曲线</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sup>
                            </m:sSup>
                          </m:sub>
                        </m:sSub>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的方程为</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3</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，定义过</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sup>
                            </m:sSup>
                          </m:sub>
                        </m:sSub>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上点</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和</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的直线为</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sup>
                            </m:sSup>
                          </m:sub>
                        </m:sSub>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sup>
                        </m:sSup>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若过</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和</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两点的直线方程为</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𝜆</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𝛿</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𝜏</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0</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则令</a:t>
                </a:r>
                <a14:m>
                  <m:oMath xmlns:m="http://schemas.openxmlformats.org/officeDocument/2006/math">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函数</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𝜆</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𝛿</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𝜏</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其中Q=(x_Q,y_Q)。当</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时</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定义为过点</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的切线；若</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和</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中有一个点</m:t>
                    </m:r>
                  </m:oMath>
                </a14:m>
                <a:r>
                  <a:rPr lang="zh-CN" altLang="zh-CN" sz="3200" dirty="0">
                    <a:solidFill>
                      <a:schemeClr val="tx1"/>
                    </a:solidFill>
                    <a:uFillTx/>
                    <a:latin typeface="Times New Roman" panose="02020603050405020304" pitchFamily="18" charset="0"/>
                    <a:ea typeface="宋体" panose="02010600030101010101" pitchFamily="2" charset="-122"/>
                  </a:rPr>
                  <a:t>为无穷远点</a:t>
                </a:r>
                <a14:m>
                  <m:oMath xmlns:m="http://schemas.openxmlformats.org/officeDocument/2006/math">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𝒪</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𝑉</m:t>
                        </m:r>
                      </m:sub>
                    </m:sSub>
                  </m:oMath>
                </a14:m>
                <a:r>
                  <a:rPr lang="zh-CN" altLang="zh-CN" sz="3200" dirty="0">
                    <a:solidFill>
                      <a:schemeClr val="tx1"/>
                    </a:solidFill>
                    <a:uFillTx/>
                    <a:latin typeface="Times New Roman" panose="02020603050405020304" pitchFamily="18" charset="0"/>
                    <a:ea typeface="宋体" panose="02010600030101010101" pitchFamily="2" charset="-122"/>
                  </a:rPr>
                  <a:t>就是过另一个点且垂直</a:t>
                </a:r>
                <a14:m>
                  <m:oMath xmlns:m="http://schemas.openxmlformats.org/officeDocument/2006/math">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于</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轴的直线。一般用</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作为</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𝑈</m:t>
                        </m:r>
                      </m:sub>
                    </m:sSub>
                  </m:oMath>
                </a14:m>
                <a:r>
                  <a:rPr lang="zh-CN" altLang="zh-CN" sz="3200" dirty="0">
                    <a:solidFill>
                      <a:schemeClr val="tx1"/>
                    </a:solidFill>
                    <a:uFillTx/>
                    <a:latin typeface="Times New Roman" panose="02020603050405020304" pitchFamily="18" charset="0"/>
                    <a:ea typeface="宋体" panose="02010600030101010101" pitchFamily="2" charset="-122"/>
                  </a:rPr>
                  <a:t>的简写。</a:t>
                </a:r>
                <a:endParaRPr lang="en-US" altLang="zh-CN" sz="3200" dirty="0">
                  <a:solidFill>
                    <a:schemeClr val="tx1"/>
                  </a:solidFill>
                  <a:uFillTx/>
                  <a:latin typeface="Times New Roman" panose="02020603050405020304" pitchFamily="18" charset="0"/>
                  <a:ea typeface="宋体" panose="02010600030101010101" pitchFamily="2" charset="-122"/>
                </a:endParaRPr>
              </a:p>
              <a:p>
                <a:pPr marL="0" indent="899795" algn="l" defTabSz="914400">
                  <a:lnSpc>
                    <a:spcPct val="133000"/>
                  </a:lnSpc>
                  <a:defRPr/>
                </a:pPr>
                <a:endParaRPr lang="en-US" altLang="zh-CN" sz="3200" dirty="0">
                  <a:solidFill>
                    <a:schemeClr val="tx1"/>
                  </a:solidFill>
                  <a:uFillTx/>
                  <a:latin typeface="Times New Roman" panose="02020603050405020304" pitchFamily="18" charset="0"/>
                  <a:ea typeface="宋体" panose="02010600030101010101" pitchFamily="2" charset="-122"/>
                </a:endParaRPr>
              </a:p>
            </p:txBody>
          </p:sp>
        </mc:Choice>
        <mc:Fallback>
          <p:sp>
            <p:nvSpPr>
              <p:cNvPr id="5" name="AutoShape 5"/>
              <p:cNvSpPr txBox="1">
                <a:spLocks noRot="1" noChangeAspect="1" noMove="1" noResize="1" noEditPoints="1" noAdjustHandles="1" noChangeArrowheads="1" noChangeShapeType="1" noTextEdit="1"/>
              </p:cNvSpPr>
              <p:nvPr/>
            </p:nvSpPr>
            <p:spPr>
              <a:xfrm>
                <a:off x="1404730" y="1780302"/>
                <a:ext cx="15478539" cy="7773277"/>
              </a:xfrm>
              <a:prstGeom prst="rect">
                <a:avLst/>
              </a:prstGeom>
              <a:blipFill rotWithShape="1">
                <a:blip r:embed="rId1"/>
                <a:stretch>
                  <a:fillRect l="-1" t="-5" r="3"/>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0" name="TextBox 30"/>
          <p:cNvSpPr txBox="1"/>
          <p:nvPr/>
        </p:nvSpPr>
        <p:spPr>
          <a:xfrm>
            <a:off x="3017520" y="516475"/>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Miller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算法与</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BN</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曲线</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R-ate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9.1.2</a:t>
            </a:r>
            <a:endPar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404730" y="1780302"/>
                <a:ext cx="15478539" cy="7773277"/>
              </a:xfrm>
              <a:prstGeom prst="rect">
                <a:avLst/>
              </a:prstGeom>
              <a:noFill/>
              <a:ln w="19050" cap="flat" cmpd="sng">
                <a:noFill/>
                <a:prstDash val="solid"/>
                <a:round/>
              </a:ln>
            </p:spPr>
            <p:txBody>
              <a:bodyPr vert="horz" wrap="square" lIns="0" tIns="0" rIns="0" bIns="0" rtlCol="0" anchor="t" anchorCtr="0"/>
              <a:lstStyle/>
              <a:p>
                <a:pPr indent="899795">
                  <a:lnSpc>
                    <a:spcPct val="133000"/>
                  </a:lnSpc>
                  <a:defRPr/>
                </a:pPr>
                <a14:m>
                  <m:oMath xmlns:m="http://schemas.openxmlformats.org/officeDocument/2006/math">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记</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𝑈</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𝑈</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𝑈</m:t>
                            </m:r>
                          </m:sub>
                        </m:sSub>
                      </m:e>
                    </m:d>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e>
                    </m:d>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sub>
                        </m:sSub>
                      </m:e>
                    </m:d>
                  </m:oMath>
                </a14:m>
                <a:r>
                  <a:rPr lang="zh-CN" altLang="zh-CN" sz="3200" dirty="0">
                    <a:solidFill>
                      <a:schemeClr val="tx1"/>
                    </a:solidFill>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𝜆</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f>
                      <m:fPr>
                        <m:ctrlPr>
                          <a:rPr lang="en-US"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fPr>
                      <m:num>
                        <m:r>
                          <a:rPr lang="zh-CN" altLang="zh-CN" sz="3200" i="1" dirty="0">
                            <a:solidFill>
                              <a:schemeClr val="tx1"/>
                            </a:solidFill>
                            <a:latin typeface="Cambria Math" panose="02040503050406030204" pitchFamily="18" charset="0"/>
                            <a:ea typeface="MS Mincho" charset="0"/>
                            <a:cs typeface="Cambria Math" panose="02040503050406030204" pitchFamily="18" charset="0"/>
                          </a:rPr>
                          <m:t>3</m:t>
                        </m:r>
                        <m:sSubSup>
                          <m:sSubSup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up>
                            <m:r>
                              <a:rPr lang="zh-CN" altLang="zh-CN" sz="3200" i="1" dirty="0">
                                <a:solidFill>
                                  <a:schemeClr val="tx1"/>
                                </a:solidFill>
                                <a:latin typeface="Cambria Math" panose="02040503050406030204" pitchFamily="18" charset="0"/>
                                <a:ea typeface="MS Mincho" charset="0"/>
                                <a:cs typeface="Cambria Math" panose="02040503050406030204" pitchFamily="18" charset="0"/>
                              </a:rPr>
                              <m:t>2</m:t>
                            </m:r>
                          </m:sup>
                        </m:sSubSup>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𝑎</m:t>
                        </m:r>
                      </m:num>
                      <m:den>
                        <m:r>
                          <a:rPr lang="zh-CN" altLang="zh-CN" sz="3200" i="1" dirty="0">
                            <a:solidFill>
                              <a:schemeClr val="tx1"/>
                            </a:solidFill>
                            <a:latin typeface="Cambria Math" panose="02040503050406030204" pitchFamily="18" charset="0"/>
                            <a:ea typeface="MS Mincho" charset="0"/>
                            <a:cs typeface="Cambria Math" panose="02040503050406030204" pitchFamily="18" charset="0"/>
                          </a:rPr>
                          <m:t>2</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den>
                    </m:f>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𝜆</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2</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𝑈</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𝑦</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e>
                    </m:d>
                    <m:r>
                      <m:rPr>
                        <m:lit/>
                      </m:rP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𝑈</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e>
                    </m:d>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latin typeface="Times New Roman" panose="02020603050405020304" pitchFamily="18" charset="0"/>
                    <a:ea typeface="宋体" panose="02010600030101010101" pitchFamily="2" charset="-122"/>
                  </a:rPr>
                  <a:t>则有以下性质</a:t>
                </a:r>
                <a:endParaRPr lang="en-US" altLang="zh-CN" sz="3200" i="1" dirty="0">
                  <a:latin typeface="Times New Roman" panose="02020603050405020304" pitchFamily="18" charset="0"/>
                  <a:ea typeface="宋体" panose="02010600030101010101" pitchFamily="2" charset="-122"/>
                </a:endParaRPr>
              </a:p>
              <a:p>
                <a:pPr indent="899795">
                  <a:lnSpc>
                    <a:spcPct val="133000"/>
                  </a:lnSpc>
                  <a:defRPr/>
                </a:pPr>
                <a14:m>
                  <m:oMathPara xmlns:m="http://schemas.openxmlformats.org/officeDocument/2006/math">
                    <m:oMathParaPr>
                      <m:jc m:val="left"/>
                    </m:oMathParaPr>
                    <m:oMath xmlns:m="http://schemas.openxmlformats.org/officeDocument/2006/math">
                      <m:d>
                        <m:dPr>
                          <m:ctrlPr>
                            <a:rPr lang="en-US" altLang="zh-CN" sz="3200" b="0" i="1" dirty="0" smtClean="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b="0" i="1" dirty="0" smtClean="0">
                              <a:latin typeface="Cambria Math" panose="02040503050406030204" pitchFamily="18" charset="0"/>
                              <a:ea typeface="MS Mincho" charset="0"/>
                              <a:cs typeface="Cambria Math" panose="02040503050406030204" pitchFamily="18" charset="0"/>
                            </a:rPr>
                            <m:t>1</m:t>
                          </m:r>
                        </m:e>
                      </m:d>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𝑈</m:t>
                          </m:r>
                          <m:r>
                            <a:rPr lang="en-US" altLang="zh-CN" sz="3200" i="1" dirty="0" smtClean="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sub>
                      </m:sSub>
                      <m:d>
                        <m:d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i="1" dirty="0">
                              <a:latin typeface="Cambria Math" panose="02040503050406030204" pitchFamily="18" charset="0"/>
                              <a:ea typeface="MS Mincho" charset="0"/>
                              <a:cs typeface="Cambria Math" panose="02040503050406030204" pitchFamily="18" charset="0"/>
                            </a:rPr>
                            <m:t>𝒪</m:t>
                          </m:r>
                        </m:e>
                      </m:d>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𝑈</m:t>
                          </m:r>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MS Mincho" charset="0"/>
                              <a:cs typeface="Cambria Math" panose="02040503050406030204" pitchFamily="18" charset="0"/>
                            </a:rPr>
                            <m:t>𝒪</m:t>
                          </m:r>
                        </m:sub>
                      </m:sSub>
                      <m:d>
                        <m:dPr>
                          <m:ctrlPr>
                            <a:rPr lang="en-US" altLang="zh-CN" sz="3200" i="1" dirty="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𝑄</m:t>
                          </m:r>
                        </m:e>
                      </m:d>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3200" i="1" dirty="0">
                              <a:latin typeface="Cambria Math" panose="02040503050406030204" pitchFamily="18" charset="0"/>
                              <a:ea typeface="MS Mincho" charset="0"/>
                              <a:cs typeface="Cambria Math" panose="02040503050406030204" pitchFamily="18" charset="0"/>
                            </a:rPr>
                            <m:t>𝒪</m:t>
                          </m:r>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𝑉</m:t>
                          </m:r>
                        </m:sub>
                      </m:sSub>
                      <m:d>
                        <m:dPr>
                          <m:ctrlPr>
                            <a:rPr lang="en-US" altLang="zh-CN" sz="3200" i="1" dirty="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𝑄</m:t>
                          </m:r>
                        </m:e>
                      </m:d>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MS Mincho" charset="0"/>
                          <a:cs typeface="Cambria Math" panose="02040503050406030204" pitchFamily="18" charset="0"/>
                        </a:rPr>
                        <m:t>1</m:t>
                      </m:r>
                    </m:oMath>
                  </m:oMathPara>
                </a14:m>
                <a:endParaRPr lang="en-US" altLang="zh-CN" sz="3200" dirty="0">
                  <a:latin typeface="Times New Roman" panose="02020603050405020304" pitchFamily="18" charset="0"/>
                  <a:ea typeface="宋体" panose="02010600030101010101" pitchFamily="2" charset="-122"/>
                </a:endParaRPr>
              </a:p>
              <a:p>
                <a:pPr indent="899795">
                  <a:lnSpc>
                    <a:spcPct val="133000"/>
                  </a:lnSpc>
                  <a:defRPr/>
                </a:pPr>
                <a:r>
                  <a:rPr lang="en-US" altLang="zh-CN" sz="3200" dirty="0">
                    <a:latin typeface="Times New Roman" panose="02020603050405020304" pitchFamily="18" charset="0"/>
                    <a:ea typeface="宋体" panose="02010600030101010101" pitchFamily="2" charset="-122"/>
                  </a:rPr>
                  <a:t>(2)</a:t>
                </a:r>
                <a14:m>
                  <m:oMath xmlns:m="http://schemas.openxmlformats.org/officeDocument/2006/math">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r>
                          <a:rPr lang="en-US" altLang="zh-CN" sz="3200" i="1" dirty="0" smtClean="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sub>
                    </m:sSub>
                    <m:d>
                      <m:d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𝑄</m:t>
                        </m:r>
                      </m:e>
                    </m:d>
                    <m:r>
                      <a:rPr lang="en-US" altLang="zh-CN" sz="3200" i="1" dirty="0" smtClean="0">
                        <a:latin typeface="Cambria Math" panose="02040503050406030204" pitchFamily="18" charset="0"/>
                        <a:ea typeface="MS Mincho" charset="0"/>
                        <a:cs typeface="Cambria Math" panose="02040503050406030204" pitchFamily="18" charset="0"/>
                      </a:rPr>
                      <m:t>=</m:t>
                    </m:r>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smtClean="0">
                            <a:latin typeface="Cambria Math" panose="02040503050406030204" pitchFamily="18" charset="0"/>
                            <a:ea typeface="MS Mincho" charset="0"/>
                            <a:cs typeface="Cambria Math" panose="02040503050406030204" pitchFamily="18" charset="0"/>
                          </a:rPr>
                          <m:t>𝜆</m:t>
                        </m:r>
                      </m:e>
                      <m:sub>
                        <m:r>
                          <a:rPr lang="en-US" altLang="zh-CN" sz="3200" i="1" dirty="0" smtClean="0">
                            <a:latin typeface="Cambria Math" panose="02040503050406030204" pitchFamily="18" charset="0"/>
                            <a:ea typeface="MS Mincho" charset="0"/>
                            <a:cs typeface="Cambria Math" panose="02040503050406030204" pitchFamily="18" charset="0"/>
                          </a:rPr>
                          <m:t>1</m:t>
                        </m:r>
                      </m:sub>
                    </m:sSub>
                    <m:d>
                      <m:d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𝑄</m:t>
                            </m:r>
                          </m:sub>
                        </m:sSub>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err="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𝑉</m:t>
                            </m:r>
                          </m:sub>
                        </m:sSub>
                      </m:e>
                    </m:d>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err="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𝑄</m:t>
                        </m:r>
                      </m:sub>
                    </m:sSub>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err="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𝑉</m:t>
                        </m:r>
                      </m:sub>
                    </m:sSub>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𝑄</m:t>
                    </m:r>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MS Mincho" charset="0"/>
                        <a:cs typeface="Cambria Math" panose="02040503050406030204" pitchFamily="18" charset="0"/>
                      </a:rPr>
                      <m:t>𝒪</m:t>
                    </m:r>
                  </m:oMath>
                </a14:m>
                <a:endParaRPr lang="en-US" altLang="zh-CN" sz="3200" i="1" dirty="0">
                  <a:latin typeface="Times New Roman" panose="02020603050405020304" pitchFamily="18" charset="0"/>
                  <a:ea typeface="宋体" panose="02010600030101010101" pitchFamily="2" charset="-122"/>
                </a:endParaRPr>
              </a:p>
              <a:p>
                <a:pPr indent="899795">
                  <a:lnSpc>
                    <a:spcPct val="133000"/>
                  </a:lnSpc>
                  <a:defRPr/>
                </a:pPr>
                <a14:m>
                  <m:oMathPara xmlns:m="http://schemas.openxmlformats.org/officeDocument/2006/math">
                    <m:oMathParaPr>
                      <m:jc m:val="left"/>
                    </m:oMathParaPr>
                    <m:oMath xmlns:m="http://schemas.openxmlformats.org/officeDocument/2006/math">
                      <m:d>
                        <m:dPr>
                          <m:ctrlPr>
                            <a:rPr lang="en-US" altLang="zh-CN" sz="3200" b="0" i="1" dirty="0" smtClean="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b="0" i="1" dirty="0" smtClean="0">
                              <a:latin typeface="Cambria Math" panose="02040503050406030204" pitchFamily="18" charset="0"/>
                              <a:ea typeface="MS Mincho" charset="0"/>
                              <a:cs typeface="Cambria Math" panose="02040503050406030204" pitchFamily="18" charset="0"/>
                            </a:rPr>
                            <m:t>3</m:t>
                          </m:r>
                        </m:e>
                      </m:d>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𝑈</m:t>
                          </m:r>
                          <m:r>
                            <a:rPr lang="en-US" altLang="zh-CN" sz="3200" i="1" dirty="0" smtClean="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sub>
                      </m:sSub>
                      <m:d>
                        <m:d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𝑄</m:t>
                          </m:r>
                        </m:e>
                      </m:d>
                      <m:r>
                        <a:rPr lang="en-US" altLang="zh-CN" sz="3200" i="1" dirty="0" smtClean="0">
                          <a:latin typeface="Cambria Math" panose="02040503050406030204" pitchFamily="18" charset="0"/>
                          <a:ea typeface="MS Mincho" charset="0"/>
                          <a:cs typeface="Cambria Math" panose="02040503050406030204" pitchFamily="18" charset="0"/>
                        </a:rPr>
                        <m:t>=</m:t>
                      </m:r>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smtClean="0">
                              <a:latin typeface="Cambria Math" panose="02040503050406030204" pitchFamily="18" charset="0"/>
                              <a:ea typeface="MS Mincho" charset="0"/>
                              <a:cs typeface="Cambria Math" panose="02040503050406030204" pitchFamily="18" charset="0"/>
                            </a:rPr>
                            <m:t>𝜆</m:t>
                          </m:r>
                        </m:e>
                        <m:sub>
                          <m:r>
                            <a:rPr lang="en-US" altLang="zh-CN" sz="3200" i="1" dirty="0" smtClean="0">
                              <a:latin typeface="Cambria Math" panose="02040503050406030204" pitchFamily="18" charset="0"/>
                              <a:ea typeface="MS Mincho" charset="0"/>
                              <a:cs typeface="Cambria Math" panose="02040503050406030204" pitchFamily="18" charset="0"/>
                            </a:rPr>
                            <m:t>2</m:t>
                          </m:r>
                        </m:sub>
                      </m:sSub>
                      <m:d>
                        <m:d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𝑄</m:t>
                              </m:r>
                            </m:sub>
                          </m:sSub>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err="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𝑉</m:t>
                              </m:r>
                            </m:sub>
                          </m:sSub>
                        </m:e>
                      </m:d>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err="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𝑄</m:t>
                          </m:r>
                        </m:sub>
                      </m:sSub>
                      <m:r>
                        <a:rPr lang="en-US" altLang="zh-CN" sz="3200" i="1" dirty="0">
                          <a:latin typeface="Cambria Math" panose="02040503050406030204" pitchFamily="18" charset="0"/>
                          <a:ea typeface="MS Mincho" charset="0"/>
                          <a:cs typeface="Cambria Math" panose="02040503050406030204" pitchFamily="18" charset="0"/>
                        </a:rPr>
                        <m:t>+</m:t>
                      </m:r>
                      <m:sSub>
                        <m:sSubPr>
                          <m:ctrlPr>
                            <a:rPr lang="en-US" altLang="zh-CN" sz="3200" i="1" dirty="0" err="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3200" i="1" dirty="0" err="1">
                              <a:latin typeface="Cambria Math" panose="02040503050406030204" pitchFamily="18" charset="0"/>
                              <a:ea typeface="宋体" panose="02010600030101010101" pitchFamily="2" charset="-122"/>
                              <a:cs typeface="Cambria Math" panose="02040503050406030204" pitchFamily="18" charset="0"/>
                            </a:rPr>
                            <m:t>𝑉</m:t>
                          </m:r>
                        </m:sub>
                      </m:sSub>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𝑄</m:t>
                      </m:r>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MS Mincho" charset="0"/>
                          <a:cs typeface="Cambria Math" panose="02040503050406030204" pitchFamily="18" charset="0"/>
                        </a:rPr>
                        <m:t>𝒪</m:t>
                      </m:r>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a:latin typeface="Cambria Math" panose="02040503050406030204" pitchFamily="18" charset="0"/>
                          <a:ea typeface="宋体" panose="02010600030101010101" pitchFamily="2" charset="-122"/>
                          <a:cs typeface="Cambria Math" panose="02040503050406030204" pitchFamily="18" charset="0"/>
                        </a:rPr>
                        <m:t>𝑈</m:t>
                      </m:r>
                      <m:r>
                        <a:rPr lang="en-US" altLang="zh-CN" sz="3200" i="1" dirty="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oMath>
                  </m:oMathPara>
                </a14:m>
                <a:endParaRPr lang="en-US" altLang="zh-CN" sz="3200" i="1" dirty="0">
                  <a:latin typeface="Times New Roman" panose="02020603050405020304" pitchFamily="18" charset="0"/>
                  <a:ea typeface="宋体" panose="02010600030101010101" pitchFamily="2" charset="-122"/>
                </a:endParaRPr>
              </a:p>
              <a:p>
                <a:pPr indent="899795">
                  <a:lnSpc>
                    <a:spcPct val="133000"/>
                  </a:lnSpc>
                  <a:defRPr/>
                </a:pPr>
                <a14:m>
                  <m:oMathPara xmlns:m="http://schemas.openxmlformats.org/officeDocument/2006/math">
                    <m:oMathParaPr>
                      <m:jc m:val="left"/>
                    </m:oMathParaPr>
                    <m:oMath xmlns:m="http://schemas.openxmlformats.org/officeDocument/2006/math">
                      <m:r>
                        <a:rPr lang="en-US" altLang="zh-CN" sz="3200" b="0" i="1" dirty="0" smtClean="0">
                          <a:latin typeface="Cambria Math" panose="02040503050406030204" pitchFamily="18" charset="0"/>
                          <a:ea typeface="MS Mincho" charset="0"/>
                          <a:cs typeface="Cambria Math" panose="02040503050406030204" pitchFamily="18" charset="0"/>
                        </a:rPr>
                        <m:t>(</m:t>
                      </m:r>
                      <m:r>
                        <a:rPr lang="en-US" altLang="zh-CN" sz="3200" b="0" i="1" dirty="0" smtClean="0">
                          <a:latin typeface="Cambria Math" panose="02040503050406030204" pitchFamily="18" charset="0"/>
                          <a:ea typeface="MS Mincho" charset="0"/>
                          <a:cs typeface="Cambria Math" panose="02040503050406030204" pitchFamily="18" charset="0"/>
                        </a:rPr>
                        <m:t>4</m:t>
                      </m:r>
                      <m:r>
                        <a:rPr lang="en-US" altLang="zh-CN" sz="3200" b="0" i="1" dirty="0" smtClean="0">
                          <a:latin typeface="Cambria Math" panose="02040503050406030204" pitchFamily="18" charset="0"/>
                          <a:ea typeface="MS Mincho" charset="0"/>
                          <a:cs typeface="Cambria Math" panose="02040503050406030204" pitchFamily="18" charset="0"/>
                        </a:rPr>
                        <m:t>)</m:t>
                      </m:r>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r>
                            <a:rPr lang="en-US" altLang="zh-CN" sz="3200" i="1" dirty="0" smtClean="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𝑉</m:t>
                          </m:r>
                        </m:sub>
                      </m:sSub>
                      <m:d>
                        <m:d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ctrlPr>
                        </m:d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𝑄</m:t>
                          </m:r>
                        </m:e>
                      </m:d>
                      <m:r>
                        <a:rPr lang="en-US" altLang="zh-CN" sz="3200" i="1" dirty="0" smtClean="0">
                          <a:latin typeface="Cambria Math" panose="02040503050406030204" pitchFamily="18" charset="0"/>
                          <a:ea typeface="MS Mincho" charset="0"/>
                          <a:cs typeface="Cambria Math" panose="02040503050406030204" pitchFamily="18" charset="0"/>
                        </a:rPr>
                        <m:t>=</m:t>
                      </m:r>
                      <m:sSub>
                        <m:sSubPr>
                          <m:ctrlP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t>𝑄</m:t>
                          </m:r>
                        </m:sub>
                      </m:sSub>
                      <m:r>
                        <a:rPr lang="en-US" altLang="zh-CN" sz="3200" i="1" dirty="0" smtClean="0">
                          <a:latin typeface="Cambria Math" panose="02040503050406030204" pitchFamily="18" charset="0"/>
                          <a:ea typeface="MS Mincho" charset="0"/>
                          <a:cs typeface="Cambria Math" panose="02040503050406030204" pitchFamily="18" charset="0"/>
                        </a:rPr>
                        <m:t>−</m:t>
                      </m:r>
                      <m:sSub>
                        <m:sSubPr>
                          <m:ctrlP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3200" i="1" dirty="0" err="1" smtClean="0">
                              <a:latin typeface="Cambria Math" panose="02040503050406030204" pitchFamily="18" charset="0"/>
                              <a:ea typeface="宋体" panose="02010600030101010101" pitchFamily="2" charset="-122"/>
                              <a:cs typeface="Cambria Math" panose="02040503050406030204" pitchFamily="18" charset="0"/>
                            </a:rPr>
                            <m:t>𝑉</m:t>
                          </m:r>
                        </m:sub>
                      </m:sSub>
                      <m:r>
                        <a:rPr lang="en-US" altLang="zh-CN" sz="3200" i="1" dirty="0" smtClean="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rPr>
                        <m:t>𝑄</m:t>
                      </m:r>
                      <m:r>
                        <a:rPr lang="en-US" altLang="zh-CN" sz="3200" i="1" dirty="0" smtClean="0">
                          <a:latin typeface="Cambria Math" panose="02040503050406030204" pitchFamily="18" charset="0"/>
                          <a:ea typeface="MS Mincho" charset="0"/>
                          <a:cs typeface="Cambria Math" panose="02040503050406030204" pitchFamily="18" charset="0"/>
                        </a:rPr>
                        <m:t>≠</m:t>
                      </m:r>
                      <m:r>
                        <a:rPr lang="en-US" altLang="zh-CN" sz="3200" i="1" dirty="0" smtClean="0">
                          <a:latin typeface="Cambria Math" panose="02040503050406030204" pitchFamily="18" charset="0"/>
                          <a:ea typeface="MS Mincho" charset="0"/>
                          <a:cs typeface="Cambria Math" panose="02040503050406030204" pitchFamily="18" charset="0"/>
                        </a:rPr>
                        <m:t>𝒪</m:t>
                      </m:r>
                    </m:oMath>
                  </m:oMathPara>
                </a14:m>
                <a:endParaRPr lang="en-US" altLang="zh-CN" sz="3200" i="1" dirty="0" smtClean="0">
                  <a:latin typeface="Cambria Math" panose="02040503050406030204" pitchFamily="18" charset="0"/>
                  <a:ea typeface="MS Mincho" charset="0"/>
                  <a:cs typeface="Cambria Math" panose="02040503050406030204" pitchFamily="18" charset="0"/>
                </a:endParaRPr>
              </a:p>
            </p:txBody>
          </p:sp>
        </mc:Choice>
        <mc:Fallback>
          <p:sp>
            <p:nvSpPr>
              <p:cNvPr id="5" name="AutoShape 5"/>
              <p:cNvSpPr txBox="1">
                <a:spLocks noRot="1" noChangeAspect="1" noMove="1" noResize="1" noEditPoints="1" noAdjustHandles="1" noChangeArrowheads="1" noChangeShapeType="1" noTextEdit="1"/>
              </p:cNvSpPr>
              <p:nvPr/>
            </p:nvSpPr>
            <p:spPr>
              <a:xfrm>
                <a:off x="1404730" y="1780302"/>
                <a:ext cx="15478539" cy="7773277"/>
              </a:xfrm>
              <a:prstGeom prst="rect">
                <a:avLst/>
              </a:prstGeom>
              <a:blipFill rotWithShape="1">
                <a:blip r:embed="rId1"/>
                <a:stretch>
                  <a:fillRect l="-1" t="-5" r="3"/>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4"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2" name="TextBox 30"/>
          <p:cNvSpPr txBox="1"/>
          <p:nvPr/>
        </p:nvSpPr>
        <p:spPr>
          <a:xfrm>
            <a:off x="3017520" y="516475"/>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Miller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算法与</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BN</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曲线</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R-ate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9.1.2</a:t>
            </a:r>
            <a:endPar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404730" y="1637423"/>
                <a:ext cx="15478539" cy="7773277"/>
              </a:xfrm>
              <a:prstGeom prst="rect">
                <a:avLst/>
              </a:prstGeom>
              <a:noFill/>
              <a:ln w="19050" cap="flat" cmpd="sng">
                <a:noFill/>
                <a:prstDash val="solid"/>
                <a:round/>
              </a:ln>
            </p:spPr>
            <p:txBody>
              <a:bodyPr vert="horz" wrap="square" lIns="0" tIns="0" rIns="0" bIns="0" rtlCol="0" anchor="t" anchorCtr="0"/>
              <a:lstStyle/>
              <a:p>
                <a:pPr indent="899795">
                  <a:lnSpc>
                    <a:spcPct val="133000"/>
                  </a:lnSpc>
                  <a:defRPr/>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Miller</a:t>
                </a:r>
                <a:r>
                  <a:rPr lang="zh-CN" altLang="en-US" sz="3200" b="1" dirty="0">
                    <a:latin typeface="Times New Roman" panose="02020603050405020304" pitchFamily="18" charset="0"/>
                    <a:ea typeface="宋体" panose="02010600030101010101" pitchFamily="2" charset="-122"/>
                  </a:rPr>
                  <a:t>算法的计算步骤</a:t>
                </a:r>
                <a:endParaRPr lang="en-US" altLang="zh-CN" sz="3200" b="1" dirty="0">
                  <a:latin typeface="Times New Roman" panose="02020603050405020304" pitchFamily="18" charset="0"/>
                  <a:ea typeface="宋体" panose="02010600030101010101" pitchFamily="2" charset="-122"/>
                </a:endParaRPr>
              </a:p>
              <a:p>
                <a:pPr indent="899795">
                  <a:lnSpc>
                    <a:spcPct val="133000"/>
                  </a:lnSpc>
                  <a:defRPr/>
                </a:pPr>
                <a:r>
                  <a:rPr lang="zh-CN"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Miller</a:t>
                </a:r>
                <a:r>
                  <a:rPr lang="zh-CN" altLang="zh-CN" sz="3200" dirty="0">
                    <a:solidFill>
                      <a:schemeClr val="tx1"/>
                    </a:solidFill>
                    <a:latin typeface="Times New Roman" panose="02020603050405020304" pitchFamily="18" charset="0"/>
                    <a:ea typeface="宋体" panose="02010600030101010101" pitchFamily="2" charset="-122"/>
                  </a:rPr>
                  <a:t>算法的计算步骤为：首先确定输入为椭圆曲线</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𝐸</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𝐸</m:t>
                    </m:r>
                  </m:oMath>
                </a14:m>
                <a:r>
                  <a:rPr lang="zh-CN" altLang="zh-CN" sz="3200" dirty="0">
                    <a:solidFill>
                      <a:schemeClr val="tx1"/>
                    </a:solidFill>
                    <a:latin typeface="Times New Roman" panose="02020603050405020304" pitchFamily="18" charset="0"/>
                    <a:ea typeface="宋体" panose="02010600030101010101" pitchFamily="2" charset="-122"/>
                  </a:rPr>
                  <a:t>上两点</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oMath>
                </a14:m>
                <a:r>
                  <a:rPr lang="zh-CN" altLang="zh-CN" sz="3200" dirty="0">
                    <a:solidFill>
                      <a:schemeClr val="tx1"/>
                    </a:solidFill>
                    <a:latin typeface="Times New Roman" panose="02020603050405020304" pitchFamily="18" charset="0"/>
                    <a:ea typeface="宋体" panose="02010600030101010101" pitchFamily="2" charset="-122"/>
                  </a:rPr>
                  <a:t>和</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oMath>
                </a14:m>
                <a:r>
                  <a:rPr lang="zh-CN" altLang="zh-CN" sz="3200" dirty="0">
                    <a:solidFill>
                      <a:schemeClr val="tx1"/>
                    </a:solidFill>
                    <a:latin typeface="Times New Roman" panose="02020603050405020304" pitchFamily="18" charset="0"/>
                    <a:ea typeface="宋体" panose="02010600030101010101" pitchFamily="2" charset="-122"/>
                  </a:rPr>
                  <a:t>、整数</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latin typeface="Times New Roman" panose="02020603050405020304" pitchFamily="18" charset="0"/>
                    <a:ea typeface="宋体" panose="02010600030101010101" pitchFamily="2" charset="-122"/>
                  </a:rPr>
                  <a:t>然后设</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oMath>
                </a14:m>
                <a:r>
                  <a:rPr lang="zh-CN" altLang="zh-CN" sz="3200" dirty="0">
                    <a:solidFill>
                      <a:schemeClr val="tx1"/>
                    </a:solidFill>
                    <a:latin typeface="Times New Roman" panose="02020603050405020304" pitchFamily="18" charset="0"/>
                    <a:ea typeface="宋体" panose="02010600030101010101" pitchFamily="2" charset="-122"/>
                  </a:rPr>
                  <a:t>的二进制表示是</a:t>
                </a:r>
                <a14:m>
                  <m:oMath xmlns:m="http://schemas.openxmlformats.org/officeDocument/2006/math">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3200" b="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sub>
                    </m:sSub>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e>
                      <m:sub>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0</m:t>
                        </m:r>
                      </m:sub>
                    </m:sSub>
                  </m:oMath>
                </a14:m>
                <a:r>
                  <a:rPr lang="zh-CN" altLang="zh-CN" sz="3200" dirty="0">
                    <a:solidFill>
                      <a:schemeClr val="tx1"/>
                    </a:solidFill>
                    <a:latin typeface="Times New Roman" panose="02020603050405020304" pitchFamily="18" charset="0"/>
                    <a:ea typeface="宋体" panose="02010600030101010101" pitchFamily="2" charset="-122"/>
                  </a:rPr>
                  <a:t>，其最高位</a:t>
                </a:r>
                <a14:m>
                  <m:oMath xmlns:m="http://schemas.openxmlformats.org/officeDocument/2006/math">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e>
                      <m:sub>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𝑗</m:t>
                        </m:r>
                      </m:sub>
                    </m:sSub>
                  </m:oMath>
                </a14:m>
                <a:r>
                  <a:rPr lang="zh-CN" altLang="zh-CN" sz="3200" dirty="0">
                    <a:solidFill>
                      <a:schemeClr val="tx1"/>
                    </a:solidFill>
                    <a:latin typeface="Times New Roman" panose="02020603050405020304" pitchFamily="18" charset="0"/>
                    <a:ea typeface="宋体" panose="02010600030101010101" pitchFamily="2" charset="-122"/>
                  </a:rPr>
                  <a:t>为1，并置</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为</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oMath>
                </a14:m>
                <a:r>
                  <a:rPr lang="zh-CN" altLang="zh-CN" sz="3200" dirty="0">
                    <a:solidFill>
                      <a:schemeClr val="tx1"/>
                    </a:solidFill>
                    <a:latin typeface="Times New Roman" panose="02020603050405020304" pitchFamily="18" charset="0"/>
                    <a:ea typeface="宋体" panose="02010600030101010101" pitchFamily="2" charset="-122"/>
                  </a:rPr>
                  <a:t>，之后对</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𝑖</m:t>
                    </m:r>
                  </m:oMath>
                </a14:m>
                <a:r>
                  <a:rPr lang="zh-CN" altLang="zh-CN" sz="3200" dirty="0">
                    <a:solidFill>
                      <a:schemeClr val="tx1"/>
                    </a:solidFill>
                    <a:latin typeface="Times New Roman" panose="02020603050405020304" pitchFamily="18" charset="0"/>
                    <a:ea typeface="宋体" panose="02010600030101010101" pitchFamily="2" charset="-122"/>
                  </a:rPr>
                  <a:t>从</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𝑗</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1</m:t>
                    </m:r>
                  </m:oMath>
                </a14:m>
                <a:r>
                  <a:rPr lang="zh-CN" altLang="zh-CN" sz="3200" dirty="0">
                    <a:solidFill>
                      <a:schemeClr val="tx1"/>
                    </a:solidFill>
                    <a:latin typeface="Times New Roman" panose="02020603050405020304" pitchFamily="18" charset="0"/>
                    <a:ea typeface="宋体" panose="02010600030101010101" pitchFamily="2" charset="-122"/>
                  </a:rPr>
                  <a:t>至0依次计算</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p>
                      <m:sSup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e>
                      <m:sup>
                        <m:r>
                          <a:rPr lang="zh-CN" altLang="zh-CN" sz="3200" i="1" dirty="0">
                            <a:solidFill>
                              <a:schemeClr val="tx1"/>
                            </a:solidFill>
                            <a:latin typeface="Cambria Math" panose="02040503050406030204" pitchFamily="18" charset="0"/>
                            <a:ea typeface="MS Mincho" charset="0"/>
                            <a:cs typeface="Cambria Math" panose="02040503050406030204" pitchFamily="18" charset="0"/>
                          </a:rPr>
                          <m:t>2</m:t>
                        </m:r>
                      </m:sup>
                    </m:sSup>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r>
                      <m:rPr>
                        <m:lit/>
                      </m:rP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2</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MS Mincho" charset="0"/>
                            <a:cs typeface="Cambria Math" panose="02040503050406030204" pitchFamily="18" charset="0"/>
                          </a:rPr>
                          <m:t>2</m:t>
                        </m:r>
                      </m:e>
                    </m:d>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latin typeface="Times New Roman" panose="02020603050405020304" pitchFamily="18" charset="0"/>
                    <a:ea typeface="宋体" panose="02010600030101010101" pitchFamily="2" charset="-122"/>
                  </a:rPr>
                  <a:t>其中当</a:t>
                </a:r>
                <a14:m>
                  <m:oMath xmlns:m="http://schemas.openxmlformats.org/officeDocument/2006/math">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𝑖</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1</m:t>
                    </m:r>
                  </m:oMath>
                </a14:m>
                <a:r>
                  <a:rPr lang="zh-CN" altLang="zh-CN" sz="3200" dirty="0">
                    <a:solidFill>
                      <a:schemeClr val="tx1"/>
                    </a:solidFill>
                    <a:latin typeface="Times New Roman" panose="02020603050405020304" pitchFamily="18" charset="0"/>
                    <a:ea typeface="宋体" panose="02010600030101010101" pitchFamily="2" charset="-122"/>
                  </a:rPr>
                  <a:t>时，</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r>
                      <m:rPr>
                        <m:lit/>
                      </m:rP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𝑉</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latin typeface="Times New Roman" panose="02020603050405020304" pitchFamily="18" charset="0"/>
                    <a:ea typeface="宋体" panose="02010600030101010101" pitchFamily="2" charset="-122"/>
                  </a:rPr>
                  <a:t>最后输出</a:t>
                </a:r>
                <a14:m>
                  <m:oMath xmlns:m="http://schemas.openxmlformats.org/officeDocument/2006/math">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oMath>
                </a14:m>
                <a:r>
                  <a:rPr lang="zh-CN" altLang="zh-CN" sz="3200" dirty="0">
                    <a:solidFill>
                      <a:schemeClr val="tx1"/>
                    </a:solidFill>
                    <a:latin typeface="Times New Roman" panose="02020603050405020304" pitchFamily="18" charset="0"/>
                    <a:ea typeface="宋体" panose="02010600030101010101" pitchFamily="2" charset="-122"/>
                  </a:rPr>
                  <a:t>。一般，称</a:t>
                </a:r>
                <a14:m>
                  <m:oMath xmlns:m="http://schemas.openxmlformats.org/officeDocument/2006/math">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𝑃</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𝑄</m:t>
                        </m:r>
                      </m:e>
                    </m:d>
                  </m:oMath>
                </a14:m>
                <a:r>
                  <a:rPr lang="zh-CN" altLang="zh-CN" sz="3200" dirty="0">
                    <a:solidFill>
                      <a:schemeClr val="tx1"/>
                    </a:solidFill>
                    <a:latin typeface="Times New Roman" panose="02020603050405020304" pitchFamily="18" charset="0"/>
                    <a:ea typeface="宋体" panose="02010600030101010101" pitchFamily="2" charset="-122"/>
                  </a:rPr>
                  <a:t>为</a:t>
                </a:r>
                <a:r>
                  <a:rPr lang="zh-CN"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Miller</a:t>
                </a:r>
                <a:r>
                  <a:rPr lang="zh-CN" altLang="zh-CN" sz="3200" dirty="0">
                    <a:solidFill>
                      <a:schemeClr val="tx1"/>
                    </a:solidFill>
                    <a:latin typeface="Times New Roman" panose="02020603050405020304" pitchFamily="18" charset="0"/>
                    <a:ea typeface="宋体" panose="02010600030101010101" pitchFamily="2" charset="-122"/>
                  </a:rPr>
                  <a:t>函数。</a:t>
                </a:r>
                <a:endParaRPr lang="zh-CN" altLang="zh-CN" sz="3200" dirty="0">
                  <a:solidFill>
                    <a:schemeClr val="tx1"/>
                  </a:solidFill>
                  <a:latin typeface="Times New Roman" panose="02020603050405020304" pitchFamily="18" charset="0"/>
                  <a:ea typeface="宋体" panose="02010600030101010101" pitchFamily="2" charset="-122"/>
                </a:endParaRPr>
              </a:p>
              <a:p>
                <a:pPr indent="899795">
                  <a:lnSpc>
                    <a:spcPct val="133000"/>
                  </a:lnSpc>
                  <a:defRPr/>
                </a:pPr>
                <a:endParaRPr lang="en-US" altLang="zh-CN" sz="3200" dirty="0">
                  <a:latin typeface="Times New Roman" panose="02020603050405020304" pitchFamily="18" charset="0"/>
                  <a:ea typeface="宋体" panose="02010600030101010101" pitchFamily="2" charset="-122"/>
                </a:endParaRPr>
              </a:p>
            </p:txBody>
          </p:sp>
        </mc:Choice>
        <mc:Fallback>
          <p:sp>
            <p:nvSpPr>
              <p:cNvPr id="5" name="AutoShape 5"/>
              <p:cNvSpPr txBox="1">
                <a:spLocks noRot="1" noChangeAspect="1" noMove="1" noResize="1" noEditPoints="1" noAdjustHandles="1" noChangeArrowheads="1" noChangeShapeType="1" noTextEdit="1"/>
              </p:cNvSpPr>
              <p:nvPr/>
            </p:nvSpPr>
            <p:spPr>
              <a:xfrm>
                <a:off x="1404730" y="1637423"/>
                <a:ext cx="15478539" cy="7773277"/>
              </a:xfrm>
              <a:prstGeom prst="rect">
                <a:avLst/>
              </a:prstGeom>
              <a:blipFill rotWithShape="1">
                <a:blip r:embed="rId1"/>
                <a:stretch>
                  <a:fillRect l="-1" t="-5" r="3"/>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4"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2" name="TextBox 30"/>
          <p:cNvSpPr txBox="1"/>
          <p:nvPr/>
        </p:nvSpPr>
        <p:spPr>
          <a:xfrm>
            <a:off x="3017520" y="516475"/>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Miller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算法与</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BN</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曲线</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R-ate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9.1.2</a:t>
            </a:r>
            <a:endPar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404730" y="1839284"/>
                <a:ext cx="15478539" cy="7773277"/>
              </a:xfrm>
              <a:prstGeom prst="rect">
                <a:avLst/>
              </a:prstGeom>
              <a:noFill/>
              <a:ln w="19050" cap="flat" cmpd="sng">
                <a:noFill/>
                <a:prstDash val="solid"/>
                <a:round/>
              </a:ln>
            </p:spPr>
            <p:txBody>
              <a:bodyPr vert="horz" wrap="square" lIns="0" tIns="0" rIns="0" bIns="0" rtlCol="0" anchor="t" anchorCtr="0"/>
              <a:lstStyle/>
              <a:p>
                <a:pPr marL="0" indent="899795" algn="l" defTabSz="914400">
                  <a:lnSpc>
                    <a:spcPct val="133000"/>
                  </a:lnSpc>
                  <a:defRPr/>
                </a:pPr>
                <a:r>
                  <a:rPr lang="en-US" sz="3200" b="1"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BN曲线</a:t>
                </a:r>
                <a:endParaRPr lang="en-US" sz="3200" b="1"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zh-CN" sz="3200" dirty="0">
                    <a:solidFill>
                      <a:schemeClr val="tx1"/>
                    </a:solidFill>
                    <a:uFillTx/>
                    <a:latin typeface="Times New Roman" panose="02020603050405020304" pitchFamily="18" charset="0"/>
                    <a:ea typeface="宋体" panose="02010600030101010101" pitchFamily="2" charset="-122"/>
                  </a:rPr>
                  <a:t>BN曲线存在定义在</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𝟚</m:t>
                            </m:r>
                          </m:sup>
                        </m:sSup>
                      </m:sub>
                    </m:sSub>
                  </m:oMath>
                </a14:m>
                <a:r>
                  <a:rPr lang="zh-CN" altLang="zh-CN" sz="3200" dirty="0">
                    <a:solidFill>
                      <a:schemeClr val="tx1"/>
                    </a:solidFill>
                    <a:uFillTx/>
                    <a:latin typeface="Times New Roman" panose="02020603050405020304" pitchFamily="18" charset="0"/>
                    <a:ea typeface="宋体" panose="02010600030101010101" pitchFamily="2" charset="-122"/>
                  </a:rPr>
                  <a:t>上的6次扭曲曲线</a:t>
                </a:r>
                <a14:m>
                  <m:oMath xmlns:m="http://schemas.openxmlformats.org/officeDocument/2006/math">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e>
                      <m: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up>
                    </m:s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3</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𝛽</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oMath>
                </a14:m>
                <a:r>
                  <a:rPr lang="zh-CN" altLang="zh-CN" sz="3200" dirty="0">
                    <a:solidFill>
                      <a:schemeClr val="tx1"/>
                    </a:solidFill>
                    <a:uFillTx/>
                    <a:latin typeface="Times New Roman" panose="02020603050405020304" pitchFamily="18" charset="0"/>
                    <a:ea typeface="宋体" panose="02010600030101010101" pitchFamily="2" charset="-122"/>
                  </a:rPr>
                  <a:t>，其中</a:t>
                </a:r>
                <a14:m>
                  <m:oMath xmlns:m="http://schemas.openxmlformats.org/officeDocument/2006/math">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𝛽</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𝟚</m:t>
                            </m:r>
                          </m:sup>
                        </m:sSup>
                      </m:sub>
                    </m:sSub>
                  </m:oMath>
                </a14:m>
                <a:r>
                  <a:rPr lang="zh-CN" altLang="zh-CN" sz="3200" dirty="0">
                    <a:solidFill>
                      <a:schemeClr val="tx1"/>
                    </a:solidFill>
                    <a:uFillTx/>
                    <a:latin typeface="Times New Roman" panose="02020603050405020304" pitchFamily="18" charset="0"/>
                    <a:ea typeface="宋体" panose="02010600030101010101" pitchFamily="2" charset="-122"/>
                  </a:rPr>
                  <a:t>，并且在</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𝟚</m:t>
                            </m:r>
                          </m:sup>
                        </m:sSup>
                      </m:sub>
                    </m:sSub>
                  </m:oMath>
                </a14:m>
                <a:r>
                  <a:rPr lang="zh-CN" altLang="zh-CN" sz="3200" dirty="0">
                    <a:solidFill>
                      <a:schemeClr val="tx1"/>
                    </a:solidFill>
                    <a:uFillTx/>
                    <a:latin typeface="Times New Roman" panose="02020603050405020304" pitchFamily="18" charset="0"/>
                    <a:ea typeface="宋体" panose="02010600030101010101" pitchFamily="2" charset="-122"/>
                  </a:rPr>
                  <a:t>上既不是二次元也不是三次元，选择</a:t>
                </a:r>
                <a14:m>
                  <m:oMath xmlns:m="http://schemas.openxmlformats.org/officeDocument/2006/math">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𝛽</m:t>
                    </m:r>
                  </m:oMath>
                </a14:m>
                <a:r>
                  <a:rPr lang="zh-CN" altLang="zh-CN" sz="3200" dirty="0">
                    <a:solidFill>
                      <a:schemeClr val="tx1"/>
                    </a:solidFill>
                    <a:uFillTx/>
                    <a:latin typeface="Times New Roman" panose="02020603050405020304" pitchFamily="18" charset="0"/>
                    <a:ea typeface="宋体" panose="02010600030101010101" pitchFamily="2" charset="-122"/>
                  </a:rPr>
                  <a:t>使得</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m:rPr>
                        <m:lit/>
                      </m:rP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up>
                    </m:sSup>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𝟚</m:t>
                                </m:r>
                              </m:sup>
                            </m:sSup>
                          </m:sub>
                        </m:sSub>
                      </m:e>
                    </m:d>
                  </m:oMath>
                </a14:m>
                <a:r>
                  <a:rPr lang="zh-CN" altLang="zh-CN" sz="3200" dirty="0">
                    <a:solidFill>
                      <a:schemeClr val="tx1"/>
                    </a:solidFill>
                    <a:uFillTx/>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𝐺</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oMath>
                </a14:m>
                <a:r>
                  <a:rPr lang="zh-CN" altLang="zh-CN" sz="3200" dirty="0">
                    <a:solidFill>
                      <a:schemeClr val="tx1"/>
                    </a:solidFill>
                    <a:uFillTx/>
                    <a:latin typeface="Times New Roman" panose="02020603050405020304" pitchFamily="18" charset="0"/>
                    <a:ea typeface="宋体" panose="02010600030101010101" pitchFamily="2" charset="-122"/>
                  </a:rPr>
                  <a:t>中点可用扭曲曲线</a:t>
                </a:r>
                <a14:m>
                  <m:oMath xmlns:m="http://schemas.openxmlformats.org/officeDocument/2006/math">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e>
                      <m: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up>
                    </m:sSup>
                  </m:oMath>
                </a14:m>
                <a:r>
                  <a:rPr lang="zh-CN" altLang="zh-CN" sz="3200" dirty="0">
                    <a:solidFill>
                      <a:schemeClr val="tx1"/>
                    </a:solidFill>
                    <a:uFillTx/>
                    <a:latin typeface="Times New Roman" panose="02020603050405020304" pitchFamily="18" charset="0"/>
                    <a:ea typeface="宋体" panose="02010600030101010101" pitchFamily="2" charset="-122"/>
                  </a:rPr>
                  <a:t>上的点来表示，即</a:t>
                </a:r>
                <a14:m>
                  <m:oMath xmlns:m="http://schemas.openxmlformats.org/officeDocument/2006/math">
                    <m:r>
                      <m:rPr>
                        <m:lit/>
                      </m:rP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𝜙</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6</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𝛽</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r>
                              <m:rPr>
                                <m:lit/>
                              </m:rP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3</m:t>
                            </m:r>
                          </m:sup>
                        </m:s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𝛽</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r>
                              <m:rPr>
                                <m:lit/>
                              </m:rP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d>
                    <m:r>
                      <m:rPr>
                        <m:lit/>
                      </m:rP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因此，对的计算限制在</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b>
                        </m:sSub>
                      </m:e>
                    </m:d>
                  </m:oMath>
                </a14:m>
                <a:r>
                  <a:rPr lang="zh-CN" altLang="zh-CN" sz="3200" dirty="0">
                    <a:solidFill>
                      <a:schemeClr val="tx1"/>
                    </a:solidFill>
                    <a:uFillTx/>
                    <a:latin typeface="Times New Roman" panose="02020603050405020304" pitchFamily="18" charset="0"/>
                    <a:ea typeface="宋体" panose="02010600030101010101" pitchFamily="2" charset="-122"/>
                  </a:rPr>
                  <a:t>上点</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oMath>
                </a14:m>
                <a:r>
                  <a:rPr lang="zh-CN" altLang="zh-CN" sz="3200" dirty="0">
                    <a:solidFill>
                      <a:schemeClr val="tx1"/>
                    </a:solidFill>
                    <a:uFillTx/>
                    <a:latin typeface="Times New Roman" panose="02020603050405020304" pitchFamily="18" charset="0"/>
                    <a:ea typeface="宋体" panose="02010600030101010101" pitchFamily="2" charset="-122"/>
                  </a:rPr>
                  <a:t>和</a:t>
                </a:r>
                <a14:m>
                  <m:oMath xmlns:m="http://schemas.openxmlformats.org/officeDocument/2006/math">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e>
                      <m: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up>
                    </m:sSup>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𝟚</m:t>
                                </m:r>
                              </m:sup>
                            </m:sSup>
                          </m:sub>
                        </m:sSub>
                      </m:e>
                    </m:d>
                  </m:oMath>
                </a14:m>
                <a:r>
                  <a:rPr lang="zh-CN" altLang="zh-CN" sz="3200" dirty="0">
                    <a:solidFill>
                      <a:schemeClr val="tx1"/>
                    </a:solidFill>
                    <a:uFillTx/>
                    <a:latin typeface="Times New Roman" panose="02020603050405020304" pitchFamily="18" charset="0"/>
                    <a:ea typeface="宋体" panose="02010600030101010101" pitchFamily="2" charset="-122"/>
                  </a:rPr>
                  <a:t>上点Q'。</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𝜋</m:t>
                        </m:r>
                      </m:e>
                      <m:sub>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b>
                    </m:sSub>
                  </m:oMath>
                </a14:m>
                <a:r>
                  <a:rPr lang="zh-CN" altLang="zh-CN" sz="3200" dirty="0">
                    <a:solidFill>
                      <a:schemeClr val="tx1"/>
                    </a:solidFill>
                    <a:uFillTx/>
                    <a:latin typeface="Times New Roman" panose="02020603050405020304" pitchFamily="18" charset="0"/>
                    <a:ea typeface="宋体" panose="02010600030101010101" pitchFamily="2" charset="-122"/>
                  </a:rPr>
                  <a:t>为</a:t>
                </a:r>
                <a:r>
                  <a:rPr lang="zh-CN" altLang="zh-CN" sz="3200" dirty="0">
                    <a:solidFill>
                      <a:schemeClr val="tx1"/>
                    </a:solidFill>
                    <a:uFillTx/>
                    <a:latin typeface="Times New Roman" panose="02020603050405020304" pitchFamily="18" charset="0"/>
                    <a:ea typeface="宋体" panose="02010600030101010101" pitchFamily="2" charset="-122"/>
                    <a:cs typeface="Times New Roman" panose="02020603050405020304" pitchFamily="18" charset="0"/>
                  </a:rPr>
                  <a:t>Frobenius</a:t>
                </a:r>
                <a:r>
                  <a:rPr lang="zh-CN" altLang="zh-CN" sz="3200" dirty="0">
                    <a:solidFill>
                      <a:schemeClr val="tx1"/>
                    </a:solidFill>
                    <a:uFillTx/>
                    <a:latin typeface="Times New Roman" panose="02020603050405020304" pitchFamily="18" charset="0"/>
                    <a:ea typeface="宋体" panose="02010600030101010101" pitchFamily="2" charset="-122"/>
                  </a:rPr>
                  <a:t>自同态，</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𝜋</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𝜋</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sup>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p>
                        </m:sSup>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𝜋</m:t>
                        </m:r>
                      </m:e>
                      <m:sub>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𝜋</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d>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p>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𝑦</m:t>
                            </m:r>
                          </m:e>
                          <m:sup>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sup>
                        </m:sSup>
                      </m:e>
                    </m:d>
                  </m:oMath>
                </a14:m>
                <a:r>
                  <a:rPr lang="zh-CN" altLang="zh-CN" sz="3200" dirty="0">
                    <a:solidFill>
                      <a:schemeClr val="tx1"/>
                    </a:solidFill>
                    <a:uFillTx/>
                    <a:latin typeface="Times New Roman" panose="02020603050405020304" pitchFamily="18" charset="0"/>
                    <a:ea typeface="宋体" panose="02010600030101010101" pitchFamily="2" charset="-122"/>
                  </a:rPr>
                  <a:t>。</a:t>
                </a:r>
                <a:endParaRPr lang="zh-CN" altLang="zh-CN" sz="3200" dirty="0">
                  <a:solidFill>
                    <a:schemeClr val="tx1"/>
                  </a:solidFill>
                  <a:uFillTx/>
                  <a:latin typeface="Times New Roman" panose="02020603050405020304" pitchFamily="18" charset="0"/>
                  <a:ea typeface="宋体" panose="02010600030101010101" pitchFamily="2" charset="-122"/>
                </a:endParaRPr>
              </a:p>
              <a:p>
                <a:pPr marL="0" indent="899795" algn="l" defTabSz="914400">
                  <a:lnSpc>
                    <a:spcPct val="133000"/>
                  </a:lnSpc>
                  <a:defRPr/>
                </a:pPr>
                <a:endParaRPr lang="zh-CN" altLang="zh-CN" sz="3200" b="1"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p:txBody>
          </p:sp>
        </mc:Choice>
        <mc:Fallback>
          <p:sp>
            <p:nvSpPr>
              <p:cNvPr id="5" name="AutoShape 5"/>
              <p:cNvSpPr txBox="1">
                <a:spLocks noRot="1" noChangeAspect="1" noMove="1" noResize="1" noEditPoints="1" noAdjustHandles="1" noChangeArrowheads="1" noChangeShapeType="1" noTextEdit="1"/>
              </p:cNvSpPr>
              <p:nvPr/>
            </p:nvSpPr>
            <p:spPr>
              <a:xfrm>
                <a:off x="1404730" y="1839284"/>
                <a:ext cx="15478539" cy="7773277"/>
              </a:xfrm>
              <a:prstGeom prst="rect">
                <a:avLst/>
              </a:prstGeom>
              <a:blipFill rotWithShape="1">
                <a:blip r:embed="rId1"/>
                <a:stretch>
                  <a:fillRect l="-1" t="-4" r="3" b="7"/>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4"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2" name="TextBox 30"/>
          <p:cNvSpPr txBox="1"/>
          <p:nvPr/>
        </p:nvSpPr>
        <p:spPr>
          <a:xfrm>
            <a:off x="3017520" y="516475"/>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Miller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算法与</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BN</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曲线</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R-ate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9.1.2</a:t>
            </a:r>
            <a:endPar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404730" y="1839284"/>
                <a:ext cx="15478539" cy="7773277"/>
              </a:xfrm>
              <a:prstGeom prst="rect">
                <a:avLst/>
              </a:prstGeom>
              <a:noFill/>
              <a:ln w="19050" cap="flat" cmpd="sng">
                <a:noFill/>
                <a:prstDash val="solid"/>
                <a:round/>
              </a:ln>
            </p:spPr>
            <p:txBody>
              <a:bodyPr vert="horz" wrap="square" lIns="0" tIns="0" rIns="0" bIns="0" rtlCol="0" anchor="t" anchorCtr="0"/>
              <a:lstStyle/>
              <a:p>
                <a:pPr marL="0" indent="899795" algn="l" defTabSz="914400">
                  <a:lnSpc>
                    <a:spcPct val="133000"/>
                  </a:lnSpc>
                  <a:defRPr/>
                </a:pPr>
                <a:r>
                  <a:rPr lang="en-US" sz="3200" b="1"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BN曲线</a:t>
                </a:r>
                <a:r>
                  <a:rPr lang="zh-CN" altLang="en-US" sz="3200" b="1" i="0" dirty="0">
                    <a:solidFill>
                      <a:schemeClr val="tx1"/>
                    </a:solidFill>
                    <a:uFillTx/>
                    <a:latin typeface="Times New Roman" panose="02020603050405020304" pitchFamily="18" charset="0"/>
                    <a:ea typeface="宋体" panose="02010600030101010101" pitchFamily="2" charset="-122"/>
                    <a:cs typeface="Zhuque Fangsong"/>
                    <a:sym typeface="Zhuque Fangsong"/>
                  </a:rPr>
                  <a:t>上</a:t>
                </a:r>
                <a:r>
                  <a:rPr lang="en-US" altLang="zh-CN" sz="3200" b="1" i="0" dirty="0">
                    <a:solidFill>
                      <a:schemeClr val="tx1"/>
                    </a:solidFill>
                    <a:uFillTx/>
                    <a:latin typeface="Times New Roman" panose="02020603050405020304" pitchFamily="18" charset="0"/>
                    <a:ea typeface="宋体" panose="02010600030101010101" pitchFamily="2" charset="-122"/>
                    <a:cs typeface="Zhuque Fangsong"/>
                    <a:sym typeface="Zhuque Fangsong"/>
                  </a:rPr>
                  <a:t>R-ate</a:t>
                </a:r>
                <a:r>
                  <a:rPr lang="zh-CN" altLang="en-US" sz="3200" b="1" i="0" dirty="0">
                    <a:solidFill>
                      <a:schemeClr val="tx1"/>
                    </a:solidFill>
                    <a:uFillTx/>
                    <a:latin typeface="Times New Roman" panose="02020603050405020304" pitchFamily="18" charset="0"/>
                    <a:ea typeface="宋体" panose="02010600030101010101" pitchFamily="2" charset="-122"/>
                    <a:cs typeface="Zhuque Fangsong"/>
                    <a:sym typeface="Zhuque Fangsong"/>
                  </a:rPr>
                  <a:t>的计算步骤</a:t>
                </a:r>
                <a:endParaRPr lang="en-US" sz="3200" b="1"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zh-CN" sz="3200" dirty="0">
                    <a:solidFill>
                      <a:schemeClr val="tx1"/>
                    </a:solidFill>
                    <a:uFillTx/>
                    <a:latin typeface="Times New Roman" panose="02020603050405020304" pitchFamily="18" charset="0"/>
                    <a:ea typeface="宋体" panose="02010600030101010101" pitchFamily="2" charset="-122"/>
                  </a:rPr>
                  <a:t>BN曲线上R-ate对的计算步骤为：首先确定输入数据</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b>
                        </m:sSub>
                      </m:e>
                    </m:d>
                    <m:d>
                      <m:dPr>
                        <m:begChr m:val="["/>
                        <m:endChr m:val="]"/>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𝐸</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up>
                    </m:sSup>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𝐹</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𝟚</m:t>
                                </m:r>
                              </m:sup>
                            </m:sSup>
                          </m:sub>
                        </m:sSub>
                      </m:e>
                    </m:d>
                    <m:d>
                      <m:dPr>
                        <m:begChr m:val="["/>
                        <m:endChr m:val="]"/>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6</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𝑡</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其次令</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将</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oMath>
                </a14:m>
                <a:r>
                  <a:rPr lang="zh-CN" altLang="zh-CN" sz="3200" dirty="0">
                    <a:solidFill>
                      <a:schemeClr val="tx1"/>
                    </a:solidFill>
                    <a:uFillTx/>
                    <a:latin typeface="Times New Roman" panose="02020603050405020304" pitchFamily="18" charset="0"/>
                    <a:ea typeface="宋体" panose="02010600030101010101" pitchFamily="2" charset="-122"/>
                  </a:rPr>
                  <a:t>转化为二进制数，并从右起第二位开始循环计算，若该位为1，则</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否则</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d>
                  </m:oMath>
                </a14:m>
                <a:r>
                  <a:rPr lang="zh-CN" altLang="zh-CN" sz="3200" dirty="0">
                    <a:solidFill>
                      <a:schemeClr val="tx1"/>
                    </a:solidFill>
                    <a:uFillTx/>
                    <a:latin typeface="Times New Roman" panose="02020603050405020304" pitchFamily="18" charset="0"/>
                    <a:ea typeface="宋体" panose="02010600030101010101" pitchFamily="2" charset="-122"/>
                  </a:rPr>
                  <a:t>，</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e>
                    </m:d>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oMath>
                </a14:m>
                <a:r>
                  <a:rPr lang="zh-CN" altLang="zh-CN" sz="3200" dirty="0">
                    <a:solidFill>
                      <a:schemeClr val="tx1"/>
                    </a:solidFill>
                    <a:uFillTx/>
                    <a:latin typeface="Times New Roman" panose="02020603050405020304" pitchFamily="18" charset="0"/>
                    <a:ea typeface="宋体" panose="02010600030101010101" pitchFamily="2" charset="-122"/>
                  </a:rPr>
                  <a:t>；再次令</a:t>
                </a: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𝜋</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𝜋</m:t>
                        </m:r>
                      </m:e>
                      <m:sub>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p>
                        </m:sSup>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d>
                  </m:oMath>
                </a14:m>
                <a:r>
                  <a:rPr lang="zh-CN" altLang="zh-CN" sz="3200" dirty="0">
                    <a:solidFill>
                      <a:schemeClr val="tx1"/>
                    </a:solidFill>
                    <a:uFillTx/>
                    <a:latin typeface="Times New Roman" panose="02020603050405020304" pitchFamily="18" charset="0"/>
                    <a:ea typeface="宋体" panose="02010600030101010101" pitchFamily="2" charset="-122"/>
                  </a:rPr>
                  <a:t>，计算</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g</m:t>
                        </m:r>
                      </m:e>
                      <m:sub>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T</m:t>
                        </m:r>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Q</m:t>
                            </m:r>
                          </m:e>
                          <m:sub>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sub>
                    </m:sSub>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a14:m>
                <a:r>
                  <a:rPr lang="zh-CN" altLang="zh-CN" sz="3200" dirty="0">
                    <a:solidFill>
                      <a:schemeClr val="tx1"/>
                    </a:solidFill>
                    <a:uFillTx/>
                    <a:latin typeface="Times New Roman" panose="02020603050405020304" pitchFamily="18" charset="0"/>
                    <a:ea typeface="宋体" panose="02010600030101010101" pitchFamily="2" charset="-122"/>
                  </a:rPr>
                  <a:t>然后计算</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g</m:t>
                        </m:r>
                      </m:e>
                      <m:sub>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T</m:t>
                        </m:r>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Q</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b>
                        </m:sSub>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𝑇</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oMath>
                </a14:m>
                <a:r>
                  <a:rPr lang="zh-CN" altLang="zh-CN" sz="3200" dirty="0">
                    <a:solidFill>
                      <a:schemeClr val="tx1"/>
                    </a:solidFill>
                    <a:uFillTx/>
                    <a:latin typeface="Times New Roman" panose="02020603050405020304" pitchFamily="18" charset="0"/>
                    <a:ea typeface="宋体" panose="02010600030101010101" pitchFamily="2" charset="-122"/>
                  </a:rPr>
                  <a:t>；最后计算</a:t>
                </a: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𝑓</m:t>
                        </m:r>
                      </m:e>
                      <m:sup>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𝑞</m:t>
                                </m:r>
                              </m:e>
                              <m: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12</m:t>
                                </m:r>
                              </m:sup>
                            </m:sSup>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e>
                        </m:d>
                        <m:r>
                          <m:rPr>
                            <m:lit/>
                          </m:rP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sup>
                    </m:sSup>
                  </m:oMath>
                </a14:m>
                <a:r>
                  <a:rPr lang="zh-CN" altLang="zh-CN" sz="3200" dirty="0">
                    <a:solidFill>
                      <a:schemeClr val="tx1"/>
                    </a:solidFill>
                    <a:uFillTx/>
                    <a:latin typeface="Times New Roman" panose="02020603050405020304" pitchFamily="18" charset="0"/>
                    <a:ea typeface="宋体" panose="02010600030101010101" pitchFamily="2" charset="-122"/>
                  </a:rPr>
                  <a:t>并输出结果。</a:t>
                </a:r>
                <a:endParaRPr lang="zh-CN" altLang="zh-CN" sz="3200" dirty="0">
                  <a:solidFill>
                    <a:schemeClr val="tx1"/>
                  </a:solidFill>
                  <a:uFillTx/>
                  <a:latin typeface="Times New Roman" panose="02020603050405020304" pitchFamily="18" charset="0"/>
                  <a:ea typeface="宋体" panose="02010600030101010101" pitchFamily="2" charset="-122"/>
                </a:endParaRPr>
              </a:p>
              <a:p>
                <a:pPr marL="0" indent="899795" algn="l" defTabSz="914400">
                  <a:lnSpc>
                    <a:spcPct val="133000"/>
                  </a:lnSpc>
                  <a:defRPr/>
                </a:pPr>
                <a:endParaRPr lang="zh-CN" altLang="zh-CN" sz="3200" b="1"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p:txBody>
          </p:sp>
        </mc:Choice>
        <mc:Fallback>
          <p:sp>
            <p:nvSpPr>
              <p:cNvPr id="5" name="AutoShape 5"/>
              <p:cNvSpPr txBox="1">
                <a:spLocks noRot="1" noChangeAspect="1" noMove="1" noResize="1" noEditPoints="1" noAdjustHandles="1" noChangeArrowheads="1" noChangeShapeType="1" noTextEdit="1"/>
              </p:cNvSpPr>
              <p:nvPr/>
            </p:nvSpPr>
            <p:spPr>
              <a:xfrm>
                <a:off x="1404730" y="1839284"/>
                <a:ext cx="15478539" cy="7773277"/>
              </a:xfrm>
              <a:prstGeom prst="rect">
                <a:avLst/>
              </a:prstGeom>
              <a:blipFill rotWithShape="1">
                <a:blip r:embed="rId1"/>
                <a:stretch>
                  <a:fillRect l="-1" t="-4" r="3" b="7"/>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4"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2" name="TextBox 30"/>
          <p:cNvSpPr txBox="1"/>
          <p:nvPr/>
        </p:nvSpPr>
        <p:spPr>
          <a:xfrm>
            <a:off x="3017520" y="516475"/>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Miller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算法与</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BN</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曲线</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R-ate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AutoShape 4"/>
          <p:cNvSpPr txBox="1"/>
          <p:nvPr/>
        </p:nvSpPr>
        <p:spPr>
          <a:xfrm>
            <a:off x="1216848" y="516419"/>
            <a:ext cx="1907352" cy="842645"/>
          </a:xfrm>
          <a:prstGeom prst="rect">
            <a:avLst/>
          </a:prstGeom>
        </p:spPr>
        <p:txBody>
          <a:bodyPr vert="horz" wrap="square" lIns="0" tIns="0" rIns="0" bIns="0" rtlCol="0" anchor="t" anchorCtr="0">
            <a:spAutoFit/>
          </a:bodyPr>
          <a:lstStyle/>
          <a:p>
            <a:pPr lvl="0" algn="ctr">
              <a:lnSpc>
                <a:spcPts val="5600"/>
              </a:lnSpc>
              <a:buSzTx/>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9.1.2</a:t>
            </a:r>
            <a:endPar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216848" y="1780302"/>
                <a:ext cx="15478539" cy="7773277"/>
              </a:xfrm>
              <a:prstGeom prst="rect">
                <a:avLst/>
              </a:prstGeom>
              <a:noFill/>
              <a:ln w="19050" cap="flat" cmpd="sng">
                <a:noFill/>
                <a:prstDash val="solid"/>
                <a:round/>
              </a:ln>
            </p:spPr>
            <p:txBody>
              <a:bodyPr vert="horz" wrap="square" lIns="0" tIns="0" rIns="0" bIns="0" rtlCol="0" anchor="t" anchorCtr="0"/>
              <a:lstStyle/>
              <a:p>
                <a:pPr marL="0" indent="899795" algn="l" defTabSz="914400">
                  <a:lnSpc>
                    <a:spcPct val="133000"/>
                  </a:lnSpc>
                  <a:defRPr/>
                </a:pPr>
                <a:r>
                  <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rPr>
                  <a:t>1</a:t>
                </a:r>
                <a:r>
                  <a:rPr lang="zh-CN" altLang="en-US" sz="3200" b="1" i="0" dirty="0">
                    <a:solidFill>
                      <a:schemeClr val="tx1"/>
                    </a:solidFill>
                    <a:latin typeface="Times New Roman" panose="02020603050405020304" pitchFamily="18" charset="0"/>
                    <a:ea typeface="宋体" panose="02010600030101010101" pitchFamily="2" charset="-122"/>
                    <a:cs typeface="Zhuque Fangsong"/>
                    <a:sym typeface="Zhuque Fangsong"/>
                  </a:rPr>
                  <a:t>、密码杂凑函数</a:t>
                </a:r>
                <a14:m>
                  <m:oMath xmlns:m="http://schemas.openxmlformats.org/officeDocument/2006/math">
                    <m:sSub>
                      <m:sSubPr>
                        <m:ctrlPr>
                          <a:rPr lang="en-US" altLang="zh-CN" sz="3200" b="1" i="1" smtClean="0">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m:rPr>
                            <m:sty m:val="p"/>
                          </m:rPr>
                          <a:rPr lang="en-US" altLang="zh-CN" sz="3200" b="1" i="1" smtClean="0">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t>H</m:t>
                        </m:r>
                      </m:e>
                      <m:sub>
                        <m:r>
                          <m:rPr>
                            <m:sty m:val="p"/>
                          </m:rPr>
                          <a:rPr lang="en-US" altLang="zh-CN" sz="3200" b="1" i="1" smtClean="0">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t>V</m:t>
                        </m:r>
                      </m:sub>
                    </m:sSub>
                  </m:oMath>
                </a14:m>
                <a:r>
                  <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rPr>
                  <a:t>()</a:t>
                </a:r>
                <a:endParaRPr lang="en-US" sz="3200" b="1" i="0" dirty="0">
                  <a:solidFill>
                    <a:schemeClr val="tx1"/>
                  </a:solidFill>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en-US" sz="3200" dirty="0">
                    <a:solidFill>
                      <a:schemeClr val="tx1"/>
                    </a:solidFill>
                    <a:latin typeface="Times New Roman" panose="02020603050405020304" pitchFamily="18" charset="0"/>
                    <a:ea typeface="宋体" panose="02010600030101010101" pitchFamily="2" charset="-122"/>
                    <a:cs typeface="Zhuque Fangsong"/>
                    <a:sym typeface="Zhuque Fangsong"/>
                  </a:rPr>
                  <a:t>密码杂凑函数</a:t>
                </a:r>
                <a14:m>
                  <m:oMath xmlns:m="http://schemas.openxmlformats.org/officeDocument/2006/math">
                    <m:sSub>
                      <m:sSubPr>
                        <m:ctrlPr>
                          <a:rPr lang="en-US" altLang="zh-CN" sz="3200" i="1">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b="0" i="1">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t>𝐻</m:t>
                        </m:r>
                      </m:e>
                      <m:sub>
                        <m:r>
                          <a:rPr lang="en-US" altLang="zh-CN" sz="3200" b="0" i="1">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t>𝑉</m:t>
                        </m:r>
                      </m:sub>
                    </m:sSub>
                  </m:oMath>
                </a14:m>
                <a:r>
                  <a:rPr lang="en-US" altLang="zh-CN" sz="3200" dirty="0">
                    <a:solidFill>
                      <a:schemeClr val="tx1"/>
                    </a:solidFill>
                    <a:latin typeface="Times New Roman" panose="02020603050405020304" pitchFamily="18" charset="0"/>
                    <a:ea typeface="宋体" panose="02010600030101010101" pitchFamily="2" charset="-122"/>
                    <a:cs typeface="Zhuque Fangsong"/>
                    <a:sym typeface="Zhuque Fangsong"/>
                  </a:rPr>
                  <a:t>()</a:t>
                </a:r>
                <a:r>
                  <a:rPr lang="zh-CN" altLang="en-US" sz="3200" dirty="0">
                    <a:solidFill>
                      <a:schemeClr val="tx1"/>
                    </a:solidFill>
                    <a:latin typeface="Times New Roman" panose="02020603050405020304" pitchFamily="18" charset="0"/>
                    <a:ea typeface="宋体" panose="02010600030101010101" pitchFamily="2" charset="-122"/>
                    <a:cs typeface="Zhuque Fangsong"/>
                    <a:sym typeface="Zhuque Fangsong"/>
                  </a:rPr>
                  <a:t>的输出是长度恰为</a:t>
                </a:r>
                <a14:m>
                  <m:oMath xmlns:m="http://schemas.openxmlformats.org/officeDocument/2006/math">
                    <m:r>
                      <a:rPr lang="en-US"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t>𝑣</m:t>
                    </m:r>
                  </m:oMath>
                </a14:m>
                <a:r>
                  <a:rPr lang="en-US" altLang="zh-CN" sz="3200" dirty="0">
                    <a:solidFill>
                      <a:schemeClr val="tx1"/>
                    </a:solidFill>
                    <a:latin typeface="Times New Roman" panose="02020603050405020304" pitchFamily="18" charset="0"/>
                    <a:ea typeface="宋体" panose="02010600030101010101" pitchFamily="2" charset="-122"/>
                    <a:cs typeface="Zhuque Fangsong"/>
                    <a:sym typeface="Zhuque Fangsong"/>
                  </a:rPr>
                  <a:t>bit</a:t>
                </a:r>
                <a:r>
                  <a:rPr lang="zh-CN" altLang="en-US" sz="3200" dirty="0">
                    <a:solidFill>
                      <a:schemeClr val="tx1"/>
                    </a:solidFill>
                    <a:latin typeface="Times New Roman" panose="02020603050405020304" pitchFamily="18" charset="0"/>
                    <a:ea typeface="宋体" panose="02010600030101010101" pitchFamily="2" charset="-122"/>
                    <a:cs typeface="Zhuque Fangsong"/>
                    <a:sym typeface="Zhuque Fangsong"/>
                  </a:rPr>
                  <a:t>的杂凑值。</a:t>
                </a: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Zhuque Fangsong"/>
                  </a:rPr>
                  <a:t>SM9</a:t>
                </a:r>
                <a:r>
                  <a:rPr lang="zh-CN" altLang="en-US" sz="3200" dirty="0">
                    <a:solidFill>
                      <a:schemeClr val="tx1"/>
                    </a:solidFill>
                    <a:latin typeface="Times New Roman" panose="02020603050405020304" pitchFamily="18" charset="0"/>
                    <a:ea typeface="宋体" panose="02010600030101010101" pitchFamily="2" charset="-122"/>
                    <a:cs typeface="Zhuque Fangsong"/>
                    <a:sym typeface="Zhuque Fangsong"/>
                  </a:rPr>
                  <a:t>标识密码算法中使用国家密码管理局批准的密码杂凑函数，如</a:t>
                </a: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Zhuque Fangsong"/>
                  </a:rPr>
                  <a:t>SM3</a:t>
                </a:r>
                <a:r>
                  <a:rPr lang="zh-CN" altLang="en-US" sz="3200" dirty="0">
                    <a:solidFill>
                      <a:schemeClr val="tx1"/>
                    </a:solidFill>
                    <a:latin typeface="Times New Roman" panose="02020603050405020304" pitchFamily="18" charset="0"/>
                    <a:ea typeface="宋体" panose="02010600030101010101" pitchFamily="2" charset="-122"/>
                    <a:cs typeface="Zhuque Fangsong"/>
                    <a:sym typeface="Zhuque Fangsong"/>
                  </a:rPr>
                  <a:t>密码杂凑算法。</a:t>
                </a:r>
                <a:endParaRPr lang="en-US" sz="3200" i="0" dirty="0">
                  <a:solidFill>
                    <a:schemeClr val="tx1"/>
                  </a:solidFill>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en-US" sz="3200" b="1" dirty="0">
                    <a:solidFill>
                      <a:schemeClr val="tx1"/>
                    </a:solidFill>
                    <a:latin typeface="Times New Roman" panose="02020603050405020304" pitchFamily="18" charset="0"/>
                    <a:ea typeface="宋体" panose="02010600030101010101" pitchFamily="2" charset="-122"/>
                    <a:cs typeface="Zhuque Fangsong"/>
                    <a:sym typeface="Zhuque Fangsong"/>
                  </a:rPr>
                  <a:t>2</a:t>
                </a:r>
                <a:r>
                  <a:rPr lang="zh-CN" altLang="en-US" sz="3200" b="1" dirty="0">
                    <a:solidFill>
                      <a:schemeClr val="tx1"/>
                    </a:solidFill>
                    <a:latin typeface="Times New Roman" panose="02020603050405020304" pitchFamily="18" charset="0"/>
                    <a:ea typeface="宋体" panose="02010600030101010101" pitchFamily="2" charset="-122"/>
                    <a:cs typeface="Zhuque Fangsong"/>
                    <a:sym typeface="Zhuque Fangsong"/>
                  </a:rPr>
                  <a:t>、密码函数</a:t>
                </a:r>
                <a14:m>
                  <m:oMath xmlns:m="http://schemas.openxmlformats.org/officeDocument/2006/math">
                    <m:sSub>
                      <m:sSubPr>
                        <m:ctrlPr>
                          <a:rPr lang="en-US" altLang="zh-CN" sz="3200" b="1" i="1">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m:rPr>
                            <m:sty m:val="p"/>
                          </m:rPr>
                          <a:rPr lang="en-US" altLang="zh-CN" sz="3200" b="1" i="1">
                            <a:solidFill>
                              <a:schemeClr val="tx1"/>
                            </a:solidFill>
                            <a:latin typeface="Cambria Math" panose="02040503050406030204" pitchFamily="18" charset="0"/>
                            <a:ea typeface="宋体" panose="02010600030101010101" pitchFamily="2" charset="-122"/>
                            <a:cs typeface="Cambria Math" panose="02040503050406030204" pitchFamily="18" charset="0"/>
                            <a:sym typeface="Zhuque Fangsong"/>
                          </a:rPr>
                          <m:t>H</m:t>
                        </m:r>
                      </m:e>
                      <m:sub>
                        <m:r>
                          <a:rPr lang="en-US" altLang="zh-CN" sz="3200" b="1" i="1" smtClean="0">
                            <a:solidFill>
                              <a:schemeClr val="tx1"/>
                            </a:solidFill>
                            <a:latin typeface="Cambria Math" panose="02040503050406030204" pitchFamily="18" charset="0"/>
                            <a:ea typeface="MS Mincho" charset="0"/>
                            <a:cs typeface="Cambria Math" panose="02040503050406030204" pitchFamily="18" charset="0"/>
                            <a:sym typeface="Zhuque Fangsong"/>
                          </a:rPr>
                          <m:t>1</m:t>
                        </m:r>
                      </m:sub>
                    </m:sSub>
                  </m:oMath>
                </a14:m>
                <a:r>
                  <a:rPr lang="en-US" altLang="zh-CN" sz="3200" b="1" dirty="0">
                    <a:solidFill>
                      <a:schemeClr val="tx1"/>
                    </a:solidFill>
                    <a:latin typeface="Times New Roman" panose="02020603050405020304" pitchFamily="18" charset="0"/>
                    <a:ea typeface="宋体" panose="02010600030101010101" pitchFamily="2" charset="-122"/>
                    <a:cs typeface="Zhuque Fangsong"/>
                    <a:sym typeface="Zhuque Fangsong"/>
                  </a:rPr>
                  <a:t>()</a:t>
                </a:r>
                <a:endParaRPr lang="en-US" altLang="zh-CN" sz="3200" b="1" dirty="0">
                  <a:solidFill>
                    <a:schemeClr val="tx1"/>
                  </a:solidFill>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zh-CN" sz="3200" dirty="0">
                    <a:solidFill>
                      <a:schemeClr val="tx1"/>
                    </a:solidFill>
                    <a:latin typeface="Times New Roman" panose="02020603050405020304" pitchFamily="18" charset="0"/>
                    <a:ea typeface="宋体" panose="02010600030101010101" pitchFamily="2" charset="-122"/>
                  </a:rPr>
                  <a:t>密码</a:t>
                </a:r>
                <a14:m>
                  <m:oMath xmlns:m="http://schemas.openxmlformats.org/officeDocument/2006/math">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函数</m:t>
                    </m:r>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𝐻</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𝑍</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e>
                    </m:d>
                  </m:oMath>
                </a14:m>
                <a:r>
                  <a:rPr lang="zh-CN" altLang="zh-CN" sz="3200" dirty="0">
                    <a:solidFill>
                      <a:schemeClr val="tx1"/>
                    </a:solidFill>
                    <a:latin typeface="Times New Roman" panose="02020603050405020304" pitchFamily="18" charset="0"/>
                    <a:ea typeface="宋体" panose="02010600030101010101" pitchFamily="2" charset="-122"/>
                  </a:rPr>
                  <a:t>的输入为比特</a:t>
                </a:r>
                <a14:m>
                  <m:oMath xmlns:m="http://schemas.openxmlformats.org/officeDocument/2006/math">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串</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𝑍</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和整数</m:t>
                    </m:r>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oMath>
                </a14:m>
                <a:r>
                  <a:rPr lang="zh-CN" altLang="zh-CN" sz="3200" dirty="0">
                    <a:solidFill>
                      <a:schemeClr val="tx1"/>
                    </a:solidFill>
                    <a:latin typeface="Times New Roman" panose="02020603050405020304" pitchFamily="18" charset="0"/>
                    <a:ea typeface="宋体" panose="02010600030101010101" pitchFamily="2" charset="-122"/>
                  </a:rPr>
                  <a:t>，输出为一个整数</a:t>
                </a:r>
                <a14:m>
                  <m:oMath xmlns:m="http://schemas.openxmlformats.org/officeDocument/2006/math">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ℎ</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sub>
                    </m:s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e>
                    </m:d>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𝐻</m:t>
                        </m:r>
                      </m:e>
                      <m:sub>
                        <m:r>
                          <a:rPr lang="zh-CN" altLang="zh-CN" sz="3200" i="1" dirty="0">
                            <a:solidFill>
                              <a:schemeClr val="tx1"/>
                            </a:solidFill>
                            <a:latin typeface="Cambria Math" panose="02040503050406030204" pitchFamily="18" charset="0"/>
                            <a:ea typeface="MS Mincho" charset="0"/>
                            <a:cs typeface="Cambria Math" panose="02040503050406030204" pitchFamily="18" charset="0"/>
                          </a:rPr>
                          <m:t>1</m:t>
                        </m:r>
                      </m:sub>
                    </m:sSub>
                    <m:d>
                      <m:dPr>
                        <m:ctrlP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𝑍</m:t>
                        </m:r>
                        <m:r>
                          <a:rPr lang="zh-CN"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𝑛</m:t>
                        </m:r>
                      </m:e>
                    </m:d>
                  </m:oMath>
                </a14:m>
                <a:r>
                  <a:rPr lang="zh-CN" altLang="zh-CN" sz="3200" dirty="0">
                    <a:solidFill>
                      <a:schemeClr val="tx1"/>
                    </a:solidFill>
                    <a:latin typeface="Times New Roman" panose="02020603050405020304" pitchFamily="18" charset="0"/>
                    <a:ea typeface="宋体" panose="02010600030101010101" pitchFamily="2" charset="-122"/>
                  </a:rPr>
                  <a:t>需要调用密码杂凑</a:t>
                </a:r>
                <a14:m>
                  <m:oMath xmlns:m="http://schemas.openxmlformats.org/officeDocument/2006/math">
                    <m:r>
                      <a:rPr lang="zh-CN" altLang="zh-CN" sz="3200" i="1" dirty="0" smtClean="0">
                        <a:solidFill>
                          <a:schemeClr val="tx1"/>
                        </a:solidFill>
                        <a:latin typeface="Cambria Math" panose="02040503050406030204" pitchFamily="18" charset="0"/>
                        <a:ea typeface="MS Mincho" charset="0"/>
                        <a:cs typeface="Cambria Math" panose="02040503050406030204" pitchFamily="18" charset="0"/>
                      </a:rPr>
                      <m:t>函数</m:t>
                    </m:r>
                    <m:sSub>
                      <m:sSub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𝐻</m:t>
                        </m:r>
                      </m:e>
                      <m:sub>
                        <m:r>
                          <a:rPr lang="zh-CN" altLang="zh-CN" sz="3200" i="1" dirty="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sub>
                    </m:sSub>
                    <m:r>
                      <a:rPr lang="en-US" altLang="zh-CN" sz="3200" i="1" dirty="0">
                        <a:solidFill>
                          <a:schemeClr val="tx1"/>
                        </a:solidFill>
                        <a:latin typeface="Cambria Math" panose="02040503050406030204" pitchFamily="18" charset="0"/>
                        <a:ea typeface="MS Mincho" charset="0"/>
                        <a:cs typeface="Cambria Math" panose="02040503050406030204" pitchFamily="18" charset="0"/>
                      </a:rPr>
                      <m:t>()</m:t>
                    </m:r>
                    <m:r>
                      <a:rPr lang="zh-CN" altLang="en-US" sz="3200" i="1" dirty="0">
                        <a:solidFill>
                          <a:schemeClr val="tx1"/>
                        </a:solidFill>
                        <a:latin typeface="Cambria Math" panose="02040503050406030204" pitchFamily="18" charset="0"/>
                        <a:ea typeface="MS Mincho" charset="0"/>
                        <a:cs typeface="Cambria Math" panose="02040503050406030204" pitchFamily="18" charset="0"/>
                      </a:rPr>
                      <m:t>。</m:t>
                    </m:r>
                  </m:oMath>
                </a14:m>
                <a:endParaRPr lang="en-US" altLang="zh-CN" sz="3200" dirty="0">
                  <a:solidFill>
                    <a:schemeClr val="tx1"/>
                  </a:solidFill>
                  <a:latin typeface="Times New Roman" panose="02020603050405020304" pitchFamily="18" charset="0"/>
                  <a:ea typeface="宋体" panose="02010600030101010101" pitchFamily="2" charset="-122"/>
                </a:endParaRPr>
              </a:p>
              <a:p>
                <a:pPr indent="899795">
                  <a:lnSpc>
                    <a:spcPct val="133000"/>
                  </a:lnSpc>
                  <a:defRPr/>
                </a:pPr>
                <a:r>
                  <a:rPr lang="en-US" altLang="zh-CN" sz="3200" b="1" dirty="0">
                    <a:solidFill>
                      <a:schemeClr val="tx1"/>
                    </a:solidFill>
                    <a:latin typeface="Times New Roman" panose="02020603050405020304" pitchFamily="18" charset="0"/>
                    <a:ea typeface="宋体" panose="02010600030101010101" pitchFamily="2" charset="-122"/>
                    <a:cs typeface="Zhuque Fangsong"/>
                    <a:sym typeface="Zhuque Fangsong"/>
                  </a:rPr>
                  <a:t>3</a:t>
                </a:r>
                <a:r>
                  <a:rPr lang="zh-CN" altLang="en-US" sz="3200" b="1" dirty="0">
                    <a:solidFill>
                      <a:schemeClr val="tx1"/>
                    </a:solidFill>
                    <a:latin typeface="Times New Roman" panose="02020603050405020304" pitchFamily="18" charset="0"/>
                    <a:ea typeface="宋体" panose="02010600030101010101" pitchFamily="2" charset="-122"/>
                    <a:cs typeface="Zhuque Fangsong"/>
                    <a:sym typeface="Zhuque Fangsong"/>
                  </a:rPr>
                  <a:t>、密钥派生函数</a:t>
                </a:r>
                <a:endParaRPr lang="en-US" altLang="zh-CN" sz="3200" b="1" dirty="0">
                  <a:solidFill>
                    <a:schemeClr val="tx1"/>
                  </a:solidFill>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zh-CN" sz="3200" dirty="0">
                    <a:solidFill>
                      <a:schemeClr val="tx1"/>
                    </a:solidFill>
                    <a:latin typeface="Times New Roman" panose="02020603050405020304" pitchFamily="18" charset="0"/>
                    <a:ea typeface="宋体" panose="02010600030101010101" pitchFamily="2" charset="-122"/>
                  </a:rPr>
                  <a:t>密钥派生函数</a:t>
                </a:r>
                <a14:m>
                  <m:oMath xmlns:m="http://schemas.openxmlformats.org/officeDocument/2006/math">
                    <m:r>
                      <m:rPr>
                        <m:nor/>
                      </m:rPr>
                      <a:rPr lang="zh-CN" altLang="zh-CN" sz="3200" i="0"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KDF</m:t>
                    </m:r>
                    <m:d>
                      <m:dPr>
                        <m:ctrlPr>
                          <a:rPr lang="zh-CN" altLang="zh-CN" sz="320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𝑍</m:t>
                        </m:r>
                        <m:r>
                          <a:rPr lang="zh-CN" altLang="zh-CN" sz="3200" b="0" i="1" dirty="0" smtClean="0">
                            <a:solidFill>
                              <a:schemeClr val="tx1"/>
                            </a:solidFill>
                            <a:latin typeface="Cambria Math" panose="02040503050406030204" pitchFamily="18" charset="0"/>
                            <a:ea typeface="MS Mincho" charset="0"/>
                            <a:cs typeface="Cambria Math" panose="02040503050406030204" pitchFamily="18" charset="0"/>
                          </a:rPr>
                          <m:t>,</m:t>
                        </m:r>
                        <m:r>
                          <m:rPr>
                            <m:nor/>
                          </m:rPr>
                          <a:rPr lang="zh-CN" altLang="zh-CN" sz="3200" i="0" dirty="0"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klen</m:t>
                        </m:r>
                      </m:e>
                    </m:d>
                  </m:oMath>
                </a14:m>
                <a:r>
                  <a:rPr lang="zh-CN" altLang="zh-CN" sz="3200" dirty="0">
                    <a:solidFill>
                      <a:schemeClr val="tx1"/>
                    </a:solidFill>
                    <a:latin typeface="Times New Roman" panose="02020603050405020304" pitchFamily="18" charset="0"/>
                    <a:ea typeface="宋体" panose="02010600030101010101" pitchFamily="2" charset="-122"/>
                  </a:rPr>
                  <a:t>参考</a:t>
                </a:r>
                <a:r>
                  <a:rPr lang="zh-CN"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SM2</a:t>
                </a:r>
                <a:r>
                  <a:rPr lang="zh-CN" altLang="zh-CN" sz="3200" dirty="0">
                    <a:solidFill>
                      <a:schemeClr val="tx1"/>
                    </a:solidFill>
                    <a:latin typeface="Times New Roman" panose="02020603050405020304" pitchFamily="18" charset="0"/>
                    <a:ea typeface="宋体" panose="02010600030101010101" pitchFamily="2" charset="-122"/>
                  </a:rPr>
                  <a:t>密钥派生函数。</a:t>
                </a:r>
                <a:endParaRPr lang="zh-CN" altLang="zh-CN" sz="3200" dirty="0">
                  <a:solidFill>
                    <a:schemeClr val="tx1"/>
                  </a:solidFill>
                  <a:latin typeface="Times New Roman" panose="02020603050405020304" pitchFamily="18" charset="0"/>
                  <a:ea typeface="宋体" panose="02010600030101010101" pitchFamily="2" charset="-122"/>
                </a:endParaRPr>
              </a:p>
              <a:p>
                <a:pPr indent="899795">
                  <a:lnSpc>
                    <a:spcPct val="133000"/>
                  </a:lnSpc>
                  <a:defRPr/>
                </a:pPr>
                <a:endParaRPr lang="en-US" altLang="zh-CN" sz="3200" dirty="0">
                  <a:solidFill>
                    <a:schemeClr val="tx1"/>
                  </a:solidFill>
                  <a:latin typeface="Times New Roman" panose="02020603050405020304" pitchFamily="18" charset="0"/>
                  <a:ea typeface="宋体" panose="02010600030101010101" pitchFamily="2" charset="-122"/>
                </a:endParaRPr>
              </a:p>
            </p:txBody>
          </p:sp>
        </mc:Choice>
        <mc:Fallback>
          <p:sp>
            <p:nvSpPr>
              <p:cNvPr id="5" name="AutoShape 5"/>
              <p:cNvSpPr txBox="1">
                <a:spLocks noRot="1" noChangeAspect="1" noMove="1" noResize="1" noEditPoints="1" noAdjustHandles="1" noChangeArrowheads="1" noChangeShapeType="1" noTextEdit="1"/>
              </p:cNvSpPr>
              <p:nvPr/>
            </p:nvSpPr>
            <p:spPr>
              <a:xfrm>
                <a:off x="1216848" y="1780302"/>
                <a:ext cx="15478539" cy="7773277"/>
              </a:xfrm>
              <a:prstGeom prst="rect">
                <a:avLst/>
              </a:prstGeom>
              <a:blipFill rotWithShape="1">
                <a:blip r:embed="rId1"/>
                <a:stretch>
                  <a:fillRect l="-1" t="-5" r="4"/>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0" name="TextBox 30"/>
          <p:cNvSpPr txBox="1"/>
          <p:nvPr/>
        </p:nvSpPr>
        <p:spPr>
          <a:xfrm>
            <a:off x="2844165" y="51647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五类辅助函数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AutoShape 4"/>
          <p:cNvSpPr txBox="1"/>
          <p:nvPr/>
        </p:nvSpPr>
        <p:spPr>
          <a:xfrm>
            <a:off x="1216848" y="494194"/>
            <a:ext cx="1907352" cy="842645"/>
          </a:xfrm>
          <a:prstGeom prst="rect">
            <a:avLst/>
          </a:prstGeom>
        </p:spPr>
        <p:txBody>
          <a:bodyPr vert="horz" wrap="square" lIns="0" tIns="0" rIns="0" bIns="0" rtlCol="0" anchor="t" anchorCtr="0">
            <a:spAutoFit/>
          </a:bodyPr>
          <a:lstStyle/>
          <a:p>
            <a:pPr lvl="0" algn="ctr">
              <a:lnSpc>
                <a:spcPts val="5600"/>
              </a:lnSpc>
              <a:buSz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9.1.3</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216848" y="1803162"/>
                <a:ext cx="15478539" cy="7773277"/>
              </a:xfrm>
              <a:prstGeom prst="rect">
                <a:avLst/>
              </a:prstGeom>
              <a:noFill/>
              <a:ln w="19050" cap="flat" cmpd="sng">
                <a:noFill/>
                <a:prstDash val="solid"/>
                <a:round/>
              </a:ln>
            </p:spPr>
            <p:txBody>
              <a:bodyPr vert="horz" wrap="square" lIns="0" tIns="0" rIns="0" bIns="0" rtlCol="0" anchor="t" anchorCtr="0"/>
              <a:lstStyle/>
              <a:p>
                <a:pPr indent="899795">
                  <a:lnSpc>
                    <a:spcPct val="133000"/>
                  </a:lnSpc>
                  <a:defRPr/>
                </a:pPr>
                <a:r>
                  <a:rPr lang="en-US" altLang="zh-CN" sz="3200" b="1" dirty="0">
                    <a:solidFill>
                      <a:schemeClr val="tx1"/>
                    </a:solidFill>
                    <a:uFillTx/>
                    <a:latin typeface="Times New Roman" panose="02020603050405020304" pitchFamily="18" charset="0"/>
                    <a:ea typeface="宋体" panose="02010600030101010101" pitchFamily="2" charset="-122"/>
                    <a:cs typeface="Zhuque Fangsong"/>
                    <a:sym typeface="Zhuque Fangsong"/>
                  </a:rPr>
                  <a:t>4</a:t>
                </a:r>
                <a:r>
                  <a:rPr lang="zh-CN" altLang="en-US" sz="3200" b="1" dirty="0">
                    <a:solidFill>
                      <a:schemeClr val="tx1"/>
                    </a:solidFill>
                    <a:uFillTx/>
                    <a:latin typeface="Times New Roman" panose="02020603050405020304" pitchFamily="18" charset="0"/>
                    <a:ea typeface="宋体" panose="02010600030101010101" pitchFamily="2" charset="-122"/>
                    <a:cs typeface="Zhuque Fangsong"/>
                    <a:sym typeface="Zhuque Fangsong"/>
                  </a:rPr>
                  <a:t>、分组密码算法</a:t>
                </a:r>
                <a:endParaRPr lang="en-US" altLang="zh-CN" sz="3200" b="1"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分组密码算法包括加密算法</a:t>
                </a:r>
                <a14:m>
                  <m:oMath xmlns:m="http://schemas.openxmlformats.org/officeDocument/2006/math">
                    <m:r>
                      <m:rPr>
                        <m:nor/>
                      </m:rPr>
                      <a:rPr lang="en-US"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Enc</m:t>
                    </m:r>
                    <m:d>
                      <m:d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𝑚</m:t>
                        </m:r>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和解密算法</a:t>
                </a:r>
                <a14:m>
                  <m:oMath xmlns:m="http://schemas.openxmlformats.org/officeDocument/2006/math">
                    <m:r>
                      <m:rPr>
                        <m:nor/>
                      </m:rPr>
                      <a:rPr lang="en-US"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Dec</m:t>
                    </m:r>
                    <m:d>
                      <m:d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𝑐</m:t>
                        </m:r>
                      </m:e>
                    </m:d>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nor/>
                      </m:rPr>
                      <a:rPr lang="en-US" altLang="zh-CN"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Enc</m:t>
                    </m:r>
                    <m:d>
                      <m:d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𝑚</m:t>
                        </m:r>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表示用密钥</a:t>
                </a:r>
                <a14:m>
                  <m:oMath xmlns:m="http://schemas.openxmlformats.org/officeDocument/2006/math">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对明文</a:t>
                </a:r>
                <a14:m>
                  <m:oMath xmlns:m="http://schemas.openxmlformats.org/officeDocument/2006/math">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𝑚</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进行加密，其输出为密文比特</a:t>
                </a:r>
                <a14:m>
                  <m:oMath xmlns:m="http://schemas.openxmlformats.org/officeDocument/2006/math">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串</m:t>
                    </m:r>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𝑐</m:t>
                    </m:r>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nor/>
                      </m:rPr>
                      <a:rPr lang="en-US" altLang="zh-CN"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Dec</m:t>
                    </m:r>
                    <m:d>
                      <m:d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𝑐</m:t>
                        </m:r>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表示用密钥</a:t>
                </a:r>
                <a14:m>
                  <m:oMath xmlns:m="http://schemas.openxmlformats.org/officeDocument/2006/math">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对密文</a:t>
                </a:r>
                <a14:m>
                  <m:oMath xmlns:m="http://schemas.openxmlformats.org/officeDocument/2006/math">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𝑐</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进行解密，其输出为明文比特串</a:t>
                </a:r>
                <a14:m>
                  <m:oMath xmlns:m="http://schemas.openxmlformats.org/officeDocument/2006/math">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𝑚</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或“错误”。密钥</a:t>
                </a:r>
                <a14:m>
                  <m:oMath xmlns:m="http://schemas.openxmlformats.org/officeDocument/2006/math">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的比特长度</a:t>
                </a:r>
                <a14:m>
                  <m:oMath xmlns:m="http://schemas.openxmlformats.org/officeDocument/2006/math">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记为</m:t>
                    </m:r>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m:rPr>
                        <m:lit/>
                      </m:rP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_</m:t>
                    </m:r>
                    <m:r>
                      <m:rPr>
                        <m:nor/>
                      </m:rPr>
                      <a:rPr lang="en-US" altLang="zh-CN" sz="3200" i="0"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len</m:t>
                    </m:r>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endParaRPr lang="en-US" altLang="zh-CN" sz="3200" b="1"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en-US" altLang="zh-CN" sz="3200" b="1" dirty="0">
                    <a:solidFill>
                      <a:schemeClr val="tx1"/>
                    </a:solidFill>
                    <a:uFillTx/>
                    <a:latin typeface="Times New Roman" panose="02020603050405020304" pitchFamily="18" charset="0"/>
                    <a:ea typeface="宋体" panose="02010600030101010101" pitchFamily="2" charset="-122"/>
                    <a:cs typeface="Zhuque Fangsong"/>
                    <a:sym typeface="Zhuque Fangsong"/>
                  </a:rPr>
                  <a:t>5</a:t>
                </a:r>
                <a:r>
                  <a:rPr lang="zh-CN" altLang="en-US" sz="3200" b="1" dirty="0">
                    <a:solidFill>
                      <a:schemeClr val="tx1"/>
                    </a:solidFill>
                    <a:uFillTx/>
                    <a:latin typeface="Times New Roman" panose="02020603050405020304" pitchFamily="18" charset="0"/>
                    <a:ea typeface="宋体" panose="02010600030101010101" pitchFamily="2" charset="-122"/>
                    <a:cs typeface="Zhuque Fangsong"/>
                    <a:sym typeface="Zhuque Fangsong"/>
                  </a:rPr>
                  <a:t>、消息认证码函数</a:t>
                </a:r>
                <a:endParaRPr lang="en-US" altLang="zh-CN" sz="3200" b="1"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33000"/>
                  </a:lnSpc>
                  <a:defRPr/>
                </a:pP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消息认证码函数</a:t>
                </a:r>
                <a14:m>
                  <m:oMath xmlns:m="http://schemas.openxmlformats.org/officeDocument/2006/math">
                    <m:r>
                      <m:rPr>
                        <m:nor/>
                      </m:rPr>
                      <a:rPr lang="en-US" altLang="zh-CN" sz="320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M</m:t>
                    </m:r>
                    <m:r>
                      <m:rPr>
                        <m:nor/>
                      </m:rPr>
                      <a:rPr lang="en-US" altLang="zh-CN" sz="3200" b="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AC</m:t>
                    </m:r>
                    <m:d>
                      <m:d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Z</m:t>
                        </m:r>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的作用是防止消息数据被非法篡改，它在密钥</a:t>
                </a:r>
                <a14:m>
                  <m:oMath xmlns:m="http://schemas.openxmlformats.org/officeDocument/2006/math">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的控制下，产生消息数据比特串</a:t>
                </a:r>
                <a14:m>
                  <m:oMath xmlns:m="http://schemas.openxmlformats.org/officeDocument/2006/math">
                    <m: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𝑍</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的认证码，密钥</a:t>
                </a:r>
                <a14:m>
                  <m:oMath xmlns:m="http://schemas.openxmlformats.org/officeDocument/2006/math">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的比特长度记</a:t>
                </a:r>
                <a14:m>
                  <m:oMath xmlns:m="http://schemas.openxmlformats.org/officeDocument/2006/math">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𝐾</m:t>
                        </m:r>
                      </m:e>
                      <m:sub>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r>
                      <m:rPr>
                        <m:lit/>
                      </m:rP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_</m:t>
                    </m:r>
                    <m:r>
                      <m:rPr>
                        <m:nor/>
                      </m:rPr>
                      <a:rPr lang="en-US" altLang="zh-CN" sz="3200"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len</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。在本部分的基于标识的加密算法中，消息认证码函数使用密钥派生函数生成的密钥对密文比特串求取消息认证码，从而使解密者可以鉴别消息的来源并检验数据的完整性。</a:t>
                </a:r>
                <a:endParaRPr lang="zh-CN" alt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p:txBody>
          </p:sp>
        </mc:Choice>
        <mc:Fallback>
          <p:sp>
            <p:nvSpPr>
              <p:cNvPr id="5" name="AutoShape 5"/>
              <p:cNvSpPr txBox="1">
                <a:spLocks noRot="1" noChangeAspect="1" noMove="1" noResize="1" noEditPoints="1" noAdjustHandles="1" noChangeArrowheads="1" noChangeShapeType="1" noTextEdit="1"/>
              </p:cNvSpPr>
              <p:nvPr/>
            </p:nvSpPr>
            <p:spPr>
              <a:xfrm>
                <a:off x="1216848" y="1803162"/>
                <a:ext cx="15478539" cy="7773277"/>
              </a:xfrm>
              <a:prstGeom prst="rect">
                <a:avLst/>
              </a:prstGeom>
              <a:blipFill rotWithShape="1">
                <a:blip r:embed="rId1"/>
                <a:stretch>
                  <a:fillRect l="-1" t="-5" r="4"/>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86D6449-2A1D-4F67-9B0D-803410767A63}"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4"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2" name="TextBox 30"/>
          <p:cNvSpPr txBox="1"/>
          <p:nvPr/>
        </p:nvSpPr>
        <p:spPr>
          <a:xfrm>
            <a:off x="2844165" y="51647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五类辅助函数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AutoShape 4"/>
          <p:cNvSpPr txBox="1"/>
          <p:nvPr/>
        </p:nvSpPr>
        <p:spPr>
          <a:xfrm>
            <a:off x="1216848" y="494194"/>
            <a:ext cx="1907352" cy="842645"/>
          </a:xfrm>
          <a:prstGeom prst="rect">
            <a:avLst/>
          </a:prstGeom>
        </p:spPr>
        <p:txBody>
          <a:bodyPr vert="horz" wrap="square" lIns="0" tIns="0" rIns="0" bIns="0" rtlCol="0" anchor="t" anchorCtr="0">
            <a:spAutoFit/>
          </a:bodyPr>
          <a:lstStyle/>
          <a:p>
            <a:pPr lvl="0" algn="ctr">
              <a:lnSpc>
                <a:spcPts val="5600"/>
              </a:lnSpc>
              <a:buSz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rPr>
              <a:t>9.1.3</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524000" y="2021205"/>
                <a:ext cx="15253335" cy="7611745"/>
              </a:xfrm>
              <a:prstGeom prst="rect">
                <a:avLst/>
              </a:prstGeom>
              <a:noFill/>
              <a:ln w="19050" cap="flat" cmpd="sng">
                <a:noFill/>
                <a:prstDash val="solid"/>
                <a:round/>
              </a:ln>
            </p:spPr>
            <p:txBody>
              <a:bodyPr vert="horz" wrap="square" lIns="0" tIns="0" rIns="0" bIns="0" rtlCol="0" anchor="t" anchorCtr="0"/>
              <a:lstStyle/>
              <a:p>
                <a:pPr>
                  <a:lnSpc>
                    <a:spcPct val="129000"/>
                  </a:lnSpc>
                </a:pPr>
                <a:r>
                  <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(1)</a:t>
                </a:r>
                <a:r>
                  <a:rPr lang="en-US" sz="3200"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BIDH（双线性逆DH</a:t>
                </a:r>
                <a:r>
                  <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给定</a:t>
                </a:r>
                <a14:m>
                  <m:oMath xmlns:m="http://schemas.openxmlformats.org/officeDocument/2006/math">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oMath>
                </a14:m>
                <a:r>
                  <a:rPr lang="zh-CN" altLang="zh-CN" sz="3200" dirty="0">
                    <a:solidFill>
                      <a:schemeClr val="tx1"/>
                    </a:solidFill>
                    <a:uFillTx/>
                    <a:latin typeface="Times New Roman" panose="02020603050405020304" pitchFamily="18" charset="0"/>
                    <a:ea typeface="宋体" panose="02010600030101010101" pitchFamily="2" charset="-122"/>
                  </a:rPr>
                  <a:t>，计算</a:t>
                </a:r>
                <a14:m>
                  <m:oMath xmlns:m="http://schemas.openxmlformats.org/officeDocument/2006/math">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e>
                      <m:sup>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r>
                          <m:rPr>
                            <m:lit/>
                          </m:rP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sup>
                    </m:sSup>
                  </m:oMath>
                </a14:m>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是困难的</a:t>
                </a:r>
                <a:r>
                  <a:rPr lang="en-US" sz="3200" i="0" dirty="0">
                    <a:solidFill>
                      <a:schemeClr val="tx1"/>
                    </a:solidFill>
                    <a:uFillTx/>
                    <a:latin typeface="Times New Roman" panose="02020603050405020304" pitchFamily="18" charset="0"/>
                    <a:ea typeface="宋体" panose="02010600030101010101" pitchFamily="2" charset="-122"/>
                    <a:cs typeface="Songti SC"/>
                    <a:sym typeface="Songti SC"/>
                  </a:rPr>
                  <a:t>。</a:t>
                </a:r>
                <a:endParaRPr lang="en-US" sz="3200" i="0" dirty="0">
                  <a:solidFill>
                    <a:schemeClr val="tx1"/>
                  </a:solidFill>
                  <a:uFillTx/>
                  <a:latin typeface="Times New Roman" panose="02020603050405020304" pitchFamily="18" charset="0"/>
                  <a:ea typeface="宋体" panose="02010600030101010101" pitchFamily="2" charset="-122"/>
                  <a:cs typeface="Songti SC"/>
                  <a:sym typeface="Songti SC"/>
                </a:endParaRPr>
              </a:p>
              <a:p>
                <a:pPr>
                  <a:lnSpc>
                    <a:spcPct val="129000"/>
                  </a:lnSpc>
                </a:pPr>
                <a:r>
                  <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rPr>
                  <a:t>(2)</a:t>
                </a:r>
                <a:r>
                  <a:rPr lang="en-US" sz="3200"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DBIDH（判定性双线性逆DH</a:t>
                </a:r>
                <a:r>
                  <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zh-CN" alt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区分</a:t>
                </a:r>
                <a14:m>
                  <m:oMath xmlns:m="http://schemas.openxmlformats.org/officeDocument/2006/math">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e>
                          <m:sup>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r>
                              <m:rPr>
                                <m:lit/>
                              </m:rP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sup>
                        </m:sSup>
                      </m:e>
                    </m:d>
                    <m:r>
                      <m:rPr>
                        <m:nor/>
                      </m:rPr>
                      <a:rPr lang="zh-CN" altLang="zh-CN" sz="3200" i="0" dirty="0" smtClean="0">
                        <a:solidFill>
                          <a:schemeClr val="tx1"/>
                        </a:solidFill>
                        <a:uFillTx/>
                        <a:latin typeface="Cambria Math" panose="02040503050406030204" pitchFamily="18" charset="0"/>
                        <a:ea typeface="MS Mincho" charset="0"/>
                        <a:cs typeface="Cambria Math" panose="02040503050406030204" pitchFamily="18" charset="0"/>
                      </a:rPr>
                      <m:t>和</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𝑎</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𝑏</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e>
                    </m:d>
                  </m:oMath>
                </a14:m>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同样困难</a:t>
                </a:r>
                <a:r>
                  <a:rPr lang="en-US" sz="3200" i="0" dirty="0">
                    <a:solidFill>
                      <a:schemeClr val="tx1"/>
                    </a:solidFill>
                    <a:uFillTx/>
                    <a:latin typeface="Times New Roman" panose="02020603050405020304" pitchFamily="18" charset="0"/>
                    <a:ea typeface="宋体" panose="02010600030101010101" pitchFamily="2" charset="-122"/>
                    <a:cs typeface="Songti SC"/>
                    <a:sym typeface="Songti SC"/>
                  </a:rPr>
                  <a:t>。</a:t>
                </a:r>
                <a:endParaRPr lang="en-US" sz="3200" i="0" dirty="0">
                  <a:solidFill>
                    <a:schemeClr val="tx1"/>
                  </a:solidFill>
                  <a:uFillTx/>
                  <a:latin typeface="Times New Roman" panose="02020603050405020304" pitchFamily="18" charset="0"/>
                  <a:ea typeface="宋体" panose="02010600030101010101" pitchFamily="2" charset="-122"/>
                  <a:cs typeface="Songti SC"/>
                  <a:sym typeface="Songti SC"/>
                </a:endParaRPr>
              </a:p>
              <a:p>
                <a:pPr>
                  <a:lnSpc>
                    <a:spcPct val="129000"/>
                  </a:lnSpc>
                </a:pPr>
                <a:r>
                  <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rPr>
                  <a:t>(3)</a:t>
                </a:r>
                <a14:m>
                  <m:oMath xmlns:m="http://schemas.openxmlformats.org/officeDocument/2006/math">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𝜏</m:t>
                    </m:r>
                  </m:oMath>
                </a14:m>
                <a:r>
                  <a:rPr lang="en-US" sz="3200"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-BDHI（</a:t>
                </a:r>
                <a14:m>
                  <m:oMath xmlns:m="http://schemas.openxmlformats.org/officeDocument/2006/math">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𝜏</m:t>
                    </m:r>
                  </m:oMath>
                </a14:m>
                <a:r>
                  <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en-US" sz="3200"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双线性逆DH</a:t>
                </a:r>
                <a:r>
                  <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给定</a:t>
                </a:r>
                <a14:m>
                  <m:oMath xmlns:m="http://schemas.openxmlformats.org/officeDocument/2006/math">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p>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p>
                            </m:sSup>
                          </m:e>
                        </m:d>
                        <m:sSubSup>
                          <m:sSub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Sup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up>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sup>
                        </m:sSubSup>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e>
                              <m:sup>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𝜏</m:t>
                                </m:r>
                              </m:sup>
                            </m:sSup>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oMath>
                </a14:m>
                <a:r>
                  <a:rPr lang="en-US" sz="3200" i="0" dirty="0">
                    <a:solidFill>
                      <a:schemeClr val="tx1"/>
                    </a:solidFill>
                    <a:uFillTx/>
                    <a:latin typeface="Times New Roman" panose="02020603050405020304" pitchFamily="18" charset="0"/>
                    <a:ea typeface="宋体" panose="02010600030101010101" pitchFamily="2" charset="-122"/>
                    <a:cs typeface="Songti SC"/>
                    <a:sym typeface="Songti SC"/>
                  </a:rPr>
                  <a:t>，</a:t>
                </a:r>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要算出</a:t>
                </a:r>
                <a14:m>
                  <m:oMath xmlns:m="http://schemas.openxmlformats.org/officeDocument/2006/math">
                    <m:r>
                      <a:rPr lang="zh-CN"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2</m:t>
                                </m:r>
                              </m:sub>
                            </m:sSub>
                          </m:e>
                        </m:d>
                      </m:e>
                      <m:sup>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1</m:t>
                        </m:r>
                        <m:r>
                          <m:rPr>
                            <m:lit/>
                          </m:rP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sup>
                    </m:sSup>
                  </m:oMath>
                </a14:m>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是困难的</a:t>
                </a:r>
                <a:r>
                  <a:rPr lang="en-US" sz="3200" i="0" dirty="0">
                    <a:solidFill>
                      <a:schemeClr val="tx1"/>
                    </a:solidFill>
                    <a:uFillTx/>
                    <a:latin typeface="Times New Roman" panose="02020603050405020304" pitchFamily="18" charset="0"/>
                    <a:ea typeface="宋体" panose="02010600030101010101" pitchFamily="2" charset="-122"/>
                    <a:cs typeface="Songti SC"/>
                    <a:sym typeface="Songti SC"/>
                  </a:rPr>
                  <a:t>。</a:t>
                </a:r>
                <a:endParaRPr lang="en-US" sz="3200" i="0" dirty="0">
                  <a:solidFill>
                    <a:schemeClr val="tx1"/>
                  </a:solidFill>
                  <a:uFillTx/>
                  <a:latin typeface="Times New Roman" panose="02020603050405020304" pitchFamily="18" charset="0"/>
                  <a:ea typeface="宋体" panose="02010600030101010101" pitchFamily="2" charset="-122"/>
                  <a:cs typeface="Songti SC"/>
                  <a:sym typeface="Songti SC"/>
                </a:endParaRPr>
              </a:p>
              <a:p>
                <a:pPr>
                  <a:lnSpc>
                    <a:spcPct val="129000"/>
                  </a:lnSpc>
                </a:pPr>
                <a:r>
                  <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rPr>
                  <a:t>(4)</a:t>
                </a:r>
                <a14:m>
                  <m:oMath xmlns:m="http://schemas.openxmlformats.org/officeDocument/2006/math">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𝜏</m:t>
                    </m:r>
                  </m:oMath>
                </a14:m>
                <a:r>
                  <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en-US" sz="3200" i="0" dirty="0" err="1">
                    <a:solidFill>
                      <a:schemeClr val="tx1"/>
                    </a:solidFill>
                    <a:uFillTx/>
                    <a:latin typeface="Times New Roman" panose="02020603050405020304" pitchFamily="18" charset="0"/>
                    <a:ea typeface="宋体" panose="02010600030101010101" pitchFamily="2" charset="-122"/>
                    <a:cs typeface="Zhuque Fangsong"/>
                    <a:sym typeface="Zhuque Fangsong"/>
                  </a:rPr>
                  <a:t>Gap-BDHI：</a:t>
                </a:r>
                <a:r>
                  <a:rPr lang="en-US" sz="3200" i="0" dirty="0" err="1">
                    <a:solidFill>
                      <a:schemeClr val="tx1"/>
                    </a:solidFill>
                    <a:uFillTx/>
                    <a:latin typeface="Times New Roman" panose="02020603050405020304" pitchFamily="18" charset="0"/>
                    <a:ea typeface="宋体" panose="02010600030101010101" pitchFamily="2" charset="-122"/>
                    <a:cs typeface="Songti SC"/>
                    <a:sym typeface="Songti SC"/>
                  </a:rPr>
                  <a:t>在DBIDH判定器"白送"给攻击者的前提下</a:t>
                </a:r>
                <a:r>
                  <a:rPr lang="en-US" sz="3200" i="0" dirty="0">
                    <a:solidFill>
                      <a:schemeClr val="tx1"/>
                    </a:solidFill>
                    <a:uFillTx/>
                    <a:latin typeface="Times New Roman" panose="02020603050405020304" pitchFamily="18" charset="0"/>
                    <a:ea typeface="宋体" panose="02010600030101010101" pitchFamily="2" charset="-122"/>
                    <a:cs typeface="Songti SC"/>
                    <a:sym typeface="Songti SC"/>
                  </a:rPr>
                  <a:t>，</a:t>
                </a:r>
                <a:r>
                  <a:rPr lang="zh-CN" altLang="en-US" sz="3200" i="0" dirty="0">
                    <a:solidFill>
                      <a:schemeClr val="tx1"/>
                    </a:solidFill>
                    <a:uFillTx/>
                    <a:latin typeface="Times New Roman" panose="02020603050405020304" pitchFamily="18" charset="0"/>
                    <a:ea typeface="宋体" panose="02010600030101010101" pitchFamily="2" charset="-122"/>
                    <a:cs typeface="Songti SC"/>
                    <a:sym typeface="Songti SC"/>
                  </a:rPr>
                  <a:t>仍</a:t>
                </a:r>
                <a14:m>
                  <m:oMath xmlns:m="http://schemas.openxmlformats.org/officeDocument/2006/math">
                    <m:r>
                      <a:rPr lang="zh-CN" altLang="en-US" sz="3200" b="0" dirty="0">
                        <a:solidFill>
                          <a:schemeClr val="tx1"/>
                        </a:solidFill>
                        <a:uFillTx/>
                        <a:latin typeface="Cambria Math" panose="02040503050406030204" pitchFamily="18" charset="0"/>
                        <a:ea typeface="MS Mincho" charset="0"/>
                        <a:cs typeface="Cambria Math" panose="02040503050406030204" pitchFamily="18" charset="0"/>
                        <a:sym typeface="Songti SC"/>
                      </a:rPr>
                      <m:t>算不出来</m:t>
                    </m:r>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2</m:t>
                                </m:r>
                              </m:sub>
                            </m:sSub>
                          </m:e>
                        </m:d>
                      </m:e>
                      <m:sup>
                        <m: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1</m:t>
                        </m:r>
                        <m:r>
                          <m:rPr>
                            <m:lit/>
                          </m:rPr>
                          <a:rPr lang="zh-CN" altLang="zh-CN" sz="3200" b="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b="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𝑥</m:t>
                        </m:r>
                      </m:sup>
                    </m:sSup>
                  </m:oMath>
                </a14:m>
                <a:endParaRPr lang="en-US" sz="3200" i="0" dirty="0">
                  <a:solidFill>
                    <a:schemeClr val="tx1"/>
                  </a:solidFill>
                  <a:uFillTx/>
                  <a:latin typeface="Times New Roman" panose="02020603050405020304" pitchFamily="18" charset="0"/>
                  <a:ea typeface="宋体" panose="02010600030101010101" pitchFamily="2" charset="-122"/>
                  <a:cs typeface="Songti SC"/>
                  <a:sym typeface="Songti SC"/>
                </a:endParaRPr>
              </a:p>
              <a:p>
                <a:pPr marL="0" indent="0" algn="l" defTabSz="914400">
                  <a:lnSpc>
                    <a:spcPct val="129000"/>
                  </a:lnSpc>
                </a:pPr>
                <a:r>
                  <a:rPr lang="en-US" sz="3200" i="0" dirty="0">
                    <a:solidFill>
                      <a:schemeClr val="tx1"/>
                    </a:solidFill>
                    <a:uFillTx/>
                    <a:latin typeface="Times New Roman" panose="02020603050405020304" pitchFamily="18" charset="0"/>
                    <a:ea typeface="宋体" panose="02010600030101010101" pitchFamily="2" charset="-122"/>
                    <a:cs typeface="Songti SC"/>
                    <a:sym typeface="Songti SC"/>
                  </a:rPr>
                  <a:t>　这4个问题都意味着G₁、G₂、G_T上的离散对数问题难解，是SM9标识密码算法的安全基石。</a:t>
                </a:r>
                <a:endParaRPr lang="en-US" sz="3200" i="0" dirty="0">
                  <a:solidFill>
                    <a:schemeClr val="tx1"/>
                  </a:solidFill>
                  <a:uFillTx/>
                  <a:latin typeface="Times New Roman" panose="02020603050405020304" pitchFamily="18" charset="0"/>
                  <a:ea typeface="宋体" panose="02010600030101010101" pitchFamily="2" charset="-122"/>
                  <a:cs typeface="Songti SC"/>
                  <a:sym typeface="Songti SC"/>
                </a:endParaRPr>
              </a:p>
            </p:txBody>
          </p:sp>
        </mc:Choice>
        <mc:Fallback>
          <p:sp>
            <p:nvSpPr>
              <p:cNvPr id="5" name="AutoShape 5"/>
              <p:cNvSpPr txBox="1">
                <a:spLocks noRot="1" noChangeAspect="1" noMove="1" noResize="1" noEditPoints="1" noAdjustHandles="1" noChangeArrowheads="1" noChangeShapeType="1" noTextEdit="1"/>
              </p:cNvSpPr>
              <p:nvPr/>
            </p:nvSpPr>
            <p:spPr>
              <a:xfrm>
                <a:off x="1524000" y="2021205"/>
                <a:ext cx="15253335" cy="7611745"/>
              </a:xfrm>
              <a:prstGeom prst="rect">
                <a:avLst/>
              </a:prstGeom>
              <a:blipFill rotWithShape="1">
                <a:blip r:embed="rId1"/>
                <a:stretch>
                  <a:fillRect/>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E9F75C07-C7F7-4D00-B9DD-B18B30C5D360}"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3" name="AutoShape 4"/>
          <p:cNvSpPr txBox="1"/>
          <p:nvPr/>
        </p:nvSpPr>
        <p:spPr>
          <a:xfrm>
            <a:off x="1524188" y="494194"/>
            <a:ext cx="1907352" cy="717550"/>
          </a:xfrm>
          <a:prstGeom prst="rect">
            <a:avLst/>
          </a:prstGeom>
        </p:spPr>
        <p:txBody>
          <a:bodyPr vert="horz" wrap="square" lIns="0" tIns="0" rIns="0" bIns="0" rtlCol="0" anchor="t" anchorCtr="0">
            <a:spAutoFit/>
          </a:bodyPr>
          <a:lstStyle/>
          <a:p>
            <a:pPr lvl="0" algn="l">
              <a:lnSpc>
                <a:spcPts val="5600"/>
              </a:lnSpc>
              <a:buSzTx/>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Times New Roman" panose="02020603050405020304"/>
              </a:rPr>
              <a:t>9.1.4</a:t>
            </a:r>
            <a:endPar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Times New Roman" panose="02020603050405020304"/>
            </a:endParaRPr>
          </a:p>
        </p:txBody>
      </p:sp>
      <p:sp>
        <p:nvSpPr>
          <p:cNvPr id="14" name="TextBox 30"/>
          <p:cNvSpPr txBox="1"/>
          <p:nvPr/>
        </p:nvSpPr>
        <p:spPr>
          <a:xfrm>
            <a:off x="2950845" y="516475"/>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SM9</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加密算法设计的由来</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9.2</a:t>
            </a:r>
            <a:endParaRPr lang="en-US" sz="1100" dirty="0"/>
          </a:p>
        </p:txBody>
      </p:sp>
      <p:sp>
        <p:nvSpPr>
          <p:cNvPr id="21" name="AutoShape 21"/>
          <p:cNvSpPr txBox="1"/>
          <p:nvPr/>
        </p:nvSpPr>
        <p:spPr>
          <a:xfrm>
            <a:off x="353948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en-US" sz="9600" b="1" i="0" u="none" strike="noStrike" dirty="0">
                <a:solidFill>
                  <a:srgbClr val="004AAD"/>
                </a:solidFill>
                <a:latin typeface="仿宋" panose="02010609060101010101" pitchFamily="49" charset="-122"/>
                <a:ea typeface="仿宋" panose="02010609060101010101" pitchFamily="49" charset="-122"/>
                <a:cs typeface="Times New Roman" panose="02020603050405020304" pitchFamily="18" charset="0"/>
                <a:sym typeface="Zhuque Fangsong"/>
              </a:rPr>
              <a:t>SM9</a:t>
            </a:r>
            <a:r>
              <a:rPr lang="en-US" sz="96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公钥加密算法</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 y="9030575"/>
            <a:ext cx="18288001"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0" y="9030575"/>
            <a:ext cx="1828800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0" y="9183427"/>
            <a:ext cx="1828800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0" y="9183427"/>
            <a:ext cx="1828800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08265D43-AE21-4D97-85C4-5D630DB8D308}"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30" name="AutoShape 35"/>
          <p:cNvSpPr txBox="1"/>
          <p:nvPr/>
        </p:nvSpPr>
        <p:spPr>
          <a:xfrm>
            <a:off x="796975" y="605801"/>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166191" y="1903891"/>
                <a:ext cx="15955617" cy="7972754"/>
              </a:xfrm>
              <a:prstGeom prst="rect">
                <a:avLst/>
              </a:prstGeom>
              <a:noFill/>
              <a:ln w="19050" cap="flat" cmpd="sng">
                <a:noFill/>
                <a:prstDash val="solid"/>
                <a:round/>
              </a:ln>
            </p:spPr>
            <p:txBody>
              <a:bodyPr vert="horz" wrap="square" lIns="0" tIns="0" rIns="0" bIns="0" rtlCol="0" anchor="t" anchorCtr="0"/>
              <a:lstStyle/>
              <a:p>
                <a:pPr indent="899795">
                  <a:lnSpc>
                    <a:spcPct val="129000"/>
                  </a:lnSpc>
                  <a:defRPr/>
                </a:pPr>
                <a:r>
                  <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rPr>
                  <a:t>SM9</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标识密码算法是一种基于双线性对的标识密码算法，它可以把用户的身份标识用以生成用户的公、私密钥对，主要用于数字签名、密钥交换、密钥封装与加密解密等。</a:t>
                </a:r>
                <a:endPar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29000"/>
                  </a:lnSpc>
                  <a:defRPr/>
                </a:pP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系统参数组包括曲线标识符</a:t>
                </a:r>
                <a14:m>
                  <m:oMath xmlns:m="http://schemas.openxmlformats.org/officeDocument/2006/math">
                    <m:r>
                      <m:rPr>
                        <m:nor/>
                      </m:rPr>
                      <a:rPr lang="en-US"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cid</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椭圆曲线基域</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𝐹</m:t>
                        </m:r>
                      </m:e>
                      <m:sub>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𝑞</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的参数、椭圆曲线方程参数</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𝑎</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和</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𝑏</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扭曲线参数</a:t>
                </a:r>
                <a14:m>
                  <m:oMath xmlns:m="http://schemas.openxmlformats.org/officeDocument/2006/math">
                    <m:r>
                      <a:rPr lang="en-US" altLang="zh-CN"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𝛽</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若</a:t>
                </a:r>
                <a14:m>
                  <m:oMath xmlns:m="http://schemas.openxmlformats.org/officeDocument/2006/math">
                    <m:r>
                      <m:rPr>
                        <m:nor/>
                      </m:rPr>
                      <a:rPr lang="en-US"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cid</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的低</a:t>
                </a:r>
                <a:r>
                  <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rPr>
                  <a:t>4</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位为</a:t>
                </a:r>
                <a:r>
                  <a:rPr lang="en-US" altLang="zh-CN" sz="3200" dirty="0">
                    <a:solidFill>
                      <a:schemeClr val="tx1"/>
                    </a:solidFill>
                    <a:uFillTx/>
                    <a:latin typeface="Times New Roman" panose="02020603050405020304" pitchFamily="18" charset="0"/>
                    <a:ea typeface="宋体" panose="02010600030101010101" pitchFamily="2" charset="-122"/>
                    <a:cs typeface="Zhuque Fangsong"/>
                    <a:sym typeface="Zhuque Fangsong"/>
                  </a:rPr>
                  <a:t>2</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）、曲线阶的素因子</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和相对于</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的余</a:t>
                </a:r>
                <a14:m>
                  <m:oMath xmlns:m="http://schemas.openxmlformats.org/officeDocument/2006/math">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因子</m:t>
                    </m:r>
                    <m:r>
                      <m:rPr>
                        <m:nor/>
                      </m:rPr>
                      <a:rPr lang="en-US" sz="3200" i="0"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cf</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曲线</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𝐸</m:t>
                    </m:r>
                    <m:d>
                      <m:d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𝐹</m:t>
                            </m:r>
                          </m:e>
                          <m:sub>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𝑞</m:t>
                            </m:r>
                          </m:sub>
                        </m:sSub>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相对于</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的嵌入次数</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𝑘</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𝐸</m:t>
                    </m:r>
                    <m:d>
                      <m:d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𝐹</m:t>
                            </m:r>
                          </m:e>
                          <m:sub>
                            <m:sSup>
                              <m:sSup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p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𝑞</m:t>
                                </m:r>
                              </m:e>
                              <m:sup>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𝑑</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𝟚</m:t>
                                    </m:r>
                                  </m:sub>
                                </m:sSub>
                              </m:sup>
                            </m:sSup>
                          </m:sub>
                        </m:sSub>
                      </m:e>
                    </m:d>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𝑑</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_</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r>
                      <a:rPr lang="zh-CN" alt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整除</m:t>
                    </m:r>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𝑘</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14:m>
                  <m:oMath xmlns:m="http://schemas.openxmlformats.org/officeDocument/2006/math">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的</m:t>
                    </m:r>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阶循环子</a:t>
                </a:r>
                <a14:m>
                  <m:oMath xmlns:m="http://schemas.openxmlformats.org/officeDocument/2006/math">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群</m:t>
                    </m:r>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𝐺</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的生成元</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𝐸</m:t>
                    </m:r>
                    <m:d>
                      <m:d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𝐹</m:t>
                            </m:r>
                          </m:e>
                          <m:sub>
                            <m:sSup>
                              <m:sSup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p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𝑞</m:t>
                                </m:r>
                              </m:e>
                              <m:sup>
                                <m:sSub>
                                  <m:sSub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𝑑</m:t>
                                    </m:r>
                                  </m:e>
                                  <m: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𝟚</m:t>
                                    </m:r>
                                  </m:sub>
                                </m:sSub>
                              </m:sup>
                            </m:sSup>
                          </m:sub>
                        </m:sSub>
                      </m:e>
                    </m:d>
                    <m:d>
                      <m:dPr>
                        <m:begChr m:val="（"/>
                        <m:endChr m:val="）"/>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𝑑</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r>
                          <a:rPr lang="zh-CN" alt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整除</m:t>
                        </m:r>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𝑘</m:t>
                        </m:r>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阶循环子群</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𝐺</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的生成元</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双线性对</a:t>
                </a:r>
                <a14:m>
                  <m:oMath xmlns:m="http://schemas.openxmlformats.org/officeDocument/2006/math">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𝑒</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的标识符</a:t>
                </a:r>
                <a14:m>
                  <m:oMath xmlns:m="http://schemas.openxmlformats.org/officeDocument/2006/math">
                    <m:r>
                      <m:rPr>
                        <m:nor/>
                      </m:rPr>
                      <a:rPr lang="en-US"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eid</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d>
                      <m:dPr>
                        <m:begChr m:val="（"/>
                        <m:endChr m:val="）"/>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r>
                          <a:rPr lang="zh-CN" alt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选项</m:t>
                        </m:r>
                      </m:e>
                    </m:d>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𝐺</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到</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𝐺</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的同态映射</a:t>
                </a:r>
                <a14:m>
                  <m:oMath xmlns:m="http://schemas.openxmlformats.org/officeDocument/2006/math">
                    <m:r>
                      <a:rPr lang="en-US" altLang="zh-CN"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𝜓</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endPar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29000"/>
                  </a:lnSpc>
                  <a:defRPr/>
                </a:pP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双线性对</a:t>
                </a:r>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e</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的值域为</a:t>
                </a:r>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N</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阶乘法循环群</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𝐺</m:t>
                        </m:r>
                      </m:e>
                      <m:sub>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𝑇</m:t>
                        </m:r>
                      </m:sub>
                    </m:sSub>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endPar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29000"/>
                  </a:lnSpc>
                  <a:defRPr/>
                </a:pPr>
                <a:endParaRPr lang="en-US" sz="3200" i="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p:txBody>
          </p:sp>
        </mc:Choice>
        <mc:Fallback>
          <p:sp>
            <p:nvSpPr>
              <p:cNvPr id="5" name="AutoShape 5"/>
              <p:cNvSpPr txBox="1">
                <a:spLocks noRot="1" noChangeAspect="1" noMove="1" noResize="1" noEditPoints="1" noAdjustHandles="1" noChangeArrowheads="1" noChangeShapeType="1" noTextEdit="1"/>
              </p:cNvSpPr>
              <p:nvPr/>
            </p:nvSpPr>
            <p:spPr>
              <a:xfrm>
                <a:off x="1166191" y="1903891"/>
                <a:ext cx="15955617" cy="7972754"/>
              </a:xfrm>
              <a:prstGeom prst="rect">
                <a:avLst/>
              </a:prstGeom>
              <a:blipFill rotWithShape="1">
                <a:blip r:embed="rId1"/>
                <a:stretch>
                  <a:fillRect l="-2" t="-2" r="2" b="6"/>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227A191E-470D-4059-9DEC-FDF8FB2B8AC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0" name="AutoShape 4"/>
          <p:cNvSpPr txBox="1"/>
          <p:nvPr/>
        </p:nvSpPr>
        <p:spPr>
          <a:xfrm>
            <a:off x="1163508" y="486574"/>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9.2.1</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1" name="TextBox 30"/>
          <p:cNvSpPr txBox="1"/>
          <p:nvPr/>
        </p:nvSpPr>
        <p:spPr>
          <a:xfrm>
            <a:off x="2684145" y="48980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参数选取</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384221" y="1980166"/>
                <a:ext cx="15955617" cy="7204081"/>
              </a:xfrm>
              <a:prstGeom prst="rect">
                <a:avLst/>
              </a:prstGeom>
              <a:noFill/>
              <a:ln w="19050" cap="flat" cmpd="sng">
                <a:noFill/>
                <a:prstDash val="solid"/>
                <a:round/>
              </a:ln>
            </p:spPr>
            <p:txBody>
              <a:bodyPr vert="horz" wrap="square" lIns="0" tIns="0" rIns="0" bIns="0" rtlCol="0" anchor="t" anchorCtr="0"/>
              <a:lstStyle/>
              <a:p>
                <a:pPr indent="899795">
                  <a:lnSpc>
                    <a:spcPct val="129000"/>
                  </a:lnSpc>
                </a:pPr>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KGC</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产生随机数</a:t>
                </a:r>
                <a14:m>
                  <m:oMath xmlns:m="http://schemas.openxmlformats.org/officeDocument/2006/math">
                    <m:r>
                      <m:rPr>
                        <m:nor/>
                      </m:rPr>
                      <a:rPr lang="en-US"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ke</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d>
                      <m:dPr>
                        <m:begChr m:val="["/>
                        <m:endChr m:val="]"/>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e>
                    </m:d>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作为加密主私钥，计算</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𝐺</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中的元素</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pub</m:t>
                        </m:r>
                        <m:r>
                          <m:rPr>
                            <m:nor/>
                          </m:rPr>
                          <a:rPr lang="en-US" sz="3200" i="0"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e</m:t>
                        </m:r>
                      </m:sub>
                    </m:s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d>
                      <m:dPr>
                        <m:begChr m:val="["/>
                        <m:endChr m:val="]"/>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r>
                          <m:rPr>
                            <m:nor/>
                          </m:rPr>
                          <a:rPr lang="en-US" sz="3200" i="0"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ke</m:t>
                        </m:r>
                      </m:e>
                    </m:d>
                    <m:sSub>
                      <m:sSub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作为主公钥，则主密钥对为</a:t>
                </a:r>
                <a14:m>
                  <m:oMath xmlns:m="http://schemas.openxmlformats.org/officeDocument/2006/math">
                    <m:d>
                      <m:d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r>
                          <m:rPr>
                            <m:nor/>
                          </m:rPr>
                          <a:rPr lang="en-US" sz="3200" i="0"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ke</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sSub>
                          <m:sSub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pub</m:t>
                            </m:r>
                            <m:r>
                              <m:rPr>
                                <m:nor/>
                              </m:rPr>
                              <a:rPr lang="en-US" sz="3200" i="0"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e</m:t>
                            </m:r>
                          </m:sub>
                        </m:sSub>
                      </m:e>
                    </m:d>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KGC</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秘密保存</a:t>
                </a:r>
                <a14:m>
                  <m:oMath xmlns:m="http://schemas.openxmlformats.org/officeDocument/2006/math">
                    <m:r>
                      <m:rPr>
                        <m:nor/>
                      </m:rPr>
                      <a:rPr lang="en-US"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ke</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公开</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pub</m:t>
                        </m:r>
                        <m:r>
                          <m:rPr>
                            <m:nor/>
                          </m:rPr>
                          <a:rPr lang="en-US" sz="3200" i="0"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e</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endPar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29000"/>
                  </a:lnSpc>
                </a:pPr>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KGC</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选择并公开用一个字节表示的私钥生成函数标识符</a:t>
                </a:r>
                <a14:m>
                  <m:oMath xmlns:m="http://schemas.openxmlformats.org/officeDocument/2006/math">
                    <m:r>
                      <m:rPr>
                        <m:nor/>
                      </m:rPr>
                      <a:rPr lang="en-US"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hid</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endPar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29000"/>
                  </a:lnSpc>
                </a:pP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用户</a:t>
                </a:r>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B</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的标识为</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ID</m:t>
                        </m:r>
                      </m:e>
                      <m:sub>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B</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为产生用户</a:t>
                </a:r>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B</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的私钥</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de</m:t>
                        </m:r>
                      </m:e>
                      <m:sub>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B</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KGC</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首先在有限域</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𝐹</m:t>
                        </m:r>
                      </m:e>
                      <m:sub>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sub>
                    </m:sSub>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上计算</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𝑡</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𝐻</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_</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𝐼𝐷</m:t>
                        </m:r>
                      </m:e>
                      <m:sub>
                        <m: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𝐵</m:t>
                        </m:r>
                      </m:sub>
                    </m:sSub>
                    <m: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hid</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𝑁</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𝑘𝑒</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endPar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endParaRPr>
              </a:p>
              <a:p>
                <a:pPr indent="899795">
                  <a:lnSpc>
                    <a:spcPct val="129000"/>
                  </a:lnSpc>
                </a:pP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若</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𝑡</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0</m:t>
                    </m:r>
                  </m:oMath>
                </a14:m>
                <a:r>
                  <a:rPr 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a:t>
                </a:r>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则需要重新产生加密主私钥，计算和公开加密主公钥，并更新已有用户的加密私钥；否则计算</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𝑡</m:t>
                        </m:r>
                      </m:e>
                      <m: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m:rPr>
                        <m:nor/>
                      </m:rPr>
                      <a:rPr lang="en-US" sz="3200" i="0" dirty="0" err="1">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ke</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sSubSup>
                      <m:sSubSup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Sup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𝑡</m:t>
                        </m:r>
                      </m:e>
                      <m: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b>
                      <m:sup>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1</m:t>
                        </m:r>
                      </m:sup>
                    </m:sSubSup>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r>
                  <a:rPr lang="zh-CN" altLang="en-US" sz="3200" dirty="0">
                    <a:solidFill>
                      <a:schemeClr val="tx1"/>
                    </a:solidFill>
                    <a:uFillTx/>
                    <a:latin typeface="Times New Roman" panose="02020603050405020304" pitchFamily="18" charset="0"/>
                    <a:ea typeface="宋体" panose="02010600030101010101" pitchFamily="2" charset="-122"/>
                    <a:cs typeface="Zhuque Fangsong"/>
                    <a:sym typeface="Zhuque Fangsong"/>
                  </a:rPr>
                  <a:t>然后计算</a:t>
                </a:r>
                <a14:m>
                  <m:oMath xmlns:m="http://schemas.openxmlformats.org/officeDocument/2006/math">
                    <m:sSub>
                      <m:sSubPr>
                        <m:ctrlPr>
                          <a:rPr lang="en-US"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de</m:t>
                        </m:r>
                      </m:e>
                      <m:sub>
                        <m:r>
                          <m:rPr>
                            <m:nor/>
                          </m:rPr>
                          <a:rPr lang="en-US"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B</m:t>
                        </m:r>
                      </m:sub>
                    </m:s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m:t>
                    </m:r>
                    <m:d>
                      <m:dPr>
                        <m:begChr m:val="["/>
                        <m:endChr m:val="]"/>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dPr>
                      <m:e>
                        <m:sSub>
                          <m:sSub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𝑡</m:t>
                            </m:r>
                          </m:e>
                          <m:sub>
                            <m:r>
                              <a:rPr lang="en-US" sz="3200" i="1" dirty="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e>
                    </m:d>
                    <m:sSub>
                      <m:sSubPr>
                        <m:ctrlP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ctrlPr>
                      </m:sSubPr>
                      <m:e>
                        <m:r>
                          <a:rPr lang="en-US"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sym typeface="Zhuque Fangsong"/>
                          </a:rPr>
                          <m:t>𝑃</m:t>
                        </m:r>
                      </m:e>
                      <m: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2</m:t>
                        </m:r>
                      </m:sub>
                    </m:sSub>
                    <m:r>
                      <a:rPr lang="en-US" sz="3200"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rPr>
                      <m:t>。</m:t>
                    </m:r>
                  </m:oMath>
                </a14:m>
                <a:endParaRPr lang="en-US" sz="3200" b="1" i="1" dirty="0" smtClean="0">
                  <a:solidFill>
                    <a:schemeClr val="tx1"/>
                  </a:solidFill>
                  <a:uFillTx/>
                  <a:latin typeface="Cambria Math" panose="02040503050406030204" pitchFamily="18" charset="0"/>
                  <a:ea typeface="MS Mincho" charset="0"/>
                  <a:cs typeface="Cambria Math" panose="02040503050406030204" pitchFamily="18" charset="0"/>
                  <a:sym typeface="Zhuque Fangsong"/>
                </a:endParaRPr>
              </a:p>
            </p:txBody>
          </p:sp>
        </mc:Choice>
        <mc:Fallback>
          <p:sp>
            <p:nvSpPr>
              <p:cNvPr id="5" name="AutoShape 5"/>
              <p:cNvSpPr txBox="1">
                <a:spLocks noRot="1" noChangeAspect="1" noMove="1" noResize="1" noEditPoints="1" noAdjustHandles="1" noChangeArrowheads="1" noChangeShapeType="1" noTextEdit="1"/>
              </p:cNvSpPr>
              <p:nvPr/>
            </p:nvSpPr>
            <p:spPr>
              <a:xfrm>
                <a:off x="1384221" y="1980166"/>
                <a:ext cx="15955617" cy="7204081"/>
              </a:xfrm>
              <a:prstGeom prst="rect">
                <a:avLst/>
              </a:prstGeom>
              <a:blipFill rotWithShape="1">
                <a:blip r:embed="rId1"/>
                <a:stretch>
                  <a:fillRect l="-3" t="-3" r="3" b="3"/>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227A191E-470D-4059-9DEC-FDF8FB2B8AC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0" name="AutoShape 4"/>
          <p:cNvSpPr txBox="1"/>
          <p:nvPr/>
        </p:nvSpPr>
        <p:spPr>
          <a:xfrm>
            <a:off x="1216848" y="494194"/>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9.2.2</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1" name="TextBox 30"/>
          <p:cNvSpPr txBox="1"/>
          <p:nvPr/>
        </p:nvSpPr>
        <p:spPr>
          <a:xfrm>
            <a:off x="2840990" y="51647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系统初始化</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831975" y="1903891"/>
                <a:ext cx="13503965" cy="8026400"/>
              </a:xfrm>
              <a:prstGeom prst="rect">
                <a:avLst/>
              </a:prstGeom>
              <a:noFill/>
              <a:ln w="19050" cap="flat" cmpd="sng">
                <a:noFill/>
                <a:prstDash val="solid"/>
                <a:round/>
              </a:ln>
            </p:spPr>
            <p:txBody>
              <a:bodyPr vert="horz" wrap="square" lIns="0" tIns="0" rIns="0" bIns="0" rtlCol="0" anchor="t" anchorCtr="0"/>
              <a:lstStyle/>
              <a:p>
                <a:pPr>
                  <a:lnSpc>
                    <a:spcPct val="117000"/>
                  </a:lnSpc>
                  <a:defRPr/>
                </a:pPr>
                <a:r>
                  <a:rPr lang="en-US" altLang="zh-CN" sz="3200" b="0" i="0" dirty="0">
                    <a:solidFill>
                      <a:srgbClr val="000000"/>
                    </a:solidFill>
                    <a:latin typeface="Times New Roman" panose="02020603050405020304" pitchFamily="18" charset="0"/>
                    <a:ea typeface="宋体" panose="02010600030101010101" pitchFamily="2" charset="-122"/>
                    <a:cs typeface="Songti SC"/>
                    <a:sym typeface="Songti SC"/>
                  </a:rPr>
                  <a:t>1</a:t>
                </a:r>
                <a:r>
                  <a:rPr lang="zh-CN" altLang="en-US" sz="3200" b="0" i="0" dirty="0">
                    <a:solidFill>
                      <a:srgbClr val="000000"/>
                    </a:solidFill>
                    <a:latin typeface="Times New Roman" panose="02020603050405020304" pitchFamily="18" charset="0"/>
                    <a:ea typeface="宋体" panose="02010600030101010101" pitchFamily="2" charset="-122"/>
                    <a:cs typeface="Songti SC"/>
                    <a:sym typeface="Songti SC"/>
                  </a:rPr>
                  <a:t>、加密过程：</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设</a:t>
                </a:r>
                <a:r>
                  <a:rPr lang="zh-CN" altLang="zh-CN" sz="3200" dirty="0">
                    <a:latin typeface="Times New Roman" panose="02020603050405020304" pitchFamily="18" charset="0"/>
                    <a:ea typeface="宋体" panose="02010600030101010101" pitchFamily="2" charset="-122"/>
                  </a:rPr>
                  <a:t>需要发送的消息</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为比特串M</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m:rPr>
                        <m:nor/>
                      </m:rPr>
                      <a:rPr lang="en-US" altLang="zh-CN"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mlen</m:t>
                    </m:r>
                  </m:oMath>
                </a14:m>
                <a:r>
                  <a:rPr lang="zh-CN" altLang="en-US" sz="3200" dirty="0">
                    <a:latin typeface="Times New Roman" panose="02020603050405020304" pitchFamily="18" charset="0"/>
                    <a:ea typeface="宋体" panose="02010600030101010101" pitchFamily="2" charset="-122"/>
                    <a:cs typeface="Songti SC"/>
                    <a:sym typeface="Songti SC"/>
                  </a:rPr>
                  <a:t>为</a:t>
                </a:r>
                <a:r>
                  <a:rPr lang="en-US" altLang="zh-CN" sz="3200" dirty="0">
                    <a:latin typeface="Times New Roman" panose="02020603050405020304" pitchFamily="18" charset="0"/>
                    <a:ea typeface="宋体" panose="02010600030101010101" pitchFamily="2" charset="-122"/>
                    <a:cs typeface="Songti SC"/>
                    <a:sym typeface="Songti SC"/>
                  </a:rPr>
                  <a:t>M</a:t>
                </a:r>
                <a:r>
                  <a:rPr lang="zh-CN" altLang="en-US" sz="3200" dirty="0">
                    <a:latin typeface="Times New Roman" panose="02020603050405020304" pitchFamily="18" charset="0"/>
                    <a:ea typeface="宋体" panose="02010600030101010101" pitchFamily="2" charset="-122"/>
                    <a:cs typeface="Songti SC"/>
                    <a:sym typeface="Songti SC"/>
                  </a:rPr>
                  <a:t>的比特长度，</a:t>
                </a:r>
                <a14:m>
                  <m:oMath xmlns:m="http://schemas.openxmlformats.org/officeDocument/2006/math">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altLang="zh-CN" sz="3200" i="1" dirty="0">
                            <a:latin typeface="Cambria Math" panose="02040503050406030204" pitchFamily="18" charset="0"/>
                            <a:ea typeface="MS Mincho" charset="0"/>
                            <a:cs typeface="Cambria Math" panose="02040503050406030204" pitchFamily="18" charset="0"/>
                            <a:sym typeface="Songti SC"/>
                          </a:rPr>
                          <m:t>1</m:t>
                        </m:r>
                      </m:sub>
                    </m:sSub>
                    <m:r>
                      <m:rPr>
                        <m:lit/>
                      </m:rPr>
                      <a:rPr lang="en-US" altLang="zh-CN" sz="3200" i="1" dirty="0">
                        <a:latin typeface="Cambria Math" panose="02040503050406030204" pitchFamily="18" charset="0"/>
                        <a:ea typeface="MS Mincho" charset="0"/>
                        <a:cs typeface="Cambria Math" panose="02040503050406030204" pitchFamily="18" charset="0"/>
                        <a:sym typeface="Songti SC"/>
                      </a:rPr>
                      <m:t>_</m:t>
                    </m:r>
                    <m:r>
                      <m:rPr>
                        <m:nor/>
                      </m:rPr>
                      <a:rPr lang="en-US" altLang="zh-CN" sz="3200" i="0" dirty="0" err="1">
                        <a:latin typeface="Cambria Math" panose="02040503050406030204" pitchFamily="18" charset="0"/>
                        <a:ea typeface="宋体" panose="02010600030101010101" pitchFamily="2" charset="-122"/>
                        <a:cs typeface="Cambria Math" panose="02040503050406030204" pitchFamily="18" charset="0"/>
                        <a:sym typeface="Songti SC"/>
                      </a:rPr>
                      <m:t>len</m:t>
                    </m:r>
                  </m:oMath>
                </a14:m>
                <a:r>
                  <a:rPr lang="zh-CN" altLang="en-US" sz="3200" dirty="0">
                    <a:latin typeface="Times New Roman" panose="02020603050405020304" pitchFamily="18" charset="0"/>
                    <a:ea typeface="宋体" panose="02010600030101010101" pitchFamily="2" charset="-122"/>
                    <a:cs typeface="Songti SC"/>
                    <a:sym typeface="Songti SC"/>
                  </a:rPr>
                  <a:t>为分组密码算法中密钥</a:t>
                </a:r>
                <a14:m>
                  <m:oMath xmlns:m="http://schemas.openxmlformats.org/officeDocument/2006/math">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altLang="zh-CN" sz="3200" i="1" dirty="0" smtClean="0">
                            <a:latin typeface="Cambria Math" panose="02040503050406030204" pitchFamily="18" charset="0"/>
                            <a:ea typeface="MS Mincho" charset="0"/>
                            <a:cs typeface="Cambria Math" panose="02040503050406030204" pitchFamily="18" charset="0"/>
                            <a:sym typeface="Songti SC"/>
                          </a:rPr>
                          <m:t>1</m:t>
                        </m:r>
                      </m:sub>
                    </m:sSub>
                  </m:oMath>
                </a14:m>
                <a:r>
                  <a:rPr lang="zh-CN" altLang="en-US" sz="3200" dirty="0">
                    <a:latin typeface="Times New Roman" panose="02020603050405020304" pitchFamily="18" charset="0"/>
                    <a:ea typeface="宋体" panose="02010600030101010101" pitchFamily="2" charset="-122"/>
                    <a:cs typeface="Songti SC"/>
                    <a:sym typeface="Songti SC"/>
                  </a:rPr>
                  <a:t>的比特长度，</a:t>
                </a:r>
                <a14:m>
                  <m:oMath xmlns:m="http://schemas.openxmlformats.org/officeDocument/2006/math">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altLang="zh-CN" sz="3200" i="1" dirty="0">
                            <a:latin typeface="Cambria Math" panose="02040503050406030204" pitchFamily="18" charset="0"/>
                            <a:ea typeface="MS Mincho" charset="0"/>
                            <a:cs typeface="Cambria Math" panose="02040503050406030204" pitchFamily="18" charset="0"/>
                            <a:sym typeface="Songti SC"/>
                          </a:rPr>
                          <m:t>2</m:t>
                        </m:r>
                      </m:sub>
                    </m:sSub>
                    <m:r>
                      <m:rPr>
                        <m:lit/>
                      </m:rPr>
                      <a:rPr lang="en-US" altLang="zh-CN" sz="3200" i="1" dirty="0">
                        <a:latin typeface="Cambria Math" panose="02040503050406030204" pitchFamily="18" charset="0"/>
                        <a:ea typeface="MS Mincho" charset="0"/>
                        <a:cs typeface="Cambria Math" panose="02040503050406030204" pitchFamily="18" charset="0"/>
                        <a:sym typeface="Songti SC"/>
                      </a:rPr>
                      <m:t>_</m:t>
                    </m:r>
                    <m:r>
                      <m:rPr>
                        <m:nor/>
                      </m:rPr>
                      <a:rPr lang="en-US" altLang="zh-CN" sz="3200" i="0" dirty="0" err="1">
                        <a:latin typeface="Cambria Math" panose="02040503050406030204" pitchFamily="18" charset="0"/>
                        <a:ea typeface="宋体" panose="02010600030101010101" pitchFamily="2" charset="-122"/>
                        <a:cs typeface="Cambria Math" panose="02040503050406030204" pitchFamily="18" charset="0"/>
                        <a:sym typeface="Songti SC"/>
                      </a:rPr>
                      <m:t>len</m:t>
                    </m:r>
                  </m:oMath>
                </a14:m>
                <a:r>
                  <a:rPr lang="zh-CN" altLang="en-US" sz="3200" dirty="0">
                    <a:latin typeface="Times New Roman" panose="02020603050405020304" pitchFamily="18" charset="0"/>
                    <a:ea typeface="宋体" panose="02010600030101010101" pitchFamily="2" charset="-122"/>
                    <a:cs typeface="Songti SC"/>
                    <a:sym typeface="Songti SC"/>
                  </a:rPr>
                  <a:t>为函数</a:t>
                </a:r>
                <a14:m>
                  <m:oMath xmlns:m="http://schemas.openxmlformats.org/officeDocument/2006/math">
                    <m:r>
                      <m:rPr>
                        <m:nor/>
                      </m:rPr>
                      <a:rPr lang="en-US" altLang="zh-CN"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MAC</m:t>
                    </m:r>
                    <m:d>
                      <m:d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dPr>
                      <m:e>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altLang="zh-CN" sz="3200" i="1" dirty="0">
                                <a:latin typeface="Cambria Math" panose="02040503050406030204" pitchFamily="18" charset="0"/>
                                <a:ea typeface="MS Mincho" charset="0"/>
                                <a:cs typeface="Cambria Math" panose="02040503050406030204" pitchFamily="18" charset="0"/>
                                <a:sym typeface="Songti SC"/>
                              </a:rPr>
                              <m:t>2</m:t>
                            </m:r>
                          </m:sub>
                        </m:sSub>
                        <m:r>
                          <a:rPr lang="en-US" altLang="zh-CN" sz="3200" i="1" dirty="0">
                            <a:latin typeface="Cambria Math" panose="02040503050406030204" pitchFamily="18" charset="0"/>
                            <a:ea typeface="MS Mincho" charset="0"/>
                            <a:cs typeface="Cambria Math" panose="02040503050406030204" pitchFamily="18" charset="0"/>
                            <a:sym typeface="Songti SC"/>
                          </a:rPr>
                          <m:t>,</m:t>
                        </m:r>
                        <m: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𝑍</m:t>
                        </m:r>
                      </m:e>
                    </m:d>
                  </m:oMath>
                </a14:m>
                <a:r>
                  <a:rPr lang="zh-CN" altLang="en-US" sz="3200" dirty="0">
                    <a:latin typeface="Times New Roman" panose="02020603050405020304" pitchFamily="18" charset="0"/>
                    <a:ea typeface="宋体" panose="02010600030101010101" pitchFamily="2" charset="-122"/>
                    <a:cs typeface="Songti SC"/>
                    <a:sym typeface="Songti SC"/>
                  </a:rPr>
                  <a:t>中密钥</a:t>
                </a:r>
                <a14:m>
                  <m:oMath xmlns:m="http://schemas.openxmlformats.org/officeDocument/2006/math">
                    <m:sSub>
                      <m:sSubPr>
                        <m:ctrlP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altLang="zh-CN" sz="3200" i="1" dirty="0" smtClean="0">
                            <a:latin typeface="Cambria Math" panose="02040503050406030204" pitchFamily="18" charset="0"/>
                            <a:ea typeface="MS Mincho" charset="0"/>
                            <a:cs typeface="Cambria Math" panose="02040503050406030204" pitchFamily="18" charset="0"/>
                            <a:sym typeface="Songti SC"/>
                          </a:rPr>
                          <m:t>2</m:t>
                        </m:r>
                      </m:sub>
                    </m:sSub>
                  </m:oMath>
                </a14:m>
                <a:r>
                  <a:rPr lang="zh-CN" altLang="en-US" sz="3200" dirty="0">
                    <a:latin typeface="Times New Roman" panose="02020603050405020304" pitchFamily="18" charset="0"/>
                    <a:ea typeface="宋体" panose="02010600030101010101" pitchFamily="2" charset="-122"/>
                    <a:cs typeface="Songti SC"/>
                    <a:sym typeface="Songti SC"/>
                  </a:rPr>
                  <a:t>的比特长度。</a:t>
                </a:r>
                <a:endParaRPr lang="en-US" sz="3200" dirty="0">
                  <a:latin typeface="Times New Roman" panose="02020603050405020304" pitchFamily="18" charset="0"/>
                  <a:ea typeface="宋体" panose="02010600030101010101" pitchFamily="2" charset="-122"/>
                  <a:cs typeface="Zhuque Fangsong"/>
                  <a:sym typeface="Songti SC"/>
                </a:endParaRPr>
              </a:p>
              <a:p>
                <a:pPr>
                  <a:lnSpc>
                    <a:spcPct val="117000"/>
                  </a:lnSpc>
                  <a:defRPr/>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(1)</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计算群G₁元素</a:t>
                </a:r>
                <a14:m>
                  <m:oMath xmlns:m="http://schemas.openxmlformats.org/officeDocument/2006/math">
                    <m:sSub>
                      <m:sSub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𝑄</m:t>
                        </m:r>
                      </m:e>
                      <m:sub>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𝐵</m:t>
                        </m:r>
                      </m:sub>
                    </m:sSub>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H</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1</m:t>
                        </m:r>
                      </m:sub>
                    </m:sSub>
                    <m:d>
                      <m:d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d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𝐼</m:t>
                        </m:r>
                        <m:sSub>
                          <m:sSub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𝐷</m:t>
                            </m:r>
                          </m:e>
                          <m:sub>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𝐵</m:t>
                            </m:r>
                          </m:sub>
                        </m:sSub>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𝑃ℎ𝑖𝑑</m:t>
                        </m:r>
                      </m:e>
                    </m:d>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P</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1</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P</m:t>
                        </m:r>
                      </m:e>
                      <m:sub>
                        <m:r>
                          <m:rPr>
                            <m:sty m:val="p"/>
                          </m:r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pub</m:t>
                        </m:r>
                        <m:r>
                          <a:rPr lang="en-US" altLang="zh-CN" sz="3200" i="1" dirty="0">
                            <a:latin typeface="Cambria Math" panose="02040503050406030204" pitchFamily="18" charset="0"/>
                            <a:ea typeface="MS Mincho" charset="0"/>
                            <a:cs typeface="Cambria Math" panose="02040503050406030204" pitchFamily="18" charset="0"/>
                            <a:sym typeface="Songti SC"/>
                          </a:rPr>
                          <m:t>−</m:t>
                        </m:r>
                        <m:r>
                          <m:rPr>
                            <m:sty m:val="p"/>
                          </m:r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e</m:t>
                        </m:r>
                      </m:sub>
                    </m:sSub>
                    <m:r>
                      <a:rPr lang="zh-CN" altLang="en-US" sz="3200" i="1" dirty="0">
                        <a:latin typeface="Cambria Math" panose="02040503050406030204" pitchFamily="18" charset="0"/>
                        <a:ea typeface="MS Mincho" charset="0"/>
                        <a:cs typeface="Cambria Math" panose="02040503050406030204" pitchFamily="18" charset="0"/>
                        <a:sym typeface="Songti SC"/>
                      </a:rPr>
                      <m:t>。</m:t>
                    </m:r>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marL="0" indent="0" algn="l" defTabSz="914400">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(2)</a:t>
                </a:r>
                <a:r>
                  <a:rPr lang="zh-CN" altLang="en-US" sz="3200" b="0" i="0" dirty="0">
                    <a:solidFill>
                      <a:srgbClr val="000000"/>
                    </a:solidFill>
                    <a:latin typeface="Times New Roman" panose="02020603050405020304" pitchFamily="18" charset="0"/>
                    <a:ea typeface="宋体" panose="02010600030101010101" pitchFamily="2" charset="-122"/>
                    <a:cs typeface="Songti SC"/>
                    <a:sym typeface="Songti SC"/>
                  </a:rPr>
                  <a:t>产生</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随机数</a:t>
                </a:r>
                <a14:m>
                  <m:oMath xmlns:m="http://schemas.openxmlformats.org/officeDocument/2006/math">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𝑟</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d>
                      <m:dPr>
                        <m:begChr m:val="["/>
                        <m:endChr m:val="]"/>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dPr>
                      <m:e>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1</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𝑁</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1</m:t>
                        </m:r>
                      </m:e>
                    </m:d>
                    <m:r>
                      <a:rPr lang="zh-CN" altLang="en-US" sz="3200" i="1" dirty="0">
                        <a:latin typeface="Cambria Math" panose="02040503050406030204" pitchFamily="18" charset="0"/>
                        <a:ea typeface="MS Mincho" charset="0"/>
                        <a:cs typeface="Cambria Math" panose="02040503050406030204" pitchFamily="18" charset="0"/>
                        <a:sym typeface="Songti SC"/>
                      </a:rPr>
                      <m:t>。</m:t>
                    </m:r>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(3)</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计算群</a:t>
                </a:r>
                <a14:m>
                  <m:oMath xmlns:m="http://schemas.openxmlformats.org/officeDocument/2006/math">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latin typeface="Cambria Math" panose="02040503050406030204" pitchFamily="18" charset="0"/>
                            <a:ea typeface="宋体" panose="02010600030101010101" pitchFamily="2" charset="-122"/>
                            <a:cs typeface="Cambria Math" panose="02040503050406030204" pitchFamily="18" charset="0"/>
                            <a:sym typeface="Songti SC"/>
                          </a:rPr>
                          <m:t>G</m:t>
                        </m:r>
                      </m:e>
                      <m:sub>
                        <m:r>
                          <a:rPr lang="en-US" altLang="zh-CN" sz="3200" i="1" dirty="0">
                            <a:latin typeface="Cambria Math" panose="02040503050406030204" pitchFamily="18" charset="0"/>
                            <a:ea typeface="MS Mincho" charset="0"/>
                            <a:cs typeface="Cambria Math" panose="02040503050406030204" pitchFamily="18" charset="0"/>
                            <a:sym typeface="Songti SC"/>
                          </a:rPr>
                          <m:t>1</m:t>
                        </m:r>
                      </m:sub>
                    </m:sSub>
                  </m:oMath>
                </a14:m>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元素</a:t>
                </a:r>
                <a14:m>
                  <m:oMath xmlns:m="http://schemas.openxmlformats.org/officeDocument/2006/math">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1</m:t>
                        </m:r>
                      </m:sub>
                    </m:sSub>
                    <m:r>
                      <a:rPr lang="en-US" sz="3200" b="0" i="1" dirty="0">
                        <a:solidFill>
                          <a:srgbClr val="000000"/>
                        </a:solidFill>
                        <a:latin typeface="Cambria Math" panose="02040503050406030204" pitchFamily="18" charset="0"/>
                        <a:ea typeface="MS Mincho" charset="0"/>
                        <a:cs typeface="Cambria Math" panose="02040503050406030204" pitchFamily="18" charset="0"/>
                        <a:sym typeface="Songti SC"/>
                      </a:rPr>
                      <m:t>=</m:t>
                    </m:r>
                    <m:d>
                      <m:dPr>
                        <m:begChr m:val="["/>
                        <m:endChr m:val="]"/>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d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𝑟</m:t>
                        </m:r>
                      </m:e>
                    </m:d>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Q</m:t>
                        </m:r>
                      </m:e>
                      <m:sub>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B</m:t>
                        </m:r>
                      </m:sub>
                    </m:sSub>
                  </m:oMath>
                </a14:m>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r>
                  <a:rPr lang="zh-CN" altLang="en-US" sz="3200" b="0" i="0" dirty="0">
                    <a:solidFill>
                      <a:srgbClr val="000000"/>
                    </a:solidFill>
                    <a:latin typeface="Times New Roman" panose="02020603050405020304" pitchFamily="18" charset="0"/>
                    <a:ea typeface="宋体" panose="02010600030101010101" pitchFamily="2" charset="-122"/>
                    <a:cs typeface="Songti SC"/>
                    <a:sym typeface="Songti SC"/>
                  </a:rPr>
                  <a:t>将</a:t>
                </a:r>
                <a14:m>
                  <m:oMath xmlns:m="http://schemas.openxmlformats.org/officeDocument/2006/math">
                    <m:sSub>
                      <m:sSubPr>
                        <m:ctrl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i="1" dirty="0">
                            <a:latin typeface="Cambria Math" panose="02040503050406030204" pitchFamily="18" charset="0"/>
                            <a:ea typeface="MS Mincho" charset="0"/>
                            <a:cs typeface="Cambria Math" panose="02040503050406030204" pitchFamily="18" charset="0"/>
                            <a:sym typeface="Songti SC"/>
                          </a:rPr>
                          <m:t>1</m:t>
                        </m:r>
                      </m:sub>
                    </m:sSub>
                  </m:oMath>
                </a14:m>
                <a:r>
                  <a:rPr lang="zh-CN" altLang="en-US" sz="3200" b="0" i="0" dirty="0">
                    <a:solidFill>
                      <a:srgbClr val="000000"/>
                    </a:solidFill>
                    <a:latin typeface="Times New Roman" panose="02020603050405020304" pitchFamily="18" charset="0"/>
                    <a:ea typeface="宋体" panose="02010600030101010101" pitchFamily="2" charset="-122"/>
                    <a:cs typeface="Songti SC"/>
                    <a:sym typeface="Songti SC"/>
                  </a:rPr>
                  <a:t>的数据类型</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转比特串</a:t>
                </a:r>
                <a:r>
                  <a:rPr lang="zh-CN" altLang="en-US" sz="3200" dirty="0">
                    <a:latin typeface="Times New Roman" panose="02020603050405020304" pitchFamily="18" charset="0"/>
                    <a:ea typeface="宋体" panose="02010600030101010101" pitchFamily="2" charset="-122"/>
                    <a:cs typeface="Songti SC"/>
                    <a:sym typeface="Songti SC"/>
                  </a:rPr>
                  <a:t>。</a:t>
                </a:r>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marL="0" indent="0" algn="l" defTabSz="914400">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(4)</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计算群</a:t>
                </a:r>
                <a14:m>
                  <m:oMath xmlns:m="http://schemas.openxmlformats.org/officeDocument/2006/math">
                    <m:sSub>
                      <m:sSub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𝑇</m:t>
                        </m:r>
                      </m:sub>
                    </m:sSub>
                  </m:oMath>
                </a14:m>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元素</a:t>
                </a:r>
                <a14:m>
                  <m:oMath xmlns:m="http://schemas.openxmlformats.org/officeDocument/2006/math">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𝑔</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𝑒</m:t>
                    </m:r>
                    <m:d>
                      <m:d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dPr>
                      <m:e>
                        <m:sSub>
                          <m:sSub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𝑃</m:t>
                            </m:r>
                          </m:e>
                          <m:sub>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𝑝</m:t>
                            </m:r>
                            <m:r>
                              <m:rPr>
                                <m:sty m:val="p"/>
                              </m:r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ub</m:t>
                            </m:r>
                            <m:r>
                              <a:rPr lang="en-US" altLang="zh-CN" sz="3200" i="1" dirty="0">
                                <a:latin typeface="Cambria Math" panose="02040503050406030204" pitchFamily="18" charset="0"/>
                                <a:ea typeface="MS Mincho" charset="0"/>
                                <a:cs typeface="Cambria Math" panose="02040503050406030204" pitchFamily="18" charset="0"/>
                                <a:sym typeface="Songti SC"/>
                              </a:rPr>
                              <m:t>−</m:t>
                            </m:r>
                            <m:r>
                              <m:rPr>
                                <m:sty m:val="p"/>
                              </m:rP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e</m:t>
                            </m:r>
                          </m:sub>
                        </m:sSub>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b>
                          <m:sSub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P</m:t>
                            </m:r>
                          </m:e>
                          <m:sub>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2</m:t>
                            </m:r>
                          </m:sub>
                        </m:sSub>
                      </m:e>
                    </m:d>
                    <m:r>
                      <a:rPr lang="zh-CN" altLang="en-US" sz="3200" i="1" dirty="0">
                        <a:latin typeface="Cambria Math" panose="02040503050406030204" pitchFamily="18" charset="0"/>
                        <a:ea typeface="MS Mincho" charset="0"/>
                        <a:cs typeface="Cambria Math" panose="02040503050406030204" pitchFamily="18" charset="0"/>
                        <a:sym typeface="Songti SC"/>
                      </a:rPr>
                      <m:t>。</m:t>
                    </m:r>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(5)</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计算群</a:t>
                </a:r>
                <a14:m>
                  <m:oMath xmlns:m="http://schemas.openxmlformats.org/officeDocument/2006/math">
                    <m:sSub>
                      <m:sSub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𝐺</m:t>
                        </m:r>
                      </m:e>
                      <m:sub>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𝑇</m:t>
                        </m:r>
                      </m:sub>
                    </m:sSub>
                  </m:oMath>
                </a14:m>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元素</a:t>
                </a:r>
                <a14:m>
                  <m:oMath xmlns:m="http://schemas.openxmlformats.org/officeDocument/2006/math">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𝑤</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p>
                      <m:sSupPr>
                        <m:ctrlPr>
                          <a:rPr lang="en-US" sz="3200" b="0" i="1" dirty="0" err="1">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pPr>
                      <m:e>
                        <m:r>
                          <a:rPr lang="en-US" sz="3200" b="0" i="1" dirty="0" err="1">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𝑔</m:t>
                        </m:r>
                      </m:e>
                      <m:sup>
                        <m:r>
                          <a:rPr lang="en-US" sz="3200" b="0" i="1" dirty="0" err="1">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𝑟</m:t>
                        </m:r>
                      </m:sup>
                    </m:sSup>
                  </m:oMath>
                </a14:m>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a:t>
                </a:r>
                <a:r>
                  <a:rPr lang="zh-CN" altLang="en-US" sz="3200" dirty="0">
                    <a:latin typeface="Times New Roman" panose="02020603050405020304" pitchFamily="18" charset="0"/>
                    <a:ea typeface="宋体" panose="02010600030101010101" pitchFamily="2" charset="-122"/>
                    <a:cs typeface="Songti SC"/>
                    <a:sym typeface="Songti SC"/>
                  </a:rPr>
                  <a:t>将</a:t>
                </a:r>
                <a14:m>
                  <m:oMath xmlns:m="http://schemas.openxmlformats.org/officeDocument/2006/math">
                    <m:r>
                      <a:rPr lang="en-US" altLang="zh-CN" sz="3200" i="1" dirty="0">
                        <a:latin typeface="Cambria Math" panose="02040503050406030204" pitchFamily="18" charset="0"/>
                        <a:ea typeface="宋体" panose="02010600030101010101" pitchFamily="2" charset="-122"/>
                        <a:cs typeface="Cambria Math" panose="02040503050406030204" pitchFamily="18" charset="0"/>
                        <a:sym typeface="Songti SC"/>
                      </a:rPr>
                      <m:t>𝑤</m:t>
                    </m:r>
                  </m:oMath>
                </a14:m>
                <a:r>
                  <a:rPr lang="zh-CN" altLang="en-US" sz="3200" dirty="0">
                    <a:latin typeface="Times New Roman" panose="02020603050405020304" pitchFamily="18" charset="0"/>
                    <a:ea typeface="宋体" panose="02010600030101010101" pitchFamily="2" charset="-122"/>
                    <a:cs typeface="Songti SC"/>
                    <a:sym typeface="Songti SC"/>
                  </a:rPr>
                  <a:t>的数据类型</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转比特串</a:t>
                </a:r>
                <a:r>
                  <a:rPr lang="en-US" sz="3200" b="0" i="0" dirty="0">
                    <a:solidFill>
                      <a:srgbClr val="000000"/>
                    </a:solidFill>
                    <a:latin typeface="Times New Roman" panose="02020603050405020304" pitchFamily="18" charset="0"/>
                    <a:ea typeface="宋体" panose="02010600030101010101" pitchFamily="2" charset="-122"/>
                    <a:cs typeface="Songti SC"/>
                    <a:sym typeface="Songti SC"/>
                  </a:rPr>
                  <a:t>；</a:t>
                </a:r>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p:txBody>
          </p:sp>
        </mc:Choice>
        <mc:Fallback>
          <p:sp>
            <p:nvSpPr>
              <p:cNvPr id="5" name="AutoShape 5"/>
              <p:cNvSpPr txBox="1">
                <a:spLocks noRot="1" noChangeAspect="1" noMove="1" noResize="1" noEditPoints="1" noAdjustHandles="1" noChangeArrowheads="1" noChangeShapeType="1" noTextEdit="1"/>
              </p:cNvSpPr>
              <p:nvPr/>
            </p:nvSpPr>
            <p:spPr>
              <a:xfrm>
                <a:off x="1831975" y="1903891"/>
                <a:ext cx="13503965" cy="8026400"/>
              </a:xfrm>
              <a:prstGeom prst="rect">
                <a:avLst/>
              </a:prstGeom>
              <a:blipFill rotWithShape="1">
                <a:blip r:embed="rId1"/>
                <a:stretch>
                  <a:fillRect t="-2" b="2"/>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E336DB44-AFF5-4569-8919-5FC08BBE472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2" name="AutoShape 4"/>
          <p:cNvSpPr txBox="1"/>
          <p:nvPr/>
        </p:nvSpPr>
        <p:spPr>
          <a:xfrm>
            <a:off x="1120328" y="459904"/>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9.2.3</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3" name="TextBox 30"/>
          <p:cNvSpPr txBox="1"/>
          <p:nvPr/>
        </p:nvSpPr>
        <p:spPr>
          <a:xfrm>
            <a:off x="2724785" y="49425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加密和解密过程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AutoShape 5"/>
              <p:cNvSpPr txBox="1"/>
              <p:nvPr/>
            </p:nvSpPr>
            <p:spPr>
              <a:xfrm>
                <a:off x="1831975" y="1903891"/>
                <a:ext cx="13503965" cy="8131649"/>
              </a:xfrm>
              <a:prstGeom prst="rect">
                <a:avLst/>
              </a:prstGeom>
              <a:noFill/>
              <a:ln w="19050" cap="flat" cmpd="sng">
                <a:noFill/>
                <a:prstDash val="solid"/>
                <a:round/>
              </a:ln>
            </p:spPr>
            <p:txBody>
              <a:bodyPr vert="horz" wrap="square" lIns="0" tIns="0" rIns="0" bIns="0" rtlCol="0" anchor="t" anchorCtr="0"/>
              <a:lstStyle/>
              <a:p>
                <a:pPr>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(6)</a:t>
                </a:r>
                <a:r>
                  <a:rPr lang="zh-CN" altLang="en-US" sz="3200" dirty="0">
                    <a:latin typeface="Times New Roman" panose="02020603050405020304" pitchFamily="18" charset="0"/>
                    <a:ea typeface="宋体" panose="02010600030101010101" pitchFamily="2" charset="-122"/>
                    <a:cs typeface="Songti SC"/>
                    <a:sym typeface="Songti SC"/>
                  </a:rPr>
                  <a:t>如果加密明文的方法是基于密钥派生函数的序列密码算法，那么首先计算整数</a:t>
                </a:r>
                <a14:m>
                  <m:oMath xmlns:m="http://schemas.openxmlformats.org/officeDocument/2006/math">
                    <m:r>
                      <a:rPr lang="en-US" sz="3200" i="1" dirty="0" err="1" smtClean="0">
                        <a:latin typeface="Cambria Math" panose="02040503050406030204" pitchFamily="18" charset="0"/>
                        <a:ea typeface="宋体" panose="02010600030101010101" pitchFamily="2" charset="-122"/>
                        <a:cs typeface="Cambria Math" panose="02040503050406030204" pitchFamily="18" charset="0"/>
                        <a:sym typeface="Songti SC"/>
                      </a:rPr>
                      <m:t>𝑘𝑙𝑒𝑛</m:t>
                    </m:r>
                    <m:r>
                      <a:rPr lang="en-US" sz="3200" i="1" dirty="0" smtClean="0">
                        <a:latin typeface="Cambria Math" panose="02040503050406030204" pitchFamily="18" charset="0"/>
                        <a:ea typeface="MS Mincho" charset="0"/>
                        <a:cs typeface="Cambria Math" panose="02040503050406030204" pitchFamily="18" charset="0"/>
                        <a:sym typeface="Songti SC"/>
                      </a:rPr>
                      <m:t>=</m:t>
                    </m:r>
                    <m:r>
                      <a:rPr lang="en-US" sz="3200" i="1" dirty="0" err="1" smtClean="0">
                        <a:latin typeface="Cambria Math" panose="02040503050406030204" pitchFamily="18" charset="0"/>
                        <a:ea typeface="宋体" panose="02010600030101010101" pitchFamily="2" charset="-122"/>
                        <a:cs typeface="Cambria Math" panose="02040503050406030204" pitchFamily="18" charset="0"/>
                        <a:sym typeface="Songti SC"/>
                      </a:rPr>
                      <m:t>𝑚𝑙𝑒𝑛</m:t>
                    </m:r>
                    <m:r>
                      <a:rPr lang="en-US" sz="3200" i="1" dirty="0" smtClean="0">
                        <a:latin typeface="Cambria Math" panose="02040503050406030204" pitchFamily="18" charset="0"/>
                        <a:ea typeface="MS Mincho" charset="0"/>
                        <a:cs typeface="Cambria Math" panose="02040503050406030204" pitchFamily="18" charset="0"/>
                        <a:sym typeface="Songti SC"/>
                      </a:rPr>
                      <m:t>+</m:t>
                    </m:r>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2</m:t>
                        </m:r>
                      </m:sub>
                    </m:sSub>
                    <m:r>
                      <m:rPr>
                        <m:lit/>
                      </m:rPr>
                      <a:rPr lang="en-US" sz="3200" i="1" dirty="0" smtClean="0">
                        <a:latin typeface="Cambria Math" panose="02040503050406030204" pitchFamily="18" charset="0"/>
                        <a:ea typeface="MS Mincho" charset="0"/>
                        <a:cs typeface="Cambria Math" panose="02040503050406030204" pitchFamily="18" charset="0"/>
                        <a:sym typeface="Songti SC"/>
                      </a:rPr>
                      <m:t>_</m:t>
                    </m:r>
                    <m:r>
                      <a:rPr lang="en-US" sz="3200" i="1" dirty="0" err="1" smtClean="0">
                        <a:latin typeface="Cambria Math" panose="02040503050406030204" pitchFamily="18" charset="0"/>
                        <a:ea typeface="宋体" panose="02010600030101010101" pitchFamily="2" charset="-122"/>
                        <a:cs typeface="Cambria Math" panose="02040503050406030204" pitchFamily="18" charset="0"/>
                        <a:sym typeface="Songti SC"/>
                      </a:rPr>
                      <m:t>𝑙𝑒𝑛</m:t>
                    </m:r>
                    <m:r>
                      <a:rPr lang="en-US" sz="3200" i="1" dirty="0" smtClean="0">
                        <a:latin typeface="Cambria Math" panose="02040503050406030204" pitchFamily="18" charset="0"/>
                        <a:ea typeface="MS Mincho" charset="0"/>
                        <a:cs typeface="Cambria Math" panose="02040503050406030204" pitchFamily="18" charset="0"/>
                        <a:sym typeface="Songti SC"/>
                      </a:rPr>
                      <m:t>；</m:t>
                    </m:r>
                  </m:oMath>
                </a14:m>
                <a:r>
                  <a:rPr lang="zh-CN" altLang="en-US" sz="3200" dirty="0">
                    <a:latin typeface="Times New Roman" panose="02020603050405020304" pitchFamily="18" charset="0"/>
                    <a:ea typeface="宋体" panose="02010600030101010101" pitchFamily="2" charset="-122"/>
                    <a:cs typeface="Songti SC"/>
                    <a:sym typeface="Songti SC"/>
                  </a:rPr>
                  <a:t>其次计算</a:t>
                </a:r>
                <a14:m>
                  <m:oMath xmlns:m="http://schemas.openxmlformats.org/officeDocument/2006/math">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r>
                      <a:rPr lang="en-US" sz="3200" i="1" dirty="0" smtClean="0">
                        <a:latin typeface="Cambria Math" panose="02040503050406030204" pitchFamily="18" charset="0"/>
                        <a:ea typeface="MS Mincho" charset="0"/>
                        <a:cs typeface="Cambria Math" panose="02040503050406030204" pitchFamily="18" charset="0"/>
                        <a:sym typeface="Songti SC"/>
                      </a:rPr>
                      <m:t>=</m:t>
                    </m:r>
                    <m:r>
                      <m:rPr>
                        <m:nor/>
                      </m:rPr>
                      <a:rPr lang="en-US"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KDF</m:t>
                    </m:r>
                    <m:d>
                      <m:d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dPr>
                      <m:e>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𝐶</m:t>
                            </m:r>
                          </m:e>
                          <m:sub>
                            <m:r>
                              <a:rPr lang="en-US" sz="3200" i="1" dirty="0" smtClean="0">
                                <a:latin typeface="Cambria Math" panose="02040503050406030204" pitchFamily="18" charset="0"/>
                                <a:ea typeface="MS Mincho" charset="0"/>
                                <a:cs typeface="Cambria Math" panose="02040503050406030204" pitchFamily="18" charset="0"/>
                                <a:sym typeface="Songti SC"/>
                              </a:rPr>
                              <m:t>1</m:t>
                            </m:r>
                          </m:sub>
                        </m:sSub>
                        <m:sSub>
                          <m:sSubPr>
                            <m:ctrlPr>
                              <a:rPr lang="en-US" sz="3200" i="1" dirty="0" err="1"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err="1" smtClean="0">
                                <a:latin typeface="Cambria Math" panose="02040503050406030204" pitchFamily="18" charset="0"/>
                                <a:ea typeface="宋体" panose="02010600030101010101" pitchFamily="2" charset="-122"/>
                                <a:cs typeface="Cambria Math" panose="02040503050406030204" pitchFamily="18" charset="0"/>
                                <a:sym typeface="Songti SC"/>
                              </a:rPr>
                              <m:t>𝑃</m:t>
                            </m:r>
                          </m:e>
                          <m:sub>
                            <m:r>
                              <a:rPr lang="en-US" sz="3200" i="1" dirty="0" err="1" smtClean="0">
                                <a:latin typeface="Cambria Math" panose="02040503050406030204" pitchFamily="18" charset="0"/>
                                <a:ea typeface="宋体" panose="02010600030101010101" pitchFamily="2" charset="-122"/>
                                <a:cs typeface="Cambria Math" panose="02040503050406030204" pitchFamily="18" charset="0"/>
                                <a:sym typeface="Songti SC"/>
                              </a:rPr>
                              <m:t>𝑤</m:t>
                            </m:r>
                          </m:sub>
                        </m:sSub>
                        <m:r>
                          <m:rPr>
                            <m:sty m:val="p"/>
                          </m:rPr>
                          <a:rPr lang="en-US" sz="3200" b="0" i="1" dirty="0" smtClean="0">
                            <a:latin typeface="Cambria Math" panose="02040503050406030204" pitchFamily="18" charset="0"/>
                            <a:ea typeface="宋体" panose="02010600030101010101" pitchFamily="2" charset="-122"/>
                            <a:cs typeface="Cambria Math" panose="02040503050406030204" pitchFamily="18" charset="0"/>
                            <a:sym typeface="Songti SC"/>
                          </a:rPr>
                          <m:t>P</m:t>
                        </m:r>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nor/>
                              </m:rPr>
                              <a:rPr lang="en-US"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ID</m:t>
                            </m:r>
                          </m:e>
                          <m:sub>
                            <m:r>
                              <m:rPr>
                                <m:nor/>
                              </m:rPr>
                              <a:rPr lang="en-US"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B</m:t>
                            </m:r>
                          </m:sub>
                        </m:sSub>
                        <m:r>
                          <a:rPr lang="en-US" sz="3200" i="1" dirty="0" smtClean="0">
                            <a:latin typeface="Cambria Math" panose="02040503050406030204" pitchFamily="18" charset="0"/>
                            <a:ea typeface="MS Mincho" charset="0"/>
                            <a:cs typeface="Cambria Math" panose="02040503050406030204" pitchFamily="18" charset="0"/>
                            <a:sym typeface="Songti SC"/>
                          </a:rPr>
                          <m:t>,</m:t>
                        </m:r>
                        <m:r>
                          <m:rPr>
                            <m:nor/>
                          </m:rPr>
                          <a:rPr lang="en-US" sz="3200" i="0" dirty="0" err="1" smtClean="0">
                            <a:latin typeface="Cambria Math" panose="02040503050406030204" pitchFamily="18" charset="0"/>
                            <a:ea typeface="宋体" panose="02010600030101010101" pitchFamily="2" charset="-122"/>
                            <a:cs typeface="Cambria Math" panose="02040503050406030204" pitchFamily="18" charset="0"/>
                            <a:sym typeface="Songti SC"/>
                          </a:rPr>
                          <m:t>klen</m:t>
                        </m:r>
                      </m:e>
                    </m:d>
                    <m:r>
                      <a:rPr lang="en-US" sz="3200" i="1" dirty="0" smtClean="0">
                        <a:latin typeface="Cambria Math" panose="02040503050406030204" pitchFamily="18" charset="0"/>
                        <a:ea typeface="MS Mincho" charset="0"/>
                        <a:cs typeface="Cambria Math" panose="02040503050406030204" pitchFamily="18" charset="0"/>
                        <a:sym typeface="Songti SC"/>
                      </a:rPr>
                      <m:t>，</m:t>
                    </m:r>
                  </m:oMath>
                </a14:m>
                <a:r>
                  <a:rPr lang="zh-CN" altLang="en-US" sz="3200" dirty="0">
                    <a:latin typeface="Times New Roman" panose="02020603050405020304" pitchFamily="18" charset="0"/>
                    <a:ea typeface="宋体" panose="02010600030101010101" pitchFamily="2" charset="-122"/>
                    <a:cs typeface="Songti SC"/>
                    <a:sym typeface="Songti SC"/>
                  </a:rPr>
                  <a:t>令</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1</m:t>
                        </m:r>
                      </m:sub>
                    </m:sSub>
                  </m:oMath>
                </a14:m>
                <a:r>
                  <a:rPr lang="zh-CN" altLang="en-US" sz="3200" dirty="0">
                    <a:latin typeface="Times New Roman" panose="02020603050405020304" pitchFamily="18" charset="0"/>
                    <a:ea typeface="宋体" panose="02010600030101010101" pitchFamily="2" charset="-122"/>
                    <a:cs typeface="Songti SC"/>
                    <a:sym typeface="Songti SC"/>
                  </a:rPr>
                  <a:t>为</a:t>
                </a:r>
                <a14:m>
                  <m:oMath xmlns:m="http://schemas.openxmlformats.org/officeDocument/2006/math">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oMath>
                </a14:m>
                <a:r>
                  <a:rPr lang="zh-CN" altLang="en-US" sz="3200" dirty="0">
                    <a:latin typeface="Times New Roman" panose="02020603050405020304" pitchFamily="18" charset="0"/>
                    <a:ea typeface="宋体" panose="02010600030101010101" pitchFamily="2" charset="-122"/>
                    <a:cs typeface="Songti SC"/>
                    <a:sym typeface="Songti SC"/>
                  </a:rPr>
                  <a:t>最左边的</a:t>
                </a:r>
                <a14:m>
                  <m:oMath xmlns:m="http://schemas.openxmlformats.org/officeDocument/2006/math">
                    <m:r>
                      <m:rPr>
                        <m:nor/>
                      </m:rPr>
                      <a:rPr lang="en-US"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mlen</m:t>
                    </m:r>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𝑏𝑖𝑡</m:t>
                    </m:r>
                    <m:r>
                      <a:rPr lang="en-US" sz="3200" i="1" dirty="0" smtClean="0">
                        <a:latin typeface="Cambria Math" panose="02040503050406030204" pitchFamily="18" charset="0"/>
                        <a:ea typeface="MS Mincho" charset="0"/>
                        <a:cs typeface="Cambria Math" panose="02040503050406030204" pitchFamily="18" charset="0"/>
                        <a:sym typeface="Songti SC"/>
                      </a:rPr>
                      <m:t>，</m:t>
                    </m:r>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2</m:t>
                        </m:r>
                      </m:sub>
                    </m:sSub>
                  </m:oMath>
                </a14:m>
                <a:r>
                  <a:rPr lang="zh-CN" altLang="en-US" sz="3200" dirty="0">
                    <a:latin typeface="Times New Roman" panose="02020603050405020304" pitchFamily="18" charset="0"/>
                    <a:ea typeface="宋体" panose="02010600030101010101" pitchFamily="2" charset="-122"/>
                    <a:cs typeface="Songti SC"/>
                    <a:sym typeface="Songti SC"/>
                  </a:rPr>
                  <a:t>为剩下的</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2</m:t>
                        </m:r>
                      </m:sub>
                    </m:sSub>
                    <m:r>
                      <m:rPr>
                        <m:lit/>
                      </m:rPr>
                      <a:rPr lang="en-US" sz="3200" i="1" dirty="0" smtClean="0">
                        <a:latin typeface="Cambria Math" panose="02040503050406030204" pitchFamily="18" charset="0"/>
                        <a:ea typeface="MS Mincho" charset="0"/>
                        <a:cs typeface="Cambria Math" panose="02040503050406030204" pitchFamily="18" charset="0"/>
                        <a:sym typeface="Songti SC"/>
                      </a:rPr>
                      <m:t>_</m:t>
                    </m:r>
                    <m:r>
                      <m:rPr>
                        <m:nor/>
                      </m:rPr>
                      <a:rPr lang="en-US" sz="3200" i="0" dirty="0" err="1" smtClean="0">
                        <a:latin typeface="Cambria Math" panose="02040503050406030204" pitchFamily="18" charset="0"/>
                        <a:ea typeface="宋体" panose="02010600030101010101" pitchFamily="2" charset="-122"/>
                        <a:cs typeface="Cambria Math" panose="02040503050406030204" pitchFamily="18" charset="0"/>
                        <a:sym typeface="Songti SC"/>
                      </a:rPr>
                      <m:t>len</m:t>
                    </m:r>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𝑏𝑖𝑡</m:t>
                    </m:r>
                  </m:oMath>
                </a14:m>
                <a:r>
                  <a:rPr lang="en-US" sz="3200" dirty="0">
                    <a:latin typeface="Times New Roman" panose="02020603050405020304" pitchFamily="18" charset="0"/>
                    <a:ea typeface="宋体" panose="02010600030101010101" pitchFamily="2" charset="-122"/>
                    <a:cs typeface="Songti SC"/>
                    <a:sym typeface="Songti SC"/>
                  </a:rPr>
                  <a:t>，</a:t>
                </a:r>
                <a:r>
                  <a:rPr lang="zh-CN" altLang="en-US" sz="3200" dirty="0">
                    <a:latin typeface="Times New Roman" panose="02020603050405020304" pitchFamily="18" charset="0"/>
                    <a:ea typeface="宋体" panose="02010600030101010101" pitchFamily="2" charset="-122"/>
                    <a:cs typeface="Songti SC"/>
                    <a:sym typeface="Songti SC"/>
                  </a:rPr>
                  <a:t>若</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1</m:t>
                        </m:r>
                      </m:sub>
                    </m:sSub>
                  </m:oMath>
                </a14:m>
                <a:r>
                  <a:rPr lang="zh-CN" altLang="en-US" sz="3200" dirty="0">
                    <a:latin typeface="Times New Roman" panose="02020603050405020304" pitchFamily="18" charset="0"/>
                    <a:ea typeface="宋体" panose="02010600030101010101" pitchFamily="2" charset="-122"/>
                    <a:cs typeface="Songti SC"/>
                    <a:sym typeface="Songti SC"/>
                  </a:rPr>
                  <a:t>为全</a:t>
                </a:r>
                <a:r>
                  <a:rPr lang="en-US" altLang="zh-CN" sz="3200" dirty="0">
                    <a:latin typeface="Times New Roman" panose="02020603050405020304" pitchFamily="18" charset="0"/>
                    <a:ea typeface="宋体" panose="02010600030101010101" pitchFamily="2" charset="-122"/>
                    <a:cs typeface="Songti SC"/>
                    <a:sym typeface="Songti SC"/>
                  </a:rPr>
                  <a:t>0</a:t>
                </a:r>
                <a:r>
                  <a:rPr lang="zh-CN" altLang="en-US" sz="3200" dirty="0">
                    <a:latin typeface="Times New Roman" panose="02020603050405020304" pitchFamily="18" charset="0"/>
                    <a:ea typeface="宋体" panose="02010600030101010101" pitchFamily="2" charset="-122"/>
                    <a:cs typeface="Songti SC"/>
                    <a:sym typeface="Songti SC"/>
                  </a:rPr>
                  <a:t>比特串，则重新选择随机数</a:t>
                </a:r>
                <a:r>
                  <a:rPr lang="en-US" sz="3200" dirty="0">
                    <a:latin typeface="Times New Roman" panose="02020603050405020304" pitchFamily="18" charset="0"/>
                    <a:ea typeface="宋体" panose="02010600030101010101" pitchFamily="2" charset="-122"/>
                    <a:cs typeface="Songti SC"/>
                    <a:sym typeface="Songti SC"/>
                  </a:rPr>
                  <a:t>r；</a:t>
                </a:r>
                <a:r>
                  <a:rPr lang="zh-CN" altLang="en-US" sz="3200" dirty="0">
                    <a:latin typeface="Times New Roman" panose="02020603050405020304" pitchFamily="18" charset="0"/>
                    <a:ea typeface="宋体" panose="02010600030101010101" pitchFamily="2" charset="-122"/>
                    <a:cs typeface="Songti SC"/>
                    <a:sym typeface="Songti SC"/>
                  </a:rPr>
                  <a:t>最后计算</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𝐶</m:t>
                        </m:r>
                      </m:e>
                      <m:sub>
                        <m:r>
                          <a:rPr lang="en-US" sz="3200" i="1" dirty="0" smtClean="0">
                            <a:latin typeface="Cambria Math" panose="02040503050406030204" pitchFamily="18" charset="0"/>
                            <a:ea typeface="MS Mincho" charset="0"/>
                            <a:cs typeface="Cambria Math" panose="02040503050406030204" pitchFamily="18" charset="0"/>
                            <a:sym typeface="Songti SC"/>
                          </a:rPr>
                          <m:t>2</m:t>
                        </m:r>
                      </m:sub>
                    </m:sSub>
                    <m:r>
                      <a:rPr lang="en-US" sz="3200" i="1" dirty="0" smtClean="0">
                        <a:latin typeface="Cambria Math" panose="02040503050406030204" pitchFamily="18" charset="0"/>
                        <a:ea typeface="MS Mincho" charset="0"/>
                        <a:cs typeface="Cambria Math" panose="02040503050406030204" pitchFamily="18" charset="0"/>
                        <a:sym typeface="Songti SC"/>
                      </a:rPr>
                      <m:t>=</m:t>
                    </m:r>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𝑀</m:t>
                    </m:r>
                    <m:r>
                      <a:rPr lang="en-US" sz="3200" i="1" dirty="0" smtClean="0">
                        <a:latin typeface="Cambria Math" panose="02040503050406030204" pitchFamily="18" charset="0"/>
                        <a:ea typeface="MS Mincho" charset="0"/>
                        <a:cs typeface="Cambria Math" panose="02040503050406030204" pitchFamily="18" charset="0"/>
                        <a:sym typeface="Songti SC"/>
                      </a:rPr>
                      <m:t>⊕</m:t>
                    </m:r>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1</m:t>
                        </m:r>
                      </m:sub>
                    </m:sSub>
                    <m:r>
                      <a:rPr lang="en-US" sz="3200" i="1" dirty="0" smtClean="0">
                        <a:latin typeface="Cambria Math" panose="02040503050406030204" pitchFamily="18" charset="0"/>
                        <a:ea typeface="MS Mincho" charset="0"/>
                        <a:cs typeface="Cambria Math" panose="02040503050406030204" pitchFamily="18" charset="0"/>
                        <a:sym typeface="Songti SC"/>
                      </a:rPr>
                      <m:t>。</m:t>
                    </m:r>
                  </m:oMath>
                </a14:m>
                <a:endParaRPr lang="zh-CN" altLang="en-US" sz="3200" dirty="0">
                  <a:latin typeface="Times New Roman" panose="02020603050405020304" pitchFamily="18" charset="0"/>
                  <a:ea typeface="宋体" panose="02010600030101010101" pitchFamily="2" charset="-122"/>
                  <a:cs typeface="Songti SC"/>
                  <a:sym typeface="Songti SC"/>
                </a:endParaRPr>
              </a:p>
              <a:p>
                <a:pPr>
                  <a:lnSpc>
                    <a:spcPct val="117000"/>
                  </a:lnSpc>
                </a:pPr>
                <a:r>
                  <a:rPr lang="zh-CN" altLang="en-US" sz="3200" dirty="0">
                    <a:latin typeface="Times New Roman" panose="02020603050405020304" pitchFamily="18" charset="0"/>
                    <a:ea typeface="宋体" panose="02010600030101010101" pitchFamily="2" charset="-122"/>
                    <a:cs typeface="Songti SC"/>
                    <a:sym typeface="Songti SC"/>
                  </a:rPr>
                  <a:t>如果加密明文的方法是结合密钥派生函数的分组密码算法，那么首先计算整数</a:t>
                </a:r>
                <a14:m>
                  <m:oMath xmlns:m="http://schemas.openxmlformats.org/officeDocument/2006/math">
                    <m:r>
                      <m:rPr>
                        <m:nor/>
                      </m:rPr>
                      <a:rPr lang="en-US" sz="3200" i="0" dirty="0" smtClean="0">
                        <a:latin typeface="Cambria Math" panose="02040503050406030204" pitchFamily="18" charset="0"/>
                        <a:ea typeface="宋体" panose="02010600030101010101" pitchFamily="2" charset="-122"/>
                        <a:cs typeface="Cambria Math" panose="02040503050406030204" pitchFamily="18" charset="0"/>
                        <a:sym typeface="Songti SC"/>
                      </a:rPr>
                      <m:t>klen</m:t>
                    </m:r>
                    <m:r>
                      <a:rPr lang="en-US" sz="3200" i="1" dirty="0">
                        <a:latin typeface="Cambria Math" panose="02040503050406030204" pitchFamily="18" charset="0"/>
                        <a:ea typeface="MS Mincho" charset="0"/>
                        <a:cs typeface="Cambria Math" panose="02040503050406030204" pitchFamily="18" charset="0"/>
                        <a:sym typeface="Songti SC"/>
                      </a:rPr>
                      <m:t>=</m:t>
                    </m:r>
                    <m:sSub>
                      <m:sSub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a:latin typeface="Cambria Math" panose="02040503050406030204" pitchFamily="18" charset="0"/>
                            <a:ea typeface="MS Mincho" charset="0"/>
                            <a:cs typeface="Cambria Math" panose="02040503050406030204" pitchFamily="18" charset="0"/>
                            <a:sym typeface="Songti SC"/>
                          </a:rPr>
                          <m:t>1</m:t>
                        </m:r>
                      </m:sub>
                    </m:sSub>
                    <m:r>
                      <m:rPr>
                        <m:lit/>
                      </m:rPr>
                      <a:rPr lang="en-US" sz="3200" i="1" dirty="0">
                        <a:latin typeface="Cambria Math" panose="02040503050406030204" pitchFamily="18" charset="0"/>
                        <a:ea typeface="MS Mincho" charset="0"/>
                        <a:cs typeface="Cambria Math" panose="02040503050406030204" pitchFamily="18" charset="0"/>
                        <a:sym typeface="Songti SC"/>
                      </a:rPr>
                      <m:t>_</m:t>
                    </m:r>
                    <m:r>
                      <m:rPr>
                        <m:nor/>
                      </m:rPr>
                      <a:rPr lang="en-US" sz="3200" i="0" dirty="0" err="1">
                        <a:latin typeface="Cambria Math" panose="02040503050406030204" pitchFamily="18" charset="0"/>
                        <a:ea typeface="宋体" panose="02010600030101010101" pitchFamily="2" charset="-122"/>
                        <a:cs typeface="Cambria Math" panose="02040503050406030204" pitchFamily="18" charset="0"/>
                        <a:sym typeface="Songti SC"/>
                      </a:rPr>
                      <m:t>len</m:t>
                    </m:r>
                    <m:r>
                      <a:rPr lang="en-US" sz="3200" i="1" dirty="0">
                        <a:latin typeface="Cambria Math" panose="02040503050406030204" pitchFamily="18" charset="0"/>
                        <a:ea typeface="MS Mincho" charset="0"/>
                        <a:cs typeface="Cambria Math" panose="02040503050406030204" pitchFamily="18" charset="0"/>
                        <a:sym typeface="Songti SC"/>
                      </a:rPr>
                      <m:t>+</m:t>
                    </m:r>
                    <m:sSub>
                      <m:sSub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a:latin typeface="Cambria Math" panose="02040503050406030204" pitchFamily="18" charset="0"/>
                            <a:ea typeface="MS Mincho" charset="0"/>
                            <a:cs typeface="Cambria Math" panose="02040503050406030204" pitchFamily="18" charset="0"/>
                            <a:sym typeface="Songti SC"/>
                          </a:rPr>
                          <m:t>2</m:t>
                        </m:r>
                      </m:sub>
                    </m:sSub>
                    <m:r>
                      <m:rPr>
                        <m:lit/>
                      </m:rPr>
                      <a:rPr lang="en-US" sz="3200" i="1" dirty="0">
                        <a:latin typeface="Cambria Math" panose="02040503050406030204" pitchFamily="18" charset="0"/>
                        <a:ea typeface="MS Mincho" charset="0"/>
                        <a:cs typeface="Cambria Math" panose="02040503050406030204" pitchFamily="18" charset="0"/>
                        <a:sym typeface="Songti SC"/>
                      </a:rPr>
                      <m:t>_</m:t>
                    </m:r>
                    <m:r>
                      <m:rPr>
                        <m:nor/>
                      </m:rPr>
                      <a:rPr lang="en-US" sz="3200" i="0" dirty="0" err="1">
                        <a:latin typeface="Cambria Math" panose="02040503050406030204" pitchFamily="18" charset="0"/>
                        <a:ea typeface="宋体" panose="02010600030101010101" pitchFamily="2" charset="-122"/>
                        <a:cs typeface="Cambria Math" panose="02040503050406030204" pitchFamily="18" charset="0"/>
                        <a:sym typeface="Songti SC"/>
                      </a:rPr>
                      <m:t>len</m:t>
                    </m:r>
                  </m:oMath>
                </a14:m>
                <a:r>
                  <a:rPr lang="en-US" sz="3200" dirty="0">
                    <a:latin typeface="Times New Roman" panose="02020603050405020304" pitchFamily="18" charset="0"/>
                    <a:ea typeface="宋体" panose="02010600030101010101" pitchFamily="2" charset="-122"/>
                    <a:cs typeface="Songti SC"/>
                    <a:sym typeface="Songti SC"/>
                  </a:rPr>
                  <a:t>；</a:t>
                </a:r>
                <a:r>
                  <a:rPr lang="zh-CN" altLang="en-US" sz="3200" dirty="0">
                    <a:latin typeface="Times New Roman" panose="02020603050405020304" pitchFamily="18" charset="0"/>
                    <a:ea typeface="宋体" panose="02010600030101010101" pitchFamily="2" charset="-122"/>
                    <a:cs typeface="Songti SC"/>
                    <a:sym typeface="Songti SC"/>
                  </a:rPr>
                  <a:t>其次计算</a:t>
                </a:r>
                <a14:m>
                  <m:oMath xmlns:m="http://schemas.openxmlformats.org/officeDocument/2006/math">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r>
                      <a:rPr lang="en-US" sz="3200" i="1" dirty="0">
                        <a:latin typeface="Cambria Math" panose="02040503050406030204" pitchFamily="18" charset="0"/>
                        <a:ea typeface="MS Mincho" charset="0"/>
                        <a:cs typeface="Cambria Math" panose="02040503050406030204" pitchFamily="18" charset="0"/>
                        <a:sym typeface="Songti SC"/>
                      </a:rPr>
                      <m:t>=</m:t>
                    </m:r>
                    <m:r>
                      <m:rPr>
                        <m:nor/>
                      </m:rPr>
                      <a:rPr lang="en-US" sz="3200" i="0" dirty="0">
                        <a:latin typeface="Cambria Math" panose="02040503050406030204" pitchFamily="18" charset="0"/>
                        <a:ea typeface="宋体" panose="02010600030101010101" pitchFamily="2" charset="-122"/>
                        <a:cs typeface="Cambria Math" panose="02040503050406030204" pitchFamily="18" charset="0"/>
                        <a:sym typeface="Songti SC"/>
                      </a:rPr>
                      <m:t>KDF</m:t>
                    </m:r>
                    <m:d>
                      <m:d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dPr>
                      <m:e>
                        <m:sSub>
                          <m:sSub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𝐶</m:t>
                            </m:r>
                          </m:e>
                          <m:sub>
                            <m:r>
                              <a:rPr lang="en-US" sz="3200" i="1" dirty="0">
                                <a:latin typeface="Cambria Math" panose="02040503050406030204" pitchFamily="18" charset="0"/>
                                <a:ea typeface="MS Mincho" charset="0"/>
                                <a:cs typeface="Cambria Math" panose="02040503050406030204" pitchFamily="18" charset="0"/>
                                <a:sym typeface="Songti SC"/>
                              </a:rPr>
                              <m:t>1</m:t>
                            </m:r>
                          </m:sub>
                        </m:sSub>
                        <m:sSub>
                          <m:sSubPr>
                            <m:ctrlPr>
                              <a:rPr lang="en-US" sz="3200" i="1" dirty="0" err="1">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err="1">
                                <a:latin typeface="Cambria Math" panose="02040503050406030204" pitchFamily="18" charset="0"/>
                                <a:ea typeface="宋体" panose="02010600030101010101" pitchFamily="2" charset="-122"/>
                                <a:cs typeface="Cambria Math" panose="02040503050406030204" pitchFamily="18" charset="0"/>
                                <a:sym typeface="Songti SC"/>
                              </a:rPr>
                              <m:t>𝑃</m:t>
                            </m:r>
                          </m:e>
                          <m:sub>
                            <m:r>
                              <a:rPr lang="en-US" sz="3200" i="1" dirty="0" err="1">
                                <a:latin typeface="Cambria Math" panose="02040503050406030204" pitchFamily="18" charset="0"/>
                                <a:ea typeface="宋体" panose="02010600030101010101" pitchFamily="2" charset="-122"/>
                                <a:cs typeface="Cambria Math" panose="02040503050406030204" pitchFamily="18" charset="0"/>
                                <a:sym typeface="Songti SC"/>
                              </a:rPr>
                              <m:t>𝑤</m:t>
                            </m:r>
                          </m:sub>
                        </m:sSub>
                        <m:r>
                          <m:rPr>
                            <m:sty m:val="p"/>
                          </m:rPr>
                          <a:rPr lang="en-US" sz="3200" b="0" i="1" dirty="0" smtClean="0">
                            <a:latin typeface="Cambria Math" panose="02040503050406030204" pitchFamily="18" charset="0"/>
                            <a:ea typeface="宋体" panose="02010600030101010101" pitchFamily="2" charset="-122"/>
                            <a:cs typeface="Cambria Math" panose="02040503050406030204" pitchFamily="18" charset="0"/>
                            <a:sym typeface="Songti SC"/>
                          </a:rPr>
                          <m:t>P</m:t>
                        </m:r>
                        <m:sSub>
                          <m:sSub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nor/>
                              </m:rPr>
                              <a:rPr lang="en-US" sz="3200" i="0" dirty="0">
                                <a:latin typeface="Cambria Math" panose="02040503050406030204" pitchFamily="18" charset="0"/>
                                <a:ea typeface="宋体" panose="02010600030101010101" pitchFamily="2" charset="-122"/>
                                <a:cs typeface="Cambria Math" panose="02040503050406030204" pitchFamily="18" charset="0"/>
                                <a:sym typeface="Songti SC"/>
                              </a:rPr>
                              <m:t>ID</m:t>
                            </m:r>
                          </m:e>
                          <m:sub>
                            <m:r>
                              <m:rPr>
                                <m:nor/>
                              </m:rPr>
                              <a:rPr lang="en-US" sz="3200" i="0" dirty="0">
                                <a:latin typeface="Cambria Math" panose="02040503050406030204" pitchFamily="18" charset="0"/>
                                <a:ea typeface="宋体" panose="02010600030101010101" pitchFamily="2" charset="-122"/>
                                <a:cs typeface="Cambria Math" panose="02040503050406030204" pitchFamily="18" charset="0"/>
                                <a:sym typeface="Songti SC"/>
                              </a:rPr>
                              <m:t>B</m:t>
                            </m:r>
                          </m:sub>
                        </m:sSub>
                        <m:r>
                          <a:rPr lang="en-US" sz="3200" i="1" dirty="0">
                            <a:latin typeface="Cambria Math" panose="02040503050406030204" pitchFamily="18" charset="0"/>
                            <a:ea typeface="MS Mincho" charset="0"/>
                            <a:cs typeface="Cambria Math" panose="02040503050406030204" pitchFamily="18" charset="0"/>
                            <a:sym typeface="Songti SC"/>
                          </a:rPr>
                          <m:t>,</m:t>
                        </m:r>
                        <m:r>
                          <m:rPr>
                            <m:nor/>
                          </m:rPr>
                          <a:rPr lang="en-US" sz="3200" i="0" dirty="0" err="1">
                            <a:latin typeface="Cambria Math" panose="02040503050406030204" pitchFamily="18" charset="0"/>
                            <a:ea typeface="宋体" panose="02010600030101010101" pitchFamily="2" charset="-122"/>
                            <a:cs typeface="Cambria Math" panose="02040503050406030204" pitchFamily="18" charset="0"/>
                            <a:sym typeface="Songti SC"/>
                          </a:rPr>
                          <m:t>klen</m:t>
                        </m:r>
                      </m:e>
                    </m:d>
                    <m:r>
                      <a:rPr lang="en-US" sz="3200" i="1" dirty="0" smtClean="0">
                        <a:latin typeface="Cambria Math" panose="02040503050406030204" pitchFamily="18" charset="0"/>
                        <a:ea typeface="MS Mincho" charset="0"/>
                        <a:cs typeface="Cambria Math" panose="02040503050406030204" pitchFamily="18" charset="0"/>
                        <a:sym typeface="Songti SC"/>
                      </a:rPr>
                      <m:t>，</m:t>
                    </m:r>
                  </m:oMath>
                </a14:m>
                <a:r>
                  <a:rPr lang="zh-CN" altLang="en-US" sz="3200" dirty="0">
                    <a:latin typeface="Times New Roman" panose="02020603050405020304" pitchFamily="18" charset="0"/>
                    <a:ea typeface="宋体" panose="02010600030101010101" pitchFamily="2" charset="-122"/>
                    <a:cs typeface="Songti SC"/>
                    <a:sym typeface="Songti SC"/>
                  </a:rPr>
                  <a:t>令</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1</m:t>
                        </m:r>
                      </m:sub>
                    </m:sSub>
                  </m:oMath>
                </a14:m>
                <a:r>
                  <a:rPr lang="zh-CN" altLang="en-US" sz="3200" dirty="0">
                    <a:latin typeface="Times New Roman" panose="02020603050405020304" pitchFamily="18" charset="0"/>
                    <a:ea typeface="宋体" panose="02010600030101010101" pitchFamily="2" charset="-122"/>
                    <a:cs typeface="Songti SC"/>
                    <a:sym typeface="Songti SC"/>
                  </a:rPr>
                  <a:t>为</a:t>
                </a:r>
                <a:r>
                  <a:rPr lang="en-US" sz="3200" dirty="0">
                    <a:latin typeface="Times New Roman" panose="02020603050405020304" pitchFamily="18" charset="0"/>
                    <a:ea typeface="宋体" panose="02010600030101010101" pitchFamily="2" charset="-122"/>
                    <a:cs typeface="Songti SC"/>
                    <a:sym typeface="Songti SC"/>
                  </a:rPr>
                  <a:t>K</a:t>
                </a:r>
                <a:r>
                  <a:rPr lang="zh-CN" altLang="en-US" sz="3200" dirty="0">
                    <a:latin typeface="Times New Roman" panose="02020603050405020304" pitchFamily="18" charset="0"/>
                    <a:ea typeface="宋体" panose="02010600030101010101" pitchFamily="2" charset="-122"/>
                    <a:cs typeface="Songti SC"/>
                    <a:sym typeface="Songti SC"/>
                  </a:rPr>
                  <a:t>最左边的</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a:latin typeface="Cambria Math" panose="02040503050406030204" pitchFamily="18" charset="0"/>
                            <a:ea typeface="MS Mincho" charset="0"/>
                            <a:cs typeface="Cambria Math" panose="02040503050406030204" pitchFamily="18" charset="0"/>
                            <a:sym typeface="Songti SC"/>
                          </a:rPr>
                          <m:t>1</m:t>
                        </m:r>
                      </m:sub>
                    </m:sSub>
                    <m:r>
                      <m:rPr>
                        <m:lit/>
                      </m:rPr>
                      <a:rPr lang="en-US" sz="3200" i="1" dirty="0">
                        <a:latin typeface="Cambria Math" panose="02040503050406030204" pitchFamily="18" charset="0"/>
                        <a:ea typeface="MS Mincho" charset="0"/>
                        <a:cs typeface="Cambria Math" panose="02040503050406030204" pitchFamily="18" charset="0"/>
                        <a:sym typeface="Songti SC"/>
                      </a:rPr>
                      <m:t>_</m:t>
                    </m:r>
                    <m:r>
                      <m:rPr>
                        <m:nor/>
                      </m:rPr>
                      <a:rPr lang="en-US" sz="3200" i="0" dirty="0" err="1">
                        <a:latin typeface="Cambria Math" panose="02040503050406030204" pitchFamily="18" charset="0"/>
                        <a:ea typeface="宋体" panose="02010600030101010101" pitchFamily="2" charset="-122"/>
                        <a:cs typeface="Cambria Math" panose="02040503050406030204" pitchFamily="18" charset="0"/>
                        <a:sym typeface="Songti SC"/>
                      </a:rPr>
                      <m:t>len</m:t>
                    </m:r>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𝑏𝑖𝑡</m:t>
                    </m:r>
                  </m:oMath>
                </a14:m>
                <a:r>
                  <a:rPr lang="en-US" sz="3200" dirty="0">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2</m:t>
                        </m:r>
                      </m:sub>
                    </m:sSub>
                  </m:oMath>
                </a14:m>
                <a:r>
                  <a:rPr lang="zh-CN" altLang="en-US" sz="3200" dirty="0">
                    <a:latin typeface="Times New Roman" panose="02020603050405020304" pitchFamily="18" charset="0"/>
                    <a:ea typeface="宋体" panose="02010600030101010101" pitchFamily="2" charset="-122"/>
                    <a:cs typeface="Songti SC"/>
                    <a:sym typeface="Songti SC"/>
                  </a:rPr>
                  <a:t>为剩下的</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a:latin typeface="Cambria Math" panose="02040503050406030204" pitchFamily="18" charset="0"/>
                            <a:ea typeface="MS Mincho" charset="0"/>
                            <a:cs typeface="Cambria Math" panose="02040503050406030204" pitchFamily="18" charset="0"/>
                            <a:sym typeface="Songti SC"/>
                          </a:rPr>
                          <m:t>2</m:t>
                        </m:r>
                      </m:sub>
                    </m:sSub>
                    <m:r>
                      <m:rPr>
                        <m:lit/>
                      </m:rPr>
                      <a:rPr lang="en-US" sz="3200" i="1" dirty="0">
                        <a:latin typeface="Cambria Math" panose="02040503050406030204" pitchFamily="18" charset="0"/>
                        <a:ea typeface="MS Mincho" charset="0"/>
                        <a:cs typeface="Cambria Math" panose="02040503050406030204" pitchFamily="18" charset="0"/>
                        <a:sym typeface="Songti SC"/>
                      </a:rPr>
                      <m:t>_</m:t>
                    </m:r>
                    <m:r>
                      <m:rPr>
                        <m:nor/>
                      </m:rPr>
                      <a:rPr lang="en-US" sz="3200" i="0" dirty="0" err="1">
                        <a:latin typeface="Cambria Math" panose="02040503050406030204" pitchFamily="18" charset="0"/>
                        <a:ea typeface="宋体" panose="02010600030101010101" pitchFamily="2" charset="-122"/>
                        <a:cs typeface="Cambria Math" panose="02040503050406030204" pitchFamily="18" charset="0"/>
                        <a:sym typeface="Songti SC"/>
                      </a:rPr>
                      <m:t>len</m:t>
                    </m:r>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𝑏𝑖𝑡</m:t>
                    </m:r>
                  </m:oMath>
                </a14:m>
                <a:r>
                  <a:rPr lang="en-US" sz="3200" dirty="0">
                    <a:latin typeface="Times New Roman" panose="02020603050405020304" pitchFamily="18" charset="0"/>
                    <a:ea typeface="宋体" panose="02010600030101010101" pitchFamily="2" charset="-122"/>
                    <a:cs typeface="Songti SC"/>
                    <a:sym typeface="Songti SC"/>
                  </a:rPr>
                  <a:t>，</a:t>
                </a:r>
                <a:r>
                  <a:rPr lang="zh-CN" altLang="en-US" sz="3200" dirty="0">
                    <a:latin typeface="Times New Roman" panose="02020603050405020304" pitchFamily="18" charset="0"/>
                    <a:ea typeface="宋体" panose="02010600030101010101" pitchFamily="2" charset="-122"/>
                    <a:cs typeface="Songti SC"/>
                    <a:sym typeface="Songti SC"/>
                  </a:rPr>
                  <a:t>若</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smtClean="0">
                            <a:latin typeface="Cambria Math" panose="02040503050406030204" pitchFamily="18" charset="0"/>
                            <a:ea typeface="MS Mincho" charset="0"/>
                            <a:cs typeface="Cambria Math" panose="02040503050406030204" pitchFamily="18" charset="0"/>
                            <a:sym typeface="Songti SC"/>
                          </a:rPr>
                          <m:t>1</m:t>
                        </m:r>
                      </m:sub>
                    </m:sSub>
                  </m:oMath>
                </a14:m>
                <a:r>
                  <a:rPr lang="zh-CN" altLang="en-US" sz="3200" dirty="0">
                    <a:latin typeface="Times New Roman" panose="02020603050405020304" pitchFamily="18" charset="0"/>
                    <a:ea typeface="宋体" panose="02010600030101010101" pitchFamily="2" charset="-122"/>
                    <a:cs typeface="Songti SC"/>
                    <a:sym typeface="Songti SC"/>
                  </a:rPr>
                  <a:t>为全</a:t>
                </a:r>
                <a:r>
                  <a:rPr lang="en-US" altLang="zh-CN" sz="3200" dirty="0">
                    <a:latin typeface="Times New Roman" panose="02020603050405020304" pitchFamily="18" charset="0"/>
                    <a:ea typeface="宋体" panose="02010600030101010101" pitchFamily="2" charset="-122"/>
                    <a:cs typeface="Songti SC"/>
                    <a:sym typeface="Songti SC"/>
                  </a:rPr>
                  <a:t>0</a:t>
                </a:r>
                <a:r>
                  <a:rPr lang="zh-CN" altLang="en-US" sz="3200" dirty="0">
                    <a:latin typeface="Times New Roman" panose="02020603050405020304" pitchFamily="18" charset="0"/>
                    <a:ea typeface="宋体" panose="02010600030101010101" pitchFamily="2" charset="-122"/>
                    <a:cs typeface="Songti SC"/>
                    <a:sym typeface="Songti SC"/>
                  </a:rPr>
                  <a:t>比特串，则重新选择随机数</a:t>
                </a:r>
                <a14:m>
                  <m:oMath xmlns:m="http://schemas.openxmlformats.org/officeDocument/2006/math">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𝑟</m:t>
                    </m:r>
                  </m:oMath>
                </a14:m>
                <a:r>
                  <a:rPr lang="en-US" sz="3200" dirty="0">
                    <a:latin typeface="Times New Roman" panose="02020603050405020304" pitchFamily="18" charset="0"/>
                    <a:ea typeface="宋体" panose="02010600030101010101" pitchFamily="2" charset="-122"/>
                    <a:cs typeface="Songti SC"/>
                    <a:sym typeface="Songti SC"/>
                  </a:rPr>
                  <a:t>；</a:t>
                </a:r>
                <a:r>
                  <a:rPr lang="zh-CN" altLang="en-US" sz="3200" dirty="0">
                    <a:latin typeface="Times New Roman" panose="02020603050405020304" pitchFamily="18" charset="0"/>
                    <a:ea typeface="宋体" panose="02010600030101010101" pitchFamily="2" charset="-122"/>
                    <a:cs typeface="Songti SC"/>
                    <a:sym typeface="Songti SC"/>
                  </a:rPr>
                  <a:t>最后计算</a:t>
                </a:r>
                <a14:m>
                  <m:oMath xmlns:m="http://schemas.openxmlformats.org/officeDocument/2006/math">
                    <m:sSub>
                      <m:sSubPr>
                        <m:ctrlP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smtClean="0">
                            <a:latin typeface="Cambria Math" panose="02040503050406030204" pitchFamily="18" charset="0"/>
                            <a:ea typeface="宋体" panose="02010600030101010101" pitchFamily="2" charset="-122"/>
                            <a:cs typeface="Cambria Math" panose="02040503050406030204" pitchFamily="18" charset="0"/>
                            <a:sym typeface="Songti SC"/>
                          </a:rPr>
                          <m:t>𝐶</m:t>
                        </m:r>
                      </m:e>
                      <m:sub>
                        <m:r>
                          <a:rPr lang="en-US" sz="3200" i="1" dirty="0">
                            <a:latin typeface="Cambria Math" panose="02040503050406030204" pitchFamily="18" charset="0"/>
                            <a:ea typeface="MS Mincho" charset="0"/>
                            <a:cs typeface="Cambria Math" panose="02040503050406030204" pitchFamily="18" charset="0"/>
                            <a:sym typeface="Songti SC"/>
                          </a:rPr>
                          <m:t>2</m:t>
                        </m:r>
                      </m:sub>
                    </m:sSub>
                    <m:r>
                      <a:rPr lang="en-US" sz="3200" i="1" dirty="0">
                        <a:latin typeface="Cambria Math" panose="02040503050406030204" pitchFamily="18" charset="0"/>
                        <a:ea typeface="MS Mincho" charset="0"/>
                        <a:cs typeface="Cambria Math" panose="02040503050406030204" pitchFamily="18" charset="0"/>
                        <a:sym typeface="Songti SC"/>
                      </a:rPr>
                      <m:t>=</m:t>
                    </m:r>
                    <m:r>
                      <m:rPr>
                        <m:nor/>
                      </m:rPr>
                      <a:rPr lang="en-US" sz="3200" i="0" dirty="0">
                        <a:latin typeface="Cambria Math" panose="02040503050406030204" pitchFamily="18" charset="0"/>
                        <a:ea typeface="宋体" panose="02010600030101010101" pitchFamily="2" charset="-122"/>
                        <a:cs typeface="Cambria Math" panose="02040503050406030204" pitchFamily="18" charset="0"/>
                        <a:sym typeface="Songti SC"/>
                      </a:rPr>
                      <m:t>Enc</m:t>
                    </m:r>
                    <m:d>
                      <m:d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dPr>
                      <m:e>
                        <m:sSub>
                          <m:sSubPr>
                            <m:ctrlP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ctrlPr>
                          </m:sSubPr>
                          <m:e>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𝐾</m:t>
                            </m:r>
                          </m:e>
                          <m:sub>
                            <m:r>
                              <a:rPr lang="en-US" sz="3200" i="1" dirty="0">
                                <a:latin typeface="Cambria Math" panose="02040503050406030204" pitchFamily="18" charset="0"/>
                                <a:ea typeface="MS Mincho" charset="0"/>
                                <a:cs typeface="Cambria Math" panose="02040503050406030204" pitchFamily="18" charset="0"/>
                                <a:sym typeface="Songti SC"/>
                              </a:rPr>
                              <m:t>1</m:t>
                            </m:r>
                          </m:sub>
                        </m:sSub>
                        <m:r>
                          <a:rPr lang="en-US" sz="3200" i="1" dirty="0">
                            <a:latin typeface="Cambria Math" panose="02040503050406030204" pitchFamily="18" charset="0"/>
                            <a:ea typeface="MS Mincho" charset="0"/>
                            <a:cs typeface="Cambria Math" panose="02040503050406030204" pitchFamily="18" charset="0"/>
                            <a:sym typeface="Songti SC"/>
                          </a:rPr>
                          <m:t>,</m:t>
                        </m:r>
                        <m:r>
                          <a:rPr lang="en-US" sz="3200" i="1" dirty="0">
                            <a:latin typeface="Cambria Math" panose="02040503050406030204" pitchFamily="18" charset="0"/>
                            <a:ea typeface="宋体" panose="02010600030101010101" pitchFamily="2" charset="-122"/>
                            <a:cs typeface="Cambria Math" panose="02040503050406030204" pitchFamily="18" charset="0"/>
                            <a:sym typeface="Songti SC"/>
                          </a:rPr>
                          <m:t>𝑀</m:t>
                        </m:r>
                      </m:e>
                    </m:d>
                    <m:r>
                      <a:rPr lang="en-US" sz="3200" i="1" dirty="0" smtClean="0">
                        <a:latin typeface="Cambria Math" panose="02040503050406030204" pitchFamily="18" charset="0"/>
                        <a:ea typeface="MS Mincho" charset="0"/>
                        <a:cs typeface="Cambria Math" panose="02040503050406030204" pitchFamily="18" charset="0"/>
                        <a:sym typeface="Songti SC"/>
                      </a:rPr>
                      <m:t>。</m:t>
                    </m:r>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marL="0" indent="0" algn="l" defTabSz="914400">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(7)</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计算</a:t>
                </a:r>
                <a14:m>
                  <m:oMath xmlns:m="http://schemas.openxmlformats.org/officeDocument/2006/math">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3</m:t>
                        </m:r>
                      </m:sub>
                    </m:sSub>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𝑀𝐴𝐶</m:t>
                    </m:r>
                    <m:d>
                      <m:dPr>
                        <m:ctrlP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dPr>
                      <m:e>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K</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2</m:t>
                            </m:r>
                          </m:sub>
                        </m:sSub>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2</m:t>
                            </m:r>
                          </m:sub>
                        </m:sSub>
                      </m:e>
                    </m:d>
                    <m:r>
                      <a:rPr lang="zh-CN" altLang="en-US" sz="3200" i="1" dirty="0">
                        <a:latin typeface="Cambria Math" panose="02040503050406030204" pitchFamily="18" charset="0"/>
                        <a:ea typeface="MS Mincho" charset="0"/>
                        <a:cs typeface="Cambria Math" panose="02040503050406030204" pitchFamily="18" charset="0"/>
                        <a:sym typeface="Songti SC"/>
                      </a:rPr>
                      <m:t>。</m:t>
                    </m:r>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a:p>
                <a:pPr marL="0" indent="0" algn="l" defTabSz="914400">
                  <a:lnSpc>
                    <a:spcPct val="117000"/>
                  </a:lnSpc>
                </a:pPr>
                <a:r>
                  <a:rPr lang="en-US" sz="3200" b="1" i="0" dirty="0">
                    <a:solidFill>
                      <a:srgbClr val="004AAD"/>
                    </a:solidFill>
                    <a:latin typeface="Times New Roman" panose="02020603050405020304" pitchFamily="18" charset="0"/>
                    <a:ea typeface="宋体" panose="02010600030101010101" pitchFamily="2" charset="-122"/>
                    <a:cs typeface="Zhuque Fangsong"/>
                    <a:sym typeface="Zhuque Fangsong"/>
                  </a:rPr>
                  <a:t>(8)</a:t>
                </a:r>
                <a:r>
                  <a:rPr lang="en-US" sz="3200" b="0" i="0" dirty="0" err="1">
                    <a:solidFill>
                      <a:srgbClr val="000000"/>
                    </a:solidFill>
                    <a:latin typeface="Times New Roman" panose="02020603050405020304" pitchFamily="18" charset="0"/>
                    <a:ea typeface="宋体" panose="02010600030101010101" pitchFamily="2" charset="-122"/>
                    <a:cs typeface="Songti SC"/>
                    <a:sym typeface="Songti SC"/>
                  </a:rPr>
                  <a:t>输出密文</a:t>
                </a:r>
                <a14:m>
                  <m:oMath xmlns:m="http://schemas.openxmlformats.org/officeDocument/2006/math">
                    <m:r>
                      <a:rPr lang="en-US"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𝐶</m:t>
                    </m:r>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1</m:t>
                        </m:r>
                      </m:sub>
                    </m:sSub>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3</m:t>
                        </m:r>
                      </m:sub>
                    </m:sSub>
                    <m:sSub>
                      <m:sSubPr>
                        <m:ctrl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ctrlPr>
                      </m:sSubPr>
                      <m:e>
                        <m:r>
                          <m:rPr>
                            <m:sty m:val="p"/>
                          </m:rPr>
                          <a:rPr lang="en-US" altLang="zh-CN" sz="3200" b="0" i="1" dirty="0" smtClean="0">
                            <a:solidFill>
                              <a:srgbClr val="000000"/>
                            </a:solidFill>
                            <a:latin typeface="Cambria Math" panose="02040503050406030204" pitchFamily="18" charset="0"/>
                            <a:ea typeface="宋体" panose="02010600030101010101" pitchFamily="2" charset="-122"/>
                            <a:cs typeface="Cambria Math" panose="02040503050406030204" pitchFamily="18" charset="0"/>
                            <a:sym typeface="Songti SC"/>
                          </a:rPr>
                          <m:t>C</m:t>
                        </m:r>
                      </m:e>
                      <m:sub>
                        <m:r>
                          <a:rPr lang="en-US" altLang="zh-CN"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2</m:t>
                        </m:r>
                      </m:sub>
                    </m:sSub>
                    <m:r>
                      <a:rPr lang="en-US" sz="3200" b="0" i="1" dirty="0" smtClean="0">
                        <a:solidFill>
                          <a:srgbClr val="000000"/>
                        </a:solidFill>
                        <a:latin typeface="Cambria Math" panose="02040503050406030204" pitchFamily="18" charset="0"/>
                        <a:ea typeface="MS Mincho" charset="0"/>
                        <a:cs typeface="Cambria Math" panose="02040503050406030204" pitchFamily="18" charset="0"/>
                        <a:sym typeface="Songti SC"/>
                      </a:rPr>
                      <m:t>。</m:t>
                    </m:r>
                  </m:oMath>
                </a14:m>
                <a:endParaRPr lang="en-US" sz="3200" b="0" i="0" dirty="0">
                  <a:solidFill>
                    <a:srgbClr val="000000"/>
                  </a:solidFill>
                  <a:latin typeface="Times New Roman" panose="02020603050405020304" pitchFamily="18" charset="0"/>
                  <a:ea typeface="宋体" panose="02010600030101010101" pitchFamily="2" charset="-122"/>
                  <a:cs typeface="Songti SC"/>
                  <a:sym typeface="Songti SC"/>
                </a:endParaRPr>
              </a:p>
            </p:txBody>
          </p:sp>
        </mc:Choice>
        <mc:Fallback>
          <p:sp>
            <p:nvSpPr>
              <p:cNvPr id="5" name="AutoShape 5"/>
              <p:cNvSpPr txBox="1">
                <a:spLocks noRot="1" noChangeAspect="1" noMove="1" noResize="1" noEditPoints="1" noAdjustHandles="1" noChangeArrowheads="1" noChangeShapeType="1" noTextEdit="1"/>
              </p:cNvSpPr>
              <p:nvPr/>
            </p:nvSpPr>
            <p:spPr>
              <a:xfrm>
                <a:off x="1831975" y="1903891"/>
                <a:ext cx="13503965" cy="8131649"/>
              </a:xfrm>
              <a:prstGeom prst="rect">
                <a:avLst/>
              </a:prstGeom>
              <a:blipFill rotWithShape="1">
                <a:blip r:embed="rId1"/>
                <a:stretch>
                  <a:fillRect t="-2"/>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E336DB44-AFF5-4569-8919-5FC08BBE472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4"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0" name="AutoShape 4"/>
          <p:cNvSpPr txBox="1"/>
          <p:nvPr/>
        </p:nvSpPr>
        <p:spPr>
          <a:xfrm>
            <a:off x="1120328" y="459904"/>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9.2.3</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1" name="TextBox 30"/>
          <p:cNvSpPr txBox="1"/>
          <p:nvPr/>
        </p:nvSpPr>
        <p:spPr>
          <a:xfrm>
            <a:off x="2724785" y="49425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加密和解密过程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3E174FE6-40DD-41CE-854D-7E59E902F0A2}"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9" name="Picture 9"/>
          <p:cNvPicPr>
            <a:picLocks noChangeAspect="1"/>
          </p:cNvPicPr>
          <p:nvPr/>
        </p:nvPicPr>
        <p:blipFill>
          <a:blip r:embed="rId1"/>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12" name="Rectangle 3"/>
              <p:cNvSpPr>
                <a:spLocks noChangeArrowheads="1"/>
              </p:cNvSpPr>
              <p:nvPr/>
            </p:nvSpPr>
            <p:spPr bwMode="auto">
              <a:xfrm>
                <a:off x="812988" y="1819850"/>
                <a:ext cx="16865412" cy="694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899795" algn="l" defTabSz="914400" rtl="0" eaLnBrk="0" fontAlgn="base" latinLnBrk="0" hangingPunct="0">
                  <a:lnSpc>
                    <a:spcPct val="125000"/>
                  </a:lnSpc>
                  <a:spcBef>
                    <a:spcPct val="0"/>
                  </a:spcBef>
                  <a:spcAft>
                    <a:spcPct val="0"/>
                  </a:spcAft>
                  <a:buClrTx/>
                  <a:buSzTx/>
                  <a:buFontTx/>
                  <a:buNone/>
                </a:pPr>
                <a:r>
                  <a:rPr kumimoji="0" lang="zh-CN" altLang="zh-CN" sz="3200" b="1" i="0" baseline="0" dirty="0">
                    <a:ln>
                      <a:noFill/>
                    </a:ln>
                    <a:solidFill>
                      <a:schemeClr val="tx1"/>
                    </a:solidFill>
                    <a:effectLst/>
                    <a:uFillTx/>
                    <a:latin typeface="Times New Roman" panose="02020603050405020304" pitchFamily="18" charset="0"/>
                    <a:ea typeface="宋体" panose="02010600030101010101" pitchFamily="2" charset="-122"/>
                  </a:rPr>
                  <a:t>解密过程</a:t>
                </a:r>
                <a:endParaRPr kumimoji="0" lang="zh-CN" altLang="zh-CN" sz="3200" b="1" i="0" baseline="0" dirty="0">
                  <a:ln>
                    <a:noFill/>
                  </a:ln>
                  <a:solidFill>
                    <a:schemeClr val="tx1"/>
                  </a:solidFill>
                  <a:effectLst/>
                  <a:uFillTx/>
                  <a:latin typeface="Times New Roman" panose="02020603050405020304" pitchFamily="18" charset="0"/>
                  <a:ea typeface="宋体" panose="02010600030101010101" pitchFamily="2" charset="-122"/>
                </a:endParaRPr>
              </a:p>
              <a:p>
                <a:pPr lvl="0" indent="899795" eaLnBrk="0" fontAlgn="base" hangingPunct="0">
                  <a:lnSpc>
                    <a:spcPct val="125000"/>
                  </a:lnSpc>
                  <a:spcBef>
                    <a:spcPct val="0"/>
                  </a:spcBef>
                  <a:spcAft>
                    <a:spcPct val="0"/>
                  </a:spcAft>
                  <a:buClrTx/>
                </a:pPr>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设</a:t>
                </a:r>
                <a14:m>
                  <m:oMath xmlns:m="http://schemas.openxmlformats.org/officeDocument/2006/math">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𝑚𝑙𝑒𝑛</m:t>
                    </m:r>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为密文</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m:rPr>
                        <m:sty m:val="p"/>
                      </m:r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P</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3</m:t>
                            </m:r>
                          </m:sub>
                        </m:sSub>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P</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中</m:t>
                    </m:r>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的比特长度，</m:t>
                    </m:r>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_</m:t>
                    </m:r>
                    <m:r>
                      <m:rPr>
                        <m:sty m:val="p"/>
                      </m:r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l</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𝑒𝑛</m:t>
                    </m:r>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为分组密码密钥</m:t>
                    </m:r>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的比特长度，</m:t>
                    </m:r>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Sub>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_</m:t>
                    </m:r>
                    <m:r>
                      <m:rPr>
                        <m:sty m:val="p"/>
                      </m:r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l</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𝑒𝑛</m:t>
                    </m:r>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为</m:t>
                    </m:r>
                    <m:r>
                      <m:rPr>
                        <m:nor/>
                      </m:rPr>
                      <a:rPr kumimoji="0" lang="zh-CN" altLang="zh-CN" sz="3200" b="0" i="0"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MAC</m:t>
                    </m:r>
                    <m:d>
                      <m:d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𝑍</m:t>
                        </m:r>
                      </m:e>
                    </m:d>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中中密钥</m:t>
                    </m:r>
                    <m:sSub>
                      <m:sSub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Sub>
                  </m:oMath>
                </a14:m>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的比特长度。用户B解密步骤：</a:t>
                </a:r>
                <a:endPar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endParaRPr>
              </a:p>
              <a:p>
                <a:pPr marL="0" marR="0" lvl="0" indent="899795" algn="l" defTabSz="914400" rtl="0" eaLnBrk="0" fontAlgn="base" latinLnBrk="0" hangingPunct="0">
                  <a:lnSpc>
                    <a:spcPct val="125000"/>
                  </a:lnSpc>
                  <a:spcBef>
                    <a:spcPct val="0"/>
                  </a:spcBef>
                  <a:spcAft>
                    <a:spcPct val="0"/>
                  </a:spcAft>
                  <a:buClrTx/>
                  <a:buSzTx/>
                </a:pPr>
                <a14:m>
                  <m:oMath xmlns:m="http://schemas.openxmlformats.org/officeDocument/2006/math">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1</m:t>
                    </m:r>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lang="zh-CN" altLang="en-US" sz="3200" i="1" dirty="0">
                        <a:solidFill>
                          <a:schemeClr val="tx1"/>
                        </a:solidFill>
                        <a:uFillTx/>
                        <a:latin typeface="Cambria Math" panose="02040503050406030204" pitchFamily="18" charset="0"/>
                        <a:ea typeface="MS Mincho" charset="0"/>
                        <a:cs typeface="Cambria Math" panose="02040503050406030204" pitchFamily="18" charset="0"/>
                      </a:rPr>
                      <m:t>从</m:t>
                    </m:r>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C</m:t>
                    </m:r>
                    <m:r>
                      <a:rPr lang="zh-CN" altLang="en-US" sz="3200" i="1" dirty="0">
                        <a:solidFill>
                          <a:schemeClr val="tx1"/>
                        </a:solidFill>
                        <a:uFillTx/>
                        <a:latin typeface="Cambria Math" panose="02040503050406030204" pitchFamily="18" charset="0"/>
                        <a:ea typeface="MS Mincho" charset="0"/>
                        <a:cs typeface="Cambria Math" panose="02040503050406030204" pitchFamily="18" charset="0"/>
                      </a:rPr>
                      <m:t>中</m:t>
                    </m:r>
                    <m:r>
                      <a:rPr lang="zh-CN" altLang="en-US" sz="3200" i="1" dirty="0" smtClean="0">
                        <a:solidFill>
                          <a:schemeClr val="tx1"/>
                        </a:solidFill>
                        <a:uFillTx/>
                        <a:latin typeface="Cambria Math" panose="02040503050406030204" pitchFamily="18" charset="0"/>
                        <a:ea typeface="MS Mincho" charset="0"/>
                        <a:cs typeface="Cambria Math" panose="02040503050406030204" pitchFamily="18" charset="0"/>
                      </a:rPr>
                      <m:t>取出</m:t>
                    </m:r>
                    <m:r>
                      <a:rPr lang="zh-CN" altLang="en-US" sz="3200" i="1" dirty="0">
                        <a:solidFill>
                          <a:schemeClr val="tx1"/>
                        </a:solidFill>
                        <a:uFillTx/>
                        <a:latin typeface="Cambria Math" panose="02040503050406030204" pitchFamily="18" charset="0"/>
                        <a:ea typeface="MS Mincho" charset="0"/>
                        <a:cs typeface="Cambria Math" panose="02040503050406030204" pitchFamily="18" charset="0"/>
                      </a:rPr>
                      <m:t>比特串</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oMath>
                </a14:m>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转为椭圆曲线</a:t>
                </a:r>
                <a:r>
                  <a:rPr kumimoji="0" lang="zh-CN" altLang="en-US" sz="3200" b="0" i="0" baseline="0" dirty="0">
                    <a:ln>
                      <a:noFill/>
                    </a:ln>
                    <a:solidFill>
                      <a:schemeClr val="tx1"/>
                    </a:solidFill>
                    <a:effectLst/>
                    <a:uFillTx/>
                    <a:latin typeface="Times New Roman" panose="02020603050405020304" pitchFamily="18" charset="0"/>
                    <a:ea typeface="宋体" panose="02010600030101010101" pitchFamily="2" charset="-122"/>
                  </a:rPr>
                  <a:t>上的</a:t>
                </a:r>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点，</a:t>
                </a:r>
                <a14:m>
                  <m:oMath xmlns:m="http://schemas.openxmlformats.org/officeDocument/2006/math">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验证</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𝐺</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𝟙</m:t>
                        </m:r>
                      </m:sub>
                    </m:sSub>
                  </m:oMath>
                </a14:m>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，不满足则报错退出。</a:t>
                </a:r>
                <a:endPar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endParaRPr>
              </a:p>
              <a:p>
                <a:pPr marL="0" marR="0" lvl="0" indent="899795" algn="l" defTabSz="914400" rtl="0" eaLnBrk="0" fontAlgn="base" latinLnBrk="0" hangingPunct="0">
                  <a:lnSpc>
                    <a:spcPct val="125000"/>
                  </a:lnSpc>
                  <a:spcBef>
                    <a:spcPct val="0"/>
                  </a:spcBef>
                  <a:spcAft>
                    <a:spcPct val="0"/>
                  </a:spcAft>
                  <a:buClrTx/>
                  <a:buSzTx/>
                </a:pPr>
                <a:r>
                  <a:rPr kumimoji="0" lang="en-US" altLang="zh-CN" sz="3200" b="0" i="0" baseline="0" dirty="0">
                    <a:ln>
                      <a:noFill/>
                    </a:ln>
                    <a:solidFill>
                      <a:schemeClr val="tx1"/>
                    </a:solidFill>
                    <a:effectLst/>
                    <a:uFillTx/>
                    <a:latin typeface="Times New Roman" panose="02020603050405020304" pitchFamily="18" charset="0"/>
                    <a:ea typeface="宋体" panose="02010600030101010101" pitchFamily="2" charset="-122"/>
                  </a:rPr>
                  <a:t>(2)</a:t>
                </a:r>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计算</a:t>
                </a:r>
                <a14:m>
                  <m:oMath xmlns:m="http://schemas.openxmlformats.org/officeDocument/2006/math">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𝐺𝑇</m:t>
                    </m:r>
                  </m:oMath>
                </a14:m>
                <a:r>
                  <a:rPr kumimoji="0" lang="zh-CN" altLang="zh-CN" sz="3200" b="0" i="1" baseline="0" dirty="0">
                    <a:ln>
                      <a:noFill/>
                    </a:ln>
                    <a:solidFill>
                      <a:schemeClr val="tx1"/>
                    </a:solidFill>
                    <a:effectLst/>
                    <a:uFillTx/>
                    <a:latin typeface="Times New Roman" panose="02020603050405020304" pitchFamily="18" charset="0"/>
                    <a:ea typeface="宋体" panose="02010600030101010101" pitchFamily="2" charset="-122"/>
                  </a:rPr>
                  <a:t>中元素</a:t>
                </a:r>
                <a14:m>
                  <m:oMath xmlns:m="http://schemas.openxmlformats.org/officeDocument/2006/math">
                    <m:sSup>
                      <m:sSup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𝑤</m:t>
                        </m:r>
                      </m:e>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𝑒</m:t>
                    </m:r>
                    <m:d>
                      <m:d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m:rPr>
                            <m:nor/>
                          </m:rPr>
                          <a:rPr kumimoji="0" lang="zh-CN" altLang="zh-CN" sz="3200" b="0" i="0"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deB</m:t>
                        </m:r>
                      </m:e>
                    </m:d>
                  </m:oMath>
                </a14:m>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，并转为比特串。</a:t>
                </a:r>
                <a:endParaRPr lang="en-US" altLang="zh-CN" sz="3200" dirty="0">
                  <a:solidFill>
                    <a:schemeClr val="tx1"/>
                  </a:solidFill>
                  <a:uFillTx/>
                  <a:latin typeface="Times New Roman" panose="02020603050405020304" pitchFamily="18" charset="0"/>
                  <a:ea typeface="宋体" panose="02010600030101010101" pitchFamily="2" charset="-122"/>
                </a:endParaRPr>
              </a:p>
              <a:p>
                <a:pPr lvl="0" indent="899795" eaLnBrk="0" fontAlgn="base" hangingPunct="0">
                  <a:lnSpc>
                    <a:spcPct val="125000"/>
                  </a:lnSpc>
                  <a:spcBef>
                    <a:spcPct val="0"/>
                  </a:spcBef>
                  <a:spcAft>
                    <a:spcPct val="0"/>
                  </a:spcAft>
                  <a:buClrTx/>
                </a:pPr>
                <a:r>
                  <a:rPr kumimoji="0" lang="en-US" altLang="zh-CN" sz="3200" b="0" i="0" baseline="0" dirty="0">
                    <a:ln>
                      <a:noFill/>
                    </a:ln>
                    <a:solidFill>
                      <a:schemeClr val="tx1"/>
                    </a:solidFill>
                    <a:effectLst/>
                    <a:uFillTx/>
                    <a:latin typeface="Times New Roman" panose="02020603050405020304" pitchFamily="18" charset="0"/>
                    <a:ea typeface="宋体" panose="02010600030101010101" pitchFamily="2" charset="-122"/>
                  </a:rPr>
                  <a:t>(3)</a:t>
                </a:r>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分两种加密方式计算：①序列密码：</a:t>
                </a:r>
                <a14:m>
                  <m:oMath xmlns:m="http://schemas.openxmlformats.org/officeDocument/2006/math">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𝑘𝑙𝑒𝑛</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𝑚𝑙𝑒𝑛</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_</m:t>
                    </m:r>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l</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𝑒𝑛</m:t>
                    </m:r>
                  </m:oMath>
                </a14:m>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a:t>
                </a:r>
                <a14:m>
                  <m:oMath xmlns:m="http://schemas.openxmlformats.org/officeDocument/2006/math">
                    <m:sSup>
                      <m:sSup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m:rPr>
                        <m:nor/>
                      </m:rPr>
                      <a:rPr kumimoji="0" lang="zh-CN" altLang="zh-CN" sz="3200" b="0" i="0"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KDF</m:t>
                    </m:r>
                    <m:d>
                      <m:d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Sub>
                        <m:r>
                          <m:rPr>
                            <m:nor/>
                          </m:rPr>
                          <a:rPr kumimoji="0" lang="zh-CN" altLang="zh-CN" sz="3200" b="0" i="0"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P</m:t>
                        </m:r>
                        <m:sSup>
                          <m:sSupPr>
                            <m:ctrl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m:rPr>
                                <m:sty m:val="p"/>
                              </m:r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w</m:t>
                            </m:r>
                          </m:e>
                          <m:sup>
                            <m:r>
                              <a:rPr kumimoji="0" lang="en-US"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sSub>
                          <m:sSubPr>
                            <m:ctrl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PID</m:t>
                            </m:r>
                          </m:e>
                          <m:sub>
                            <m:r>
                              <m:rPr>
                                <m:sty m:val="p"/>
                              </m:rPr>
                              <a:rPr kumimoji="0" lang="en-US"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B</m:t>
                            </m:r>
                          </m:sub>
                        </m:s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𝑘𝑙𝑒𝑛</m:t>
                        </m:r>
                      </m:e>
                    </m:d>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取</m:t>
                    </m:r>
                    <m:sSup>
                      <m:sSup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左</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𝑚𝑙𝑒𝑛</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比特为</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剩余为</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若</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全</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0</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则报错；</m:t>
                    </m:r>
                    <m:sSup>
                      <m:s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𝑀</m:t>
                        </m:r>
                      </m:e>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oMath>
                </a14:m>
                <a:r>
                  <a:rPr kumimoji="0" lang="zh-CN" altLang="zh-CN" sz="3200" b="0" baseline="0" dirty="0">
                    <a:ln>
                      <a:noFill/>
                    </a:ln>
                    <a:solidFill>
                      <a:schemeClr val="tx1"/>
                    </a:solidFill>
                    <a:effectLst/>
                    <a:uFillTx/>
                    <a:latin typeface="Times New Roman" panose="02020603050405020304" pitchFamily="18" charset="0"/>
                    <a:ea typeface="宋体" panose="02010600030101010101" pitchFamily="2" charset="-122"/>
                  </a:rPr>
                  <a:t>②对称分组密码</a:t>
                </a:r>
                <a:r>
                  <a:rPr kumimoji="0" lang="zh-CN" altLang="zh-CN" sz="3200" b="0" i="1" baseline="0" dirty="0">
                    <a:ln>
                      <a:noFill/>
                    </a:ln>
                    <a:solidFill>
                      <a:schemeClr val="tx1"/>
                    </a:solidFill>
                    <a:effectLst/>
                    <a:uFillTx/>
                    <a:latin typeface="Times New Roman" panose="02020603050405020304" pitchFamily="18" charset="0"/>
                    <a:ea typeface="宋体" panose="02010600030101010101" pitchFamily="2" charset="-122"/>
                  </a:rPr>
                  <a:t>：</a:t>
                </a:r>
                <a14:m>
                  <m:oMath xmlns:m="http://schemas.openxmlformats.org/officeDocument/2006/math">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𝑘𝑙𝑒𝑛</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_</m:t>
                    </m:r>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l</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𝑒𝑛</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2</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_</m:t>
                    </m:r>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l</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𝑒𝑛</m:t>
                    </m:r>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Sup>
                      <m:s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m:rPr>
                        <m:nor/>
                      </m:rPr>
                      <a:rPr kumimoji="0" lang="zh-CN" altLang="zh-CN" sz="3200" b="0" i="0"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KDF</m:t>
                    </m:r>
                    <m:d>
                      <m:d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r>
                          <m:rPr>
                            <m:nor/>
                          </m:rPr>
                          <a:rPr lang="zh-CN" altLang="zh-CN" sz="320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P</m:t>
                        </m:r>
                        <m:sSup>
                          <m:sSup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w</m:t>
                            </m:r>
                          </m:e>
                          <m:sup>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m:t>
                            </m:r>
                          </m:sup>
                        </m:sSup>
                        <m:sSub>
                          <m:sSubPr>
                            <m:ctrl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PID</m:t>
                            </m:r>
                          </m:e>
                          <m:sub>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𝑘𝑙𝑒𝑛</m:t>
                        </m:r>
                      </m:e>
                    </m:d>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取</m:t>
                    </m:r>
                    <m:sSup>
                      <m:sSup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左</m:t>
                    </m:r>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e>
                      <m: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en-US" altLang="zh-CN" sz="3200" i="1" dirty="0">
                        <a:solidFill>
                          <a:schemeClr val="tx1"/>
                        </a:solidFill>
                        <a:uFillTx/>
                        <a:latin typeface="Cambria Math" panose="02040503050406030204" pitchFamily="18" charset="0"/>
                        <a:ea typeface="MS Mincho" charset="0"/>
                        <a:cs typeface="Cambria Math" panose="02040503050406030204" pitchFamily="18" charset="0"/>
                      </a:rPr>
                      <m:t>_</m:t>
                    </m:r>
                    <m:r>
                      <m:rPr>
                        <m:sty m:val="p"/>
                      </m:rPr>
                      <a:rPr lang="en-US"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l</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𝑒𝑛</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比特为</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剩余为</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若</m:t>
                    </m:r>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全</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0</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则报错；</m:t>
                    </m:r>
                    <m:sSup>
                      <m:s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𝑀</m:t>
                        </m:r>
                      </m:e>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m:rPr>
                        <m:nor/>
                      </m:rPr>
                      <a:rPr kumimoji="0" lang="zh-CN" altLang="zh-CN" sz="3200" b="0" i="0"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Dec</m:t>
                    </m:r>
                    <m:d>
                      <m:d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dPr>
                      <m:e>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1</m:t>
                            </m:r>
                          </m:sub>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Sub>
                      </m:e>
                    </m:d>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oMath>
                </a14:m>
                <a:endParaRPr kumimoji="0" lang="en-US" altLang="zh-CN" sz="3200" b="0" i="1" baseline="0" dirty="0">
                  <a:ln>
                    <a:noFill/>
                  </a:ln>
                  <a:solidFill>
                    <a:schemeClr val="tx1"/>
                  </a:solidFill>
                  <a:effectLst/>
                  <a:uFillTx/>
                  <a:latin typeface="Times New Roman" panose="02020603050405020304" pitchFamily="18" charset="0"/>
                  <a:ea typeface="宋体" panose="02010600030101010101" pitchFamily="2" charset="-122"/>
                </a:endParaRPr>
              </a:p>
              <a:p>
                <a:pPr marL="0" marR="0" lvl="0" indent="899795" algn="l" defTabSz="914400" rtl="0" eaLnBrk="0" fontAlgn="base" latinLnBrk="0" hangingPunct="0">
                  <a:lnSpc>
                    <a:spcPct val="125000"/>
                  </a:lnSpc>
                  <a:spcBef>
                    <a:spcPct val="0"/>
                  </a:spcBef>
                  <a:spcAft>
                    <a:spcPct val="0"/>
                  </a:spcAft>
                  <a:buClrTx/>
                  <a:buSzTx/>
                </a:pPr>
                <a:r>
                  <a:rPr lang="en-US" altLang="zh-CN" sz="3200" dirty="0">
                    <a:solidFill>
                      <a:schemeClr val="tx1"/>
                    </a:solidFill>
                    <a:uFillTx/>
                    <a:latin typeface="Times New Roman" panose="02020603050405020304" pitchFamily="18" charset="0"/>
                    <a:ea typeface="宋体" panose="02010600030101010101" pitchFamily="2" charset="-122"/>
                  </a:rPr>
                  <a:t>(4)</a:t>
                </a:r>
                <a14:m>
                  <m:oMath xmlns:m="http://schemas.openxmlformats.org/officeDocument/2006/math">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计算</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𝑢</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r>
                      <m:rPr>
                        <m:nor/>
                      </m:rPr>
                      <a:rPr kumimoji="0" lang="zh-CN" altLang="zh-CN" sz="3200" b="0" i="0"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MAC</m:t>
                    </m:r>
                    <m:d>
                      <m:d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dPr>
                      <m:e>
                        <m:sSubSup>
                          <m:sSubSup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𝐾</m:t>
                            </m:r>
                          </m:e>
                          <m: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2</m:t>
                            </m:r>
                          </m:sub>
                          <m: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bSup>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m:t>
                        </m:r>
                        <m:sSup>
                          <m:sSup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𝑀</m:t>
                            </m:r>
                          </m:e>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e>
                    </m:d>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取出密文</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3</m:t>
                        </m:r>
                      </m:sub>
                    </m:s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若</m:t>
                    </m:r>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𝑢</m:t>
                    </m:r>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Sub>
                      <m:sSubPr>
                        <m:ctrlP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bPr>
                      <m:e>
                        <m:r>
                          <a:rPr kumimoji="0" lang="zh-CN" altLang="zh-CN" sz="3200" b="0" i="1" baseline="0" dirty="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𝐶</m:t>
                        </m:r>
                      </m:e>
                      <m:sub>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3</m:t>
                        </m:r>
                      </m:sub>
                    </m:sSub>
                    <m:r>
                      <a:rPr kumimoji="0" lang="zh-CN" altLang="zh-CN" sz="3200" b="0" i="1" baseline="0" dirty="0">
                        <a:ln>
                          <a:noFill/>
                        </a:ln>
                        <a:solidFill>
                          <a:schemeClr val="tx1"/>
                        </a:solidFill>
                        <a:effectLst/>
                        <a:uFillTx/>
                        <a:latin typeface="Cambria Math" panose="02040503050406030204" pitchFamily="18" charset="0"/>
                        <a:ea typeface="MS Mincho" charset="0"/>
                        <a:cs typeface="Cambria Math" panose="02040503050406030204" pitchFamily="18" charset="0"/>
                      </a:rPr>
                      <m:t>则报错退出。</m:t>
                    </m:r>
                  </m:oMath>
                </a14:m>
                <a:endParaRPr kumimoji="0" lang="en-US" altLang="zh-CN" sz="3200" b="0" baseline="0" dirty="0">
                  <a:ln>
                    <a:noFill/>
                  </a:ln>
                  <a:solidFill>
                    <a:schemeClr val="tx1"/>
                  </a:solidFill>
                  <a:effectLst/>
                  <a:uFillTx/>
                  <a:latin typeface="Times New Roman" panose="02020603050405020304" pitchFamily="18" charset="0"/>
                  <a:ea typeface="宋体" panose="02010600030101010101" pitchFamily="2" charset="-122"/>
                </a:endParaRPr>
              </a:p>
              <a:p>
                <a:pPr marL="0" marR="0" lvl="0" indent="899795" algn="l" defTabSz="914400" rtl="0" eaLnBrk="0" fontAlgn="base" latinLnBrk="0" hangingPunct="0">
                  <a:lnSpc>
                    <a:spcPct val="125000"/>
                  </a:lnSpc>
                  <a:spcBef>
                    <a:spcPct val="0"/>
                  </a:spcBef>
                  <a:spcAft>
                    <a:spcPct val="0"/>
                  </a:spcAft>
                  <a:buClrTx/>
                  <a:buSzTx/>
                </a:pPr>
                <a:r>
                  <a:rPr lang="en-US" altLang="zh-CN" sz="3200" dirty="0">
                    <a:solidFill>
                      <a:schemeClr val="tx1"/>
                    </a:solidFill>
                    <a:uFillTx/>
                    <a:latin typeface="Times New Roman" panose="02020603050405020304" pitchFamily="18" charset="0"/>
                    <a:ea typeface="宋体" panose="02010600030101010101" pitchFamily="2" charset="-122"/>
                  </a:rPr>
                  <a:t>(5)</a:t>
                </a:r>
                <a:r>
                  <a:rPr kumimoji="0" lang="zh-CN" altLang="zh-CN" sz="3200" b="0" i="0" baseline="0" dirty="0">
                    <a:ln>
                      <a:noFill/>
                    </a:ln>
                    <a:solidFill>
                      <a:schemeClr val="tx1"/>
                    </a:solidFill>
                    <a:effectLst/>
                    <a:uFillTx/>
                    <a:latin typeface="Times New Roman" panose="02020603050405020304" pitchFamily="18" charset="0"/>
                    <a:ea typeface="宋体" panose="02010600030101010101" pitchFamily="2" charset="-122"/>
                  </a:rPr>
                  <a:t>输出明文</a:t>
                </a:r>
                <a14:m>
                  <m:oMath xmlns:m="http://schemas.openxmlformats.org/officeDocument/2006/math">
                    <m:sSup>
                      <m:sSupPr>
                        <m:ctrlP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ctrlPr>
                      </m:sSupPr>
                      <m:e>
                        <m:r>
                          <a:rPr kumimoji="0" lang="zh-CN" altLang="zh-CN" sz="3200" b="0" i="1" baseline="0" dirty="0" smtClean="0">
                            <a:ln>
                              <a:noFill/>
                            </a:ln>
                            <a:solidFill>
                              <a:schemeClr val="tx1"/>
                            </a:solidFill>
                            <a:effectLst/>
                            <a:uFillTx/>
                            <a:latin typeface="Cambria Math" panose="02040503050406030204" pitchFamily="18" charset="0"/>
                            <a:ea typeface="宋体" panose="02010600030101010101" pitchFamily="2" charset="-122"/>
                            <a:cs typeface="Cambria Math" panose="02040503050406030204" pitchFamily="18" charset="0"/>
                          </a:rPr>
                          <m:t>𝑀</m:t>
                        </m:r>
                      </m:e>
                      <m: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sup>
                    </m:sSup>
                    <m:r>
                      <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rPr>
                      <m:t>。</m:t>
                    </m:r>
                  </m:oMath>
                </a14:m>
                <a:endParaRPr kumimoji="0" lang="zh-CN" altLang="zh-CN" sz="3200" b="0" i="1" baseline="0" dirty="0" smtClean="0">
                  <a:ln>
                    <a:noFill/>
                  </a:ln>
                  <a:solidFill>
                    <a:schemeClr val="tx1"/>
                  </a:solidFill>
                  <a:effectLst/>
                  <a:uFillTx/>
                  <a:latin typeface="Cambria Math" panose="02040503050406030204" pitchFamily="18" charset="0"/>
                  <a:ea typeface="MS Mincho" charset="0"/>
                  <a:cs typeface="Cambria Math" panose="02040503050406030204" pitchFamily="18" charset="0"/>
                </a:endParaRPr>
              </a:p>
            </p:txBody>
          </p:sp>
        </mc:Choice>
        <mc:Fallback>
          <p:sp>
            <p:nvSpPr>
              <p:cNvPr id="12" name="Rectangle 3"/>
              <p:cNvSpPr>
                <a:spLocks noRot="1" noChangeAspect="1" noMove="1" noResize="1" noEditPoints="1" noAdjustHandles="1" noChangeArrowheads="1" noChangeShapeType="1" noTextEdit="1"/>
              </p:cNvSpPr>
              <p:nvPr/>
            </p:nvSpPr>
            <p:spPr bwMode="auto">
              <a:xfrm>
                <a:off x="812988" y="1819850"/>
                <a:ext cx="16865412" cy="6948805"/>
              </a:xfrm>
              <a:prstGeom prst="rect">
                <a:avLst/>
              </a:prstGeom>
              <a:blipFill rotWithShape="1">
                <a:blip r:embed="rId2"/>
                <a:stretch>
                  <a:fillRect l="-1" t="-8" b="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4"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3"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8" name="Picture 7"/>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1" name="AutoShape 4"/>
          <p:cNvSpPr txBox="1"/>
          <p:nvPr/>
        </p:nvSpPr>
        <p:spPr>
          <a:xfrm>
            <a:off x="1120328" y="459904"/>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9.2.3</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3" name="TextBox 30"/>
          <p:cNvSpPr txBox="1"/>
          <p:nvPr/>
        </p:nvSpPr>
        <p:spPr>
          <a:xfrm>
            <a:off x="2724785" y="49425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加密和解密过程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1524000" y="2158999"/>
            <a:ext cx="15133983" cy="7025247"/>
          </a:xfrm>
          <a:prstGeom prst="rect">
            <a:avLst/>
          </a:prstGeom>
          <a:noFill/>
          <a:ln w="19050" cap="flat" cmpd="sng">
            <a:noFill/>
            <a:prstDash val="solid"/>
            <a:round/>
          </a:ln>
        </p:spPr>
        <p:txBody>
          <a:bodyPr vert="horz" wrap="square" lIns="0" tIns="0" rIns="0" bIns="0" rtlCol="0" anchor="t" anchorCtr="0"/>
          <a:lstStyle/>
          <a:p>
            <a:pPr indent="899795">
              <a:lnSpc>
                <a:spcPct val="125000"/>
              </a:lnSpc>
            </a:pPr>
            <a:r>
              <a:rPr lang="zh-CN" altLang="zh-CN" sz="3200" dirty="0">
                <a:solidFill>
                  <a:srgbClr val="000000"/>
                </a:solidFill>
                <a:uFillTx/>
                <a:latin typeface="Times New Roman" panose="02020603050405020304" pitchFamily="18" charset="0"/>
                <a:ea typeface="宋体" panose="02010600030101010101" pitchFamily="2" charset="-122"/>
              </a:rPr>
              <a:t>首先定义密码算法系统应该满足的安全性模型</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D</a:t>
            </a:r>
            <a:r>
              <a:rPr lang="zh-CN" altLang="zh-CN" sz="3200" dirty="0">
                <a:solidFill>
                  <a:srgbClr val="000000"/>
                </a:solidFill>
                <a:uFillTx/>
                <a:latin typeface="Times New Roman" panose="02020603050405020304" pitchFamily="18" charset="0"/>
                <a:ea typeface="宋体" panose="02010600030101010101" pitchFamily="2" charset="-122"/>
              </a:rPr>
              <a:t>，该模型应尽可能多地给予攻击者</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A</a:t>
            </a:r>
            <a:r>
              <a:rPr lang="zh-CN" altLang="zh-CN" sz="3200" dirty="0">
                <a:solidFill>
                  <a:srgbClr val="000000"/>
                </a:solidFill>
                <a:uFillTx/>
                <a:latin typeface="Times New Roman" panose="02020603050405020304" pitchFamily="18" charset="0"/>
                <a:ea typeface="宋体" panose="02010600030101010101" pitchFamily="2" charset="-122"/>
              </a:rPr>
              <a:t>发起攻击的能力。然后在定义的安全模型下，证明如果攻击者可以攻破构造的密码算法系统，那么存在一个利用攻击者</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A</a:t>
            </a:r>
            <a:r>
              <a:rPr lang="zh-CN" altLang="zh-CN" sz="3200" dirty="0">
                <a:solidFill>
                  <a:srgbClr val="000000"/>
                </a:solidFill>
                <a:uFillTx/>
                <a:latin typeface="Times New Roman" panose="02020603050405020304" pitchFamily="18" charset="0"/>
                <a:ea typeface="宋体" panose="02010600030101010101" pitchFamily="2" charset="-122"/>
              </a:rPr>
              <a:t>能力的（多项式时间）算法</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R</a:t>
            </a:r>
            <a:r>
              <a:rPr lang="zh-CN" altLang="zh-CN" sz="3200" dirty="0">
                <a:solidFill>
                  <a:srgbClr val="000000"/>
                </a:solidFill>
                <a:uFillTx/>
                <a:latin typeface="Times New Roman" panose="02020603050405020304" pitchFamily="18" charset="0"/>
                <a:ea typeface="宋体" panose="02010600030101010101" pitchFamily="2" charset="-122"/>
              </a:rPr>
              <a:t>可以求解某个计算问题</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C</a:t>
            </a:r>
            <a:r>
              <a:rPr lang="zh-CN"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a:t>
            </a:r>
            <a:r>
              <a:rPr lang="zh-CN" altLang="zh-CN" sz="3200" dirty="0">
                <a:solidFill>
                  <a:srgbClr val="000000"/>
                </a:solidFill>
                <a:uFillTx/>
                <a:latin typeface="Times New Roman" panose="02020603050405020304" pitchFamily="18" charset="0"/>
                <a:ea typeface="宋体" panose="02010600030101010101" pitchFamily="2" charset="-122"/>
              </a:rPr>
              <a:t>如果假定问题</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C</a:t>
            </a:r>
            <a:r>
              <a:rPr lang="zh-CN" altLang="zh-CN" sz="3200" dirty="0">
                <a:solidFill>
                  <a:srgbClr val="000000"/>
                </a:solidFill>
                <a:uFillTx/>
                <a:latin typeface="Times New Roman" panose="02020603050405020304" pitchFamily="18" charset="0"/>
                <a:ea typeface="宋体" panose="02010600030101010101" pitchFamily="2" charset="-122"/>
              </a:rPr>
              <a:t>的计算复杂度是高的（该计算问题没有多项式时间求解方法），算法</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R</a:t>
            </a:r>
            <a:r>
              <a:rPr lang="zh-CN" altLang="zh-CN" sz="3200" dirty="0">
                <a:solidFill>
                  <a:srgbClr val="000000"/>
                </a:solidFill>
                <a:uFillTx/>
                <a:latin typeface="Times New Roman" panose="02020603050405020304" pitchFamily="18" charset="0"/>
                <a:ea typeface="宋体" panose="02010600030101010101" pitchFamily="2" charset="-122"/>
              </a:rPr>
              <a:t>的存在保证了（只有多项式时间运算能力的）攻击者</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A</a:t>
            </a:r>
            <a:r>
              <a:rPr lang="zh-CN" altLang="zh-CN" sz="3200" dirty="0">
                <a:solidFill>
                  <a:srgbClr val="000000"/>
                </a:solidFill>
                <a:uFillTx/>
                <a:latin typeface="Times New Roman" panose="02020603050405020304" pitchFamily="18" charset="0"/>
                <a:ea typeface="宋体" panose="02010600030101010101" pitchFamily="2" charset="-122"/>
              </a:rPr>
              <a:t>是不存在的，即不存在一个攻击者使用模型</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D</a:t>
            </a:r>
            <a:r>
              <a:rPr lang="zh-CN" altLang="zh-CN" sz="3200" dirty="0">
                <a:solidFill>
                  <a:srgbClr val="000000"/>
                </a:solidFill>
                <a:uFillTx/>
                <a:latin typeface="Times New Roman" panose="02020603050405020304" pitchFamily="18" charset="0"/>
                <a:ea typeface="宋体" panose="02010600030101010101" pitchFamily="2" charset="-122"/>
              </a:rPr>
              <a:t>赋予的能力能够（在多项式时间内）攻破构造的密码算法系统。基于攻击者</a:t>
            </a:r>
            <a:r>
              <a:rPr lang="en-US" altLang="zh-CN" sz="3200" dirty="0">
                <a:solidFill>
                  <a:srgbClr val="000000"/>
                </a:solidFill>
                <a:uFillTx/>
                <a:latin typeface="Times New Roman" panose="02020603050405020304" pitchFamily="18" charset="0"/>
                <a:ea typeface="宋体" panose="02010600030101010101" pitchFamily="2" charset="-122"/>
              </a:rPr>
              <a:t>A</a:t>
            </a:r>
            <a:r>
              <a:rPr lang="zh-CN" altLang="zh-CN" sz="3200" dirty="0">
                <a:solidFill>
                  <a:srgbClr val="000000"/>
                </a:solidFill>
                <a:uFillTx/>
                <a:latin typeface="Times New Roman" panose="02020603050405020304" pitchFamily="18" charset="0"/>
                <a:ea typeface="宋体" panose="02010600030101010101" pitchFamily="2" charset="-122"/>
              </a:rPr>
              <a:t>构造算法</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R</a:t>
            </a:r>
            <a:r>
              <a:rPr lang="zh-CN" altLang="zh-CN" sz="3200" dirty="0">
                <a:solidFill>
                  <a:srgbClr val="000000"/>
                </a:solidFill>
                <a:uFillTx/>
                <a:latin typeface="Times New Roman" panose="02020603050405020304" pitchFamily="18" charset="0"/>
                <a:ea typeface="宋体" panose="02010600030101010101" pitchFamily="2" charset="-122"/>
              </a:rPr>
              <a:t>的过程就是证明密码算法系统安全性的过程。</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SM9</a:t>
            </a:r>
            <a:r>
              <a:rPr lang="zh-CN" altLang="zh-CN" sz="3200" dirty="0">
                <a:solidFill>
                  <a:srgbClr val="000000"/>
                </a:solidFill>
                <a:uFillTx/>
                <a:latin typeface="Times New Roman" panose="02020603050405020304" pitchFamily="18" charset="0"/>
                <a:ea typeface="宋体" panose="02010600030101010101" pitchFamily="2" charset="-122"/>
              </a:rPr>
              <a:t>标识密码算法的构造和安全性分析也遵循这一基本方法。</a:t>
            </a:r>
            <a:endParaRPr lang="zh-CN" altLang="zh-CN" sz="3200" b="0" i="0" dirty="0">
              <a:solidFill>
                <a:srgbClr val="000000"/>
              </a:solidFill>
              <a:uFillTx/>
              <a:latin typeface="Times New Roman" panose="02020603050405020304" pitchFamily="18" charset="0"/>
              <a:ea typeface="宋体" panose="02010600030101010101" pitchFamily="2" charset="-122"/>
              <a:cs typeface="Songti SC"/>
              <a:sym typeface="Songti SC"/>
            </a:endParaRPr>
          </a:p>
        </p:txBody>
      </p:sp>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4BC1FADA-D3CB-4426-AC7C-87CE324FEB06}"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11" name="AutoShape 4"/>
          <p:cNvSpPr txBox="1"/>
          <p:nvPr/>
        </p:nvSpPr>
        <p:spPr>
          <a:xfrm>
            <a:off x="1106358" y="499909"/>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9.2.4</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2" name="TextBox 30"/>
          <p:cNvSpPr txBox="1"/>
          <p:nvPr/>
        </p:nvSpPr>
        <p:spPr>
          <a:xfrm>
            <a:off x="2710815" y="52536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安全性分析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mc:AlternateContent xmlns:mc="http://schemas.openxmlformats.org/markup-compatibility/2006">
        <mc:Choice xmlns:a14="http://schemas.microsoft.com/office/drawing/2010/main" Requires="a14">
          <p:sp>
            <p:nvSpPr>
              <p:cNvPr id="5" name="AutoShape 5"/>
              <p:cNvSpPr txBox="1"/>
              <p:nvPr/>
            </p:nvSpPr>
            <p:spPr>
              <a:xfrm>
                <a:off x="1524000" y="2159000"/>
                <a:ext cx="15133983" cy="7445998"/>
              </a:xfrm>
              <a:prstGeom prst="rect">
                <a:avLst/>
              </a:prstGeom>
              <a:noFill/>
              <a:ln w="19050" cap="flat" cmpd="sng">
                <a:noFill/>
                <a:prstDash val="solid"/>
                <a:round/>
              </a:ln>
            </p:spPr>
            <p:txBody>
              <a:bodyPr vert="horz" wrap="square" lIns="0" tIns="0" rIns="0" bIns="0" rtlCol="0" anchor="t" anchorCtr="0"/>
              <a:lstStyle/>
              <a:p>
                <a:pPr marL="0" indent="899795" algn="ctr" defTabSz="914400">
                  <a:lnSpc>
                    <a:spcPct val="125000"/>
                  </a:lnSpc>
                  <a:defRPr/>
                </a:pPr>
                <a:r>
                  <a:rPr lang="en-US" sz="3200" b="0" i="0" dirty="0" err="1">
                    <a:solidFill>
                      <a:schemeClr val="tx1"/>
                    </a:solidFill>
                    <a:uFillTx/>
                    <a:latin typeface="Times New Roman" panose="02020603050405020304" pitchFamily="18" charset="0"/>
                    <a:ea typeface="宋体" panose="02010600030101010101" pitchFamily="2" charset="-122"/>
                    <a:cs typeface="Songti SC"/>
                    <a:sym typeface="Songti SC"/>
                  </a:rPr>
                  <a:t>加解密能成功的关键是w与w’相等</a:t>
                </a:r>
                <a:r>
                  <a:rPr lang="en-US" sz="3200" b="0" i="0" dirty="0">
                    <a:solidFill>
                      <a:schemeClr val="tx1"/>
                    </a:solidFill>
                    <a:uFillTx/>
                    <a:latin typeface="Times New Roman" panose="02020603050405020304" pitchFamily="18" charset="0"/>
                    <a:ea typeface="宋体" panose="02010600030101010101" pitchFamily="2" charset="-122"/>
                    <a:cs typeface="Songti SC"/>
                    <a:sym typeface="Songti SC"/>
                  </a:rPr>
                  <a:t>。</a:t>
                </a:r>
                <a:r>
                  <a:rPr lang="zh-CN" altLang="zh-CN" sz="3200" dirty="0">
                    <a:solidFill>
                      <a:schemeClr val="tx1"/>
                    </a:solidFill>
                    <a:uFillTx/>
                    <a:latin typeface="Times New Roman" panose="02020603050405020304" pitchFamily="18" charset="0"/>
                    <a:ea typeface="宋体" panose="02010600030101010101" pitchFamily="2" charset="-122"/>
                  </a:rPr>
                  <a:t>根据双线性对的相关性质可</a:t>
                </a:r>
                <a:r>
                  <a:rPr lang="zh-CN" altLang="en-US" sz="3200" dirty="0">
                    <a:solidFill>
                      <a:schemeClr val="tx1"/>
                    </a:solidFill>
                    <a:uFillTx/>
                    <a:latin typeface="Times New Roman" panose="02020603050405020304" pitchFamily="18" charset="0"/>
                    <a:ea typeface="宋体" panose="02010600030101010101" pitchFamily="2" charset="-122"/>
                  </a:rPr>
                  <a:t>得</a:t>
                </a:r>
                <a:endParaRPr lang="zh-CN" altLang="en-US" sz="3200" dirty="0">
                  <a:solidFill>
                    <a:schemeClr val="tx1"/>
                  </a:solidFill>
                  <a:uFillTx/>
                  <a:latin typeface="Times New Roman" panose="02020603050405020304" pitchFamily="18" charset="0"/>
                  <a:ea typeface="宋体" panose="02010600030101010101" pitchFamily="2" charset="-122"/>
                </a:endParaRPr>
              </a:p>
              <a:p>
                <a:pPr marL="0" indent="899795" algn="ctr" defTabSz="914400">
                  <a:lnSpc>
                    <a:spcPct val="125000"/>
                  </a:lnSpc>
                  <a:defRPr/>
                </a:pPr>
                <a14:m>
                  <m:oMathPara xmlns:m="http://schemas.openxmlformats.org/officeDocument/2006/math">
                    <m:oMathParaPr>
                      <m:jc m:val="centerGroup"/>
                    </m:oMathParaPr>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pub</m:t>
                              </m:r>
                              <m:r>
                                <m:rPr>
                                  <m:nor/>
                                </m:rPr>
                                <a:rPr lang="zh-CN" altLang="zh-CN" sz="3200" i="0"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e>
                                <m:sub>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ub>
                              </m:sSub>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e>
                                <m:sub>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ub>
                                <m: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p>
                              </m:sSub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𝑡</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e>
                          </m:d>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de</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e>
                      </m:d>
                    </m:oMath>
                  </m:oMathPara>
                </a14:m>
                <a:endPar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endParaRPr>
              </a:p>
              <a:p>
                <a:pPr marL="0" indent="899795" algn="ctr" defTabSz="914400">
                  <a:lnSpc>
                    <a:spcPct val="125000"/>
                  </a:lnSpc>
                  <a:defRPr/>
                </a:pPr>
                <a14:m>
                  <m:oMathPara xmlns:m="http://schemas.openxmlformats.org/officeDocument/2006/math">
                    <m:oMathParaPr>
                      <m:jc m:val="centerGroup"/>
                    </m:oMathParaPr>
                    <m:oMath xmlns:m="http://schemas.openxmlformats.org/officeDocument/2006/math">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de</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e>
                          </m:d>
                        </m:e>
                        <m:sup>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𝑡</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sup>
                      </m:s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de</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e>
                          </m:d>
                        </m:e>
                        <m:sup>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𝐻</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ID</m:t>
                                  </m:r>
                                </m:e>
                                <m:sub>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hid</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𝑁</m:t>
                              </m:r>
                            </m:e>
                          </m:d>
                          <m:r>
                            <a:rPr lang="en-US" altLang="zh-CN" sz="3200" b="0" i="1" dirty="0" smtClean="0">
                              <a:solidFill>
                                <a:schemeClr val="tx1"/>
                              </a:solidFill>
                              <a:uFillTx/>
                              <a:latin typeface="Cambria Math" panose="02040503050406030204" pitchFamily="18" charset="0"/>
                              <a:ea typeface="MS Mincho" charset="0"/>
                              <a:cs typeface="Cambria Math" panose="02040503050406030204" pitchFamily="18" charset="0"/>
                            </a:rPr>
                            <m:t>+</m:t>
                          </m:r>
                          <m:r>
                            <m:rPr>
                              <m:sty m:val="p"/>
                            </m:rPr>
                            <a:rPr lang="en-US" altLang="zh-CN" sz="3200" b="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ke</m:t>
                          </m:r>
                        </m:sup>
                      </m:sSup>
                      <m:r>
                        <a:rPr lang="en-US"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oMath>
                  </m:oMathPara>
                </a14:m>
                <a:endParaRPr lang="en-US" altLang="zh-CN" sz="3200" i="1" dirty="0">
                  <a:solidFill>
                    <a:schemeClr val="tx1"/>
                  </a:solidFill>
                  <a:uFillTx/>
                  <a:latin typeface="Times New Roman" panose="02020603050405020304" pitchFamily="18" charset="0"/>
                  <a:ea typeface="宋体" panose="02010600030101010101" pitchFamily="2" charset="-122"/>
                </a:endParaRPr>
              </a:p>
              <a:p>
                <a:pPr marL="0" indent="899795" algn="ctr" defTabSz="914400">
                  <a:lnSpc>
                    <a:spcPct val="125000"/>
                  </a:lnSpc>
                  <a:defRPr/>
                </a:pPr>
                <a14:m>
                  <m:oMath xmlns:m="http://schemas.openxmlformats.org/officeDocument/2006/math">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e>
                    </m:d>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𝑄</m:t>
                        </m:r>
                      </m:e>
                      <m:sub>
                        <m:r>
                          <m:rPr>
                            <m:nor/>
                          </m:rPr>
                          <a:rPr lang="zh-CN" altLang="zh-CN"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e>
                    </m:d>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𝐻</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d>
                          <m:d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ID</m:t>
                                </m:r>
                              </m:e>
                              <m:sub>
                                <m:r>
                                  <m:rPr>
                                    <m:nor/>
                                  </m:rPr>
                                  <a:rPr lang="zh-CN" altLang="zh-CN"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m:rPr>
                                <m:nor/>
                              </m:rPr>
                              <a:rPr lang="zh-CN" altLang="zh-CN" sz="3200" i="0"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hid</m:t>
                            </m:r>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𝑁</m:t>
                            </m:r>
                          </m:e>
                        </m:d>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m:t>
                        </m:r>
                        <m:d>
                          <m:dPr>
                            <m:begChr m:val="["/>
                            <m:endChr m:val="]"/>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e>
                              <m:sub>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ub>
                            </m:sSub>
                          </m:e>
                        </m:d>
                        <m:sSub>
                          <m:sSubPr>
                            <m:ctrlP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a:solidFill>
                                  <a:schemeClr val="tx1"/>
                                </a:solidFill>
                                <a:uFillTx/>
                                <a:latin typeface="Cambria Math" panose="02040503050406030204" pitchFamily="18" charset="0"/>
                                <a:ea typeface="MS Mincho" charset="0"/>
                                <a:cs typeface="Cambria Math" panose="02040503050406030204" pitchFamily="18" charset="0"/>
                              </a:rPr>
                              <m:t>1</m:t>
                            </m:r>
                          </m:sub>
                        </m:sSub>
                      </m:e>
                    </m:d>
                  </m:oMath>
                </a14:m>
                <a:r>
                  <a:rPr lang="en-US" altLang="zh-CN" sz="3200" dirty="0">
                    <a:solidFill>
                      <a:schemeClr val="tx1"/>
                    </a:solidFill>
                    <a:uFillTx/>
                    <a:latin typeface="Times New Roman" panose="02020603050405020304" pitchFamily="18" charset="0"/>
                    <a:ea typeface="宋体" panose="02010600030101010101" pitchFamily="2" charset="-122"/>
                  </a:rPr>
                  <a:t>,</a:t>
                </a:r>
                <a:endParaRPr lang="en-US" altLang="zh-CN" sz="3200" dirty="0">
                  <a:solidFill>
                    <a:schemeClr val="tx1"/>
                  </a:solidFill>
                  <a:uFillTx/>
                  <a:latin typeface="Times New Roman" panose="02020603050405020304" pitchFamily="18" charset="0"/>
                  <a:ea typeface="宋体" panose="02010600030101010101" pitchFamily="2" charset="-122"/>
                </a:endParaRPr>
              </a:p>
              <a:p>
                <a:pPr marL="0" indent="899795" defTabSz="914400">
                  <a:lnSpc>
                    <a:spcPct val="125000"/>
                  </a:lnSpc>
                  <a:defRPr/>
                </a:pPr>
                <a:r>
                  <a:rPr lang="zh-CN" altLang="zh-CN" sz="3200" dirty="0">
                    <a:solidFill>
                      <a:schemeClr val="tx1"/>
                    </a:solidFill>
                    <a:uFillTx/>
                    <a:latin typeface="Times New Roman" panose="02020603050405020304" pitchFamily="18" charset="0"/>
                    <a:ea typeface="宋体" panose="02010600030101010101" pitchFamily="2" charset="-122"/>
                  </a:rPr>
                  <a:t>而在解密算法</a:t>
                </a:r>
                <a:endParaRPr lang="en-US" altLang="zh-CN" sz="3200" i="1" dirty="0">
                  <a:solidFill>
                    <a:schemeClr val="tx1"/>
                  </a:solidFill>
                  <a:uFillTx/>
                  <a:latin typeface="Times New Roman" panose="02020603050405020304" pitchFamily="18" charset="0"/>
                  <a:ea typeface="宋体" panose="02010600030101010101" pitchFamily="2" charset="-122"/>
                </a:endParaRPr>
              </a:p>
              <a:p>
                <a:pPr marL="0" indent="899795" algn="ctr" defTabSz="914400">
                  <a:lnSpc>
                    <a:spcPct val="125000"/>
                  </a:lnSpc>
                  <a:defRPr/>
                </a:pPr>
                <a14:m>
                  <m:oMath xmlns:m="http://schemas.openxmlformats.org/officeDocument/2006/math">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𝑤</m:t>
                        </m:r>
                      </m:e>
                      <m: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up>
                    </m:s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de</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𝑃</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de</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e>
                        </m:d>
                      </m:e>
                      <m:sup>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𝐻</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1</m:t>
                                </m:r>
                              </m:sub>
                            </m:sSub>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ID</m:t>
                                    </m:r>
                                  </m:e>
                                  <m:sub>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B</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hid</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𝑁</m:t>
                                </m:r>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𝑘</m:t>
                                </m:r>
                              </m:e>
                              <m:sub>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𝑒</m:t>
                                </m:r>
                              </m:sub>
                            </m:sSub>
                          </m:e>
                        </m:d>
                      </m:sup>
                    </m:s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p>
                      <m:s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𝑔</m:t>
                        </m:r>
                      </m:e>
                      <m:sup>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𝑟</m:t>
                        </m:r>
                      </m:sup>
                    </m:s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𝑤</m:t>
                    </m:r>
                  </m:oMath>
                </a14:m>
                <a:r>
                  <a:rPr lang="en-US" altLang="zh-CN" sz="3200" dirty="0">
                    <a:solidFill>
                      <a:schemeClr val="tx1"/>
                    </a:solidFill>
                    <a:uFillTx/>
                    <a:latin typeface="Times New Roman" panose="02020603050405020304" pitchFamily="18" charset="0"/>
                    <a:ea typeface="宋体" panose="02010600030101010101" pitchFamily="2" charset="-122"/>
                  </a:rPr>
                  <a:t>,</a:t>
                </a:r>
                <a:r>
                  <a:rPr lang="zh-CN" altLang="zh-CN" sz="3200" dirty="0">
                    <a:solidFill>
                      <a:schemeClr val="tx1"/>
                    </a:solidFill>
                    <a:uFillTx/>
                    <a:latin typeface="Times New Roman" panose="02020603050405020304" pitchFamily="18" charset="0"/>
                    <a:ea typeface="宋体" panose="02010600030101010101" pitchFamily="2" charset="-122"/>
                  </a:rPr>
                  <a:t>并且</a:t>
                </a:r>
                <a:endParaRPr lang="en-US" altLang="zh-CN" sz="3200" dirty="0">
                  <a:solidFill>
                    <a:schemeClr val="tx1"/>
                  </a:solidFill>
                  <a:uFillTx/>
                  <a:latin typeface="Times New Roman" panose="02020603050405020304" pitchFamily="18" charset="0"/>
                  <a:ea typeface="宋体" panose="02010600030101010101" pitchFamily="2" charset="-122"/>
                </a:endParaRPr>
              </a:p>
              <a:p>
                <a:pPr indent="899795">
                  <a:lnSpc>
                    <a:spcPct val="125000"/>
                  </a:lnSpc>
                </a:pPr>
                <a14:m>
                  <m:oMath xmlns:m="http://schemas.openxmlformats.org/officeDocument/2006/math">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𝑢</m:t>
                    </m:r>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MAC</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Sup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up>
                        </m:sSubSup>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r>
                      <m:rPr>
                        <m:nor/>
                      </m:rPr>
                      <a:rPr lang="zh-CN" altLang="zh-CN" sz="3200" i="0"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MAC</m:t>
                    </m:r>
                    <m:d>
                      <m:d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dPr>
                      <m:e>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𝐾</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2</m:t>
                            </m:r>
                          </m:sub>
                        </m:sSub>
                      </m:e>
                    </m:d>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m:t>
                    </m:r>
                    <m:sSub>
                      <m:sSubPr>
                        <m:ctrlP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ctrlPr>
                      </m:sSubPr>
                      <m:e>
                        <m:r>
                          <a:rPr lang="zh-CN" altLang="zh-CN" sz="3200" i="1" dirty="0" smtClean="0">
                            <a:solidFill>
                              <a:schemeClr val="tx1"/>
                            </a:solidFill>
                            <a:uFillTx/>
                            <a:latin typeface="Cambria Math" panose="02040503050406030204" pitchFamily="18" charset="0"/>
                            <a:ea typeface="宋体" panose="02010600030101010101" pitchFamily="2" charset="-122"/>
                            <a:cs typeface="Cambria Math" panose="02040503050406030204" pitchFamily="18" charset="0"/>
                          </a:rPr>
                          <m:t>𝐶</m:t>
                        </m:r>
                      </m:e>
                      <m:sub>
                        <m:r>
                          <a:rPr lang="zh-CN" altLang="zh-CN" sz="3200" i="1" dirty="0" smtClean="0">
                            <a:solidFill>
                              <a:schemeClr val="tx1"/>
                            </a:solidFill>
                            <a:uFillTx/>
                            <a:latin typeface="Cambria Math" panose="02040503050406030204" pitchFamily="18" charset="0"/>
                            <a:ea typeface="MS Mincho" charset="0"/>
                            <a:cs typeface="Cambria Math" panose="02040503050406030204" pitchFamily="18" charset="0"/>
                          </a:rPr>
                          <m:t>3</m:t>
                        </m:r>
                      </m:sub>
                    </m:sSub>
                  </m:oMath>
                </a14:m>
                <a:r>
                  <a:rPr lang="zh-CN" altLang="zh-CN" sz="3200" dirty="0">
                    <a:solidFill>
                      <a:schemeClr val="tx1"/>
                    </a:solidFill>
                    <a:uFillTx/>
                    <a:latin typeface="Times New Roman" panose="02020603050405020304" pitchFamily="18" charset="0"/>
                    <a:ea typeface="宋体" panose="02010600030101010101" pitchFamily="2" charset="-122"/>
                  </a:rPr>
                  <a:t>因此，可以成功得到明文。</a:t>
                </a:r>
                <a:endParaRPr lang="zh-CN" altLang="zh-CN" sz="3200" dirty="0">
                  <a:solidFill>
                    <a:schemeClr val="tx1"/>
                  </a:solidFill>
                  <a:uFillTx/>
                  <a:latin typeface="Times New Roman" panose="02020603050405020304" pitchFamily="18" charset="0"/>
                  <a:ea typeface="宋体" panose="02010600030101010101" pitchFamily="2" charset="-122"/>
                </a:endParaRPr>
              </a:p>
            </p:txBody>
          </p:sp>
        </mc:Choice>
        <mc:Fallback>
          <p:sp>
            <p:nvSpPr>
              <p:cNvPr id="5" name="AutoShape 5"/>
              <p:cNvSpPr txBox="1">
                <a:spLocks noRot="1" noChangeAspect="1" noMove="1" noResize="1" noEditPoints="1" noAdjustHandles="1" noChangeArrowheads="1" noChangeShapeType="1" noTextEdit="1"/>
              </p:cNvSpPr>
              <p:nvPr/>
            </p:nvSpPr>
            <p:spPr>
              <a:xfrm>
                <a:off x="1524000" y="2159000"/>
                <a:ext cx="15133983" cy="7445998"/>
              </a:xfrm>
              <a:prstGeom prst="rect">
                <a:avLst/>
              </a:prstGeom>
              <a:blipFill rotWithShape="1">
                <a:blip r:embed="rId1"/>
                <a:stretch>
                  <a:fillRect b="8"/>
                </a:stretch>
              </a:blipFill>
              <a:ln w="19050" cap="flat" cmpd="sng">
                <a:noFill/>
                <a:prstDash val="solid"/>
                <a:round/>
              </a:ln>
            </p:spPr>
            <p:txBody>
              <a:bodyPr/>
              <a:lstStyle/>
              <a:p>
                <a:r>
                  <a:rPr lang="zh-CN" altLang="en-US">
                    <a:noFill/>
                  </a:rPr>
                  <a:t> </a:t>
                </a:r>
              </a:p>
            </p:txBody>
          </p:sp>
        </mc:Fallback>
      </mc:AlternateContent>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4BC1FADA-D3CB-4426-AC7C-87CE324FEB06}"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2">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3"/>
          <a:srcRect/>
          <a:stretch>
            <a:fillRect/>
          </a:stretch>
        </p:blipFill>
        <p:spPr>
          <a:xfrm>
            <a:off x="13772537" y="1102753"/>
            <a:ext cx="2771429" cy="47619"/>
          </a:xfrm>
          <a:prstGeom prst="rect">
            <a:avLst/>
          </a:prstGeom>
          <a:noFill/>
          <a:ln w="25400" cap="flat" cmpd="sng">
            <a:noFill/>
            <a:prstDash val="solid"/>
            <a:round/>
          </a:ln>
        </p:spPr>
      </p:pic>
      <p:sp>
        <p:nvSpPr>
          <p:cNvPr id="11" name="AutoShape 4"/>
          <p:cNvSpPr txBox="1"/>
          <p:nvPr/>
        </p:nvSpPr>
        <p:spPr>
          <a:xfrm>
            <a:off x="1123503" y="496099"/>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9.2.5</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12" name="TextBox 30"/>
          <p:cNvSpPr txBox="1"/>
          <p:nvPr/>
        </p:nvSpPr>
        <p:spPr>
          <a:xfrm>
            <a:off x="2780030" y="49615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正确性证明</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9.3</a:t>
            </a:r>
            <a:endParaRPr lang="en-US" sz="1100" dirty="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zh-CN" altLang="en-US" sz="9600" b="1" dirty="0">
                <a:solidFill>
                  <a:srgbClr val="004AAD"/>
                </a:solidFill>
                <a:latin typeface="仿宋" panose="02010609060101010101" pitchFamily="49" charset="-122"/>
                <a:ea typeface="仿宋" panose="02010609060101010101" pitchFamily="49" charset="-122"/>
                <a:sym typeface="Zhuque Fangsong"/>
              </a:rPr>
              <a:t>本章小结</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 y="9030575"/>
            <a:ext cx="18288001"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0" y="9030575"/>
            <a:ext cx="1828800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0" y="9183427"/>
            <a:ext cx="1828800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0" y="9183427"/>
            <a:ext cx="1828800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08265D43-AE21-4D97-85C4-5D630DB8D308}"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796975" y="605801"/>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1470991" y="2425700"/>
            <a:ext cx="15346017" cy="3805799"/>
          </a:xfrm>
          <a:prstGeom prst="rect">
            <a:avLst/>
          </a:prstGeom>
          <a:noFill/>
          <a:ln w="19050" cap="flat" cmpd="sng">
            <a:noFill/>
            <a:prstDash val="solid"/>
            <a:round/>
          </a:ln>
        </p:spPr>
        <p:txBody>
          <a:bodyPr vert="horz" wrap="square" lIns="0" tIns="0" rIns="0" bIns="0" rtlCol="0" anchor="t" anchorCtr="0"/>
          <a:lstStyle/>
          <a:p>
            <a:pPr indent="899795"/>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SM9</a:t>
            </a:r>
            <a:r>
              <a:rPr lang="zh-CN" altLang="zh-CN" sz="3200" dirty="0">
                <a:solidFill>
                  <a:srgbClr val="000000"/>
                </a:solidFill>
                <a:uFillTx/>
                <a:latin typeface="Times New Roman" panose="02020603050405020304" pitchFamily="18" charset="0"/>
                <a:ea typeface="宋体" panose="02010600030101010101" pitchFamily="2" charset="-122"/>
              </a:rPr>
              <a:t>标识密码算法是我国自主制定的一种标识密码算法，其在商用密码领域中将会得到广泛的应用，前景也会越来越广阔。本章在介绍标识密码算法及双线性对运算等运算函数的基础上，对</a:t>
            </a:r>
            <a:r>
              <a:rPr lang="en-US" altLang="zh-CN" sz="320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rPr>
              <a:t>SM9</a:t>
            </a:r>
            <a:r>
              <a:rPr lang="zh-CN" altLang="zh-CN" sz="3200" dirty="0">
                <a:solidFill>
                  <a:srgbClr val="000000"/>
                </a:solidFill>
                <a:uFillTx/>
                <a:latin typeface="Times New Roman" panose="02020603050405020304" pitchFamily="18" charset="0"/>
                <a:ea typeface="宋体" panose="02010600030101010101" pitchFamily="2" charset="-122"/>
              </a:rPr>
              <a:t>标识密码算法的加密和解密算法流程进行了描述，以及对其安全性进行了分析，最后对其正确性进行了证明。</a:t>
            </a:r>
            <a:endParaRPr lang="zh-CN" altLang="zh-CN" sz="3200" dirty="0">
              <a:solidFill>
                <a:srgbClr val="000000"/>
              </a:solidFill>
              <a:uFillTx/>
              <a:latin typeface="Times New Roman" panose="02020603050405020304" pitchFamily="18" charset="0"/>
              <a:ea typeface="宋体" panose="02010600030101010101" pitchFamily="2" charset="-122"/>
            </a:endParaRPr>
          </a:p>
          <a:p>
            <a:pPr marL="0" indent="0" algn="l" defTabSz="914400">
              <a:lnSpc>
                <a:spcPct val="133000"/>
              </a:lnSpc>
            </a:pPr>
            <a:r>
              <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rPr>
              <a:t>　</a:t>
            </a:r>
            <a:endPar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endParaRPr>
          </a:p>
        </p:txBody>
      </p:sp>
      <p:sp>
        <p:nvSpPr>
          <p:cNvPr id="6" name="AutoShape 6"/>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7EEA6A40-D667-42B8-BBE4-0B1886336B2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7" name="Picture 7"/>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9" name="Picture 9"/>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10" name="TextBox 30"/>
          <p:cNvSpPr txBox="1"/>
          <p:nvPr/>
        </p:nvSpPr>
        <p:spPr>
          <a:xfrm>
            <a:off x="2542540" y="52536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本章小结</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AutoShape 4"/>
          <p:cNvSpPr txBox="1"/>
          <p:nvPr/>
        </p:nvSpPr>
        <p:spPr>
          <a:xfrm>
            <a:off x="1086038" y="494194"/>
            <a:ext cx="1907352" cy="717550"/>
          </a:xfrm>
          <a:prstGeom prst="rect">
            <a:avLst/>
          </a:prstGeom>
        </p:spPr>
        <p:txBody>
          <a:bodyPr vert="horz" wrap="square" lIns="0" tIns="0" rIns="0" bIns="0" rtlCol="0" anchor="t" anchorCtr="0">
            <a:spAutoFit/>
          </a:bodyPr>
          <a:lstStyle/>
          <a:p>
            <a:pPr lvl="0" algn="ctr">
              <a:lnSpc>
                <a:spcPts val="5600"/>
              </a:lnSpc>
              <a:buSzTx/>
            </a:pPr>
            <a:r>
              <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rPr>
              <a:t>9.3</a:t>
            </a:r>
            <a:endParaRPr lang="zh-CN" altLang="en-US" sz="40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a:endParaRPr>
          </a:p>
        </p:txBody>
      </p:sp>
      <p:sp>
        <p:nvSpPr>
          <p:cNvPr id="3" name="AutoShape 35"/>
          <p:cNvSpPr txBox="1"/>
          <p:nvPr/>
        </p:nvSpPr>
        <p:spPr>
          <a:xfrm>
            <a:off x="13308225" y="7174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7118</Words>
  <Application>WPS 演示</Application>
  <PresentationFormat>自定义</PresentationFormat>
  <Paragraphs>303</Paragraphs>
  <Slides>24</Slides>
  <Notes>24</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24</vt:i4>
      </vt:variant>
    </vt:vector>
  </HeadingPairs>
  <TitlesOfParts>
    <vt:vector size="47" baseType="lpstr">
      <vt:lpstr>Arial</vt:lpstr>
      <vt:lpstr>宋体</vt:lpstr>
      <vt:lpstr>Wingdings</vt:lpstr>
      <vt:lpstr>Arial</vt:lpstr>
      <vt:lpstr>Calibri</vt:lpstr>
      <vt:lpstr>Noto Sans SC</vt:lpstr>
      <vt:lpstr>仿宋</vt:lpstr>
      <vt:lpstr>Zhuque Fangsong</vt:lpstr>
      <vt:lpstr>Segoe Print</vt:lpstr>
      <vt:lpstr>Times New Roman</vt:lpstr>
      <vt:lpstr>Times New Roman</vt:lpstr>
      <vt:lpstr>字由文艺黑</vt:lpstr>
      <vt:lpstr>Songti SC</vt:lpstr>
      <vt:lpstr>Cambria Math</vt:lpstr>
      <vt:lpstr>Arial Unicode MS</vt:lpstr>
      <vt:lpstr>微软雅黑</vt:lpstr>
      <vt:lpstr>Calibri</vt:lpstr>
      <vt:lpstr>Songti SC</vt:lpstr>
      <vt:lpstr>Zhuque Fangsong</vt:lpstr>
      <vt:lpstr>MS Mincho</vt:lpstr>
      <vt:lpstr>Office 主题​​</vt:lpstr>
      <vt:lpstr>自定义主题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杨妮</cp:lastModifiedBy>
  <cp:revision>12</cp:revision>
  <dcterms:created xsi:type="dcterms:W3CDTF">2026-10-07T12:51:00Z</dcterms:created>
  <dcterms:modified xsi:type="dcterms:W3CDTF">2026-10-09T11:35:08Z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{"Label":"1","ContentProducer":"001191110102MACQD9K64010000","ProduceID":"7693580404503154899","ReservedCode1":"","ContentPropagator":"","PropagateID":"","ReservedCode2":""}</vt:lpwstr>
  </property>
  <property fmtid="{D5CDD505-2E9C-101B-9397-08002B2CF9AE}" pid="3" name="KSOProductBuildVer">
    <vt:lpwstr>2052-12.1.0.28505</vt:lpwstr>
  </property>
  <property fmtid="{D5CDD505-2E9C-101B-9397-08002B2CF9AE}" pid="4" name="ICV">
    <vt:lpwstr>A262BD6B03724C5AA2B1C6BDE7683558_13</vt:lpwstr>
  </property>
</Properties>
</file>