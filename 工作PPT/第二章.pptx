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86"/>
  </p:notesMasterIdLst>
  <p:sldIdLst>
    <p:sldId id="256" r:id="rId3"/>
    <p:sldId id="257" r:id="rId4"/>
    <p:sldId id="342" r:id="rId5"/>
    <p:sldId id="259" r:id="rId6"/>
    <p:sldId id="263" r:id="rId7"/>
    <p:sldId id="264" r:id="rId8"/>
    <p:sldId id="265" r:id="rId9"/>
    <p:sldId id="266" r:id="rId10"/>
    <p:sldId id="267" r:id="rId11"/>
    <p:sldId id="268" r:id="rId12"/>
    <p:sldId id="269" r:id="rId13"/>
    <p:sldId id="270" r:id="rId14"/>
    <p:sldId id="271" r:id="rId15"/>
    <p:sldId id="272" r:id="rId16"/>
    <p:sldId id="343" r:id="rId17"/>
    <p:sldId id="273" r:id="rId18"/>
    <p:sldId id="274" r:id="rId19"/>
    <p:sldId id="275" r:id="rId20"/>
    <p:sldId id="277" r:id="rId21"/>
    <p:sldId id="276" r:id="rId22"/>
    <p:sldId id="278" r:id="rId23"/>
    <p:sldId id="284" r:id="rId24"/>
    <p:sldId id="279" r:id="rId25"/>
    <p:sldId id="280" r:id="rId26"/>
    <p:sldId id="281" r:id="rId27"/>
    <p:sldId id="282" r:id="rId28"/>
    <p:sldId id="283" r:id="rId29"/>
    <p:sldId id="285" r:id="rId30"/>
    <p:sldId id="286" r:id="rId31"/>
    <p:sldId id="287" r:id="rId32"/>
    <p:sldId id="288" r:id="rId33"/>
    <p:sldId id="344" r:id="rId34"/>
    <p:sldId id="289" r:id="rId35"/>
    <p:sldId id="290" r:id="rId36"/>
    <p:sldId id="291" r:id="rId37"/>
    <p:sldId id="292" r:id="rId38"/>
    <p:sldId id="293" r:id="rId39"/>
    <p:sldId id="294" r:id="rId40"/>
    <p:sldId id="295" r:id="rId41"/>
    <p:sldId id="296" r:id="rId42"/>
    <p:sldId id="297" r:id="rId43"/>
    <p:sldId id="298" r:id="rId44"/>
    <p:sldId id="345" r:id="rId45"/>
    <p:sldId id="302" r:id="rId46"/>
    <p:sldId id="346" r:id="rId47"/>
    <p:sldId id="304" r:id="rId48"/>
    <p:sldId id="306" r:id="rId49"/>
    <p:sldId id="305"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7" r:id="rId84"/>
    <p:sldId id="340" r:id="rId85"/>
  </p:sldIdLst>
  <p:sldSz cx="18288000" cy="10287000"/>
  <p:notesSz cx="6858000" cy="9144000"/>
  <p:embeddedFontLst>
    <p:embeddedFont>
      <p:font typeface="字由文艺黑" panose="02010600030101010101" charset="-122"/>
      <p:regular r:id="rId87"/>
    </p:embeddedFont>
    <p:embeddedFont>
      <p:font typeface="Cambria Math" panose="02040503050406030204" pitchFamily="18" charset="0"/>
      <p:regular r:id="rId88"/>
    </p:embeddedFont>
    <p:embeddedFont>
      <p:font typeface="等线" panose="02010600030101010101" pitchFamily="2" charset="-122"/>
      <p:regular r:id="rId89"/>
      <p:bold r:id="rId90"/>
    </p:embeddedFont>
    <p:embeddedFont>
      <p:font typeface="仿宋" panose="02010609060101010101" pitchFamily="49" charset="-122"/>
      <p:regular r:id="rId91"/>
    </p:embeddedFont>
    <p:embeddedFont>
      <p:font typeface="微软雅黑" panose="020B0503020204020204" pitchFamily="34" charset="-122"/>
      <p:regular r:id="rId92"/>
      <p:bold r:id="rId9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772" autoAdjust="0"/>
  </p:normalViewPr>
  <p:slideViewPr>
    <p:cSldViewPr showGuides="1">
      <p:cViewPr varScale="1">
        <p:scale>
          <a:sx n="70" d="100"/>
          <a:sy n="70" d="100"/>
        </p:scale>
        <p:origin x="138" y="60"/>
      </p:cViewPr>
      <p:guideLst>
        <p:guide orient="horz" pos="227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font" Target="fonts/font3.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font" Target="fonts/font4.fntdata"/><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font" Target="fonts/font2.fntdata"/><Relationship Id="rId91" Type="http://schemas.openxmlformats.org/officeDocument/2006/relationships/font" Target="fonts/font5.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6.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1.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E3807-13F1-414E-9D90-B8B02AA7D69D}" type="datetimeFigureOut">
              <a:rPr lang="zh-CN" altLang="en-US" smtClean="0"/>
              <a:t>2026/10/26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29F18-BE30-4173-ABC4-195AE047BC1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F29F18-BE30-4173-ABC4-195AE047BC1B}"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174AE42-7364-4267-B40A-343A49EA74EA}"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BE76DB-3201-458E-97E8-1F529B41C87D}"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BAF40B-7C5C-460D-B1B7-FD4D67B22822}"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2BC249-EC5F-4986-8EE3-885490FF7370}"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F9AF8E-3BE7-493F-A109-C39C54E959C7}" type="datetime1">
              <a:rPr lang="en-US" altLang="zh-CN"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123C8F6-EBAB-4B52-9D57-25C21C0BFF09}" type="datetime1">
              <a:rPr lang="en-US" altLang="zh-CN"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47A945-3C13-407B-9418-BB51BE003E6B}" type="datetime1">
              <a:rPr lang="en-US" altLang="zh-CN"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392400" y="9334500"/>
            <a:ext cx="2133600" cy="365125"/>
          </a:xfrm>
        </p:spPr>
        <p:txBody>
          <a:bodyPr vert="horz" lIns="91440" tIns="45720" rIns="91440" bIns="45720" rtlCol="0" anchor="ctr"/>
          <a:lstStyle>
            <a:lvl1pPr>
              <a:defRPr lang="en-US" sz="1400" baseline="0" smtClean="0">
                <a:solidFill>
                  <a:srgbClr val="FFC000"/>
                </a:solidFill>
              </a:defRPr>
            </a:lvl1pPr>
          </a:lstStyle>
          <a:p>
            <a:fld id="{B6F15528-21DE-4FAA-801E-634DDDAF4B2B}" type="slidenum">
              <a:rPr lang="en-US" altLang="zh-CN" smtClean="0"/>
              <a:t>‹#›</a:t>
            </a:fld>
            <a:endParaRPr lang="en-US" sz="1400" baseline="0">
              <a:solidFill>
                <a:srgbClr val="FFC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E82B25-0626-400A-8A18-CC4B9FA85174}"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9421BD-7A71-43B0-8A82-BF5BCB45934A}"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16864D-7324-47AC-8E77-C23354FBA014}"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2510EF-AB01-495B-8DFE-96ADBB7A23CB}"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B84A4E1-68D3-457C-9DF7-FAAF7B219705}"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63347B-E742-4F12-885F-5E4081DB62CE}"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677153-82C0-4DA3-BB40-C41B58F36C94}"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30583E-33EF-48DF-99E0-0EC147C04ED4}"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1121F8-F7C1-415E-BA42-DA2C903C3780}" type="datetime1">
              <a:rPr lang="en-US" altLang="zh-CN"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DE6E35-BFA5-4DAE-A373-BA0868FCAE04}" type="datetime1">
              <a:rPr lang="en-US" altLang="zh-CN"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3"/>
          <p:cNvSpPr txBox="1"/>
          <p:nvPr userDrawn="1"/>
        </p:nvSpPr>
        <p:spPr>
          <a:xfrm>
            <a:off x="15544800" y="9563100"/>
            <a:ext cx="2133600" cy="441325"/>
          </a:xfrm>
          <a:prstGeom prst="rect">
            <a:avLst/>
          </a:prstGeom>
        </p:spPr>
        <p:txBody>
          <a:bodyPr vert="horz" lIns="91440" tIns="45720" rIns="91440" bIns="45720" rtlCol="0" anchor="ctr"/>
          <a:lstStyle>
            <a:defPPr>
              <a:defRPr lang="en-US"/>
            </a:defPPr>
            <a:lvl1pPr marL="0" algn="r" defTabSz="914400" rtl="0" eaLnBrk="1" latinLnBrk="0" hangingPunct="1">
              <a:defRPr sz="1400" kern="1200" baseline="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6F15528-21DE-4FAA-801E-634DDDAF4B2B}" type="slidenum">
              <a:rPr lang="en-US" smtClean="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751FD4-909A-4019-85EC-21470F318FE5}" type="datetime1">
              <a:rPr lang="en-US" altLang="zh-CN"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544800" y="9410700"/>
            <a:ext cx="2133600" cy="441325"/>
          </a:xfrm>
        </p:spPr>
        <p:txBody>
          <a:bodyPr/>
          <a:lstStyle>
            <a:lvl1pPr algn="r">
              <a:defRPr sz="1400" baseline="0">
                <a:solidFill>
                  <a:srgbClr val="FFC000"/>
                </a:solidFill>
              </a:defRPr>
            </a:lvl1pPr>
          </a:lstStyle>
          <a:p>
            <a:fld id="{B6F15528-21DE-4FAA-801E-634DDDAF4B2B}" type="slidenum">
              <a:rPr lang="en-US" smtClean="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D61E49-541A-48A6-B824-8EC6E6FD9E28}"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BB387F-E303-44E8-BCDC-5060DB4C336A}"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377BF4-DAD9-47E2-BD23-30C3D9EC0D19}"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03C6FC-8182-4F45-A424-178F0CA4B71E}"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54004D-81DD-4821-82CF-FFE7163D5201}" type="datetime1">
              <a:rPr lang="en-US" altLang="zh-CN"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8A1A17-90E3-437B-803D-9C909D3BC32A}" type="datetime1">
              <a:rPr lang="en-US" altLang="zh-CN"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e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8.e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1.png"/><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0.e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5" Type="http://schemas.openxmlformats.org/officeDocument/2006/relationships/image" Target="../media/image12.emf"/><Relationship Id="rId4" Type="http://schemas.openxmlformats.org/officeDocument/2006/relationships/oleObject" Target="../embeddings/oleObject8.bin"/><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19.emf"/><Relationship Id="rId18" Type="http://schemas.openxmlformats.org/officeDocument/2006/relationships/image" Target="../media/image2.png"/><Relationship Id="rId3" Type="http://schemas.openxmlformats.org/officeDocument/2006/relationships/image" Target="../media/image14.emf"/><Relationship Id="rId7" Type="http://schemas.openxmlformats.org/officeDocument/2006/relationships/image" Target="../media/image16.emf"/><Relationship Id="rId12" Type="http://schemas.openxmlformats.org/officeDocument/2006/relationships/oleObject" Target="../embeddings/oleObject15.bin"/><Relationship Id="rId17" Type="http://schemas.openxmlformats.org/officeDocument/2006/relationships/image" Target="../media/image21.emf"/><Relationship Id="rId2" Type="http://schemas.openxmlformats.org/officeDocument/2006/relationships/oleObject" Target="../embeddings/oleObject10.bin"/><Relationship Id="rId16"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2.bin"/><Relationship Id="rId11" Type="http://schemas.openxmlformats.org/officeDocument/2006/relationships/image" Target="../media/image18.emf"/><Relationship Id="rId5" Type="http://schemas.openxmlformats.org/officeDocument/2006/relationships/image" Target="../media/image15.emf"/><Relationship Id="rId15" Type="http://schemas.openxmlformats.org/officeDocument/2006/relationships/image" Target="../media/image20.emf"/><Relationship Id="rId10" Type="http://schemas.openxmlformats.org/officeDocument/2006/relationships/oleObject" Target="../embeddings/oleObject14.bin"/><Relationship Id="rId19" Type="http://schemas.openxmlformats.org/officeDocument/2006/relationships/image" Target="../media/image1.png"/><Relationship Id="rId4" Type="http://schemas.openxmlformats.org/officeDocument/2006/relationships/oleObject" Target="../embeddings/oleObject11.bin"/><Relationship Id="rId9" Type="http://schemas.openxmlformats.org/officeDocument/2006/relationships/image" Target="../media/image17.emf"/><Relationship Id="rId14"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2.emf"/><Relationship Id="rId7" Type="http://schemas.openxmlformats.org/officeDocument/2006/relationships/image" Target="../media/image24.emf"/><Relationship Id="rId2" Type="http://schemas.openxmlformats.org/officeDocument/2006/relationships/oleObject" Target="../embeddings/oleObject18.bin"/><Relationship Id="rId1" Type="http://schemas.openxmlformats.org/officeDocument/2006/relationships/slideLayout" Target="../slideLayouts/slideLayout7.xml"/><Relationship Id="rId6" Type="http://schemas.openxmlformats.org/officeDocument/2006/relationships/oleObject" Target="../embeddings/oleObject20.bin"/><Relationship Id="rId5" Type="http://schemas.openxmlformats.org/officeDocument/2006/relationships/image" Target="../media/image23.emf"/><Relationship Id="rId4" Type="http://schemas.openxmlformats.org/officeDocument/2006/relationships/oleObject" Target="../embeddings/oleObject19.bin"/><Relationship Id="rId9"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9.emf"/><Relationship Id="rId7" Type="http://schemas.openxmlformats.org/officeDocument/2006/relationships/image" Target="../media/image31.emf"/><Relationship Id="rId2"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oleObject" Target="../embeddings/oleObject23.bin"/><Relationship Id="rId5" Type="http://schemas.openxmlformats.org/officeDocument/2006/relationships/image" Target="../media/image30.wmf"/><Relationship Id="rId4" Type="http://schemas.openxmlformats.org/officeDocument/2006/relationships/oleObject" Target="../embeddings/oleObject22.bin"/><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oleObject" Target="../embeddings/oleObject24.bin"/><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47.emf"/><Relationship Id="rId7" Type="http://schemas.openxmlformats.org/officeDocument/2006/relationships/image" Target="../media/image49.e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7.bin"/><Relationship Id="rId11" Type="http://schemas.openxmlformats.org/officeDocument/2006/relationships/image" Target="../media/image1.png"/><Relationship Id="rId5" Type="http://schemas.openxmlformats.org/officeDocument/2006/relationships/image" Target="../media/image48.emf"/><Relationship Id="rId10" Type="http://schemas.openxmlformats.org/officeDocument/2006/relationships/image" Target="../media/image2.png"/><Relationship Id="rId4" Type="http://schemas.openxmlformats.org/officeDocument/2006/relationships/oleObject" Target="../embeddings/oleObject26.bin"/><Relationship Id="rId9" Type="http://schemas.openxmlformats.org/officeDocument/2006/relationships/image" Target="../media/image50.wmf"/></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2.emf"/><Relationship Id="rId7" Type="http://schemas.openxmlformats.org/officeDocument/2006/relationships/image" Target="../media/image2.png"/><Relationship Id="rId2"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image" Target="../media/image54.emf"/><Relationship Id="rId5" Type="http://schemas.openxmlformats.org/officeDocument/2006/relationships/oleObject" Target="../embeddings/oleObject30.bin"/><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oleObject" Target="../embeddings/oleObject31.bin"/><Relationship Id="rId7" Type="http://schemas.openxmlformats.org/officeDocument/2006/relationships/image" Target="../media/image58.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7.emf"/><Relationship Id="rId5" Type="http://schemas.openxmlformats.org/officeDocument/2006/relationships/oleObject" Target="../embeddings/oleObject32.bin"/><Relationship Id="rId4" Type="http://schemas.openxmlformats.org/officeDocument/2006/relationships/image" Target="../media/image56.emf"/><Relationship Id="rId9"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oleObject" Target="../embeddings/oleObject33.bin"/><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0.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3.emf"/><Relationship Id="rId7" Type="http://schemas.openxmlformats.org/officeDocument/2006/relationships/image" Target="../media/image2.png"/><Relationship Id="rId2" Type="http://schemas.openxmlformats.org/officeDocument/2006/relationships/oleObject" Target="../embeddings/oleObject34.bin"/><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emf"/><Relationship Id="rId4" Type="http://schemas.openxmlformats.org/officeDocument/2006/relationships/oleObject" Target="../embeddings/oleObject35.bin"/></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6.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68.emf"/></Relationships>
</file>

<file path=ppt/slides/_rels/slide6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72.emf"/></Relationships>
</file>

<file path=ppt/slides/_rels/slide6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oleObject" Target="../embeddings/oleObject38.bin"/><Relationship Id="rId7" Type="http://schemas.openxmlformats.org/officeDocument/2006/relationships/image" Target="../media/image76.emf"/><Relationship Id="rId2" Type="http://schemas.openxmlformats.org/officeDocument/2006/relationships/image" Target="../media/image73.png"/><Relationship Id="rId1" Type="http://schemas.openxmlformats.org/officeDocument/2006/relationships/slideLayout" Target="../slideLayouts/slideLayout7.xml"/><Relationship Id="rId6" Type="http://schemas.openxmlformats.org/officeDocument/2006/relationships/oleObject" Target="../embeddings/oleObject39.bin"/><Relationship Id="rId5" Type="http://schemas.openxmlformats.org/officeDocument/2006/relationships/image" Target="../media/image75.png"/><Relationship Id="rId4" Type="http://schemas.openxmlformats.org/officeDocument/2006/relationships/image" Target="../media/image74.emf"/><Relationship Id="rId9" Type="http://schemas.openxmlformats.org/officeDocument/2006/relationships/image" Target="../media/image1.png"/></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1.png"/><Relationship Id="rId2"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79.png"/><Relationship Id="rId4" Type="http://schemas.openxmlformats.org/officeDocument/2006/relationships/image" Target="../media/image78.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41.bin"/><Relationship Id="rId7" Type="http://schemas.openxmlformats.org/officeDocument/2006/relationships/image" Target="../media/image1.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82.png"/><Relationship Id="rId4" Type="http://schemas.openxmlformats.org/officeDocument/2006/relationships/image" Target="../media/image81.emf"/></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oleObject" Target="../embeddings/oleObject42.bin"/><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8.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3" Type="http://schemas.openxmlformats.org/officeDocument/2006/relationships/image" Target="../media/image91.emf"/><Relationship Id="rId7" Type="http://schemas.openxmlformats.org/officeDocument/2006/relationships/image" Target="../media/image1.png"/><Relationship Id="rId2" Type="http://schemas.openxmlformats.org/officeDocument/2006/relationships/oleObject" Target="../embeddings/oleObject43.bin"/><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92.emf"/><Relationship Id="rId4" Type="http://schemas.openxmlformats.org/officeDocument/2006/relationships/oleObject" Target="../embeddings/oleObject44.bin"/></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340279" y="765907"/>
            <a:ext cx="7607443" cy="760744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12" name="TextBox 12"/>
          <p:cNvSpPr txBox="1"/>
          <p:nvPr/>
        </p:nvSpPr>
        <p:spPr>
          <a:xfrm>
            <a:off x="1676173" y="2707834"/>
            <a:ext cx="14436775" cy="1655966"/>
          </a:xfrm>
          <a:prstGeom prst="rect">
            <a:avLst/>
          </a:prstGeom>
        </p:spPr>
        <p:txBody>
          <a:bodyPr wrap="square" lIns="0" tIns="0" rIns="0" bIns="0" rtlCol="0" anchor="t">
            <a:spAutoFit/>
          </a:bodyPr>
          <a:lstStyle/>
          <a:p>
            <a:pPr algn="ctr">
              <a:lnSpc>
                <a:spcPts val="14935"/>
              </a:lnSpc>
            </a:pP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a:t>
            </a:r>
            <a:r>
              <a:rPr lang="en-US" altLang="zh-CN"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t>
            </a: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基础理论与应用</a:t>
            </a:r>
          </a:p>
        </p:txBody>
      </p:sp>
      <p:grpSp>
        <p:nvGrpSpPr>
          <p:cNvPr id="13" name="Group 13"/>
          <p:cNvGrpSpPr/>
          <p:nvPr/>
        </p:nvGrpSpPr>
        <p:grpSpPr>
          <a:xfrm>
            <a:off x="780296" y="3604350"/>
            <a:ext cx="16727408" cy="1438536"/>
            <a:chOff x="0" y="0"/>
            <a:chExt cx="22303210" cy="1918048"/>
          </a:xfrm>
        </p:grpSpPr>
        <p:grpSp>
          <p:nvGrpSpPr>
            <p:cNvPr id="14" name="Group 14"/>
            <p:cNvGrpSpPr/>
            <p:nvPr/>
          </p:nvGrpSpPr>
          <p:grpSpPr>
            <a:xfrm>
              <a:off x="0" y="0"/>
              <a:ext cx="237212" cy="2372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6" name="TextBox 1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7" name="Group 17"/>
            <p:cNvGrpSpPr/>
            <p:nvPr/>
          </p:nvGrpSpPr>
          <p:grpSpPr>
            <a:xfrm>
              <a:off x="0" y="560278"/>
              <a:ext cx="237212" cy="2372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9" name="TextBox 1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0" name="Group 20"/>
            <p:cNvGrpSpPr/>
            <p:nvPr/>
          </p:nvGrpSpPr>
          <p:grpSpPr>
            <a:xfrm>
              <a:off x="0" y="1120557"/>
              <a:ext cx="237212" cy="23721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2" name="TextBox 22"/>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3" name="Group 23"/>
            <p:cNvGrpSpPr/>
            <p:nvPr/>
          </p:nvGrpSpPr>
          <p:grpSpPr>
            <a:xfrm>
              <a:off x="0" y="1680835"/>
              <a:ext cx="237212" cy="23721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5" name="TextBox 2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6" name="Group 26"/>
            <p:cNvGrpSpPr/>
            <p:nvPr/>
          </p:nvGrpSpPr>
          <p:grpSpPr>
            <a:xfrm>
              <a:off x="22065998" y="0"/>
              <a:ext cx="237212" cy="2372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8" name="TextBox 2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9" name="Group 29"/>
            <p:cNvGrpSpPr/>
            <p:nvPr/>
          </p:nvGrpSpPr>
          <p:grpSpPr>
            <a:xfrm>
              <a:off x="22065998" y="560278"/>
              <a:ext cx="237212" cy="23721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1" name="TextBox 3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32" name="Group 32"/>
            <p:cNvGrpSpPr/>
            <p:nvPr/>
          </p:nvGrpSpPr>
          <p:grpSpPr>
            <a:xfrm>
              <a:off x="22065998" y="1120557"/>
              <a:ext cx="237212" cy="23721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34" name="TextBox 3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35" name="Group 35"/>
            <p:cNvGrpSpPr/>
            <p:nvPr/>
          </p:nvGrpSpPr>
          <p:grpSpPr>
            <a:xfrm>
              <a:off x="22065998" y="1680835"/>
              <a:ext cx="237212" cy="23721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7" name="TextBox 3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sp>
        <p:nvSpPr>
          <p:cNvPr id="38" name="TextBox 38"/>
          <p:cNvSpPr txBox="1"/>
          <p:nvPr/>
        </p:nvSpPr>
        <p:spPr>
          <a:xfrm>
            <a:off x="1933951" y="5295665"/>
            <a:ext cx="13921220" cy="1231106"/>
          </a:xfrm>
          <a:prstGeom prst="rect">
            <a:avLst/>
          </a:prstGeom>
        </p:spPr>
        <p:txBody>
          <a:bodyPr lIns="0" tIns="0" rIns="0" bIns="0" rtlCol="0" anchor="t">
            <a:spAutoFit/>
          </a:bodyPr>
          <a:lstStyle/>
          <a:p>
            <a:pPr algn="ctr">
              <a:lnSpc>
                <a:spcPts val="9600"/>
              </a:lnSpc>
            </a:pPr>
            <a:r>
              <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第二章</a:t>
            </a:r>
            <a:r>
              <a:rPr lang="en-US" altLang="zh-CN"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 </a:t>
            </a:r>
            <a:r>
              <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古典密码</a:t>
            </a:r>
          </a:p>
        </p:txBody>
      </p:sp>
      <p:grpSp>
        <p:nvGrpSpPr>
          <p:cNvPr id="41" name="Group 41"/>
          <p:cNvGrpSpPr/>
          <p:nvPr/>
        </p:nvGrpSpPr>
        <p:grpSpPr>
          <a:xfrm>
            <a:off x="-1299970" y="8495193"/>
            <a:ext cx="21159211" cy="1929995"/>
            <a:chOff x="0" y="0"/>
            <a:chExt cx="28212281" cy="2573326"/>
          </a:xfrm>
        </p:grpSpPr>
        <p:grpSp>
          <p:nvGrpSpPr>
            <p:cNvPr id="42" name="Group 42"/>
            <p:cNvGrpSpPr/>
            <p:nvPr/>
          </p:nvGrpSpPr>
          <p:grpSpPr>
            <a:xfrm>
              <a:off x="361694" y="0"/>
              <a:ext cx="27850587" cy="2024584"/>
              <a:chOff x="0" y="0"/>
              <a:chExt cx="5501351" cy="399918"/>
            </a:xfrm>
          </p:grpSpPr>
          <p:sp>
            <p:nvSpPr>
              <p:cNvPr id="43" name="Freeform 43"/>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4" name="TextBox 44"/>
              <p:cNvSpPr txBox="1"/>
              <p:nvPr/>
            </p:nvSpPr>
            <p:spPr>
              <a:xfrm>
                <a:off x="0" y="0"/>
                <a:ext cx="5501351" cy="399918"/>
              </a:xfrm>
              <a:prstGeom prst="rect">
                <a:avLst/>
              </a:prstGeom>
            </p:spPr>
            <p:txBody>
              <a:bodyPr lIns="50800" tIns="50800" rIns="50800" bIns="50800" rtlCol="0" anchor="ctr"/>
              <a:lstStyle/>
              <a:p>
                <a:pPr algn="ctr">
                  <a:lnSpc>
                    <a:spcPts val="2880"/>
                  </a:lnSpc>
                </a:pPr>
                <a:endParaRPr/>
              </a:p>
            </p:txBody>
          </p:sp>
        </p:grpSp>
        <p:grpSp>
          <p:nvGrpSpPr>
            <p:cNvPr id="45" name="Group 45"/>
            <p:cNvGrpSpPr/>
            <p:nvPr/>
          </p:nvGrpSpPr>
          <p:grpSpPr>
            <a:xfrm>
              <a:off x="0" y="282042"/>
              <a:ext cx="27850587" cy="2291284"/>
              <a:chOff x="0" y="0"/>
              <a:chExt cx="5501351" cy="452599"/>
            </a:xfrm>
          </p:grpSpPr>
          <p:sp>
            <p:nvSpPr>
              <p:cNvPr id="46" name="Freeform 46"/>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7" name="TextBox 47"/>
              <p:cNvSpPr txBox="1"/>
              <p:nvPr/>
            </p:nvSpPr>
            <p:spPr>
              <a:xfrm>
                <a:off x="0" y="0"/>
                <a:ext cx="5501351" cy="452599"/>
              </a:xfrm>
              <a:prstGeom prst="rect">
                <a:avLst/>
              </a:prstGeom>
            </p:spPr>
            <p:txBody>
              <a:bodyPr lIns="50800" tIns="50800" rIns="50800" bIns="50800" rtlCol="0" anchor="ctr"/>
              <a:lstStyle/>
              <a:p>
                <a:pPr algn="ctr">
                  <a:lnSpc>
                    <a:spcPts val="2880"/>
                  </a:lnSpc>
                </a:pPr>
                <a:endParaRPr/>
              </a:p>
            </p:txBody>
          </p:sp>
        </p:grpSp>
      </p:grpSp>
      <p:sp>
        <p:nvSpPr>
          <p:cNvPr id="5" name="灯片编号占位符 4"/>
          <p:cNvSpPr>
            <a:spLocks noGrp="1"/>
          </p:cNvSpPr>
          <p:nvPr>
            <p:ph type="sldNum" sz="quarter" idx="12"/>
          </p:nvPr>
        </p:nvSpPr>
        <p:spPr/>
        <p:txBody>
          <a:bodyPr/>
          <a:lstStyle/>
          <a:p>
            <a:fld id="{B6F15528-21DE-4FAA-801E-634DDDAF4B2B}" type="slidenum">
              <a:rPr lang="en-US" altLang="zh-CN" smtClean="0"/>
              <a:t>1</a:t>
            </a:fld>
            <a:endParaRPr lang="en-US" sz="1400" baseline="0">
              <a:solidFill>
                <a:srgbClr val="FFC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a:off x="2211223" y="3196873"/>
            <a:ext cx="2745105" cy="3175806"/>
            <a:chOff x="-263312" y="-171450"/>
            <a:chExt cx="3660140" cy="4234407"/>
          </a:xfrm>
        </p:grpSpPr>
        <p:sp>
          <p:nvSpPr>
            <p:cNvPr id="28" name="TextBox 28"/>
            <p:cNvSpPr txBox="1"/>
            <p:nvPr/>
          </p:nvSpPr>
          <p:spPr>
            <a:xfrm>
              <a:off x="8311" y="-171450"/>
              <a:ext cx="3115717" cy="4234407"/>
            </a:xfrm>
            <a:prstGeom prst="rect">
              <a:avLst/>
            </a:prstGeom>
          </p:spPr>
          <p:txBody>
            <a:bodyPr lIns="0" tIns="0" rIns="0" bIns="0" rtlCol="0" anchor="t">
              <a:spAutoFit/>
            </a:bodyPr>
            <a:lstStyle/>
            <a:p>
              <a:pPr algn="ctr">
                <a:lnSpc>
                  <a:spcPts val="12880"/>
                </a:lnSpc>
              </a:pPr>
              <a:r>
                <a:rPr lang="en-US" sz="9200" b="1" dirty="0" err="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目录</a:t>
              </a:r>
              <a:endParaRPr lang="en-US" sz="92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9" name="TextBox 29"/>
            <p:cNvSpPr txBox="1"/>
            <p:nvPr/>
          </p:nvSpPr>
          <p:spPr>
            <a:xfrm>
              <a:off x="-263312" y="1713230"/>
              <a:ext cx="3660140" cy="658813"/>
            </a:xfrm>
            <a:prstGeom prst="rect">
              <a:avLst/>
            </a:prstGeom>
          </p:spPr>
          <p:txBody>
            <a:bodyPr wrap="square" lIns="0" tIns="0" rIns="0" bIns="0" rtlCol="0" anchor="t">
              <a:spAutoFit/>
            </a:bodyPr>
            <a:lstStyle/>
            <a:p>
              <a:pPr algn="ctr">
                <a:lnSpc>
                  <a:spcPts val="4200"/>
                </a:lnSpc>
              </a:pPr>
              <a:r>
                <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rPr>
                <a:t>CONTENTS</a:t>
              </a:r>
            </a:p>
          </p:txBody>
        </p:sp>
      </p:grpSp>
      <p:sp>
        <p:nvSpPr>
          <p:cNvPr id="33" name="TextBox 33"/>
          <p:cNvSpPr txBox="1"/>
          <p:nvPr>
            <p:custDataLst>
              <p:tags r:id="rId1"/>
            </p:custDataLst>
          </p:nvPr>
        </p:nvSpPr>
        <p:spPr>
          <a:xfrm>
            <a:off x="7730377" y="1968457"/>
            <a:ext cx="836133"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2.1</a:t>
            </a:r>
          </a:p>
        </p:txBody>
      </p:sp>
      <p:sp>
        <p:nvSpPr>
          <p:cNvPr id="34" name="TextBox 34"/>
          <p:cNvSpPr txBox="1"/>
          <p:nvPr>
            <p:custDataLst>
              <p:tags r:id="rId2"/>
            </p:custDataLst>
          </p:nvPr>
        </p:nvSpPr>
        <p:spPr>
          <a:xfrm>
            <a:off x="9074716" y="1968457"/>
            <a:ext cx="3482941"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置换密码</a:t>
            </a:r>
          </a:p>
        </p:txBody>
      </p:sp>
      <p:sp>
        <p:nvSpPr>
          <p:cNvPr id="38" name="TextBox 38"/>
          <p:cNvSpPr txBox="1"/>
          <p:nvPr>
            <p:custDataLst>
              <p:tags r:id="rId3"/>
            </p:custDataLst>
          </p:nvPr>
        </p:nvSpPr>
        <p:spPr>
          <a:xfrm>
            <a:off x="7730377" y="2953342"/>
            <a:ext cx="923721"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2.2</a:t>
            </a:r>
          </a:p>
        </p:txBody>
      </p:sp>
      <p:sp>
        <p:nvSpPr>
          <p:cNvPr id="43" name="TextBox 43"/>
          <p:cNvSpPr txBox="1"/>
          <p:nvPr>
            <p:custDataLst>
              <p:tags r:id="rId4"/>
            </p:custDataLst>
          </p:nvPr>
        </p:nvSpPr>
        <p:spPr>
          <a:xfrm>
            <a:off x="7730377" y="3937592"/>
            <a:ext cx="923721"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2.3</a:t>
            </a:r>
          </a:p>
        </p:txBody>
      </p:sp>
      <p:sp>
        <p:nvSpPr>
          <p:cNvPr id="44" name="TextBox 44"/>
          <p:cNvSpPr txBox="1"/>
          <p:nvPr>
            <p:custDataLst>
              <p:tags r:id="rId5"/>
            </p:custDataLst>
          </p:nvPr>
        </p:nvSpPr>
        <p:spPr>
          <a:xfrm>
            <a:off x="9074716" y="3937592"/>
            <a:ext cx="3132637" cy="753745"/>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zh-CN" altLang="en-US" dirty="0">
                <a:sym typeface="字由文艺黑" panose="00020600040101010101" charset="-122"/>
              </a:rPr>
              <a:t>轮转密码</a:t>
            </a:r>
          </a:p>
        </p:txBody>
      </p:sp>
      <p:grpSp>
        <p:nvGrpSpPr>
          <p:cNvPr id="50" name="Group 50"/>
          <p:cNvGrpSpPr/>
          <p:nvPr/>
        </p:nvGrpSpPr>
        <p:grpSpPr>
          <a:xfrm>
            <a:off x="-1299845" y="8692124"/>
            <a:ext cx="21159470" cy="1632976"/>
            <a:chOff x="0" y="0"/>
            <a:chExt cx="28212281" cy="2573326"/>
          </a:xfrm>
        </p:grpSpPr>
        <p:grpSp>
          <p:nvGrpSpPr>
            <p:cNvPr id="51" name="Group 51"/>
            <p:cNvGrpSpPr/>
            <p:nvPr/>
          </p:nvGrpSpPr>
          <p:grpSpPr>
            <a:xfrm>
              <a:off x="361694" y="0"/>
              <a:ext cx="27850587" cy="2024584"/>
              <a:chOff x="0" y="0"/>
              <a:chExt cx="5501351" cy="399918"/>
            </a:xfrm>
          </p:grpSpPr>
          <p:sp>
            <p:nvSpPr>
              <p:cNvPr id="52" name="Freeform 52"/>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53" name="TextBox 53"/>
              <p:cNvSpPr txBox="1"/>
              <p:nvPr/>
            </p:nvSpPr>
            <p:spPr>
              <a:xfrm>
                <a:off x="0" y="0"/>
                <a:ext cx="5501351" cy="399918"/>
              </a:xfrm>
              <a:prstGeom prst="rect">
                <a:avLst/>
              </a:prstGeom>
            </p:spPr>
            <p:txBody>
              <a:bodyPr lIns="50800" tIns="50800" rIns="50800" bIns="50800" rtlCol="0" anchor="ctr"/>
              <a:lstStyle/>
              <a:p>
                <a:pPr algn="ctr">
                  <a:lnSpc>
                    <a:spcPts val="2880"/>
                  </a:lnSpc>
                </a:pPr>
                <a:endParaRPr/>
              </a:p>
            </p:txBody>
          </p:sp>
        </p:grpSp>
        <p:grpSp>
          <p:nvGrpSpPr>
            <p:cNvPr id="54" name="Group 54"/>
            <p:cNvGrpSpPr/>
            <p:nvPr/>
          </p:nvGrpSpPr>
          <p:grpSpPr>
            <a:xfrm>
              <a:off x="0" y="282042"/>
              <a:ext cx="27850587" cy="2291284"/>
              <a:chOff x="0" y="0"/>
              <a:chExt cx="5501351" cy="452599"/>
            </a:xfrm>
          </p:grpSpPr>
          <p:sp>
            <p:nvSpPr>
              <p:cNvPr id="55" name="Freeform 55"/>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56" name="TextBox 56"/>
              <p:cNvSpPr txBox="1"/>
              <p:nvPr/>
            </p:nvSpPr>
            <p:spPr>
              <a:xfrm>
                <a:off x="0" y="0"/>
                <a:ext cx="5501351" cy="452599"/>
              </a:xfrm>
              <a:prstGeom prst="rect">
                <a:avLst/>
              </a:prstGeom>
            </p:spPr>
            <p:txBody>
              <a:bodyPr lIns="50800" tIns="50800" rIns="50800" bIns="50800" rtlCol="0" anchor="ctr"/>
              <a:lstStyle/>
              <a:p>
                <a:pPr algn="ctr">
                  <a:lnSpc>
                    <a:spcPts val="2880"/>
                  </a:lnSpc>
                </a:pPr>
                <a:endParaRPr/>
              </a:p>
            </p:txBody>
          </p:sp>
        </p:grpSp>
      </p:grpSp>
      <p:sp>
        <p:nvSpPr>
          <p:cNvPr id="66" name="TextBox 44"/>
          <p:cNvSpPr txBox="1"/>
          <p:nvPr>
            <p:custDataLst>
              <p:tags r:id="rId6"/>
            </p:custDataLst>
          </p:nvPr>
        </p:nvSpPr>
        <p:spPr>
          <a:xfrm>
            <a:off x="9074716" y="4921842"/>
            <a:ext cx="4766247" cy="753745"/>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zh-CN" altLang="en-US" dirty="0">
                <a:sym typeface="字由文艺黑" panose="00020600040101010101" charset="-122"/>
              </a:rPr>
              <a:t>古典密码的分类</a:t>
            </a:r>
          </a:p>
        </p:txBody>
      </p:sp>
      <p:sp>
        <p:nvSpPr>
          <p:cNvPr id="67" name="TextBox 43"/>
          <p:cNvSpPr txBox="1"/>
          <p:nvPr>
            <p:custDataLst>
              <p:tags r:id="rId7"/>
            </p:custDataLst>
          </p:nvPr>
        </p:nvSpPr>
        <p:spPr>
          <a:xfrm>
            <a:off x="7730377" y="4921842"/>
            <a:ext cx="923721"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2.4</a:t>
            </a:r>
          </a:p>
        </p:txBody>
      </p:sp>
      <p:sp>
        <p:nvSpPr>
          <p:cNvPr id="62" name="TextBox 34"/>
          <p:cNvSpPr txBox="1"/>
          <p:nvPr>
            <p:custDataLst>
              <p:tags r:id="rId8"/>
            </p:custDataLst>
          </p:nvPr>
        </p:nvSpPr>
        <p:spPr>
          <a:xfrm>
            <a:off x="9074716" y="2953342"/>
            <a:ext cx="2980533"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代换密码</a:t>
            </a:r>
          </a:p>
        </p:txBody>
      </p:sp>
      <p:sp>
        <p:nvSpPr>
          <p:cNvPr id="57" name="TextBox 44"/>
          <p:cNvSpPr txBox="1"/>
          <p:nvPr>
            <p:custDataLst>
              <p:tags r:id="rId9"/>
            </p:custDataLst>
          </p:nvPr>
        </p:nvSpPr>
        <p:spPr>
          <a:xfrm>
            <a:off x="9074716" y="5906092"/>
            <a:ext cx="5070732" cy="753745"/>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zh-CN" altLang="en-US" dirty="0">
                <a:sym typeface="字由文艺黑" panose="00020600040101010101" charset="-122"/>
              </a:rPr>
              <a:t>古典密码的统计分析</a:t>
            </a:r>
          </a:p>
        </p:txBody>
      </p:sp>
      <p:sp>
        <p:nvSpPr>
          <p:cNvPr id="58" name="TextBox 43"/>
          <p:cNvSpPr txBox="1"/>
          <p:nvPr>
            <p:custDataLst>
              <p:tags r:id="rId10"/>
            </p:custDataLst>
          </p:nvPr>
        </p:nvSpPr>
        <p:spPr>
          <a:xfrm>
            <a:off x="7730377" y="5906092"/>
            <a:ext cx="923721"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2.5</a:t>
            </a:r>
          </a:p>
        </p:txBody>
      </p:sp>
      <p:sp>
        <p:nvSpPr>
          <p:cNvPr id="73" name="TextBox 44"/>
          <p:cNvSpPr txBox="1"/>
          <p:nvPr>
            <p:custDataLst>
              <p:tags r:id="rId11"/>
            </p:custDataLst>
          </p:nvPr>
        </p:nvSpPr>
        <p:spPr>
          <a:xfrm>
            <a:off x="9074716" y="6889072"/>
            <a:ext cx="3810216" cy="753745"/>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zh-CN" altLang="en-US" dirty="0">
                <a:sym typeface="字由文艺黑" panose="00020600040101010101" charset="-122"/>
              </a:rPr>
              <a:t>本章小结</a:t>
            </a:r>
          </a:p>
        </p:txBody>
      </p:sp>
      <p:sp>
        <p:nvSpPr>
          <p:cNvPr id="74" name="TextBox 43"/>
          <p:cNvSpPr txBox="1"/>
          <p:nvPr>
            <p:custDataLst>
              <p:tags r:id="rId12"/>
            </p:custDataLst>
          </p:nvPr>
        </p:nvSpPr>
        <p:spPr>
          <a:xfrm>
            <a:off x="7730377" y="6889072"/>
            <a:ext cx="923721"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2.6</a:t>
            </a:r>
          </a:p>
        </p:txBody>
      </p:sp>
      <p:grpSp>
        <p:nvGrpSpPr>
          <p:cNvPr id="30" name="组合 29"/>
          <p:cNvGrpSpPr/>
          <p:nvPr/>
        </p:nvGrpSpPr>
        <p:grpSpPr>
          <a:xfrm>
            <a:off x="796975" y="605801"/>
            <a:ext cx="3700052" cy="416951"/>
            <a:chOff x="13811849" y="507954"/>
            <a:chExt cx="3700052" cy="416951"/>
          </a:xfrm>
        </p:grpSpPr>
        <p:sp>
          <p:nvSpPr>
            <p:cNvPr id="31" name="文本框 30"/>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2" name="图片 31"/>
            <p:cNvPicPr>
              <a:picLocks noChangeAspect="1"/>
            </p:cNvPicPr>
            <p:nvPr/>
          </p:nvPicPr>
          <p:blipFill>
            <a:blip r:embed="rId14"/>
            <a:stretch>
              <a:fillRect/>
            </a:stretch>
          </p:blipFill>
          <p:spPr>
            <a:xfrm>
              <a:off x="13944600" y="877286"/>
              <a:ext cx="2771429" cy="47619"/>
            </a:xfrm>
            <a:prstGeom prst="rect">
              <a:avLst/>
            </a:prstGeom>
          </p:spPr>
        </p:pic>
      </p:grpSp>
      <p:sp>
        <p:nvSpPr>
          <p:cNvPr id="35" name="灯片编号占位符 34"/>
          <p:cNvSpPr>
            <a:spLocks noGrp="1"/>
          </p:cNvSpPr>
          <p:nvPr>
            <p:ph type="sldNum" sz="quarter" idx="12"/>
          </p:nvPr>
        </p:nvSpPr>
        <p:spPr/>
        <p:txBody>
          <a:bodyPr/>
          <a:lstStyle/>
          <a:p>
            <a:fld id="{B6F15528-21DE-4FAA-801E-634DDDAF4B2B}" type="slidenum">
              <a:rPr lang="en-US" altLang="zh-CN" smtClean="0"/>
              <a:t>2</a:t>
            </a:fld>
            <a:endParaRPr lang="en-US" sz="1400" baseline="0" dirty="0">
              <a:solidFill>
                <a:srgbClr val="FFC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2</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a:t>
            </a: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置换密码</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t>3</a:t>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676212" y="2324100"/>
            <a:ext cx="14818191" cy="2595582"/>
          </a:xfrm>
          <a:prstGeom prst="rect">
            <a:avLst/>
          </a:prstGeom>
        </p:spPr>
        <p:txBody>
          <a:bodyPr wrap="square" lIns="0" tIns="0" rIns="0" bIns="0" rtlCol="0" anchor="t">
            <a:spAutoFit/>
          </a:bodyPr>
          <a:lstStyle/>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有文字就有密码，人类使用密码的历史与使用文字和语言的历史几乎一样悠久。从远古到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1949</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年香农发表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保密系统的通信理论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，这期间，人类所使用的密码都称为古典密码，包括古代密码和两次世界大战期间使用的机械密码或转轮密码。</a:t>
            </a:r>
          </a:p>
        </p:txBody>
      </p:sp>
      <p:grpSp>
        <p:nvGrpSpPr>
          <p:cNvPr id="5" name="Group 2"/>
          <p:cNvGrpSpPr/>
          <p:nvPr/>
        </p:nvGrpSpPr>
        <p:grpSpPr>
          <a:xfrm>
            <a:off x="412090" y="1028700"/>
            <a:ext cx="7800783" cy="275915"/>
            <a:chOff x="0" y="0"/>
            <a:chExt cx="2054527" cy="72669"/>
          </a:xfrm>
        </p:grpSpPr>
        <p:sp>
          <p:nvSpPr>
            <p:cNvPr id="6"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古典密码</a:t>
            </a:r>
          </a:p>
        </p:txBody>
      </p:sp>
      <p:sp>
        <p:nvSpPr>
          <p:cNvPr id="9"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p>
        </p:txBody>
      </p:sp>
      <p:pic>
        <p:nvPicPr>
          <p:cNvPr id="10"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1" name="组合 10"/>
          <p:cNvGrpSpPr/>
          <p:nvPr/>
        </p:nvGrpSpPr>
        <p:grpSpPr>
          <a:xfrm>
            <a:off x="13639786" y="733421"/>
            <a:ext cx="3700052" cy="416951"/>
            <a:chOff x="13811849" y="507954"/>
            <a:chExt cx="3700052" cy="416951"/>
          </a:xfrm>
        </p:grpSpPr>
        <p:sp>
          <p:nvSpPr>
            <p:cNvPr id="12"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3"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4" name="灯片编号占位符 13"/>
          <p:cNvSpPr>
            <a:spLocks noGrp="1"/>
          </p:cNvSpPr>
          <p:nvPr>
            <p:ph type="sldNum" sz="quarter" idx="12"/>
          </p:nvPr>
        </p:nvSpPr>
        <p:spPr/>
        <p:txBody>
          <a:bodyPr/>
          <a:lstStyle/>
          <a:p>
            <a:fld id="{B6F15528-21DE-4FAA-801E-634DDDAF4B2B}" type="slidenum">
              <a:rPr lang="en-US" altLang="zh-CN" smtClean="0"/>
              <a:t>4</a:t>
            </a:fld>
            <a:endParaRPr lang="en-US" sz="1400" baseline="0">
              <a:solidFill>
                <a:srgbClr val="FFC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84" y="1714674"/>
            <a:ext cx="14818191" cy="5919569"/>
          </a:xfrm>
          <a:prstGeom prst="rect">
            <a:avLst/>
          </a:prstGeom>
        </p:spPr>
        <p:txBody>
          <a:bodyPr wrap="square" lIns="0" tIns="0" rIns="0" bIns="0" rtlCol="0" anchor="t">
            <a:spAutoFit/>
          </a:bodyPr>
          <a:lstStyle/>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置换密码（</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Permutation Cipher</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又称换位密码（</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Transposition Cipher</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指将明文中各字符的位置次序重新排列得到密文的一种密码体制（根据一定的规则重新排列明文，以便打破明文的结构特性）。置换密码的特点是保持明文的所有字符不变，只是利用置换打乱了明文字符的位置和次序。</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实际上，古希腊斯巴达人所使用的密码棒（</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Scytale</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就采用了置换密码算法。首先将羊皮条沿着木棒的方向缠绕在一个木棒上，加密时沿着木棒写上明文字母的信息。展开的羊皮条上的“</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THESNEIPCSSOICASPYTIHAAIRLNO”</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是加密后的密文。如图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所示，明文内容为“</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the scytale is a transpositioncipher”</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pic>
        <p:nvPicPr>
          <p:cNvPr id="7" name="图片 6"/>
          <p:cNvPicPr>
            <a:picLocks noChangeAspect="1"/>
          </p:cNvPicPr>
          <p:nvPr/>
        </p:nvPicPr>
        <p:blipFill>
          <a:blip r:embed="rId2"/>
          <a:srcRect b="25943"/>
          <a:stretch>
            <a:fillRect/>
          </a:stretch>
        </p:blipFill>
        <p:spPr>
          <a:xfrm>
            <a:off x="6400800" y="7200901"/>
            <a:ext cx="5725795" cy="2057400"/>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5</a:t>
            </a:fld>
            <a:endParaRPr lang="en-US" sz="1400" baseline="0">
              <a:solidFill>
                <a:srgbClr val="FFC000"/>
              </a:solidFill>
            </a:endParaRPr>
          </a:p>
        </p:txBody>
      </p:sp>
      <p:grpSp>
        <p:nvGrpSpPr>
          <p:cNvPr id="16" name="Group 2"/>
          <p:cNvGrpSpPr/>
          <p:nvPr/>
        </p:nvGrpSpPr>
        <p:grpSpPr>
          <a:xfrm>
            <a:off x="412090" y="1028700"/>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8"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置换</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20"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p>
        </p:txBody>
      </p:sp>
      <p:pic>
        <p:nvPicPr>
          <p:cNvPr id="21"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2" name="组合 21"/>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24" name="图片 23"/>
            <p:cNvPicPr>
              <a:picLocks noChangeAspect="1"/>
            </p:cNvPicPr>
            <p:nvPr/>
          </p:nvPicPr>
          <p:blipFill>
            <a:blip r:embed="rId4"/>
            <a:stretch>
              <a:fillRect/>
            </a:stretch>
          </p:blipFill>
          <p:spPr>
            <a:xfrm>
              <a:off x="13944600" y="877286"/>
              <a:ext cx="2771429" cy="47619"/>
            </a:xfrm>
            <a:prstGeom prst="rect">
              <a:avLst/>
            </a:prstGeom>
          </p:spPr>
        </p:pic>
      </p:grpSp>
      <p:sp>
        <p:nvSpPr>
          <p:cNvPr id="2" name="文本框 1">
            <a:extLst>
              <a:ext uri="{FF2B5EF4-FFF2-40B4-BE49-F238E27FC236}">
                <a16:creationId xmlns:a16="http://schemas.microsoft.com/office/drawing/2014/main" id="{8231332B-93D4-829A-FB59-8118E85D6CB0}"/>
              </a:ext>
            </a:extLst>
          </p:cNvPr>
          <p:cNvSpPr txBox="1"/>
          <p:nvPr/>
        </p:nvSpPr>
        <p:spPr>
          <a:xfrm>
            <a:off x="8128337" y="9334500"/>
            <a:ext cx="2031325" cy="369332"/>
          </a:xfrm>
          <a:prstGeom prst="rect">
            <a:avLst/>
          </a:prstGeom>
          <a:noFill/>
        </p:spPr>
        <p:txBody>
          <a:bodyPr wrap="none" rtlCol="0">
            <a:spAutoFit/>
          </a:bodyPr>
          <a:lstStyle/>
          <a:p>
            <a:r>
              <a:rPr lang="zh-CN" altLang="en-US" dirty="0">
                <a:latin typeface="+mn-ea"/>
              </a:rPr>
              <a:t>图</a:t>
            </a:r>
            <a:r>
              <a:rPr lang="en-US" altLang="zh-CN" dirty="0">
                <a:latin typeface="+mn-ea"/>
              </a:rPr>
              <a:t>2.1 </a:t>
            </a:r>
            <a:r>
              <a:rPr lang="zh-CN" altLang="en-US" dirty="0">
                <a:latin typeface="+mn-ea"/>
              </a:rPr>
              <a:t>密码棒密码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524000" y="2458720"/>
                <a:ext cx="15588615" cy="2446655"/>
              </a:xfrm>
              <a:prstGeom prst="rect">
                <a:avLst/>
              </a:prstGeom>
              <a:noFill/>
              <a:ln w="0" cap="flat">
                <a:noFill/>
                <a:prstDash val="solid"/>
                <a:miter lim="0"/>
              </a:ln>
            </p:spPr>
            <p:txBody>
              <a:bodyPr vert="horz" wrap="square" lIns="0" tIns="88" rIns="0" bIns="0"/>
              <a:lstStyle/>
              <a:p>
                <a:pPr indent="457200" algn="l" rtl="0" eaLnBrk="0" fontAlgn="auto">
                  <a:lnSpc>
                    <a:spcPct val="120000"/>
                  </a:lnSpc>
                  <a:spcBef>
                    <a:spcPts val="0"/>
                  </a:spcBef>
                </a:pPr>
                <a:r>
                  <a:rPr sz="3600" kern="0" spc="3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定义2.</a:t>
                </a:r>
                <a:r>
                  <a:rPr sz="3600" kern="0" spc="-28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 </a:t>
                </a:r>
                <a:r>
                  <a:rPr sz="3600" kern="0" spc="3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1(置换)有限集</a:t>
                </a:r>
                <a14:m>
                  <m:oMath xmlns:m="http://schemas.openxmlformats.org/officeDocument/2006/math">
                    <m:r>
                      <a:rPr sz="3600" i="1" kern="0" spc="3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𝑋</m:t>
                    </m:r>
                  </m:oMath>
                </a14:m>
                <a:r>
                  <a:rPr sz="3600" kern="0" spc="3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上的运算</a:t>
                </a:r>
                <a14:m>
                  <m:oMath xmlns:m="http://schemas.openxmlformats.org/officeDocument/2006/math">
                    <m:r>
                      <a:rPr sz="3600" i="1" kern="0" spc="3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r>
                      <a:rPr sz="3600" i="1" kern="0" spc="3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3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𝑋</m:t>
                    </m:r>
                    <m:r>
                      <a:rPr sz="3600" i="1" kern="0" spc="3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3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𝑋</m:t>
                    </m:r>
                  </m:oMath>
                </a14:m>
                <a:r>
                  <a:rPr sz="3600" kern="0" spc="30" dirty="0">
                    <a:solidFill>
                      <a:srgbClr val="000000">
                        <a:alpha val="100000"/>
                      </a:srgbClr>
                    </a:solidFill>
                    <a:latin typeface="宋体" panose="02010600030101010101" pitchFamily="2" charset="-122"/>
                    <a:ea typeface="宋体" panose="02010600030101010101" pitchFamily="2" charset="-122"/>
                    <a:cs typeface="Times New Roman" panose="02020603050405020304" pitchFamily="18" charset="0"/>
                  </a:rPr>
                  <a:t>,</a:t>
                </a:r>
                <a14:m>
                  <m:oMath xmlns:m="http://schemas.openxmlformats.org/officeDocument/2006/math">
                    <m:r>
                      <a:rPr sz="3600" i="1" kern="0" spc="3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oMath>
                </a14:m>
                <a:r>
                  <a:rPr sz="3600" kern="0" spc="2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是一个双射函数，也就是说，</a:t>
                </a:r>
                <a14:m>
                  <m:oMath xmlns:m="http://schemas.openxmlformats.org/officeDocument/2006/math">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oMath>
                </a14:m>
                <a:r>
                  <a:rPr sz="3600" kern="0" spc="2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既是</a:t>
                </a:r>
                <a:r>
                  <a:rPr sz="3600" kern="0" spc="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单射又是满射，并且定义域和值域相同，那么称</a:t>
                </a:r>
                <a14:m>
                  <m:oMath xmlns:m="http://schemas.openxmlformats.org/officeDocument/2006/math">
                    <m:r>
                      <a:rPr sz="3600" i="1" kern="0" spc="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oMath>
                </a14:m>
                <a:r>
                  <a:rPr sz="3600" kern="0" spc="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为一个</a:t>
                </a:r>
                <a:r>
                  <a:rPr sz="3600" kern="0" spc="-1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置换。</a:t>
                </a:r>
                <a:endParaRPr sz="3600" dirty="0">
                  <a:latin typeface="Times New Roman" panose="02020603050405020304" pitchFamily="18" charset="0"/>
                  <a:ea typeface="宋体" panose="02010600030101010101" pitchFamily="2" charset="-122"/>
                  <a:cs typeface="Times New Roman" panose="02020603050405020304" pitchFamily="18" charset="0"/>
                </a:endParaRPr>
              </a:p>
              <a:p>
                <a:pPr indent="457200" algn="l" rtl="0" eaLnBrk="0" fontAlgn="auto">
                  <a:lnSpc>
                    <a:spcPct val="120000"/>
                  </a:lnSpc>
                  <a:spcBef>
                    <a:spcPts val="35"/>
                  </a:spcBef>
                </a:pPr>
                <a:r>
                  <a:rPr sz="3600" kern="0" spc="2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若</a:t>
                </a:r>
                <a14:m>
                  <m:oMath xmlns:m="http://schemas.openxmlformats.org/officeDocument/2006/math">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oMath>
                </a14:m>
                <a:r>
                  <a:rPr sz="3600" kern="0" spc="2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是一个置换，</a:t>
                </a:r>
                <a14:m>
                  <m:oMath xmlns:m="http://schemas.openxmlformats.org/officeDocument/2006/math">
                    <m:r>
                      <a:rPr sz="3600" i="1" kern="0" spc="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𝑉𝑥</m:t>
                    </m:r>
                    <m:r>
                      <a:rPr sz="3600" i="1" kern="0" spc="20" dirty="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20" dirty="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𝑋</m:t>
                    </m:r>
                  </m:oMath>
                </a14:m>
                <a:r>
                  <a:rPr sz="3600" kern="0" spc="10" dirty="0">
                    <a:solidFill>
                      <a:srgbClr val="000000">
                        <a:alpha val="100000"/>
                      </a:srgbClr>
                    </a:solidFill>
                    <a:latin typeface="宋体" panose="02010600030101010101" pitchFamily="2" charset="-122"/>
                    <a:ea typeface="宋体" panose="02010600030101010101" pitchFamily="2" charset="-122"/>
                    <a:cs typeface="Times New Roman" panose="02020603050405020304" pitchFamily="18" charset="0"/>
                  </a:rPr>
                  <a:t>,</a:t>
                </a:r>
                <a:r>
                  <a:rPr sz="3600" kern="0" spc="1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存在唯一的</a:t>
                </a:r>
                <a14:m>
                  <m:oMath xmlns:m="http://schemas.openxmlformats.org/officeDocument/2006/math">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𝑥</m:t>
                    </m:r>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𝑋</m:t>
                    </m:r>
                  </m:oMath>
                </a14:m>
                <a:r>
                  <a:rPr sz="3600" kern="0" spc="1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使得</a:t>
                </a:r>
                <a14:m>
                  <m:oMath xmlns:m="http://schemas.openxmlformats.org/officeDocument/2006/math">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𝑥</m:t>
                    </m:r>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𝑥</m:t>
                    </m:r>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 </m:t>
                    </m:r>
                  </m:oMath>
                </a14:m>
                <a:r>
                  <a:rPr sz="3600" kern="0" spc="1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。同理可以定义逆置换</a:t>
                </a:r>
                <a14:m>
                  <m:oMath xmlns:m="http://schemas.openxmlformats.org/officeDocument/2006/math">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⁻¹: </m:t>
                    </m:r>
                    <m:r>
                      <a:rPr sz="3600" i="1" kern="0" spc="-10" dirty="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𝑋</m:t>
                    </m:r>
                    <m:r>
                      <a:rPr sz="3600" i="1" kern="0" spc="-10" dirty="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10" dirty="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𝑋</m:t>
                    </m:r>
                  </m:oMath>
                </a14:m>
                <a:r>
                  <a:rPr sz="3600" kern="0" spc="-10" dirty="0">
                    <a:solidFill>
                      <a:srgbClr val="000000">
                        <a:alpha val="100000"/>
                      </a:srgbClr>
                    </a:solidFill>
                    <a:latin typeface="宋体" panose="02010600030101010101" pitchFamily="2" charset="-122"/>
                    <a:ea typeface="宋体" panose="02010600030101010101" pitchFamily="2" charset="-122"/>
                    <a:cs typeface="Times New Roman" panose="02020603050405020304" pitchFamily="18" charset="0"/>
                  </a:rPr>
                  <a:t>,</a:t>
                </a:r>
                <a14:m>
                  <m:oMath xmlns:m="http://schemas.openxmlformats.org/officeDocument/2006/math">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r>
                      <a:rPr sz="3600" i="1" kern="0" spc="-1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⁻¹</m:t>
                    </m:r>
                  </m:oMath>
                </a14:m>
                <a:r>
                  <a:rPr sz="3600" kern="0" spc="-2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也是双射函数，并且</a:t>
                </a:r>
                <a14:m>
                  <m:oMath xmlns:m="http://schemas.openxmlformats.org/officeDocument/2006/math">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⁻¹</m:t>
                    </m:r>
                  </m:oMath>
                </a14:m>
                <a:r>
                  <a:rPr sz="3600" kern="0" spc="-2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的定义域和值域相同，即</a:t>
                </a:r>
                <a14:m>
                  <m:oMath xmlns:m="http://schemas.openxmlformats.org/officeDocument/2006/math">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𝑉𝑥</m:t>
                    </m:r>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𝑋</m:t>
                    </m:r>
                  </m:oMath>
                </a14:m>
                <a:r>
                  <a:rPr sz="3600" kern="0" spc="-20" dirty="0">
                    <a:solidFill>
                      <a:srgbClr val="000000">
                        <a:alpha val="100000"/>
                      </a:srgbClr>
                    </a:solidFill>
                    <a:latin typeface="宋体" panose="02010600030101010101" pitchFamily="2" charset="-122"/>
                    <a:ea typeface="宋体" panose="02010600030101010101" pitchFamily="2" charset="-122"/>
                    <a:cs typeface="Times New Roman" panose="02020603050405020304" pitchFamily="18" charset="0"/>
                  </a:rPr>
                  <a:t>,</a:t>
                </a:r>
                <a:r>
                  <a:rPr sz="3600" kern="0" spc="40" dirty="0">
                    <a:solidFill>
                      <a:srgbClr val="000000">
                        <a:alpha val="100000"/>
                      </a:srgbClr>
                    </a:solidFill>
                    <a:latin typeface="宋体" panose="02010600030101010101" pitchFamily="2" charset="-122"/>
                    <a:ea typeface="宋体" panose="02010600030101010101" pitchFamily="2" charset="-122"/>
                    <a:cs typeface="Times New Roman" panose="02020603050405020304" pitchFamily="18" charset="0"/>
                  </a:rPr>
                  <a:t>  </a:t>
                </a:r>
                <a:r>
                  <a:rPr sz="3600" kern="0" spc="-2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存在唯一的</a:t>
                </a:r>
                <a14:m>
                  <m:oMath xmlns:m="http://schemas.openxmlformats.org/officeDocument/2006/math">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𝑥</m:t>
                    </m:r>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𝑋</m:t>
                    </m:r>
                  </m:oMath>
                </a14:m>
                <a:r>
                  <a:rPr sz="3600" kern="0" spc="-2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使得</a:t>
                </a:r>
                <a14:m>
                  <m:oMath xmlns:m="http://schemas.openxmlformats.org/officeDocument/2006/math">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𝜎</m:t>
                    </m:r>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¹(</m:t>
                    </m:r>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𝑥</m:t>
                    </m:r>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m:t>
                    </m:r>
                    <m:r>
                      <a:rPr sz="3600" i="1" kern="0" spc="-20" dirty="0" smtClean="0">
                        <a:solidFill>
                          <a:srgbClr val="000000">
                            <a:alpha val="100000"/>
                          </a:srgbClr>
                        </a:solidFill>
                        <a:latin typeface="Cambria Math" panose="02040503050406030204" pitchFamily="18" charset="0"/>
                        <a:ea typeface="宋体" panose="02010600030101010101" pitchFamily="2" charset="-122"/>
                        <a:cs typeface="Times New Roman" panose="02020603050405020304" pitchFamily="18" charset="0"/>
                      </a:rPr>
                      <m:t>𝑥</m:t>
                    </m:r>
                  </m:oMath>
                </a14:m>
                <a:r>
                  <a:rPr sz="3600" kern="0" spc="-2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pitchFamily="18" charset="0"/>
                  </a:rPr>
                  <a:t>。</a:t>
                </a:r>
                <a:endParaRPr sz="36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6" name="textbox 2"/>
              <p:cNvSpPr>
                <a:spLocks noRot="1" noChangeAspect="1" noMove="1" noResize="1" noEditPoints="1" noAdjustHandles="1" noChangeArrowheads="1" noChangeShapeType="1" noTextEdit="1"/>
              </p:cNvSpPr>
              <p:nvPr/>
            </p:nvSpPr>
            <p:spPr>
              <a:xfrm>
                <a:off x="1524000" y="2458720"/>
                <a:ext cx="15588615" cy="2446655"/>
              </a:xfrm>
              <a:prstGeom prst="rect">
                <a:avLst/>
              </a:prstGeom>
              <a:blipFill>
                <a:blip r:embed="rId2"/>
                <a:stretch>
                  <a:fillRect l="-1760" t="-4726" b="-42289"/>
                </a:stretch>
              </a:blipFill>
              <a:ln w="0" cap="flat">
                <a:noFill/>
                <a:prstDash val="solid"/>
                <a:miter lim="0"/>
              </a:ln>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t>6</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置换</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nvGraphicFramePr>
        <p:xfrm>
          <a:off x="1770192" y="4060957"/>
          <a:ext cx="12006580" cy="1469390"/>
        </p:xfrm>
        <a:graphic>
          <a:graphicData uri="http://schemas.openxmlformats.org/presentationml/2006/ole">
            <mc:AlternateContent xmlns:mc="http://schemas.openxmlformats.org/markup-compatibility/2006">
              <mc:Choice xmlns:v="urn:schemas-microsoft-com:vml" Requires="v">
                <p:oleObj name="Equation" r:id="rId2" imgW="3213100" imgH="393700" progId="Equation.DSMT4">
                  <p:embed/>
                </p:oleObj>
              </mc:Choice>
              <mc:Fallback>
                <p:oleObj name="Equation" r:id="rId2" imgW="3213100" imgH="393700" progId="Equation.DSMT4">
                  <p:embed/>
                  <p:pic>
                    <p:nvPicPr>
                      <p:cNvPr id="0" name="图片 4"/>
                      <p:cNvPicPr/>
                      <p:nvPr/>
                    </p:nvPicPr>
                    <p:blipFill>
                      <a:blip r:embed="rId3"/>
                      <a:stretch>
                        <a:fillRect/>
                      </a:stretch>
                    </p:blipFill>
                    <p:spPr>
                      <a:xfrm>
                        <a:off x="1770192" y="4060957"/>
                        <a:ext cx="12006580" cy="146939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1791782" y="6819676"/>
          <a:ext cx="10396817" cy="1877203"/>
        </p:xfrm>
        <a:graphic>
          <a:graphicData uri="http://schemas.openxmlformats.org/presentationml/2006/ole">
            <mc:AlternateContent xmlns:mc="http://schemas.openxmlformats.org/markup-compatibility/2006">
              <mc:Choice xmlns:v="urn:schemas-microsoft-com:vml" Requires="v">
                <p:oleObj name="Equation" r:id="rId4" imgW="3430270" imgH="620395" progId="Equation.DSMT4">
                  <p:embed/>
                </p:oleObj>
              </mc:Choice>
              <mc:Fallback>
                <p:oleObj name="Equation" r:id="rId4" imgW="3430270" imgH="620395" progId="Equation.DSMT4">
                  <p:embed/>
                  <p:pic>
                    <p:nvPicPr>
                      <p:cNvPr id="0" name="图片 9"/>
                      <p:cNvPicPr/>
                      <p:nvPr/>
                    </p:nvPicPr>
                    <p:blipFill>
                      <a:blip r:embed="rId5"/>
                      <a:stretch>
                        <a:fillRect/>
                      </a:stretch>
                    </p:blipFill>
                    <p:spPr>
                      <a:xfrm>
                        <a:off x="1791782" y="6819676"/>
                        <a:ext cx="10396817" cy="1877203"/>
                      </a:xfrm>
                      <a:prstGeom prst="rect">
                        <a:avLst/>
                      </a:prstGeom>
                    </p:spPr>
                  </p:pic>
                </p:oleObj>
              </mc:Fallback>
            </mc:AlternateContent>
          </a:graphicData>
        </a:graphic>
      </p:graphicFrame>
      <p:sp>
        <p:nvSpPr>
          <p:cNvPr id="11" name="文本框 10"/>
          <p:cNvSpPr txBox="1"/>
          <p:nvPr/>
        </p:nvSpPr>
        <p:spPr>
          <a:xfrm>
            <a:off x="997585" y="2019300"/>
            <a:ext cx="16147415" cy="4523105"/>
          </a:xfrm>
          <a:prstGeom prst="rect">
            <a:avLst/>
          </a:prstGeom>
          <a:noFill/>
        </p:spPr>
        <p:txBody>
          <a:bodyPr wrap="square" rtlCol="0">
            <a:spAutoFit/>
          </a:bodyPr>
          <a:lstStyle/>
          <a:p>
            <a:pPr indent="457200" algn="just" fontAlgn="auto"/>
            <a:r>
              <a:rPr lang="zh-CN" altLang="en-US" sz="3600" dirty="0">
                <a:latin typeface="Times New Roman" panose="02020603050405020304" pitchFamily="18" charset="0"/>
                <a:ea typeface="+mj-ea"/>
                <a:cs typeface="Times New Roman" panose="02020603050405020304" pitchFamily="18" charset="0"/>
              </a:rPr>
              <a:t>例2.1设有限集</a:t>
            </a:r>
            <a:r>
              <a:rPr lang="en-US" altLang="zh-CN" sz="3600" dirty="0">
                <a:latin typeface="Times New Roman" panose="02020603050405020304" pitchFamily="18" charset="0"/>
                <a:ea typeface="+mj-ea"/>
                <a:cs typeface="Times New Roman" panose="02020603050405020304" pitchFamily="18" charset="0"/>
              </a:rPr>
              <a:t>X={1,2,3,4,5,6,7,8},</a:t>
            </a:r>
            <a:r>
              <a:rPr lang="zh-CN" altLang="en-US" sz="3600" dirty="0">
                <a:latin typeface="Times New Roman" panose="02020603050405020304" pitchFamily="18" charset="0"/>
                <a:ea typeface="+mj-ea"/>
                <a:cs typeface="Times New Roman" panose="02020603050405020304" pitchFamily="18" charset="0"/>
              </a:rPr>
              <a:t>为</a:t>
            </a:r>
            <a:r>
              <a:rPr lang="en-US" altLang="zh-CN" sz="3600" dirty="0">
                <a:latin typeface="Times New Roman" panose="02020603050405020304" pitchFamily="18" charset="0"/>
                <a:ea typeface="+mj-ea"/>
                <a:cs typeface="Times New Roman" panose="02020603050405020304" pitchFamily="18" charset="0"/>
              </a:rPr>
              <a:t>X</a:t>
            </a:r>
            <a:r>
              <a:rPr lang="zh-CN" altLang="en-US" sz="3600" dirty="0">
                <a:latin typeface="Times New Roman" panose="02020603050405020304" pitchFamily="18" charset="0"/>
                <a:ea typeface="+mj-ea"/>
                <a:cs typeface="Times New Roman" panose="02020603050405020304" pitchFamily="18" charset="0"/>
              </a:rPr>
              <a:t>上的一个置换,并且满足</a:t>
            </a:r>
            <a:r>
              <a:rPr lang="en-US" altLang="zh-CN" sz="3600" dirty="0">
                <a:latin typeface="Times New Roman" panose="02020603050405020304" pitchFamily="18" charset="0"/>
                <a:ea typeface="+mj-ea"/>
                <a:cs typeface="Times New Roman" panose="02020603050405020304" pitchFamily="18" charset="0"/>
              </a:rPr>
              <a:t>σ(1)=2,σ(2)=5,σ(3)=3,σ(4)=6,σ(5)=1,σ(6)=8,σ(7)=4,σ(8)=7。</a:t>
            </a:r>
            <a:r>
              <a:rPr lang="zh-CN" altLang="en-US" sz="3600" dirty="0">
                <a:latin typeface="Times New Roman" panose="02020603050405020304" pitchFamily="18" charset="0"/>
                <a:ea typeface="+mj-ea"/>
                <a:cs typeface="Times New Roman" panose="02020603050405020304" pitchFamily="18" charset="0"/>
              </a:rPr>
              <a:t>因为置换可以简单用对换表示,所以上述置换</a:t>
            </a:r>
            <a:r>
              <a:rPr lang="en-US" altLang="zh-CN" sz="3600" dirty="0">
                <a:latin typeface="Times New Roman" panose="02020603050405020304" pitchFamily="18" charset="0"/>
                <a:ea typeface="+mj-ea"/>
                <a:cs typeface="Times New Roman" panose="02020603050405020304" pitchFamily="18" charset="0"/>
              </a:rPr>
              <a:t>σ</a:t>
            </a:r>
            <a:r>
              <a:rPr lang="zh-CN" altLang="en-US" sz="3600" dirty="0">
                <a:latin typeface="Times New Roman" panose="02020603050405020304" pitchFamily="18" charset="0"/>
                <a:ea typeface="+mj-ea"/>
                <a:cs typeface="Times New Roman" panose="02020603050405020304" pitchFamily="18" charset="0"/>
              </a:rPr>
              <a:t>可以形式化表示为对换的乘积,即</a:t>
            </a:r>
          </a:p>
          <a:p>
            <a:pPr indent="457200" algn="just" fontAlgn="auto"/>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r>
              <a:rPr lang="zh-CN" altLang="en-US" sz="3600" dirty="0">
                <a:latin typeface="Times New Roman" panose="02020603050405020304" pitchFamily="18" charset="0"/>
                <a:ea typeface="+mj-ea"/>
                <a:cs typeface="Times New Roman" panose="02020603050405020304" pitchFamily="18" charset="0"/>
              </a:rPr>
              <a:t>则其逆置换</a:t>
            </a:r>
            <a:r>
              <a:rPr lang="en-US" altLang="zh-CN" sz="3600" dirty="0">
                <a:latin typeface="Times New Roman" panose="02020603050405020304" pitchFamily="18" charset="0"/>
                <a:ea typeface="+mj-ea"/>
                <a:cs typeface="Times New Roman" panose="02020603050405020304" pitchFamily="18" charset="0"/>
              </a:rPr>
              <a:t>σ</a:t>
            </a:r>
            <a:r>
              <a:rPr lang="en-US" altLang="zh-CN" sz="3600" baseline="30000" dirty="0">
                <a:latin typeface="Times New Roman" panose="02020603050405020304" pitchFamily="18" charset="0"/>
                <a:ea typeface="+mj-ea"/>
                <a:cs typeface="Times New Roman" panose="02020603050405020304" pitchFamily="18" charset="0"/>
              </a:rPr>
              <a:t>-1</a:t>
            </a:r>
            <a:r>
              <a:rPr lang="zh-CN" altLang="en-US" sz="3600" dirty="0">
                <a:latin typeface="Times New Roman" panose="02020603050405020304" pitchFamily="18" charset="0"/>
                <a:ea typeface="+mj-ea"/>
                <a:cs typeface="Times New Roman" panose="02020603050405020304" pitchFamily="18" charset="0"/>
              </a:rPr>
              <a:t>可以表示为</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7</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置换</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3"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p>
        </p:txBody>
      </p:sp>
      <p:pic>
        <p:nvPicPr>
          <p:cNvPr id="14" name="图片 2"/>
          <p:cNvPicPr>
            <a:picLocks noChangeAspect="1"/>
          </p:cNvPicPr>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7" name="图片 16"/>
            <p:cNvPicPr>
              <a:picLocks noChangeAspect="1"/>
            </p:cNvPicPr>
            <p:nvPr/>
          </p:nvPicPr>
          <p:blipFill>
            <a:blip r:embed="rId7"/>
            <a:stretch>
              <a:fillRect/>
            </a:stretch>
          </p:blipFill>
          <p:spPr>
            <a:xfrm>
              <a:off x="13944600" y="877286"/>
              <a:ext cx="2771429" cy="47619"/>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52684" y="1714674"/>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置换用对换表示不仅形式上简单，同时也提供了一种快速求逆置换的方法。若置换为</a:t>
            </a:r>
          </a:p>
        </p:txBody>
      </p:sp>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2" name="对象 11"/>
          <p:cNvGraphicFramePr>
            <a:graphicFrameLocks noChangeAspect="1"/>
          </p:cNvGraphicFramePr>
          <p:nvPr/>
        </p:nvGraphicFramePr>
        <p:xfrm>
          <a:off x="2057400" y="3086100"/>
          <a:ext cx="12020689" cy="1035725"/>
        </p:xfrm>
        <a:graphic>
          <a:graphicData uri="http://schemas.openxmlformats.org/presentationml/2006/ole">
            <mc:AlternateContent xmlns:mc="http://schemas.openxmlformats.org/markup-compatibility/2006">
              <mc:Choice xmlns:v="urn:schemas-microsoft-com:vml" Requires="v">
                <p:oleObj name="Equation" r:id="rId2" imgW="2438400" imgH="203200" progId="Equation.DSMT4">
                  <p:embed/>
                </p:oleObj>
              </mc:Choice>
              <mc:Fallback>
                <p:oleObj name="Equation" r:id="rId2" imgW="2438400" imgH="2032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086100"/>
                        <a:ext cx="12020689" cy="1035725"/>
                      </a:xfrm>
                      <a:prstGeom prst="rect">
                        <a:avLst/>
                      </a:prstGeom>
                      <a:noFill/>
                    </p:spPr>
                  </p:pic>
                </p:oleObj>
              </mc:Fallback>
            </mc:AlternateContent>
          </a:graphicData>
        </a:graphic>
      </p:graphicFrame>
      <p:sp>
        <p:nvSpPr>
          <p:cNvPr id="16" name="TextBox 29"/>
          <p:cNvSpPr txBox="1"/>
          <p:nvPr/>
        </p:nvSpPr>
        <p:spPr>
          <a:xfrm>
            <a:off x="1553454" y="4432469"/>
            <a:ext cx="14818191" cy="60119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则相应的逆置换为</a:t>
            </a:r>
          </a:p>
        </p:txBody>
      </p:sp>
      <p:graphicFrame>
        <p:nvGraphicFramePr>
          <p:cNvPr id="18" name="对象 17"/>
          <p:cNvGraphicFramePr>
            <a:graphicFrameLocks noChangeAspect="1"/>
          </p:cNvGraphicFramePr>
          <p:nvPr/>
        </p:nvGraphicFramePr>
        <p:xfrm>
          <a:off x="2073965" y="5339333"/>
          <a:ext cx="12175435" cy="1052763"/>
        </p:xfrm>
        <a:graphic>
          <a:graphicData uri="http://schemas.openxmlformats.org/presentationml/2006/ole">
            <mc:AlternateContent xmlns:mc="http://schemas.openxmlformats.org/markup-compatibility/2006">
              <mc:Choice xmlns:v="urn:schemas-microsoft-com:vml" Requires="v">
                <p:oleObj name="Equation" r:id="rId4" imgW="2536190" imgH="220980" progId="Equation.DSMT4">
                  <p:embed/>
                </p:oleObj>
              </mc:Choice>
              <mc:Fallback>
                <p:oleObj name="Equation" r:id="rId4" imgW="2536190" imgH="220980" progId="Equation.DSMT4">
                  <p:embed/>
                  <p:pic>
                    <p:nvPicPr>
                      <p:cNvPr id="0" name="图片 6"/>
                      <p:cNvPicPr/>
                      <p:nvPr/>
                    </p:nvPicPr>
                    <p:blipFill>
                      <a:blip r:embed="rId5"/>
                      <a:stretch>
                        <a:fillRect/>
                      </a:stretch>
                    </p:blipFill>
                    <p:spPr>
                      <a:xfrm>
                        <a:off x="2073965" y="5339333"/>
                        <a:ext cx="12175435" cy="1052763"/>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fld id="{B6F15528-21DE-4FAA-801E-634DDDAF4B2B}" type="slidenum">
              <a:rPr lang="en-US" altLang="zh-CN" smtClean="0"/>
              <a:t>8</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置换</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3"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p>
        </p:txBody>
      </p:sp>
      <p:pic>
        <p:nvPicPr>
          <p:cNvPr id="14" name="图片 2"/>
          <p:cNvPicPr>
            <a:picLocks noChangeAspect="1"/>
          </p:cNvPicPr>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9" name="图片 18"/>
            <p:cNvPicPr>
              <a:picLocks noChangeAspect="1"/>
            </p:cNvPicPr>
            <p:nvPr/>
          </p:nvPicPr>
          <p:blipFill>
            <a:blip r:embed="rId7"/>
            <a:stretch>
              <a:fillRect/>
            </a:stretch>
          </p:blipFill>
          <p:spPr>
            <a:xfrm>
              <a:off x="13944600" y="877286"/>
              <a:ext cx="2771429" cy="47619"/>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7" name="对象 6"/>
          <p:cNvGraphicFramePr>
            <a:graphicFrameLocks noChangeAspect="1"/>
          </p:cNvGraphicFramePr>
          <p:nvPr/>
        </p:nvGraphicFramePr>
        <p:xfrm>
          <a:off x="2818515" y="4457700"/>
          <a:ext cx="10788716" cy="949407"/>
        </p:xfrm>
        <a:graphic>
          <a:graphicData uri="http://schemas.openxmlformats.org/presentationml/2006/ole">
            <mc:AlternateContent xmlns:mc="http://schemas.openxmlformats.org/markup-compatibility/2006">
              <mc:Choice xmlns:v="urn:schemas-microsoft-com:vml" Requires="v">
                <p:oleObj name="Equation" r:id="rId2" imgW="2383790" imgH="210185" progId="Equation.DSMT4">
                  <p:embed/>
                </p:oleObj>
              </mc:Choice>
              <mc:Fallback>
                <p:oleObj name="Equation" r:id="rId2" imgW="2383790" imgH="210185" progId="Equation.DSMT4">
                  <p:embed/>
                  <p:pic>
                    <p:nvPicPr>
                      <p:cNvPr id="0" name="图片 4"/>
                      <p:cNvPicPr/>
                      <p:nvPr/>
                    </p:nvPicPr>
                    <p:blipFill>
                      <a:blip r:embed="rId3"/>
                      <a:stretch>
                        <a:fillRect/>
                      </a:stretch>
                    </p:blipFill>
                    <p:spPr>
                      <a:xfrm>
                        <a:off x="2818515" y="4457700"/>
                        <a:ext cx="10788716" cy="949407"/>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818515" y="5677332"/>
          <a:ext cx="11076415" cy="949407"/>
        </p:xfrm>
        <a:graphic>
          <a:graphicData uri="http://schemas.openxmlformats.org/presentationml/2006/ole">
            <mc:AlternateContent xmlns:mc="http://schemas.openxmlformats.org/markup-compatibility/2006">
              <mc:Choice xmlns:v="urn:schemas-microsoft-com:vml" Requires="v">
                <p:oleObj name="Equation" r:id="rId4" imgW="2668270" imgH="229870" progId="Equation.DSMT4">
                  <p:embed/>
                </p:oleObj>
              </mc:Choice>
              <mc:Fallback>
                <p:oleObj name="Equation" r:id="rId4" imgW="2668270" imgH="229870" progId="Equation.DSMT4">
                  <p:embed/>
                  <p:pic>
                    <p:nvPicPr>
                      <p:cNvPr id="0" name="图片 8"/>
                      <p:cNvPicPr/>
                      <p:nvPr/>
                    </p:nvPicPr>
                    <p:blipFill>
                      <a:blip r:embed="rId5"/>
                      <a:stretch>
                        <a:fillRect/>
                      </a:stretch>
                    </p:blipFill>
                    <p:spPr>
                      <a:xfrm>
                        <a:off x="2818515" y="5677332"/>
                        <a:ext cx="11076415" cy="949407"/>
                      </a:xfrm>
                      <a:prstGeom prst="rect">
                        <a:avLst/>
                      </a:prstGeom>
                    </p:spPr>
                  </p:pic>
                </p:oleObj>
              </mc:Fallback>
            </mc:AlternateContent>
          </a:graphicData>
        </a:graphic>
      </p:graphicFrame>
      <p:sp>
        <p:nvSpPr>
          <p:cNvPr id="12" name="文本框 11"/>
          <p:cNvSpPr txBox="1"/>
          <p:nvPr/>
        </p:nvSpPr>
        <p:spPr>
          <a:xfrm>
            <a:off x="1295400" y="1714500"/>
            <a:ext cx="15552420" cy="6185535"/>
          </a:xfrm>
          <a:prstGeom prst="rect">
            <a:avLst/>
          </a:prstGeom>
          <a:noFill/>
        </p:spPr>
        <p:txBody>
          <a:bodyPr wrap="square" rtlCol="0">
            <a:spAutoFit/>
          </a:bodyPr>
          <a:lstStyle/>
          <a:p>
            <a:pPr indent="457200" algn="just" fontAlgn="auto"/>
            <a:r>
              <a:rPr lang="zh-CN" altLang="en-US" sz="3600">
                <a:latin typeface="Times New Roman" panose="02020603050405020304" pitchFamily="18" charset="0"/>
                <a:cs typeface="Times New Roman" panose="02020603050405020304" pitchFamily="18" charset="0"/>
              </a:rPr>
              <a:t>定义2.2(置换密码)设</a:t>
            </a:r>
            <a:r>
              <a:rPr lang="en-US" altLang="zh-CN" sz="3600">
                <a:latin typeface="Times New Roman" panose="02020603050405020304" pitchFamily="18" charset="0"/>
                <a:cs typeface="Times New Roman" panose="02020603050405020304" pitchFamily="18" charset="0"/>
              </a:rPr>
              <a:t>n</a:t>
            </a:r>
            <a:r>
              <a:rPr lang="zh-CN" altLang="en-US" sz="3600">
                <a:latin typeface="Times New Roman" panose="02020603050405020304" pitchFamily="18" charset="0"/>
                <a:cs typeface="Times New Roman" panose="02020603050405020304" pitchFamily="18" charset="0"/>
              </a:rPr>
              <a:t>为正整数，</a:t>
            </a:r>
            <a:r>
              <a:rPr lang="en-US" altLang="zh-CN" sz="3600">
                <a:latin typeface="Times New Roman" panose="02020603050405020304" pitchFamily="18" charset="0"/>
                <a:cs typeface="Times New Roman" panose="02020603050405020304" pitchFamily="18" charset="0"/>
              </a:rPr>
              <a:t>M、C</a:t>
            </a:r>
            <a:r>
              <a:rPr lang="zh-CN" altLang="en-US" sz="3600">
                <a:latin typeface="Times New Roman" panose="02020603050405020304" pitchFamily="18" charset="0"/>
                <a:cs typeface="Times New Roman" panose="02020603050405020304" pitchFamily="18" charset="0"/>
              </a:rPr>
              <a:t>和</a:t>
            </a:r>
            <a:r>
              <a:rPr lang="en-US" altLang="zh-CN" sz="3600">
                <a:latin typeface="Times New Roman" panose="02020603050405020304" pitchFamily="18" charset="0"/>
                <a:cs typeface="Times New Roman" panose="02020603050405020304" pitchFamily="18" charset="0"/>
              </a:rPr>
              <a:t>K</a:t>
            </a:r>
            <a:r>
              <a:rPr lang="zh-CN" altLang="en-US" sz="3600">
                <a:latin typeface="Times New Roman" panose="02020603050405020304" pitchFamily="18" charset="0"/>
                <a:cs typeface="Times New Roman" panose="02020603050405020304" pitchFamily="18" charset="0"/>
              </a:rPr>
              <a:t>分别为明文空间、密文空间和密钥空间。明文、密文都是长度为</a:t>
            </a:r>
            <a:r>
              <a:rPr lang="en-US" altLang="zh-CN" sz="3600">
                <a:latin typeface="Times New Roman" panose="02020603050405020304" pitchFamily="18" charset="0"/>
                <a:cs typeface="Times New Roman" panose="02020603050405020304" pitchFamily="18" charset="0"/>
              </a:rPr>
              <a:t>n</a:t>
            </a:r>
            <a:r>
              <a:rPr lang="zh-CN" altLang="en-US" sz="3600">
                <a:latin typeface="Times New Roman" panose="02020603050405020304" pitchFamily="18" charset="0"/>
                <a:cs typeface="Times New Roman" panose="02020603050405020304" pitchFamily="18" charset="0"/>
              </a:rPr>
              <a:t>的字符序列，分别记为</a:t>
            </a:r>
            <a:r>
              <a:rPr lang="en-US" altLang="zh-CN" sz="3600">
                <a:latin typeface="Times New Roman" panose="02020603050405020304" pitchFamily="18" charset="0"/>
                <a:cs typeface="Times New Roman" panose="02020603050405020304" pitchFamily="18" charset="0"/>
              </a:rPr>
              <a:t>X=(x</a:t>
            </a:r>
            <a:r>
              <a:rPr lang="en-US" altLang="zh-CN" sz="3600" baseline="-25000">
                <a:latin typeface="Times New Roman" panose="02020603050405020304" pitchFamily="18" charset="0"/>
                <a:cs typeface="Times New Roman" panose="02020603050405020304" pitchFamily="18" charset="0"/>
              </a:rPr>
              <a:t>1</a:t>
            </a:r>
            <a:r>
              <a:rPr lang="en-US" altLang="zh-CN" sz="3600">
                <a:latin typeface="Times New Roman" panose="02020603050405020304" pitchFamily="18" charset="0"/>
                <a:cs typeface="Times New Roman" panose="02020603050405020304" pitchFamily="18" charset="0"/>
              </a:rPr>
              <a:t>,x</a:t>
            </a:r>
            <a:r>
              <a:rPr lang="en-US" altLang="zh-CN" sz="3600" baseline="-25000">
                <a:latin typeface="Times New Roman" panose="02020603050405020304" pitchFamily="18" charset="0"/>
                <a:cs typeface="Times New Roman" panose="02020603050405020304" pitchFamily="18" charset="0"/>
              </a:rPr>
              <a:t>2</a:t>
            </a:r>
            <a:r>
              <a:rPr lang="en-US" altLang="zh-CN" sz="3600">
                <a:latin typeface="Times New Roman" panose="02020603050405020304" pitchFamily="18" charset="0"/>
                <a:cs typeface="Times New Roman" panose="02020603050405020304" pitchFamily="18" charset="0"/>
              </a:rPr>
              <a:t>,…,x</a:t>
            </a:r>
            <a:r>
              <a:rPr lang="en-US" altLang="zh-CN" sz="3600" baseline="-25000">
                <a:latin typeface="Times New Roman" panose="02020603050405020304" pitchFamily="18" charset="0"/>
                <a:cs typeface="Times New Roman" panose="02020603050405020304" pitchFamily="18" charset="0"/>
              </a:rPr>
              <a:t>n</a:t>
            </a:r>
            <a:r>
              <a:rPr lang="en-US" altLang="zh-CN" sz="3600">
                <a:latin typeface="Times New Roman" panose="02020603050405020304" pitchFamily="18" charset="0"/>
                <a:cs typeface="Times New Roman" panose="02020603050405020304" pitchFamily="18" charset="0"/>
              </a:rPr>
              <a:t>)∈M</a:t>
            </a:r>
            <a:r>
              <a:rPr lang="zh-CN" altLang="en-US" sz="3600">
                <a:latin typeface="Times New Roman" panose="02020603050405020304" pitchFamily="18" charset="0"/>
                <a:cs typeface="Times New Roman" panose="02020603050405020304" pitchFamily="18" charset="0"/>
              </a:rPr>
              <a:t>和</a:t>
            </a:r>
            <a:r>
              <a:rPr lang="en-US" altLang="zh-CN" sz="3600">
                <a:latin typeface="Times New Roman" panose="02020603050405020304" pitchFamily="18" charset="0"/>
                <a:cs typeface="Times New Roman" panose="02020603050405020304" pitchFamily="18" charset="0"/>
              </a:rPr>
              <a:t>Y=(y</a:t>
            </a:r>
            <a:r>
              <a:rPr lang="en-US" altLang="zh-CN" sz="3600" baseline="-25000">
                <a:latin typeface="Times New Roman" panose="02020603050405020304" pitchFamily="18" charset="0"/>
                <a:cs typeface="Times New Roman" panose="02020603050405020304" pitchFamily="18" charset="0"/>
              </a:rPr>
              <a:t>1</a:t>
            </a:r>
            <a:r>
              <a:rPr lang="en-US" altLang="zh-CN" sz="3600">
                <a:latin typeface="Times New Roman" panose="02020603050405020304" pitchFamily="18" charset="0"/>
                <a:cs typeface="Times New Roman" panose="02020603050405020304" pitchFamily="18" charset="0"/>
              </a:rPr>
              <a:t>,y</a:t>
            </a:r>
            <a:r>
              <a:rPr lang="en-US" altLang="zh-CN" sz="3600" baseline="-25000">
                <a:latin typeface="Times New Roman" panose="02020603050405020304" pitchFamily="18" charset="0"/>
                <a:cs typeface="Times New Roman" panose="02020603050405020304" pitchFamily="18" charset="0"/>
              </a:rPr>
              <a:t>2</a:t>
            </a:r>
            <a:r>
              <a:rPr lang="en-US" altLang="zh-CN" sz="3600">
                <a:latin typeface="Times New Roman" panose="02020603050405020304" pitchFamily="18" charset="0"/>
                <a:cs typeface="Times New Roman" panose="02020603050405020304" pitchFamily="18" charset="0"/>
              </a:rPr>
              <a:t>,…,y</a:t>
            </a:r>
            <a:r>
              <a:rPr lang="en-US" altLang="zh-CN" sz="3600" baseline="-25000">
                <a:latin typeface="Times New Roman" panose="02020603050405020304" pitchFamily="18" charset="0"/>
                <a:cs typeface="Times New Roman" panose="02020603050405020304" pitchFamily="18" charset="0"/>
              </a:rPr>
              <a:t>n</a:t>
            </a:r>
            <a:r>
              <a:rPr lang="en-US" altLang="zh-CN" sz="3600">
                <a:latin typeface="Times New Roman" panose="02020603050405020304" pitchFamily="18" charset="0"/>
                <a:cs typeface="Times New Roman" panose="02020603050405020304" pitchFamily="18" charset="0"/>
              </a:rPr>
              <a:t>)∈C,K</a:t>
            </a:r>
            <a:r>
              <a:rPr lang="zh-CN" altLang="en-US" sz="3600">
                <a:latin typeface="Times New Roman" panose="02020603050405020304" pitchFamily="18" charset="0"/>
                <a:cs typeface="Times New Roman" panose="02020603050405020304" pitchFamily="18" charset="0"/>
              </a:rPr>
              <a:t>是定义在{1,2,…,</a:t>
            </a:r>
            <a:r>
              <a:rPr lang="en-US" altLang="zh-CN" sz="3600">
                <a:latin typeface="Times New Roman" panose="02020603050405020304" pitchFamily="18" charset="0"/>
                <a:cs typeface="Times New Roman" panose="02020603050405020304" pitchFamily="18" charset="0"/>
              </a:rPr>
              <a:t>n}</a:t>
            </a:r>
            <a:r>
              <a:rPr lang="zh-CN" altLang="en-US" sz="3600">
                <a:latin typeface="Times New Roman" panose="02020603050405020304" pitchFamily="18" charset="0"/>
                <a:cs typeface="Times New Roman" panose="02020603050405020304" pitchFamily="18" charset="0"/>
              </a:rPr>
              <a:t>的所有置换组成的集合。对任何一个密钥</a:t>
            </a:r>
            <a:r>
              <a:rPr lang="en-US" altLang="zh-CN" sz="3600">
                <a:latin typeface="Times New Roman" panose="02020603050405020304" pitchFamily="18" charset="0"/>
                <a:cs typeface="Times New Roman" panose="02020603050405020304" pitchFamily="18" charset="0"/>
              </a:rPr>
              <a:t>σ∈K,</a:t>
            </a:r>
            <a:r>
              <a:rPr lang="zh-CN" altLang="en-US" sz="3600">
                <a:latin typeface="Times New Roman" panose="02020603050405020304" pitchFamily="18" charset="0"/>
                <a:cs typeface="Times New Roman" panose="02020603050405020304" pitchFamily="18" charset="0"/>
              </a:rPr>
              <a:t>即任何一个置换，定义置换密码为</a:t>
            </a:r>
          </a:p>
          <a:p>
            <a:pPr indent="457200" algn="just" fontAlgn="auto"/>
            <a:endParaRPr lang="zh-CN" altLang="en-US" sz="3600">
              <a:latin typeface="Times New Roman" panose="02020603050405020304" pitchFamily="18" charset="0"/>
              <a:cs typeface="Times New Roman" panose="02020603050405020304" pitchFamily="18" charset="0"/>
            </a:endParaRPr>
          </a:p>
          <a:p>
            <a:pPr indent="457200" algn="just" fontAlgn="auto"/>
            <a:endParaRPr lang="zh-CN" altLang="en-US" sz="3600">
              <a:latin typeface="Times New Roman" panose="02020603050405020304" pitchFamily="18" charset="0"/>
              <a:cs typeface="Times New Roman" panose="02020603050405020304" pitchFamily="18" charset="0"/>
            </a:endParaRPr>
          </a:p>
          <a:p>
            <a:pPr indent="457200" algn="just" fontAlgn="auto"/>
            <a:endParaRPr lang="zh-CN" altLang="en-US" sz="3600">
              <a:latin typeface="Times New Roman" panose="02020603050405020304" pitchFamily="18" charset="0"/>
              <a:cs typeface="Times New Roman" panose="02020603050405020304" pitchFamily="18" charset="0"/>
            </a:endParaRPr>
          </a:p>
          <a:p>
            <a:pPr indent="457200" algn="just" fontAlgn="auto"/>
            <a:endParaRPr lang="zh-CN" altLang="en-US" sz="3600">
              <a:latin typeface="Times New Roman" panose="02020603050405020304" pitchFamily="18" charset="0"/>
              <a:cs typeface="Times New Roman" panose="02020603050405020304" pitchFamily="18" charset="0"/>
            </a:endParaRPr>
          </a:p>
          <a:p>
            <a:pPr indent="457200" algn="just" fontAlgn="auto"/>
            <a:endParaRPr lang="zh-CN" altLang="en-US" sz="3600">
              <a:latin typeface="Times New Roman" panose="02020603050405020304" pitchFamily="18" charset="0"/>
              <a:cs typeface="Times New Roman" panose="02020603050405020304" pitchFamily="18" charset="0"/>
            </a:endParaRPr>
          </a:p>
          <a:p>
            <a:pPr indent="457200" algn="just" fontAlgn="auto"/>
            <a:endParaRPr lang="zh-CN" altLang="en-US" sz="3600">
              <a:latin typeface="Times New Roman" panose="02020603050405020304" pitchFamily="18" charset="0"/>
              <a:cs typeface="Times New Roman" panose="02020603050405020304" pitchFamily="18" charset="0"/>
            </a:endParaRPr>
          </a:p>
          <a:p>
            <a:pPr indent="457200" algn="just" fontAlgn="auto"/>
            <a:r>
              <a:rPr lang="zh-CN" altLang="en-US" sz="3600">
                <a:latin typeface="Times New Roman" panose="02020603050405020304" pitchFamily="18" charset="0"/>
                <a:cs typeface="Times New Roman" panose="02020603050405020304" pitchFamily="18" charset="0"/>
              </a:rPr>
              <a:t>其中,</a:t>
            </a:r>
            <a:r>
              <a:rPr lang="en-US" altLang="zh-CN" sz="3600">
                <a:latin typeface="Times New Roman" panose="02020603050405020304" pitchFamily="18" charset="0"/>
                <a:cs typeface="Times New Roman" panose="02020603050405020304" pitchFamily="18" charset="0"/>
              </a:rPr>
              <a:t>σ</a:t>
            </a:r>
            <a:r>
              <a:rPr lang="en-US" altLang="zh-CN" sz="3600" baseline="30000">
                <a:latin typeface="Times New Roman" panose="02020603050405020304" pitchFamily="18" charset="0"/>
                <a:cs typeface="Times New Roman" panose="02020603050405020304" pitchFamily="18" charset="0"/>
              </a:rPr>
              <a:t>-1</a:t>
            </a:r>
            <a:r>
              <a:rPr lang="zh-CN" altLang="en-US" sz="3600">
                <a:latin typeface="Times New Roman" panose="02020603050405020304" pitchFamily="18" charset="0"/>
                <a:cs typeface="Times New Roman" panose="02020603050405020304" pitchFamily="18" charset="0"/>
              </a:rPr>
              <a:t>是</a:t>
            </a:r>
            <a:r>
              <a:rPr lang="en-US" altLang="zh-CN" sz="3600">
                <a:latin typeface="Times New Roman" panose="02020603050405020304" pitchFamily="18" charset="0"/>
                <a:cs typeface="Times New Roman" panose="02020603050405020304" pitchFamily="18" charset="0"/>
              </a:rPr>
              <a:t>σ</a:t>
            </a:r>
            <a:r>
              <a:rPr lang="zh-CN" altLang="en-US" sz="3600">
                <a:latin typeface="Times New Roman" panose="02020603050405020304" pitchFamily="18" charset="0"/>
                <a:cs typeface="Times New Roman" panose="02020603050405020304" pitchFamily="18" charset="0"/>
              </a:rPr>
              <a:t>的逆置换,密钥空间</a:t>
            </a:r>
            <a:r>
              <a:rPr lang="en-US" altLang="zh-CN" sz="3600">
                <a:latin typeface="Times New Roman" panose="02020603050405020304" pitchFamily="18" charset="0"/>
                <a:cs typeface="Times New Roman" panose="02020603050405020304" pitchFamily="18" charset="0"/>
              </a:rPr>
              <a:t>K</a:t>
            </a:r>
            <a:r>
              <a:rPr lang="zh-CN" altLang="en-US" sz="3600">
                <a:latin typeface="Times New Roman" panose="02020603050405020304" pitchFamily="18" charset="0"/>
                <a:cs typeface="Times New Roman" panose="02020603050405020304" pitchFamily="18" charset="0"/>
              </a:rPr>
              <a:t>的大小为</a:t>
            </a:r>
            <a:r>
              <a:rPr lang="en-US" altLang="zh-CN" sz="3600">
                <a:latin typeface="Times New Roman" panose="02020603050405020304" pitchFamily="18" charset="0"/>
                <a:cs typeface="Times New Roman" panose="02020603050405020304" pitchFamily="18" charset="0"/>
              </a:rPr>
              <a:t>n!。</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9</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置换</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4"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p>
        </p:txBody>
      </p:sp>
      <p:pic>
        <p:nvPicPr>
          <p:cNvPr id="15" name="图片 2"/>
          <p:cNvPicPr>
            <a:picLocks noChangeAspect="1"/>
          </p:cNvPicPr>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8" name="图片 17"/>
            <p:cNvPicPr>
              <a:picLocks noChangeAspect="1"/>
            </p:cNvPicPr>
            <p:nvPr/>
          </p:nvPicPr>
          <p:blipFill>
            <a:blip r:embed="rId7"/>
            <a:stretch>
              <a:fillRect/>
            </a:stretch>
          </p:blipFill>
          <p:spPr>
            <a:xfrm>
              <a:off x="13944600" y="877286"/>
              <a:ext cx="2771429" cy="4761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TextBox 29"/>
          <p:cNvSpPr txBox="1"/>
          <p:nvPr/>
        </p:nvSpPr>
        <p:spPr>
          <a:xfrm>
            <a:off x="1752684" y="1714674"/>
            <a:ext cx="14818191" cy="7913961"/>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列置换密码就是按列换位，并且按列读出明文序列得到密文。具体加密过程如下。</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）将明文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以设定的固定分组宽度</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按行写出，即每行有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个字符。若明文长度不是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的整数倍，则不足部分用双方约定的方式填充，如双方可约定用空格方式填充。不妨设最后得到的字符矩阵为 。</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）的置换 交换列的位置得到字符矩阵 。</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）把矩阵 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列的顺序依次读出，得到密文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解密过程与加密过程相类似，列置换 是加密列置换 的逆，具体解密过程如下。</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）将密文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以分组宽度</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按列写出得到字符矩阵 。</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）按逆置换 交换列的位置，得字符矩阵 。</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）把矩阵 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行的顺序依次读出，得到明文 。</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10</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列置换密码</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2.1.1</a:t>
            </a: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9"/>
          <p:cNvSpPr txBox="1"/>
          <p:nvPr/>
        </p:nvSpPr>
        <p:spPr>
          <a:xfrm>
            <a:off x="1734904" y="6217218"/>
            <a:ext cx="14818191" cy="60119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由矩阵            得到密文为“</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i0mnme2yiaj2pteBglWGnOcr i2ies”</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4"/>
          <p:cNvGraphicFramePr>
            <a:graphicFrameLocks noChangeAspect="1"/>
          </p:cNvGraphicFramePr>
          <p:nvPr/>
        </p:nvGraphicFramePr>
        <p:xfrm>
          <a:off x="2352323" y="2416781"/>
          <a:ext cx="1960158" cy="563881"/>
        </p:xfrm>
        <a:graphic>
          <a:graphicData uri="http://schemas.openxmlformats.org/presentationml/2006/ole">
            <mc:AlternateContent xmlns:mc="http://schemas.openxmlformats.org/markup-compatibility/2006">
              <mc:Choice xmlns:v="urn:schemas-microsoft-com:vml" Requires="v">
                <p:oleObj name="Equation" r:id="rId2" imgW="696595" imgH="201295" progId="Equation.DSMT4">
                  <p:embed/>
                </p:oleObj>
              </mc:Choice>
              <mc:Fallback>
                <p:oleObj name="Equation" r:id="rId2" imgW="696595" imgH="201295" progId="Equation.DSMT4">
                  <p:embed/>
                  <p:pic>
                    <p:nvPicPr>
                      <p:cNvPr id="0" name="图片 5"/>
                      <p:cNvPicPr/>
                      <p:nvPr/>
                    </p:nvPicPr>
                    <p:blipFill>
                      <a:blip r:embed="rId3"/>
                      <a:stretch>
                        <a:fillRect/>
                      </a:stretch>
                    </p:blipFill>
                    <p:spPr>
                      <a:xfrm>
                        <a:off x="2352323" y="2416781"/>
                        <a:ext cx="1960158" cy="563881"/>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895600" y="3391810"/>
          <a:ext cx="9917773" cy="2566660"/>
        </p:xfrm>
        <a:graphic>
          <a:graphicData uri="http://schemas.openxmlformats.org/presentationml/2006/ole">
            <mc:AlternateContent xmlns:mc="http://schemas.openxmlformats.org/markup-compatibility/2006">
              <mc:Choice xmlns:v="urn:schemas-microsoft-com:vml" Requires="v">
                <p:oleObj name="Equation" r:id="rId4" imgW="3793490" imgH="982980" progId="Equation.DSMT4">
                  <p:embed/>
                </p:oleObj>
              </mc:Choice>
              <mc:Fallback>
                <p:oleObj name="Equation" r:id="rId4" imgW="3793490" imgH="982980" progId="Equation.DSMT4">
                  <p:embed/>
                  <p:pic>
                    <p:nvPicPr>
                      <p:cNvPr id="0" name="图片 7"/>
                      <p:cNvPicPr/>
                      <p:nvPr/>
                    </p:nvPicPr>
                    <p:blipFill>
                      <a:blip r:embed="rId5"/>
                      <a:stretch>
                        <a:fillRect/>
                      </a:stretch>
                    </p:blipFill>
                    <p:spPr>
                      <a:xfrm>
                        <a:off x="2895600" y="3391810"/>
                        <a:ext cx="9917773" cy="2566660"/>
                      </a:xfrm>
                      <a:prstGeom prst="rect">
                        <a:avLst/>
                      </a:prstGeom>
                    </p:spPr>
                  </p:pic>
                </p:oleObj>
              </mc:Fallback>
            </mc:AlternateContent>
          </a:graphicData>
        </a:graphic>
      </p:graphicFrame>
      <p:sp>
        <p:nvSpPr>
          <p:cNvPr id="9" name="TextBox 29"/>
          <p:cNvSpPr txBox="1"/>
          <p:nvPr/>
        </p:nvSpPr>
        <p:spPr>
          <a:xfrm>
            <a:off x="1905000" y="1654413"/>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2.2</a:t>
            </a: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设明文</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Beijing 2022 Olympic Winter Games”</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密钥                    ，则加密过程为</a:t>
            </a:r>
          </a:p>
        </p:txBody>
      </p:sp>
      <p:graphicFrame>
        <p:nvGraphicFramePr>
          <p:cNvPr id="14" name="对象 13"/>
          <p:cNvGraphicFramePr>
            <a:graphicFrameLocks noChangeAspect="1"/>
          </p:cNvGraphicFramePr>
          <p:nvPr/>
        </p:nvGraphicFramePr>
        <p:xfrm>
          <a:off x="4114800" y="6261712"/>
          <a:ext cx="1371600" cy="655983"/>
        </p:xfrm>
        <a:graphic>
          <a:graphicData uri="http://schemas.openxmlformats.org/presentationml/2006/ole">
            <mc:AlternateContent xmlns:mc="http://schemas.openxmlformats.org/markup-compatibility/2006">
              <mc:Choice xmlns:v="urn:schemas-microsoft-com:vml" Requires="v">
                <p:oleObj name="Equation" r:id="rId6" imgW="440690" imgH="210185" progId="Equation.DSMT4">
                  <p:embed/>
                </p:oleObj>
              </mc:Choice>
              <mc:Fallback>
                <p:oleObj name="Equation" r:id="rId6" imgW="440690" imgH="210185" progId="Equation.DSMT4">
                  <p:embed/>
                  <p:pic>
                    <p:nvPicPr>
                      <p:cNvPr id="0" name="图片 10"/>
                      <p:cNvPicPr/>
                      <p:nvPr/>
                    </p:nvPicPr>
                    <p:blipFill>
                      <a:blip r:embed="rId7"/>
                      <a:stretch>
                        <a:fillRect/>
                      </a:stretch>
                    </p:blipFill>
                    <p:spPr>
                      <a:xfrm>
                        <a:off x="4114800" y="6261712"/>
                        <a:ext cx="1371600" cy="655983"/>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fld id="{B6F15528-21DE-4FAA-801E-634DDDAF4B2B}" type="slidenum">
              <a:rPr lang="en-US" altLang="zh-CN" smtClean="0"/>
              <a:t>11</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列置换密码</a:t>
            </a:r>
          </a:p>
        </p:txBody>
      </p:sp>
      <p:sp>
        <p:nvSpPr>
          <p:cNvPr id="15"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2.1.1</a:t>
            </a:r>
          </a:p>
        </p:txBody>
      </p:sp>
      <p:pic>
        <p:nvPicPr>
          <p:cNvPr id="16" name="图片 2"/>
          <p:cNvPicPr>
            <a:picLocks noChangeAspect="1"/>
          </p:cNvPicPr>
          <p:nvPr/>
        </p:nvPicPr>
        <p:blipFill>
          <a:blip r:embed="rId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7" name="组合 16"/>
          <p:cNvGrpSpPr/>
          <p:nvPr/>
        </p:nvGrpSpPr>
        <p:grpSpPr>
          <a:xfrm>
            <a:off x="13639786" y="733421"/>
            <a:ext cx="3700052" cy="416951"/>
            <a:chOff x="13811849" y="507954"/>
            <a:chExt cx="3700052" cy="416951"/>
          </a:xfrm>
        </p:grpSpPr>
        <p:sp>
          <p:nvSpPr>
            <p:cNvPr id="18" name="文本框 17"/>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9" name="图片 18"/>
            <p:cNvPicPr>
              <a:picLocks noChangeAspect="1"/>
            </p:cNvPicPr>
            <p:nvPr/>
          </p:nvPicPr>
          <p:blipFill>
            <a:blip r:embed="rId9"/>
            <a:stretch>
              <a:fillRect/>
            </a:stretch>
          </p:blipFill>
          <p:spPr>
            <a:xfrm>
              <a:off x="13944600" y="877286"/>
              <a:ext cx="2771429" cy="47619"/>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9"/>
          <p:cNvSpPr txBox="1"/>
          <p:nvPr/>
        </p:nvSpPr>
        <p:spPr>
          <a:xfrm>
            <a:off x="1734904" y="6217218"/>
            <a:ext cx="14818191" cy="332105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由矩阵         </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按行读出可得明文“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Beijing 2022 Olympic Winter Games”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为了增强列置换密码的复杂性，可采用多重列换位加密方法以增加密和解密的难度。其过程是首先用置换   对明文加密得到密文</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，然后对密文</a:t>
            </a:r>
            <a:r>
              <a:rPr lang="en-US" altLang="zh-CN" sz="3600" i="1" dirty="0">
                <a:solidFill>
                  <a:srgbClr val="000000"/>
                </a:solidFill>
                <a:latin typeface="Times New Roman" panose="02020603050405020304" pitchFamily="18" charset="0"/>
                <a:cs typeface="字由点字典黑 2"/>
                <a:sym typeface="字由点字典黑 2"/>
              </a:rPr>
              <a:t>c</a:t>
            </a:r>
            <a:r>
              <a:rPr lang="en-US" altLang="zh-CN" sz="3600" baseline="-25000" dirty="0">
                <a:solidFill>
                  <a:srgbClr val="000000"/>
                </a:solidFill>
                <a:latin typeface="Times New Roman" panose="02020603050405020304" pitchFamily="18" charset="0"/>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用另一置换   加密得到新的密文</a:t>
            </a:r>
            <a:r>
              <a:rPr lang="en-US" altLang="zh-CN" sz="3600" i="1" dirty="0">
                <a:solidFill>
                  <a:srgbClr val="000000"/>
                </a:solidFill>
                <a:latin typeface="Times New Roman" panose="02020603050405020304" pitchFamily="18" charset="0"/>
                <a:cs typeface="字由点字典黑 2"/>
                <a:sym typeface="字由点字典黑 2"/>
              </a:rPr>
              <a:t>c</a:t>
            </a:r>
            <a:r>
              <a:rPr lang="en-US" altLang="zh-CN" sz="3600" baseline="-25000" dirty="0">
                <a:solidFill>
                  <a:srgbClr val="000000"/>
                </a:solidFill>
                <a:latin typeface="Times New Roman" panose="02020603050405020304" pitchFamily="18" charset="0"/>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    和     可以相同，也可以不同，以此类推最终得到密文</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p:txBody>
      </p:sp>
      <p:sp>
        <p:nvSpPr>
          <p:cNvPr id="7" name="TextBox 29"/>
          <p:cNvSpPr txBox="1"/>
          <p:nvPr/>
        </p:nvSpPr>
        <p:spPr>
          <a:xfrm>
            <a:off x="1721841" y="1563363"/>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下面通过密文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求明文</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，由加密密钥             易得解密密钥（逆置换）                        ，则解密过程为</a:t>
            </a:r>
          </a:p>
        </p:txBody>
      </p:sp>
      <p:graphicFrame>
        <p:nvGraphicFramePr>
          <p:cNvPr id="18" name="对象 17"/>
          <p:cNvGraphicFramePr>
            <a:graphicFrameLocks noChangeAspect="1"/>
          </p:cNvGraphicFramePr>
          <p:nvPr/>
        </p:nvGraphicFramePr>
        <p:xfrm>
          <a:off x="4301304" y="3082656"/>
          <a:ext cx="9685392" cy="2506521"/>
        </p:xfrm>
        <a:graphic>
          <a:graphicData uri="http://schemas.openxmlformats.org/presentationml/2006/ole">
            <mc:AlternateContent xmlns:mc="http://schemas.openxmlformats.org/markup-compatibility/2006">
              <mc:Choice xmlns:v="urn:schemas-microsoft-com:vml" Requires="v">
                <p:oleObj name="Equation" r:id="rId2" imgW="3793490" imgH="982980" progId="Equation.DSMT4">
                  <p:embed/>
                </p:oleObj>
              </mc:Choice>
              <mc:Fallback>
                <p:oleObj name="Equation" r:id="rId2" imgW="3793490" imgH="982980" progId="Equation.DSMT4">
                  <p:embed/>
                  <p:pic>
                    <p:nvPicPr>
                      <p:cNvPr id="0" name="图片 4"/>
                      <p:cNvPicPr/>
                      <p:nvPr/>
                    </p:nvPicPr>
                    <p:blipFill>
                      <a:blip r:embed="rId3"/>
                      <a:stretch>
                        <a:fillRect/>
                      </a:stretch>
                    </p:blipFill>
                    <p:spPr>
                      <a:xfrm>
                        <a:off x="4301304" y="3082656"/>
                        <a:ext cx="9685392" cy="2506521"/>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3962400" y="6217218"/>
          <a:ext cx="1419224" cy="709612"/>
        </p:xfrm>
        <a:graphic>
          <a:graphicData uri="http://schemas.openxmlformats.org/presentationml/2006/ole">
            <mc:AlternateContent xmlns:mc="http://schemas.openxmlformats.org/markup-compatibility/2006">
              <mc:Choice xmlns:v="urn:schemas-microsoft-com:vml" Requires="v">
                <p:oleObj name="Equation" r:id="rId4" imgW="400685" imgH="201295" progId="Equation.DSMT4">
                  <p:embed/>
                </p:oleObj>
              </mc:Choice>
              <mc:Fallback>
                <p:oleObj name="Equation" r:id="rId4" imgW="400685" imgH="201295" progId="Equation.DSMT4">
                  <p:embed/>
                  <p:pic>
                    <p:nvPicPr>
                      <p:cNvPr id="0" name="图片 5"/>
                      <p:cNvPicPr/>
                      <p:nvPr/>
                    </p:nvPicPr>
                    <p:blipFill>
                      <a:blip r:embed="rId5"/>
                      <a:stretch>
                        <a:fillRect/>
                      </a:stretch>
                    </p:blipFill>
                    <p:spPr>
                      <a:xfrm>
                        <a:off x="3962400" y="6217218"/>
                        <a:ext cx="1419224" cy="709612"/>
                      </a:xfrm>
                      <a:prstGeom prst="rect">
                        <a:avLst/>
                      </a:prstGeom>
                    </p:spPr>
                  </p:pic>
                </p:oleObj>
              </mc:Fallback>
            </mc:AlternateContent>
          </a:graphicData>
        </a:graphic>
      </p:graphicFrame>
      <p:graphicFrame>
        <p:nvGraphicFramePr>
          <p:cNvPr id="42" name="对象 41"/>
          <p:cNvGraphicFramePr>
            <a:graphicFrameLocks noChangeAspect="1"/>
          </p:cNvGraphicFramePr>
          <p:nvPr/>
        </p:nvGraphicFramePr>
        <p:xfrm>
          <a:off x="9130936" y="7547370"/>
          <a:ext cx="457200" cy="600075"/>
        </p:xfrm>
        <a:graphic>
          <a:graphicData uri="http://schemas.openxmlformats.org/presentationml/2006/ole">
            <mc:AlternateContent xmlns:mc="http://schemas.openxmlformats.org/markup-compatibility/2006">
              <mc:Choice xmlns:v="urn:schemas-microsoft-com:vml" Requires="v">
                <p:oleObj name="Equation" r:id="rId6" imgW="153670" imgH="201295" progId="Equation.DSMT4">
                  <p:embed/>
                </p:oleObj>
              </mc:Choice>
              <mc:Fallback>
                <p:oleObj name="Equation" r:id="rId6" imgW="153670" imgH="201295" progId="Equation.DSMT4">
                  <p:embed/>
                  <p:pic>
                    <p:nvPicPr>
                      <p:cNvPr id="0" name="图片 7"/>
                      <p:cNvPicPr/>
                      <p:nvPr/>
                    </p:nvPicPr>
                    <p:blipFill>
                      <a:blip r:embed="rId7"/>
                      <a:stretch>
                        <a:fillRect/>
                      </a:stretch>
                    </p:blipFill>
                    <p:spPr>
                      <a:xfrm>
                        <a:off x="9130936" y="7547370"/>
                        <a:ext cx="457200" cy="600075"/>
                      </a:xfrm>
                      <a:prstGeom prst="rect">
                        <a:avLst/>
                      </a:prstGeom>
                    </p:spPr>
                  </p:pic>
                </p:oleObj>
              </mc:Fallback>
            </mc:AlternateContent>
          </a:graphicData>
        </a:graphic>
      </p:graphicFrame>
      <p:graphicFrame>
        <p:nvGraphicFramePr>
          <p:cNvPr id="44" name="对象 43"/>
          <p:cNvGraphicFramePr>
            <a:graphicFrameLocks noChangeAspect="1"/>
          </p:cNvGraphicFramePr>
          <p:nvPr/>
        </p:nvGraphicFramePr>
        <p:xfrm>
          <a:off x="4851763" y="8152888"/>
          <a:ext cx="529861" cy="618171"/>
        </p:xfrm>
        <a:graphic>
          <a:graphicData uri="http://schemas.openxmlformats.org/presentationml/2006/ole">
            <mc:AlternateContent xmlns:mc="http://schemas.openxmlformats.org/markup-compatibility/2006">
              <mc:Choice xmlns:v="urn:schemas-microsoft-com:vml" Requires="v">
                <p:oleObj name="Equation" r:id="rId8" imgW="172085" imgH="201295" progId="Equation.DSMT4">
                  <p:embed/>
                </p:oleObj>
              </mc:Choice>
              <mc:Fallback>
                <p:oleObj name="Equation" r:id="rId8" imgW="172085" imgH="201295" progId="Equation.DSMT4">
                  <p:embed/>
                  <p:pic>
                    <p:nvPicPr>
                      <p:cNvPr id="0" name="图片 8"/>
                      <p:cNvPicPr/>
                      <p:nvPr/>
                    </p:nvPicPr>
                    <p:blipFill>
                      <a:blip r:embed="rId9"/>
                      <a:stretch>
                        <a:fillRect/>
                      </a:stretch>
                    </p:blipFill>
                    <p:spPr>
                      <a:xfrm>
                        <a:off x="4851763" y="8152888"/>
                        <a:ext cx="529861" cy="618171"/>
                      </a:xfrm>
                      <a:prstGeom prst="rect">
                        <a:avLst/>
                      </a:prstGeom>
                    </p:spPr>
                  </p:pic>
                </p:oleObj>
              </mc:Fallback>
            </mc:AlternateContent>
          </a:graphicData>
        </a:graphic>
      </p:graphicFrame>
      <p:graphicFrame>
        <p:nvGraphicFramePr>
          <p:cNvPr id="45" name="对象 44"/>
          <p:cNvGraphicFramePr>
            <a:graphicFrameLocks noChangeAspect="1"/>
          </p:cNvGraphicFramePr>
          <p:nvPr/>
        </p:nvGraphicFramePr>
        <p:xfrm>
          <a:off x="10896600" y="8170984"/>
          <a:ext cx="457200" cy="600075"/>
        </p:xfrm>
        <a:graphic>
          <a:graphicData uri="http://schemas.openxmlformats.org/presentationml/2006/ole">
            <mc:AlternateContent xmlns:mc="http://schemas.openxmlformats.org/markup-compatibility/2006">
              <mc:Choice xmlns:v="urn:schemas-microsoft-com:vml" Requires="v">
                <p:oleObj name="Equation" r:id="rId10" imgW="458470" imgH="601980" progId="Equation.DSMT4">
                  <p:embed/>
                </p:oleObj>
              </mc:Choice>
              <mc:Fallback>
                <p:oleObj name="Equation" r:id="rId10" imgW="458470" imgH="601980" progId="Equation.DSMT4">
                  <p:embed/>
                  <p:pic>
                    <p:nvPicPr>
                      <p:cNvPr id="0" name="图片 10"/>
                      <p:cNvPicPr/>
                      <p:nvPr/>
                    </p:nvPicPr>
                    <p:blipFill>
                      <a:blip r:embed="rId11"/>
                      <a:stretch>
                        <a:fillRect/>
                      </a:stretch>
                    </p:blipFill>
                    <p:spPr>
                      <a:xfrm>
                        <a:off x="10896600" y="8170984"/>
                        <a:ext cx="457200" cy="600075"/>
                      </a:xfrm>
                      <a:prstGeom prst="rect">
                        <a:avLst/>
                      </a:prstGeom>
                    </p:spPr>
                  </p:pic>
                </p:oleObj>
              </mc:Fallback>
            </mc:AlternateContent>
          </a:graphicData>
        </a:graphic>
      </p:graphicFrame>
      <p:graphicFrame>
        <p:nvGraphicFramePr>
          <p:cNvPr id="46" name="对象 45"/>
          <p:cNvGraphicFramePr>
            <a:graphicFrameLocks noChangeAspect="1"/>
          </p:cNvGraphicFramePr>
          <p:nvPr/>
        </p:nvGraphicFramePr>
        <p:xfrm>
          <a:off x="11811000" y="8153204"/>
          <a:ext cx="528637" cy="617537"/>
        </p:xfrm>
        <a:graphic>
          <a:graphicData uri="http://schemas.openxmlformats.org/presentationml/2006/ole">
            <mc:AlternateContent xmlns:mc="http://schemas.openxmlformats.org/markup-compatibility/2006">
              <mc:Choice xmlns:v="urn:schemas-microsoft-com:vml" Requires="v">
                <p:oleObj name="Equation" r:id="rId12" imgW="530225" imgH="618490" progId="Equation.DSMT4">
                  <p:embed/>
                </p:oleObj>
              </mc:Choice>
              <mc:Fallback>
                <p:oleObj name="Equation" r:id="rId12" imgW="530225" imgH="618490" progId="Equation.DSMT4">
                  <p:embed/>
                  <p:pic>
                    <p:nvPicPr>
                      <p:cNvPr id="0" name="图片 11"/>
                      <p:cNvPicPr/>
                      <p:nvPr/>
                    </p:nvPicPr>
                    <p:blipFill>
                      <a:blip r:embed="rId13"/>
                      <a:stretch>
                        <a:fillRect/>
                      </a:stretch>
                    </p:blipFill>
                    <p:spPr>
                      <a:xfrm>
                        <a:off x="11811000" y="8153204"/>
                        <a:ext cx="528637" cy="617537"/>
                      </a:xfrm>
                      <a:prstGeom prst="rect">
                        <a:avLst/>
                      </a:prstGeom>
                    </p:spPr>
                  </p:pic>
                </p:oleObj>
              </mc:Fallback>
            </mc:AlternateContent>
          </a:graphicData>
        </a:graphic>
      </p:graphicFrame>
      <p:graphicFrame>
        <p:nvGraphicFramePr>
          <p:cNvPr id="47" name="对象 46"/>
          <p:cNvGraphicFramePr>
            <a:graphicFrameLocks noChangeAspect="1"/>
          </p:cNvGraphicFramePr>
          <p:nvPr/>
        </p:nvGraphicFramePr>
        <p:xfrm>
          <a:off x="9873808" y="1563363"/>
          <a:ext cx="2201510" cy="633311"/>
        </p:xfrm>
        <a:graphic>
          <a:graphicData uri="http://schemas.openxmlformats.org/presentationml/2006/ole">
            <mc:AlternateContent xmlns:mc="http://schemas.openxmlformats.org/markup-compatibility/2006">
              <mc:Choice xmlns:v="urn:schemas-microsoft-com:vml" Requires="v">
                <p:oleObj name="Equation" r:id="rId14" imgW="696595" imgH="201295" progId="Equation.DSMT4">
                  <p:embed/>
                </p:oleObj>
              </mc:Choice>
              <mc:Fallback>
                <p:oleObj name="Equation" r:id="rId14" imgW="696595" imgH="201295" progId="Equation.DSMT4">
                  <p:embed/>
                  <p:pic>
                    <p:nvPicPr>
                      <p:cNvPr id="0" name="图片 12"/>
                      <p:cNvPicPr/>
                      <p:nvPr/>
                    </p:nvPicPr>
                    <p:blipFill>
                      <a:blip r:embed="rId15"/>
                      <a:stretch>
                        <a:fillRect/>
                      </a:stretch>
                    </p:blipFill>
                    <p:spPr>
                      <a:xfrm>
                        <a:off x="9873808" y="1563363"/>
                        <a:ext cx="2201510" cy="633311"/>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2464489" y="2152246"/>
          <a:ext cx="2995822" cy="803757"/>
        </p:xfrm>
        <a:graphic>
          <a:graphicData uri="http://schemas.openxmlformats.org/presentationml/2006/ole">
            <mc:AlternateContent xmlns:mc="http://schemas.openxmlformats.org/markup-compatibility/2006">
              <mc:Choice xmlns:v="urn:schemas-microsoft-com:vml" Requires="v">
                <p:oleObj name="Equation" r:id="rId16" imgW="783590" imgH="210185" progId="Equation.DSMT4">
                  <p:embed/>
                </p:oleObj>
              </mc:Choice>
              <mc:Fallback>
                <p:oleObj name="Equation" r:id="rId16" imgW="783590" imgH="210185" progId="Equation.DSMT4">
                  <p:embed/>
                  <p:pic>
                    <p:nvPicPr>
                      <p:cNvPr id="0" name="图片 13"/>
                      <p:cNvPicPr/>
                      <p:nvPr/>
                    </p:nvPicPr>
                    <p:blipFill>
                      <a:blip r:embed="rId17"/>
                      <a:stretch>
                        <a:fillRect/>
                      </a:stretch>
                    </p:blipFill>
                    <p:spPr>
                      <a:xfrm>
                        <a:off x="2464489" y="2152246"/>
                        <a:ext cx="2995822" cy="803757"/>
                      </a:xfrm>
                      <a:prstGeom prst="rect">
                        <a:avLst/>
                      </a:prstGeom>
                    </p:spPr>
                  </p:pic>
                </p:oleObj>
              </mc:Fallback>
            </mc:AlternateContent>
          </a:graphicData>
        </a:graphic>
      </p:graphicFrame>
      <p:sp>
        <p:nvSpPr>
          <p:cNvPr id="5" name="灯片编号占位符 4"/>
          <p:cNvSpPr>
            <a:spLocks noGrp="1"/>
          </p:cNvSpPr>
          <p:nvPr>
            <p:ph type="sldNum" sz="quarter" idx="12"/>
          </p:nvPr>
        </p:nvSpPr>
        <p:spPr/>
        <p:txBody>
          <a:bodyPr/>
          <a:lstStyle/>
          <a:p>
            <a:fld id="{B6F15528-21DE-4FAA-801E-634DDDAF4B2B}" type="slidenum">
              <a:rPr lang="en-US" altLang="zh-CN" smtClean="0"/>
              <a:t>12</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列置换密码</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2.1.1</a:t>
            </a:r>
          </a:p>
        </p:txBody>
      </p:sp>
      <p:pic>
        <p:nvPicPr>
          <p:cNvPr id="13" name="图片 2"/>
          <p:cNvPicPr>
            <a:picLocks noChangeAspect="1"/>
          </p:cNvPicPr>
          <p:nvPr/>
        </p:nvPicPr>
        <p:blipFill>
          <a:blip r:embed="rId1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19"/>
            <a:stretch>
              <a:fillRect/>
            </a:stretch>
          </p:blipFill>
          <p:spPr>
            <a:xfrm>
              <a:off x="13944600" y="877286"/>
              <a:ext cx="2771429" cy="47619"/>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9"/>
          <p:cNvSpPr txBox="1"/>
          <p:nvPr/>
        </p:nvSpPr>
        <p:spPr>
          <a:xfrm>
            <a:off x="1172252" y="1575220"/>
            <a:ext cx="15943496" cy="8216480"/>
          </a:xfrm>
          <a:prstGeom prst="rect">
            <a:avLst/>
          </a:prstGeom>
        </p:spPr>
        <p:txBody>
          <a:bodyPr wrap="square" lIns="0" tIns="0" rIns="0" bIns="0" rtlCol="0" anchor="t">
            <a:spAutoFit/>
          </a:bodyPr>
          <a:lstStyle/>
          <a:p>
            <a:pPr indent="914400" algn="just" fontAlgn="auto" latinLnBrk="1">
              <a:lnSpc>
                <a:spcPct val="120000"/>
              </a:lnSpc>
            </a:pP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周期置换密码是将明文按固定长度分组，然后对每组的字符串按一种置换重新排列位置从而得到密文。解密时对密文按同样长度分组，并按相应的逆置换把每组重新排列，从而得到明文。</a:t>
            </a:r>
          </a:p>
          <a:p>
            <a:pPr indent="914400" algn="just" fontAlgn="auto" latinLnBrk="1">
              <a:lnSpc>
                <a:spcPct val="120000"/>
              </a:lnSpc>
            </a:pPr>
            <a:r>
              <a:rPr lang="zh-CN" altLang="en-US" sz="3200" b="1" dirty="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200" b="1" dirty="0">
                <a:solidFill>
                  <a:srgbClr val="000000"/>
                </a:solidFill>
                <a:latin typeface="Times New Roman" panose="02020603050405020304" pitchFamily="18" charset="0"/>
                <a:ea typeface="宋体" panose="02010600030101010101" pitchFamily="2" charset="-122"/>
                <a:cs typeface="字由点字典黑 2"/>
                <a:sym typeface="字由点字典黑 2"/>
              </a:rPr>
              <a:t>2.3</a:t>
            </a:r>
            <a:r>
              <a:rPr lang="zh-CN" altLang="en-US" sz="3200" b="1"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不妨设明文</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为“</a:t>
            </a: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Digital Copyright Protection Laboratory Beijing University of Printing”</a:t>
            </a:r>
            <a:r>
              <a:rPr lang="zh-CN" altLang="de-DE"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置换为                      。</a:t>
            </a:r>
          </a:p>
          <a:p>
            <a:pPr indent="914400" algn="just" fontAlgn="auto" latinLnBrk="1">
              <a:lnSpc>
                <a:spcPct val="120000"/>
              </a:lnSpc>
            </a:pP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首先把明文</a:t>
            </a: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分成</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6</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个字母一组，最后不够部分用字母“</a:t>
            </a: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填充。</a:t>
            </a:r>
          </a:p>
          <a:p>
            <a:pPr indent="914400" algn="just" fontAlgn="auto" latinLnBrk="1">
              <a:lnSpc>
                <a:spcPct val="120000"/>
              </a:lnSpc>
            </a:pP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Digita) (lCopyr) (ightPr) (otecti) (onLabo) (ratory)(Beijin)(gUnive)(rsityo)(fPrint)(ingZZZ)</a:t>
            </a:r>
          </a:p>
          <a:p>
            <a:pPr indent="914400" algn="just" fontAlgn="auto" latinLnBrk="1">
              <a:lnSpc>
                <a:spcPct val="120000"/>
              </a:lnSpc>
            </a:pP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然后分别对每组中的</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6</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个字母使用加密置换 </a:t>
            </a:r>
          </a:p>
          <a:p>
            <a:pPr indent="914400" algn="just" fontAlgn="auto" latinLnBrk="1">
              <a:lnSpc>
                <a:spcPct val="120000"/>
              </a:lnSpc>
            </a:pP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gaiiDt) (orCply) (hrgtiP) (eitcot) (Lonaob) (tyaorr)(inejBi)(neUigv)(iostry)(rtPifn)(gZniZZ) </a:t>
            </a:r>
          </a:p>
          <a:p>
            <a:pPr indent="914400" algn="just" fontAlgn="auto" latinLnBrk="1">
              <a:lnSpc>
                <a:spcPct val="120000"/>
              </a:lnSpc>
            </a:pP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从而得到最终的密文</a:t>
            </a:r>
          </a:p>
          <a:p>
            <a:pPr indent="914400" algn="just" fontAlgn="auto" latinLnBrk="1">
              <a:lnSpc>
                <a:spcPct val="120000"/>
              </a:lnSpc>
            </a:pP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c = (gaiiDtorCplyhrgtiPeitcotLonaobtyaorr inejBineUigviostryrtPifngZniZZ)</a:t>
            </a:r>
            <a:r>
              <a:rPr lang="zh-CN" altLang="de-DE"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pP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解密与加密类似，由加密置换得到解密置换                    。将密文序列分成</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6</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个字母串一组，用解密置换对每组重新排列，去除填充部分，得到解密明文“</a:t>
            </a: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Digital Copyright Protection Laboratory Beijing University of Printing”</a:t>
            </a:r>
            <a:r>
              <a:rPr lang="zh-CN" altLang="de-DE"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16" name="对象 15"/>
          <p:cNvGraphicFramePr>
            <a:graphicFrameLocks noChangeAspect="1"/>
          </p:cNvGraphicFramePr>
          <p:nvPr/>
        </p:nvGraphicFramePr>
        <p:xfrm>
          <a:off x="4114800" y="3771900"/>
          <a:ext cx="2080260" cy="533400"/>
        </p:xfrm>
        <a:graphic>
          <a:graphicData uri="http://schemas.openxmlformats.org/presentationml/2006/ole">
            <mc:AlternateContent xmlns:mc="http://schemas.openxmlformats.org/markup-compatibility/2006">
              <mc:Choice xmlns:v="urn:schemas-microsoft-com:vml" Requires="v">
                <p:oleObj name="Equation" r:id="rId2" imgW="745490" imgH="191770" progId="Equation.DSMT4">
                  <p:embed/>
                </p:oleObj>
              </mc:Choice>
              <mc:Fallback>
                <p:oleObj name="Equation" r:id="rId2" imgW="745490" imgH="191770" progId="Equation.DSMT4">
                  <p:embed/>
                  <p:pic>
                    <p:nvPicPr>
                      <p:cNvPr id="0" name="图片 4"/>
                      <p:cNvPicPr/>
                      <p:nvPr/>
                    </p:nvPicPr>
                    <p:blipFill>
                      <a:blip r:embed="rId3"/>
                      <a:stretch>
                        <a:fillRect/>
                      </a:stretch>
                    </p:blipFill>
                    <p:spPr>
                      <a:xfrm>
                        <a:off x="4114800" y="3771900"/>
                        <a:ext cx="2080260" cy="5334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9601200" y="5605151"/>
          <a:ext cx="469472" cy="438174"/>
        </p:xfrm>
        <a:graphic>
          <a:graphicData uri="http://schemas.openxmlformats.org/presentationml/2006/ole">
            <mc:AlternateContent xmlns:mc="http://schemas.openxmlformats.org/markup-compatibility/2006">
              <mc:Choice xmlns:v="urn:schemas-microsoft-com:vml" Requires="v">
                <p:oleObj name="Equation" r:id="rId4" imgW="144780" imgH="133985" progId="Equation.DSMT4">
                  <p:embed/>
                </p:oleObj>
              </mc:Choice>
              <mc:Fallback>
                <p:oleObj name="Equation" r:id="rId4" imgW="144780" imgH="133985" progId="Equation.DSMT4">
                  <p:embed/>
                  <p:pic>
                    <p:nvPicPr>
                      <p:cNvPr id="0" name="图片 5"/>
                      <p:cNvPicPr/>
                      <p:nvPr/>
                    </p:nvPicPr>
                    <p:blipFill>
                      <a:blip r:embed="rId5"/>
                      <a:stretch>
                        <a:fillRect/>
                      </a:stretch>
                    </p:blipFill>
                    <p:spPr>
                      <a:xfrm>
                        <a:off x="9601200" y="5605151"/>
                        <a:ext cx="469472" cy="438174"/>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9829800" y="7886700"/>
          <a:ext cx="2168378" cy="548326"/>
        </p:xfrm>
        <a:graphic>
          <a:graphicData uri="http://schemas.openxmlformats.org/presentationml/2006/ole">
            <mc:AlternateContent xmlns:mc="http://schemas.openxmlformats.org/markup-compatibility/2006">
              <mc:Choice xmlns:v="urn:schemas-microsoft-com:vml" Requires="v">
                <p:oleObj name="Equation" r:id="rId6" imgW="830580" imgH="210185" progId="Equation.DSMT4">
                  <p:embed/>
                </p:oleObj>
              </mc:Choice>
              <mc:Fallback>
                <p:oleObj name="Equation" r:id="rId6" imgW="830580" imgH="210185" progId="Equation.DSMT4">
                  <p:embed/>
                  <p:pic>
                    <p:nvPicPr>
                      <p:cNvPr id="0" name="图片 7"/>
                      <p:cNvPicPr/>
                      <p:nvPr/>
                    </p:nvPicPr>
                    <p:blipFill>
                      <a:blip r:embed="rId7"/>
                      <a:stretch>
                        <a:fillRect/>
                      </a:stretch>
                    </p:blipFill>
                    <p:spPr>
                      <a:xfrm>
                        <a:off x="9829800" y="7886700"/>
                        <a:ext cx="2168378" cy="548326"/>
                      </a:xfrm>
                      <a:prstGeom prst="rect">
                        <a:avLst/>
                      </a:prstGeom>
                    </p:spPr>
                  </p:pic>
                </p:oleObj>
              </mc:Fallback>
            </mc:AlternateContent>
          </a:graphicData>
        </a:graphic>
      </p:graphicFrame>
      <p:sp>
        <p:nvSpPr>
          <p:cNvPr id="5" name="灯片编号占位符 4"/>
          <p:cNvSpPr>
            <a:spLocks noGrp="1"/>
          </p:cNvSpPr>
          <p:nvPr>
            <p:ph type="sldNum" sz="quarter" idx="12"/>
          </p:nvPr>
        </p:nvSpPr>
        <p:spPr/>
        <p:txBody>
          <a:bodyPr/>
          <a:lstStyle/>
          <a:p>
            <a:fld id="{B6F15528-21DE-4FAA-801E-634DDDAF4B2B}" type="slidenum">
              <a:rPr lang="en-US" altLang="zh-CN" smtClean="0"/>
              <a:t>13</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周期置换密码</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2.1.2</a:t>
            </a:r>
          </a:p>
        </p:txBody>
      </p:sp>
      <p:pic>
        <p:nvPicPr>
          <p:cNvPr id="12" name="图片 2"/>
          <p:cNvPicPr>
            <a:picLocks noChangeAspect="1"/>
          </p:cNvPicPr>
          <p:nvPr/>
        </p:nvPicPr>
        <p:blipFill>
          <a:blip r:embed="rId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9"/>
            <a:stretch>
              <a:fillRect/>
            </a:stretch>
          </p:blipFill>
          <p:spPr>
            <a:xfrm>
              <a:off x="13944600" y="877286"/>
              <a:ext cx="2771429" cy="47619"/>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9"/>
          <p:cNvSpPr txBox="1"/>
          <p:nvPr/>
        </p:nvSpPr>
        <p:spPr>
          <a:xfrm>
            <a:off x="990600" y="2400300"/>
            <a:ext cx="15820784" cy="4670894"/>
          </a:xfrm>
          <a:prstGeom prst="rect">
            <a:avLst/>
          </a:prstGeom>
        </p:spPr>
        <p:txBody>
          <a:bodyPr wrap="square" lIns="0" tIns="0" rIns="0" bIns="0" rtlCol="0" anchor="t">
            <a:spAutoFit/>
          </a:bodyPr>
          <a:lstStyle/>
          <a:p>
            <a:pPr indent="914400" algn="just" fontAlgn="auto" latinLnBrk="1">
              <a:lnSpc>
                <a:spcPct val="120000"/>
              </a:lnSpc>
            </a:pP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下面介绍在分组密码和序列密码设计中常用的置换，其目的是为了隐藏明文的结构特性，增加随机性，提升破解的难度。</a:t>
            </a:r>
          </a:p>
          <a:p>
            <a:pPr indent="914400" algn="just" fontAlgn="auto" latinLnBrk="1">
              <a:lnSpc>
                <a:spcPct val="120000"/>
              </a:lnSpc>
            </a:pP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假设明文序列为</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de-DE" altLang="zh-CN" sz="32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de-DE" altLang="zh-CN" sz="32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de-DE" altLang="zh-CN" sz="32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de-DE" altLang="zh-CN" sz="32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de-DE" altLang="zh-CN" sz="32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de-DE" altLang="zh-CN" sz="32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6</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de-DE" altLang="zh-CN" sz="32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7</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de-DE" altLang="zh-CN" sz="32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8</a:t>
            </a: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de-DE"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置换为一个（</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24681357</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）序列，那么密文序列为</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2</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4</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6</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8</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1</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3</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5</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7</a:t>
            </a: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de-DE"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与上述例</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2.1</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中对换略有不同，根据置换（</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24681357</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）序列，明文中的第</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位</a:t>
            </a:r>
            <a:r>
              <a:rPr lang="de-DE" altLang="zh-CN" sz="32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de-DE" altLang="zh-CN" sz="32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将排列在密文的第一位，第</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位</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4</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将排列在密文的第二位，以此类推，第</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7</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位</a:t>
            </a:r>
            <a:r>
              <a:rPr lang="de-DE" altLang="zh-CN" sz="3200" i="1" dirty="0">
                <a:solidFill>
                  <a:srgbClr val="000000"/>
                </a:solidFill>
                <a:latin typeface="Times New Roman" panose="02020603050405020304" pitchFamily="18" charset="0"/>
                <a:cs typeface="字由点字典黑 2"/>
                <a:sym typeface="字由点字典黑 2"/>
              </a:rPr>
              <a:t>a</a:t>
            </a:r>
            <a:r>
              <a:rPr lang="de-DE" altLang="zh-CN" sz="3200" baseline="-25000" dirty="0">
                <a:solidFill>
                  <a:srgbClr val="000000"/>
                </a:solidFill>
                <a:latin typeface="Times New Roman" panose="02020603050405020304" pitchFamily="18" charset="0"/>
                <a:cs typeface="字由点字典黑 2"/>
                <a:sym typeface="字由点字典黑 2"/>
              </a:rPr>
              <a:t>7</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将排列在密文的第八位。</a:t>
            </a:r>
          </a:p>
          <a:p>
            <a:pPr indent="914400" algn="just" fontAlgn="auto" latinLnBrk="1">
              <a:lnSpc>
                <a:spcPct val="120000"/>
              </a:lnSpc>
            </a:pPr>
            <a:r>
              <a:rPr lang="zh-CN" altLang="en-US" sz="3200" b="1" dirty="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200" b="1" dirty="0">
                <a:solidFill>
                  <a:srgbClr val="000000"/>
                </a:solidFill>
                <a:latin typeface="Times New Roman" panose="02020603050405020304" pitchFamily="18" charset="0"/>
                <a:ea typeface="宋体" panose="02010600030101010101" pitchFamily="2" charset="-122"/>
                <a:cs typeface="字由点字典黑 2"/>
                <a:sym typeface="字由点字典黑 2"/>
              </a:rPr>
              <a:t>2.4  </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假设明文为八位</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字符（</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10110001</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），经置换（</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24681357</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）加密后的密文为（</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01011100</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）。经逆置换（</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51627384</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）解密得到明文（</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10110001</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14</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常用置换密码</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2.1.3</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2</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.2</a:t>
            </a: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代换密码</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t>15</a:t>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84" y="1714674"/>
            <a:ext cx="14818191" cy="193078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代换密码（</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Substitution Cipher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）也称代替密码，就是将明文中每个字符替换成密文中的另外一个字符，代替后的各字母保持原来的位置，再对密文进行逆替换就可以恢复出明文。代换密码分为单表和多表代换密码。</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16</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代换密码</a:t>
            </a:r>
          </a:p>
        </p:txBody>
      </p:sp>
      <p:sp>
        <p:nvSpPr>
          <p:cNvPr id="10"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981200" y="6841558"/>
            <a:ext cx="14818191" cy="193078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通过上述代换，就得到一个单表代换密码。</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明文：</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if we wish to replace letters</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密文：</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WIRFRWAJUHYFTSDVFSFUUFYA</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p:txBody>
      </p:sp>
      <p:sp>
        <p:nvSpPr>
          <p:cNvPr id="11" name="TextBox 29"/>
          <p:cNvSpPr txBox="1"/>
          <p:nvPr/>
        </p:nvSpPr>
        <p:spPr>
          <a:xfrm>
            <a:off x="1905084" y="1867074"/>
            <a:ext cx="14818191" cy="2595582"/>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单表代换密码是指明文的一个字符用相应的一个密文字符代替。加密过程是从明文字母表到密文字母表的一一映射。以英文字母为例，每个字母可以用其他任何一个字母替换，不能重复。</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例如，</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个小写英文字母用大写字母来代替，如表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pic>
        <p:nvPicPr>
          <p:cNvPr id="14" name="图片 13"/>
          <p:cNvPicPr>
            <a:picLocks noChangeAspect="1"/>
          </p:cNvPicPr>
          <p:nvPr/>
        </p:nvPicPr>
        <p:blipFill>
          <a:blip r:embed="rId2"/>
          <a:stretch>
            <a:fillRect/>
          </a:stretch>
        </p:blipFill>
        <p:spPr>
          <a:xfrm>
            <a:off x="1703149" y="4648910"/>
            <a:ext cx="14881702" cy="1570431"/>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17</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单表代换密码</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2.2.1</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533401" y="8801302"/>
            <a:ext cx="17526000"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例如，</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明文：</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 know only that i know nothing</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密文：</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HUINFNIAPOCSOHUINFINOCHIT</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p:txBody>
      </p:sp>
      <p:sp>
        <p:nvSpPr>
          <p:cNvPr id="11" name="TextBox 29"/>
          <p:cNvSpPr txBox="1"/>
          <p:nvPr/>
        </p:nvSpPr>
        <p:spPr>
          <a:xfrm>
            <a:off x="1734904" y="1530313"/>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给定密钥字“</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STARWARS”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，去掉重复字母得到“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STARW”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，按照字母顺序填写剩余字母，则可得到一个方阵表，如表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pic>
        <p:nvPicPr>
          <p:cNvPr id="7" name="图片 6"/>
          <p:cNvPicPr>
            <a:picLocks noChangeAspect="1"/>
          </p:cNvPicPr>
          <p:nvPr/>
        </p:nvPicPr>
        <p:blipFill>
          <a:blip r:embed="rId2"/>
          <a:stretch>
            <a:fillRect/>
          </a:stretch>
        </p:blipFill>
        <p:spPr>
          <a:xfrm>
            <a:off x="6400800" y="2796301"/>
            <a:ext cx="4114800" cy="3520440"/>
          </a:xfrm>
          <a:prstGeom prst="rect">
            <a:avLst/>
          </a:prstGeom>
        </p:spPr>
      </p:pic>
      <p:pic>
        <p:nvPicPr>
          <p:cNvPr id="8" name="图片 7"/>
          <p:cNvPicPr>
            <a:picLocks noChangeAspect="1"/>
          </p:cNvPicPr>
          <p:nvPr/>
        </p:nvPicPr>
        <p:blipFill>
          <a:blip r:embed="rId3"/>
          <a:stretch>
            <a:fillRect/>
          </a:stretch>
        </p:blipFill>
        <p:spPr>
          <a:xfrm>
            <a:off x="3083806" y="7772432"/>
            <a:ext cx="12426998" cy="1426664"/>
          </a:xfrm>
          <a:prstGeom prst="rect">
            <a:avLst/>
          </a:prstGeom>
        </p:spPr>
      </p:pic>
      <p:sp>
        <p:nvSpPr>
          <p:cNvPr id="9" name="TextBox 29"/>
          <p:cNvSpPr txBox="1"/>
          <p:nvPr/>
        </p:nvSpPr>
        <p:spPr>
          <a:xfrm>
            <a:off x="2040610" y="6437499"/>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按列读取字母分别作为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个小写英文字母对应的密文，得到代换密码，则代换密码表如表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endPar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t>18</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单表代换密码</a:t>
            </a: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2.2.1</a:t>
            </a:r>
          </a:p>
        </p:txBody>
      </p:sp>
      <p:pic>
        <p:nvPicPr>
          <p:cNvPr id="15"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8" name="图片 17"/>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34904" y="5374823"/>
            <a:ext cx="14818191" cy="2595582"/>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若明文为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substitution cryptosystem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，则密文为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VXEVWLWXWLRQFUBSWRVBVWHP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在上述凯撒（</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Caesar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）密码体制中，可以看作英文字母表循环左移</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位得到，因此凯撒密码也可以称为循环移位密码。</a:t>
            </a:r>
          </a:p>
        </p:txBody>
      </p:sp>
      <p:sp>
        <p:nvSpPr>
          <p:cNvPr id="11" name="TextBox 29"/>
          <p:cNvSpPr txBox="1"/>
          <p:nvPr/>
        </p:nvSpPr>
        <p:spPr>
          <a:xfrm>
            <a:off x="1905084" y="1867074"/>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古罗马人凯撒发明了一种密码体制，是使用最早的密码体制之一，他依据表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对信息中的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个英文字母进行替换。</a:t>
            </a:r>
          </a:p>
        </p:txBody>
      </p:sp>
      <p:pic>
        <p:nvPicPr>
          <p:cNvPr id="5" name="图片 4"/>
          <p:cNvPicPr>
            <a:picLocks noChangeAspect="1"/>
          </p:cNvPicPr>
          <p:nvPr/>
        </p:nvPicPr>
        <p:blipFill>
          <a:blip r:embed="rId3"/>
          <a:stretch>
            <a:fillRect/>
          </a:stretch>
        </p:blipFill>
        <p:spPr>
          <a:xfrm>
            <a:off x="1320345" y="3302931"/>
            <a:ext cx="15987668" cy="1685447"/>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altLang="zh-CN" smtClean="0"/>
              <a:t>19</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凯撒（</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Caesar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2.2.1</a:t>
            </a:r>
          </a:p>
        </p:txBody>
      </p:sp>
      <p:pic>
        <p:nvPicPr>
          <p:cNvPr id="13"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29"/>
          <p:cNvSpPr txBox="1"/>
          <p:nvPr/>
        </p:nvSpPr>
        <p:spPr>
          <a:xfrm>
            <a:off x="1734904" y="1527734"/>
            <a:ext cx="14818191"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若将英文字母表循环左移</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0≤k&lt;26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）位得到替换表，则得到推广的凯撒密码体制。将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个小写英文字母分别对应（</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）。可以写出凯撒密码体制的一般形式为</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明文空间</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M=C=Z</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密钥空间</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K₁=K₂=Z</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E={E</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(m)=m+k(mod 26),Vm∈M;</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解密函数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D={D</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|k∈K₂},</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(c)=c-k(mod26),Vc∈C。</a:t>
            </a:r>
          </a:p>
        </p:txBody>
      </p:sp>
      <p:sp>
        <p:nvSpPr>
          <p:cNvPr id="9" name="TextBox 29"/>
          <p:cNvSpPr txBox="1"/>
          <p:nvPr/>
        </p:nvSpPr>
        <p:spPr>
          <a:xfrm>
            <a:off x="1600283" y="6302720"/>
            <a:ext cx="14818191" cy="326038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可见，凯撒密码是一种加法密码，也是一种代换密码，但从整个明密文空间的角度来看，凯撒密码相当于对明文字母后移</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个字母而得到，因此也可以把它看作循环移位密码，所以凯撒密码是一种广义置换密码。</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单表代换密码相同的明文，密文也一定相同。明文不同，密文也不同。这种特性称为明密异同性。</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20</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凯撒（</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Caesar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2.2.1</a:t>
            </a: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19200" y="2552700"/>
            <a:ext cx="16217265" cy="4523105"/>
          </a:xfrm>
          <a:prstGeom prst="rect">
            <a:avLst/>
          </a:prstGeom>
          <a:noFill/>
        </p:spPr>
        <p:txBody>
          <a:bodyPr wrap="square" rtlCol="0">
            <a:spAutoFit/>
          </a:bodyPr>
          <a:lstStyle/>
          <a:p>
            <a:pPr algn="ctr"/>
            <a:r>
              <a:rPr lang="zh-CN" altLang="en-US" sz="3600">
                <a:latin typeface="Times New Roman" panose="02020603050405020304" pitchFamily="18" charset="0"/>
                <a:cs typeface="Times New Roman" panose="02020603050405020304" pitchFamily="18" charset="0"/>
              </a:rPr>
              <a:t>加密变换：</a:t>
            </a:r>
            <a:r>
              <a:rPr lang="en-US" altLang="zh-CN" sz="3600">
                <a:latin typeface="Times New Roman" panose="02020603050405020304" pitchFamily="18" charset="0"/>
                <a:cs typeface="Times New Roman" panose="02020603050405020304" pitchFamily="18" charset="0"/>
              </a:rPr>
              <a:t>c=E</a:t>
            </a:r>
            <a:r>
              <a:rPr lang="en-US" altLang="zh-CN" sz="3600" baseline="-25000">
                <a:latin typeface="Times New Roman" panose="02020603050405020304" pitchFamily="18" charset="0"/>
                <a:cs typeface="Times New Roman" panose="02020603050405020304" pitchFamily="18" charset="0"/>
              </a:rPr>
              <a:t>a,b</a:t>
            </a:r>
            <a:r>
              <a:rPr lang="en-US" altLang="zh-CN" sz="3600">
                <a:latin typeface="Times New Roman" panose="02020603050405020304" pitchFamily="18" charset="0"/>
                <a:cs typeface="Times New Roman" panose="02020603050405020304" pitchFamily="18" charset="0"/>
              </a:rPr>
              <a:t>(m)=am+b(mod26)</a:t>
            </a:r>
          </a:p>
          <a:p>
            <a:pPr algn="ctr"/>
            <a:r>
              <a:rPr lang="zh-CN" altLang="en-US" sz="3600">
                <a:latin typeface="Times New Roman" panose="02020603050405020304" pitchFamily="18" charset="0"/>
                <a:cs typeface="Times New Roman" panose="02020603050405020304" pitchFamily="18" charset="0"/>
              </a:rPr>
              <a:t>解密变换：</a:t>
            </a:r>
            <a:r>
              <a:rPr lang="en-US" altLang="zh-CN" sz="3600">
                <a:latin typeface="Times New Roman" panose="02020603050405020304" pitchFamily="18" charset="0"/>
                <a:cs typeface="Times New Roman" panose="02020603050405020304" pitchFamily="18" charset="0"/>
              </a:rPr>
              <a:t>m=D</a:t>
            </a:r>
            <a:r>
              <a:rPr lang="en-US" altLang="zh-CN" sz="3600" baseline="-25000">
                <a:latin typeface="Times New Roman" panose="02020603050405020304" pitchFamily="18" charset="0"/>
                <a:cs typeface="Times New Roman" panose="02020603050405020304" pitchFamily="18" charset="0"/>
              </a:rPr>
              <a:t>a,b</a:t>
            </a:r>
            <a:r>
              <a:rPr lang="en-US" altLang="zh-CN" sz="3600">
                <a:latin typeface="Times New Roman" panose="02020603050405020304" pitchFamily="18" charset="0"/>
                <a:cs typeface="Times New Roman" panose="02020603050405020304" pitchFamily="18" charset="0"/>
              </a:rPr>
              <a:t>(c)=a⁻¹(c-b)(mod26)</a:t>
            </a:r>
          </a:p>
          <a:p>
            <a:pPr indent="457200" algn="just" fontAlgn="auto"/>
            <a:r>
              <a:rPr lang="zh-CN" altLang="en-US" sz="3600">
                <a:latin typeface="Times New Roman" panose="02020603050405020304" pitchFamily="18" charset="0"/>
                <a:cs typeface="Times New Roman" panose="02020603050405020304" pitchFamily="18" charset="0"/>
              </a:rPr>
              <a:t>其中，</a:t>
            </a:r>
            <a:r>
              <a:rPr lang="en-US" altLang="zh-CN" sz="3600">
                <a:latin typeface="Times New Roman" panose="02020603050405020304" pitchFamily="18" charset="0"/>
                <a:cs typeface="Times New Roman" panose="02020603050405020304" pitchFamily="18" charset="0"/>
              </a:rPr>
              <a:t>a、b</a:t>
            </a:r>
            <a:r>
              <a:rPr lang="zh-CN" altLang="en-US" sz="3600">
                <a:latin typeface="Times New Roman" panose="02020603050405020304" pitchFamily="18" charset="0"/>
                <a:cs typeface="Times New Roman" panose="02020603050405020304" pitchFamily="18" charset="0"/>
              </a:rPr>
              <a:t>是密钥，满足</a:t>
            </a:r>
            <a:r>
              <a:rPr lang="en-US" altLang="zh-CN" sz="3600">
                <a:latin typeface="Times New Roman" panose="02020603050405020304" pitchFamily="18" charset="0"/>
                <a:cs typeface="Times New Roman" panose="02020603050405020304" pitchFamily="18" charset="0"/>
              </a:rPr>
              <a:t>0≤a,b&lt;26</a:t>
            </a:r>
            <a:r>
              <a:rPr lang="zh-CN" altLang="en-US" sz="3600">
                <a:latin typeface="Times New Roman" panose="02020603050405020304" pitchFamily="18" charset="0"/>
                <a:cs typeface="Times New Roman" panose="02020603050405020304" pitchFamily="18" charset="0"/>
              </a:rPr>
              <a:t>和</a:t>
            </a:r>
            <a:r>
              <a:rPr lang="en-US" altLang="zh-CN" sz="3600">
                <a:latin typeface="Times New Roman" panose="02020603050405020304" pitchFamily="18" charset="0"/>
                <a:cs typeface="Times New Roman" panose="02020603050405020304" pitchFamily="18" charset="0"/>
              </a:rPr>
              <a:t>gcd(a,26)=1</a:t>
            </a:r>
            <a:r>
              <a:rPr lang="zh-CN" altLang="en-US" sz="3600">
                <a:latin typeface="Times New Roman" panose="02020603050405020304" pitchFamily="18" charset="0"/>
                <a:cs typeface="Times New Roman" panose="02020603050405020304" pitchFamily="18" charset="0"/>
              </a:rPr>
              <a:t>的整数，</a:t>
            </a:r>
            <a:r>
              <a:rPr lang="en-US" altLang="zh-CN" sz="3600">
                <a:latin typeface="Times New Roman" panose="02020603050405020304" pitchFamily="18" charset="0"/>
                <a:cs typeface="Times New Roman" panose="02020603050405020304" pitchFamily="18" charset="0"/>
              </a:rPr>
              <a:t>gcd(a,26)</a:t>
            </a:r>
            <a:r>
              <a:rPr lang="zh-CN" altLang="en-US" sz="3600">
                <a:latin typeface="Times New Roman" panose="02020603050405020304" pitchFamily="18" charset="0"/>
                <a:cs typeface="Times New Roman" panose="02020603050405020304" pitchFamily="18" charset="0"/>
              </a:rPr>
              <a:t>表示</a:t>
            </a:r>
            <a:r>
              <a:rPr lang="en-US" altLang="zh-CN" sz="3600">
                <a:latin typeface="Times New Roman" panose="02020603050405020304" pitchFamily="18" charset="0"/>
                <a:cs typeface="Times New Roman" panose="02020603050405020304" pitchFamily="18" charset="0"/>
              </a:rPr>
              <a:t>a</a:t>
            </a:r>
            <a:r>
              <a:rPr lang="zh-CN" altLang="en-US" sz="3600">
                <a:latin typeface="Times New Roman" panose="02020603050405020304" pitchFamily="18" charset="0"/>
                <a:cs typeface="Times New Roman" panose="02020603050405020304" pitchFamily="18" charset="0"/>
              </a:rPr>
              <a:t>和26的最大公因子，</a:t>
            </a:r>
            <a:r>
              <a:rPr lang="en-US" altLang="zh-CN" sz="3600">
                <a:latin typeface="Times New Roman" panose="02020603050405020304" pitchFamily="18" charset="0"/>
                <a:cs typeface="Times New Roman" panose="02020603050405020304" pitchFamily="18" charset="0"/>
              </a:rPr>
              <a:t>gcd(a,26)=1</a:t>
            </a:r>
            <a:r>
              <a:rPr lang="zh-CN" altLang="en-US" sz="3600">
                <a:latin typeface="Times New Roman" panose="02020603050405020304" pitchFamily="18" charset="0"/>
                <a:cs typeface="Times New Roman" panose="02020603050405020304" pitchFamily="18" charset="0"/>
              </a:rPr>
              <a:t>表示</a:t>
            </a:r>
            <a:r>
              <a:rPr lang="en-US" altLang="zh-CN" sz="3600">
                <a:latin typeface="Times New Roman" panose="02020603050405020304" pitchFamily="18" charset="0"/>
                <a:cs typeface="Times New Roman" panose="02020603050405020304" pitchFamily="18" charset="0"/>
              </a:rPr>
              <a:t>a</a:t>
            </a:r>
            <a:r>
              <a:rPr lang="zh-CN" altLang="en-US" sz="3600">
                <a:latin typeface="Times New Roman" panose="02020603050405020304" pitchFamily="18" charset="0"/>
                <a:cs typeface="Times New Roman" panose="02020603050405020304" pitchFamily="18" charset="0"/>
              </a:rPr>
              <a:t>和26是互素的；</a:t>
            </a:r>
            <a:r>
              <a:rPr lang="en-US" altLang="zh-CN" sz="3600">
                <a:latin typeface="Times New Roman" panose="02020603050405020304" pitchFamily="18" charset="0"/>
                <a:cs typeface="Times New Roman" panose="02020603050405020304" pitchFamily="18" charset="0"/>
              </a:rPr>
              <a:t>a¹</a:t>
            </a:r>
            <a:r>
              <a:rPr lang="zh-CN" altLang="en-US" sz="3600">
                <a:latin typeface="Times New Roman" panose="02020603050405020304" pitchFamily="18" charset="0"/>
                <a:cs typeface="Times New Roman" panose="02020603050405020304" pitchFamily="18" charset="0"/>
              </a:rPr>
              <a:t>表示</a:t>
            </a:r>
            <a:r>
              <a:rPr lang="en-US" altLang="zh-CN" sz="3600">
                <a:latin typeface="Times New Roman" panose="02020603050405020304" pitchFamily="18" charset="0"/>
                <a:cs typeface="Times New Roman" panose="02020603050405020304" pitchFamily="18" charset="0"/>
              </a:rPr>
              <a:t>a</a:t>
            </a:r>
            <a:r>
              <a:rPr lang="zh-CN" altLang="en-US" sz="3600">
                <a:latin typeface="Times New Roman" panose="02020603050405020304" pitchFamily="18" charset="0"/>
                <a:cs typeface="Times New Roman" panose="02020603050405020304" pitchFamily="18" charset="0"/>
              </a:rPr>
              <a:t>的逆元，即</a:t>
            </a:r>
            <a:r>
              <a:rPr lang="en-US" altLang="zh-CN" sz="3600">
                <a:latin typeface="Times New Roman" panose="02020603050405020304" pitchFamily="18" charset="0"/>
                <a:cs typeface="Times New Roman" panose="02020603050405020304" pitchFamily="18" charset="0"/>
              </a:rPr>
              <a:t>a⁻¹·a=lmod26。</a:t>
            </a:r>
          </a:p>
          <a:p>
            <a:pPr indent="457200" algn="just" fontAlgn="auto"/>
            <a:r>
              <a:rPr lang="zh-CN" altLang="en-US" sz="3600">
                <a:latin typeface="Times New Roman" panose="02020603050405020304" pitchFamily="18" charset="0"/>
                <a:cs typeface="Times New Roman" panose="02020603050405020304" pitchFamily="18" charset="0"/>
              </a:rPr>
              <a:t>若仿射密码的加密和解密分别是</a:t>
            </a:r>
          </a:p>
          <a:p>
            <a:pPr indent="457200" algn="ctr" fontAlgn="auto"/>
            <a:r>
              <a:rPr lang="en-US" altLang="zh-CN" sz="3600">
                <a:latin typeface="Times New Roman" panose="02020603050405020304" pitchFamily="18" charset="0"/>
                <a:cs typeface="Times New Roman" panose="02020603050405020304" pitchFamily="18" charset="0"/>
              </a:rPr>
              <a:t>c=E</a:t>
            </a:r>
            <a:r>
              <a:rPr lang="en-US" altLang="zh-CN" sz="3600" baseline="-25000">
                <a:latin typeface="Times New Roman" panose="02020603050405020304" pitchFamily="18" charset="0"/>
                <a:cs typeface="Times New Roman" panose="02020603050405020304" pitchFamily="18" charset="0"/>
              </a:rPr>
              <a:t>7,21</a:t>
            </a:r>
            <a:r>
              <a:rPr lang="en-US" altLang="zh-CN" sz="3600">
                <a:latin typeface="Times New Roman" panose="02020603050405020304" pitchFamily="18" charset="0"/>
                <a:cs typeface="Times New Roman" panose="02020603050405020304" pitchFamily="18" charset="0"/>
              </a:rPr>
              <a:t>(m)=7m+21(mod26)</a:t>
            </a:r>
          </a:p>
          <a:p>
            <a:pPr indent="457200" algn="ctr" fontAlgn="auto"/>
            <a:r>
              <a:rPr lang="en-US" altLang="zh-CN" sz="3600">
                <a:latin typeface="Times New Roman" panose="02020603050405020304" pitchFamily="18" charset="0"/>
                <a:cs typeface="Times New Roman" panose="02020603050405020304" pitchFamily="18" charset="0"/>
              </a:rPr>
              <a:t>m=D</a:t>
            </a:r>
            <a:r>
              <a:rPr lang="en-US" altLang="zh-CN" sz="3600" baseline="-25000">
                <a:latin typeface="Times New Roman" panose="02020603050405020304" pitchFamily="18" charset="0"/>
                <a:cs typeface="Times New Roman" panose="02020603050405020304" pitchFamily="18" charset="0"/>
                <a:sym typeface="+mn-ea"/>
              </a:rPr>
              <a:t>7,21</a:t>
            </a:r>
            <a:r>
              <a:rPr lang="en-US" altLang="zh-CN" sz="3600">
                <a:latin typeface="Times New Roman" panose="02020603050405020304" pitchFamily="18" charset="0"/>
                <a:cs typeface="Times New Roman" panose="02020603050405020304" pitchFamily="18" charset="0"/>
              </a:rPr>
              <a:t>(c)=7</a:t>
            </a:r>
            <a:r>
              <a:rPr lang="en-US" altLang="zh-CN" sz="3600" baseline="30000">
                <a:latin typeface="Times New Roman" panose="02020603050405020304" pitchFamily="18" charset="0"/>
                <a:cs typeface="Times New Roman" panose="02020603050405020304" pitchFamily="18" charset="0"/>
              </a:rPr>
              <a:t>-1</a:t>
            </a:r>
            <a:r>
              <a:rPr lang="en-US" altLang="zh-CN" sz="3600">
                <a:latin typeface="Times New Roman" panose="02020603050405020304" pitchFamily="18" charset="0"/>
                <a:cs typeface="Times New Roman" panose="02020603050405020304" pitchFamily="18" charset="0"/>
              </a:rPr>
              <a:t>(c-21)(mod26)</a:t>
            </a:r>
          </a:p>
          <a:p>
            <a:pPr indent="457200" algn="just" fontAlgn="auto"/>
            <a:r>
              <a:rPr lang="zh-CN" altLang="en-US" sz="3600">
                <a:latin typeface="Times New Roman" panose="02020603050405020304" pitchFamily="18" charset="0"/>
                <a:cs typeface="Times New Roman" panose="02020603050405020304" pitchFamily="18" charset="0"/>
              </a:rPr>
              <a:t>则分别对明文</a:t>
            </a:r>
            <a:r>
              <a:rPr lang="en-US" altLang="zh-CN" sz="3600">
                <a:latin typeface="Times New Roman" panose="02020603050405020304" pitchFamily="18" charset="0"/>
                <a:cs typeface="Times New Roman" panose="02020603050405020304" pitchFamily="18" charset="0"/>
              </a:rPr>
              <a:t>security</a:t>
            </a:r>
            <a:r>
              <a:rPr lang="zh-CN" altLang="en-US" sz="3600">
                <a:latin typeface="Times New Roman" panose="02020603050405020304" pitchFamily="18" charset="0"/>
                <a:cs typeface="Times New Roman" panose="02020603050405020304" pitchFamily="18" charset="0"/>
              </a:rPr>
              <a:t>加密和密文</a:t>
            </a:r>
            <a:r>
              <a:rPr lang="en-US" altLang="zh-CN" sz="3600">
                <a:latin typeface="Times New Roman" panose="02020603050405020304" pitchFamily="18" charset="0"/>
                <a:cs typeface="Times New Roman" panose="02020603050405020304" pitchFamily="18" charset="0"/>
              </a:rPr>
              <a:t>vlxijh</a:t>
            </a:r>
            <a:r>
              <a:rPr lang="zh-CN" altLang="en-US" sz="3600">
                <a:latin typeface="Times New Roman" panose="02020603050405020304" pitchFamily="18" charset="0"/>
                <a:cs typeface="Times New Roman" panose="02020603050405020304" pitchFamily="18" charset="0"/>
              </a:rPr>
              <a:t>解密。</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21</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仿射密码</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133600" y="2324100"/>
            <a:ext cx="13328015" cy="5077460"/>
          </a:xfrm>
          <a:prstGeom prst="rect">
            <a:avLst/>
          </a:prstGeom>
          <a:noFill/>
        </p:spPr>
        <p:txBody>
          <a:bodyPr wrap="square" rtlCol="0">
            <a:spAutoFit/>
          </a:bodyPr>
          <a:lstStyle/>
          <a:p>
            <a:pPr algn="r"/>
            <a:r>
              <a:rPr lang="en-US" altLang="zh-CN" sz="3600">
                <a:latin typeface="Times New Roman" panose="02020603050405020304" pitchFamily="18" charset="0"/>
                <a:cs typeface="Times New Roman" panose="02020603050405020304" pitchFamily="18" charset="0"/>
              </a:rPr>
              <a:t>s=18,7·18+21(mod26)=17,s→r</a:t>
            </a:r>
          </a:p>
          <a:p>
            <a:pPr algn="r"/>
            <a:r>
              <a:rPr lang="en-US" altLang="zh-CN" sz="3600">
                <a:latin typeface="Times New Roman" panose="02020603050405020304" pitchFamily="18" charset="0"/>
                <a:cs typeface="Times New Roman" panose="02020603050405020304" pitchFamily="18" charset="0"/>
              </a:rPr>
              <a:t>e=4,7·4+21(mod26)=23, e</a:t>
            </a:r>
            <a:r>
              <a:rPr lang="en-US" altLang="zh-CN" sz="3600">
                <a:latin typeface="Times New Roman" panose="02020603050405020304" pitchFamily="18" charset="0"/>
                <a:cs typeface="Times New Roman" panose="02020603050405020304" pitchFamily="18" charset="0"/>
                <a:sym typeface="+mn-ea"/>
              </a:rPr>
              <a:t>→</a:t>
            </a:r>
            <a:r>
              <a:rPr lang="en-US" altLang="zh-CN" sz="3600">
                <a:latin typeface="Times New Roman" panose="02020603050405020304" pitchFamily="18" charset="0"/>
                <a:cs typeface="Times New Roman" panose="02020603050405020304" pitchFamily="18" charset="0"/>
              </a:rPr>
              <a:t>x</a:t>
            </a:r>
          </a:p>
          <a:p>
            <a:pPr algn="r"/>
            <a:r>
              <a:rPr lang="en-US" altLang="zh-CN" sz="3600">
                <a:latin typeface="Times New Roman" panose="02020603050405020304" pitchFamily="18" charset="0"/>
                <a:cs typeface="Times New Roman" panose="02020603050405020304" pitchFamily="18" charset="0"/>
              </a:rPr>
              <a:t>c=2,7·2+21(mod26)=9,c→j</a:t>
            </a:r>
          </a:p>
          <a:p>
            <a:pPr algn="r"/>
            <a:r>
              <a:rPr lang="en-US" altLang="zh-CN" sz="3600">
                <a:latin typeface="Times New Roman" panose="02020603050405020304" pitchFamily="18" charset="0"/>
                <a:cs typeface="Times New Roman" panose="02020603050405020304" pitchFamily="18" charset="0"/>
              </a:rPr>
              <a:t>u=18,7·20+21(mod26)=5,u→f</a:t>
            </a:r>
          </a:p>
          <a:p>
            <a:pPr algn="r"/>
            <a:r>
              <a:rPr lang="en-US" altLang="zh-CN" sz="3600">
                <a:latin typeface="Times New Roman" panose="02020603050405020304" pitchFamily="18" charset="0"/>
                <a:cs typeface="Times New Roman" panose="02020603050405020304" pitchFamily="18" charset="0"/>
              </a:rPr>
              <a:t>r=17,7·17+21(mod26)=10,r→k</a:t>
            </a:r>
          </a:p>
          <a:p>
            <a:pPr algn="r"/>
            <a:r>
              <a:rPr lang="en-US" altLang="zh-CN" sz="3600">
                <a:latin typeface="Times New Roman" panose="02020603050405020304" pitchFamily="18" charset="0"/>
                <a:cs typeface="Times New Roman" panose="02020603050405020304" pitchFamily="18" charset="0"/>
              </a:rPr>
              <a:t>i=8,7·8+21(mod26)=25,i→z</a:t>
            </a:r>
          </a:p>
          <a:p>
            <a:pPr algn="r"/>
            <a:r>
              <a:rPr lang="en-US" altLang="zh-CN" sz="3600">
                <a:latin typeface="Times New Roman" panose="02020603050405020304" pitchFamily="18" charset="0"/>
                <a:cs typeface="Times New Roman" panose="02020603050405020304" pitchFamily="18" charset="0"/>
              </a:rPr>
              <a:t>t=19,7·19+21(mod26)=24,t→y</a:t>
            </a:r>
          </a:p>
          <a:p>
            <a:pPr algn="r"/>
            <a:r>
              <a:rPr lang="en-US" altLang="zh-CN" sz="3600">
                <a:latin typeface="Times New Roman" panose="02020603050405020304" pitchFamily="18" charset="0"/>
                <a:cs typeface="Times New Roman" panose="02020603050405020304" pitchFamily="18" charset="0"/>
              </a:rPr>
              <a:t>y=18,7·24+21(mod26)=7,y→h</a:t>
            </a:r>
          </a:p>
          <a:p>
            <a:r>
              <a:rPr lang="zh-CN" altLang="en-US" sz="3600">
                <a:latin typeface="Times New Roman" panose="02020603050405020304" pitchFamily="18" charset="0"/>
                <a:cs typeface="Times New Roman" panose="02020603050405020304" pitchFamily="18" charset="0"/>
              </a:rPr>
              <a:t>因此，</a:t>
            </a:r>
            <a:r>
              <a:rPr lang="en-US" altLang="zh-CN" sz="3600">
                <a:latin typeface="Times New Roman" panose="02020603050405020304" pitchFamily="18" charset="0"/>
                <a:cs typeface="Times New Roman" panose="02020603050405020304" pitchFamily="18" charset="0"/>
              </a:rPr>
              <a:t>security </a:t>
            </a:r>
            <a:r>
              <a:rPr lang="zh-CN" altLang="en-US" sz="3600">
                <a:latin typeface="Times New Roman" panose="02020603050405020304" pitchFamily="18" charset="0"/>
                <a:cs typeface="Times New Roman" panose="02020603050405020304" pitchFamily="18" charset="0"/>
              </a:rPr>
              <a:t>对应的密文是</a:t>
            </a:r>
            <a:r>
              <a:rPr lang="en-US" altLang="zh-CN" sz="3600">
                <a:latin typeface="Times New Roman" panose="02020603050405020304" pitchFamily="18" charset="0"/>
                <a:cs typeface="Times New Roman" panose="02020603050405020304" pitchFamily="18" charset="0"/>
              </a:rPr>
              <a:t>rxjfkzyh。</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22</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仿射密码</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989455" y="2492375"/>
            <a:ext cx="13250545" cy="3969385"/>
          </a:xfrm>
          <a:prstGeom prst="rect">
            <a:avLst/>
          </a:prstGeom>
          <a:noFill/>
        </p:spPr>
        <p:txBody>
          <a:bodyPr wrap="square" rtlCol="0">
            <a:spAutoFit/>
          </a:bodyPr>
          <a:lstStyle/>
          <a:p>
            <a:pPr algn="r"/>
            <a:r>
              <a:rPr lang="en-US" altLang="zh-CN" sz="3600">
                <a:latin typeface="+mj-ea"/>
                <a:ea typeface="+mj-ea"/>
                <a:cs typeface="+mj-ea"/>
              </a:rPr>
              <a:t>v=21,7</a:t>
            </a:r>
            <a:r>
              <a:rPr lang="en-US" altLang="zh-CN" sz="3600" baseline="30000">
                <a:latin typeface="+mj-ea"/>
                <a:ea typeface="+mj-ea"/>
                <a:cs typeface="+mj-ea"/>
              </a:rPr>
              <a:t>-1</a:t>
            </a:r>
            <a:r>
              <a:rPr lang="en-US" altLang="zh-CN" sz="3600">
                <a:latin typeface="+mj-ea"/>
                <a:ea typeface="+mj-ea"/>
                <a:cs typeface="+mj-ea"/>
              </a:rPr>
              <a:t>·(21-21)(mod26)=0,v→a</a:t>
            </a:r>
          </a:p>
          <a:p>
            <a:pPr algn="r"/>
            <a:r>
              <a:rPr lang="en-US" altLang="zh-CN" sz="3600">
                <a:latin typeface="+mj-ea"/>
                <a:ea typeface="+mj-ea"/>
                <a:cs typeface="+mj-ea"/>
              </a:rPr>
              <a:t>1=11,7</a:t>
            </a:r>
            <a:r>
              <a:rPr lang="en-US" altLang="zh-CN" sz="3600" baseline="30000">
                <a:latin typeface="+mj-ea"/>
                <a:ea typeface="+mj-ea"/>
                <a:cs typeface="+mj-ea"/>
                <a:sym typeface="+mn-ea"/>
              </a:rPr>
              <a:t>-1</a:t>
            </a:r>
            <a:r>
              <a:rPr lang="en-US" altLang="zh-CN" sz="3600">
                <a:latin typeface="+mj-ea"/>
                <a:ea typeface="+mj-ea"/>
                <a:cs typeface="+mj-ea"/>
                <a:sym typeface="+mn-ea"/>
              </a:rPr>
              <a:t>·</a:t>
            </a:r>
            <a:r>
              <a:rPr lang="en-US" altLang="zh-CN" sz="3600">
                <a:latin typeface="+mj-ea"/>
                <a:ea typeface="+mj-ea"/>
                <a:cs typeface="+mj-ea"/>
              </a:rPr>
              <a:t>(11-21)(mod26)=6,1→g</a:t>
            </a:r>
          </a:p>
          <a:p>
            <a:pPr algn="r"/>
            <a:r>
              <a:rPr lang="en-US" altLang="zh-CN" sz="3600">
                <a:latin typeface="+mj-ea"/>
                <a:ea typeface="+mj-ea"/>
                <a:cs typeface="+mj-ea"/>
              </a:rPr>
              <a:t>x=23,7</a:t>
            </a:r>
            <a:r>
              <a:rPr lang="en-US" altLang="zh-CN" sz="3600" baseline="30000">
                <a:latin typeface="+mj-ea"/>
                <a:ea typeface="+mj-ea"/>
                <a:cs typeface="+mj-ea"/>
                <a:sym typeface="+mn-ea"/>
              </a:rPr>
              <a:t>-1</a:t>
            </a:r>
            <a:r>
              <a:rPr lang="en-US" altLang="zh-CN" sz="3600">
                <a:latin typeface="+mj-ea"/>
                <a:ea typeface="+mj-ea"/>
                <a:cs typeface="+mj-ea"/>
                <a:sym typeface="+mn-ea"/>
              </a:rPr>
              <a:t>·</a:t>
            </a:r>
            <a:r>
              <a:rPr lang="en-US" altLang="zh-CN" sz="3600">
                <a:latin typeface="+mj-ea"/>
                <a:ea typeface="+mj-ea"/>
                <a:cs typeface="+mj-ea"/>
              </a:rPr>
              <a:t>(23-21)(mod26)=4,x→e</a:t>
            </a:r>
          </a:p>
          <a:p>
            <a:pPr algn="r"/>
            <a:r>
              <a:rPr lang="en-US" altLang="zh-CN" sz="3600">
                <a:latin typeface="+mj-ea"/>
                <a:ea typeface="+mj-ea"/>
                <a:cs typeface="+mj-ea"/>
              </a:rPr>
              <a:t>i=8,7</a:t>
            </a:r>
            <a:r>
              <a:rPr lang="en-US" altLang="zh-CN" sz="3600" baseline="30000">
                <a:latin typeface="+mj-ea"/>
                <a:ea typeface="+mj-ea"/>
                <a:cs typeface="+mj-ea"/>
                <a:sym typeface="+mn-ea"/>
              </a:rPr>
              <a:t>-1</a:t>
            </a:r>
            <a:r>
              <a:rPr lang="en-US" altLang="zh-CN" sz="3600">
                <a:latin typeface="+mj-ea"/>
                <a:ea typeface="+mj-ea"/>
                <a:cs typeface="+mj-ea"/>
                <a:sym typeface="+mn-ea"/>
              </a:rPr>
              <a:t>·</a:t>
            </a:r>
            <a:r>
              <a:rPr lang="en-US" altLang="zh-CN" sz="3600">
                <a:latin typeface="+mj-ea"/>
                <a:ea typeface="+mj-ea"/>
                <a:cs typeface="+mj-ea"/>
              </a:rPr>
              <a:t>(8-21)(mod26)=13,i→n</a:t>
            </a:r>
          </a:p>
          <a:p>
            <a:pPr algn="r"/>
            <a:r>
              <a:rPr lang="en-US" altLang="zh-CN" sz="3600">
                <a:latin typeface="+mj-ea"/>
                <a:ea typeface="+mj-ea"/>
                <a:cs typeface="+mj-ea"/>
              </a:rPr>
              <a:t>j=9,7</a:t>
            </a:r>
            <a:r>
              <a:rPr lang="en-US" altLang="zh-CN" sz="3600" baseline="30000">
                <a:latin typeface="+mj-ea"/>
                <a:ea typeface="+mj-ea"/>
                <a:cs typeface="+mj-ea"/>
                <a:sym typeface="+mn-ea"/>
              </a:rPr>
              <a:t>-1</a:t>
            </a:r>
            <a:r>
              <a:rPr lang="en-US" altLang="zh-CN" sz="3600">
                <a:latin typeface="+mj-ea"/>
                <a:ea typeface="+mj-ea"/>
                <a:cs typeface="+mj-ea"/>
                <a:sym typeface="+mn-ea"/>
              </a:rPr>
              <a:t>·</a:t>
            </a:r>
            <a:r>
              <a:rPr lang="en-US" altLang="zh-CN" sz="3600">
                <a:latin typeface="+mj-ea"/>
                <a:ea typeface="+mj-ea"/>
                <a:cs typeface="+mj-ea"/>
              </a:rPr>
              <a:t>(9-21)(mod26)=2,j→c</a:t>
            </a:r>
          </a:p>
          <a:p>
            <a:pPr algn="r"/>
            <a:r>
              <a:rPr lang="en-US" altLang="zh-CN" sz="3600">
                <a:latin typeface="+mj-ea"/>
                <a:ea typeface="+mj-ea"/>
                <a:cs typeface="+mj-ea"/>
              </a:rPr>
              <a:t>h=7,7</a:t>
            </a:r>
            <a:r>
              <a:rPr lang="en-US" altLang="zh-CN" sz="3600" baseline="30000">
                <a:latin typeface="+mj-ea"/>
                <a:ea typeface="+mj-ea"/>
                <a:cs typeface="+mj-ea"/>
                <a:sym typeface="+mn-ea"/>
              </a:rPr>
              <a:t>-1</a:t>
            </a:r>
            <a:r>
              <a:rPr lang="en-US" altLang="zh-CN" sz="3600">
                <a:latin typeface="+mj-ea"/>
                <a:ea typeface="+mj-ea"/>
                <a:cs typeface="+mj-ea"/>
                <a:sym typeface="+mn-ea"/>
              </a:rPr>
              <a:t>·</a:t>
            </a:r>
            <a:r>
              <a:rPr lang="en-US" altLang="zh-CN" sz="3600">
                <a:latin typeface="+mj-ea"/>
                <a:ea typeface="+mj-ea"/>
                <a:cs typeface="+mj-ea"/>
              </a:rPr>
              <a:t>(7-21)(mod26)=24,h→y</a:t>
            </a:r>
          </a:p>
          <a:p>
            <a:pPr algn="l"/>
            <a:r>
              <a:rPr lang="zh-CN" altLang="en-US" sz="3600">
                <a:latin typeface="+mj-ea"/>
                <a:ea typeface="+mj-ea"/>
                <a:cs typeface="+mj-ea"/>
              </a:rPr>
              <a:t>因此，</a:t>
            </a:r>
            <a:r>
              <a:rPr lang="en-US" altLang="zh-CN" sz="3600">
                <a:latin typeface="+mj-ea"/>
                <a:ea typeface="+mj-ea"/>
                <a:cs typeface="+mj-ea"/>
              </a:rPr>
              <a:t>vlxijh</a:t>
            </a:r>
            <a:r>
              <a:rPr lang="zh-CN" altLang="en-US" sz="3600">
                <a:latin typeface="+mj-ea"/>
                <a:ea typeface="+mj-ea"/>
                <a:cs typeface="+mj-ea"/>
              </a:rPr>
              <a:t>对应的明文是</a:t>
            </a:r>
            <a:r>
              <a:rPr lang="en-US" altLang="zh-CN" sz="3600">
                <a:latin typeface="+mj-ea"/>
                <a:ea typeface="+mj-ea"/>
                <a:cs typeface="+mj-ea"/>
              </a:rPr>
              <a:t>agency。</a:t>
            </a:r>
          </a:p>
        </p:txBody>
      </p:sp>
      <p:sp>
        <p:nvSpPr>
          <p:cNvPr id="6" name="灯片编号占位符 5"/>
          <p:cNvSpPr>
            <a:spLocks noGrp="1"/>
          </p:cNvSpPr>
          <p:nvPr>
            <p:ph type="sldNum" sz="quarter" idx="12"/>
          </p:nvPr>
        </p:nvSpPr>
        <p:spPr/>
        <p:txBody>
          <a:bodyPr/>
          <a:lstStyle/>
          <a:p>
            <a:fld id="{B6F15528-21DE-4FAA-801E-634DDDAF4B2B}" type="slidenum">
              <a:rPr lang="en-US" altLang="zh-CN" smtClean="0"/>
              <a:t>23</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仿射密码</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29"/>
          <p:cNvSpPr txBox="1"/>
          <p:nvPr/>
        </p:nvSpPr>
        <p:spPr>
          <a:xfrm>
            <a:off x="1600200" y="1827691"/>
            <a:ext cx="14818191" cy="6584367"/>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多表代换密码依次对明文信息使用无限多的或有限个周期性重复的固定代换表进行替换得到密文。若使用无限多的固定代换表（相对于明文变化是随机的），则称其为一次一密代换密码；若使用有限个周期性重复的固定代换表，则称其为周期多表代换密码。</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一次一密代换密码是在理论上唯一不可破解的密码，这种密码对于明文的特点可实现完全隐藏，但由于需要的密钥量与明文所含信息单元的个数一样，故其难以实用。</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而周期多表代换密码的实际情形如下：在给定的</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个代换表        下，加密明文                         的结果是                                                               ， </a:t>
            </a:r>
            <a:r>
              <a:rPr lang="en-US" altLang="zh-CN" sz="3600" i="1" dirty="0">
                <a:solidFill>
                  <a:srgbClr val="000000"/>
                </a:solidFill>
                <a:latin typeface="Times New Roman" panose="02020603050405020304" pitchFamily="18" charset="0"/>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称为该多表代换密码的周期。</a:t>
            </a:r>
          </a:p>
        </p:txBody>
      </p:sp>
      <p:graphicFrame>
        <p:nvGraphicFramePr>
          <p:cNvPr id="5" name="对象 4"/>
          <p:cNvGraphicFramePr>
            <a:graphicFrameLocks noChangeAspect="1"/>
          </p:cNvGraphicFramePr>
          <p:nvPr/>
        </p:nvGraphicFramePr>
        <p:xfrm>
          <a:off x="14249400" y="6591300"/>
          <a:ext cx="1176966" cy="514923"/>
        </p:xfrm>
        <a:graphic>
          <a:graphicData uri="http://schemas.openxmlformats.org/presentationml/2006/ole">
            <mc:AlternateContent xmlns:mc="http://schemas.openxmlformats.org/markup-compatibility/2006">
              <mc:Choice xmlns:v="urn:schemas-microsoft-com:vml" Requires="v">
                <p:oleObj name="Equation" r:id="rId2" imgW="458470" imgH="201295" progId="Equation.DSMT4">
                  <p:embed/>
                </p:oleObj>
              </mc:Choice>
              <mc:Fallback>
                <p:oleObj name="Equation" r:id="rId2" imgW="458470" imgH="201295" progId="Equation.DSMT4">
                  <p:embed/>
                  <p:pic>
                    <p:nvPicPr>
                      <p:cNvPr id="0" name="图片 5"/>
                      <p:cNvPicPr/>
                      <p:nvPr/>
                    </p:nvPicPr>
                    <p:blipFill>
                      <a:blip r:embed="rId3"/>
                      <a:stretch>
                        <a:fillRect/>
                      </a:stretch>
                    </p:blipFill>
                    <p:spPr>
                      <a:xfrm>
                        <a:off x="14249400" y="6591300"/>
                        <a:ext cx="1176966" cy="51492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581400" y="7100411"/>
          <a:ext cx="2663825" cy="644525"/>
        </p:xfrm>
        <a:graphic>
          <a:graphicData uri="http://schemas.openxmlformats.org/presentationml/2006/ole">
            <mc:AlternateContent xmlns:mc="http://schemas.openxmlformats.org/markup-compatibility/2006">
              <mc:Choice xmlns:v="urn:schemas-microsoft-com:vml" Requires="v">
                <p:oleObj name="Equation" r:id="rId4" imgW="18897600" imgH="4572000" progId="Equation.DSMT4">
                  <p:embed/>
                </p:oleObj>
              </mc:Choice>
              <mc:Fallback>
                <p:oleObj name="Equation" r:id="rId4" imgW="18897600" imgH="4572000" progId="Equation.DSMT4">
                  <p:embed/>
                  <p:pic>
                    <p:nvPicPr>
                      <p:cNvPr id="0" name="图片 7"/>
                      <p:cNvPicPr/>
                      <p:nvPr/>
                    </p:nvPicPr>
                    <p:blipFill>
                      <a:blip r:embed="rId5"/>
                      <a:stretch>
                        <a:fillRect/>
                      </a:stretch>
                    </p:blipFill>
                    <p:spPr>
                      <a:xfrm>
                        <a:off x="3581400" y="7100411"/>
                        <a:ext cx="2663825" cy="644525"/>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8458200" y="7130762"/>
          <a:ext cx="6782833" cy="669550"/>
        </p:xfrm>
        <a:graphic>
          <a:graphicData uri="http://schemas.openxmlformats.org/presentationml/2006/ole">
            <mc:AlternateContent xmlns:mc="http://schemas.openxmlformats.org/markup-compatibility/2006">
              <mc:Choice xmlns:v="urn:schemas-microsoft-com:vml" Requires="v">
                <p:oleObj name="Equation" r:id="rId6" imgW="2220595" imgH="220980" progId="Equation.DSMT4">
                  <p:embed/>
                </p:oleObj>
              </mc:Choice>
              <mc:Fallback>
                <p:oleObj name="Equation" r:id="rId6" imgW="2220595" imgH="220980" progId="Equation.DSMT4">
                  <p:embed/>
                  <p:pic>
                    <p:nvPicPr>
                      <p:cNvPr id="0" name="图片 9"/>
                      <p:cNvPicPr/>
                      <p:nvPr/>
                    </p:nvPicPr>
                    <p:blipFill>
                      <a:blip r:embed="rId7"/>
                      <a:stretch>
                        <a:fillRect/>
                      </a:stretch>
                    </p:blipFill>
                    <p:spPr>
                      <a:xfrm>
                        <a:off x="8458200" y="7130762"/>
                        <a:ext cx="6782833" cy="669550"/>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fld id="{B6F15528-21DE-4FAA-801E-634DDDAF4B2B}" type="slidenum">
              <a:rPr lang="en-US" altLang="zh-CN" smtClean="0"/>
              <a:t>24</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多表代换密码</a:t>
            </a: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2.2.2</a:t>
            </a:r>
          </a:p>
        </p:txBody>
      </p:sp>
      <p:pic>
        <p:nvPicPr>
          <p:cNvPr id="15" name="图片 2"/>
          <p:cNvPicPr>
            <a:picLocks noChangeAspect="1"/>
          </p:cNvPicPr>
          <p:nvPr/>
        </p:nvPicPr>
        <p:blipFill>
          <a:blip r:embed="rId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8" name="图片 17"/>
            <p:cNvPicPr>
              <a:picLocks noChangeAspect="1"/>
            </p:cNvPicPr>
            <p:nvPr/>
          </p:nvPicPr>
          <p:blipFill>
            <a:blip r:embed="rId9"/>
            <a:stretch>
              <a:fillRect/>
            </a:stretch>
          </p:blipFill>
          <p:spPr>
            <a:xfrm>
              <a:off x="13944600" y="877286"/>
              <a:ext cx="2771429" cy="47619"/>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29"/>
          <p:cNvSpPr txBox="1"/>
          <p:nvPr/>
        </p:nvSpPr>
        <p:spPr>
          <a:xfrm>
            <a:off x="1447800" y="2400300"/>
            <a:ext cx="14818191" cy="5254772"/>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维吉尼亚（</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Vigenere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通过使用多个字母代换表，达到同一个字母在不同位置会被代换为不同密文的效果，使破译难度加大。维吉尼亚密码所使用的方法是用一个密钥选择使用哪个字母代换表，依次使用多个字母表，当密钥的字母使用结束后，再从头开始排列。</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2.5</a:t>
            </a: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设密钥为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7</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个字符串“</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iscbupt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，则对应的数字化密钥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19)</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，待加密的明文是“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cyber great wall corporation”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，首先把明文字母转换为数字，然后把明文字母每</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7</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个分为一组，使用密钥字进行模</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下的加密操作，具体加密过程如表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25</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维吉尼亚（</a:t>
            </a:r>
            <a:r>
              <a:rPr lang="en-US" altLang="zh-CN" sz="4000" b="1"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Vigenere</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371600" y="1685615"/>
            <a:ext cx="15874156" cy="3586029"/>
          </a:xfrm>
          <a:prstGeom prst="rect">
            <a:avLst/>
          </a:prstGeom>
        </p:spPr>
      </p:pic>
      <p:sp>
        <p:nvSpPr>
          <p:cNvPr id="6" name="TextBox 29"/>
          <p:cNvSpPr txBox="1"/>
          <p:nvPr/>
        </p:nvSpPr>
        <p:spPr>
          <a:xfrm>
            <a:off x="1734904" y="5571452"/>
            <a:ext cx="14818191" cy="2595582"/>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加密表中第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行是分组明文字母，第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行是与明文字母对应的数字，第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行是加密数字化密钥，第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行是加密后的密文对应的数字，即第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行数字与第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行数字模</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加的结果。最后一行是得到的密文“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KQDFLVKMSVXUAEKGTQIGTBAQO”</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p:txBody>
      </p:sp>
      <p:sp>
        <p:nvSpPr>
          <p:cNvPr id="7" name="灯片编号占位符 6"/>
          <p:cNvSpPr>
            <a:spLocks noGrp="1"/>
          </p:cNvSpPr>
          <p:nvPr>
            <p:ph type="sldNum" sz="quarter" idx="12"/>
          </p:nvPr>
        </p:nvSpPr>
        <p:spPr/>
        <p:txBody>
          <a:bodyPr/>
          <a:lstStyle/>
          <a:p>
            <a:fld id="{B6F15528-21DE-4FAA-801E-634DDDAF4B2B}" type="slidenum">
              <a:rPr lang="en-US" altLang="zh-CN" smtClean="0"/>
              <a:t>26</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维吉尼亚（</a:t>
            </a:r>
            <a:r>
              <a:rPr lang="en-US" altLang="zh-CN" sz="4000" b="1"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Vigenere</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2.2.2</a:t>
            </a:r>
          </a:p>
        </p:txBody>
      </p:sp>
      <p:pic>
        <p:nvPicPr>
          <p:cNvPr id="1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同样把密文按每组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7</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个进行分组，然后进行解密，解密过程如表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pic>
        <p:nvPicPr>
          <p:cNvPr id="7" name="图片 6"/>
          <p:cNvPicPr>
            <a:picLocks noChangeAspect="1"/>
          </p:cNvPicPr>
          <p:nvPr/>
        </p:nvPicPr>
        <p:blipFill>
          <a:blip r:embed="rId2"/>
          <a:stretch>
            <a:fillRect/>
          </a:stretch>
        </p:blipFill>
        <p:spPr>
          <a:xfrm>
            <a:off x="1981200" y="3086100"/>
            <a:ext cx="14868088" cy="3403539"/>
          </a:xfrm>
          <a:prstGeom prst="rect">
            <a:avLst/>
          </a:prstGeom>
        </p:spPr>
      </p:pic>
      <p:sp>
        <p:nvSpPr>
          <p:cNvPr id="8" name="TextBox 29"/>
          <p:cNvSpPr txBox="1"/>
          <p:nvPr/>
        </p:nvSpPr>
        <p:spPr>
          <a:xfrm>
            <a:off x="1734904" y="7048500"/>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解密表与加密表的第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行操作不同，解密表中第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行是由第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行数字与第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行数字模</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减得到，其他行的操作与加密表相同。</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27</a:t>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维吉尼亚（</a:t>
            </a:r>
            <a:r>
              <a:rPr lang="en-US" altLang="zh-CN" sz="4000" b="1"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Vigenere</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2.2.2</a:t>
            </a:r>
          </a:p>
        </p:txBody>
      </p:sp>
      <p:pic>
        <p:nvPicPr>
          <p:cNvPr id="14"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5919569"/>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普莱费尔（</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Playfair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）密码将明文字母按两个字母一组分成若干单元，然后将这些单元替换为密文字母组合，替换时基于一个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字母矩阵，该矩阵使用一个选定的关键词来构造，其构造方法如下。</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从左到右、从上到下依次填入关键词的字母，若关键词中有重复字母，则第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次出现时略过，然后将字母表中剩下的字母按字母顺序依次填入矩阵中，其中字母</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j</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看作同一个字符。同时约定如下规则：矩阵表中的第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列看作第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列的右边一列，第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行是第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行的下一行。</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对每对明文字母</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，加密时根据它们在字母矩阵中的位置分别进行如下处理。</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28</a:t>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普莱费尔（</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Playfair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2.2.2</a:t>
            </a:r>
          </a:p>
        </p:txBody>
      </p:sp>
      <p:pic>
        <p:nvPicPr>
          <p:cNvPr id="14"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724916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1</a:t>
            </a:r>
            <a:r>
              <a:rPr lang="zh-CN" altLang="en-US" sz="3600" baseline="-25000" dirty="0">
                <a:solidFill>
                  <a:srgbClr val="000000"/>
                </a:solidFill>
                <a:latin typeface="Times New Roman" panose="02020603050405020304" pitchFamily="18" charset="0"/>
                <a:cs typeface="字由点字典黑 2"/>
                <a:sym typeface="字由点字典黑 2"/>
              </a:rPr>
              <a:t>、</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在同一行，则对应的密文分别是紧靠</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1</a:t>
            </a:r>
            <a:r>
              <a:rPr lang="zh-CN" altLang="en-US" sz="3600" baseline="-25000" dirty="0">
                <a:solidFill>
                  <a:srgbClr val="000000"/>
                </a:solidFill>
                <a:latin typeface="Times New Roman" panose="02020603050405020304" pitchFamily="18" charset="0"/>
                <a:cs typeface="字由点字典黑 2"/>
                <a:sym typeface="字由点字典黑 2"/>
              </a:rPr>
              <a:t>、</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右端的字母。</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1</a:t>
            </a:r>
            <a:r>
              <a:rPr lang="zh-CN" altLang="en-US" sz="3600" baseline="-25000" dirty="0">
                <a:solidFill>
                  <a:srgbClr val="000000"/>
                </a:solidFill>
                <a:latin typeface="Times New Roman" panose="02020603050405020304" pitchFamily="18" charset="0"/>
                <a:cs typeface="字由点字典黑 2"/>
                <a:sym typeface="字由点字典黑 2"/>
              </a:rPr>
              <a:t>、</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在同一列，则对应的密文分别是紧靠</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1</a:t>
            </a:r>
            <a:r>
              <a:rPr lang="zh-CN" altLang="en-US" sz="3600" baseline="-25000" dirty="0">
                <a:solidFill>
                  <a:srgbClr val="000000"/>
                </a:solidFill>
                <a:latin typeface="Times New Roman" panose="02020603050405020304" pitchFamily="18" charset="0"/>
                <a:cs typeface="字由点字典黑 2"/>
                <a:sym typeface="字由点字典黑 2"/>
              </a:rPr>
              <a:t>、</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下端的字母。</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1</a:t>
            </a:r>
            <a:r>
              <a:rPr lang="zh-CN" altLang="en-US" sz="3600" baseline="-25000" dirty="0">
                <a:solidFill>
                  <a:srgbClr val="000000"/>
                </a:solidFill>
                <a:latin typeface="Times New Roman" panose="02020603050405020304" pitchFamily="18" charset="0"/>
                <a:cs typeface="字由点字典黑 2"/>
                <a:sym typeface="字由点字典黑 2"/>
              </a:rPr>
              <a:t>、</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不在同一行，也不在同一列，则对应的密文以</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1</a:t>
            </a:r>
            <a:r>
              <a:rPr lang="zh-CN" altLang="en-US" sz="3600" baseline="-25000" dirty="0">
                <a:solidFill>
                  <a:srgbClr val="000000"/>
                </a:solidFill>
                <a:latin typeface="Times New Roman" panose="02020603050405020304" pitchFamily="18" charset="0"/>
                <a:cs typeface="字由点字典黑 2"/>
                <a:sym typeface="字由点字典黑 2"/>
              </a:rPr>
              <a:t>、</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为对角顶点确定的矩阵的另外两个顶点字母，按同行的原则对应。</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1</a:t>
            </a:r>
            <a:r>
              <a:rPr lang="zh-CN" altLang="en-US" sz="3600" baseline="-25000" dirty="0">
                <a:solidFill>
                  <a:srgbClr val="000000"/>
                </a:solidFill>
                <a:latin typeface="Times New Roman" panose="02020603050405020304" pitchFamily="18" charset="0"/>
                <a:cs typeface="字由点字典黑 2"/>
                <a:sym typeface="字由点字典黑 2"/>
              </a:rPr>
              <a:t>、</a:t>
            </a:r>
            <a:r>
              <a:rPr lang="en-US" altLang="zh-CN" sz="3600" i="1" dirty="0">
                <a:solidFill>
                  <a:srgbClr val="000000"/>
                </a:solidFill>
                <a:latin typeface="Times New Roman" panose="02020603050405020304" pitchFamily="18" charset="0"/>
                <a:cs typeface="字由点字典黑 2"/>
                <a:sym typeface="字由点字典黑 2"/>
              </a:rPr>
              <a:t>p</a:t>
            </a:r>
            <a:r>
              <a:rPr lang="en-US" altLang="zh-CN" sz="3600" baseline="-25000" dirty="0">
                <a:solidFill>
                  <a:srgbClr val="000000"/>
                </a:solidFill>
                <a:latin typeface="Times New Roman" panose="02020603050405020304" pitchFamily="18" charset="0"/>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相同，则插入一个事先约定好的字母，并用上述方法处理。</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）若明文字母数为奇数，则在明文的末端添加一个事先约定好的字母进行填充。</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解密时，同样将明文分为两个字母一组，然后根据密钥产生的字母矩阵进行解密。解密过程与加密过程基本相似，只是把其中的右边改成左边，下面改为上面即可。</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29</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普莱费尔（</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Playfair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设密钥为“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LZCZJM”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，则根据前述的普莱费尔密码构造规则创建的字母矩阵如表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2.7</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pic>
        <p:nvPicPr>
          <p:cNvPr id="5" name="图片 4"/>
          <p:cNvPicPr>
            <a:picLocks noChangeAspect="1"/>
          </p:cNvPicPr>
          <p:nvPr/>
        </p:nvPicPr>
        <p:blipFill>
          <a:blip r:embed="rId2"/>
          <a:stretch>
            <a:fillRect/>
          </a:stretch>
        </p:blipFill>
        <p:spPr>
          <a:xfrm>
            <a:off x="6629400" y="3162300"/>
            <a:ext cx="3857466" cy="2743086"/>
          </a:xfrm>
          <a:prstGeom prst="rect">
            <a:avLst/>
          </a:prstGeom>
        </p:spPr>
      </p:pic>
      <p:sp>
        <p:nvSpPr>
          <p:cNvPr id="7" name="TextBox 29"/>
          <p:cNvSpPr txBox="1"/>
          <p:nvPr/>
        </p:nvSpPr>
        <p:spPr>
          <a:xfrm>
            <a:off x="1734904" y="6072734"/>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若明文为“</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steganographia</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，则首先把明文分成两个字母一组，然后对两个一组的明文分别加密，加密代换如表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pic>
        <p:nvPicPr>
          <p:cNvPr id="8" name="图片 7"/>
          <p:cNvPicPr>
            <a:picLocks noChangeAspect="1"/>
          </p:cNvPicPr>
          <p:nvPr/>
        </p:nvPicPr>
        <p:blipFill>
          <a:blip r:embed="rId3"/>
          <a:stretch>
            <a:fillRect/>
          </a:stretch>
        </p:blipFill>
        <p:spPr>
          <a:xfrm>
            <a:off x="1724572" y="7519631"/>
            <a:ext cx="15446216" cy="1901787"/>
          </a:xfrm>
          <a:prstGeom prst="rect">
            <a:avLst/>
          </a:prstGeom>
        </p:spPr>
      </p:pic>
      <p:sp>
        <p:nvSpPr>
          <p:cNvPr id="9" name="灯片编号占位符 8"/>
          <p:cNvSpPr>
            <a:spLocks noGrp="1"/>
          </p:cNvSpPr>
          <p:nvPr>
            <p:ph type="sldNum" sz="quarter" idx="12"/>
          </p:nvPr>
        </p:nvSpPr>
        <p:spPr/>
        <p:txBody>
          <a:bodyPr/>
          <a:lstStyle/>
          <a:p>
            <a:fld id="{B6F15528-21DE-4FAA-801E-634DDDAF4B2B}" type="slidenum">
              <a:rPr lang="en-US" altLang="zh-CN" smtClean="0"/>
              <a:t>30</a:t>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普莱费尔（</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Playfair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2.2.2</a:t>
            </a:r>
          </a:p>
        </p:txBody>
      </p:sp>
      <p:pic>
        <p:nvPicPr>
          <p:cNvPr id="15"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8" name="图片 17"/>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由此得到加密后的密文为“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OYALFG TOOEUPLE”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，同样把密文分为两个字母一组，相应的解密过程如表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2.9</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sp>
        <p:nvSpPr>
          <p:cNvPr id="7" name="TextBox 29"/>
          <p:cNvSpPr txBox="1"/>
          <p:nvPr/>
        </p:nvSpPr>
        <p:spPr>
          <a:xfrm>
            <a:off x="1760735" y="5829300"/>
            <a:ext cx="14818191" cy="326038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周期多表代换密码在一定程度上打破了明密异同性的规律，但是它具有明密等差规律。当周期</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较小时，可将其确定，并通过对密文重排，使其破译问题转化为对单表代换密码的破译。对于周期</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较大且密钥序列是伪随机的情况，可达到实际保密。而对于周期</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较大且密钥序列是随机的情况，可达到理论保密。</a:t>
            </a:r>
          </a:p>
        </p:txBody>
      </p:sp>
      <p:pic>
        <p:nvPicPr>
          <p:cNvPr id="9" name="图片 8"/>
          <p:cNvPicPr>
            <a:picLocks noChangeAspect="1"/>
          </p:cNvPicPr>
          <p:nvPr/>
        </p:nvPicPr>
        <p:blipFill>
          <a:blip r:embed="rId2"/>
          <a:stretch>
            <a:fillRect/>
          </a:stretch>
        </p:blipFill>
        <p:spPr>
          <a:xfrm>
            <a:off x="1734904" y="3323222"/>
            <a:ext cx="15446216" cy="1814466"/>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31</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普莱费尔（</a:t>
            </a: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Playfair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2.2.2</a:t>
            </a:r>
          </a:p>
        </p:txBody>
      </p:sp>
      <p:pic>
        <p:nvPicPr>
          <p:cNvPr id="14"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2</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轮转密码</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t>32</a:t>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458997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古典密码体制可以分为人工加密和机械加密两种。从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19</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世纪</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年代开始，人们逐渐发明了各种机械加密和解密设备用来处理数据的加密和解密运算，最典型的设备就是转轮密码机（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Rotor Cipher Machine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）。恩尼格玛（</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）密码机是由德国人阿瑟</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谢尔比乌斯（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Arthur </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Sherbius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世纪初发明的一种能够进行加密和解密操作的机械转轮密码机。起初，</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被用在了商业领域，后来德国国防军采用了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，并将其改良后用于军事领域。</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33</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转轮</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5919569"/>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是一种由键盘、齿轮、电池和灯泡组成的机器，通过这台机器就可以完成加密和解密两种操作。发送者和接收者各自拥有一台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。发送者用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对明文加密，将生成的密文通过无线电发给接收者，接收者将接收的密文用自己的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解密，从而得到明文。</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发送者和接收者必须使用相同的密钥才能完成加密通信，因此发送者和接收者会事先收到一份称为密码本的册子。密码本中记载了发送者和接收者所使用的每日密码，发送者和接收者需要分别按照册子的指示来设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。下面分别从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的构造、加密、解密方面讲解转轮密码机的原理。</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34</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转轮</a:t>
            </a: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3" y="1665966"/>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的构造如图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能够对字母表中的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个字母进行加密和解密操作，但由于图示复杂，这里将字母的数量简化为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a:t>
            </a:r>
          </a:p>
        </p:txBody>
      </p:sp>
      <p:pic>
        <p:nvPicPr>
          <p:cNvPr id="8" name="图片 7"/>
          <p:cNvPicPr>
            <a:picLocks noChangeAspect="1"/>
          </p:cNvPicPr>
          <p:nvPr/>
        </p:nvPicPr>
        <p:blipFill>
          <a:blip r:embed="rId2"/>
          <a:stretch>
            <a:fillRect/>
          </a:stretch>
        </p:blipFill>
        <p:spPr>
          <a:xfrm>
            <a:off x="5053233" y="3265030"/>
            <a:ext cx="8181532" cy="4852772"/>
          </a:xfrm>
          <a:prstGeom prst="rect">
            <a:avLst/>
          </a:prstGeom>
        </p:spPr>
      </p:pic>
      <p:sp>
        <p:nvSpPr>
          <p:cNvPr id="9" name="TextBox 29"/>
          <p:cNvSpPr txBox="1"/>
          <p:nvPr/>
        </p:nvSpPr>
        <p:spPr>
          <a:xfrm>
            <a:off x="1734903" y="8640599"/>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按下输入键盘上的一个键后，电信号就会通过复杂的电路点亮输出灯泡，图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中描绘了按下 键点亮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灯泡的情形。</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35</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Enigma</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的构造</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2.3.1</a:t>
            </a:r>
          </a:p>
        </p:txBody>
      </p:sp>
      <p:pic>
        <p:nvPicPr>
          <p:cNvPr id="14"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3" y="1665966"/>
            <a:ext cx="14818191" cy="7913961"/>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每按下</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上的一个键，就会点亮一个灯泡，操作者可以在按键的同时读出灯泡所对应的字母，然后将这个字母写在纸上。这个操作在发送者一侧是加密，在接收者一侧是解密。只要将键和灯泡的读法互换，在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上就可以用完全相同的方法来完成加密和解密两种操作了。</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接线板是一种通过改变接线方式来改变字母对应关系的部件，接线板上的接线方式是根据密码本的每日密码来决定的，在一天之中不会改变。</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中，还看到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个称为转子的部件。转子是一个圆盘状的装置，其两侧的接触点之间通过电线连接。尽管每个转子内部的接线方式无法改变，但转子可以在每输入一个字母时自动旋转。当输入一个字母时，转子</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就旋转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圈（当字母表中只有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个字母时）。转子</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每旋转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圈，转子</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就旋转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圈，而转子</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每旋转一圈，转子</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就旋转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圈。</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个转子都可以拆卸，在对</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进行设置时可以选择转子的初始位置。</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36</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Enigma</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的构造</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2.3.1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3" y="1665966"/>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下面详细讲解</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的加密步骤。图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展示了发送者将一个包含</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个字母的英语单词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night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（夜晚）进行加密并发送的过程。</a:t>
            </a:r>
          </a:p>
        </p:txBody>
      </p:sp>
      <p:pic>
        <p:nvPicPr>
          <p:cNvPr id="8" name="图片 7"/>
          <p:cNvPicPr>
            <a:picLocks noChangeAspect="1"/>
          </p:cNvPicPr>
          <p:nvPr/>
        </p:nvPicPr>
        <p:blipFill>
          <a:blip r:embed="rId2"/>
          <a:stretch>
            <a:fillRect/>
          </a:stretch>
        </p:blipFill>
        <p:spPr>
          <a:xfrm>
            <a:off x="3729555" y="3372634"/>
            <a:ext cx="10828889" cy="5257800"/>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37</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Enigma</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的加密</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2.3.2</a:t>
            </a:r>
          </a:p>
        </p:txBody>
      </p:sp>
      <p:pic>
        <p:nvPicPr>
          <p:cNvPr id="1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3" y="1665966"/>
            <a:ext cx="14818191" cy="7913961"/>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在进行通信之前，发送者和接收者双方都需要持有密码本，密码本中记载了发送者和接收者需要使用的“每日密码”。</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。发送者查阅密码本，找到当天的“每日密码”，并按照该密码来设置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。具体来说，就是在接线板上接线，并将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个转子进行排列。</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）加密通信密码。发送者需要想出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个字母，并将其加密，这</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个字母称为通信密码，通信密码的加密也是通过</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完成的。假设发送者选择的通信密码为</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psw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，则发送者需要在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的键盘上输入两次该通信密码，也就是需要输入</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pswpsw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这</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个字母。发送者每输入一个字母，转子就会旋转，同时灯泡亮起，发送者记下亮起的灯泡所对应的字母。输入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个字母之后，发送者就记下了它们所对应的密文，在这里假设密文是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BIGCID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38</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Enigma</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的加密</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2.3.2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3" y="1665966"/>
            <a:ext cx="14818191" cy="5919569"/>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）重新设置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。发送者根据通信密码重新设置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。通信密码中的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个字母实际上代表了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个转子的初始位置，每个转子的上面都印有字母，可以根据字母来设置转子的初始位置。通信密码</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psw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就表示需要将转子</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分别转到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所对应的位置。</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）加密消息。发送者对消息进行加密。发送者将消息（明文）逐字从键盘输入，然后从灯泡中读取所对应的字母并记录下来。这里输入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night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这</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个字母，并记录所对应的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个字母（如</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LZCJM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）拼接。发送者将通信密码的密文与加密后的消息进行拼接，即</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BIGCIDLZCJM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，并将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BIGCIDLZCJM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作为电文通过无线电发送出去。</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39</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Enigma</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的加密</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2.3.2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3" y="1665966"/>
            <a:ext cx="14818191" cy="724916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中出现了“每日密码”和“通信密码”两种不同的密码。“每日密码”不是用来加密消息的，而是用来加密通信密码的。也就是说，“每日密码”是一种用来加密密钥的密钥。之所以要采用两重加密，即用通信密码来加密消息，用“每日密码”来加密通信密码，是因为用同一个密钥所加密的密文越多，破译的线索也会越多，被破译的危险性也会相应增加。</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在通信密码的加密中，需要将通信密码</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psw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连续输入两次，即</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pswpsw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。这是因为在使用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时代，无线电的质量很差，可能会发生通信错误，如果通信密码没有被正确传送，接收者也就无法解密通信内容。而通过连续输入两次通信密码，接收者就可以对通信密码进行校验，也就是检查解密后得到的通信密码是否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个字母重复两次这种形式。</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40</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Enigma</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的加密</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2.3.2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3" y="1665966"/>
            <a:ext cx="14818191" cy="60119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下面介绍</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是如何解密的，</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解密的原理如图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pic>
        <p:nvPicPr>
          <p:cNvPr id="5" name="图片 4"/>
          <p:cNvPicPr>
            <a:picLocks noChangeAspect="1"/>
          </p:cNvPicPr>
          <p:nvPr/>
        </p:nvPicPr>
        <p:blipFill>
          <a:blip r:embed="rId2"/>
          <a:stretch>
            <a:fillRect/>
          </a:stretch>
        </p:blipFill>
        <p:spPr>
          <a:xfrm>
            <a:off x="4187533" y="3009900"/>
            <a:ext cx="10138067" cy="4802242"/>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lang="en-US" altLang="zh-CN" smtClean="0"/>
              <a:t>41</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Enigma</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的解密</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2.3.3</a:t>
            </a:r>
          </a:p>
        </p:txBody>
      </p:sp>
      <p:pic>
        <p:nvPicPr>
          <p:cNvPr id="1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562394"/>
            <a:ext cx="14818191" cy="8578759"/>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解密的具体步骤如下。</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）分解。接收者将接收的电文分解成两部分，即开头的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BIGCID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和剩下的字母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LZCJM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。接收者查阅密码本中的“每日密码”，并按照该密码设置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，这一步和发送者进行的操作是相同的。</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）解密通信密码。接收者将加密后的通信密码</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BIGCID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进行解密，接收者在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的键盘上输入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BIGCID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这</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个字母，然后将亮起的灯泡对应的字母</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pswpsw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记下来。因为</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pswpsw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psw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重复两次的形式，所以接收者可以判断在通信过程中没有发生错误。</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）重新设置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。接收者根据通信密码</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psw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重新设置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）解密消息。接收者将电文的剩余部分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LZCJM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逐一用键盘输入，然后从灯泡读取结果并记下来，这样接收者就得到了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night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这</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个字母，也就完成了对发送者发送的消息进行解密的过程。</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42</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Enigma</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的解密</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2.3.3</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2</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.4</a:t>
            </a: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古典密码的分类</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t>43</a:t>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326038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古典密码的分类大致有两种情况，根据使用的密钥数量是单一密钥还是多个密钥可以将古典密码分为单表古典密码和多表古典密码。根据明文空间与密文空间是否一致可以将古典密码分为置换密码和代换密码。这两种分类方法本身并不矛盾，古典密码的分类如图</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所示，本章按照第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种分类方式介绍几种典型的置换密码和代换密码。</a:t>
            </a:r>
          </a:p>
        </p:txBody>
      </p:sp>
      <p:pic>
        <p:nvPicPr>
          <p:cNvPr id="5" name="图片 4"/>
          <p:cNvPicPr>
            <a:picLocks noChangeAspect="1"/>
          </p:cNvPicPr>
          <p:nvPr/>
        </p:nvPicPr>
        <p:blipFill>
          <a:blip r:embed="rId2"/>
          <a:stretch>
            <a:fillRect/>
          </a:stretch>
        </p:blipFill>
        <p:spPr>
          <a:xfrm>
            <a:off x="2514600" y="5368573"/>
            <a:ext cx="12730342" cy="3853686"/>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lang="en-US" altLang="zh-CN" smtClean="0"/>
              <a:t>44</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古典密码的分类</a:t>
            </a:r>
          </a:p>
        </p:txBody>
      </p:sp>
      <p:sp>
        <p:nvSpPr>
          <p:cNvPr id="12"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.4</a:t>
            </a:r>
          </a:p>
        </p:txBody>
      </p:sp>
      <p:pic>
        <p:nvPicPr>
          <p:cNvPr id="1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2</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.5</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古典密码的统计分类</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t>45</a:t>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2171994"/>
            <a:ext cx="14818191" cy="458997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单表古典密码体制的密文字母实际上是明文字母的一个重新排列，因此明文字母的统计特性在密文中能够反映出来。当截获的密文足够多时，可以通过统计密文字母的出现频率来确定明文字母和密文字母之间的对应关系。</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2.10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给出了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个英文字母的出现频率。当然，由于统计的明文的长度不同，以及明文反映的内容不同，不同文献给出的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个英文字母出现的频率可能略有差别。</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46</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200400" y="2447615"/>
            <a:ext cx="11475357" cy="5257800"/>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altLang="zh-CN" smtClean="0"/>
              <a:t>47</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4595553"/>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个英文字母按出现频率的大小可以分为以下</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类。</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出现频率为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0.127</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o</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h</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出现频率为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0.060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0.090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出现频率为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0.040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u</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g</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出现频率为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0.015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0.028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v</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j</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q</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出现频率小于等于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0.010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t>48</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193078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在密码分析中，除了单字母的统计特性，知道双字母和三字母的统计特性也是非常有用的。</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出现频率最高的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个双字母（按频率从大到小排列）为</a:t>
            </a:r>
          </a:p>
        </p:txBody>
      </p:sp>
      <p:pic>
        <p:nvPicPr>
          <p:cNvPr id="5" name="图片 4"/>
          <p:cNvPicPr>
            <a:picLocks noChangeAspect="1"/>
          </p:cNvPicPr>
          <p:nvPr/>
        </p:nvPicPr>
        <p:blipFill>
          <a:blip r:embed="rId2"/>
          <a:stretch>
            <a:fillRect/>
          </a:stretch>
        </p:blipFill>
        <p:spPr>
          <a:xfrm>
            <a:off x="1734904" y="4075019"/>
            <a:ext cx="16078200" cy="1567190"/>
          </a:xfrm>
          <a:prstGeom prst="rect">
            <a:avLst/>
          </a:prstGeom>
        </p:spPr>
      </p:pic>
      <p:sp>
        <p:nvSpPr>
          <p:cNvPr id="7" name="TextBox 29"/>
          <p:cNvSpPr txBox="1"/>
          <p:nvPr/>
        </p:nvSpPr>
        <p:spPr>
          <a:xfrm>
            <a:off x="1734903" y="6097049"/>
            <a:ext cx="14818191" cy="60119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出现频率最高的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个三字母（按频率从大到小排列）为</a:t>
            </a:r>
          </a:p>
        </p:txBody>
      </p:sp>
      <p:pic>
        <p:nvPicPr>
          <p:cNvPr id="8" name="图片 7"/>
          <p:cNvPicPr>
            <a:picLocks noChangeAspect="1"/>
          </p:cNvPicPr>
          <p:nvPr/>
        </p:nvPicPr>
        <p:blipFill>
          <a:blip r:embed="rId3"/>
          <a:stretch>
            <a:fillRect/>
          </a:stretch>
        </p:blipFill>
        <p:spPr>
          <a:xfrm>
            <a:off x="1506304" y="6990496"/>
            <a:ext cx="16306800" cy="1181653"/>
          </a:xfrm>
          <a:prstGeom prst="rect">
            <a:avLst/>
          </a:prstGeom>
        </p:spPr>
      </p:pic>
      <p:sp>
        <p:nvSpPr>
          <p:cNvPr id="9" name="灯片编号占位符 8"/>
          <p:cNvSpPr>
            <a:spLocks noGrp="1"/>
          </p:cNvSpPr>
          <p:nvPr>
            <p:ph type="sldNum" sz="quarter" idx="12"/>
          </p:nvPr>
        </p:nvSpPr>
        <p:spPr/>
        <p:txBody>
          <a:bodyPr/>
          <a:lstStyle/>
          <a:p>
            <a:fld id="{B6F15528-21DE-4FAA-801E-634DDDAF4B2B}" type="slidenum">
              <a:rPr lang="en-US" altLang="zh-CN" smtClean="0"/>
              <a:t>49</a:t>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5"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8" name="图片 17"/>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2209800" y="573860"/>
            <a:ext cx="9458717" cy="660694"/>
          </a:xfrm>
          <a:prstGeom prst="rect">
            <a:avLst/>
          </a:prstGeom>
        </p:spPr>
        <p:txBody>
          <a:bodyPr lIns="0" tIns="0" rIns="0" bIns="0" rtlCol="0" anchor="t">
            <a:spAutoFit/>
          </a:bodyPr>
          <a:lstStyle/>
          <a:p>
            <a:pPr algn="l">
              <a:lnSpc>
                <a:spcPts val="5600"/>
              </a:lnSpc>
            </a:pPr>
            <a:r>
              <a:rPr lang="zh-CN" altLang="en-US" sz="4000" dirty="0">
                <a:solidFill>
                  <a:srgbClr val="004AAD"/>
                </a:solidFill>
                <a:latin typeface="微软雅黑" panose="020B0503020204020204" pitchFamily="34" charset="-122"/>
                <a:ea typeface="微软雅黑" panose="020B0503020204020204" pitchFamily="34" charset="-122"/>
                <a:cs typeface="字由文艺黑" panose="00020600040101010101" charset="-122"/>
                <a:sym typeface="字由文艺黑" panose="00020600040101010101" charset="-122"/>
              </a:rPr>
              <a:t>单表古典密码的统计分析</a:t>
            </a:r>
          </a:p>
        </p:txBody>
      </p:sp>
      <p:sp>
        <p:nvSpPr>
          <p:cNvPr id="31" name="TextBox 31"/>
          <p:cNvSpPr txBox="1"/>
          <p:nvPr/>
        </p:nvSpPr>
        <p:spPr>
          <a:xfrm>
            <a:off x="503947" y="505624"/>
            <a:ext cx="1477253" cy="778098"/>
          </a:xfrm>
          <a:prstGeom prst="rect">
            <a:avLst/>
          </a:prstGeom>
        </p:spPr>
        <p:txBody>
          <a:bodyPr wrap="square" lIns="0" tIns="0" rIns="0" bIns="0" rtlCol="0" anchor="t">
            <a:spAutoFit/>
          </a:bodyPr>
          <a:lstStyle/>
          <a:p>
            <a:pPr algn="ctr">
              <a:lnSpc>
                <a:spcPts val="6575"/>
              </a:lnSpc>
            </a:pPr>
            <a:r>
              <a:rPr lang="en-US" sz="4695" dirty="0">
                <a:solidFill>
                  <a:srgbClr val="004AAD"/>
                </a:solidFill>
                <a:latin typeface="微软雅黑" panose="020B0503020204020204" pitchFamily="34" charset="-122"/>
                <a:ea typeface="微软雅黑" panose="020B0503020204020204" pitchFamily="34" charset="-122"/>
                <a:cs typeface="字由文艺黑" panose="00020600040101010101" charset="-122"/>
                <a:sym typeface="字由文艺黑" panose="00020600040101010101" charset="-122"/>
              </a:rPr>
              <a:t>2.5.1</a:t>
            </a:r>
          </a:p>
        </p:txBody>
      </p:sp>
      <p:sp>
        <p:nvSpPr>
          <p:cNvPr id="6" name="TextBox 29"/>
          <p:cNvSpPr txBox="1"/>
          <p:nvPr/>
        </p:nvSpPr>
        <p:spPr>
          <a:xfrm>
            <a:off x="1734904" y="1689394"/>
            <a:ext cx="14818191" cy="858433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下面举例说明单表古典密码的统计分析方法。</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2.7</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设某一段明文经单表古典密码加密后的密文为</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 I F Q F M Z R W Q F Y V E C F M D Z P C V M R Z W N M D Z V E J B T X C D D U M J</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 D I F E F M D Z C D M Q Z K C E Y F C J M Y R N C W J C S Z R E X C H Z U N M X Z</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 Z U C D R J X Y Y S M R T M E Y I F Z W D Y V Z V Y F Z U M R Z C R W N Z D Z J J</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X Z W G C H S M R N M D H N C M F Q C H Z J M X J Z W I E J Y U C F W D J N Z D I R</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设加密变换为</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E</a:t>
            </a:r>
            <a:r>
              <a:rPr lang="en-US" altLang="zh-CN" sz="3600" i="1"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，解密变换为</a:t>
            </a:r>
            <a:r>
              <a:rPr lang="en-US" altLang="zh-CN" sz="3600" i="1" dirty="0">
                <a:solidFill>
                  <a:srgbClr val="000000"/>
                </a:solidFill>
                <a:latin typeface="Times New Roman" panose="02020603050405020304" pitchFamily="18" charset="0"/>
                <a:cs typeface="字由点字典黑 2"/>
                <a:sym typeface="字由点字典黑 2"/>
              </a:rPr>
              <a:t>D</a:t>
            </a:r>
            <a:r>
              <a:rPr lang="en-US" altLang="zh-CN" sz="3600" i="1" baseline="-25000" dirty="0">
                <a:solidFill>
                  <a:srgbClr val="000000"/>
                </a:solidFill>
                <a:latin typeface="Times New Roman" panose="02020603050405020304" pitchFamily="18" charset="0"/>
                <a:cs typeface="字由点字典黑 2"/>
                <a:sym typeface="字由点字典黑 2"/>
              </a:rPr>
              <a:t>k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。密文中共有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168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个字母，各个密文字母的出现次数和出现频率如表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2.11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t>50</a:t>
            </a:fld>
            <a:endParaRPr lang="en-US" sz="1400" baseline="0">
              <a:solidFill>
                <a:srgbClr val="FFC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922213" y="2177979"/>
            <a:ext cx="14443574" cy="6622143"/>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altLang="zh-CN" smtClean="0"/>
              <a:t>51</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2601161"/>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密文字母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的出现次数明显比其他密文字母的出现次数多，出现频率约为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0.12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。因此，可以猜测                。密文中包含字母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的双字母的出现次数如表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2.12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7" name="对象 6"/>
          <p:cNvGraphicFramePr>
            <a:graphicFrameLocks noChangeAspect="1"/>
          </p:cNvGraphicFramePr>
          <p:nvPr/>
        </p:nvGraphicFramePr>
        <p:xfrm>
          <a:off x="7125171" y="2236761"/>
          <a:ext cx="2016769" cy="760421"/>
        </p:xfrm>
        <a:graphic>
          <a:graphicData uri="http://schemas.openxmlformats.org/presentationml/2006/ole">
            <mc:AlternateContent xmlns:mc="http://schemas.openxmlformats.org/markup-compatibility/2006">
              <mc:Choice xmlns:v="urn:schemas-microsoft-com:vml" Requires="v">
                <p:oleObj name="Equation" r:id="rId2" imgW="582295" imgH="220980" progId="Equation.DSMT4">
                  <p:embed/>
                </p:oleObj>
              </mc:Choice>
              <mc:Fallback>
                <p:oleObj name="Equation" r:id="rId2" imgW="582295" imgH="220980" progId="Equation.DSMT4">
                  <p:embed/>
                  <p:pic>
                    <p:nvPicPr>
                      <p:cNvPr id="0" name="图片 4"/>
                      <p:cNvPicPr/>
                      <p:nvPr/>
                    </p:nvPicPr>
                    <p:blipFill>
                      <a:blip r:embed="rId3"/>
                      <a:stretch>
                        <a:fillRect/>
                      </a:stretch>
                    </p:blipFill>
                    <p:spPr>
                      <a:xfrm>
                        <a:off x="7125171" y="2236761"/>
                        <a:ext cx="2016769" cy="760421"/>
                      </a:xfrm>
                      <a:prstGeom prst="rect">
                        <a:avLst/>
                      </a:prstGeom>
                    </p:spPr>
                  </p:pic>
                </p:oleObj>
              </mc:Fallback>
            </mc:AlternateContent>
          </a:graphicData>
        </a:graphic>
      </p:graphicFrame>
      <p:pic>
        <p:nvPicPr>
          <p:cNvPr id="8" name="图片 7"/>
          <p:cNvPicPr>
            <a:picLocks noChangeAspect="1"/>
          </p:cNvPicPr>
          <p:nvPr/>
        </p:nvPicPr>
        <p:blipFill>
          <a:blip r:embed="rId4"/>
          <a:stretch>
            <a:fillRect/>
          </a:stretch>
        </p:blipFill>
        <p:spPr>
          <a:xfrm>
            <a:off x="1720488" y="4290555"/>
            <a:ext cx="15177664" cy="4271010"/>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52</a:t>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4" name="图片 2"/>
          <p:cNvPicPr>
            <a:picLocks noChangeAspect="1"/>
          </p:cNvPicPr>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6"/>
            <a:stretch>
              <a:fillRect/>
            </a:stretch>
          </p:blipFill>
          <p:spPr>
            <a:xfrm>
              <a:off x="13944600" y="877286"/>
              <a:ext cx="2771429" cy="47619"/>
            </a:xfrm>
            <a:prstGeom prst="rect">
              <a:avLst/>
            </a:prstGeom>
          </p:spPr>
        </p:pic>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126598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除</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外，出现至少</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次的密文字母为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J</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，它们的出现频率为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0.060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0.095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。因此，可以猜测</a:t>
            </a:r>
          </a:p>
        </p:txBody>
      </p:sp>
      <p:graphicFrame>
        <p:nvGraphicFramePr>
          <p:cNvPr id="5" name="对象 4"/>
          <p:cNvGraphicFramePr>
            <a:graphicFrameLocks noChangeAspect="1"/>
          </p:cNvGraphicFramePr>
          <p:nvPr/>
        </p:nvGraphicFramePr>
        <p:xfrm>
          <a:off x="1600200" y="3420019"/>
          <a:ext cx="14818192" cy="923827"/>
        </p:xfrm>
        <a:graphic>
          <a:graphicData uri="http://schemas.openxmlformats.org/presentationml/2006/ole">
            <mc:AlternateContent xmlns:mc="http://schemas.openxmlformats.org/markup-compatibility/2006">
              <mc:Choice xmlns:v="urn:schemas-microsoft-com:vml" Requires="v">
                <p:oleObj name="Equation" r:id="rId2" imgW="3820795" imgH="239395" progId="Equation.DSMT4">
                  <p:embed/>
                </p:oleObj>
              </mc:Choice>
              <mc:Fallback>
                <p:oleObj name="Equation" r:id="rId2" imgW="3820795" imgH="239395" progId="Equation.DSMT4">
                  <p:embed/>
                  <p:pic>
                    <p:nvPicPr>
                      <p:cNvPr id="0" name="图片 6"/>
                      <p:cNvPicPr/>
                      <p:nvPr/>
                    </p:nvPicPr>
                    <p:blipFill>
                      <a:blip r:embed="rId3"/>
                      <a:stretch>
                        <a:fillRect/>
                      </a:stretch>
                    </p:blipFill>
                    <p:spPr>
                      <a:xfrm>
                        <a:off x="1600200" y="3420019"/>
                        <a:ext cx="14818192" cy="923827"/>
                      </a:xfrm>
                      <a:prstGeom prst="rect">
                        <a:avLst/>
                      </a:prstGeom>
                    </p:spPr>
                  </p:pic>
                </p:oleObj>
              </mc:Fallback>
            </mc:AlternateContent>
          </a:graphicData>
        </a:graphic>
      </p:graphicFrame>
      <p:sp>
        <p:nvSpPr>
          <p:cNvPr id="9" name="TextBox 29"/>
          <p:cNvSpPr txBox="1"/>
          <p:nvPr/>
        </p:nvSpPr>
        <p:spPr>
          <a:xfrm>
            <a:off x="1732844" y="4789859"/>
            <a:ext cx="14818191" cy="3925177"/>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现在考虑密文中形如（</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）的双字母的出现情况。首先考虑在密文中没有同时出现形如（</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）的双字母。</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次，</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WZ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没有出现。再根据双字母统计特性，</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可能是</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ea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或</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en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，因此                    。</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W</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的出现频率为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0.048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的出现频率为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0.043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，较为接近，所以可以猜测             。注意到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次，</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出现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次，可以猜测                     。</a:t>
            </a:r>
          </a:p>
        </p:txBody>
      </p:sp>
      <p:graphicFrame>
        <p:nvGraphicFramePr>
          <p:cNvPr id="10" name="对象 9"/>
          <p:cNvGraphicFramePr>
            <a:graphicFrameLocks noChangeAspect="1"/>
          </p:cNvGraphicFramePr>
          <p:nvPr/>
        </p:nvGraphicFramePr>
        <p:xfrm>
          <a:off x="5257800" y="6842467"/>
          <a:ext cx="2336191" cy="542751"/>
        </p:xfrm>
        <a:graphic>
          <a:graphicData uri="http://schemas.openxmlformats.org/presentationml/2006/ole">
            <mc:AlternateContent xmlns:mc="http://schemas.openxmlformats.org/markup-compatibility/2006">
              <mc:Choice xmlns:v="urn:schemas-microsoft-com:vml" Requires="v">
                <p:oleObj name="Equation" r:id="rId4" imgW="944880" imgH="220980" progId="Equation.DSMT4">
                  <p:embed/>
                </p:oleObj>
              </mc:Choice>
              <mc:Fallback>
                <p:oleObj name="Equation" r:id="rId4" imgW="944880" imgH="220980" progId="Equation.DSMT4">
                  <p:embed/>
                  <p:pic>
                    <p:nvPicPr>
                      <p:cNvPr id="0" name="图片 7"/>
                      <p:cNvPicPr/>
                      <p:nvPr/>
                    </p:nvPicPr>
                    <p:blipFill>
                      <a:blip r:embed="rId5"/>
                      <a:stretch>
                        <a:fillRect/>
                      </a:stretch>
                    </p:blipFill>
                    <p:spPr>
                      <a:xfrm>
                        <a:off x="5257800" y="6842467"/>
                        <a:ext cx="2336191" cy="542751"/>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7517516" y="7520404"/>
          <a:ext cx="1624423" cy="557638"/>
        </p:xfrm>
        <a:graphic>
          <a:graphicData uri="http://schemas.openxmlformats.org/presentationml/2006/ole">
            <mc:AlternateContent xmlns:mc="http://schemas.openxmlformats.org/markup-compatibility/2006">
              <mc:Choice xmlns:v="urn:schemas-microsoft-com:vml" Requires="v">
                <p:oleObj name="Equation" r:id="rId6" imgW="640080" imgH="220980" progId="Equation.DSMT4">
                  <p:embed/>
                </p:oleObj>
              </mc:Choice>
              <mc:Fallback>
                <p:oleObj name="Equation" r:id="rId6" imgW="640080" imgH="220980" progId="Equation.DSMT4">
                  <p:embed/>
                  <p:pic>
                    <p:nvPicPr>
                      <p:cNvPr id="0" name="图片 11"/>
                      <p:cNvPicPr/>
                      <p:nvPr/>
                    </p:nvPicPr>
                    <p:blipFill>
                      <a:blip r:embed="rId7"/>
                      <a:stretch>
                        <a:fillRect/>
                      </a:stretch>
                    </p:blipFill>
                    <p:spPr>
                      <a:xfrm>
                        <a:off x="7517516" y="7520404"/>
                        <a:ext cx="1624423" cy="557638"/>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3581400" y="8201514"/>
          <a:ext cx="2221912" cy="581115"/>
        </p:xfrm>
        <a:graphic>
          <a:graphicData uri="http://schemas.openxmlformats.org/presentationml/2006/ole">
            <mc:AlternateContent xmlns:mc="http://schemas.openxmlformats.org/markup-compatibility/2006">
              <mc:Choice xmlns:v="urn:schemas-microsoft-com:vml" Requires="v">
                <p:oleObj name="Equation" r:id="rId8" imgW="19812000" imgH="5181600" progId="Equation.DSMT4">
                  <p:embed/>
                </p:oleObj>
              </mc:Choice>
              <mc:Fallback>
                <p:oleObj name="Equation" r:id="rId8" imgW="19812000" imgH="5181600" progId="Equation.DSMT4">
                  <p:embed/>
                  <p:pic>
                    <p:nvPicPr>
                      <p:cNvPr id="0" name="图片 13"/>
                      <p:cNvPicPr/>
                      <p:nvPr/>
                    </p:nvPicPr>
                    <p:blipFill>
                      <a:blip r:embed="rId9"/>
                      <a:stretch>
                        <a:fillRect/>
                      </a:stretch>
                    </p:blipFill>
                    <p:spPr>
                      <a:xfrm>
                        <a:off x="3581400" y="8201514"/>
                        <a:ext cx="2221912" cy="581115"/>
                      </a:xfrm>
                      <a:prstGeom prst="rect">
                        <a:avLst/>
                      </a:prstGeom>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t>53</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2"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5"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6"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7" name="图片 2"/>
          <p:cNvPicPr>
            <a:picLocks noChangeAspect="1"/>
          </p:cNvPicPr>
          <p:nvPr/>
        </p:nvPicPr>
        <p:blipFill>
          <a:blip r:embed="rId10">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8" name="组合 17"/>
          <p:cNvGrpSpPr/>
          <p:nvPr/>
        </p:nvGrpSpPr>
        <p:grpSpPr>
          <a:xfrm>
            <a:off x="13639786" y="733421"/>
            <a:ext cx="3700052" cy="416951"/>
            <a:chOff x="13811849" y="507954"/>
            <a:chExt cx="3700052" cy="416951"/>
          </a:xfrm>
        </p:grpSpPr>
        <p:sp>
          <p:nvSpPr>
            <p:cNvPr id="19" name="文本框 18"/>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0" name="图片 19"/>
            <p:cNvPicPr>
              <a:picLocks noChangeAspect="1"/>
            </p:cNvPicPr>
            <p:nvPr/>
          </p:nvPicPr>
          <p:blipFill>
            <a:blip r:embed="rId11"/>
            <a:stretch>
              <a:fillRect/>
            </a:stretch>
          </p:blipFill>
          <p:spPr>
            <a:xfrm>
              <a:off x="13944600" y="877286"/>
              <a:ext cx="2771429" cy="47619"/>
            </a:xfrm>
            <a:prstGeom prst="rect">
              <a:avLst/>
            </a:prstGeom>
          </p:spPr>
        </p:pic>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rcRect t="44803"/>
          <a:stretch>
            <a:fillRect/>
          </a:stretch>
        </p:blipFill>
        <p:spPr>
          <a:xfrm>
            <a:off x="1012825" y="5371936"/>
            <a:ext cx="16262350" cy="4065434"/>
          </a:xfrm>
          <a:prstGeom prst="rect">
            <a:avLst/>
          </a:prstGeom>
        </p:spPr>
      </p:pic>
      <p:sp>
        <p:nvSpPr>
          <p:cNvPr id="6" name="文本框 5"/>
          <p:cNvSpPr txBox="1"/>
          <p:nvPr/>
        </p:nvSpPr>
        <p:spPr>
          <a:xfrm>
            <a:off x="970280" y="1624330"/>
            <a:ext cx="15031720" cy="368300"/>
          </a:xfrm>
          <a:prstGeom prst="rect">
            <a:avLst/>
          </a:prstGeom>
          <a:noFill/>
        </p:spPr>
        <p:txBody>
          <a:bodyPr wrap="square" rtlCol="0">
            <a:spAutoFit/>
          </a:bodyPr>
          <a:lstStyle/>
          <a:p>
            <a:endParaRPr lang="zh-CN" altLang="en-US"/>
          </a:p>
        </p:txBody>
      </p:sp>
      <p:sp>
        <p:nvSpPr>
          <p:cNvPr id="7" name="文本框 6"/>
          <p:cNvSpPr txBox="1"/>
          <p:nvPr/>
        </p:nvSpPr>
        <p:spPr>
          <a:xfrm>
            <a:off x="1245870" y="2171700"/>
            <a:ext cx="15899130" cy="2861310"/>
          </a:xfrm>
          <a:prstGeom prst="rect">
            <a:avLst/>
          </a:prstGeom>
          <a:noFill/>
        </p:spPr>
        <p:txBody>
          <a:bodyPr wrap="square" rtlCol="0">
            <a:spAutoFit/>
          </a:bodyPr>
          <a:lstStyle/>
          <a:p>
            <a:pPr indent="457200" algn="just" fontAlgn="auto"/>
            <a:r>
              <a:rPr lang="zh-CN" altLang="en-US" sz="3600">
                <a:latin typeface="Times New Roman" panose="02020603050405020304" pitchFamily="18" charset="0"/>
                <a:cs typeface="Times New Roman" panose="02020603050405020304" pitchFamily="18" charset="0"/>
              </a:rPr>
              <a:t>在</a:t>
            </a:r>
            <a:r>
              <a:rPr lang="en-US" altLang="zh-CN" sz="3600">
                <a:latin typeface="Times New Roman" panose="02020603050405020304" pitchFamily="18" charset="0"/>
                <a:cs typeface="Times New Roman" panose="02020603050405020304" pitchFamily="18" charset="0"/>
              </a:rPr>
              <a:t>D</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(Z)=e</a:t>
            </a:r>
            <a:r>
              <a:rPr lang="zh-CN" altLang="en-US" sz="3600">
                <a:latin typeface="Times New Roman" panose="02020603050405020304" pitchFamily="18" charset="0"/>
                <a:cs typeface="Times New Roman" panose="02020603050405020304" pitchFamily="18" charset="0"/>
              </a:rPr>
              <a:t>和</a:t>
            </a:r>
            <a:r>
              <a:rPr lang="en-US" altLang="zh-CN" sz="3600">
                <a:latin typeface="Times New Roman" panose="02020603050405020304" pitchFamily="18" charset="0"/>
                <a:cs typeface="Times New Roman" panose="02020603050405020304" pitchFamily="18" charset="0"/>
              </a:rPr>
              <a:t>D</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(W)=d</a:t>
            </a:r>
            <a:r>
              <a:rPr lang="zh-CN" altLang="en-US" sz="3600">
                <a:latin typeface="Times New Roman" panose="02020603050405020304" pitchFamily="18" charset="0"/>
                <a:cs typeface="Times New Roman" panose="02020603050405020304" pitchFamily="18" charset="0"/>
              </a:rPr>
              <a:t>的假设前提下,继续观察密文。可以注意到在密文的开始部分出现了</a:t>
            </a:r>
            <a:r>
              <a:rPr lang="en-US" altLang="zh-CN" sz="3600">
                <a:latin typeface="Times New Roman" panose="02020603050405020304" pitchFamily="18" charset="0"/>
                <a:cs typeface="Times New Roman" panose="02020603050405020304" pitchFamily="18" charset="0"/>
              </a:rPr>
              <a:t>ZRW</a:t>
            </a:r>
            <a:r>
              <a:rPr lang="zh-CN" altLang="en-US" sz="3600">
                <a:latin typeface="Times New Roman" panose="02020603050405020304" pitchFamily="18" charset="0"/>
                <a:cs typeface="Times New Roman" panose="02020603050405020304" pitchFamily="18" charset="0"/>
              </a:rPr>
              <a:t>和</a:t>
            </a:r>
            <a:r>
              <a:rPr lang="en-US" altLang="zh-CN" sz="3600">
                <a:latin typeface="Times New Roman" panose="02020603050405020304" pitchFamily="18" charset="0"/>
                <a:cs typeface="Times New Roman" panose="02020603050405020304" pitchFamily="18" charset="0"/>
              </a:rPr>
              <a:t>RZW,</a:t>
            </a:r>
            <a:r>
              <a:rPr lang="zh-CN" altLang="en-US" sz="3600">
                <a:latin typeface="Times New Roman" panose="02020603050405020304" pitchFamily="18" charset="0"/>
                <a:cs typeface="Times New Roman" panose="02020603050405020304" pitchFamily="18" charset="0"/>
              </a:rPr>
              <a:t>并且在后面还出现了</a:t>
            </a:r>
            <a:r>
              <a:rPr lang="en-US" altLang="zh-CN" sz="3600">
                <a:latin typeface="Times New Roman" panose="02020603050405020304" pitchFamily="18" charset="0"/>
                <a:cs typeface="Times New Roman" panose="02020603050405020304" pitchFamily="18" charset="0"/>
              </a:rPr>
              <a:t>RW。</a:t>
            </a:r>
            <a:r>
              <a:rPr lang="zh-CN" altLang="en-US" sz="3600">
                <a:latin typeface="Times New Roman" panose="02020603050405020304" pitchFamily="18" charset="0"/>
                <a:cs typeface="Times New Roman" panose="02020603050405020304" pitchFamily="18" charset="0"/>
              </a:rPr>
              <a:t>因为</a:t>
            </a:r>
            <a:r>
              <a:rPr lang="en-US" altLang="zh-CN" sz="3600">
                <a:latin typeface="Times New Roman" panose="02020603050405020304" pitchFamily="18" charset="0"/>
                <a:cs typeface="Times New Roman" panose="02020603050405020304" pitchFamily="18" charset="0"/>
              </a:rPr>
              <a:t>R</a:t>
            </a:r>
            <a:r>
              <a:rPr lang="zh-CN" altLang="en-US" sz="3600">
                <a:latin typeface="Times New Roman" panose="02020603050405020304" pitchFamily="18" charset="0"/>
                <a:cs typeface="Times New Roman" panose="02020603050405020304" pitchFamily="18" charset="0"/>
              </a:rPr>
              <a:t>在密文中经常出现,并且</a:t>
            </a:r>
            <a:r>
              <a:rPr lang="en-US" altLang="zh-CN" sz="3600">
                <a:latin typeface="Times New Roman" panose="02020603050405020304" pitchFamily="18" charset="0"/>
                <a:cs typeface="Times New Roman" panose="02020603050405020304" pitchFamily="18" charset="0"/>
              </a:rPr>
              <a:t>nd</a:t>
            </a:r>
            <a:r>
              <a:rPr lang="zh-CN" altLang="en-US" sz="3600">
                <a:latin typeface="Times New Roman" panose="02020603050405020304" pitchFamily="18" charset="0"/>
                <a:cs typeface="Times New Roman" panose="02020603050405020304" pitchFamily="18" charset="0"/>
              </a:rPr>
              <a:t>为明文中时常出现的双字母,所以很有可能</a:t>
            </a:r>
          </a:p>
          <a:p>
            <a:pPr indent="457200" algn="ctr" fontAlgn="auto"/>
            <a:r>
              <a:rPr lang="en-US" altLang="zh-CN" sz="3600">
                <a:latin typeface="Times New Roman" panose="02020603050405020304" pitchFamily="18" charset="0"/>
                <a:cs typeface="Times New Roman" panose="02020603050405020304" pitchFamily="18" charset="0"/>
              </a:rPr>
              <a:t>D</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(R)=n</a:t>
            </a:r>
          </a:p>
          <a:p>
            <a:pPr indent="457200" algn="just" fontAlgn="auto"/>
            <a:r>
              <a:rPr lang="zh-CN" altLang="en-US" sz="3600">
                <a:latin typeface="Times New Roman" panose="02020603050405020304" pitchFamily="18" charset="0"/>
                <a:cs typeface="Times New Roman" panose="02020603050405020304" pitchFamily="18" charset="0"/>
              </a:rPr>
              <a:t>明文与密文的部分对应关系如下。</a:t>
            </a:r>
          </a:p>
        </p:txBody>
      </p:sp>
      <p:sp>
        <p:nvSpPr>
          <p:cNvPr id="8" name="灯片编号占位符 7"/>
          <p:cNvSpPr>
            <a:spLocks noGrp="1"/>
          </p:cNvSpPr>
          <p:nvPr>
            <p:ph type="sldNum" sz="quarter" idx="12"/>
          </p:nvPr>
        </p:nvSpPr>
        <p:spPr/>
        <p:txBody>
          <a:bodyPr/>
          <a:lstStyle/>
          <a:p>
            <a:fld id="{B6F15528-21DE-4FAA-801E-634DDDAF4B2B}" type="slidenum">
              <a:rPr lang="en-US" altLang="zh-CN" smtClean="0"/>
              <a:t>54</a:t>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4"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4" y="1689394"/>
            <a:ext cx="14818191" cy="1930785"/>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NZ</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是密文中时常出现的双字母，而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不出现，所以可以试着猜测              。如果这个猜测正确，那么由明文片段</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ne-</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ndhe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可以猜测            于是，可得</a:t>
            </a:r>
          </a:p>
        </p:txBody>
      </p:sp>
      <p:graphicFrame>
        <p:nvGraphicFramePr>
          <p:cNvPr id="8" name="对象 7"/>
          <p:cNvGraphicFramePr>
            <a:graphicFrameLocks noChangeAspect="1"/>
          </p:cNvGraphicFramePr>
          <p:nvPr/>
        </p:nvGraphicFramePr>
        <p:xfrm>
          <a:off x="2236573" y="2353197"/>
          <a:ext cx="1725827" cy="489414"/>
        </p:xfrm>
        <a:graphic>
          <a:graphicData uri="http://schemas.openxmlformats.org/presentationml/2006/ole">
            <mc:AlternateContent xmlns:mc="http://schemas.openxmlformats.org/markup-compatibility/2006">
              <mc:Choice xmlns:v="urn:schemas-microsoft-com:vml" Requires="v">
                <p:oleObj name="Equation" r:id="rId2" imgW="640080" imgH="182880" progId="Equation.DSMT4">
                  <p:embed/>
                </p:oleObj>
              </mc:Choice>
              <mc:Fallback>
                <p:oleObj name="Equation" r:id="rId2" imgW="640080" imgH="182880" progId="Equation.DSMT4">
                  <p:embed/>
                  <p:pic>
                    <p:nvPicPr>
                      <p:cNvPr id="0" name="图片 4"/>
                      <p:cNvPicPr/>
                      <p:nvPr/>
                    </p:nvPicPr>
                    <p:blipFill>
                      <a:blip r:embed="rId3"/>
                      <a:stretch>
                        <a:fillRect/>
                      </a:stretch>
                    </p:blipFill>
                    <p:spPr>
                      <a:xfrm>
                        <a:off x="2236573" y="2353197"/>
                        <a:ext cx="1725827" cy="489414"/>
                      </a:xfrm>
                      <a:prstGeom prst="rect">
                        <a:avLst/>
                      </a:prstGeom>
                    </p:spPr>
                  </p:pic>
                </p:oleObj>
              </mc:Fallback>
            </mc:AlternateContent>
          </a:graphicData>
        </a:graphic>
      </p:graphicFrame>
      <p:pic>
        <p:nvPicPr>
          <p:cNvPr id="13" name="图片 12"/>
          <p:cNvPicPr>
            <a:picLocks noChangeAspect="1"/>
          </p:cNvPicPr>
          <p:nvPr/>
        </p:nvPicPr>
        <p:blipFill>
          <a:blip r:embed="rId4"/>
          <a:stretch>
            <a:fillRect/>
          </a:stretch>
        </p:blipFill>
        <p:spPr>
          <a:xfrm>
            <a:off x="1632800" y="4082227"/>
            <a:ext cx="15022398" cy="3714629"/>
          </a:xfrm>
          <a:prstGeom prst="rect">
            <a:avLst/>
          </a:prstGeom>
        </p:spPr>
      </p:pic>
      <p:graphicFrame>
        <p:nvGraphicFramePr>
          <p:cNvPr id="14" name="对象 13"/>
          <p:cNvGraphicFramePr>
            <a:graphicFrameLocks noChangeAspect="1"/>
          </p:cNvGraphicFramePr>
          <p:nvPr/>
        </p:nvGraphicFramePr>
        <p:xfrm>
          <a:off x="14782800" y="2446629"/>
          <a:ext cx="1524000" cy="508000"/>
        </p:xfrm>
        <a:graphic>
          <a:graphicData uri="http://schemas.openxmlformats.org/presentationml/2006/ole">
            <mc:AlternateContent xmlns:mc="http://schemas.openxmlformats.org/markup-compatibility/2006">
              <mc:Choice xmlns:v="urn:schemas-microsoft-com:vml" Requires="v">
                <p:oleObj name="Equation" r:id="rId5" imgW="544195" imgH="182880" progId="Equation.DSMT4">
                  <p:embed/>
                </p:oleObj>
              </mc:Choice>
              <mc:Fallback>
                <p:oleObj name="Equation" r:id="rId5" imgW="544195" imgH="182880" progId="Equation.DSMT4">
                  <p:embed/>
                  <p:pic>
                    <p:nvPicPr>
                      <p:cNvPr id="0" name="图片 6"/>
                      <p:cNvPicPr/>
                      <p:nvPr/>
                    </p:nvPicPr>
                    <p:blipFill>
                      <a:blip r:embed="rId6"/>
                      <a:stretch>
                        <a:fillRect/>
                      </a:stretch>
                    </p:blipFill>
                    <p:spPr>
                      <a:xfrm>
                        <a:off x="14782800" y="2446629"/>
                        <a:ext cx="1524000" cy="508000"/>
                      </a:xfrm>
                      <a:prstGeom prst="rect">
                        <a:avLst/>
                      </a:prstGeom>
                    </p:spPr>
                  </p:pic>
                </p:oleObj>
              </mc:Fallback>
            </mc:AlternateContent>
          </a:graphicData>
        </a:graphic>
      </p:graphicFrame>
      <p:sp>
        <p:nvSpPr>
          <p:cNvPr id="5" name="灯片编号占位符 4"/>
          <p:cNvSpPr>
            <a:spLocks noGrp="1"/>
          </p:cNvSpPr>
          <p:nvPr>
            <p:ph type="sldNum" sz="quarter" idx="12"/>
          </p:nvPr>
        </p:nvSpPr>
        <p:spPr/>
        <p:txBody>
          <a:bodyPr/>
          <a:lstStyle/>
          <a:p>
            <a:fld id="{B6F15528-21DE-4FAA-801E-634DDDAF4B2B}" type="slidenum">
              <a:rPr lang="en-US" altLang="zh-CN" smtClean="0"/>
              <a:t>55</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5" name="图片 2"/>
          <p:cNvPicPr>
            <a:picLocks noChangeAspect="1"/>
          </p:cNvPicPr>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8" name="图片 17"/>
            <p:cNvPicPr>
              <a:picLocks noChangeAspect="1"/>
            </p:cNvPicPr>
            <p:nvPr/>
          </p:nvPicPr>
          <p:blipFill>
            <a:blip r:embed="rId8"/>
            <a:stretch>
              <a:fillRect/>
            </a:stretch>
          </p:blipFill>
          <p:spPr>
            <a:xfrm>
              <a:off x="13944600" y="877286"/>
              <a:ext cx="2771429" cy="47619"/>
            </a:xfrm>
            <a:prstGeom prst="rect">
              <a:avLst/>
            </a:prstGeom>
          </p:spPr>
        </p:pic>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689394"/>
            <a:ext cx="14818191" cy="3925177"/>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在密文中，</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个最常出现的字母。对于密文片段</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RNM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，已经猜测它对应明文</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nh</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。由此可知，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h</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可能是某一明文单词的首字母。因此，</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可能代表明文中的一个元音字母。因为                            ，所以可以猜测                        。</a:t>
            </a: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又因为明文双字母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比</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ao</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更常出现，所以由密文双字母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，先猜测                 。于是有</a:t>
            </a:r>
          </a:p>
        </p:txBody>
      </p:sp>
      <p:pic>
        <p:nvPicPr>
          <p:cNvPr id="6" name="图片 5"/>
          <p:cNvPicPr>
            <a:picLocks noChangeAspect="1"/>
          </p:cNvPicPr>
          <p:nvPr/>
        </p:nvPicPr>
        <p:blipFill>
          <a:blip r:embed="rId2"/>
          <a:stretch>
            <a:fillRect/>
          </a:stretch>
        </p:blipFill>
        <p:spPr>
          <a:xfrm>
            <a:off x="9525000" y="3106068"/>
            <a:ext cx="3179027" cy="427032"/>
          </a:xfrm>
          <a:prstGeom prst="rect">
            <a:avLst/>
          </a:prstGeom>
        </p:spPr>
      </p:pic>
      <p:graphicFrame>
        <p:nvGraphicFramePr>
          <p:cNvPr id="7" name="对象 6"/>
          <p:cNvGraphicFramePr>
            <a:graphicFrameLocks noChangeAspect="1"/>
          </p:cNvGraphicFramePr>
          <p:nvPr/>
        </p:nvGraphicFramePr>
        <p:xfrm>
          <a:off x="2209800" y="3681844"/>
          <a:ext cx="2666999" cy="582448"/>
        </p:xfrm>
        <a:graphic>
          <a:graphicData uri="http://schemas.openxmlformats.org/presentationml/2006/ole">
            <mc:AlternateContent xmlns:mc="http://schemas.openxmlformats.org/markup-compatibility/2006">
              <mc:Choice xmlns:v="urn:schemas-microsoft-com:vml" Requires="v">
                <p:oleObj name="Equation" r:id="rId3" imgW="830580" imgH="182880" progId="Equation.DSMT4">
                  <p:embed/>
                </p:oleObj>
              </mc:Choice>
              <mc:Fallback>
                <p:oleObj name="Equation" r:id="rId3" imgW="830580" imgH="182880" progId="Equation.DSMT4">
                  <p:embed/>
                  <p:pic>
                    <p:nvPicPr>
                      <p:cNvPr id="0" name="图片 7"/>
                      <p:cNvPicPr/>
                      <p:nvPr/>
                    </p:nvPicPr>
                    <p:blipFill>
                      <a:blip r:embed="rId4"/>
                      <a:stretch>
                        <a:fillRect/>
                      </a:stretch>
                    </p:blipFill>
                    <p:spPr>
                      <a:xfrm>
                        <a:off x="2209800" y="3681844"/>
                        <a:ext cx="2666999" cy="582448"/>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209800" y="5049587"/>
          <a:ext cx="1952368" cy="553657"/>
        </p:xfrm>
        <a:graphic>
          <a:graphicData uri="http://schemas.openxmlformats.org/presentationml/2006/ole">
            <mc:AlternateContent xmlns:mc="http://schemas.openxmlformats.org/markup-compatibility/2006">
              <mc:Choice xmlns:v="urn:schemas-microsoft-com:vml" Requires="v">
                <p:oleObj name="Equation" r:id="rId5" imgW="640080" imgH="182880" progId="Equation.DSMT4">
                  <p:embed/>
                </p:oleObj>
              </mc:Choice>
              <mc:Fallback>
                <p:oleObj name="Equation" r:id="rId5" imgW="640080" imgH="182880" progId="Equation.DSMT4">
                  <p:embed/>
                  <p:pic>
                    <p:nvPicPr>
                      <p:cNvPr id="0" name="图片 9"/>
                      <p:cNvPicPr/>
                      <p:nvPr/>
                    </p:nvPicPr>
                    <p:blipFill>
                      <a:blip r:embed="rId6"/>
                      <a:stretch>
                        <a:fillRect/>
                      </a:stretch>
                    </p:blipFill>
                    <p:spPr>
                      <a:xfrm>
                        <a:off x="2209800" y="5049587"/>
                        <a:ext cx="1952368" cy="553657"/>
                      </a:xfrm>
                      <a:prstGeom prst="rect">
                        <a:avLst/>
                      </a:prstGeom>
                    </p:spPr>
                  </p:pic>
                </p:oleObj>
              </mc:Fallback>
            </mc:AlternateContent>
          </a:graphicData>
        </a:graphic>
      </p:graphicFrame>
      <p:pic>
        <p:nvPicPr>
          <p:cNvPr id="11" name="图片 10"/>
          <p:cNvPicPr>
            <a:picLocks noChangeAspect="1"/>
          </p:cNvPicPr>
          <p:nvPr/>
        </p:nvPicPr>
        <p:blipFill>
          <a:blip r:embed="rId7"/>
          <a:stretch>
            <a:fillRect/>
          </a:stretch>
        </p:blipFill>
        <p:spPr>
          <a:xfrm>
            <a:off x="1507845" y="5967428"/>
            <a:ext cx="15272310" cy="3665353"/>
          </a:xfrm>
          <a:prstGeom prst="rect">
            <a:avLst/>
          </a:prstGeom>
        </p:spPr>
      </p:pic>
      <p:sp>
        <p:nvSpPr>
          <p:cNvPr id="8" name="灯片编号占位符 7"/>
          <p:cNvSpPr>
            <a:spLocks noGrp="1"/>
          </p:cNvSpPr>
          <p:nvPr>
            <p:ph type="sldNum" sz="quarter" idx="12"/>
          </p:nvPr>
        </p:nvSpPr>
        <p:spPr/>
        <p:txBody>
          <a:bodyPr/>
          <a:lstStyle/>
          <a:p>
            <a:fld id="{B6F15528-21DE-4FAA-801E-634DDDAF4B2B}" type="slidenum">
              <a:rPr lang="en-US" altLang="zh-CN" smtClean="0"/>
              <a:t>56</a:t>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2"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3"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4"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5"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6" name="图片 2"/>
          <p:cNvPicPr>
            <a:picLocks noChangeAspect="1"/>
          </p:cNvPicPr>
          <p:nvPr/>
        </p:nvPicPr>
        <p:blipFill>
          <a:blip r:embed="rId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7" name="组合 16"/>
          <p:cNvGrpSpPr/>
          <p:nvPr/>
        </p:nvGrpSpPr>
        <p:grpSpPr>
          <a:xfrm>
            <a:off x="13639786" y="733421"/>
            <a:ext cx="3700052" cy="416951"/>
            <a:chOff x="13811849" y="507954"/>
            <a:chExt cx="3700052" cy="416951"/>
          </a:xfrm>
        </p:grpSpPr>
        <p:sp>
          <p:nvSpPr>
            <p:cNvPr id="18" name="文本框 17"/>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9" name="图片 18"/>
            <p:cNvPicPr>
              <a:picLocks noChangeAspect="1"/>
            </p:cNvPicPr>
            <p:nvPr/>
          </p:nvPicPr>
          <p:blipFill>
            <a:blip r:embed="rId9"/>
            <a:stretch>
              <a:fillRect/>
            </a:stretch>
          </p:blipFill>
          <p:spPr>
            <a:xfrm>
              <a:off x="13944600" y="877286"/>
              <a:ext cx="2771429" cy="47619"/>
            </a:xfrm>
            <a:prstGeom prst="rect">
              <a:avLst/>
            </a:prstGeom>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689394"/>
            <a:ext cx="14818191" cy="1265988"/>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现在来确定哪个密文字母对应明文字母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o</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o</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是一个常见的明文字母，所以可以猜测</a:t>
            </a:r>
          </a:p>
        </p:txBody>
      </p:sp>
      <p:graphicFrame>
        <p:nvGraphicFramePr>
          <p:cNvPr id="8" name="对象 7"/>
          <p:cNvGraphicFramePr>
            <a:graphicFrameLocks noChangeAspect="1"/>
          </p:cNvGraphicFramePr>
          <p:nvPr/>
        </p:nvGraphicFramePr>
        <p:xfrm>
          <a:off x="5723148" y="2989363"/>
          <a:ext cx="4979449" cy="909707"/>
        </p:xfrm>
        <a:graphic>
          <a:graphicData uri="http://schemas.openxmlformats.org/presentationml/2006/ole">
            <mc:AlternateContent xmlns:mc="http://schemas.openxmlformats.org/markup-compatibility/2006">
              <mc:Choice xmlns:v="urn:schemas-microsoft-com:vml" Requires="v">
                <p:oleObj name="Equation" r:id="rId2" imgW="991870" imgH="182880" progId="Equation.DSMT4">
                  <p:embed/>
                </p:oleObj>
              </mc:Choice>
              <mc:Fallback>
                <p:oleObj name="Equation" r:id="rId2" imgW="991870" imgH="182880" progId="Equation.DSMT4">
                  <p:embed/>
                  <p:pic>
                    <p:nvPicPr>
                      <p:cNvPr id="0" name="图片 5"/>
                      <p:cNvPicPr/>
                      <p:nvPr/>
                    </p:nvPicPr>
                    <p:blipFill>
                      <a:blip r:embed="rId3"/>
                      <a:stretch>
                        <a:fillRect/>
                      </a:stretch>
                    </p:blipFill>
                    <p:spPr>
                      <a:xfrm>
                        <a:off x="5723148" y="2989363"/>
                        <a:ext cx="4979449" cy="909707"/>
                      </a:xfrm>
                      <a:prstGeom prst="rect">
                        <a:avLst/>
                      </a:prstGeom>
                    </p:spPr>
                  </p:pic>
                </p:oleObj>
              </mc:Fallback>
            </mc:AlternateContent>
          </a:graphicData>
        </a:graphic>
      </p:graphicFrame>
      <p:sp>
        <p:nvSpPr>
          <p:cNvPr id="7" name="文本框 6"/>
          <p:cNvSpPr txBox="1"/>
          <p:nvPr/>
        </p:nvSpPr>
        <p:spPr>
          <a:xfrm>
            <a:off x="1295400" y="4457700"/>
            <a:ext cx="16059150" cy="3415030"/>
          </a:xfrm>
          <a:prstGeom prst="rect">
            <a:avLst/>
          </a:prstGeom>
          <a:noFill/>
        </p:spPr>
        <p:txBody>
          <a:bodyPr wrap="square" rtlCol="0">
            <a:spAutoFit/>
          </a:bodyPr>
          <a:lstStyle/>
          <a:p>
            <a:pPr indent="457200" fontAlgn="auto"/>
            <a:r>
              <a:rPr lang="zh-CN" altLang="en-US" sz="3600">
                <a:latin typeface="Times New Roman" panose="02020603050405020304" pitchFamily="18" charset="0"/>
                <a:cs typeface="Times New Roman" panose="02020603050405020304" pitchFamily="18" charset="0"/>
              </a:rPr>
              <a:t>由此,最可能的是</a:t>
            </a:r>
            <a:r>
              <a:rPr lang="en-US" altLang="zh-CN" sz="3600">
                <a:latin typeface="Times New Roman" panose="02020603050405020304" pitchFamily="18" charset="0"/>
                <a:cs typeface="Times New Roman" panose="02020603050405020304" pitchFamily="18" charset="0"/>
              </a:rPr>
              <a:t>E</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(o)=Y。</a:t>
            </a:r>
            <a:r>
              <a:rPr lang="zh-CN" altLang="en-US" sz="3600">
                <a:latin typeface="Times New Roman" panose="02020603050405020304" pitchFamily="18" charset="0"/>
                <a:cs typeface="Times New Roman" panose="02020603050405020304" pitchFamily="18" charset="0"/>
              </a:rPr>
              <a:t>否则,由密文片段</a:t>
            </a:r>
            <a:r>
              <a:rPr lang="en-US" altLang="zh-CN" sz="3600">
                <a:latin typeface="Times New Roman" panose="02020603050405020304" pitchFamily="18" charset="0"/>
                <a:cs typeface="Times New Roman" panose="02020603050405020304" pitchFamily="18" charset="0"/>
              </a:rPr>
              <a:t>CFM</a:t>
            </a:r>
            <a:r>
              <a:rPr lang="zh-CN" altLang="en-US" sz="3600">
                <a:latin typeface="Times New Roman" panose="02020603050405020304" pitchFamily="18" charset="0"/>
                <a:cs typeface="Times New Roman" panose="02020603050405020304" pitchFamily="18" charset="0"/>
              </a:rPr>
              <a:t>或</a:t>
            </a:r>
            <a:r>
              <a:rPr lang="en-US" altLang="zh-CN" sz="3600">
                <a:latin typeface="Times New Roman" panose="02020603050405020304" pitchFamily="18" charset="0"/>
                <a:cs typeface="Times New Roman" panose="02020603050405020304" pitchFamily="18" charset="0"/>
              </a:rPr>
              <a:t>CJM</a:t>
            </a:r>
            <a:r>
              <a:rPr lang="zh-CN" altLang="en-US" sz="3600">
                <a:latin typeface="Times New Roman" panose="02020603050405020304" pitchFamily="18" charset="0"/>
                <a:cs typeface="Times New Roman" panose="02020603050405020304" pitchFamily="18" charset="0"/>
              </a:rPr>
              <a:t>将得到明文中的一长串元音</a:t>
            </a:r>
            <a:r>
              <a:rPr lang="en-US" altLang="zh-CN" sz="3600">
                <a:latin typeface="Times New Roman" panose="02020603050405020304" pitchFamily="18" charset="0"/>
                <a:cs typeface="Times New Roman" panose="02020603050405020304" pitchFamily="18" charset="0"/>
              </a:rPr>
              <a:t>aoi,</a:t>
            </a:r>
            <a:r>
              <a:rPr lang="zh-CN" altLang="en-US" sz="3600">
                <a:latin typeface="Times New Roman" panose="02020603050405020304" pitchFamily="18" charset="0"/>
                <a:cs typeface="Times New Roman" panose="02020603050405020304" pitchFamily="18" charset="0"/>
              </a:rPr>
              <a:t>这是不太可能的。因此,猜测</a:t>
            </a:r>
            <a:r>
              <a:rPr lang="en-US" altLang="zh-CN" sz="3600">
                <a:latin typeface="Times New Roman" panose="02020603050405020304" pitchFamily="18" charset="0"/>
                <a:cs typeface="Times New Roman" panose="02020603050405020304" pitchFamily="18" charset="0"/>
              </a:rPr>
              <a:t>D</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(Y)=o。</a:t>
            </a:r>
          </a:p>
          <a:p>
            <a:pPr indent="457200" fontAlgn="auto"/>
            <a:r>
              <a:rPr lang="zh-CN" altLang="en-US" sz="3600">
                <a:latin typeface="Times New Roman" panose="02020603050405020304" pitchFamily="18" charset="0"/>
                <a:cs typeface="Times New Roman" panose="02020603050405020304" pitchFamily="18" charset="0"/>
              </a:rPr>
              <a:t>对另外3个最常出现的密文字母</a:t>
            </a:r>
            <a:r>
              <a:rPr lang="en-US" altLang="zh-CN" sz="3600">
                <a:latin typeface="Times New Roman" panose="02020603050405020304" pitchFamily="18" charset="0"/>
                <a:cs typeface="Times New Roman" panose="02020603050405020304" pitchFamily="18" charset="0"/>
              </a:rPr>
              <a:t>D、F、J</a:t>
            </a:r>
            <a:r>
              <a:rPr lang="zh-CN" altLang="en-US" sz="3600">
                <a:latin typeface="Times New Roman" panose="02020603050405020304" pitchFamily="18" charset="0"/>
                <a:cs typeface="Times New Roman" panose="02020603050405020304" pitchFamily="18" charset="0"/>
              </a:rPr>
              <a:t>进行猜测。在密文片段中</a:t>
            </a:r>
            <a:r>
              <a:rPr lang="en-US" altLang="zh-CN" sz="3600">
                <a:latin typeface="Times New Roman" panose="02020603050405020304" pitchFamily="18" charset="0"/>
                <a:cs typeface="Times New Roman" panose="02020603050405020304" pitchFamily="18" charset="0"/>
              </a:rPr>
              <a:t>NMD</a:t>
            </a:r>
            <a:r>
              <a:rPr lang="zh-CN" altLang="en-US" sz="3600">
                <a:latin typeface="Times New Roman" panose="02020603050405020304" pitchFamily="18" charset="0"/>
                <a:cs typeface="Times New Roman" panose="02020603050405020304" pitchFamily="18" charset="0"/>
              </a:rPr>
              <a:t>出现了两次,所以可以猜测</a:t>
            </a:r>
            <a:r>
              <a:rPr lang="en-US" altLang="zh-CN" sz="3600">
                <a:latin typeface="Times New Roman" panose="02020603050405020304" pitchFamily="18" charset="0"/>
                <a:cs typeface="Times New Roman" panose="02020603050405020304" pitchFamily="18" charset="0"/>
              </a:rPr>
              <a:t>D</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(D)=s,</a:t>
            </a:r>
            <a:r>
              <a:rPr lang="zh-CN" altLang="en-US" sz="3600">
                <a:latin typeface="Times New Roman" panose="02020603050405020304" pitchFamily="18" charset="0"/>
                <a:cs typeface="Times New Roman" panose="02020603050405020304" pitchFamily="18" charset="0"/>
              </a:rPr>
              <a:t>于是密文片段</a:t>
            </a:r>
            <a:r>
              <a:rPr lang="en-US" altLang="zh-CN" sz="3600">
                <a:latin typeface="Times New Roman" panose="02020603050405020304" pitchFamily="18" charset="0"/>
                <a:cs typeface="Times New Roman" panose="02020603050405020304" pitchFamily="18" charset="0"/>
              </a:rPr>
              <a:t>NMD</a:t>
            </a:r>
            <a:r>
              <a:rPr lang="zh-CN" altLang="en-US" sz="3600">
                <a:latin typeface="Times New Roman" panose="02020603050405020304" pitchFamily="18" charset="0"/>
                <a:cs typeface="Times New Roman" panose="02020603050405020304" pitchFamily="18" charset="0"/>
              </a:rPr>
              <a:t>对应明文</a:t>
            </a:r>
            <a:r>
              <a:rPr lang="en-US" altLang="zh-CN" sz="3600">
                <a:latin typeface="Times New Roman" panose="02020603050405020304" pitchFamily="18" charset="0"/>
                <a:cs typeface="Times New Roman" panose="02020603050405020304" pitchFamily="18" charset="0"/>
              </a:rPr>
              <a:t>his。</a:t>
            </a:r>
            <a:r>
              <a:rPr lang="zh-CN" altLang="en-US" sz="3600">
                <a:latin typeface="Times New Roman" panose="02020603050405020304" pitchFamily="18" charset="0"/>
                <a:cs typeface="Times New Roman" panose="02020603050405020304" pitchFamily="18" charset="0"/>
              </a:rPr>
              <a:t>这与前面的猜测</a:t>
            </a:r>
            <a:r>
              <a:rPr lang="en-US" altLang="zh-CN" sz="3600">
                <a:latin typeface="Times New Roman" panose="02020603050405020304" pitchFamily="18" charset="0"/>
                <a:cs typeface="Times New Roman" panose="02020603050405020304" pitchFamily="18" charset="0"/>
              </a:rPr>
              <a:t>D</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(D)∈{r,s,t}</a:t>
            </a:r>
            <a:r>
              <a:rPr lang="zh-CN" altLang="en-US" sz="3600">
                <a:latin typeface="Times New Roman" panose="02020603050405020304" pitchFamily="18" charset="0"/>
                <a:cs typeface="Times New Roman" panose="02020603050405020304" pitchFamily="18" charset="0"/>
              </a:rPr>
              <a:t>是一致的。对于密文片段</a:t>
            </a:r>
            <a:r>
              <a:rPr lang="en-US" altLang="zh-CN" sz="3600">
                <a:latin typeface="Times New Roman" panose="02020603050405020304" pitchFamily="18" charset="0"/>
                <a:cs typeface="Times New Roman" panose="02020603050405020304" pitchFamily="18" charset="0"/>
              </a:rPr>
              <a:t>HNCMF,</a:t>
            </a:r>
            <a:r>
              <a:rPr lang="zh-CN" altLang="en-US" sz="3600">
                <a:latin typeface="Times New Roman" panose="02020603050405020304" pitchFamily="18" charset="0"/>
                <a:cs typeface="Times New Roman" panose="02020603050405020304" pitchFamily="18" charset="0"/>
              </a:rPr>
              <a:t>猜测它可能对应明文</a:t>
            </a:r>
            <a:r>
              <a:rPr lang="en-US" altLang="zh-CN" sz="3600">
                <a:latin typeface="Times New Roman" panose="02020603050405020304" pitchFamily="18" charset="0"/>
                <a:cs typeface="Times New Roman" panose="02020603050405020304" pitchFamily="18" charset="0"/>
              </a:rPr>
              <a:t>chair,</a:t>
            </a:r>
            <a:r>
              <a:rPr lang="zh-CN" altLang="en-US" sz="3600">
                <a:latin typeface="Times New Roman" panose="02020603050405020304" pitchFamily="18" charset="0"/>
                <a:cs typeface="Times New Roman" panose="02020603050405020304" pitchFamily="18" charset="0"/>
              </a:rPr>
              <a:t>由此可知</a:t>
            </a:r>
            <a:r>
              <a:rPr lang="en-US" altLang="zh-CN" sz="3600">
                <a:latin typeface="Times New Roman" panose="02020603050405020304" pitchFamily="18" charset="0"/>
                <a:cs typeface="Times New Roman" panose="02020603050405020304" pitchFamily="18" charset="0"/>
              </a:rPr>
              <a:t>D</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(F)=r,D</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(H)=c,</a:t>
            </a:r>
            <a:r>
              <a:rPr lang="zh-CN" altLang="en-US" sz="3600">
                <a:latin typeface="Times New Roman" panose="02020603050405020304" pitchFamily="18" charset="0"/>
                <a:cs typeface="Times New Roman" panose="02020603050405020304" pitchFamily="18" charset="0"/>
              </a:rPr>
              <a:t>于是</a:t>
            </a:r>
            <a:r>
              <a:rPr lang="en-US" altLang="zh-CN" sz="3600">
                <a:latin typeface="Times New Roman" panose="02020603050405020304" pitchFamily="18" charset="0"/>
                <a:cs typeface="Times New Roman" panose="02020603050405020304" pitchFamily="18" charset="0"/>
              </a:rPr>
              <a:t>D</a:t>
            </a:r>
            <a:r>
              <a:rPr lang="en-US" altLang="zh-CN" sz="3600" baseline="-25000">
                <a:latin typeface="Times New Roman" panose="02020603050405020304" pitchFamily="18" charset="0"/>
                <a:cs typeface="Times New Roman" panose="02020603050405020304" pitchFamily="18" charset="0"/>
              </a:rPr>
              <a:t>k</a:t>
            </a:r>
            <a:r>
              <a:rPr lang="en-US" altLang="zh-CN" sz="3600">
                <a:latin typeface="Times New Roman" panose="02020603050405020304" pitchFamily="18" charset="0"/>
                <a:cs typeface="Times New Roman" panose="02020603050405020304" pitchFamily="18" charset="0"/>
              </a:rPr>
              <a:t>(J)=t。</a:t>
            </a:r>
          </a:p>
        </p:txBody>
      </p:sp>
      <p:sp>
        <p:nvSpPr>
          <p:cNvPr id="6" name="灯片编号占位符 5"/>
          <p:cNvSpPr>
            <a:spLocks noGrp="1"/>
          </p:cNvSpPr>
          <p:nvPr>
            <p:ph type="sldNum" sz="quarter" idx="12"/>
          </p:nvPr>
        </p:nvSpPr>
        <p:spPr/>
        <p:txBody>
          <a:bodyPr/>
          <a:lstStyle/>
          <a:p>
            <a:fld id="{B6F15528-21DE-4FAA-801E-634DDDAF4B2B}" type="slidenum">
              <a:rPr lang="en-US" altLang="zh-CN" smtClean="0"/>
              <a:t>57</a:t>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4"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689394"/>
            <a:ext cx="14818191" cy="601190"/>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现在，有</a:t>
            </a:r>
          </a:p>
        </p:txBody>
      </p:sp>
      <p:pic>
        <p:nvPicPr>
          <p:cNvPr id="6" name="图片 5"/>
          <p:cNvPicPr>
            <a:picLocks noChangeAspect="1"/>
          </p:cNvPicPr>
          <p:nvPr/>
        </p:nvPicPr>
        <p:blipFill>
          <a:blip r:embed="rId2"/>
          <a:stretch>
            <a:fillRect/>
          </a:stretch>
        </p:blipFill>
        <p:spPr>
          <a:xfrm>
            <a:off x="1142998" y="2347874"/>
            <a:ext cx="15782294" cy="4262372"/>
          </a:xfrm>
          <a:prstGeom prst="rect">
            <a:avLst/>
          </a:prstGeom>
        </p:spPr>
      </p:pic>
      <p:sp>
        <p:nvSpPr>
          <p:cNvPr id="7" name="TextBox 29"/>
          <p:cNvSpPr txBox="1"/>
          <p:nvPr/>
        </p:nvSpPr>
        <p:spPr>
          <a:xfrm>
            <a:off x="1252733" y="6667381"/>
            <a:ext cx="15310522" cy="3265959"/>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利用与上述类似的分析方法，容易确定其余密文字母和明文字母的对应关系。最后，将得到的明文加上标点符号，即</a:t>
            </a:r>
          </a:p>
          <a:p>
            <a:pPr indent="914400" fontAlgn="auto" latinLnBrk="1">
              <a:lnSpc>
                <a:spcPct val="120000"/>
              </a:lnSpc>
              <a:extLst>
                <a:ext uri="{35155182-B16C-46BC-9424-99874614C6A1}">
                  <wpsdc:indentchars xmlns:wpsdc="http://www.wps.cn/officeDocument/2017/drawingmlCustomData" xmlns="" val="200" checksum="797548545"/>
                </a:ext>
              </a:extLst>
            </a:pP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Our friend from Paris examined his empty glass with surprise, as if evaporation had taken place while he wasn’t looking. I poured some more wine and he settled back in his chair, face tilted up towards the sun.</a:t>
            </a:r>
          </a:p>
        </p:txBody>
      </p:sp>
      <p:sp>
        <p:nvSpPr>
          <p:cNvPr id="8" name="灯片编号占位符 7"/>
          <p:cNvSpPr>
            <a:spLocks noGrp="1"/>
          </p:cNvSpPr>
          <p:nvPr>
            <p:ph type="sldNum" sz="quarter" idx="12"/>
          </p:nvPr>
        </p:nvSpPr>
        <p:spPr/>
        <p:txBody>
          <a:bodyPr/>
          <a:lstStyle/>
          <a:p>
            <a:fld id="{B6F15528-21DE-4FAA-801E-634DDDAF4B2B}" type="slidenum">
              <a:rPr lang="en-US" altLang="zh-CN" smtClean="0"/>
              <a:t>58</a:t>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4"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689394"/>
            <a:ext cx="14818191" cy="4589974"/>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上面讨论的单表古典密码的统计分析方法针对一般的单表置换密码。如果已知所用的密码体制，那么相应的分析工作可能会更简单一些。对于加法密码</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E(m)</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mod26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和乘法密码</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E</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am</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mod26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，只需要得到一个密文字母所对应的明文字母就可求得密钥。对于一般的放射密码</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E</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am</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mod26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，需要得到两个密文字母所对应的明文字母就可求得密钥。</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另外，对于加法密码和乘法密码，由于密钥量比较小，也可以通过穷举攻击求得密钥。</a:t>
            </a:r>
          </a:p>
        </p:txBody>
      </p:sp>
      <p:sp>
        <p:nvSpPr>
          <p:cNvPr id="6" name="灯片编号占位符 5"/>
          <p:cNvSpPr>
            <a:spLocks noGrp="1"/>
          </p:cNvSpPr>
          <p:nvPr>
            <p:ph type="sldNum" sz="quarter" idx="12"/>
          </p:nvPr>
        </p:nvSpPr>
        <p:spPr/>
        <p:txBody>
          <a:bodyPr/>
          <a:lstStyle/>
          <a:p>
            <a:fld id="{B6F15528-21DE-4FAA-801E-634DDDAF4B2B}" type="slidenum">
              <a:rPr lang="en-US" altLang="zh-CN" smtClean="0"/>
              <a:t>59</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689394"/>
            <a:ext cx="14818191" cy="3260380"/>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统计分析法是指某种语言中各个字符出现的频率不同而表现出一定的统计规律，这些统计规律可能在密文中重现，从而使攻击者利用这些统计规律，通过一些推测和验证过程来实现密码分析的方法。</a:t>
            </a: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单表代换密码的密钥量很小，同时它没有将字母出现的统计概率隐藏起来，因此密码分析者就容易利用该语言的规律性进行密码分析。</a:t>
            </a:r>
          </a:p>
        </p:txBody>
      </p:sp>
      <p:sp>
        <p:nvSpPr>
          <p:cNvPr id="6" name="灯片编号占位符 5"/>
          <p:cNvSpPr>
            <a:spLocks noGrp="1"/>
          </p:cNvSpPr>
          <p:nvPr>
            <p:ph type="sldNum" sz="quarter" idx="12"/>
          </p:nvPr>
        </p:nvSpPr>
        <p:spPr/>
        <p:txBody>
          <a:bodyPr/>
          <a:lstStyle/>
          <a:p>
            <a:fld id="{B6F15528-21DE-4FAA-801E-634DDDAF4B2B}" type="slidenum">
              <a:rPr lang="en-US" altLang="zh-CN" smtClean="0"/>
              <a:t>60</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689394"/>
            <a:ext cx="14818191" cy="601190"/>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2.8</a:t>
            </a: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设由仿射密码加密而截获的密文为</a:t>
            </a:r>
          </a:p>
        </p:txBody>
      </p:sp>
      <p:pic>
        <p:nvPicPr>
          <p:cNvPr id="6" name="图片 5"/>
          <p:cNvPicPr>
            <a:picLocks noChangeAspect="1"/>
          </p:cNvPicPr>
          <p:nvPr/>
        </p:nvPicPr>
        <p:blipFill>
          <a:blip r:embed="rId2"/>
          <a:stretch>
            <a:fillRect/>
          </a:stretch>
        </p:blipFill>
        <p:spPr>
          <a:xfrm>
            <a:off x="1453650" y="2933700"/>
            <a:ext cx="15380698" cy="2924086"/>
          </a:xfrm>
          <a:prstGeom prst="rect">
            <a:avLst/>
          </a:prstGeom>
        </p:spPr>
      </p:pic>
      <p:sp>
        <p:nvSpPr>
          <p:cNvPr id="7" name="TextBox 29"/>
          <p:cNvSpPr txBox="1"/>
          <p:nvPr/>
        </p:nvSpPr>
        <p:spPr>
          <a:xfrm>
            <a:off x="1734903" y="6500902"/>
            <a:ext cx="14818191" cy="1265988"/>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虽然只有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222</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个字母，但这对仿射密码的分析来说已经足够了，通过统计得到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个英文字母在密文中出现的次数如表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2.13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pic>
        <p:nvPicPr>
          <p:cNvPr id="8" name="图片 7"/>
          <p:cNvPicPr>
            <a:picLocks noChangeAspect="1"/>
          </p:cNvPicPr>
          <p:nvPr/>
        </p:nvPicPr>
        <p:blipFill>
          <a:blip r:embed="rId3"/>
          <a:stretch>
            <a:fillRect/>
          </a:stretch>
        </p:blipFill>
        <p:spPr>
          <a:xfrm>
            <a:off x="1453650" y="8009493"/>
            <a:ext cx="15544962" cy="1739688"/>
          </a:xfrm>
          <a:prstGeom prst="rect">
            <a:avLst/>
          </a:prstGeom>
        </p:spPr>
      </p:pic>
      <p:sp>
        <p:nvSpPr>
          <p:cNvPr id="9" name="灯片编号占位符 8"/>
          <p:cNvSpPr>
            <a:spLocks noGrp="1"/>
          </p:cNvSpPr>
          <p:nvPr>
            <p:ph type="sldNum" sz="quarter" idx="12"/>
          </p:nvPr>
        </p:nvSpPr>
        <p:spPr/>
        <p:txBody>
          <a:bodyPr/>
          <a:lstStyle/>
          <a:p>
            <a:fld id="{B6F15528-21DE-4FAA-801E-634DDDAF4B2B}" type="slidenum">
              <a:rPr lang="en-US" altLang="zh-CN" smtClean="0"/>
              <a:t>61</a:t>
            </a:fld>
            <a:endParaRPr lang="en-US" sz="1400" baseline="0">
              <a:solidFill>
                <a:srgbClr val="FFC000"/>
              </a:solidFill>
            </a:endParaRPr>
          </a:p>
        </p:txBody>
      </p:sp>
      <p:grpSp>
        <p:nvGrpSpPr>
          <p:cNvPr id="10"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5"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8" name="图片 17"/>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689394"/>
            <a:ext cx="14818191" cy="3260380"/>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密文统计出的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个字母中频率最高的为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次。根据</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个英文字母的概率分布，首先假定密文字母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是明文字母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加密的结果。再由密文的高频率与已知明文的高概率，依次对应代入。</a:t>
            </a: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假设密文字母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是明文字母</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的加密结果。不妨设加密函数为 ，联立方程组得</a:t>
            </a:r>
          </a:p>
        </p:txBody>
      </p:sp>
      <p:graphicFrame>
        <p:nvGraphicFramePr>
          <p:cNvPr id="9" name="对象 8"/>
          <p:cNvGraphicFramePr>
            <a:graphicFrameLocks noChangeAspect="1"/>
          </p:cNvGraphicFramePr>
          <p:nvPr/>
        </p:nvGraphicFramePr>
        <p:xfrm>
          <a:off x="1694081" y="5158947"/>
          <a:ext cx="13774519" cy="1384740"/>
        </p:xfrm>
        <a:graphic>
          <a:graphicData uri="http://schemas.openxmlformats.org/presentationml/2006/ole">
            <mc:AlternateContent xmlns:mc="http://schemas.openxmlformats.org/markup-compatibility/2006">
              <mc:Choice xmlns:v="urn:schemas-microsoft-com:vml" Requires="v">
                <p:oleObj name="Equation" r:id="rId2" imgW="3602990" imgH="362585" progId="Equation.DSMT4">
                  <p:embed/>
                </p:oleObj>
              </mc:Choice>
              <mc:Fallback>
                <p:oleObj name="Equation" r:id="rId2" imgW="3602990" imgH="362585" progId="Equation.DSMT4">
                  <p:embed/>
                  <p:pic>
                    <p:nvPicPr>
                      <p:cNvPr id="0" name="图片 5"/>
                      <p:cNvPicPr/>
                      <p:nvPr/>
                    </p:nvPicPr>
                    <p:blipFill>
                      <a:blip r:embed="rId3"/>
                      <a:stretch>
                        <a:fillRect/>
                      </a:stretch>
                    </p:blipFill>
                    <p:spPr>
                      <a:xfrm>
                        <a:off x="1694081" y="5158947"/>
                        <a:ext cx="13774519" cy="1384740"/>
                      </a:xfrm>
                      <a:prstGeom prst="rect">
                        <a:avLst/>
                      </a:prstGeom>
                    </p:spPr>
                  </p:pic>
                </p:oleObj>
              </mc:Fallback>
            </mc:AlternateContent>
          </a:graphicData>
        </a:graphic>
      </p:graphicFrame>
      <p:sp>
        <p:nvSpPr>
          <p:cNvPr id="10" name="TextBox 29"/>
          <p:cNvSpPr txBox="1"/>
          <p:nvPr/>
        </p:nvSpPr>
        <p:spPr>
          <a:xfrm>
            <a:off x="1277584" y="6829461"/>
            <a:ext cx="14818191" cy="1930785"/>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因此，加密函数为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，对应的解密函数为  </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xmlns="" val="200" checksum="797548545"/>
                </a:ext>
              </a:extLst>
            </a:pP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所以明文字母和密文字母的对应关系如表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2.14</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所示。</a:t>
            </a:r>
          </a:p>
        </p:txBody>
      </p:sp>
      <p:graphicFrame>
        <p:nvGraphicFramePr>
          <p:cNvPr id="11" name="对象 10"/>
          <p:cNvGraphicFramePr>
            <a:graphicFrameLocks noChangeAspect="1"/>
          </p:cNvGraphicFramePr>
          <p:nvPr/>
        </p:nvGraphicFramePr>
        <p:xfrm>
          <a:off x="5715000" y="6892455"/>
          <a:ext cx="3809999" cy="570000"/>
        </p:xfrm>
        <a:graphic>
          <a:graphicData uri="http://schemas.openxmlformats.org/presentationml/2006/ole">
            <mc:AlternateContent xmlns:mc="http://schemas.openxmlformats.org/markup-compatibility/2006">
              <mc:Choice xmlns:v="urn:schemas-microsoft-com:vml" Requires="v">
                <p:oleObj name="Equation" r:id="rId4" imgW="1211580" imgH="182880" progId="Equation.DSMT4">
                  <p:embed/>
                </p:oleObj>
              </mc:Choice>
              <mc:Fallback>
                <p:oleObj name="Equation" r:id="rId4" imgW="1211580" imgH="182880" progId="Equation.DSMT4">
                  <p:embed/>
                  <p:pic>
                    <p:nvPicPr>
                      <p:cNvPr id="0" name="图片 6"/>
                      <p:cNvPicPr/>
                      <p:nvPr/>
                    </p:nvPicPr>
                    <p:blipFill>
                      <a:blip r:embed="rId5"/>
                      <a:stretch>
                        <a:fillRect/>
                      </a:stretch>
                    </p:blipFill>
                    <p:spPr>
                      <a:xfrm>
                        <a:off x="5715000" y="6892455"/>
                        <a:ext cx="3809999" cy="570000"/>
                      </a:xfrm>
                      <a:prstGeom prst="rect">
                        <a:avLst/>
                      </a:prstGeom>
                    </p:spPr>
                  </p:pic>
                </p:oleObj>
              </mc:Fallback>
            </mc:AlternateContent>
          </a:graphicData>
        </a:graphic>
      </p:graphicFrame>
      <p:pic>
        <p:nvPicPr>
          <p:cNvPr id="12" name="图片 11"/>
          <p:cNvPicPr>
            <a:picLocks noChangeAspect="1"/>
          </p:cNvPicPr>
          <p:nvPr/>
        </p:nvPicPr>
        <p:blipFill>
          <a:blip r:embed="rId6"/>
          <a:stretch>
            <a:fillRect/>
          </a:stretch>
        </p:blipFill>
        <p:spPr>
          <a:xfrm>
            <a:off x="1673486" y="7535139"/>
            <a:ext cx="14117200" cy="576211"/>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altLang="zh-CN" smtClean="0"/>
              <a:t>62</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3"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4"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5"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6" name="图片 2"/>
          <p:cNvPicPr>
            <a:picLocks noChangeAspect="1"/>
          </p:cNvPicPr>
          <p:nvPr/>
        </p:nvPicPr>
        <p:blipFill>
          <a:blip r:embed="rId7">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7" name="组合 16"/>
          <p:cNvGrpSpPr/>
          <p:nvPr/>
        </p:nvGrpSpPr>
        <p:grpSpPr>
          <a:xfrm>
            <a:off x="13639786" y="733421"/>
            <a:ext cx="3700052" cy="416951"/>
            <a:chOff x="13811849" y="507954"/>
            <a:chExt cx="3700052" cy="416951"/>
          </a:xfrm>
        </p:grpSpPr>
        <p:sp>
          <p:nvSpPr>
            <p:cNvPr id="18" name="文本框 17"/>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9" name="图片 18"/>
            <p:cNvPicPr>
              <a:picLocks noChangeAspect="1"/>
            </p:cNvPicPr>
            <p:nvPr/>
          </p:nvPicPr>
          <p:blipFill>
            <a:blip r:embed="rId8"/>
            <a:stretch>
              <a:fillRect/>
            </a:stretch>
          </p:blipFill>
          <p:spPr>
            <a:xfrm>
              <a:off x="13944600" y="877286"/>
              <a:ext cx="2771429" cy="47619"/>
            </a:xfrm>
            <a:prstGeom prst="rect">
              <a:avLst/>
            </a:prstGeom>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9"/>
          <p:cNvSpPr txBox="1"/>
          <p:nvPr/>
        </p:nvSpPr>
        <p:spPr>
          <a:xfrm>
            <a:off x="1242573" y="5143500"/>
            <a:ext cx="14818191" cy="2595582"/>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最后得到解密的明文为“</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the state key laboratory of networking and switching technology belongs to Beijing university and telecommunications the laboratory was opened in nineteen ninety two in nineteen ninety five the laboratory passed acceptance inspection by government”</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pic>
        <p:nvPicPr>
          <p:cNvPr id="6" name="图片 5"/>
          <p:cNvPicPr>
            <a:picLocks noChangeAspect="1"/>
          </p:cNvPicPr>
          <p:nvPr/>
        </p:nvPicPr>
        <p:blipFill>
          <a:blip r:embed="rId2"/>
          <a:stretch>
            <a:fillRect/>
          </a:stretch>
        </p:blipFill>
        <p:spPr>
          <a:xfrm>
            <a:off x="1022148" y="2547918"/>
            <a:ext cx="16243703" cy="1647912"/>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63</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单表古典密码的统计分析</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2.5.1</a:t>
            </a:r>
          </a:p>
        </p:txBody>
      </p:sp>
      <p:pic>
        <p:nvPicPr>
          <p:cNvPr id="1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9"/>
          <p:cNvSpPr txBox="1"/>
          <p:nvPr/>
        </p:nvSpPr>
        <p:spPr>
          <a:xfrm>
            <a:off x="1734904" y="1866900"/>
            <a:ext cx="14818191" cy="7249164"/>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多表古典密码的统计分析不能像单表古典密码那样简单通过字母出现的频率进行分析，因为在多表古典密码中，相同的明文密文可能不相同。在多表古典密码的统计分析中，首先要确定密钥字的长度，也就是要确定所使用的加密表的个数，然后再分析确定具体的密钥。</a:t>
            </a: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下面以维吉尼亚密码为例来说明多表古典密码的分析方法。</a:t>
            </a: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确定密钥字的长度常用方法有卡西斯基测试法（</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Kasiski</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Test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）和重合指数法（</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Index of Coincidence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在明文中，如果两个相同的明文片段之间的距离</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是密钥字长度</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的倍数，那么这两个明文片段所对应的密文片段一定是相同的。反过来，如果密文中出现两个相同的密文片段（长度至少为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），那么它们对应的明文片段极有可能是相同的，当然也可能不同。</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64</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9"/>
          <p:cNvSpPr txBox="1"/>
          <p:nvPr/>
        </p:nvSpPr>
        <p:spPr>
          <a:xfrm>
            <a:off x="1734904" y="2171700"/>
            <a:ext cx="14818191" cy="3925177"/>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寻找密文中长度至少为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的相同的密文片段，计算每对相同密文片段中的两个密文片段之间的距离，这样就得到了一些距离值 。可以猜测密钥字的长度可能是这些距离的最大公因子，这就是卡西斯基测试法。它是由</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Friedrich </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Kasiski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于</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1863</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年首先提出来的。</a:t>
            </a: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利用重合指数法可以进一步确定密钥字的长度。重合指数的概念是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Wolfe Friedman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1920</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年给出的。</a:t>
            </a:r>
          </a:p>
        </p:txBody>
      </p:sp>
      <p:sp>
        <p:nvSpPr>
          <p:cNvPr id="5" name="灯片编号占位符 4"/>
          <p:cNvSpPr>
            <a:spLocks noGrp="1"/>
          </p:cNvSpPr>
          <p:nvPr>
            <p:ph type="sldNum" sz="quarter" idx="12"/>
          </p:nvPr>
        </p:nvSpPr>
        <p:spPr/>
        <p:txBody>
          <a:bodyPr/>
          <a:lstStyle/>
          <a:p>
            <a:fld id="{B6F15528-21DE-4FAA-801E-634DDDAF4B2B}" type="slidenum">
              <a:rPr lang="en-US" altLang="zh-CN" smtClean="0"/>
              <a:t>65</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865029" y="1865791"/>
            <a:ext cx="16848863" cy="3581400"/>
          </a:xfrm>
          <a:prstGeom prst="rect">
            <a:avLst/>
          </a:prstGeom>
        </p:spPr>
      </p:pic>
      <p:graphicFrame>
        <p:nvGraphicFramePr>
          <p:cNvPr id="6" name="对象 5"/>
          <p:cNvGraphicFramePr>
            <a:graphicFrameLocks noChangeAspect="1"/>
          </p:cNvGraphicFramePr>
          <p:nvPr/>
        </p:nvGraphicFramePr>
        <p:xfrm>
          <a:off x="6939158" y="5600700"/>
          <a:ext cx="3382210" cy="1676400"/>
        </p:xfrm>
        <a:graphic>
          <a:graphicData uri="http://schemas.openxmlformats.org/presentationml/2006/ole">
            <mc:AlternateContent xmlns:mc="http://schemas.openxmlformats.org/markup-compatibility/2006">
              <mc:Choice xmlns:v="urn:schemas-microsoft-com:vml" Requires="v">
                <p:oleObj name="Equation" r:id="rId3" imgW="1097280" imgH="544195" progId="Equation.DSMT4">
                  <p:embed/>
                </p:oleObj>
              </mc:Choice>
              <mc:Fallback>
                <p:oleObj name="Equation" r:id="rId3" imgW="1097280" imgH="544195" progId="Equation.DSMT4">
                  <p:embed/>
                  <p:pic>
                    <p:nvPicPr>
                      <p:cNvPr id="0" name="图片 6"/>
                      <p:cNvPicPr/>
                      <p:nvPr/>
                    </p:nvPicPr>
                    <p:blipFill>
                      <a:blip r:embed="rId4"/>
                      <a:stretch>
                        <a:fillRect/>
                      </a:stretch>
                    </p:blipFill>
                    <p:spPr>
                      <a:xfrm>
                        <a:off x="6939158" y="5600700"/>
                        <a:ext cx="3382210" cy="1676400"/>
                      </a:xfrm>
                      <a:prstGeom prst="rect">
                        <a:avLst/>
                      </a:prstGeom>
                    </p:spPr>
                  </p:pic>
                </p:oleObj>
              </mc:Fallback>
            </mc:AlternateContent>
          </a:graphicData>
        </a:graphic>
      </p:graphicFrame>
      <p:sp>
        <p:nvSpPr>
          <p:cNvPr id="7" name="灯片编号占位符 6"/>
          <p:cNvSpPr>
            <a:spLocks noGrp="1"/>
          </p:cNvSpPr>
          <p:nvPr>
            <p:ph type="sldNum" sz="quarter" idx="12"/>
          </p:nvPr>
        </p:nvSpPr>
        <p:spPr/>
        <p:txBody>
          <a:bodyPr/>
          <a:lstStyle/>
          <a:p>
            <a:fld id="{B6F15528-21DE-4FAA-801E-634DDDAF4B2B}" type="slidenum">
              <a:rPr lang="en-US" altLang="zh-CN" smtClean="0"/>
              <a:t>66</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3" name="图片 2"/>
          <p:cNvPicPr>
            <a:picLocks noChangeAspect="1"/>
          </p:cNvPicPr>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6"/>
            <a:stretch>
              <a:fillRect/>
            </a:stretch>
          </p:blipFill>
          <p:spPr>
            <a:xfrm>
              <a:off x="13944600" y="877286"/>
              <a:ext cx="2771429" cy="47619"/>
            </a:xfrm>
            <a:prstGeom prst="rect">
              <a:avLst/>
            </a:prstGeom>
          </p:spPr>
        </p:pic>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1921237" y="1757630"/>
            <a:ext cx="14954242" cy="2346833"/>
          </a:xfrm>
          <a:prstGeom prst="rect">
            <a:avLst/>
          </a:prstGeom>
        </p:spPr>
      </p:pic>
      <p:pic>
        <p:nvPicPr>
          <p:cNvPr id="7" name="图片 6"/>
          <p:cNvPicPr>
            <a:picLocks noChangeAspect="1"/>
          </p:cNvPicPr>
          <p:nvPr/>
        </p:nvPicPr>
        <p:blipFill>
          <a:blip r:embed="rId3"/>
          <a:stretch>
            <a:fillRect/>
          </a:stretch>
        </p:blipFill>
        <p:spPr>
          <a:xfrm>
            <a:off x="1499269" y="4643868"/>
            <a:ext cx="15798177" cy="2346832"/>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67</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3"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185230" y="1663406"/>
            <a:ext cx="15716249" cy="4114800"/>
          </a:xfrm>
          <a:prstGeom prst="rect">
            <a:avLst/>
          </a:prstGeom>
        </p:spPr>
      </p:pic>
      <p:graphicFrame>
        <p:nvGraphicFramePr>
          <p:cNvPr id="6" name="对象 5"/>
          <p:cNvGraphicFramePr>
            <a:graphicFrameLocks noChangeAspect="1"/>
          </p:cNvGraphicFramePr>
          <p:nvPr/>
        </p:nvGraphicFramePr>
        <p:xfrm>
          <a:off x="5650617" y="5876951"/>
          <a:ext cx="5124511" cy="660213"/>
        </p:xfrm>
        <a:graphic>
          <a:graphicData uri="http://schemas.openxmlformats.org/presentationml/2006/ole">
            <mc:AlternateContent xmlns:mc="http://schemas.openxmlformats.org/markup-compatibility/2006">
              <mc:Choice xmlns:v="urn:schemas-microsoft-com:vml" Requires="v">
                <p:oleObj name="Equation" r:id="rId3" imgW="1554480" imgH="201295" progId="Equation.DSMT4">
                  <p:embed/>
                </p:oleObj>
              </mc:Choice>
              <mc:Fallback>
                <p:oleObj name="Equation" r:id="rId3" imgW="1554480" imgH="201295" progId="Equation.DSMT4">
                  <p:embed/>
                  <p:pic>
                    <p:nvPicPr>
                      <p:cNvPr id="0" name="图片 6"/>
                      <p:cNvPicPr/>
                      <p:nvPr/>
                    </p:nvPicPr>
                    <p:blipFill>
                      <a:blip r:embed="rId4"/>
                      <a:stretch>
                        <a:fillRect/>
                      </a:stretch>
                    </p:blipFill>
                    <p:spPr>
                      <a:xfrm>
                        <a:off x="5650617" y="5876951"/>
                        <a:ext cx="5124511" cy="660213"/>
                      </a:xfrm>
                      <a:prstGeom prst="rect">
                        <a:avLst/>
                      </a:prstGeom>
                    </p:spPr>
                  </p:pic>
                </p:oleObj>
              </mc:Fallback>
            </mc:AlternateContent>
          </a:graphicData>
        </a:graphic>
      </p:graphicFrame>
      <p:sp>
        <p:nvSpPr>
          <p:cNvPr id="9" name="TextBox 29"/>
          <p:cNvSpPr txBox="1"/>
          <p:nvPr/>
        </p:nvSpPr>
        <p:spPr>
          <a:xfrm>
            <a:off x="1634258" y="7091815"/>
            <a:ext cx="14818191" cy="2595582"/>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0.065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0.038</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相差较远，所以一般能够确定密钥字的长度，或者说能够确定由</a:t>
            </a:r>
            <a:r>
              <a:rPr lang="en-US" altLang="zh-CN" sz="3600" dirty="0" err="1">
                <a:solidFill>
                  <a:srgbClr val="000000"/>
                </a:solidFill>
                <a:latin typeface="Times New Roman" panose="02020603050405020304" pitchFamily="18" charset="0"/>
                <a:ea typeface="宋体" panose="02010600030101010101" pitchFamily="2" charset="-122"/>
                <a:cs typeface="字由点字典黑 2"/>
                <a:sym typeface="字由点字典黑 2"/>
              </a:rPr>
              <a:t>Kasiski</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测试法得到的密钥字的长度是否正确。</a:t>
            </a:r>
          </a:p>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下面来讨论如何确定密钥字。首先给出交互重合指数（</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Mutual Index of Coincidence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）的概念，它可以用于确定密钥字。</a:t>
            </a:r>
          </a:p>
        </p:txBody>
      </p:sp>
      <p:sp>
        <p:nvSpPr>
          <p:cNvPr id="7" name="灯片编号占位符 6"/>
          <p:cNvSpPr>
            <a:spLocks noGrp="1"/>
          </p:cNvSpPr>
          <p:nvPr>
            <p:ph type="sldNum" sz="quarter" idx="12"/>
          </p:nvPr>
        </p:nvSpPr>
        <p:spPr/>
        <p:txBody>
          <a:bodyPr/>
          <a:lstStyle/>
          <a:p>
            <a:fld id="{B6F15528-21DE-4FAA-801E-634DDDAF4B2B}" type="slidenum">
              <a:rPr lang="en-US" altLang="zh-CN" smtClean="0"/>
              <a:t>68</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4" name="图片 2"/>
          <p:cNvPicPr>
            <a:picLocks noChangeAspect="1"/>
          </p:cNvPicPr>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6"/>
            <a:stretch>
              <a:fillRect/>
            </a:stretch>
          </p:blipFill>
          <p:spPr>
            <a:xfrm>
              <a:off x="13944600" y="877286"/>
              <a:ext cx="2771429" cy="47619"/>
            </a:xfrm>
            <a:prstGeom prst="rect">
              <a:avLst/>
            </a:prstGeom>
          </p:spPr>
        </p:pic>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1591962" y="1738562"/>
            <a:ext cx="15104076" cy="2280204"/>
          </a:xfrm>
          <a:prstGeom prst="rect">
            <a:avLst/>
          </a:prstGeom>
        </p:spPr>
      </p:pic>
      <p:graphicFrame>
        <p:nvGraphicFramePr>
          <p:cNvPr id="8" name="对象 7"/>
          <p:cNvGraphicFramePr>
            <a:graphicFrameLocks noChangeAspect="1"/>
          </p:cNvGraphicFramePr>
          <p:nvPr/>
        </p:nvGraphicFramePr>
        <p:xfrm>
          <a:off x="7662071" y="4159093"/>
          <a:ext cx="2963857" cy="1396197"/>
        </p:xfrm>
        <a:graphic>
          <a:graphicData uri="http://schemas.openxmlformats.org/presentationml/2006/ole">
            <mc:AlternateContent xmlns:mc="http://schemas.openxmlformats.org/markup-compatibility/2006">
              <mc:Choice xmlns:v="urn:schemas-microsoft-com:vml" Requires="v">
                <p:oleObj name="Equation" r:id="rId3" imgW="1153795" imgH="544195" progId="Equation.DSMT4">
                  <p:embed/>
                </p:oleObj>
              </mc:Choice>
              <mc:Fallback>
                <p:oleObj name="Equation" r:id="rId3" imgW="1153795" imgH="544195" progId="Equation.DSMT4">
                  <p:embed/>
                  <p:pic>
                    <p:nvPicPr>
                      <p:cNvPr id="0" name="图片 4"/>
                      <p:cNvPicPr/>
                      <p:nvPr/>
                    </p:nvPicPr>
                    <p:blipFill>
                      <a:blip r:embed="rId4"/>
                      <a:stretch>
                        <a:fillRect/>
                      </a:stretch>
                    </p:blipFill>
                    <p:spPr>
                      <a:xfrm>
                        <a:off x="7662071" y="4159093"/>
                        <a:ext cx="2963857" cy="1396197"/>
                      </a:xfrm>
                      <a:prstGeom prst="rect">
                        <a:avLst/>
                      </a:prstGeom>
                    </p:spPr>
                  </p:pic>
                </p:oleObj>
              </mc:Fallback>
            </mc:AlternateContent>
          </a:graphicData>
        </a:graphic>
      </p:graphicFrame>
      <p:pic>
        <p:nvPicPr>
          <p:cNvPr id="10" name="图片 9"/>
          <p:cNvPicPr>
            <a:picLocks noChangeAspect="1"/>
          </p:cNvPicPr>
          <p:nvPr/>
        </p:nvPicPr>
        <p:blipFill>
          <a:blip r:embed="rId5"/>
          <a:stretch>
            <a:fillRect/>
          </a:stretch>
        </p:blipFill>
        <p:spPr>
          <a:xfrm>
            <a:off x="1178011" y="5695617"/>
            <a:ext cx="15544800" cy="2534478"/>
          </a:xfrm>
          <a:prstGeom prst="rect">
            <a:avLst/>
          </a:prstGeom>
        </p:spPr>
      </p:pic>
      <p:graphicFrame>
        <p:nvGraphicFramePr>
          <p:cNvPr id="11" name="对象 10"/>
          <p:cNvGraphicFramePr>
            <a:graphicFrameLocks noChangeAspect="1"/>
          </p:cNvGraphicFramePr>
          <p:nvPr/>
        </p:nvGraphicFramePr>
        <p:xfrm>
          <a:off x="5105400" y="8450144"/>
          <a:ext cx="8823437" cy="1496148"/>
        </p:xfrm>
        <a:graphic>
          <a:graphicData uri="http://schemas.openxmlformats.org/presentationml/2006/ole">
            <mc:AlternateContent xmlns:mc="http://schemas.openxmlformats.org/markup-compatibility/2006">
              <mc:Choice xmlns:v="urn:schemas-microsoft-com:vml" Requires="v">
                <p:oleObj name="Equation" r:id="rId6" imgW="2193290" imgH="373380" progId="Equation.DSMT4">
                  <p:embed/>
                </p:oleObj>
              </mc:Choice>
              <mc:Fallback>
                <p:oleObj name="Equation" r:id="rId6" imgW="2193290" imgH="373380" progId="Equation.DSMT4">
                  <p:embed/>
                  <p:pic>
                    <p:nvPicPr>
                      <p:cNvPr id="0" name="图片 5"/>
                      <p:cNvPicPr/>
                      <p:nvPr/>
                    </p:nvPicPr>
                    <p:blipFill>
                      <a:blip r:embed="rId7"/>
                      <a:stretch>
                        <a:fillRect/>
                      </a:stretch>
                    </p:blipFill>
                    <p:spPr>
                      <a:xfrm>
                        <a:off x="5105400" y="8450144"/>
                        <a:ext cx="8823437" cy="1496148"/>
                      </a:xfrm>
                      <a:prstGeom prst="rect">
                        <a:avLst/>
                      </a:prstGeom>
                    </p:spPr>
                  </p:pic>
                </p:oleObj>
              </mc:Fallback>
            </mc:AlternateContent>
          </a:graphicData>
        </a:graphic>
      </p:graphicFrame>
      <p:sp>
        <p:nvSpPr>
          <p:cNvPr id="5" name="灯片编号占位符 4"/>
          <p:cNvSpPr>
            <a:spLocks noGrp="1"/>
          </p:cNvSpPr>
          <p:nvPr>
            <p:ph type="sldNum" sz="quarter" idx="12"/>
          </p:nvPr>
        </p:nvSpPr>
        <p:spPr/>
        <p:txBody>
          <a:bodyPr/>
          <a:lstStyle/>
          <a:p>
            <a:fld id="{B6F15528-21DE-4FAA-801E-634DDDAF4B2B}" type="slidenum">
              <a:rPr lang="en-US" altLang="zh-CN" smtClean="0"/>
              <a:t>69</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3"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4"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5" name="图片 2"/>
          <p:cNvPicPr>
            <a:picLocks noChangeAspect="1"/>
          </p:cNvPicPr>
          <p:nvPr/>
        </p:nvPicPr>
        <p:blipFill>
          <a:blip r:embed="rId8">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8" name="图片 17"/>
            <p:cNvPicPr>
              <a:picLocks noChangeAspect="1"/>
            </p:cNvPicPr>
            <p:nvPr/>
          </p:nvPicPr>
          <p:blipFill>
            <a:blip r:embed="rId9"/>
            <a:stretch>
              <a:fillRect/>
            </a:stretch>
          </p:blipFill>
          <p:spPr>
            <a:xfrm>
              <a:off x="13944600" y="877286"/>
              <a:ext cx="2771429" cy="47619"/>
            </a:xfrm>
            <a:prstGeom prst="rect">
              <a:avLst/>
            </a:prstGeom>
          </p:spPr>
        </p:pic>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647700" y="1773076"/>
            <a:ext cx="16992600" cy="1715270"/>
          </a:xfrm>
          <a:prstGeom prst="rect">
            <a:avLst/>
          </a:prstGeom>
        </p:spPr>
      </p:pic>
      <p:graphicFrame>
        <p:nvGraphicFramePr>
          <p:cNvPr id="6" name="对象 5"/>
          <p:cNvGraphicFramePr>
            <a:graphicFrameLocks noChangeAspect="1"/>
          </p:cNvGraphicFramePr>
          <p:nvPr/>
        </p:nvGraphicFramePr>
        <p:xfrm>
          <a:off x="6057991" y="3296082"/>
          <a:ext cx="4309763" cy="1461572"/>
        </p:xfrm>
        <a:graphic>
          <a:graphicData uri="http://schemas.openxmlformats.org/presentationml/2006/ole">
            <mc:AlternateContent xmlns:mc="http://schemas.openxmlformats.org/markup-compatibility/2006">
              <mc:Choice xmlns:v="urn:schemas-microsoft-com:vml" Requires="v">
                <p:oleObj name="Equation" r:id="rId3" imgW="1097280" imgH="373380" progId="Equation.DSMT4">
                  <p:embed/>
                </p:oleObj>
              </mc:Choice>
              <mc:Fallback>
                <p:oleObj name="Equation" r:id="rId3" imgW="1097280" imgH="373380" progId="Equation.DSMT4">
                  <p:embed/>
                  <p:pic>
                    <p:nvPicPr>
                      <p:cNvPr id="0" name="图片 6"/>
                      <p:cNvPicPr/>
                      <p:nvPr/>
                    </p:nvPicPr>
                    <p:blipFill>
                      <a:blip r:embed="rId4"/>
                      <a:stretch>
                        <a:fillRect/>
                      </a:stretch>
                    </p:blipFill>
                    <p:spPr>
                      <a:xfrm>
                        <a:off x="6057991" y="3296082"/>
                        <a:ext cx="4309763" cy="1461572"/>
                      </a:xfrm>
                      <a:prstGeom prst="rect">
                        <a:avLst/>
                      </a:prstGeom>
                    </p:spPr>
                  </p:pic>
                </p:oleObj>
              </mc:Fallback>
            </mc:AlternateContent>
          </a:graphicData>
        </a:graphic>
      </p:graphicFrame>
      <p:pic>
        <p:nvPicPr>
          <p:cNvPr id="9" name="图片 8"/>
          <p:cNvPicPr>
            <a:picLocks noChangeAspect="1"/>
          </p:cNvPicPr>
          <p:nvPr/>
        </p:nvPicPr>
        <p:blipFill>
          <a:blip r:embed="rId5"/>
          <a:stretch>
            <a:fillRect/>
          </a:stretch>
        </p:blipFill>
        <p:spPr>
          <a:xfrm>
            <a:off x="1003709" y="5177481"/>
            <a:ext cx="10108564" cy="751313"/>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lang="en-US" altLang="zh-CN" smtClean="0"/>
              <a:t>70</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4" name="图片 2"/>
          <p:cNvPicPr>
            <a:picLocks noChangeAspect="1"/>
          </p:cNvPicPr>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7"/>
            <a:stretch>
              <a:fillRect/>
            </a:stretch>
          </p:blipFill>
          <p:spPr>
            <a:xfrm>
              <a:off x="13944600" y="877286"/>
              <a:ext cx="2771429" cy="47619"/>
            </a:xfrm>
            <a:prstGeom prst="rect">
              <a:avLst/>
            </a:prstGeom>
          </p:spPr>
        </p:pic>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003796" y="1562100"/>
            <a:ext cx="16280407" cy="3034341"/>
          </a:xfrm>
          <a:prstGeom prst="rect">
            <a:avLst/>
          </a:prstGeom>
        </p:spPr>
      </p:pic>
      <p:graphicFrame>
        <p:nvGraphicFramePr>
          <p:cNvPr id="6" name="对象 5"/>
          <p:cNvGraphicFramePr>
            <a:graphicFrameLocks noChangeAspect="1"/>
          </p:cNvGraphicFramePr>
          <p:nvPr/>
        </p:nvGraphicFramePr>
        <p:xfrm>
          <a:off x="6939158" y="4123251"/>
          <a:ext cx="3652478" cy="1601471"/>
        </p:xfrm>
        <a:graphic>
          <a:graphicData uri="http://schemas.openxmlformats.org/presentationml/2006/ole">
            <mc:AlternateContent xmlns:mc="http://schemas.openxmlformats.org/markup-compatibility/2006">
              <mc:Choice xmlns:v="urn:schemas-microsoft-com:vml" Requires="v">
                <p:oleObj name="Equation" r:id="rId3" imgW="1240790" imgH="544195" progId="Equation.DSMT4">
                  <p:embed/>
                </p:oleObj>
              </mc:Choice>
              <mc:Fallback>
                <p:oleObj name="Equation" r:id="rId3" imgW="1240790" imgH="544195" progId="Equation.DSMT4">
                  <p:embed/>
                  <p:pic>
                    <p:nvPicPr>
                      <p:cNvPr id="0" name="图片 6"/>
                      <p:cNvPicPr/>
                      <p:nvPr/>
                    </p:nvPicPr>
                    <p:blipFill>
                      <a:blip r:embed="rId4"/>
                      <a:stretch>
                        <a:fillRect/>
                      </a:stretch>
                    </p:blipFill>
                    <p:spPr>
                      <a:xfrm>
                        <a:off x="6939158" y="4123251"/>
                        <a:ext cx="3652478" cy="1601471"/>
                      </a:xfrm>
                      <a:prstGeom prst="rect">
                        <a:avLst/>
                      </a:prstGeom>
                    </p:spPr>
                  </p:pic>
                </p:oleObj>
              </mc:Fallback>
            </mc:AlternateContent>
          </a:graphicData>
        </a:graphic>
      </p:graphicFrame>
      <p:pic>
        <p:nvPicPr>
          <p:cNvPr id="8" name="图片 7"/>
          <p:cNvPicPr>
            <a:picLocks noChangeAspect="1"/>
          </p:cNvPicPr>
          <p:nvPr/>
        </p:nvPicPr>
        <p:blipFill>
          <a:blip r:embed="rId5"/>
          <a:stretch>
            <a:fillRect/>
          </a:stretch>
        </p:blipFill>
        <p:spPr>
          <a:xfrm>
            <a:off x="2209800" y="5729764"/>
            <a:ext cx="13040816" cy="3983376"/>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lang="en-US" altLang="zh-CN" smtClean="0"/>
              <a:t>71</a:t>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4" name="图片 2"/>
          <p:cNvPicPr>
            <a:picLocks noChangeAspect="1"/>
          </p:cNvPicPr>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7"/>
            <a:stretch>
              <a:fillRect/>
            </a:stretch>
          </p:blipFill>
          <p:spPr>
            <a:xfrm>
              <a:off x="13944600" y="877286"/>
              <a:ext cx="2771429" cy="47619"/>
            </a:xfrm>
            <a:prstGeom prst="rect">
              <a:avLst/>
            </a:prstGeom>
          </p:spPr>
        </p:pic>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914400" y="2286000"/>
            <a:ext cx="16710021" cy="2895600"/>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72</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29"/>
          <p:cNvSpPr txBox="1"/>
          <p:nvPr/>
        </p:nvSpPr>
        <p:spPr>
          <a:xfrm>
            <a:off x="662305" y="1866900"/>
            <a:ext cx="16863695" cy="5905500"/>
          </a:xfrm>
          <a:prstGeom prst="rect">
            <a:avLst/>
          </a:prstGeom>
        </p:spPr>
        <p:txBody>
          <a:bodyPr wrap="square" lIns="0" tIns="0" rIns="0" bIns="0" rtlCol="0" anchor="t">
            <a:spAutoFit/>
          </a:bodyPr>
          <a:lstStyle/>
          <a:p>
            <a:pPr indent="914400" fontAlgn="auto" latinLnBrk="1">
              <a:lnSpc>
                <a:spcPct val="120000"/>
              </a:lnSpc>
            </a:pP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2.9</a:t>
            </a:r>
            <a:r>
              <a:rPr lang="zh-CN" altLang="en-US"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　设某一段明文经维吉尼亚密码加密后的密文为</a:t>
            </a:r>
          </a:p>
          <a:p>
            <a:pPr indent="914400" fontAlgn="auto" latinLnBrk="1">
              <a:lnSpc>
                <a:spcPct val="120000"/>
              </a:lnSpc>
            </a:pP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C H R E E V O A H M A E R A T B I A X X W T N X B E E O P H B S B Q M Q E Q E R B W</a:t>
            </a:r>
          </a:p>
          <a:p>
            <a:pPr indent="914400" fontAlgn="auto" latinLnBrk="1">
              <a:lnSpc>
                <a:spcPct val="120000"/>
              </a:lnSpc>
            </a:pP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R V X U O A K X A O S X X W E A H B W G J M M Q M N K G R F V G X W T R Z X W I A K</a:t>
            </a:r>
          </a:p>
          <a:p>
            <a:pPr indent="914400" fontAlgn="auto" latinLnBrk="1">
              <a:lnSpc>
                <a:spcPct val="120000"/>
              </a:lnSpc>
            </a:pP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L X F P S K A U T E M N D C M G T S X M X B T U I A D N G M G P S R E L X N J E L X</a:t>
            </a:r>
          </a:p>
          <a:p>
            <a:pPr indent="914400" fontAlgn="auto" latinLnBrk="1">
              <a:lnSpc>
                <a:spcPct val="120000"/>
              </a:lnSpc>
            </a:pP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V R V P R T U L H D N Q W T W D T Y G B P H X T F A L J H A S V B F X N G L L C H R</a:t>
            </a:r>
          </a:p>
          <a:p>
            <a:pPr indent="914400" fontAlgn="auto" latinLnBrk="1">
              <a:lnSpc>
                <a:spcPct val="120000"/>
              </a:lnSpc>
            </a:pP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Z B W E L E K M S J I K N B H W R J G N M G J S G L X F E Y P H A G N R B I E Q J T</a:t>
            </a:r>
          </a:p>
          <a:p>
            <a:pPr indent="914400" fontAlgn="auto" latinLnBrk="1">
              <a:lnSpc>
                <a:spcPct val="120000"/>
              </a:lnSpc>
            </a:pP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A M R V L C R R E M N D G L X R R I M G N S N R W C H R Q H A E Y E V T A Q E B B I</a:t>
            </a:r>
          </a:p>
          <a:p>
            <a:pPr indent="914400" fontAlgn="auto" latinLnBrk="1">
              <a:lnSpc>
                <a:spcPct val="120000"/>
              </a:lnSpc>
            </a:pP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P E E W E V K A K O E W A D R E M X M T B H H C H R T K D N V R Z C H R C L Q O H P</a:t>
            </a:r>
          </a:p>
          <a:p>
            <a:pPr indent="914400" fontAlgn="auto" latinLnBrk="1">
              <a:lnSpc>
                <a:spcPct val="120000"/>
              </a:lnSpc>
            </a:pPr>
            <a:r>
              <a:rPr lang="de-DE" altLang="zh-CN" sz="3200" dirty="0">
                <a:solidFill>
                  <a:srgbClr val="000000"/>
                </a:solidFill>
                <a:latin typeface="Times New Roman" panose="02020603050405020304" pitchFamily="18" charset="0"/>
                <a:ea typeface="宋体" panose="02010600030101010101" pitchFamily="2" charset="-122"/>
                <a:cs typeface="字由点字典黑 2"/>
                <a:sym typeface="字由点字典黑 2"/>
              </a:rPr>
              <a:t>W Q A I I W X N R M G W O I I F K E E</a:t>
            </a:r>
            <a:endPar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t>73</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29"/>
          <p:cNvSpPr txBox="1"/>
          <p:nvPr/>
        </p:nvSpPr>
        <p:spPr>
          <a:xfrm>
            <a:off x="1226098" y="1704004"/>
            <a:ext cx="15830034" cy="1930785"/>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密文片段</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CHR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在密文中出现了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次，每次出现的开始位置分别为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166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236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276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286</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。第</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次出现到其他各次出现的距离分别为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165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235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275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285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。容易计算</a:t>
            </a:r>
            <a:endParaRPr lang="de-DE" altLang="zh-CN" sz="40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aphicFrame>
        <p:nvGraphicFramePr>
          <p:cNvPr id="5" name="对象 4"/>
          <p:cNvGraphicFramePr>
            <a:graphicFrameLocks noChangeAspect="1"/>
          </p:cNvGraphicFramePr>
          <p:nvPr/>
        </p:nvGraphicFramePr>
        <p:xfrm>
          <a:off x="4312481" y="3612578"/>
          <a:ext cx="8108119" cy="823159"/>
        </p:xfrm>
        <a:graphic>
          <a:graphicData uri="http://schemas.openxmlformats.org/presentationml/2006/ole">
            <mc:AlternateContent xmlns:mc="http://schemas.openxmlformats.org/markup-compatibility/2006">
              <mc:Choice xmlns:v="urn:schemas-microsoft-com:vml" Requires="v">
                <p:oleObj name="Equation" r:id="rId2" imgW="1877695" imgH="191770" progId="Equation.DSMT4">
                  <p:embed/>
                </p:oleObj>
              </mc:Choice>
              <mc:Fallback>
                <p:oleObj name="Equation" r:id="rId2" imgW="1877695" imgH="191770" progId="Equation.DSMT4">
                  <p:embed/>
                  <p:pic>
                    <p:nvPicPr>
                      <p:cNvPr id="0" name="图片 5"/>
                      <p:cNvPicPr/>
                      <p:nvPr/>
                    </p:nvPicPr>
                    <p:blipFill>
                      <a:blip r:embed="rId3"/>
                      <a:stretch>
                        <a:fillRect/>
                      </a:stretch>
                    </p:blipFill>
                    <p:spPr>
                      <a:xfrm>
                        <a:off x="4312481" y="3612578"/>
                        <a:ext cx="8108119" cy="823159"/>
                      </a:xfrm>
                      <a:prstGeom prst="rect">
                        <a:avLst/>
                      </a:prstGeom>
                    </p:spPr>
                  </p:pic>
                </p:oleObj>
              </mc:Fallback>
            </mc:AlternateContent>
          </a:graphicData>
        </a:graphic>
      </p:graphicFrame>
      <p:sp>
        <p:nvSpPr>
          <p:cNvPr id="7" name="TextBox 29"/>
          <p:cNvSpPr txBox="1"/>
          <p:nvPr/>
        </p:nvSpPr>
        <p:spPr>
          <a:xfrm>
            <a:off x="1242573" y="4770910"/>
            <a:ext cx="15830035" cy="601190"/>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因此，密钥字的长度很可能是</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de-DE" altLang="zh-CN" sz="40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t>74</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4"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333499" y="1678067"/>
            <a:ext cx="15621001" cy="6248400"/>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75</a:t>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116471" y="1962546"/>
            <a:ext cx="12199917" cy="6914754"/>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altLang="zh-CN" smtClean="0"/>
              <a:t>76</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056492" y="1832364"/>
            <a:ext cx="12811990" cy="6968736"/>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77</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158038" y="1828721"/>
            <a:ext cx="15971923" cy="3368624"/>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altLang="zh-CN" smtClean="0"/>
              <a:t>78</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676400" y="1827691"/>
            <a:ext cx="11734800" cy="765313"/>
          </a:xfrm>
          <a:prstGeom prst="rect">
            <a:avLst/>
          </a:prstGeom>
        </p:spPr>
      </p:pic>
      <p:pic>
        <p:nvPicPr>
          <p:cNvPr id="7" name="图片 6"/>
          <p:cNvPicPr>
            <a:picLocks noChangeAspect="1"/>
          </p:cNvPicPr>
          <p:nvPr/>
        </p:nvPicPr>
        <p:blipFill>
          <a:blip r:embed="rId3"/>
          <a:stretch>
            <a:fillRect/>
          </a:stretch>
        </p:blipFill>
        <p:spPr>
          <a:xfrm>
            <a:off x="4351655" y="2781300"/>
            <a:ext cx="8717280" cy="6821170"/>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t>79</a:t>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3" name="图片 2"/>
          <p:cNvPicPr>
            <a:picLocks noChangeAspect="1"/>
          </p:cNvPicPr>
          <p:nvPr/>
        </p:nvPicPr>
        <p:blipFill>
          <a:blip r:embed="rId4">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5"/>
            <a:stretch>
              <a:fillRect/>
            </a:stretch>
          </p:blipFill>
          <p:spPr>
            <a:xfrm>
              <a:off x="13944600" y="877286"/>
              <a:ext cx="2771429" cy="47619"/>
            </a:xfrm>
            <a:prstGeom prst="rect">
              <a:avLst/>
            </a:prstGeom>
          </p:spPr>
        </p:pic>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757630"/>
            <a:ext cx="14818191" cy="5260351"/>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因此，密钥                                                                                    </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               。通过尝试</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baseline="-25000" dirty="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的每个可能的取值，不难确定密钥字为</a:t>
            </a: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JANET</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dirty="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=(9,0,13,4,19)</a:t>
            </a:r>
            <a:r>
              <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因此，得到与密文相对应的明文（添加适当的标点符号）为</a:t>
            </a:r>
          </a:p>
          <a:p>
            <a:pPr indent="914400" fontAlgn="auto" latinLnBrk="1">
              <a:lnSpc>
                <a:spcPct val="120000"/>
              </a:lnSpc>
              <a:extLst>
                <a:ext uri="{35155182-B16C-46BC-9424-99874614C6A1}">
                  <wpsdc:indentchars xmlns:wpsdc="http://www.wps.cn/officeDocument/2017/drawingmlCustomData" xmlns="" val="200" checksum="797548545"/>
                </a:ext>
              </a:extLst>
            </a:pPr>
            <a:r>
              <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The almond tree was in tentative blossom. The days were longer, often ending with magnificent evenings of corrugated pink skies. The hunting season was over, with hounds and guns put away for six months. The vineyards were busy again as the well-organized farmers treated their vines and the more lackadaisical neighbors hurried to do the pruning they should have done in November.</a:t>
            </a:r>
          </a:p>
        </p:txBody>
      </p:sp>
      <p:graphicFrame>
        <p:nvGraphicFramePr>
          <p:cNvPr id="8" name="对象 7"/>
          <p:cNvGraphicFramePr>
            <a:graphicFrameLocks noChangeAspect="1"/>
          </p:cNvGraphicFramePr>
          <p:nvPr/>
        </p:nvGraphicFramePr>
        <p:xfrm>
          <a:off x="4953000" y="1785433"/>
          <a:ext cx="9668782" cy="798725"/>
        </p:xfrm>
        <a:graphic>
          <a:graphicData uri="http://schemas.openxmlformats.org/presentationml/2006/ole">
            <mc:AlternateContent xmlns:mc="http://schemas.openxmlformats.org/markup-compatibility/2006">
              <mc:Choice xmlns:v="urn:schemas-microsoft-com:vml" Requires="v">
                <p:oleObj name="Equation" r:id="rId2" imgW="2193290" imgH="182880" progId="Equation.DSMT4">
                  <p:embed/>
                </p:oleObj>
              </mc:Choice>
              <mc:Fallback>
                <p:oleObj name="Equation" r:id="rId2" imgW="2193290" imgH="182880" progId="Equation.DSMT4">
                  <p:embed/>
                  <p:pic>
                    <p:nvPicPr>
                      <p:cNvPr id="0" name="图片 5"/>
                      <p:cNvPicPr/>
                      <p:nvPr/>
                    </p:nvPicPr>
                    <p:blipFill>
                      <a:blip r:embed="rId3"/>
                      <a:stretch>
                        <a:fillRect/>
                      </a:stretch>
                    </p:blipFill>
                    <p:spPr>
                      <a:xfrm>
                        <a:off x="4953000" y="1785433"/>
                        <a:ext cx="9668782" cy="798725"/>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14621782" y="1868341"/>
          <a:ext cx="1598925" cy="632908"/>
        </p:xfrm>
        <a:graphic>
          <a:graphicData uri="http://schemas.openxmlformats.org/presentationml/2006/ole">
            <mc:AlternateContent xmlns:mc="http://schemas.openxmlformats.org/markup-compatibility/2006">
              <mc:Choice xmlns:v="urn:schemas-microsoft-com:vml" Requires="v">
                <p:oleObj name="Equation" r:id="rId4" imgW="458470" imgH="182880" progId="Equation.DSMT4">
                  <p:embed/>
                </p:oleObj>
              </mc:Choice>
              <mc:Fallback>
                <p:oleObj name="Equation" r:id="rId4" imgW="458470" imgH="182880" progId="Equation.DSMT4">
                  <p:embed/>
                  <p:pic>
                    <p:nvPicPr>
                      <p:cNvPr id="0" name="图片 6"/>
                      <p:cNvPicPr/>
                      <p:nvPr/>
                    </p:nvPicPr>
                    <p:blipFill>
                      <a:blip r:embed="rId5"/>
                      <a:stretch>
                        <a:fillRect/>
                      </a:stretch>
                    </p:blipFill>
                    <p:spPr>
                      <a:xfrm>
                        <a:off x="14621782" y="1868341"/>
                        <a:ext cx="1598925" cy="632908"/>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fld id="{B6F15528-21DE-4FAA-801E-634DDDAF4B2B}" type="slidenum">
              <a:rPr lang="en-US" altLang="zh-CN" smtClean="0"/>
              <a:t>80</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2"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4" name="图片 2"/>
          <p:cNvPicPr>
            <a:picLocks noChangeAspect="1"/>
          </p:cNvPicPr>
          <p:nvPr/>
        </p:nvPicPr>
        <p:blipFill>
          <a:blip r:embed="rId6">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7"/>
            <a:stretch>
              <a:fillRect/>
            </a:stretch>
          </p:blipFill>
          <p:spPr>
            <a:xfrm>
              <a:off x="13944600" y="877286"/>
              <a:ext cx="2771429" cy="47619"/>
            </a:xfrm>
            <a:prstGeom prst="rect">
              <a:avLst/>
            </a:prstGeom>
          </p:spPr>
        </p:pic>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757630"/>
            <a:ext cx="14818191" cy="3925177"/>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编码学和密码分析学是密码学的两大组成部分，二者的对立统一关系促进了密码学的发展，一个密码系统的安全性只有通过当前各类供给系统的检验分析后才能做出结论。密码体制的安全性分析是一个相当复杂的系统工程，各类密码体制的分析方法也各不相同。单表代换密码具有明密异同规律，多表代换密码具有明密等差规律，置换密码具有一阶频次不变规律，利用这些规律是进行古典密码分析的关键。</a:t>
            </a:r>
            <a:endPar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t>81</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多表古典密码的统计分析</a:t>
            </a:r>
          </a:p>
        </p:txBody>
      </p:sp>
      <p:sp>
        <p:nvSpPr>
          <p:cNvPr id="1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2.5.2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2</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t>82</a:t>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757630"/>
            <a:ext cx="14818191" cy="2595582"/>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本章介绍了置换密码，列举了列置换密码、周期置换密码两种典型的古典密码，简要概括了古典密码的特征和分类；介绍了代换密码，包括单表代换密码和多表代换密码；以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为例，介绍了转轮密码；介绍了古典密码的分类；最后介绍了古典密码的统计分析。</a:t>
            </a:r>
            <a:endPar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t>83</a:t>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95.75,&quot;left&quot;:526.7677952755906,&quot;top&quot;:109.19661417322831,&quot;width&quot;:676.032204724409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12091</Words>
  <Application>Microsoft Office PowerPoint</Application>
  <PresentationFormat>自定义</PresentationFormat>
  <Paragraphs>548</Paragraphs>
  <Slides>83</Slides>
  <Notes>1</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83</vt:i4>
      </vt:variant>
    </vt:vector>
  </HeadingPairs>
  <TitlesOfParts>
    <vt:vector size="95" baseType="lpstr">
      <vt:lpstr>仿宋</vt:lpstr>
      <vt:lpstr>宋体</vt:lpstr>
      <vt:lpstr>Cambria Math</vt:lpstr>
      <vt:lpstr>Calibri</vt:lpstr>
      <vt:lpstr>Arial</vt:lpstr>
      <vt:lpstr>微软雅黑</vt:lpstr>
      <vt:lpstr>等线</vt:lpstr>
      <vt:lpstr>Times New Roman</vt:lpstr>
      <vt:lpstr>字由文艺黑</vt:lpstr>
      <vt:lpstr>Office Theme</vt:lpstr>
      <vt:lpstr>1_Office Theme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蓝色简约毕业论文答辩演示文稿</dc:title>
  <dc:creator>snow jiang</dc:creator>
  <cp:lastModifiedBy>HA111813@365mmt.com</cp:lastModifiedBy>
  <cp:revision>189</cp:revision>
  <dcterms:created xsi:type="dcterms:W3CDTF">2006-08-16T00:00:00Z</dcterms:created>
  <dcterms:modified xsi:type="dcterms:W3CDTF">2026-10-26T06:20:20Z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409F442B1D3B4158A0B9737FA8136271_13</vt:lpwstr>
  </property>
  <property fmtid="{D5CDD505-2E9C-101B-9397-08002B2CF9AE}" pid="3" name="KSOProductBuildVer">
    <vt:lpwstr>2052-12.1.0.28505</vt:lpwstr>
  </property>
</Properties>
</file>