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34"/>
  </p:notesMasterIdLst>
  <p:sldIdLst>
    <p:sldId id="256" r:id="rId3"/>
    <p:sldId id="257" r:id="rId4"/>
    <p:sldId id="258" r:id="rId5"/>
    <p:sldId id="260" r:id="rId6"/>
    <p:sldId id="261" r:id="rId7"/>
    <p:sldId id="263" r:id="rId8"/>
    <p:sldId id="264" r:id="rId9"/>
    <p:sldId id="265" r:id="rId10"/>
    <p:sldId id="266" r:id="rId11"/>
    <p:sldId id="267" r:id="rId12"/>
    <p:sldId id="268" r:id="rId13"/>
    <p:sldId id="269" r:id="rId14"/>
    <p:sldId id="270" r:id="rId15"/>
    <p:sldId id="271" r:id="rId16"/>
    <p:sldId id="273" r:id="rId17"/>
    <p:sldId id="295" r:id="rId18"/>
    <p:sldId id="274" r:id="rId19"/>
    <p:sldId id="275" r:id="rId20"/>
    <p:sldId id="276" r:id="rId21"/>
    <p:sldId id="278" r:id="rId22"/>
    <p:sldId id="280" r:id="rId23"/>
    <p:sldId id="284" r:id="rId24"/>
    <p:sldId id="290" r:id="rId25"/>
    <p:sldId id="288" r:id="rId26"/>
    <p:sldId id="289" r:id="rId27"/>
    <p:sldId id="292" r:id="rId28"/>
    <p:sldId id="291" r:id="rId29"/>
    <p:sldId id="286" r:id="rId30"/>
    <p:sldId id="294" r:id="rId31"/>
    <p:sldId id="293" r:id="rId32"/>
    <p:sldId id="287" r:id="rId33"/>
  </p:sldIdLst>
  <p:sldSz cx="18288000" cy="10287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4599F94E-CEE6-441E-89CC-EB005ECD8F06}">
      <a14:m xmlns:a14="http://schemas.microsoft.com/office/drawing/2010/main">
        <m:mathPr xmlns:m="http://schemas.openxmlformats.org/officeDocument/2006/math"/>
      </a14:m>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519" autoAdjust="0"/>
  </p:normalViewPr>
  <p:slideViewPr>
    <p:cSldViewPr snapToGrid="0">
      <p:cViewPr varScale="1">
        <p:scale>
          <a:sx n="55" d="100"/>
          <a:sy n="55" d="100"/>
        </p:scale>
        <p:origin x="466" y="5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89608-56CE-F1A4-B9BE-6C0B0940E7E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65DB5E-4C77-DB8C-CA0B-D1A164FE8B8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67BCDF6-70BB-5E8F-D043-4F563BFF5BE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23EE09C-FAAA-227D-3BF9-3A5A437FE46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DB1FF14-9DDD-5625-4ADE-A9D95B87F00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50F893FF-FD66-3E5D-478F-CB6236EEB5B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FAC9171-4D6C-A572-7F2F-C04800696B5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7474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446A1-309C-2F89-C64B-6553D45E445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AEB30-5106-3590-ECCF-665CAFB91FA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BE00935-AD88-863D-7938-4E27307C2BC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DCC09E5-C5AA-BBB7-A581-C6F7E27DDB1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4B06F73-9031-5C10-B8FB-4F94A7A999D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B4555D3F-A3BE-E11E-7389-58E31302FA6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EB44BFE-DEF1-C5A7-C76E-5DA760465B9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7530274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C0D1B-F554-FCD3-B516-AE4832E9FF6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14F6109-5573-9A1A-769E-4C921A49DE0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0AAC3CF-C076-241B-29FA-B87511681E3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4F6E5E0-2197-CF49-8D89-0238D32B018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9FDFCD1-9D14-3832-3EA3-5E4A6A93EC2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7AA44DBA-08F2-C2BE-2EEB-59CE1AE8B93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1ED0D1D-0953-2894-47B9-01CD3E902A7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323035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800DF-6418-535C-287C-44417EA7C75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D4F7FE-C431-11DD-A1FE-C5FDA3F2C0A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886202C-6990-24B1-E292-480A5175B39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6DA41E7-FD5E-797F-26C2-52F6146CC98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3759329-7965-89D6-707E-9E02A820EF1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AB4EB282-E0FC-AA14-993A-BCF12996673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BC12270-7334-B391-7189-908E161D5EE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01903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A57AA-6781-82AA-E7FB-769408EB681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3768C03-4819-96C0-A982-5C7D0D7429E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76E174E-669E-6624-E296-6E4BDC6C6F5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887EDFE-DC9E-515F-B886-588A623DA2C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8E139C8-3598-8832-798F-8C8C8A6BD2A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F9959288-B17C-7CE1-821A-9EB5E1E3346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36234E2-73AD-AE1B-E2C7-33381ADCD30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917589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D61AC-2D02-EC23-5BE2-2E468CC5BAD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886F5EB-4971-5F52-5381-AB2BAC1C4D7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619DE1F-DA48-76FA-A0D1-CD57E89B34C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6E8830D-83E3-10BD-692E-F2129D10228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9D6FC71-F469-72DA-212B-593A0AD5D0C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7DA578D0-9E97-2ED4-A97D-36057EAB744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FF35D78-8531-0D0A-A56D-026766C7999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115190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B1968-B234-F68D-9984-3139EF2795B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303DC75-17C8-4E97-80DD-9AEA80D609B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6B158C0-6BEA-5B37-AA16-71D266901F2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29C9E9F-1B3A-8FD8-3CA0-3B92BE3769A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274EB25-E25F-B532-3BC0-06DA8A2012A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21E4A667-A35E-C130-7F1F-1B9EE0C418C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5CFB366-4DE1-1129-91C8-0641026F8B2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32089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B2E5E-DC70-937B-D534-CADC68E1DEC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A77C99-DD70-2FCC-6E2B-C5FCB591458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08187F7-3172-DA63-3611-CCDE2BF10A7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4F428CA-E978-EE77-0521-7204C06404E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5044768-AC3B-7248-D5EF-C0D9FC44E6B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32010B54-2F5E-0DBA-0194-D978E1EA2F5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F7D1F96-1DFE-8607-E643-C2ADAE2AF13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534846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txBody>
          <a:bodyPr/>
          <a:lstStyle/>
          <a:p>
            <a:endParaRPr lang="zh-CN" altLang="en-US"/>
          </a:p>
        </p:txBody>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10800000">
            <a:off x="5334000" y="762000"/>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rot="10800000">
            <a:off x="6057900" y="1473200"/>
            <a:ext cx="6184900" cy="61849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4" name="AutoShape 4"/>
          <p:cNvSpPr/>
          <p:nvPr/>
        </p:nvSpPr>
        <p:spPr>
          <a:xfrm>
            <a:off x="1930400" y="2705100"/>
            <a:ext cx="14439900" cy="1651000"/>
          </a:xfrm>
          <a:prstGeom prst="rect">
            <a:avLst/>
          </a:prstGeom>
          <a:noFill/>
          <a:ln w="19050" cap="flat" cmpd="sng">
            <a:noFill/>
            <a:prstDash val="solid"/>
            <a:round/>
          </a:ln>
        </p:spPr>
        <p:txBody>
          <a:bodyPr vert="horz" wrap="square" lIns="0" tIns="0" rIns="0" bIns="0" rtlCol="0" anchor="t" anchorCtr="0"/>
          <a:lstStyle/>
          <a:p>
            <a:pPr marL="0" indent="0" algn="ctr">
              <a:lnSpc>
                <a:spcPts val="14935"/>
              </a:lnSpc>
              <a:defRPr/>
            </a:pPr>
            <a:r>
              <a:rPr lang="en-US" sz="10300" b="1" i="0" u="none" strike="noStrike" dirty="0">
                <a:solidFill>
                  <a:srgbClr val="004AAD"/>
                </a:solidFill>
                <a:latin typeface="仿宋"/>
                <a:ea typeface="仿宋"/>
                <a:cs typeface="仿宋"/>
                <a:sym typeface="仿宋"/>
              </a:rPr>
              <a:t>密码学-基础理论与应用</a:t>
            </a:r>
            <a:endParaRPr lang="en-US" sz="1100" dirty="0"/>
          </a:p>
        </p:txBody>
      </p:sp>
      <p:sp>
        <p:nvSpPr>
          <p:cNvPr id="5" name="Freeform 5"/>
          <p:cNvSpPr/>
          <p:nvPr/>
        </p:nvSpPr>
        <p:spPr>
          <a:xfrm>
            <a:off x="7747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001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7" name="Freeform 7"/>
          <p:cNvSpPr/>
          <p:nvPr/>
        </p:nvSpPr>
        <p:spPr>
          <a:xfrm>
            <a:off x="7747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001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9" name="Freeform 9"/>
          <p:cNvSpPr/>
          <p:nvPr/>
        </p:nvSpPr>
        <p:spPr>
          <a:xfrm>
            <a:off x="7747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001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1" name="Freeform 11"/>
          <p:cNvSpPr/>
          <p:nvPr/>
        </p:nvSpPr>
        <p:spPr>
          <a:xfrm>
            <a:off x="7747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001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3" name="Freeform 13"/>
          <p:cNvSpPr/>
          <p:nvPr/>
        </p:nvSpPr>
        <p:spPr>
          <a:xfrm>
            <a:off x="173355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73482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5" name="Freeform 15"/>
          <p:cNvSpPr/>
          <p:nvPr/>
        </p:nvSpPr>
        <p:spPr>
          <a:xfrm>
            <a:off x="173355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173482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7" name="Freeform 17"/>
          <p:cNvSpPr/>
          <p:nvPr/>
        </p:nvSpPr>
        <p:spPr>
          <a:xfrm>
            <a:off x="173355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173482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9" name="Freeform 19"/>
          <p:cNvSpPr/>
          <p:nvPr/>
        </p:nvSpPr>
        <p:spPr>
          <a:xfrm>
            <a:off x="173355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73482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1" name="AutoShape 21"/>
          <p:cNvSpPr/>
          <p:nvPr/>
        </p:nvSpPr>
        <p:spPr>
          <a:xfrm>
            <a:off x="2184400" y="5334000"/>
            <a:ext cx="13919200" cy="1231900"/>
          </a:xfrm>
          <a:prstGeom prst="rect">
            <a:avLst/>
          </a:prstGeom>
          <a:noFill/>
          <a:ln w="19050" cap="flat" cmpd="sng">
            <a:noFill/>
            <a:prstDash val="solid"/>
            <a:round/>
          </a:ln>
        </p:spPr>
        <p:txBody>
          <a:bodyPr vert="horz" wrap="square" lIns="0" tIns="0" rIns="0" bIns="0" rtlCol="0" anchor="t" anchorCtr="0"/>
          <a:lstStyle/>
          <a:p>
            <a:pPr marL="0" indent="0" algn="ctr">
              <a:lnSpc>
                <a:spcPts val="9600"/>
              </a:lnSpc>
              <a:defRPr/>
            </a:pPr>
            <a:r>
              <a:rPr lang="en-US" sz="8000" b="1" i="0" u="none" strike="noStrike" dirty="0">
                <a:solidFill>
                  <a:srgbClr val="004AAD"/>
                </a:solidFill>
                <a:latin typeface="仿宋"/>
                <a:ea typeface="仿宋"/>
                <a:cs typeface="仿宋"/>
                <a:sym typeface="仿宋"/>
              </a:rPr>
              <a:t>第</a:t>
            </a:r>
            <a:r>
              <a:rPr lang="zh-CN" altLang="en-US" sz="8000" b="1" dirty="0">
                <a:solidFill>
                  <a:srgbClr val="004AAD"/>
                </a:solidFill>
                <a:latin typeface="仿宋"/>
                <a:ea typeface="仿宋"/>
                <a:cs typeface="仿宋"/>
                <a:sym typeface="仿宋"/>
              </a:rPr>
              <a:t>五</a:t>
            </a:r>
            <a:r>
              <a:rPr lang="en-US" sz="8000" b="1" i="0" u="none" strike="noStrike" dirty="0">
                <a:solidFill>
                  <a:srgbClr val="004AAD"/>
                </a:solidFill>
                <a:latin typeface="仿宋"/>
                <a:ea typeface="仿宋"/>
                <a:cs typeface="仿宋"/>
                <a:sym typeface="仿宋"/>
              </a:rPr>
              <a:t>章 序列密码</a:t>
            </a:r>
            <a:endParaRPr lang="en-US" sz="1100" dirty="0"/>
          </a:p>
        </p:txBody>
      </p:sp>
      <p:sp>
        <p:nvSpPr>
          <p:cNvPr id="22" name="Freeform 22"/>
          <p:cNvSpPr/>
          <p:nvPr/>
        </p:nvSpPr>
        <p:spPr>
          <a:xfrm>
            <a:off x="-1028700" y="8496300"/>
            <a:ext cx="20887940" cy="1518437"/>
          </a:xfrm>
          <a:custGeom>
            <a:avLst/>
            <a:gdLst/>
            <a:ahLst/>
            <a:cxnLst/>
            <a:rect l="l" t="t" r="r" b="b"/>
            <a:pathLst>
              <a:path w="20887940" h="1518437">
                <a:moveTo>
                  <a:pt x="71773" y="0"/>
                </a:moveTo>
                <a:lnTo>
                  <a:pt x="20816167" y="0"/>
                </a:lnTo>
                <a:cubicBezTo>
                  <a:pt x="20835201" y="0"/>
                  <a:pt x="20853457" y="7563"/>
                  <a:pt x="20866917" y="21020"/>
                </a:cubicBezTo>
                <a:cubicBezTo>
                  <a:pt x="20880376" y="34479"/>
                  <a:pt x="20887940" y="52734"/>
                  <a:pt x="20887940" y="71773"/>
                </a:cubicBezTo>
                <a:lnTo>
                  <a:pt x="20887940" y="1446666"/>
                </a:lnTo>
                <a:cubicBezTo>
                  <a:pt x="20887940" y="1486305"/>
                  <a:pt x="20855807" y="1518437"/>
                  <a:pt x="20816167" y="1518437"/>
                </a:cubicBezTo>
                <a:lnTo>
                  <a:pt x="71773" y="1518437"/>
                </a:lnTo>
                <a:cubicBezTo>
                  <a:pt x="32134" y="1518437"/>
                  <a:pt x="0" y="1486305"/>
                  <a:pt x="0" y="1446666"/>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28700" y="8496300"/>
            <a:ext cx="20891500" cy="15240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4" name="Freeform 24"/>
          <p:cNvSpPr/>
          <p:nvPr/>
        </p:nvSpPr>
        <p:spPr>
          <a:xfrm>
            <a:off x="-1295400" y="8712200"/>
            <a:ext cx="20887940" cy="1718462"/>
          </a:xfrm>
          <a:custGeom>
            <a:avLst/>
            <a:gdLst/>
            <a:ahLst/>
            <a:cxnLst/>
            <a:rect l="l" t="t" r="r" b="b"/>
            <a:pathLst>
              <a:path w="20887940" h="1718462">
                <a:moveTo>
                  <a:pt x="71773" y="0"/>
                </a:moveTo>
                <a:lnTo>
                  <a:pt x="20816167" y="0"/>
                </a:lnTo>
                <a:cubicBezTo>
                  <a:pt x="20835201" y="0"/>
                  <a:pt x="20853457" y="7563"/>
                  <a:pt x="20866917" y="21020"/>
                </a:cubicBezTo>
                <a:cubicBezTo>
                  <a:pt x="20880376" y="34479"/>
                  <a:pt x="20887940" y="52734"/>
                  <a:pt x="20887940" y="71773"/>
                </a:cubicBezTo>
                <a:lnTo>
                  <a:pt x="20887940" y="1646695"/>
                </a:lnTo>
                <a:cubicBezTo>
                  <a:pt x="20887940" y="1686330"/>
                  <a:pt x="20855807" y="1718462"/>
                  <a:pt x="20816167" y="1718462"/>
                </a:cubicBezTo>
                <a:lnTo>
                  <a:pt x="71773" y="1718462"/>
                </a:lnTo>
                <a:cubicBezTo>
                  <a:pt x="32134" y="1718462"/>
                  <a:pt x="0" y="1686330"/>
                  <a:pt x="0" y="1646695"/>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1295400" y="8712200"/>
            <a:ext cx="20891500" cy="17145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6" name="AutoShape 26"/>
          <p:cNvSpPr/>
          <p:nvPr/>
        </p:nvSpPr>
        <p:spPr>
          <a:xfrm>
            <a:off x="15354300" y="9258300"/>
            <a:ext cx="2133600" cy="3683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128751B6-51E3-4A07-9CEF-AABFD87EF368}" type="slidenum">
              <a:rPr sz="1400" b="0" i="0" u="none" strike="noStrike">
                <a:solidFill>
                  <a:srgbClr val="FFC000"/>
                </a:solidFill>
                <a:latin typeface="Calibri"/>
                <a:ea typeface="Calibri"/>
                <a:cs typeface="Calibri"/>
                <a:sym typeface="Calibri"/>
              </a:rPr>
              <a:t>1</a:t>
            </a:fld>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747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001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4" name="Freeform 4"/>
          <p:cNvSpPr/>
          <p:nvPr/>
        </p:nvSpPr>
        <p:spPr>
          <a:xfrm>
            <a:off x="7747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001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6" name="Freeform 6"/>
          <p:cNvSpPr/>
          <p:nvPr/>
        </p:nvSpPr>
        <p:spPr>
          <a:xfrm>
            <a:off x="7747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01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8" name="Freeform 8"/>
          <p:cNvSpPr/>
          <p:nvPr/>
        </p:nvSpPr>
        <p:spPr>
          <a:xfrm>
            <a:off x="7747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001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0" name="Freeform 10"/>
          <p:cNvSpPr/>
          <p:nvPr/>
        </p:nvSpPr>
        <p:spPr>
          <a:xfrm>
            <a:off x="173355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73482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2" name="Freeform 12"/>
          <p:cNvSpPr/>
          <p:nvPr/>
        </p:nvSpPr>
        <p:spPr>
          <a:xfrm>
            <a:off x="173355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73482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4" name="Freeform 14"/>
          <p:cNvSpPr/>
          <p:nvPr/>
        </p:nvSpPr>
        <p:spPr>
          <a:xfrm>
            <a:off x="173355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73482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6" name="Freeform 16"/>
          <p:cNvSpPr/>
          <p:nvPr/>
        </p:nvSpPr>
        <p:spPr>
          <a:xfrm>
            <a:off x="173355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73482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8" name="AutoShape 18"/>
          <p:cNvSpPr/>
          <p:nvPr/>
        </p:nvSpPr>
        <p:spPr>
          <a:xfrm>
            <a:off x="2946400" y="3200400"/>
            <a:ext cx="2336800" cy="3175000"/>
          </a:xfrm>
          <a:prstGeom prst="rect">
            <a:avLst/>
          </a:prstGeom>
          <a:noFill/>
          <a:ln w="19050" cap="flat" cmpd="sng">
            <a:noFill/>
            <a:prstDash val="solid"/>
            <a:round/>
          </a:ln>
        </p:spPr>
        <p:txBody>
          <a:bodyPr vert="horz" wrap="square" lIns="0" tIns="0" rIns="0" bIns="0" rtlCol="0" anchor="t" anchorCtr="0"/>
          <a:lstStyle/>
          <a:p>
            <a:pPr marL="0" indent="0" algn="ctr">
              <a:lnSpc>
                <a:spcPts val="12880"/>
              </a:lnSpc>
              <a:defRPr/>
            </a:pPr>
            <a:r>
              <a:rPr lang="en-US" sz="9200" b="1" i="0" u="none" strike="noStrike" dirty="0" err="1">
                <a:solidFill>
                  <a:srgbClr val="004AAD"/>
                </a:solidFill>
                <a:latin typeface="仿宋"/>
                <a:ea typeface="仿宋"/>
                <a:cs typeface="仿宋"/>
                <a:sym typeface="仿宋"/>
              </a:rPr>
              <a:t>目录</a:t>
            </a:r>
            <a:endParaRPr lang="en-US" sz="1100" dirty="0"/>
          </a:p>
        </p:txBody>
      </p:sp>
      <p:sp>
        <p:nvSpPr>
          <p:cNvPr id="19" name="AutoShape 19"/>
          <p:cNvSpPr/>
          <p:nvPr/>
        </p:nvSpPr>
        <p:spPr>
          <a:xfrm>
            <a:off x="2743200" y="4610100"/>
            <a:ext cx="2743200" cy="495300"/>
          </a:xfrm>
          <a:prstGeom prst="rect">
            <a:avLst/>
          </a:prstGeom>
          <a:noFill/>
          <a:ln w="19050" cap="flat" cmpd="sng">
            <a:noFill/>
            <a:prstDash val="solid"/>
            <a:round/>
          </a:ln>
        </p:spPr>
        <p:txBody>
          <a:bodyPr vert="horz" wrap="square" lIns="0" tIns="0" rIns="0" bIns="0" rtlCol="0" anchor="t" anchorCtr="0"/>
          <a:lstStyle/>
          <a:p>
            <a:pPr marL="0" indent="0" algn="ctr">
              <a:lnSpc>
                <a:spcPts val="4200"/>
              </a:lnSpc>
              <a:defRPr/>
            </a:pPr>
            <a:r>
              <a:rPr lang="en-US" sz="3000" b="0" i="0" u="none" strike="noStrike">
                <a:solidFill>
                  <a:srgbClr val="004AAD"/>
                </a:solidFill>
                <a:latin typeface="Times New Roman"/>
                <a:ea typeface="Times New Roman"/>
                <a:cs typeface="Times New Roman"/>
                <a:sym typeface="Times New Roman"/>
              </a:rPr>
              <a:t>CONTENTS</a:t>
            </a:r>
            <a:endParaRPr lang="en-US" sz="1100"/>
          </a:p>
        </p:txBody>
      </p:sp>
      <p:sp>
        <p:nvSpPr>
          <p:cNvPr id="20" name="AutoShape 20"/>
          <p:cNvSpPr/>
          <p:nvPr/>
        </p:nvSpPr>
        <p:spPr>
          <a:xfrm>
            <a:off x="8413750" y="1333500"/>
            <a:ext cx="838200" cy="660400"/>
          </a:xfrm>
          <a:prstGeom prst="rect">
            <a:avLst/>
          </a:prstGeom>
          <a:noFill/>
          <a:ln w="19050" cap="flat" cmpd="sng">
            <a:noFill/>
            <a:prstDash val="solid"/>
            <a:round/>
          </a:ln>
        </p:spPr>
        <p:txBody>
          <a:bodyPr vert="horz" wrap="square" lIns="0" tIns="0" rIns="0" bIns="0" rtlCol="0" anchor="t" anchorCtr="0"/>
          <a:lstStyle/>
          <a:p>
            <a:pPr marL="0" indent="0">
              <a:lnSpc>
                <a:spcPts val="5600"/>
              </a:lnSpc>
              <a:defRPr/>
            </a:pPr>
            <a:r>
              <a:rPr lang="en-US" sz="4000" b="1" i="0" u="none" strike="noStrike" dirty="0">
                <a:solidFill>
                  <a:srgbClr val="004AAD"/>
                </a:solidFill>
                <a:latin typeface="Times New Roman"/>
                <a:ea typeface="Times New Roman"/>
                <a:cs typeface="Times New Roman"/>
                <a:sym typeface="Times New Roman"/>
              </a:rPr>
              <a:t>5.1</a:t>
            </a:r>
            <a:endParaRPr lang="en-US" sz="1100" dirty="0"/>
          </a:p>
        </p:txBody>
      </p:sp>
      <p:sp>
        <p:nvSpPr>
          <p:cNvPr id="21" name="AutoShape 21"/>
          <p:cNvSpPr/>
          <p:nvPr/>
        </p:nvSpPr>
        <p:spPr>
          <a:xfrm>
            <a:off x="9639300" y="1371600"/>
            <a:ext cx="5499100" cy="660400"/>
          </a:xfrm>
          <a:prstGeom prst="rect">
            <a:avLst/>
          </a:prstGeom>
          <a:noFill/>
          <a:ln w="19050" cap="flat" cmpd="sng">
            <a:noFill/>
            <a:prstDash val="solid"/>
            <a:round/>
          </a:ln>
        </p:spPr>
        <p:txBody>
          <a:bodyPr vert="horz" wrap="square" lIns="0" tIns="0" rIns="0" bIns="0" rtlCol="0" anchor="t" anchorCtr="0"/>
          <a:lstStyle/>
          <a:p>
            <a:pPr marL="0" indent="0">
              <a:lnSpc>
                <a:spcPts val="5880"/>
              </a:lnSpc>
              <a:defRPr/>
            </a:pPr>
            <a:r>
              <a:rPr lang="en-US" sz="4200" b="1" i="0" u="none" strike="noStrike" dirty="0">
                <a:solidFill>
                  <a:srgbClr val="000000"/>
                </a:solidFill>
                <a:latin typeface="仿宋" panose="02010609060101010101" pitchFamily="49" charset="-122"/>
                <a:ea typeface="仿宋" panose="02010609060101010101" pitchFamily="49" charset="-122"/>
                <a:cs typeface="仿宋"/>
                <a:sym typeface="仿宋"/>
              </a:rPr>
              <a:t>序列密码的概述</a:t>
            </a:r>
            <a:endParaRPr lang="en-US" sz="1100" dirty="0">
              <a:latin typeface="仿宋" panose="02010609060101010101" pitchFamily="49" charset="-122"/>
              <a:ea typeface="仿宋" panose="02010609060101010101" pitchFamily="49" charset="-122"/>
            </a:endParaRPr>
          </a:p>
        </p:txBody>
      </p:sp>
      <p:sp>
        <p:nvSpPr>
          <p:cNvPr id="22" name="AutoShape 22"/>
          <p:cNvSpPr/>
          <p:nvPr/>
        </p:nvSpPr>
        <p:spPr>
          <a:xfrm>
            <a:off x="8248650" y="2313245"/>
            <a:ext cx="927100" cy="660400"/>
          </a:xfrm>
          <a:prstGeom prst="rect">
            <a:avLst/>
          </a:prstGeom>
          <a:noFill/>
          <a:ln w="19050" cap="flat" cmpd="sng">
            <a:noFill/>
            <a:prstDash val="solid"/>
            <a:round/>
          </a:ln>
        </p:spPr>
        <p:txBody>
          <a:bodyPr vert="horz" wrap="square" lIns="0" tIns="0" rIns="0" bIns="0" rtlCol="0" anchor="t" anchorCtr="0"/>
          <a:lstStyle/>
          <a:p>
            <a:pPr marL="0" indent="0" algn="ctr">
              <a:lnSpc>
                <a:spcPts val="5600"/>
              </a:lnSpc>
              <a:defRPr/>
            </a:pPr>
            <a:r>
              <a:rPr lang="en-US" sz="4000" b="1" i="0" u="none" strike="noStrike" dirty="0">
                <a:solidFill>
                  <a:srgbClr val="004AAD"/>
                </a:solidFill>
                <a:latin typeface="Times New Roman"/>
                <a:ea typeface="Times New Roman"/>
                <a:cs typeface="Times New Roman"/>
                <a:sym typeface="Times New Roman"/>
              </a:rPr>
              <a:t>5.2</a:t>
            </a:r>
            <a:endParaRPr lang="en-US" sz="1100" dirty="0"/>
          </a:p>
        </p:txBody>
      </p:sp>
      <p:sp>
        <p:nvSpPr>
          <p:cNvPr id="23" name="AutoShape 23"/>
          <p:cNvSpPr/>
          <p:nvPr/>
        </p:nvSpPr>
        <p:spPr>
          <a:xfrm>
            <a:off x="9639300" y="2349500"/>
            <a:ext cx="5829300" cy="660400"/>
          </a:xfrm>
          <a:prstGeom prst="rect">
            <a:avLst/>
          </a:prstGeom>
          <a:noFill/>
          <a:ln w="19050" cap="flat" cmpd="sng">
            <a:noFill/>
            <a:prstDash val="solid"/>
            <a:round/>
          </a:ln>
        </p:spPr>
        <p:txBody>
          <a:bodyPr vert="horz" wrap="square" lIns="0" tIns="0" rIns="0" bIns="0" rtlCol="0" anchor="t" anchorCtr="0"/>
          <a:lstStyle/>
          <a:p>
            <a:pPr marL="0" indent="0">
              <a:lnSpc>
                <a:spcPts val="5880"/>
              </a:lnSpc>
              <a:defRPr/>
            </a:pPr>
            <a:r>
              <a:rPr lang="en-US" sz="4200" b="1" i="0" u="none" strike="noStrike" dirty="0">
                <a:solidFill>
                  <a:srgbClr val="000000"/>
                </a:solidFill>
                <a:latin typeface="仿宋"/>
                <a:ea typeface="仿宋"/>
                <a:cs typeface="仿宋"/>
                <a:sym typeface="仿宋"/>
              </a:rPr>
              <a:t>序列密码的组成</a:t>
            </a:r>
            <a:endParaRPr lang="en-US" sz="1100" dirty="0"/>
          </a:p>
        </p:txBody>
      </p:sp>
      <p:sp>
        <p:nvSpPr>
          <p:cNvPr id="24" name="AutoShape 24"/>
          <p:cNvSpPr/>
          <p:nvPr/>
        </p:nvSpPr>
        <p:spPr>
          <a:xfrm>
            <a:off x="8248650" y="3375225"/>
            <a:ext cx="927100" cy="660400"/>
          </a:xfrm>
          <a:prstGeom prst="rect">
            <a:avLst/>
          </a:prstGeom>
          <a:noFill/>
          <a:ln w="19050" cap="flat" cmpd="sng">
            <a:noFill/>
            <a:prstDash val="solid"/>
            <a:round/>
          </a:ln>
        </p:spPr>
        <p:txBody>
          <a:bodyPr vert="horz" wrap="square" lIns="0" tIns="0" rIns="0" bIns="0" rtlCol="0" anchor="t" anchorCtr="0"/>
          <a:lstStyle/>
          <a:p>
            <a:pPr marL="0" indent="0" algn="ctr">
              <a:lnSpc>
                <a:spcPts val="5600"/>
              </a:lnSpc>
              <a:defRPr/>
            </a:pPr>
            <a:r>
              <a:rPr lang="en-US" sz="4000" b="1" i="0" u="none" strike="noStrike" dirty="0">
                <a:solidFill>
                  <a:srgbClr val="004AAD"/>
                </a:solidFill>
                <a:latin typeface="Times New Roman"/>
                <a:ea typeface="Times New Roman"/>
                <a:cs typeface="Times New Roman"/>
                <a:sym typeface="Times New Roman"/>
              </a:rPr>
              <a:t>5.3</a:t>
            </a:r>
            <a:endParaRPr lang="en-US" sz="1100" dirty="0"/>
          </a:p>
        </p:txBody>
      </p:sp>
      <p:sp>
        <p:nvSpPr>
          <p:cNvPr id="25" name="AutoShape 25"/>
          <p:cNvSpPr/>
          <p:nvPr/>
        </p:nvSpPr>
        <p:spPr>
          <a:xfrm>
            <a:off x="9785350" y="3334074"/>
            <a:ext cx="5537200" cy="660400"/>
          </a:xfrm>
          <a:prstGeom prst="rect">
            <a:avLst/>
          </a:prstGeom>
          <a:noFill/>
          <a:ln w="19050" cap="flat" cmpd="sng">
            <a:noFill/>
            <a:prstDash val="solid"/>
            <a:round/>
          </a:ln>
        </p:spPr>
        <p:txBody>
          <a:bodyPr vert="horz" wrap="square" lIns="0" tIns="0" rIns="0" bIns="0" rtlCol="0" anchor="t" anchorCtr="0"/>
          <a:lstStyle/>
          <a:p>
            <a:pPr marL="0" indent="0">
              <a:lnSpc>
                <a:spcPts val="5880"/>
              </a:lnSpc>
              <a:defRPr/>
            </a:pPr>
            <a:r>
              <a:rPr lang="en-US" sz="4200" b="1" i="0" u="none" strike="noStrike" dirty="0">
                <a:solidFill>
                  <a:srgbClr val="000000"/>
                </a:solidFill>
                <a:latin typeface="Times New Roman" panose="02020603050405020304" pitchFamily="18" charset="0"/>
                <a:ea typeface="仿宋"/>
                <a:cs typeface="Times New Roman" panose="02020603050405020304" pitchFamily="18" charset="0"/>
                <a:sym typeface="仿宋"/>
              </a:rPr>
              <a:t>LFSR</a:t>
            </a:r>
            <a:endParaRPr lang="en-US" sz="1100" dirty="0">
              <a:latin typeface="Times New Roman" panose="02020603050405020304" pitchFamily="18" charset="0"/>
              <a:cs typeface="Times New Roman" panose="02020603050405020304" pitchFamily="18" charset="0"/>
            </a:endParaRPr>
          </a:p>
        </p:txBody>
      </p:sp>
      <p:sp>
        <p:nvSpPr>
          <p:cNvPr id="26" name="Freeform 26"/>
          <p:cNvSpPr/>
          <p:nvPr/>
        </p:nvSpPr>
        <p:spPr>
          <a:xfrm>
            <a:off x="-1028700" y="9105900"/>
            <a:ext cx="20888195" cy="1035153"/>
          </a:xfrm>
          <a:custGeom>
            <a:avLst/>
            <a:gdLst/>
            <a:ahLst/>
            <a:cxnLst/>
            <a:rect l="l" t="t" r="r" b="b"/>
            <a:pathLst>
              <a:path w="20888195" h="1035153">
                <a:moveTo>
                  <a:pt x="71773" y="0"/>
                </a:moveTo>
                <a:lnTo>
                  <a:pt x="20816423" y="0"/>
                </a:lnTo>
                <a:cubicBezTo>
                  <a:pt x="20835456" y="0"/>
                  <a:pt x="20853712" y="5156"/>
                  <a:pt x="20867172" y="14329"/>
                </a:cubicBezTo>
                <a:cubicBezTo>
                  <a:pt x="20880633" y="23505"/>
                  <a:pt x="20888195" y="35950"/>
                  <a:pt x="20888195" y="48929"/>
                </a:cubicBezTo>
                <a:lnTo>
                  <a:pt x="20888195" y="986225"/>
                </a:lnTo>
                <a:cubicBezTo>
                  <a:pt x="20888195" y="1013247"/>
                  <a:pt x="20856063" y="1035153"/>
                  <a:pt x="20816423" y="1035153"/>
                </a:cubicBezTo>
                <a:lnTo>
                  <a:pt x="71773" y="1035153"/>
                </a:lnTo>
                <a:cubicBezTo>
                  <a:pt x="32134" y="1035153"/>
                  <a:pt x="0" y="1013247"/>
                  <a:pt x="0" y="986225"/>
                </a:cubicBezTo>
                <a:lnTo>
                  <a:pt x="0" y="48929"/>
                </a:lnTo>
                <a:cubicBezTo>
                  <a:pt x="0" y="21906"/>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7" name="Freeform 27"/>
          <p:cNvSpPr/>
          <p:nvPr/>
        </p:nvSpPr>
        <p:spPr>
          <a:xfrm>
            <a:off x="-1295400" y="9258300"/>
            <a:ext cx="20888195" cy="1171514"/>
          </a:xfrm>
          <a:custGeom>
            <a:avLst/>
            <a:gdLst/>
            <a:ahLst/>
            <a:cxnLst/>
            <a:rect l="l" t="t" r="r" b="b"/>
            <a:pathLst>
              <a:path w="20888195" h="1171514">
                <a:moveTo>
                  <a:pt x="71773" y="0"/>
                </a:moveTo>
                <a:lnTo>
                  <a:pt x="20816423" y="0"/>
                </a:lnTo>
                <a:cubicBezTo>
                  <a:pt x="20835456" y="0"/>
                  <a:pt x="20853712" y="5156"/>
                  <a:pt x="20867172" y="14329"/>
                </a:cubicBezTo>
                <a:cubicBezTo>
                  <a:pt x="20880633" y="23505"/>
                  <a:pt x="20888195" y="35950"/>
                  <a:pt x="20888195" y="48929"/>
                </a:cubicBezTo>
                <a:lnTo>
                  <a:pt x="20888195" y="1122587"/>
                </a:lnTo>
                <a:cubicBezTo>
                  <a:pt x="20888195" y="1149608"/>
                  <a:pt x="20856063" y="1171514"/>
                  <a:pt x="20816423" y="1171514"/>
                </a:cubicBezTo>
                <a:lnTo>
                  <a:pt x="71773" y="1171514"/>
                </a:lnTo>
                <a:cubicBezTo>
                  <a:pt x="32134" y="1171514"/>
                  <a:pt x="0" y="1149608"/>
                  <a:pt x="0" y="1122587"/>
                </a:cubicBezTo>
                <a:lnTo>
                  <a:pt x="0" y="48929"/>
                </a:lnTo>
                <a:cubicBezTo>
                  <a:pt x="0" y="21906"/>
                  <a:pt x="32134" y="0"/>
                  <a:pt x="71773" y="0"/>
                </a:cubicBezTo>
                <a:close/>
              </a:path>
            </a:pathLst>
          </a:custGeom>
          <a:solidFill>
            <a:srgbClr val="013E7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15379700" y="95758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r>
              <a:rPr lang="en-US" sz="1400" b="0" i="0" u="none" strike="noStrike" dirty="0">
                <a:solidFill>
                  <a:srgbClr val="FFC000"/>
                </a:solidFill>
                <a:latin typeface="Calibri"/>
                <a:ea typeface="Calibri"/>
                <a:cs typeface="Calibri"/>
                <a:sym typeface="Calibri"/>
              </a:rPr>
              <a:t>2</a:t>
            </a:r>
            <a:endParaRPr lang="en-US" sz="1100" dirty="0"/>
          </a:p>
        </p:txBody>
      </p:sp>
      <p:sp>
        <p:nvSpPr>
          <p:cNvPr id="29" name="AutoShape 29"/>
          <p:cNvSpPr/>
          <p:nvPr/>
        </p:nvSpPr>
        <p:spPr>
          <a:xfrm>
            <a:off x="800100" y="6096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30" name="Picture 30"/>
          <p:cNvPicPr>
            <a:picLocks noChangeAspect="1"/>
          </p:cNvPicPr>
          <p:nvPr/>
        </p:nvPicPr>
        <p:blipFill>
          <a:blip r:embed="rId3"/>
          <a:srcRect/>
          <a:stretch>
            <a:fillRect/>
          </a:stretch>
        </p:blipFill>
        <p:spPr>
          <a:xfrm>
            <a:off x="927100" y="977900"/>
            <a:ext cx="2768600" cy="50800"/>
          </a:xfrm>
          <a:prstGeom prst="rect">
            <a:avLst/>
          </a:prstGeom>
          <a:noFill/>
          <a:ln w="25400" cap="flat" cmpd="sng">
            <a:noFill/>
            <a:prstDash val="solid"/>
            <a:round/>
          </a:ln>
        </p:spPr>
      </p:pic>
      <p:sp>
        <p:nvSpPr>
          <p:cNvPr id="31" name="AutoShape 24">
            <a:extLst>
              <a:ext uri="{FF2B5EF4-FFF2-40B4-BE49-F238E27FC236}">
                <a16:creationId xmlns:a16="http://schemas.microsoft.com/office/drawing/2014/main" id="{D4C383C7-08AC-81C1-6AEE-3381F4AE50B4}"/>
              </a:ext>
            </a:extLst>
          </p:cNvPr>
          <p:cNvSpPr/>
          <p:nvPr/>
        </p:nvSpPr>
        <p:spPr>
          <a:xfrm>
            <a:off x="8216900" y="4235076"/>
            <a:ext cx="927100" cy="660400"/>
          </a:xfrm>
          <a:prstGeom prst="rect">
            <a:avLst/>
          </a:prstGeom>
          <a:noFill/>
          <a:ln w="19050" cap="flat" cmpd="sng">
            <a:noFill/>
            <a:prstDash val="solid"/>
            <a:round/>
          </a:ln>
        </p:spPr>
        <p:txBody>
          <a:bodyPr vert="horz" wrap="square" lIns="0" tIns="0" rIns="0" bIns="0" rtlCol="0" anchor="t" anchorCtr="0"/>
          <a:lstStyle/>
          <a:p>
            <a:pPr marL="0" indent="0" algn="ctr">
              <a:lnSpc>
                <a:spcPts val="5600"/>
              </a:lnSpc>
              <a:defRPr/>
            </a:pPr>
            <a:r>
              <a:rPr lang="en-US" sz="4000" b="1" i="0" u="none" strike="noStrike" dirty="0">
                <a:solidFill>
                  <a:srgbClr val="004AAD"/>
                </a:solidFill>
                <a:latin typeface="Times New Roman"/>
                <a:ea typeface="Times New Roman"/>
                <a:cs typeface="Times New Roman"/>
                <a:sym typeface="Times New Roman"/>
              </a:rPr>
              <a:t>5.4</a:t>
            </a:r>
            <a:endParaRPr lang="en-US" sz="1100" dirty="0"/>
          </a:p>
        </p:txBody>
      </p:sp>
      <p:sp>
        <p:nvSpPr>
          <p:cNvPr id="32" name="AutoShape 24">
            <a:extLst>
              <a:ext uri="{FF2B5EF4-FFF2-40B4-BE49-F238E27FC236}">
                <a16:creationId xmlns:a16="http://schemas.microsoft.com/office/drawing/2014/main" id="{DF86587A-F471-8637-15B0-D4D9BE618227}"/>
              </a:ext>
            </a:extLst>
          </p:cNvPr>
          <p:cNvSpPr/>
          <p:nvPr/>
        </p:nvSpPr>
        <p:spPr>
          <a:xfrm>
            <a:off x="8216900" y="5143500"/>
            <a:ext cx="927100" cy="660400"/>
          </a:xfrm>
          <a:prstGeom prst="rect">
            <a:avLst/>
          </a:prstGeom>
          <a:noFill/>
          <a:ln w="19050" cap="flat" cmpd="sng">
            <a:noFill/>
            <a:prstDash val="solid"/>
            <a:round/>
          </a:ln>
        </p:spPr>
        <p:txBody>
          <a:bodyPr vert="horz" wrap="square" lIns="0" tIns="0" rIns="0" bIns="0" rtlCol="0" anchor="t" anchorCtr="0"/>
          <a:lstStyle/>
          <a:p>
            <a:pPr marL="0" indent="0" algn="ctr">
              <a:lnSpc>
                <a:spcPts val="5600"/>
              </a:lnSpc>
              <a:defRPr/>
            </a:pPr>
            <a:r>
              <a:rPr lang="en-US" sz="4000" b="1" i="0" u="none" strike="noStrike" dirty="0">
                <a:solidFill>
                  <a:srgbClr val="004AAD"/>
                </a:solidFill>
                <a:latin typeface="Times New Roman"/>
                <a:ea typeface="Times New Roman"/>
                <a:cs typeface="Times New Roman"/>
                <a:sym typeface="Times New Roman"/>
              </a:rPr>
              <a:t>5.5</a:t>
            </a:r>
            <a:endParaRPr lang="en-US" sz="1100" dirty="0"/>
          </a:p>
        </p:txBody>
      </p:sp>
      <p:sp>
        <p:nvSpPr>
          <p:cNvPr id="33" name="AutoShape 25">
            <a:extLst>
              <a:ext uri="{FF2B5EF4-FFF2-40B4-BE49-F238E27FC236}">
                <a16:creationId xmlns:a16="http://schemas.microsoft.com/office/drawing/2014/main" id="{57279C35-64AF-EA1E-9978-493B402009A7}"/>
              </a:ext>
            </a:extLst>
          </p:cNvPr>
          <p:cNvSpPr/>
          <p:nvPr/>
        </p:nvSpPr>
        <p:spPr>
          <a:xfrm>
            <a:off x="9683750" y="4154962"/>
            <a:ext cx="7664450" cy="955235"/>
          </a:xfrm>
          <a:prstGeom prst="rect">
            <a:avLst/>
          </a:prstGeom>
          <a:noFill/>
          <a:ln w="19050" cap="flat" cmpd="sng">
            <a:noFill/>
            <a:prstDash val="solid"/>
            <a:round/>
          </a:ln>
        </p:spPr>
        <p:txBody>
          <a:bodyPr vert="horz" wrap="square" lIns="0" tIns="0" rIns="0" bIns="0" rtlCol="0" anchor="t" anchorCtr="0"/>
          <a:lstStyle/>
          <a:p>
            <a:pPr>
              <a:lnSpc>
                <a:spcPts val="5880"/>
              </a:lnSpc>
              <a:defRPr/>
            </a:pPr>
            <a:r>
              <a:rPr lang="zh-CN" altLang="zh-CN" sz="4200" b="1" dirty="0">
                <a:latin typeface="仿宋" panose="02010609060101010101" pitchFamily="49" charset="-122"/>
                <a:ea typeface="仿宋" panose="02010609060101010101" pitchFamily="49" charset="-122"/>
              </a:rPr>
              <a:t>欧洲</a:t>
            </a:r>
            <a:r>
              <a:rPr lang="en-US" altLang="zh-CN" sz="4200" b="1" dirty="0">
                <a:latin typeface="Times New Roman" panose="02020603050405020304" pitchFamily="18" charset="0"/>
                <a:ea typeface="仿宋" panose="02010609060101010101" pitchFamily="49" charset="-122"/>
                <a:cs typeface="Times New Roman" panose="02020603050405020304" pitchFamily="18" charset="0"/>
              </a:rPr>
              <a:t>eSTREAM</a:t>
            </a:r>
            <a:r>
              <a:rPr lang="zh-CN" altLang="zh-CN" sz="4200" b="1" dirty="0">
                <a:latin typeface="仿宋" panose="02010609060101010101" pitchFamily="49" charset="-122"/>
                <a:ea typeface="仿宋" panose="02010609060101010101" pitchFamily="49" charset="-122"/>
              </a:rPr>
              <a:t>序列密码</a:t>
            </a:r>
            <a:endParaRPr lang="en-US" sz="4200" b="1" dirty="0">
              <a:latin typeface="仿宋" panose="02010609060101010101" pitchFamily="49" charset="-122"/>
              <a:ea typeface="仿宋" panose="02010609060101010101" pitchFamily="49" charset="-122"/>
            </a:endParaRPr>
          </a:p>
        </p:txBody>
      </p:sp>
      <p:sp>
        <p:nvSpPr>
          <p:cNvPr id="34" name="AutoShape 5">
            <a:extLst>
              <a:ext uri="{FF2B5EF4-FFF2-40B4-BE49-F238E27FC236}">
                <a16:creationId xmlns:a16="http://schemas.microsoft.com/office/drawing/2014/main" id="{AF284CFD-F7BA-29E0-B627-30315686F395}"/>
              </a:ext>
            </a:extLst>
          </p:cNvPr>
          <p:cNvSpPr/>
          <p:nvPr/>
        </p:nvSpPr>
        <p:spPr>
          <a:xfrm>
            <a:off x="9715121" y="5930732"/>
            <a:ext cx="9461500" cy="1328644"/>
          </a:xfrm>
          <a:prstGeom prst="rect">
            <a:avLst/>
          </a:prstGeom>
          <a:noFill/>
          <a:ln w="19050" cap="flat" cmpd="sng">
            <a:noFill/>
            <a:prstDash val="solid"/>
            <a:round/>
          </a:ln>
        </p:spPr>
        <p:txBody>
          <a:bodyPr vert="horz" wrap="square" lIns="0" tIns="0" rIns="0" bIns="0" rtlCol="0" anchor="t" anchorCtr="0"/>
          <a:lstStyle/>
          <a:p>
            <a:r>
              <a:rPr lang="zh-CN" altLang="zh-CN" sz="4200" b="1" dirty="0">
                <a:solidFill>
                  <a:schemeClr val="tx1"/>
                </a:solidFill>
                <a:latin typeface="仿宋" panose="02010609060101010101" pitchFamily="49" charset="-122"/>
                <a:ea typeface="仿宋" panose="02010609060101010101" pitchFamily="49" charset="-122"/>
              </a:rPr>
              <a:t>序列密码算法的未来发展趋势</a:t>
            </a:r>
          </a:p>
        </p:txBody>
      </p:sp>
      <p:sp>
        <p:nvSpPr>
          <p:cNvPr id="35" name="AutoShape 24">
            <a:extLst>
              <a:ext uri="{FF2B5EF4-FFF2-40B4-BE49-F238E27FC236}">
                <a16:creationId xmlns:a16="http://schemas.microsoft.com/office/drawing/2014/main" id="{DA3214A4-247E-B2DD-336E-F9D725CE594A}"/>
              </a:ext>
            </a:extLst>
          </p:cNvPr>
          <p:cNvSpPr/>
          <p:nvPr/>
        </p:nvSpPr>
        <p:spPr>
          <a:xfrm>
            <a:off x="8369300" y="5883020"/>
            <a:ext cx="685800" cy="622300"/>
          </a:xfrm>
          <a:prstGeom prst="rect">
            <a:avLst/>
          </a:prstGeom>
          <a:noFill/>
          <a:ln w="19050" cap="flat" cmpd="sng">
            <a:noFill/>
            <a:prstDash val="solid"/>
            <a:round/>
          </a:ln>
        </p:spPr>
        <p:txBody>
          <a:bodyPr vert="horz" wrap="square" lIns="0" tIns="0" rIns="0" bIns="0" rtlCol="0" anchor="t" anchorCtr="0"/>
          <a:lstStyle/>
          <a:p>
            <a:pPr marL="0" indent="0">
              <a:lnSpc>
                <a:spcPts val="5600"/>
              </a:lnSpc>
              <a:defRPr/>
            </a:pPr>
            <a:r>
              <a:rPr lang="en-US" sz="4000" b="1" i="0" u="none" strike="noStrike" dirty="0">
                <a:solidFill>
                  <a:srgbClr val="004AAD"/>
                </a:solidFill>
                <a:latin typeface="Times New Roman"/>
                <a:ea typeface="Times New Roman"/>
                <a:cs typeface="Times New Roman"/>
                <a:sym typeface="Times New Roman"/>
              </a:rPr>
              <a:t>5.</a:t>
            </a:r>
            <a:r>
              <a:rPr lang="en-US" sz="4000" b="1" dirty="0">
                <a:solidFill>
                  <a:srgbClr val="004AAD"/>
                </a:solidFill>
                <a:latin typeface="Times New Roman"/>
                <a:ea typeface="Times New Roman"/>
                <a:cs typeface="Times New Roman"/>
                <a:sym typeface="Times New Roman"/>
              </a:rPr>
              <a:t>6</a:t>
            </a:r>
            <a:endParaRPr lang="en-US" sz="1100" dirty="0"/>
          </a:p>
        </p:txBody>
      </p:sp>
      <p:sp>
        <p:nvSpPr>
          <p:cNvPr id="36" name="AutoShape 24">
            <a:extLst>
              <a:ext uri="{FF2B5EF4-FFF2-40B4-BE49-F238E27FC236}">
                <a16:creationId xmlns:a16="http://schemas.microsoft.com/office/drawing/2014/main" id="{C03E1A92-544A-AD58-0A52-CB22B8898C33}"/>
              </a:ext>
            </a:extLst>
          </p:cNvPr>
          <p:cNvSpPr/>
          <p:nvPr/>
        </p:nvSpPr>
        <p:spPr>
          <a:xfrm>
            <a:off x="8413750" y="6750050"/>
            <a:ext cx="927100" cy="660400"/>
          </a:xfrm>
          <a:prstGeom prst="rect">
            <a:avLst/>
          </a:prstGeom>
          <a:noFill/>
          <a:ln w="19050" cap="flat" cmpd="sng">
            <a:noFill/>
            <a:prstDash val="solid"/>
            <a:round/>
          </a:ln>
        </p:spPr>
        <p:txBody>
          <a:bodyPr vert="horz" wrap="square" lIns="0" tIns="0" rIns="0" bIns="0" rtlCol="0" anchor="t" anchorCtr="0"/>
          <a:lstStyle/>
          <a:p>
            <a:pPr marL="0" indent="0">
              <a:lnSpc>
                <a:spcPts val="5600"/>
              </a:lnSpc>
              <a:defRPr/>
            </a:pPr>
            <a:r>
              <a:rPr lang="en-US" sz="4000" b="1" i="0" u="none" strike="noStrike" dirty="0">
                <a:solidFill>
                  <a:srgbClr val="004AAD"/>
                </a:solidFill>
                <a:latin typeface="Times New Roman"/>
                <a:ea typeface="Times New Roman"/>
                <a:cs typeface="Times New Roman"/>
                <a:sym typeface="Times New Roman"/>
              </a:rPr>
              <a:t>5.</a:t>
            </a:r>
            <a:r>
              <a:rPr lang="en-US" sz="4000" b="1" dirty="0">
                <a:solidFill>
                  <a:srgbClr val="004AAD"/>
                </a:solidFill>
                <a:latin typeface="Times New Roman"/>
                <a:ea typeface="Times New Roman"/>
                <a:cs typeface="Times New Roman"/>
                <a:sym typeface="Times New Roman"/>
              </a:rPr>
              <a:t>7</a:t>
            </a:r>
            <a:endParaRPr lang="en-US" sz="1100" dirty="0"/>
          </a:p>
        </p:txBody>
      </p:sp>
      <p:sp>
        <p:nvSpPr>
          <p:cNvPr id="38" name="文本框 37">
            <a:extLst>
              <a:ext uri="{FF2B5EF4-FFF2-40B4-BE49-F238E27FC236}">
                <a16:creationId xmlns:a16="http://schemas.microsoft.com/office/drawing/2014/main" id="{F7F0EF2E-B9F5-8CC5-4BB3-437B0B6586F7}"/>
              </a:ext>
            </a:extLst>
          </p:cNvPr>
          <p:cNvSpPr txBox="1"/>
          <p:nvPr/>
        </p:nvSpPr>
        <p:spPr>
          <a:xfrm>
            <a:off x="9639300" y="5065236"/>
            <a:ext cx="10574214" cy="738664"/>
          </a:xfrm>
          <a:prstGeom prst="rect">
            <a:avLst/>
          </a:prstGeom>
          <a:noFill/>
        </p:spPr>
        <p:txBody>
          <a:bodyPr wrap="square">
            <a:spAutoFit/>
          </a:bodyPr>
          <a:lstStyle/>
          <a:p>
            <a:r>
              <a:rPr lang="zh-CN" altLang="zh-CN" sz="4200" b="1" dirty="0">
                <a:solidFill>
                  <a:schemeClr val="tx1"/>
                </a:solidFill>
                <a:latin typeface="仿宋" panose="02010609060101010101" pitchFamily="49" charset="-122"/>
                <a:ea typeface="仿宋" panose="02010609060101010101" pitchFamily="49" charset="-122"/>
              </a:rPr>
              <a:t>序列密码的安全性及分析技术</a:t>
            </a:r>
          </a:p>
        </p:txBody>
      </p:sp>
      <p:sp>
        <p:nvSpPr>
          <p:cNvPr id="39" name="AutoShape 25">
            <a:extLst>
              <a:ext uri="{FF2B5EF4-FFF2-40B4-BE49-F238E27FC236}">
                <a16:creationId xmlns:a16="http://schemas.microsoft.com/office/drawing/2014/main" id="{2ED88C44-82B4-11D3-985F-B5649D01BCAD}"/>
              </a:ext>
            </a:extLst>
          </p:cNvPr>
          <p:cNvSpPr/>
          <p:nvPr/>
        </p:nvSpPr>
        <p:spPr>
          <a:xfrm>
            <a:off x="9715121" y="6765849"/>
            <a:ext cx="5537200" cy="660400"/>
          </a:xfrm>
          <a:prstGeom prst="rect">
            <a:avLst/>
          </a:prstGeom>
          <a:noFill/>
          <a:ln w="19050" cap="flat" cmpd="sng">
            <a:noFill/>
            <a:prstDash val="solid"/>
            <a:round/>
          </a:ln>
        </p:spPr>
        <p:txBody>
          <a:bodyPr vert="horz" wrap="square" lIns="0" tIns="0" rIns="0" bIns="0" rtlCol="0" anchor="t" anchorCtr="0"/>
          <a:lstStyle/>
          <a:p>
            <a:pPr>
              <a:lnSpc>
                <a:spcPts val="5880"/>
              </a:lnSpc>
              <a:defRPr/>
            </a:pPr>
            <a:r>
              <a:rPr lang="zh-CN" altLang="en-US" sz="4200" b="1" dirty="0">
                <a:latin typeface="仿宋" panose="02010609060101010101" pitchFamily="49" charset="-122"/>
                <a:ea typeface="仿宋" panose="02010609060101010101" pitchFamily="49" charset="-122"/>
              </a:rPr>
              <a:t>本章小结</a:t>
            </a:r>
            <a:endParaRPr lang="en-US" sz="4200" b="1" dirty="0">
              <a:latin typeface="仿宋" panose="02010609060101010101" pitchFamily="49" charset="-122"/>
              <a:ea typeface="仿宋"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747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001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4" name="Freeform 4"/>
          <p:cNvSpPr/>
          <p:nvPr/>
        </p:nvSpPr>
        <p:spPr>
          <a:xfrm>
            <a:off x="7747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001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6" name="Freeform 6"/>
          <p:cNvSpPr/>
          <p:nvPr/>
        </p:nvSpPr>
        <p:spPr>
          <a:xfrm>
            <a:off x="7747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01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8" name="Freeform 8"/>
          <p:cNvSpPr/>
          <p:nvPr/>
        </p:nvSpPr>
        <p:spPr>
          <a:xfrm>
            <a:off x="7747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001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0" name="Freeform 10"/>
          <p:cNvSpPr/>
          <p:nvPr/>
        </p:nvSpPr>
        <p:spPr>
          <a:xfrm>
            <a:off x="173355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73482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2" name="Freeform 12"/>
          <p:cNvSpPr/>
          <p:nvPr/>
        </p:nvSpPr>
        <p:spPr>
          <a:xfrm>
            <a:off x="173355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73482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4" name="Freeform 14"/>
          <p:cNvSpPr/>
          <p:nvPr/>
        </p:nvSpPr>
        <p:spPr>
          <a:xfrm>
            <a:off x="173355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73482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6" name="Freeform 16"/>
          <p:cNvSpPr/>
          <p:nvPr/>
        </p:nvSpPr>
        <p:spPr>
          <a:xfrm>
            <a:off x="173355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73482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8" name="Freeform 18"/>
          <p:cNvSpPr/>
          <p:nvPr/>
        </p:nvSpPr>
        <p:spPr>
          <a:xfrm rot="10800000">
            <a:off x="5334000" y="800100"/>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rot="10800000">
            <a:off x="6057900" y="1511300"/>
            <a:ext cx="6184900" cy="61849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0" name="AutoShape 20"/>
          <p:cNvSpPr/>
          <p:nvPr/>
        </p:nvSpPr>
        <p:spPr>
          <a:xfrm>
            <a:off x="7785100" y="2832100"/>
            <a:ext cx="2730500" cy="2006600"/>
          </a:xfrm>
          <a:prstGeom prst="rect">
            <a:avLst/>
          </a:prstGeom>
          <a:noFill/>
          <a:ln w="19050" cap="flat" cmpd="sng">
            <a:noFill/>
            <a:prstDash val="solid"/>
            <a:round/>
          </a:ln>
        </p:spPr>
        <p:txBody>
          <a:bodyPr vert="horz" wrap="square" lIns="0" tIns="0" rIns="0" bIns="0" rtlCol="0" anchor="t" anchorCtr="0"/>
          <a:lstStyle/>
          <a:p>
            <a:pPr marL="0" indent="0" algn="ctr">
              <a:lnSpc>
                <a:spcPts val="17080"/>
              </a:lnSpc>
              <a:defRPr/>
            </a:pPr>
            <a:r>
              <a:rPr lang="en-US" sz="12200" b="0" i="0" u="none" strike="noStrike">
                <a:solidFill>
                  <a:srgbClr val="004AAD"/>
                </a:solidFill>
                <a:latin typeface="Times New Roman"/>
                <a:ea typeface="Times New Roman"/>
                <a:cs typeface="Times New Roman"/>
                <a:sym typeface="Times New Roman"/>
              </a:rPr>
              <a:t>5.1</a:t>
            </a:r>
            <a:endParaRPr lang="en-US" sz="1100"/>
          </a:p>
        </p:txBody>
      </p:sp>
      <p:sp>
        <p:nvSpPr>
          <p:cNvPr id="21" name="AutoShape 21"/>
          <p:cNvSpPr/>
          <p:nvPr/>
        </p:nvSpPr>
        <p:spPr>
          <a:xfrm>
            <a:off x="3429000" y="5143500"/>
            <a:ext cx="11430000" cy="1435100"/>
          </a:xfrm>
          <a:prstGeom prst="rect">
            <a:avLst/>
          </a:prstGeom>
          <a:noFill/>
          <a:ln w="19050" cap="flat" cmpd="sng">
            <a:noFill/>
            <a:prstDash val="solid"/>
            <a:round/>
          </a:ln>
        </p:spPr>
        <p:txBody>
          <a:bodyPr vert="horz" wrap="square" lIns="0" tIns="0" rIns="0" bIns="0" rtlCol="0" anchor="t" anchorCtr="0"/>
          <a:lstStyle/>
          <a:p>
            <a:pPr marL="0" indent="0" algn="ctr">
              <a:lnSpc>
                <a:spcPts val="11200"/>
              </a:lnSpc>
              <a:defRPr/>
            </a:pPr>
            <a:r>
              <a:rPr lang="en-US" sz="9600" b="1" i="0" u="none" strike="noStrike" dirty="0">
                <a:solidFill>
                  <a:srgbClr val="004AAD"/>
                </a:solidFill>
                <a:latin typeface="仿宋"/>
                <a:ea typeface="仿宋"/>
                <a:cs typeface="仿宋"/>
                <a:sym typeface="仿宋"/>
              </a:rPr>
              <a:t>序列密码的概述</a:t>
            </a:r>
            <a:endParaRPr lang="en-US" sz="1100" dirty="0"/>
          </a:p>
        </p:txBody>
      </p:sp>
      <p:sp>
        <p:nvSpPr>
          <p:cNvPr id="22" name="Freeform 22"/>
          <p:cNvSpPr/>
          <p:nvPr/>
        </p:nvSpPr>
        <p:spPr>
          <a:xfrm>
            <a:off x="-1028700" y="9029700"/>
            <a:ext cx="20887940"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28700" y="9029700"/>
            <a:ext cx="20891500" cy="10922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4" name="Freeform 24"/>
          <p:cNvSpPr/>
          <p:nvPr/>
        </p:nvSpPr>
        <p:spPr>
          <a:xfrm>
            <a:off x="-1295400" y="9182100"/>
            <a:ext cx="2088794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1295400" y="9182100"/>
            <a:ext cx="20891500" cy="12446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6" name="AutoShape 26"/>
          <p:cNvSpPr/>
          <p:nvPr/>
        </p:nvSpPr>
        <p:spPr>
          <a:xfrm>
            <a:off x="15379700" y="95250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8D69792A-FDBA-41B9-A00A-F071EFE72D0E}" type="slidenum">
              <a:rPr sz="1400" b="0" i="0" u="none" strike="noStrike">
                <a:solidFill>
                  <a:srgbClr val="FFC000"/>
                </a:solidFill>
                <a:latin typeface="Calibri"/>
                <a:ea typeface="Calibri"/>
                <a:cs typeface="Calibri"/>
                <a:sym typeface="Calibri"/>
              </a:rPr>
              <a:t>3</a:t>
            </a:fld>
            <a:endParaRPr lang="en-US" sz="1100"/>
          </a:p>
        </p:txBody>
      </p:sp>
      <p:sp>
        <p:nvSpPr>
          <p:cNvPr id="30" name="AutoShape 29">
            <a:extLst>
              <a:ext uri="{FF2B5EF4-FFF2-40B4-BE49-F238E27FC236}">
                <a16:creationId xmlns:a16="http://schemas.microsoft.com/office/drawing/2014/main" id="{A41EE133-FDD0-26C9-5BF2-919D05BBC3B2}"/>
              </a:ext>
            </a:extLst>
          </p:cNvPr>
          <p:cNvSpPr/>
          <p:nvPr/>
        </p:nvSpPr>
        <p:spPr>
          <a:xfrm>
            <a:off x="800100" y="6096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32" name="Picture 30">
            <a:extLst>
              <a:ext uri="{FF2B5EF4-FFF2-40B4-BE49-F238E27FC236}">
                <a16:creationId xmlns:a16="http://schemas.microsoft.com/office/drawing/2014/main" id="{9B564B84-ED20-E61E-0104-74806AEF795C}"/>
              </a:ext>
            </a:extLst>
          </p:cNvPr>
          <p:cNvPicPr>
            <a:picLocks noChangeAspect="1"/>
          </p:cNvPicPr>
          <p:nvPr/>
        </p:nvPicPr>
        <p:blipFill>
          <a:blip r:embed="rId3"/>
          <a:srcRect/>
          <a:stretch>
            <a:fillRect/>
          </a:stretch>
        </p:blipFill>
        <p:spPr>
          <a:xfrm>
            <a:off x="927100" y="977900"/>
            <a:ext cx="2768600" cy="50800"/>
          </a:xfrm>
          <a:prstGeom prst="rect">
            <a:avLst/>
          </a:prstGeom>
          <a:noFill/>
          <a:ln w="25400" cap="flat" cmpd="sng">
            <a:noFill/>
            <a:prstDash val="solid"/>
            <a:rou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AutoShape 2"/>
          <p:cNvSpPr/>
          <p:nvPr/>
        </p:nvSpPr>
        <p:spPr>
          <a:xfrm>
            <a:off x="1295400" y="1860272"/>
            <a:ext cx="15761677" cy="4053808"/>
          </a:xfrm>
          <a:prstGeom prst="roundRect">
            <a:avLst>
              <a:gd name="adj" fmla="val 0"/>
            </a:avLst>
          </a:prstGeom>
          <a:noFill/>
          <a:ln w="25400" cap="flat" cmpd="sng">
            <a:noFill/>
            <a:prstDash val="solid"/>
            <a:round/>
          </a:ln>
        </p:spPr>
        <p:txBody>
          <a:bodyPr vert="horz" wrap="square" lIns="0" tIns="127" rIns="0" bIns="0" rtlCol="0" anchor="t" anchorCtr="0"/>
          <a:lstStyle/>
          <a:p>
            <a:pPr marL="12700" indent="457200" algn="l">
              <a:lnSpc>
                <a:spcPct val="116666"/>
              </a:lnSpc>
              <a:defRPr/>
            </a:pP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  序列密码，也常被称作流密码，是一类以序列方式逐位处理明文的加密技术。它以简单的模2加法器（即异或运算）作为核心加密部件，这一特性使其在工程实现上兼具高效性与便捷性。序列密码的核心在于密钥发生器，它能够将一个短的“种子密钥”扩展为一个长的、具有伪随机性的密钥序列。该密钥序列与明文序列逐位进行模2加法运算，即可生成密文序列；而解密过程仅需使用相同的密钥序列与密文序列再次执行模2加法，即可还原出原始明文。</a:t>
            </a:r>
            <a:endParaRPr lang="en-US" sz="3600" dirty="0">
              <a:latin typeface="宋体" panose="02010600030101010101" pitchFamily="2" charset="-122"/>
              <a:ea typeface="宋体" panose="02010600030101010101" pitchFamily="2" charset="-122"/>
            </a:endParaRPr>
          </a:p>
        </p:txBody>
      </p:sp>
      <p:pic>
        <p:nvPicPr>
          <p:cNvPr id="3" name="Picture 3"/>
          <p:cNvPicPr>
            <a:picLocks noChangeAspect="1"/>
          </p:cNvPicPr>
          <p:nvPr/>
        </p:nvPicPr>
        <p:blipFill>
          <a:blip r:embed="rId3"/>
          <a:srcRect l="643" r="643"/>
          <a:stretch>
            <a:fillRect/>
          </a:stretch>
        </p:blipFill>
        <p:spPr>
          <a:xfrm>
            <a:off x="5185798" y="5914080"/>
            <a:ext cx="7916403" cy="2638801"/>
          </a:xfrm>
          <a:prstGeom prst="rect">
            <a:avLst/>
          </a:prstGeom>
          <a:noFill/>
          <a:ln w="25400" cap="flat" cmpd="sng">
            <a:noFill/>
            <a:prstDash val="solid"/>
            <a:round/>
          </a:ln>
        </p:spPr>
      </p:pic>
      <p:sp>
        <p:nvSpPr>
          <p:cNvPr id="4" name="AutoShape 4"/>
          <p:cNvSpPr/>
          <p:nvPr/>
        </p:nvSpPr>
        <p:spPr>
          <a:xfrm>
            <a:off x="5517371" y="8966200"/>
            <a:ext cx="6477000" cy="444500"/>
          </a:xfrm>
          <a:prstGeom prst="rect">
            <a:avLst/>
          </a:prstGeom>
          <a:noFill/>
          <a:ln w="19050" cap="flat" cmpd="sng">
            <a:noFill/>
            <a:prstDash val="solid"/>
            <a:round/>
          </a:ln>
        </p:spPr>
        <p:txBody>
          <a:bodyPr vert="horz" wrap="square" lIns="88900" tIns="50800" rIns="88900" bIns="50800" rtlCol="0" anchor="t" anchorCtr="0"/>
          <a:lstStyle/>
          <a:p>
            <a:pPr marL="0" indent="0" algn="ctr">
              <a:lnSpc>
                <a:spcPct val="100000"/>
              </a:lnSpc>
              <a:defRPr/>
            </a:pPr>
            <a:r>
              <a:rPr lang="en-US" sz="1800" b="0" i="0" u="none" strike="noStrike" dirty="0">
                <a:solidFill>
                  <a:srgbClr val="000000"/>
                </a:solidFill>
                <a:latin typeface="宋体" panose="02010600030101010101" pitchFamily="2" charset="-122"/>
                <a:ea typeface="宋体" panose="02010600030101010101" pitchFamily="2" charset="-122"/>
                <a:cs typeface="Songti SC"/>
                <a:sym typeface="Songti SC"/>
              </a:rPr>
              <a:t>图5.1.1 序列密码的基本加密原理模型</a:t>
            </a:r>
            <a:endParaRPr lang="en-US" sz="1800" dirty="0">
              <a:latin typeface="宋体" panose="02010600030101010101" pitchFamily="2" charset="-122"/>
              <a:ea typeface="宋体" panose="02010600030101010101" pitchFamily="2" charset="-122"/>
            </a:endParaRPr>
          </a:p>
        </p:txBody>
      </p:sp>
      <p:sp>
        <p:nvSpPr>
          <p:cNvPr id="5" name="AutoShape 5"/>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AF0ABA99-227B-4911-B006-7AF02D433425}" type="slidenum">
              <a:rPr sz="1400" b="0" i="0" u="none" strike="noStrike">
                <a:solidFill>
                  <a:srgbClr val="FFC000"/>
                </a:solidFill>
                <a:latin typeface="Calibri"/>
                <a:ea typeface="Calibri"/>
                <a:cs typeface="Calibri"/>
                <a:sym typeface="Calibri"/>
              </a:rPr>
              <a:t>4</a:t>
            </a:fld>
            <a:endParaRPr lang="en-US" sz="1100"/>
          </a:p>
        </p:txBody>
      </p:sp>
      <p:sp>
        <p:nvSpPr>
          <p:cNvPr id="14" name="AutoShape 29">
            <a:extLst>
              <a:ext uri="{FF2B5EF4-FFF2-40B4-BE49-F238E27FC236}">
                <a16:creationId xmlns:a16="http://schemas.microsoft.com/office/drawing/2014/main" id="{B395DAA2-0BDC-D1C9-CBEE-860128F193CF}"/>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6" name="Picture 30">
            <a:extLst>
              <a:ext uri="{FF2B5EF4-FFF2-40B4-BE49-F238E27FC236}">
                <a16:creationId xmlns:a16="http://schemas.microsoft.com/office/drawing/2014/main" id="{EE91136E-03D8-0A47-BC51-1D0BF05A9F36}"/>
              </a:ext>
            </a:extLst>
          </p:cNvPr>
          <p:cNvPicPr>
            <a:picLocks noChangeAspect="1"/>
          </p:cNvPicPr>
          <p:nvPr/>
        </p:nvPicPr>
        <p:blipFill>
          <a:blip r:embed="rId4"/>
          <a:srcRect/>
          <a:stretch>
            <a:fillRect/>
          </a:stretch>
        </p:blipFill>
        <p:spPr>
          <a:xfrm>
            <a:off x="13488377" y="1079500"/>
            <a:ext cx="2768600" cy="50800"/>
          </a:xfrm>
          <a:prstGeom prst="rect">
            <a:avLst/>
          </a:prstGeom>
          <a:noFill/>
          <a:ln w="25400" cap="flat" cmpd="sng">
            <a:noFill/>
            <a:prstDash val="solid"/>
            <a:round/>
          </a:ln>
        </p:spPr>
      </p:pic>
      <p:sp>
        <p:nvSpPr>
          <p:cNvPr id="18" name="Freeform 2">
            <a:extLst>
              <a:ext uri="{FF2B5EF4-FFF2-40B4-BE49-F238E27FC236}">
                <a16:creationId xmlns:a16="http://schemas.microsoft.com/office/drawing/2014/main" id="{756E1FE7-FE13-13CA-94F9-112841C0A738}"/>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0" name="AutoShape 3">
            <a:extLst>
              <a:ext uri="{FF2B5EF4-FFF2-40B4-BE49-F238E27FC236}">
                <a16:creationId xmlns:a16="http://schemas.microsoft.com/office/drawing/2014/main" id="{8094B0F5-76F7-CC8D-DA84-BB6D9DEFB6E4}"/>
              </a:ext>
            </a:extLst>
          </p:cNvPr>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pic>
        <p:nvPicPr>
          <p:cNvPr id="22" name="Picture 4">
            <a:extLst>
              <a:ext uri="{FF2B5EF4-FFF2-40B4-BE49-F238E27FC236}">
                <a16:creationId xmlns:a16="http://schemas.microsoft.com/office/drawing/2014/main" id="{7FDD8443-A9AC-D35E-C881-242B391B63D5}"/>
              </a:ext>
            </a:extLst>
          </p:cNvPr>
          <p:cNvPicPr>
            <a:picLocks noChangeAspect="1"/>
          </p:cNvPicPr>
          <p:nvPr/>
        </p:nvPicPr>
        <p:blipFill>
          <a:blip r:embed="rId5">
            <a:alphaModFix amt="80000"/>
          </a:blip>
          <a:srcRect l="536" r="536"/>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24" name="AutoShape 5">
            <a:extLst>
              <a:ext uri="{FF2B5EF4-FFF2-40B4-BE49-F238E27FC236}">
                <a16:creationId xmlns:a16="http://schemas.microsoft.com/office/drawing/2014/main" id="{890D35A9-40B2-95D5-3F61-3F57F346AD52}"/>
              </a:ext>
            </a:extLst>
          </p:cNvPr>
          <p:cNvSpPr/>
          <p:nvPr/>
        </p:nvSpPr>
        <p:spPr>
          <a:xfrm>
            <a:off x="1352550" y="431800"/>
            <a:ext cx="1524000" cy="7747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Times New Roman"/>
              </a:rPr>
              <a:t>5.1.1</a:t>
            </a:r>
            <a:endPar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
        <p:nvSpPr>
          <p:cNvPr id="26" name="AutoShape 6">
            <a:extLst>
              <a:ext uri="{FF2B5EF4-FFF2-40B4-BE49-F238E27FC236}">
                <a16:creationId xmlns:a16="http://schemas.microsoft.com/office/drawing/2014/main" id="{D658EACB-C789-11D7-1F69-3C011EC4DA66}"/>
              </a:ext>
            </a:extLst>
          </p:cNvPr>
          <p:cNvSpPr/>
          <p:nvPr/>
        </p:nvSpPr>
        <p:spPr>
          <a:xfrm>
            <a:off x="2936798" y="482600"/>
            <a:ext cx="9461500" cy="6223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序列密码的</a:t>
            </a:r>
            <a:r>
              <a:rPr lang="zh-CN" alt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概述</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AutoShape 9"/>
              <p:cNvSpPr/>
              <p:nvPr/>
            </p:nvSpPr>
            <p:spPr>
              <a:xfrm>
                <a:off x="1352550" y="2095500"/>
                <a:ext cx="15582900" cy="3187700"/>
              </a:xfrm>
              <a:prstGeom prst="roundRect">
                <a:avLst>
                  <a:gd name="adj" fmla="val 0"/>
                </a:avLst>
              </a:prstGeom>
              <a:noFill/>
              <a:ln w="25400" cap="flat" cmpd="sng">
                <a:noFill/>
                <a:prstDash val="solid"/>
                <a:round/>
              </a:ln>
            </p:spPr>
            <p:txBody>
              <a:bodyPr vert="horz" wrap="square" lIns="0" tIns="127" rIns="0" bIns="0" rtlCol="0" anchor="t" anchorCtr="0"/>
              <a:lstStyle/>
              <a:p>
                <a:pPr marL="12700" indent="457200">
                  <a:lnSpc>
                    <a:spcPct val="116666"/>
                  </a:lnSpc>
                  <a:defRPr/>
                </a:pPr>
                <a:r>
                  <a:rPr lang="zh-CN" altLang="zh-CN" sz="3600" dirty="0">
                    <a:latin typeface="宋体" panose="02010600030101010101" pitchFamily="2" charset="-122"/>
                    <a:ea typeface="宋体" panose="02010600030101010101" pitchFamily="2" charset="-122"/>
                  </a:rPr>
                  <a:t>分组密码与序列密码的区别在于有无记忆性，分组密码和序列密码的比较如图</a:t>
                </a:r>
                <a:r>
                  <a:rPr lang="en-US" altLang="zh-CN" sz="3600" dirty="0">
                    <a:latin typeface="宋体" panose="02010600030101010101" pitchFamily="2" charset="-122"/>
                    <a:ea typeface="宋体" panose="02010600030101010101" pitchFamily="2" charset="-122"/>
                  </a:rPr>
                  <a:t>5.1.1</a:t>
                </a:r>
                <a:r>
                  <a:rPr lang="zh-CN" altLang="zh-CN" sz="3600" dirty="0">
                    <a:latin typeface="宋体" panose="02010600030101010101" pitchFamily="2" charset="-122"/>
                    <a:ea typeface="宋体" panose="02010600030101010101" pitchFamily="2" charset="-122"/>
                  </a:rPr>
                  <a:t>所示。序列密码的滚动密钥</a:t>
                </a:r>
                <a14:m>
                  <m:oMath xmlns:m="http://schemas.openxmlformats.org/officeDocument/2006/math">
                    <m:sSub>
                      <m:sSubPr>
                        <m:ctrlPr>
                          <a:rPr lang="zh-CN" altLang="zh-CN" sz="3600" i="1" smtClean="0">
                            <a:latin typeface="Cambria Math" panose="02040503050406030204" pitchFamily="18" charset="0"/>
                          </a:rPr>
                        </m:ctrlPr>
                      </m:sSubPr>
                      <m:e>
                        <m:r>
                          <a:rPr lang="zh-CN" altLang="zh-CN" sz="3600" i="1" smtClean="0">
                            <a:latin typeface="Cambria Math" panose="02040503050406030204" pitchFamily="18" charset="0"/>
                          </a:rPr>
                          <m:t>𝑧</m:t>
                        </m:r>
                      </m:e>
                      <m:sub>
                        <m:r>
                          <a:rPr lang="zh-CN" altLang="zh-CN" sz="3600" i="1" smtClean="0">
                            <a:latin typeface="Cambria Math" panose="02040503050406030204" pitchFamily="18" charset="0"/>
                          </a:rPr>
                          <m:t>𝑖</m:t>
                        </m:r>
                      </m:sub>
                    </m:sSub>
                    <m:r>
                      <a:rPr lang="zh-CN" altLang="zh-CN" sz="3600" i="1" smtClean="0">
                        <a:latin typeface="Cambria Math" panose="02040503050406030204" pitchFamily="18" charset="0"/>
                      </a:rPr>
                      <m:t>=</m:t>
                    </m:r>
                    <m:r>
                      <a:rPr lang="zh-CN" altLang="zh-CN" sz="3600" i="1" smtClean="0">
                        <a:latin typeface="Cambria Math" panose="02040503050406030204" pitchFamily="18" charset="0"/>
                      </a:rPr>
                      <m:t>𝑓</m:t>
                    </m:r>
                    <m:d>
                      <m:dPr>
                        <m:ctrlPr>
                          <a:rPr lang="zh-CN" altLang="zh-CN" sz="3600" i="1" smtClean="0">
                            <a:latin typeface="Cambria Math" panose="02040503050406030204" pitchFamily="18" charset="0"/>
                          </a:rPr>
                        </m:ctrlPr>
                      </m:dPr>
                      <m:e>
                        <m:r>
                          <a:rPr lang="zh-CN" altLang="zh-CN" sz="3600" i="1" smtClean="0">
                            <a:latin typeface="Cambria Math" panose="02040503050406030204" pitchFamily="18" charset="0"/>
                          </a:rPr>
                          <m:t>𝑘</m:t>
                        </m:r>
                        <m:r>
                          <a:rPr lang="zh-CN" altLang="zh-CN" sz="3600" i="1" smtClean="0">
                            <a:latin typeface="Cambria Math" panose="02040503050406030204" pitchFamily="18" charset="0"/>
                          </a:rPr>
                          <m:t>,</m:t>
                        </m:r>
                        <m:sSub>
                          <m:sSubPr>
                            <m:ctrlPr>
                              <a:rPr lang="zh-CN" altLang="zh-CN" sz="3600" i="1" smtClean="0">
                                <a:latin typeface="Cambria Math" panose="02040503050406030204" pitchFamily="18" charset="0"/>
                              </a:rPr>
                            </m:ctrlPr>
                          </m:sSubPr>
                          <m:e>
                            <m:r>
                              <a:rPr lang="zh-CN" altLang="zh-CN" sz="3600" i="1" smtClean="0">
                                <a:latin typeface="Cambria Math" panose="02040503050406030204" pitchFamily="18" charset="0"/>
                              </a:rPr>
                              <m:t>𝜎</m:t>
                            </m:r>
                          </m:e>
                          <m:sub>
                            <m:r>
                              <a:rPr lang="zh-CN" altLang="zh-CN" sz="3600" i="1" smtClean="0">
                                <a:latin typeface="Cambria Math" panose="02040503050406030204" pitchFamily="18" charset="0"/>
                              </a:rPr>
                              <m:t>𝑖</m:t>
                            </m:r>
                          </m:sub>
                        </m:sSub>
                      </m:e>
                    </m:d>
                  </m:oMath>
                </a14:m>
                <a:r>
                  <a:rPr lang="zh-CN" altLang="zh-CN" sz="3600" dirty="0">
                    <a:latin typeface="宋体" panose="02010600030101010101" pitchFamily="2" charset="-122"/>
                    <a:ea typeface="宋体" panose="02010600030101010101" pitchFamily="2" charset="-122"/>
                  </a:rPr>
                  <a:t>由函数</a:t>
                </a:r>
                <a14:m>
                  <m:oMath xmlns:m="http://schemas.openxmlformats.org/officeDocument/2006/math">
                    <m:r>
                      <a:rPr lang="zh-CN" altLang="zh-CN" sz="3600" i="1" smtClean="0">
                        <a:latin typeface="Cambria Math" panose="02040503050406030204" pitchFamily="18" charset="0"/>
                      </a:rPr>
                      <m:t>𝑓</m:t>
                    </m:r>
                  </m:oMath>
                </a14:m>
                <a:r>
                  <a:rPr lang="zh-CN" altLang="en-US" sz="3600" dirty="0">
                    <a:latin typeface="宋体" panose="02010600030101010101" pitchFamily="2" charset="-122"/>
                    <a:ea typeface="宋体" panose="02010600030101010101" pitchFamily="2" charset="-122"/>
                  </a:rPr>
                  <a:t>、</a:t>
                </a:r>
                <a:r>
                  <a:rPr lang="zh-CN" altLang="zh-CN" sz="3600" dirty="0">
                    <a:latin typeface="宋体" panose="02010600030101010101" pitchFamily="2" charset="-122"/>
                    <a:ea typeface="宋体" panose="02010600030101010101" pitchFamily="2" charset="-122"/>
                  </a:rPr>
                  <a:t>密钥</a:t>
                </a:r>
                <a14:m>
                  <m:oMath xmlns:m="http://schemas.openxmlformats.org/officeDocument/2006/math">
                    <m:r>
                      <a:rPr lang="zh-CN" altLang="zh-CN" sz="3600" i="1" smtClean="0">
                        <a:latin typeface="Cambria Math" panose="02040503050406030204" pitchFamily="18" charset="0"/>
                      </a:rPr>
                      <m:t>𝑘</m:t>
                    </m:r>
                  </m:oMath>
                </a14:m>
                <a:r>
                  <a:rPr lang="zh-CN" altLang="zh-CN" sz="3600" dirty="0">
                    <a:latin typeface="宋体" panose="02010600030101010101" pitchFamily="2" charset="-122"/>
                    <a:ea typeface="宋体" panose="02010600030101010101" pitchFamily="2" charset="-122"/>
                  </a:rPr>
                  <a:t>和指定的初态完全确定。输入加密器的明文可能影响加密器中内部记忆元件的存储状态，因此</a:t>
                </a:r>
                <a14:m>
                  <m:oMath xmlns:m="http://schemas.openxmlformats.org/officeDocument/2006/math">
                    <m:sSub>
                      <m:sSubPr>
                        <m:ctrlPr>
                          <a:rPr lang="zh-CN" altLang="zh-CN" sz="3600" i="1" smtClean="0">
                            <a:latin typeface="Cambria Math" panose="02040503050406030204" pitchFamily="18" charset="0"/>
                          </a:rPr>
                        </m:ctrlPr>
                      </m:sSubPr>
                      <m:e>
                        <m:r>
                          <a:rPr lang="zh-CN" altLang="zh-CN" sz="3600" i="1" smtClean="0">
                            <a:latin typeface="Cambria Math" panose="02040503050406030204" pitchFamily="18" charset="0"/>
                          </a:rPr>
                          <m:t>𝜎</m:t>
                        </m:r>
                      </m:e>
                      <m:sub>
                        <m:r>
                          <a:rPr lang="zh-CN" altLang="zh-CN" sz="3600" i="1" smtClean="0">
                            <a:latin typeface="Cambria Math" panose="02040503050406030204" pitchFamily="18" charset="0"/>
                          </a:rPr>
                          <m:t>ⅈ</m:t>
                        </m:r>
                      </m:sub>
                    </m:sSub>
                    <m:d>
                      <m:dPr>
                        <m:ctrlPr>
                          <a:rPr lang="zh-CN" altLang="zh-CN" sz="3600" i="1" smtClean="0">
                            <a:latin typeface="Cambria Math" panose="02040503050406030204" pitchFamily="18" charset="0"/>
                          </a:rPr>
                        </m:ctrlPr>
                      </m:dPr>
                      <m:e>
                        <m:r>
                          <a:rPr lang="zh-CN" altLang="zh-CN" sz="3600" i="1" smtClean="0">
                            <a:latin typeface="Cambria Math" panose="02040503050406030204" pitchFamily="18" charset="0"/>
                          </a:rPr>
                          <m:t>ⅈ&gt;0</m:t>
                        </m:r>
                      </m:e>
                    </m:d>
                  </m:oMath>
                </a14:m>
                <a:r>
                  <a:rPr lang="zh-CN" altLang="zh-CN" sz="3600" dirty="0">
                    <a:latin typeface="宋体" panose="02010600030101010101" pitchFamily="2" charset="-122"/>
                    <a:ea typeface="宋体" panose="02010600030101010101" pitchFamily="2" charset="-122"/>
                  </a:rPr>
                  <a:t>可能依赖于</a:t>
                </a:r>
                <a14:m>
                  <m:oMath xmlns:m="http://schemas.openxmlformats.org/officeDocument/2006/math">
                    <m:r>
                      <a:rPr lang="zh-CN" altLang="zh-CN" sz="3600" i="1" smtClean="0">
                        <a:latin typeface="Cambria Math" panose="02040503050406030204" pitchFamily="18" charset="0"/>
                      </a:rPr>
                      <m:t>𝑘</m:t>
                    </m:r>
                    <m:r>
                      <a:rPr lang="zh-CN" altLang="en-US" sz="3600" i="1">
                        <a:latin typeface="Cambria Math" panose="02040503050406030204" pitchFamily="18" charset="0"/>
                      </a:rPr>
                      <m:t>，</m:t>
                    </m:r>
                    <m:sSub>
                      <m:sSubPr>
                        <m:ctrlPr>
                          <a:rPr lang="zh-CN" altLang="zh-CN" sz="3600" i="1" smtClean="0">
                            <a:latin typeface="Cambria Math" panose="02040503050406030204" pitchFamily="18" charset="0"/>
                          </a:rPr>
                        </m:ctrlPr>
                      </m:sSubPr>
                      <m:e>
                        <m:r>
                          <a:rPr lang="zh-CN" altLang="zh-CN" sz="3600" i="1" smtClean="0">
                            <a:latin typeface="Cambria Math" panose="02040503050406030204" pitchFamily="18" charset="0"/>
                          </a:rPr>
                          <m:t>𝜎</m:t>
                        </m:r>
                      </m:e>
                      <m:sub>
                        <m:r>
                          <a:rPr lang="zh-CN" altLang="zh-CN" sz="3600" i="1" smtClean="0">
                            <a:latin typeface="Cambria Math" panose="02040503050406030204" pitchFamily="18" charset="0"/>
                          </a:rPr>
                          <m:t>0</m:t>
                        </m:r>
                      </m:sub>
                    </m:sSub>
                    <m:sSub>
                      <m:sSubPr>
                        <m:ctrlPr>
                          <a:rPr lang="zh-CN" altLang="en-US" sz="3600" i="1" dirty="0">
                            <a:latin typeface="Cambria Math" panose="02040503050406030204" pitchFamily="18" charset="0"/>
                          </a:rPr>
                        </m:ctrlPr>
                      </m:sSubPr>
                      <m:e>
                        <m:r>
                          <a:rPr lang="zh-CN" altLang="en-US" sz="3600" i="1" dirty="0">
                            <a:latin typeface="Cambria Math" panose="02040503050406030204" pitchFamily="18" charset="0"/>
                          </a:rPr>
                          <m:t>，</m:t>
                        </m:r>
                        <m:r>
                          <a:rPr lang="zh-CN" altLang="en-US" sz="3600" i="1" dirty="0">
                            <a:latin typeface="Cambria Math" panose="02040503050406030204" pitchFamily="18" charset="0"/>
                          </a:rPr>
                          <m:t>𝑥</m:t>
                        </m:r>
                      </m:e>
                      <m:sub>
                        <m:r>
                          <a:rPr lang="en-US" altLang="zh-CN" sz="3600" i="0" dirty="0">
                            <a:latin typeface="Cambria Math" panose="02040503050406030204" pitchFamily="18" charset="0"/>
                          </a:rPr>
                          <m:t>0</m:t>
                        </m:r>
                      </m:sub>
                    </m:sSub>
                    <m:sSub>
                      <m:sSubPr>
                        <m:ctrlPr>
                          <a:rPr lang="zh-CN" altLang="en-US" sz="3600" i="1" dirty="0">
                            <a:latin typeface="Cambria Math" panose="02040503050406030204" pitchFamily="18" charset="0"/>
                          </a:rPr>
                        </m:ctrlPr>
                      </m:sSubPr>
                      <m:e>
                        <m:r>
                          <a:rPr lang="zh-CN" altLang="en-US" sz="3600" i="1" dirty="0">
                            <a:latin typeface="Cambria Math" panose="02040503050406030204" pitchFamily="18" charset="0"/>
                          </a:rPr>
                          <m:t>，</m:t>
                        </m:r>
                        <m:r>
                          <a:rPr lang="zh-CN" altLang="en-US" sz="3600" i="1" dirty="0">
                            <a:latin typeface="Cambria Math" panose="02040503050406030204" pitchFamily="18" charset="0"/>
                          </a:rPr>
                          <m:t>𝑥</m:t>
                        </m:r>
                      </m:e>
                      <m:sub>
                        <m:r>
                          <a:rPr lang="en-US" altLang="zh-CN" sz="3600" i="0" dirty="0">
                            <a:latin typeface="Cambria Math" panose="02040503050406030204" pitchFamily="18" charset="0"/>
                          </a:rPr>
                          <m:t>1</m:t>
                        </m:r>
                      </m:sub>
                    </m:sSub>
                    <m:r>
                      <a:rPr lang="zh-CN" altLang="en-US" sz="3600" i="1" dirty="0">
                        <a:latin typeface="Cambria Math" panose="02040503050406030204" pitchFamily="18" charset="0"/>
                      </a:rPr>
                      <m:t>，</m:t>
                    </m:r>
                    <m:r>
                      <a:rPr lang="zh-CN" altLang="en-US" sz="3600" i="1" dirty="0">
                        <a:latin typeface="Cambria Math" panose="02040503050406030204" pitchFamily="18" charset="0"/>
                      </a:rPr>
                      <m:t>𝐿</m:t>
                    </m:r>
                    <m:r>
                      <a:rPr lang="zh-CN" altLang="en-US" sz="3600" i="1" dirty="0">
                        <a:latin typeface="Cambria Math" panose="02040503050406030204" pitchFamily="18" charset="0"/>
                      </a:rPr>
                      <m:t>，</m:t>
                    </m:r>
                    <m:sSub>
                      <m:sSubPr>
                        <m:ctrlPr>
                          <a:rPr lang="zh-CN" altLang="en-US" sz="3600" i="1" dirty="0">
                            <a:latin typeface="Cambria Math" panose="02040503050406030204" pitchFamily="18" charset="0"/>
                          </a:rPr>
                        </m:ctrlPr>
                      </m:sSubPr>
                      <m:e>
                        <m:r>
                          <a:rPr lang="zh-CN" altLang="en-US" sz="3600" i="1" dirty="0">
                            <a:latin typeface="Cambria Math" panose="02040503050406030204" pitchFamily="18" charset="0"/>
                          </a:rPr>
                          <m:t>𝑥</m:t>
                        </m:r>
                      </m:e>
                      <m:sub>
                        <m:r>
                          <a:rPr lang="zh-CN" altLang="en-US" sz="3600" i="1" dirty="0">
                            <a:latin typeface="Cambria Math" panose="02040503050406030204" pitchFamily="18" charset="0"/>
                          </a:rPr>
                          <m:t>𝑖</m:t>
                        </m:r>
                        <m:r>
                          <a:rPr lang="en-US" altLang="zh-CN" sz="3600" i="0" dirty="0">
                            <a:latin typeface="Cambria Math" panose="02040503050406030204" pitchFamily="18" charset="0"/>
                          </a:rPr>
                          <m:t>−1</m:t>
                        </m:r>
                      </m:sub>
                    </m:sSub>
                    <m:r>
                      <a:rPr lang="en-US" altLang="zh-CN" sz="3600" b="0" i="1" dirty="0" smtClean="0">
                        <a:latin typeface="Cambria Math" panose="02040503050406030204" pitchFamily="18" charset="0"/>
                      </a:rPr>
                      <m:t> </m:t>
                    </m:r>
                  </m:oMath>
                </a14:m>
                <a:r>
                  <a:rPr lang="zh-CN" altLang="en-US" sz="3600" dirty="0">
                    <a:latin typeface="宋体" panose="02010600030101010101" pitchFamily="2" charset="-122"/>
                    <a:ea typeface="宋体" panose="02010600030101010101" pitchFamily="2" charset="-122"/>
                  </a:rPr>
                  <a:t>等参数。</a:t>
                </a:r>
                <a:endParaRPr lang="en-US" sz="3600" dirty="0">
                  <a:latin typeface="宋体" panose="02010600030101010101" pitchFamily="2" charset="-122"/>
                  <a:ea typeface="宋体" panose="02010600030101010101" pitchFamily="2" charset="-122"/>
                </a:endParaRPr>
              </a:p>
            </p:txBody>
          </p:sp>
        </mc:Choice>
        <mc:Fallback xmlns="">
          <p:sp>
            <p:nvSpPr>
              <p:cNvPr id="9" name="AutoShape 9"/>
              <p:cNvSpPr>
                <a:spLocks noRot="1" noChangeAspect="1" noMove="1" noResize="1" noEditPoints="1" noAdjustHandles="1" noChangeArrowheads="1" noChangeShapeType="1" noTextEdit="1"/>
              </p:cNvSpPr>
              <p:nvPr/>
            </p:nvSpPr>
            <p:spPr>
              <a:xfrm>
                <a:off x="1352550" y="2095500"/>
                <a:ext cx="15582900" cy="3187700"/>
              </a:xfrm>
              <a:prstGeom prst="roundRect">
                <a:avLst>
                  <a:gd name="adj" fmla="val 0"/>
                </a:avLst>
              </a:prstGeom>
              <a:blipFill>
                <a:blip r:embed="rId5"/>
                <a:stretch>
                  <a:fillRect l="-1721" t="-4015" r="-1604"/>
                </a:stretch>
              </a:blipFill>
              <a:ln w="25400" cap="flat" cmpd="sng">
                <a:noFill/>
                <a:prstDash val="solid"/>
                <a:round/>
              </a:ln>
            </p:spPr>
            <p:txBody>
              <a:bodyPr/>
              <a:lstStyle/>
              <a:p>
                <a:r>
                  <a:rPr lang="zh-CN" altLang="en-US">
                    <a:noFill/>
                  </a:rPr>
                  <a:t> </a:t>
                </a:r>
              </a:p>
            </p:txBody>
          </p:sp>
        </mc:Fallback>
      </mc:AlternateContent>
      <p:pic>
        <p:nvPicPr>
          <p:cNvPr id="10" name="Picture 10"/>
          <p:cNvPicPr>
            <a:picLocks noChangeAspect="1"/>
          </p:cNvPicPr>
          <p:nvPr/>
        </p:nvPicPr>
        <p:blipFill>
          <a:blip r:embed="rId6"/>
          <a:srcRect l="285" r="285"/>
          <a:stretch>
            <a:fillRect/>
          </a:stretch>
        </p:blipFill>
        <p:spPr>
          <a:xfrm>
            <a:off x="5404478" y="5143500"/>
            <a:ext cx="7479044" cy="3414346"/>
          </a:xfrm>
          <a:prstGeom prst="rect">
            <a:avLst/>
          </a:prstGeom>
          <a:noFill/>
          <a:ln w="25400" cap="flat" cmpd="sng">
            <a:noFill/>
            <a:prstDash val="solid"/>
            <a:round/>
          </a:ln>
        </p:spPr>
      </p:pic>
      <p:sp>
        <p:nvSpPr>
          <p:cNvPr id="11" name="AutoShape 11"/>
          <p:cNvSpPr/>
          <p:nvPr/>
        </p:nvSpPr>
        <p:spPr>
          <a:xfrm>
            <a:off x="5334000" y="8753231"/>
            <a:ext cx="7620000" cy="1101969"/>
          </a:xfrm>
          <a:prstGeom prst="rect">
            <a:avLst/>
          </a:prstGeom>
          <a:noFill/>
          <a:ln w="19050" cap="flat" cmpd="sng">
            <a:noFill/>
            <a:prstDash val="solid"/>
            <a:round/>
          </a:ln>
        </p:spPr>
        <p:txBody>
          <a:bodyPr vert="horz" wrap="square" lIns="88900" tIns="50800" rIns="88900" bIns="50800" rtlCol="0" anchor="t" anchorCtr="0"/>
          <a:lstStyle/>
          <a:p>
            <a:pPr algn="ctr">
              <a:defRPr/>
            </a:pPr>
            <a:r>
              <a:rPr lang="en-US" sz="1800" b="0" i="0" u="none" strike="noStrike" dirty="0">
                <a:solidFill>
                  <a:srgbClr val="000000"/>
                </a:solidFill>
                <a:latin typeface="+mn-ea"/>
                <a:ea typeface="+mn-ea"/>
                <a:cs typeface="Songti SC"/>
                <a:sym typeface="Songti SC"/>
              </a:rPr>
              <a:t>图5.1.2</a:t>
            </a:r>
            <a:r>
              <a:rPr lang="en-US" sz="1800" dirty="0">
                <a:latin typeface="+mn-ea"/>
                <a:ea typeface="+mn-ea"/>
                <a:cs typeface="Songti SC"/>
                <a:sym typeface="Songti SC"/>
              </a:rPr>
              <a:t>   </a:t>
            </a:r>
            <a:r>
              <a:rPr lang="zh-CN" altLang="zh-CN" sz="1800" dirty="0">
                <a:latin typeface="+mn-ea"/>
                <a:ea typeface="+mn-ea"/>
              </a:rPr>
              <a:t>分组密码和序列密码的比较</a:t>
            </a:r>
            <a:endParaRPr lang="en-US" sz="1800" dirty="0">
              <a:latin typeface="+mn-ea"/>
              <a:ea typeface="+mn-ea"/>
            </a:endParaRPr>
          </a:p>
        </p:txBody>
      </p:sp>
      <p:sp>
        <p:nvSpPr>
          <p:cNvPr id="12" name="AutoShape 12"/>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3D5A7CBA-E396-45F4-ABA7-FD885D063193}" type="slidenum">
              <a:rPr sz="1400" b="0" i="0" u="none" strike="noStrike">
                <a:solidFill>
                  <a:srgbClr val="FFC000"/>
                </a:solidFill>
                <a:latin typeface="Calibri"/>
                <a:ea typeface="Calibri"/>
                <a:cs typeface="Calibri"/>
                <a:sym typeface="Calibri"/>
              </a:rPr>
              <a:t>5</a:t>
            </a:fld>
            <a:endParaRPr lang="en-US" sz="1100"/>
          </a:p>
        </p:txBody>
      </p:sp>
      <p:sp>
        <p:nvSpPr>
          <p:cNvPr id="7" name="AutoShape 29">
            <a:extLst>
              <a:ext uri="{FF2B5EF4-FFF2-40B4-BE49-F238E27FC236}">
                <a16:creationId xmlns:a16="http://schemas.microsoft.com/office/drawing/2014/main" id="{74CACD39-6753-0931-CD24-AFDD9145C483}"/>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6" name="Picture 30">
            <a:extLst>
              <a:ext uri="{FF2B5EF4-FFF2-40B4-BE49-F238E27FC236}">
                <a16:creationId xmlns:a16="http://schemas.microsoft.com/office/drawing/2014/main" id="{59C0E2B8-155D-ABBB-D132-DA3836CB8530}"/>
              </a:ext>
            </a:extLst>
          </p:cNvPr>
          <p:cNvPicPr>
            <a:picLocks noChangeAspect="1"/>
          </p:cNvPicPr>
          <p:nvPr/>
        </p:nvPicPr>
        <p:blipFill>
          <a:blip r:embed="rId7"/>
          <a:srcRect/>
          <a:stretch>
            <a:fillRect/>
          </a:stretch>
        </p:blipFill>
        <p:spPr>
          <a:xfrm>
            <a:off x="13488377" y="1079500"/>
            <a:ext cx="2768600" cy="50800"/>
          </a:xfrm>
          <a:prstGeom prst="rect">
            <a:avLst/>
          </a:prstGeom>
          <a:noFill/>
          <a:ln w="25400" cap="flat" cmpd="sng">
            <a:noFill/>
            <a:prstDash val="solid"/>
            <a:round/>
          </a:ln>
        </p:spPr>
      </p:pic>
      <p:sp>
        <p:nvSpPr>
          <p:cNvPr id="18" name="Freeform 2">
            <a:extLst>
              <a:ext uri="{FF2B5EF4-FFF2-40B4-BE49-F238E27FC236}">
                <a16:creationId xmlns:a16="http://schemas.microsoft.com/office/drawing/2014/main" id="{287435D4-51BB-BB4C-EBE0-0B05A6ADC515}"/>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0" name="AutoShape 3">
            <a:extLst>
              <a:ext uri="{FF2B5EF4-FFF2-40B4-BE49-F238E27FC236}">
                <a16:creationId xmlns:a16="http://schemas.microsoft.com/office/drawing/2014/main" id="{68B2C777-6F50-FC44-67FD-20DE9E7D1907}"/>
              </a:ext>
            </a:extLst>
          </p:cNvPr>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pic>
        <p:nvPicPr>
          <p:cNvPr id="22" name="Picture 4">
            <a:extLst>
              <a:ext uri="{FF2B5EF4-FFF2-40B4-BE49-F238E27FC236}">
                <a16:creationId xmlns:a16="http://schemas.microsoft.com/office/drawing/2014/main" id="{FBA977E5-6B17-D5A0-7F59-669714983FE6}"/>
              </a:ext>
            </a:extLst>
          </p:cNvPr>
          <p:cNvPicPr>
            <a:picLocks noChangeAspect="1"/>
          </p:cNvPicPr>
          <p:nvPr/>
        </p:nvPicPr>
        <p:blipFill>
          <a:blip r:embed="rId8">
            <a:alphaModFix amt="80000"/>
          </a:blip>
          <a:srcRect l="536" r="536"/>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24" name="AutoShape 5">
            <a:extLst>
              <a:ext uri="{FF2B5EF4-FFF2-40B4-BE49-F238E27FC236}">
                <a16:creationId xmlns:a16="http://schemas.microsoft.com/office/drawing/2014/main" id="{760F9FF2-6C13-E1DB-11A0-6990DB929EE4}"/>
              </a:ext>
            </a:extLst>
          </p:cNvPr>
          <p:cNvSpPr/>
          <p:nvPr/>
        </p:nvSpPr>
        <p:spPr>
          <a:xfrm>
            <a:off x="1352550" y="431800"/>
            <a:ext cx="1524000" cy="7747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Times New Roman"/>
              </a:rPr>
              <a:t>5.1.1</a:t>
            </a:r>
            <a:endPar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
        <p:nvSpPr>
          <p:cNvPr id="26" name="AutoShape 6">
            <a:extLst>
              <a:ext uri="{FF2B5EF4-FFF2-40B4-BE49-F238E27FC236}">
                <a16:creationId xmlns:a16="http://schemas.microsoft.com/office/drawing/2014/main" id="{26DB4BD6-76A4-6F12-C99C-4060D80F9FE7}"/>
              </a:ext>
            </a:extLst>
          </p:cNvPr>
          <p:cNvSpPr/>
          <p:nvPr/>
        </p:nvSpPr>
        <p:spPr>
          <a:xfrm>
            <a:off x="2936798" y="482600"/>
            <a:ext cx="9461500" cy="6223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序列密码的</a:t>
            </a:r>
            <a:r>
              <a:rPr lang="zh-CN" alt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概述</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4" name="AutoShape 4"/>
          <p:cNvSpPr/>
          <p:nvPr/>
        </p:nvSpPr>
        <p:spPr>
          <a:xfrm>
            <a:off x="1733550" y="2184400"/>
            <a:ext cx="14820900" cy="7073900"/>
          </a:xfrm>
          <a:prstGeom prst="rect">
            <a:avLst/>
          </a:prstGeom>
          <a:noFill/>
          <a:ln w="19050" cap="flat" cmpd="sng">
            <a:noFill/>
            <a:prstDash val="solid"/>
            <a:round/>
          </a:ln>
        </p:spPr>
        <p:txBody>
          <a:bodyPr vert="horz" wrap="square" lIns="0" tIns="0" rIns="0" bIns="0" rtlCol="0" anchor="t" anchorCtr="0"/>
          <a:lstStyle/>
          <a:p>
            <a:pPr marL="0" indent="508000" algn="just">
              <a:lnSpc>
                <a:spcPct val="125000"/>
              </a:lnSpc>
              <a:defRPr/>
            </a:pPr>
            <a:r>
              <a:rPr lang="en-US" sz="3200" b="1" i="0" u="none" strike="noStrike" dirty="0">
                <a:solidFill>
                  <a:srgbClr val="004AAD"/>
                </a:solidFill>
                <a:latin typeface="宋体" panose="02010600030101010101" pitchFamily="2" charset="-122"/>
                <a:ea typeface="宋体" panose="02010600030101010101" pitchFamily="2" charset="-122"/>
                <a:cs typeface="Songti SC"/>
                <a:sym typeface="Songti SC"/>
              </a:rPr>
              <a:t>01 </a:t>
            </a:r>
            <a:r>
              <a:rPr lang="zh-CN" altLang="en-US" sz="3200" b="1" i="0" u="none" strike="noStrike" dirty="0">
                <a:solidFill>
                  <a:srgbClr val="004AAD"/>
                </a:solidFill>
                <a:latin typeface="宋体" panose="02010600030101010101" pitchFamily="2" charset="-122"/>
                <a:ea typeface="宋体" panose="02010600030101010101" pitchFamily="2" charset="-122"/>
                <a:cs typeface="Songti SC"/>
                <a:sym typeface="Songti SC"/>
              </a:rPr>
              <a:t>、</a:t>
            </a:r>
            <a:r>
              <a:rPr lang="en-US" sz="3200" b="1" i="0" u="none" strike="noStrike" dirty="0">
                <a:solidFill>
                  <a:srgbClr val="004AAD"/>
                </a:solidFill>
                <a:latin typeface="宋体" panose="02010600030101010101" pitchFamily="2" charset="-122"/>
                <a:ea typeface="宋体" panose="02010600030101010101" pitchFamily="2" charset="-122"/>
                <a:cs typeface="Songti SC"/>
                <a:sym typeface="Songti SC"/>
              </a:rPr>
              <a:t>序列密码的体系划分</a:t>
            </a:r>
            <a:endParaRPr lang="en-US" sz="3200" dirty="0">
              <a:latin typeface="宋体" panose="02010600030101010101" pitchFamily="2" charset="-122"/>
              <a:ea typeface="宋体" panose="02010600030101010101" pitchFamily="2" charset="-122"/>
            </a:endParaRPr>
          </a:p>
          <a:p>
            <a:pPr marL="0" indent="508000" algn="just">
              <a:lnSpc>
                <a:spcPct val="116666"/>
              </a:lnSpc>
            </a:pPr>
            <a:r>
              <a:rPr lang="en-US" sz="3200" b="0" i="0" u="none" strike="noStrike" dirty="0">
                <a:solidFill>
                  <a:srgbClr val="374151"/>
                </a:solidFill>
                <a:latin typeface="宋体" panose="02010600030101010101" pitchFamily="2" charset="-122"/>
                <a:ea typeface="宋体" panose="02010600030101010101" pitchFamily="2" charset="-122"/>
                <a:cs typeface="Songti SC"/>
                <a:sym typeface="Songti SC"/>
              </a:rPr>
              <a:t>序列密码是流密码的核心实现形式，其加密过程通过明文序列与密钥流序列逐位结合完成。依据密钥流生成的依赖关系，序列密码主要分为同步序列密码与自同步序列密码两大类别，二者在密钥流的生成逻辑上存在本质差异，也决定了其不同的应用场景与安全特性。</a:t>
            </a:r>
          </a:p>
          <a:p>
            <a:pPr marL="0" indent="508000" algn="just">
              <a:lnSpc>
                <a:spcPct val="125000"/>
              </a:lnSpc>
            </a:pPr>
            <a:r>
              <a:rPr lang="en-US" sz="3200" b="1" i="0" u="none" strike="noStrike" dirty="0">
                <a:solidFill>
                  <a:srgbClr val="004AAD"/>
                </a:solidFill>
                <a:latin typeface="宋体" panose="02010600030101010101" pitchFamily="2" charset="-122"/>
                <a:ea typeface="宋体" panose="02010600030101010101" pitchFamily="2" charset="-122"/>
                <a:cs typeface="Songti SC"/>
                <a:sym typeface="Songti SC"/>
              </a:rPr>
              <a:t>02 </a:t>
            </a:r>
            <a:r>
              <a:rPr lang="zh-CN" altLang="en-US" sz="3200" b="1" i="0" u="none" strike="noStrike" dirty="0">
                <a:solidFill>
                  <a:srgbClr val="004AAD"/>
                </a:solidFill>
                <a:latin typeface="宋体" panose="02010600030101010101" pitchFamily="2" charset="-122"/>
                <a:ea typeface="宋体" panose="02010600030101010101" pitchFamily="2" charset="-122"/>
                <a:cs typeface="Songti SC"/>
                <a:sym typeface="Songti SC"/>
              </a:rPr>
              <a:t>、</a:t>
            </a:r>
            <a:r>
              <a:rPr lang="en-US" sz="3200" b="1" i="0" u="none" strike="noStrike" dirty="0">
                <a:solidFill>
                  <a:srgbClr val="004AAD"/>
                </a:solidFill>
                <a:latin typeface="宋体" panose="02010600030101010101" pitchFamily="2" charset="-122"/>
                <a:ea typeface="宋体" panose="02010600030101010101" pitchFamily="2" charset="-122"/>
                <a:cs typeface="Songti SC"/>
                <a:sym typeface="Songti SC"/>
              </a:rPr>
              <a:t>同步序列密码的核心机制</a:t>
            </a:r>
          </a:p>
          <a:p>
            <a:pPr marL="0" indent="508000" algn="just">
              <a:lnSpc>
                <a:spcPct val="116666"/>
              </a:lnSpc>
            </a:pPr>
            <a:r>
              <a:rPr lang="en-US" sz="3200" b="0" i="0" u="none" strike="noStrike" dirty="0">
                <a:solidFill>
                  <a:srgbClr val="374151"/>
                </a:solidFill>
                <a:latin typeface="宋体" panose="02010600030101010101" pitchFamily="2" charset="-122"/>
                <a:ea typeface="宋体" panose="02010600030101010101" pitchFamily="2" charset="-122"/>
                <a:cs typeface="Songti SC"/>
                <a:sym typeface="Songti SC"/>
              </a:rPr>
              <a:t>同步序列密码的关键特征是密钥流的产生完全独立于明文和密文消息。密钥流仅由初始密钥和加密器的内部状态决定，与当前处理的明文内容、已生成的密文结果均无关联。这种独立性使得加密器可被清晰拆解为两个功能模块：一是密钥流生成器，负责基于初始种子生成伪随机的密钥流序列；二是加密变换器，通过逐位异或（模2加）将明文与密钥流结合生成密文。该机制的优势在于密文传输中的单比特错误不会扩散，仅影响对应比特的解密，适合对实时性要求高的通信场景。</a:t>
            </a:r>
          </a:p>
        </p:txBody>
      </p:sp>
      <p:sp>
        <p:nvSpPr>
          <p:cNvPr id="7" name="AutoShape 7"/>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6C9F8AA8-4324-47CC-A849-D76B1E73795C}" type="slidenum">
              <a:rPr sz="1400" b="0" i="0" u="none" strike="noStrike">
                <a:solidFill>
                  <a:srgbClr val="FFC000"/>
                </a:solidFill>
                <a:latin typeface="Calibri"/>
                <a:ea typeface="Calibri"/>
                <a:cs typeface="Calibri"/>
                <a:sym typeface="Calibri"/>
              </a:rPr>
              <a:t>6</a:t>
            </a:fld>
            <a:endParaRPr lang="en-US" sz="1100"/>
          </a:p>
        </p:txBody>
      </p:sp>
      <p:sp>
        <p:nvSpPr>
          <p:cNvPr id="6" name="AutoShape 29">
            <a:extLst>
              <a:ext uri="{FF2B5EF4-FFF2-40B4-BE49-F238E27FC236}">
                <a16:creationId xmlns:a16="http://schemas.microsoft.com/office/drawing/2014/main" id="{C3BA3765-988B-3C5A-F239-AB1897722490}"/>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2" name="Picture 30">
            <a:extLst>
              <a:ext uri="{FF2B5EF4-FFF2-40B4-BE49-F238E27FC236}">
                <a16:creationId xmlns:a16="http://schemas.microsoft.com/office/drawing/2014/main" id="{5254F06A-5DD5-AB4B-2C24-3B6D1F351465}"/>
              </a:ext>
            </a:extLst>
          </p:cNvPr>
          <p:cNvPicPr>
            <a:picLocks noChangeAspect="1"/>
          </p:cNvPicPr>
          <p:nvPr/>
        </p:nvPicPr>
        <p:blipFill>
          <a:blip r:embed="rId3"/>
          <a:srcRect/>
          <a:stretch>
            <a:fillRect/>
          </a:stretch>
        </p:blipFill>
        <p:spPr>
          <a:xfrm>
            <a:off x="13488377" y="1079500"/>
            <a:ext cx="2768600" cy="50800"/>
          </a:xfrm>
          <a:prstGeom prst="rect">
            <a:avLst/>
          </a:prstGeom>
          <a:noFill/>
          <a:ln w="25400" cap="flat" cmpd="sng">
            <a:noFill/>
            <a:prstDash val="solid"/>
            <a:round/>
          </a:ln>
        </p:spPr>
      </p:pic>
      <p:sp>
        <p:nvSpPr>
          <p:cNvPr id="16" name="Freeform 2">
            <a:extLst>
              <a:ext uri="{FF2B5EF4-FFF2-40B4-BE49-F238E27FC236}">
                <a16:creationId xmlns:a16="http://schemas.microsoft.com/office/drawing/2014/main" id="{B5944BFA-520D-C742-B4B4-2798028177AE}"/>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8" name="AutoShape 3">
            <a:extLst>
              <a:ext uri="{FF2B5EF4-FFF2-40B4-BE49-F238E27FC236}">
                <a16:creationId xmlns:a16="http://schemas.microsoft.com/office/drawing/2014/main" id="{4108567E-26FC-696C-AFF7-72C475F56D9F}"/>
              </a:ext>
            </a:extLst>
          </p:cNvPr>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pic>
        <p:nvPicPr>
          <p:cNvPr id="20" name="Picture 4">
            <a:extLst>
              <a:ext uri="{FF2B5EF4-FFF2-40B4-BE49-F238E27FC236}">
                <a16:creationId xmlns:a16="http://schemas.microsoft.com/office/drawing/2014/main" id="{A532F270-0B7C-ABC6-E6E6-442147502D6B}"/>
              </a:ext>
            </a:extLst>
          </p:cNvPr>
          <p:cNvPicPr>
            <a:picLocks noChangeAspect="1"/>
          </p:cNvPicPr>
          <p:nvPr/>
        </p:nvPicPr>
        <p:blipFill>
          <a:blip r:embed="rId4">
            <a:alphaModFix amt="80000"/>
          </a:blip>
          <a:srcRect l="536" r="536"/>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22" name="AutoShape 5">
            <a:extLst>
              <a:ext uri="{FF2B5EF4-FFF2-40B4-BE49-F238E27FC236}">
                <a16:creationId xmlns:a16="http://schemas.microsoft.com/office/drawing/2014/main" id="{24FA4443-27D6-196C-5A71-78CC36D62EC8}"/>
              </a:ext>
            </a:extLst>
          </p:cNvPr>
          <p:cNvSpPr/>
          <p:nvPr/>
        </p:nvSpPr>
        <p:spPr>
          <a:xfrm>
            <a:off x="1352550" y="431800"/>
            <a:ext cx="1524000" cy="7747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Times New Roman"/>
              </a:rPr>
              <a:t>5.1.2</a:t>
            </a:r>
            <a:endPar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
        <p:nvSpPr>
          <p:cNvPr id="24" name="AutoShape 6">
            <a:extLst>
              <a:ext uri="{FF2B5EF4-FFF2-40B4-BE49-F238E27FC236}">
                <a16:creationId xmlns:a16="http://schemas.microsoft.com/office/drawing/2014/main" id="{9C969F83-576D-0E11-781C-A9E7AFDFCA1F}"/>
              </a:ext>
            </a:extLst>
          </p:cNvPr>
          <p:cNvSpPr/>
          <p:nvPr/>
        </p:nvSpPr>
        <p:spPr>
          <a:xfrm>
            <a:off x="2936798" y="482600"/>
            <a:ext cx="9461500" cy="6223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序列密码的</a:t>
            </a:r>
            <a:r>
              <a:rPr lang="zh-CN" alt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概述</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AutoShape 2"/>
          <p:cNvSpPr/>
          <p:nvPr/>
        </p:nvSpPr>
        <p:spPr>
          <a:xfrm>
            <a:off x="1352550" y="1714499"/>
            <a:ext cx="15582900" cy="3865685"/>
          </a:xfrm>
          <a:prstGeom prst="roundRect">
            <a:avLst>
              <a:gd name="adj" fmla="val 0"/>
            </a:avLst>
          </a:prstGeom>
          <a:noFill/>
          <a:ln w="25400" cap="flat" cmpd="sng">
            <a:noFill/>
            <a:prstDash val="solid"/>
            <a:round/>
          </a:ln>
        </p:spPr>
        <p:txBody>
          <a:bodyPr vert="horz" wrap="square" lIns="0" tIns="127" rIns="0" bIns="0" rtlCol="0" anchor="t" anchorCtr="0"/>
          <a:lstStyle/>
          <a:p>
            <a:pPr marL="12700" indent="457200" algn="l">
              <a:lnSpc>
                <a:spcPct val="108333"/>
              </a:lnSpc>
              <a:defRPr/>
            </a:pPr>
            <a:r>
              <a:rPr lang="en-US" sz="3600" b="1" i="0" u="none" strike="noStrike" dirty="0">
                <a:solidFill>
                  <a:srgbClr val="000000"/>
                </a:solidFill>
                <a:latin typeface="宋体" panose="02010600030101010101" pitchFamily="2" charset="-122"/>
                <a:ea typeface="宋体" panose="02010600030101010101" pitchFamily="2" charset="-122"/>
                <a:cs typeface="Songti SC"/>
                <a:sym typeface="Songti SC"/>
              </a:rPr>
              <a:t>同步序列密码体制模型</a:t>
            </a:r>
            <a:endParaRPr lang="en-US" sz="3600" dirty="0">
              <a:latin typeface="宋体" panose="02010600030101010101" pitchFamily="2" charset="-122"/>
              <a:ea typeface="宋体" panose="02010600030101010101" pitchFamily="2" charset="-122"/>
            </a:endParaRPr>
          </a:p>
          <a:p>
            <a:pPr marL="12700" indent="457200" algn="l">
              <a:lnSpc>
                <a:spcPct val="108333"/>
              </a:lnSpc>
            </a:pPr>
            <a:r>
              <a:rPr lang="en-US" sz="3600" b="0" i="0" u="none" strike="noStrike" dirty="0">
                <a:solidFill>
                  <a:srgbClr val="374151"/>
                </a:solidFill>
                <a:latin typeface="宋体" panose="02010600030101010101" pitchFamily="2" charset="-122"/>
                <a:ea typeface="宋体" panose="02010600030101010101" pitchFamily="2" charset="-122"/>
                <a:cs typeface="Songti SC"/>
                <a:sym typeface="Songti SC"/>
              </a:rPr>
              <a:t>若加密变换存在对应的可逆解密变换，则构成同步序列密码体制的核心模型。在实际数字保密通信场景中，二元系统是主流应用形式，因此构建于有限域之上的二元加法序列密码，凭借其实现简洁、效率较高的特性，成为目前工程中最为常用的序列密码体制，其核心在于通过密钥流与明文的逐位模加实现加密与解密。</a:t>
            </a:r>
          </a:p>
        </p:txBody>
      </p:sp>
      <p:pic>
        <p:nvPicPr>
          <p:cNvPr id="3" name="Picture 3"/>
          <p:cNvPicPr>
            <a:picLocks noChangeAspect="1"/>
          </p:cNvPicPr>
          <p:nvPr/>
        </p:nvPicPr>
        <p:blipFill>
          <a:blip r:embed="rId3"/>
          <a:srcRect t="160" b="160"/>
          <a:stretch>
            <a:fillRect/>
          </a:stretch>
        </p:blipFill>
        <p:spPr>
          <a:xfrm>
            <a:off x="5017071" y="5143500"/>
            <a:ext cx="8253857" cy="3523762"/>
          </a:xfrm>
          <a:prstGeom prst="rect">
            <a:avLst/>
          </a:prstGeom>
          <a:noFill/>
          <a:ln w="25400" cap="flat" cmpd="sng">
            <a:noFill/>
            <a:prstDash val="solid"/>
            <a:round/>
          </a:ln>
        </p:spPr>
      </p:pic>
      <p:sp>
        <p:nvSpPr>
          <p:cNvPr id="4" name="AutoShape 4"/>
          <p:cNvSpPr/>
          <p:nvPr/>
        </p:nvSpPr>
        <p:spPr>
          <a:xfrm>
            <a:off x="5333999" y="8813800"/>
            <a:ext cx="7620000" cy="444500"/>
          </a:xfrm>
          <a:prstGeom prst="rect">
            <a:avLst/>
          </a:prstGeom>
          <a:noFill/>
          <a:ln w="19050" cap="flat" cmpd="sng">
            <a:noFill/>
            <a:prstDash val="solid"/>
            <a:round/>
          </a:ln>
        </p:spPr>
        <p:txBody>
          <a:bodyPr vert="horz" wrap="square" lIns="88900" tIns="50800" rIns="88900" bIns="50800" rtlCol="0" anchor="t" anchorCtr="0"/>
          <a:lstStyle/>
          <a:p>
            <a:pPr marL="0" indent="0" algn="ctr">
              <a:lnSpc>
                <a:spcPct val="100000"/>
              </a:lnSpc>
              <a:defRPr/>
            </a:pPr>
            <a:r>
              <a:rPr lang="en-US" sz="1800" b="0" i="0" u="none" strike="noStrike" dirty="0">
                <a:solidFill>
                  <a:srgbClr val="000000"/>
                </a:solidFill>
                <a:latin typeface="+mn-ea"/>
                <a:ea typeface="+mn-ea"/>
                <a:cs typeface="Songti SC"/>
                <a:sym typeface="Songti SC"/>
              </a:rPr>
              <a:t>图5.1.3　同步序列密码体制模型</a:t>
            </a:r>
            <a:endParaRPr lang="en-US" sz="1800" dirty="0">
              <a:latin typeface="+mn-ea"/>
              <a:ea typeface="+mn-ea"/>
            </a:endParaRPr>
          </a:p>
        </p:txBody>
      </p:sp>
      <p:sp>
        <p:nvSpPr>
          <p:cNvPr id="5" name="AutoShape 5"/>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BB68D2DD-6F3F-4CB5-959E-79F419DD8E04}" type="slidenum">
              <a:rPr sz="1400" b="0" i="0" u="none" strike="noStrike">
                <a:solidFill>
                  <a:srgbClr val="FFC000"/>
                </a:solidFill>
                <a:latin typeface="Calibri"/>
                <a:ea typeface="Calibri"/>
                <a:cs typeface="Calibri"/>
                <a:sym typeface="Calibri"/>
              </a:rPr>
              <a:t>7</a:t>
            </a:fld>
            <a:endParaRPr lang="en-US" sz="1100"/>
          </a:p>
        </p:txBody>
      </p:sp>
      <p:sp>
        <p:nvSpPr>
          <p:cNvPr id="9" name="AutoShape 29">
            <a:extLst>
              <a:ext uri="{FF2B5EF4-FFF2-40B4-BE49-F238E27FC236}">
                <a16:creationId xmlns:a16="http://schemas.microsoft.com/office/drawing/2014/main" id="{FEF1450C-8E26-2A11-1EA3-62261CAD7154}"/>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6" name="Picture 30">
            <a:extLst>
              <a:ext uri="{FF2B5EF4-FFF2-40B4-BE49-F238E27FC236}">
                <a16:creationId xmlns:a16="http://schemas.microsoft.com/office/drawing/2014/main" id="{DE17DD83-B307-4FC9-1893-2CFF563BC4C8}"/>
              </a:ext>
            </a:extLst>
          </p:cNvPr>
          <p:cNvPicPr>
            <a:picLocks noChangeAspect="1"/>
          </p:cNvPicPr>
          <p:nvPr/>
        </p:nvPicPr>
        <p:blipFill>
          <a:blip r:embed="rId4"/>
          <a:srcRect/>
          <a:stretch>
            <a:fillRect/>
          </a:stretch>
        </p:blipFill>
        <p:spPr>
          <a:xfrm>
            <a:off x="13488377" y="1079500"/>
            <a:ext cx="2768600" cy="50800"/>
          </a:xfrm>
          <a:prstGeom prst="rect">
            <a:avLst/>
          </a:prstGeom>
          <a:noFill/>
          <a:ln w="25400" cap="flat" cmpd="sng">
            <a:noFill/>
            <a:prstDash val="solid"/>
            <a:round/>
          </a:ln>
        </p:spPr>
      </p:pic>
      <p:sp>
        <p:nvSpPr>
          <p:cNvPr id="18" name="Freeform 2">
            <a:extLst>
              <a:ext uri="{FF2B5EF4-FFF2-40B4-BE49-F238E27FC236}">
                <a16:creationId xmlns:a16="http://schemas.microsoft.com/office/drawing/2014/main" id="{C63B2773-76B8-1521-77A1-314D6DFD4F26}"/>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0" name="AutoShape 3">
            <a:extLst>
              <a:ext uri="{FF2B5EF4-FFF2-40B4-BE49-F238E27FC236}">
                <a16:creationId xmlns:a16="http://schemas.microsoft.com/office/drawing/2014/main" id="{DCA37E64-1490-68EB-B99A-13DF475B19CA}"/>
              </a:ext>
            </a:extLst>
          </p:cNvPr>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pic>
        <p:nvPicPr>
          <p:cNvPr id="22" name="Picture 4">
            <a:extLst>
              <a:ext uri="{FF2B5EF4-FFF2-40B4-BE49-F238E27FC236}">
                <a16:creationId xmlns:a16="http://schemas.microsoft.com/office/drawing/2014/main" id="{A49280B0-28F3-6D0B-A900-0FE72A42830A}"/>
              </a:ext>
            </a:extLst>
          </p:cNvPr>
          <p:cNvPicPr>
            <a:picLocks noChangeAspect="1"/>
          </p:cNvPicPr>
          <p:nvPr/>
        </p:nvPicPr>
        <p:blipFill>
          <a:blip r:embed="rId5">
            <a:alphaModFix amt="80000"/>
          </a:blip>
          <a:srcRect l="536" r="536"/>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24" name="AutoShape 5">
            <a:extLst>
              <a:ext uri="{FF2B5EF4-FFF2-40B4-BE49-F238E27FC236}">
                <a16:creationId xmlns:a16="http://schemas.microsoft.com/office/drawing/2014/main" id="{D44C95F5-040F-E57D-B27F-42C6C81E86B8}"/>
              </a:ext>
            </a:extLst>
          </p:cNvPr>
          <p:cNvSpPr/>
          <p:nvPr/>
        </p:nvSpPr>
        <p:spPr>
          <a:xfrm>
            <a:off x="1352550" y="431800"/>
            <a:ext cx="1524000" cy="7747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Times New Roman"/>
              </a:rPr>
              <a:t>5.1.2</a:t>
            </a:r>
            <a:endPar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
        <p:nvSpPr>
          <p:cNvPr id="26" name="AutoShape 6">
            <a:extLst>
              <a:ext uri="{FF2B5EF4-FFF2-40B4-BE49-F238E27FC236}">
                <a16:creationId xmlns:a16="http://schemas.microsoft.com/office/drawing/2014/main" id="{2BA42769-20AC-39C0-177A-FAB21ABD92E3}"/>
              </a:ext>
            </a:extLst>
          </p:cNvPr>
          <p:cNvSpPr/>
          <p:nvPr/>
        </p:nvSpPr>
        <p:spPr>
          <a:xfrm>
            <a:off x="2936798" y="482600"/>
            <a:ext cx="9461500" cy="6223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序列密码的</a:t>
            </a:r>
            <a:r>
              <a:rPr lang="zh-CN" alt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概述</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9" name="AutoShape 9"/>
          <p:cNvSpPr/>
          <p:nvPr/>
        </p:nvSpPr>
        <p:spPr>
          <a:xfrm>
            <a:off x="1352550" y="1901514"/>
            <a:ext cx="15582900" cy="3241985"/>
          </a:xfrm>
          <a:prstGeom prst="roundRect">
            <a:avLst>
              <a:gd name="adj" fmla="val 0"/>
            </a:avLst>
          </a:prstGeom>
          <a:noFill/>
          <a:ln w="25400" cap="flat" cmpd="sng">
            <a:noFill/>
            <a:prstDash val="solid"/>
            <a:round/>
          </a:ln>
        </p:spPr>
        <p:txBody>
          <a:bodyPr vert="horz" wrap="square" lIns="0" tIns="127" rIns="0" bIns="0" rtlCol="0" anchor="t" anchorCtr="0"/>
          <a:lstStyle/>
          <a:p>
            <a:pPr marL="12700" indent="457200" algn="l">
              <a:lnSpc>
                <a:spcPct val="116666"/>
              </a:lnSpc>
              <a:defRPr/>
            </a:pPr>
            <a:r>
              <a:rPr lang="en-US" sz="3600" b="0" i="0" u="none" strike="noStrike" dirty="0">
                <a:solidFill>
                  <a:srgbClr val="1F2329"/>
                </a:solidFill>
                <a:latin typeface="宋体" panose="02010600030101010101" pitchFamily="2" charset="-122"/>
                <a:ea typeface="宋体" panose="02010600030101010101" pitchFamily="2" charset="-122"/>
                <a:cs typeface="Songti SC"/>
                <a:sym typeface="Songti SC"/>
              </a:rPr>
              <a:t>一次一密密码是加法序列密码的经典原型。在理论层面，若将一次性密钥直接作为滚动密钥流使用，加法序列密码便退化为一次一密密码体制。在工程实践中，密码设计者的核心目标是构建高性能的滚动密钥生成器，使其输出的密钥流序列具备极大的周期长度、理想的伪随机统计特性，同时能够有效抵御线性分析、统计分析等密码学攻击，这也是保障序列密码安全性与实用性的关键所在。</a:t>
            </a:r>
            <a:endParaRPr lang="en-US" sz="3600" dirty="0">
              <a:latin typeface="宋体" panose="02010600030101010101" pitchFamily="2" charset="-122"/>
              <a:ea typeface="宋体" panose="02010600030101010101" pitchFamily="2" charset="-122"/>
            </a:endParaRPr>
          </a:p>
        </p:txBody>
      </p:sp>
      <p:pic>
        <p:nvPicPr>
          <p:cNvPr id="10" name="Picture 10"/>
          <p:cNvPicPr>
            <a:picLocks noChangeAspect="1"/>
          </p:cNvPicPr>
          <p:nvPr/>
        </p:nvPicPr>
        <p:blipFill>
          <a:blip r:embed="rId3"/>
          <a:srcRect l="371" r="371"/>
          <a:stretch>
            <a:fillRect/>
          </a:stretch>
        </p:blipFill>
        <p:spPr>
          <a:xfrm>
            <a:off x="5616380" y="5429739"/>
            <a:ext cx="7055240" cy="3359638"/>
          </a:xfrm>
          <a:prstGeom prst="rect">
            <a:avLst/>
          </a:prstGeom>
          <a:noFill/>
          <a:ln w="25400" cap="flat" cmpd="sng">
            <a:noFill/>
            <a:prstDash val="solid"/>
            <a:round/>
          </a:ln>
          <a:effectLst>
            <a:outerShdw blurRad="101600" dist="50800" dir="2700000" algn="tl" rotWithShape="0">
              <a:srgbClr val="000000">
                <a:alpha val="15000"/>
              </a:srgbClr>
            </a:outerShdw>
          </a:effectLst>
        </p:spPr>
      </p:pic>
      <p:sp>
        <p:nvSpPr>
          <p:cNvPr id="11" name="AutoShape 11"/>
          <p:cNvSpPr/>
          <p:nvPr/>
        </p:nvSpPr>
        <p:spPr>
          <a:xfrm>
            <a:off x="6477000" y="9075617"/>
            <a:ext cx="5334000" cy="444500"/>
          </a:xfrm>
          <a:prstGeom prst="rect">
            <a:avLst/>
          </a:prstGeom>
          <a:noFill/>
          <a:ln w="19050" cap="flat" cmpd="sng">
            <a:noFill/>
            <a:prstDash val="solid"/>
            <a:round/>
          </a:ln>
        </p:spPr>
        <p:txBody>
          <a:bodyPr vert="horz" wrap="square" lIns="88900" tIns="50800" rIns="88900" bIns="50800" rtlCol="0" anchor="t" anchorCtr="0"/>
          <a:lstStyle/>
          <a:p>
            <a:pPr marL="0" indent="0" algn="ctr">
              <a:lnSpc>
                <a:spcPct val="100000"/>
              </a:lnSpc>
              <a:defRPr/>
            </a:pPr>
            <a:r>
              <a:rPr lang="en-US" sz="1800" b="0" i="0" u="none" strike="noStrike" dirty="0">
                <a:solidFill>
                  <a:srgbClr val="000000"/>
                </a:solidFill>
                <a:latin typeface="+mn-ea"/>
                <a:ea typeface="+mn-ea"/>
                <a:cs typeface="Songti SC"/>
                <a:sym typeface="Songti SC"/>
              </a:rPr>
              <a:t>图5.1.4　加法序列密码体制模型</a:t>
            </a:r>
            <a:endParaRPr lang="en-US" sz="1800" dirty="0">
              <a:latin typeface="+mn-ea"/>
              <a:ea typeface="+mn-ea"/>
            </a:endParaRPr>
          </a:p>
        </p:txBody>
      </p:sp>
      <p:sp>
        <p:nvSpPr>
          <p:cNvPr id="12" name="AutoShape 12"/>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A03F6491-6BAD-4190-B430-CAB45EAF4536}" type="slidenum">
              <a:rPr sz="1400" b="0" i="0" u="none" strike="noStrike">
                <a:solidFill>
                  <a:srgbClr val="FFC000"/>
                </a:solidFill>
                <a:latin typeface="Calibri"/>
                <a:ea typeface="Calibri"/>
                <a:cs typeface="Calibri"/>
                <a:sym typeface="Calibri"/>
              </a:rPr>
              <a:t>8</a:t>
            </a:fld>
            <a:endParaRPr lang="en-US" sz="1100"/>
          </a:p>
        </p:txBody>
      </p:sp>
      <p:sp>
        <p:nvSpPr>
          <p:cNvPr id="6" name="AutoShape 29">
            <a:extLst>
              <a:ext uri="{FF2B5EF4-FFF2-40B4-BE49-F238E27FC236}">
                <a16:creationId xmlns:a16="http://schemas.microsoft.com/office/drawing/2014/main" id="{5928AB34-335B-398E-6617-83BB6FC5719C}"/>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6" name="Picture 30">
            <a:extLst>
              <a:ext uri="{FF2B5EF4-FFF2-40B4-BE49-F238E27FC236}">
                <a16:creationId xmlns:a16="http://schemas.microsoft.com/office/drawing/2014/main" id="{4F770537-D648-2728-5EA8-A754042D4D83}"/>
              </a:ext>
            </a:extLst>
          </p:cNvPr>
          <p:cNvPicPr>
            <a:picLocks noChangeAspect="1"/>
          </p:cNvPicPr>
          <p:nvPr/>
        </p:nvPicPr>
        <p:blipFill>
          <a:blip r:embed="rId4"/>
          <a:srcRect/>
          <a:stretch>
            <a:fillRect/>
          </a:stretch>
        </p:blipFill>
        <p:spPr>
          <a:xfrm>
            <a:off x="13488377" y="1079500"/>
            <a:ext cx="2768600" cy="50800"/>
          </a:xfrm>
          <a:prstGeom prst="rect">
            <a:avLst/>
          </a:prstGeom>
          <a:noFill/>
          <a:ln w="25400" cap="flat" cmpd="sng">
            <a:noFill/>
            <a:prstDash val="solid"/>
            <a:round/>
          </a:ln>
        </p:spPr>
      </p:pic>
      <p:sp>
        <p:nvSpPr>
          <p:cNvPr id="18" name="Freeform 2">
            <a:extLst>
              <a:ext uri="{FF2B5EF4-FFF2-40B4-BE49-F238E27FC236}">
                <a16:creationId xmlns:a16="http://schemas.microsoft.com/office/drawing/2014/main" id="{FA71CC72-C88B-7D87-99CA-E44CB538AED8}"/>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0" name="AutoShape 3">
            <a:extLst>
              <a:ext uri="{FF2B5EF4-FFF2-40B4-BE49-F238E27FC236}">
                <a16:creationId xmlns:a16="http://schemas.microsoft.com/office/drawing/2014/main" id="{670D5E1B-A781-6DBA-DE88-0E3103403447}"/>
              </a:ext>
            </a:extLst>
          </p:cNvPr>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pic>
        <p:nvPicPr>
          <p:cNvPr id="22" name="Picture 4">
            <a:extLst>
              <a:ext uri="{FF2B5EF4-FFF2-40B4-BE49-F238E27FC236}">
                <a16:creationId xmlns:a16="http://schemas.microsoft.com/office/drawing/2014/main" id="{A73C3FB8-E55E-51EE-DABD-74CAEFC059E4}"/>
              </a:ext>
            </a:extLst>
          </p:cNvPr>
          <p:cNvPicPr>
            <a:picLocks noChangeAspect="1"/>
          </p:cNvPicPr>
          <p:nvPr/>
        </p:nvPicPr>
        <p:blipFill>
          <a:blip r:embed="rId5">
            <a:alphaModFix amt="80000"/>
          </a:blip>
          <a:srcRect l="536" r="536"/>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24" name="AutoShape 5">
            <a:extLst>
              <a:ext uri="{FF2B5EF4-FFF2-40B4-BE49-F238E27FC236}">
                <a16:creationId xmlns:a16="http://schemas.microsoft.com/office/drawing/2014/main" id="{4333C709-78E0-A296-2522-2C984CB8E9A2}"/>
              </a:ext>
            </a:extLst>
          </p:cNvPr>
          <p:cNvSpPr/>
          <p:nvPr/>
        </p:nvSpPr>
        <p:spPr>
          <a:xfrm>
            <a:off x="1352550" y="431800"/>
            <a:ext cx="1524000" cy="7747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Times New Roman"/>
              </a:rPr>
              <a:t>5.1.2</a:t>
            </a:r>
            <a:endPar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
        <p:nvSpPr>
          <p:cNvPr id="26" name="AutoShape 6">
            <a:extLst>
              <a:ext uri="{FF2B5EF4-FFF2-40B4-BE49-F238E27FC236}">
                <a16:creationId xmlns:a16="http://schemas.microsoft.com/office/drawing/2014/main" id="{B67F3697-D640-E382-7874-C04B214AB2FA}"/>
              </a:ext>
            </a:extLst>
          </p:cNvPr>
          <p:cNvSpPr/>
          <p:nvPr/>
        </p:nvSpPr>
        <p:spPr>
          <a:xfrm>
            <a:off x="2936798" y="482600"/>
            <a:ext cx="9461500" cy="6223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序列密码的</a:t>
            </a:r>
            <a:r>
              <a:rPr lang="zh-CN" alt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概述</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9" name="AutoShape 9"/>
          <p:cNvSpPr/>
          <p:nvPr/>
        </p:nvSpPr>
        <p:spPr>
          <a:xfrm>
            <a:off x="1547446" y="1689099"/>
            <a:ext cx="15582900" cy="3628715"/>
          </a:xfrm>
          <a:prstGeom prst="roundRect">
            <a:avLst>
              <a:gd name="adj" fmla="val 0"/>
            </a:avLst>
          </a:prstGeom>
          <a:noFill/>
          <a:ln w="25400" cap="flat" cmpd="sng">
            <a:noFill/>
            <a:prstDash val="solid"/>
            <a:round/>
          </a:ln>
        </p:spPr>
        <p:txBody>
          <a:bodyPr vert="horz" wrap="square" lIns="127000" tIns="127000" rIns="127000" bIns="127000" rtlCol="0" anchor="t" anchorCtr="0"/>
          <a:lstStyle/>
          <a:p>
            <a:pPr marL="0" indent="0">
              <a:lnSpc>
                <a:spcPct val="116666"/>
              </a:lnSpc>
              <a:defRPr/>
            </a:pP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   同步序列密码的核心组件是密钥流生成器，其本质是一个以密钥为参数的有限状态自动机。为便于分析与设计，通常将其拆解为</a:t>
            </a:r>
            <a:r>
              <a:rPr lang="en-US" sz="3600" i="0" u="none" strike="noStrike" dirty="0">
                <a:solidFill>
                  <a:srgbClr val="000000"/>
                </a:solidFill>
                <a:latin typeface="宋体" panose="02010600030101010101" pitchFamily="2" charset="-122"/>
                <a:ea typeface="宋体" panose="02010600030101010101" pitchFamily="2" charset="-122"/>
                <a:cs typeface="Songti SC"/>
                <a:sym typeface="Songti SC"/>
              </a:rPr>
              <a:t>驱动部分与非线性组合部分</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。在实际应用中，驱动部分多由一个或多个</a:t>
            </a:r>
            <a:r>
              <a:rPr lang="en-US" sz="3600" i="0" u="none" strike="noStrike" dirty="0">
                <a:solidFill>
                  <a:srgbClr val="000000"/>
                </a:solidFill>
                <a:latin typeface="宋体" panose="02010600030101010101" pitchFamily="2" charset="-122"/>
                <a:ea typeface="宋体" panose="02010600030101010101" pitchFamily="2" charset="-122"/>
                <a:cs typeface="Songti SC"/>
                <a:sym typeface="Songti SC"/>
              </a:rPr>
              <a:t>线性反馈移位寄存器（LFSR）</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构成，负责生成具有良好统计特性的基础序列；这些序列再经由非线性组合函数F进行变换，最终输出具备高复杂度与安全性的密钥流。</a:t>
            </a:r>
            <a:endParaRPr lang="en-US" sz="3600" dirty="0">
              <a:latin typeface="宋体" panose="02010600030101010101" pitchFamily="2" charset="-122"/>
              <a:ea typeface="宋体" panose="02010600030101010101" pitchFamily="2" charset="-122"/>
            </a:endParaRPr>
          </a:p>
        </p:txBody>
      </p:sp>
      <p:pic>
        <p:nvPicPr>
          <p:cNvPr id="10" name="Picture 10"/>
          <p:cNvPicPr>
            <a:picLocks noChangeAspect="1"/>
          </p:cNvPicPr>
          <p:nvPr/>
        </p:nvPicPr>
        <p:blipFill>
          <a:blip r:embed="rId3"/>
          <a:srcRect t="75" b="75"/>
          <a:stretch>
            <a:fillRect/>
          </a:stretch>
        </p:blipFill>
        <p:spPr>
          <a:xfrm>
            <a:off x="5614377" y="5143500"/>
            <a:ext cx="7059246" cy="3938316"/>
          </a:xfrm>
          <a:prstGeom prst="rect">
            <a:avLst/>
          </a:prstGeom>
          <a:noFill/>
          <a:ln w="25400" cap="flat" cmpd="sng">
            <a:noFill/>
            <a:prstDash val="solid"/>
            <a:round/>
          </a:ln>
          <a:effectLst>
            <a:outerShdw blurRad="101600" dist="63500" dir="2700000" algn="tl" rotWithShape="0">
              <a:srgbClr val="000000">
                <a:alpha val="15000"/>
              </a:srgbClr>
            </a:outerShdw>
          </a:effectLst>
        </p:spPr>
      </p:pic>
      <p:sp>
        <p:nvSpPr>
          <p:cNvPr id="11" name="AutoShape 11"/>
          <p:cNvSpPr/>
          <p:nvPr/>
        </p:nvSpPr>
        <p:spPr>
          <a:xfrm>
            <a:off x="5334000" y="9337431"/>
            <a:ext cx="7620000" cy="444500"/>
          </a:xfrm>
          <a:prstGeom prst="rect">
            <a:avLst/>
          </a:prstGeom>
          <a:noFill/>
          <a:ln w="19050" cap="flat" cmpd="sng">
            <a:noFill/>
            <a:prstDash val="solid"/>
            <a:round/>
          </a:ln>
        </p:spPr>
        <p:txBody>
          <a:bodyPr vert="horz" wrap="square" lIns="88900" tIns="50800" rIns="88900" bIns="50800" rtlCol="0" anchor="t" anchorCtr="0"/>
          <a:lstStyle/>
          <a:p>
            <a:pPr marL="0" indent="0" algn="ctr">
              <a:lnSpc>
                <a:spcPct val="100000"/>
              </a:lnSpc>
              <a:defRPr/>
            </a:pPr>
            <a:r>
              <a:rPr lang="en-US" sz="1800" i="0" u="none" strike="noStrike" dirty="0">
                <a:solidFill>
                  <a:srgbClr val="000000"/>
                </a:solidFill>
                <a:latin typeface="+mn-ea"/>
                <a:ea typeface="+mn-ea"/>
                <a:cs typeface="Songti SC"/>
                <a:sym typeface="Songti SC"/>
              </a:rPr>
              <a:t>图5.1.5　密钥流生成器的结构分解示意图</a:t>
            </a:r>
            <a:endParaRPr lang="en-US" sz="1800" dirty="0">
              <a:latin typeface="+mn-ea"/>
              <a:ea typeface="+mn-ea"/>
            </a:endParaRPr>
          </a:p>
        </p:txBody>
      </p:sp>
      <p:sp>
        <p:nvSpPr>
          <p:cNvPr id="12" name="AutoShape 12"/>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D97A0DF2-5CE0-415A-9A4A-B1D5F2A6E40F}" type="slidenum">
              <a:rPr sz="1400" b="0" i="0" u="none" strike="noStrike">
                <a:solidFill>
                  <a:srgbClr val="FFC000"/>
                </a:solidFill>
                <a:latin typeface="Calibri"/>
                <a:ea typeface="Calibri"/>
                <a:cs typeface="Calibri"/>
                <a:sym typeface="Calibri"/>
              </a:rPr>
              <a:t>9</a:t>
            </a:fld>
            <a:endParaRPr lang="en-US" sz="1100"/>
          </a:p>
        </p:txBody>
      </p:sp>
      <p:sp>
        <p:nvSpPr>
          <p:cNvPr id="14" name="AutoShape 29">
            <a:extLst>
              <a:ext uri="{FF2B5EF4-FFF2-40B4-BE49-F238E27FC236}">
                <a16:creationId xmlns:a16="http://schemas.microsoft.com/office/drawing/2014/main" id="{26F97694-2CF1-6AF4-5E70-B071F47EE4AA}"/>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6" name="Picture 30">
            <a:extLst>
              <a:ext uri="{FF2B5EF4-FFF2-40B4-BE49-F238E27FC236}">
                <a16:creationId xmlns:a16="http://schemas.microsoft.com/office/drawing/2014/main" id="{710E4FFF-B8D1-88A3-5C48-2D4DABD5D282}"/>
              </a:ext>
            </a:extLst>
          </p:cNvPr>
          <p:cNvPicPr>
            <a:picLocks noChangeAspect="1"/>
          </p:cNvPicPr>
          <p:nvPr/>
        </p:nvPicPr>
        <p:blipFill>
          <a:blip r:embed="rId4"/>
          <a:srcRect/>
          <a:stretch>
            <a:fillRect/>
          </a:stretch>
        </p:blipFill>
        <p:spPr>
          <a:xfrm>
            <a:off x="13488377" y="1079500"/>
            <a:ext cx="2768600" cy="50800"/>
          </a:xfrm>
          <a:prstGeom prst="rect">
            <a:avLst/>
          </a:prstGeom>
          <a:noFill/>
          <a:ln w="25400" cap="flat" cmpd="sng">
            <a:noFill/>
            <a:prstDash val="solid"/>
            <a:round/>
          </a:ln>
        </p:spPr>
      </p:pic>
      <p:sp>
        <p:nvSpPr>
          <p:cNvPr id="18" name="Freeform 2">
            <a:extLst>
              <a:ext uri="{FF2B5EF4-FFF2-40B4-BE49-F238E27FC236}">
                <a16:creationId xmlns:a16="http://schemas.microsoft.com/office/drawing/2014/main" id="{33CE18C7-D58F-B255-B299-05B6EC186E95}"/>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0" name="AutoShape 3">
            <a:extLst>
              <a:ext uri="{FF2B5EF4-FFF2-40B4-BE49-F238E27FC236}">
                <a16:creationId xmlns:a16="http://schemas.microsoft.com/office/drawing/2014/main" id="{92331B48-7260-5C9F-F294-4747F5258A29}"/>
              </a:ext>
            </a:extLst>
          </p:cNvPr>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pic>
        <p:nvPicPr>
          <p:cNvPr id="22" name="Picture 4">
            <a:extLst>
              <a:ext uri="{FF2B5EF4-FFF2-40B4-BE49-F238E27FC236}">
                <a16:creationId xmlns:a16="http://schemas.microsoft.com/office/drawing/2014/main" id="{99CFDF80-F9A3-B989-7C5F-F317464BE04E}"/>
              </a:ext>
            </a:extLst>
          </p:cNvPr>
          <p:cNvPicPr>
            <a:picLocks noChangeAspect="1"/>
          </p:cNvPicPr>
          <p:nvPr/>
        </p:nvPicPr>
        <p:blipFill>
          <a:blip r:embed="rId5">
            <a:alphaModFix amt="80000"/>
          </a:blip>
          <a:srcRect l="536" r="536"/>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24" name="AutoShape 5">
            <a:extLst>
              <a:ext uri="{FF2B5EF4-FFF2-40B4-BE49-F238E27FC236}">
                <a16:creationId xmlns:a16="http://schemas.microsoft.com/office/drawing/2014/main" id="{7A95D60A-542A-7BB6-14C5-1B6121197A8C}"/>
              </a:ext>
            </a:extLst>
          </p:cNvPr>
          <p:cNvSpPr/>
          <p:nvPr/>
        </p:nvSpPr>
        <p:spPr>
          <a:xfrm>
            <a:off x="1352550" y="431800"/>
            <a:ext cx="1524000" cy="7747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Times New Roman"/>
              </a:rPr>
              <a:t>5.1.2</a:t>
            </a:r>
            <a:endPar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
        <p:nvSpPr>
          <p:cNvPr id="26" name="AutoShape 6">
            <a:extLst>
              <a:ext uri="{FF2B5EF4-FFF2-40B4-BE49-F238E27FC236}">
                <a16:creationId xmlns:a16="http://schemas.microsoft.com/office/drawing/2014/main" id="{43A3BCE9-DDE3-53E2-F5E5-3AA4E8ED4E1C}"/>
              </a:ext>
            </a:extLst>
          </p:cNvPr>
          <p:cNvSpPr/>
          <p:nvPr/>
        </p:nvSpPr>
        <p:spPr>
          <a:xfrm>
            <a:off x="2936798" y="482600"/>
            <a:ext cx="9461500" cy="6223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序列密码的</a:t>
            </a:r>
            <a:r>
              <a:rPr lang="zh-CN" alt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概述</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4" name="AutoShape 4"/>
          <p:cNvSpPr/>
          <p:nvPr/>
        </p:nvSpPr>
        <p:spPr>
          <a:xfrm>
            <a:off x="1756508" y="1638300"/>
            <a:ext cx="14820900" cy="6807200"/>
          </a:xfrm>
          <a:prstGeom prst="rect">
            <a:avLst/>
          </a:prstGeom>
          <a:noFill/>
          <a:ln w="19050" cap="flat" cmpd="sng">
            <a:noFill/>
            <a:prstDash val="solid"/>
            <a:round/>
          </a:ln>
        </p:spPr>
        <p:txBody>
          <a:bodyPr vert="horz" wrap="square" lIns="0" tIns="0" rIns="0" bIns="0" rtlCol="0" anchor="t" anchorCtr="0"/>
          <a:lstStyle/>
          <a:p>
            <a:pPr marL="0" indent="685800" algn="just">
              <a:lnSpc>
                <a:spcPct val="116666"/>
              </a:lnSpc>
              <a:defRPr/>
            </a:pPr>
            <a:r>
              <a:rPr lang="en-US" sz="3600" b="1" i="0" u="none" strike="noStrike" dirty="0">
                <a:solidFill>
                  <a:srgbClr val="000000"/>
                </a:solidFill>
                <a:latin typeface="宋体" panose="02010600030101010101" pitchFamily="2" charset="-122"/>
                <a:ea typeface="宋体" panose="02010600030101010101" pitchFamily="2" charset="-122"/>
                <a:cs typeface="Songti SC"/>
                <a:sym typeface="Songti SC"/>
              </a:rPr>
              <a:t>核心定义</a:t>
            </a:r>
            <a:endParaRPr lang="en-US" sz="3600" dirty="0">
              <a:latin typeface="宋体" panose="02010600030101010101" pitchFamily="2" charset="-122"/>
              <a:ea typeface="宋体" panose="02010600030101010101" pitchFamily="2" charset="-122"/>
            </a:endParaRPr>
          </a:p>
          <a:p>
            <a:pPr marL="0" indent="685800" algn="just">
              <a:lnSpc>
                <a:spcPct val="116666"/>
              </a:lnSpc>
            </a:pPr>
            <a:r>
              <a:rPr lang="en-US" sz="3600" b="0" i="0" u="none" strike="noStrike" dirty="0">
                <a:solidFill>
                  <a:srgbClr val="1F2329"/>
                </a:solidFill>
                <a:latin typeface="宋体" panose="02010600030101010101" pitchFamily="2" charset="-122"/>
                <a:ea typeface="宋体" panose="02010600030101010101" pitchFamily="2" charset="-122"/>
                <a:cs typeface="Songti SC"/>
                <a:sym typeface="Songti SC"/>
              </a:rPr>
              <a:t>若密钥序列的生成是主密钥与固定长度的前序密钥序列的函数，则此类密码被称为自同步序列密码（也称作非同步序列密码）。其本质是让密钥流的产生不仅依赖初始主密钥，还与传输过程中已出现的固定长度密文片段深度绑定。</a:t>
            </a:r>
          </a:p>
          <a:p>
            <a:pPr marL="0" indent="685800" algn="just">
              <a:lnSpc>
                <a:spcPct val="116666"/>
              </a:lnSpc>
            </a:pPr>
            <a:r>
              <a:rPr lang="en-US" sz="3600" b="1" i="0" u="none" strike="noStrike" dirty="0">
                <a:solidFill>
                  <a:srgbClr val="000000"/>
                </a:solidFill>
                <a:latin typeface="宋体" panose="02010600030101010101" pitchFamily="2" charset="-122"/>
                <a:ea typeface="宋体" panose="02010600030101010101" pitchFamily="2" charset="-122"/>
                <a:cs typeface="Songti SC"/>
                <a:sym typeface="Songti SC"/>
              </a:rPr>
              <a:t>自同步特性与优势</a:t>
            </a:r>
          </a:p>
          <a:p>
            <a:pPr marL="0" indent="685800" algn="just">
              <a:lnSpc>
                <a:spcPct val="116666"/>
              </a:lnSpc>
            </a:pPr>
            <a:r>
              <a:rPr lang="en-US" sz="3600" b="0" i="0" u="none" strike="noStrike" dirty="0">
                <a:solidFill>
                  <a:srgbClr val="1F2329"/>
                </a:solidFill>
                <a:latin typeface="宋体" panose="02010600030101010101" pitchFamily="2" charset="-122"/>
                <a:ea typeface="宋体" panose="02010600030101010101" pitchFamily="2" charset="-122"/>
                <a:cs typeface="Songti SC"/>
                <a:sym typeface="Songti SC"/>
              </a:rPr>
              <a:t>由于解密过程仅与固定长度的密文字符组相关，该模式具备极强的抗干扰能力。当传输中发生密文位丢失、插入或误码时，接收方可通过后续收到的固定长度密文自动重建同步，无需人工干预即可恢复正确解密。仅丢失或出错的那段密文对应的明文无法还原，不会影响后续数据的解密进程，这一特性使其在无线通信、卫星传输等易受干扰的信道中极具应用价值。</a:t>
            </a:r>
          </a:p>
        </p:txBody>
      </p:sp>
      <p:sp>
        <p:nvSpPr>
          <p:cNvPr id="7" name="AutoShape 7"/>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D1B4531B-582B-4F30-A4DE-3E227DB9CCE2}" type="slidenum">
              <a:rPr sz="1400" b="0" i="0" u="none" strike="noStrike">
                <a:solidFill>
                  <a:srgbClr val="FFC000"/>
                </a:solidFill>
                <a:latin typeface="Calibri"/>
                <a:ea typeface="Calibri"/>
                <a:cs typeface="Calibri"/>
                <a:sym typeface="Calibri"/>
              </a:rPr>
              <a:t>10</a:t>
            </a:fld>
            <a:endParaRPr lang="en-US" sz="1100"/>
          </a:p>
        </p:txBody>
      </p:sp>
      <p:sp>
        <p:nvSpPr>
          <p:cNvPr id="9" name="AutoShape 29">
            <a:extLst>
              <a:ext uri="{FF2B5EF4-FFF2-40B4-BE49-F238E27FC236}">
                <a16:creationId xmlns:a16="http://schemas.microsoft.com/office/drawing/2014/main" id="{F8DA3603-3C71-FBF4-0643-6761E7AFB772}"/>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4" name="Picture 30">
            <a:extLst>
              <a:ext uri="{FF2B5EF4-FFF2-40B4-BE49-F238E27FC236}">
                <a16:creationId xmlns:a16="http://schemas.microsoft.com/office/drawing/2014/main" id="{455D991D-0BC6-B3DC-5FA9-0F7EE2E9C1E5}"/>
              </a:ext>
            </a:extLst>
          </p:cNvPr>
          <p:cNvPicPr>
            <a:picLocks noChangeAspect="1"/>
          </p:cNvPicPr>
          <p:nvPr/>
        </p:nvPicPr>
        <p:blipFill>
          <a:blip r:embed="rId3"/>
          <a:srcRect/>
          <a:stretch>
            <a:fillRect/>
          </a:stretch>
        </p:blipFill>
        <p:spPr>
          <a:xfrm>
            <a:off x="13488377" y="1079500"/>
            <a:ext cx="2768600" cy="50800"/>
          </a:xfrm>
          <a:prstGeom prst="rect">
            <a:avLst/>
          </a:prstGeom>
          <a:noFill/>
          <a:ln w="25400" cap="flat" cmpd="sng">
            <a:noFill/>
            <a:prstDash val="solid"/>
            <a:round/>
          </a:ln>
        </p:spPr>
      </p:pic>
      <p:sp>
        <p:nvSpPr>
          <p:cNvPr id="16" name="Freeform 2">
            <a:extLst>
              <a:ext uri="{FF2B5EF4-FFF2-40B4-BE49-F238E27FC236}">
                <a16:creationId xmlns:a16="http://schemas.microsoft.com/office/drawing/2014/main" id="{661B86AC-1C6C-28C6-9C1A-31A04617EB1C}"/>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8" name="AutoShape 3">
            <a:extLst>
              <a:ext uri="{FF2B5EF4-FFF2-40B4-BE49-F238E27FC236}">
                <a16:creationId xmlns:a16="http://schemas.microsoft.com/office/drawing/2014/main" id="{C34A55AB-6D6C-8306-3B5B-C9ABE3FDEDAE}"/>
              </a:ext>
            </a:extLst>
          </p:cNvPr>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pic>
        <p:nvPicPr>
          <p:cNvPr id="20" name="Picture 4">
            <a:extLst>
              <a:ext uri="{FF2B5EF4-FFF2-40B4-BE49-F238E27FC236}">
                <a16:creationId xmlns:a16="http://schemas.microsoft.com/office/drawing/2014/main" id="{11D6BD62-0145-379C-E223-CAA63A2D5635}"/>
              </a:ext>
            </a:extLst>
          </p:cNvPr>
          <p:cNvPicPr>
            <a:picLocks noChangeAspect="1"/>
          </p:cNvPicPr>
          <p:nvPr/>
        </p:nvPicPr>
        <p:blipFill>
          <a:blip r:embed="rId4">
            <a:alphaModFix amt="80000"/>
          </a:blip>
          <a:srcRect l="536" r="536"/>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22" name="AutoShape 5">
            <a:extLst>
              <a:ext uri="{FF2B5EF4-FFF2-40B4-BE49-F238E27FC236}">
                <a16:creationId xmlns:a16="http://schemas.microsoft.com/office/drawing/2014/main" id="{3BC6917B-7AF6-ED4D-A839-3034BFC98F93}"/>
              </a:ext>
            </a:extLst>
          </p:cNvPr>
          <p:cNvSpPr/>
          <p:nvPr/>
        </p:nvSpPr>
        <p:spPr>
          <a:xfrm>
            <a:off x="1352550" y="431800"/>
            <a:ext cx="1524000" cy="7747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Times New Roman"/>
              </a:rPr>
              <a:t>5.1.2</a:t>
            </a:r>
            <a:endPar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
        <p:nvSpPr>
          <p:cNvPr id="24" name="AutoShape 6">
            <a:extLst>
              <a:ext uri="{FF2B5EF4-FFF2-40B4-BE49-F238E27FC236}">
                <a16:creationId xmlns:a16="http://schemas.microsoft.com/office/drawing/2014/main" id="{64CE4481-F38C-445F-CCA2-F5BDF5068D8B}"/>
              </a:ext>
            </a:extLst>
          </p:cNvPr>
          <p:cNvSpPr/>
          <p:nvPr/>
        </p:nvSpPr>
        <p:spPr>
          <a:xfrm>
            <a:off x="2936798" y="482600"/>
            <a:ext cx="9461500" cy="6223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序列密码的</a:t>
            </a:r>
            <a:r>
              <a:rPr lang="zh-CN" alt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概述</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pic>
        <p:nvPicPr>
          <p:cNvPr id="4" name="Picture 4"/>
          <p:cNvPicPr>
            <a:picLocks noChangeAspect="1"/>
          </p:cNvPicPr>
          <p:nvPr/>
        </p:nvPicPr>
        <p:blipFill>
          <a:blip r:embed="rId3">
            <a:alphaModFix amt="80000"/>
          </a:blip>
          <a:srcRect l="536" r="536"/>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5" name="AutoShape 5"/>
          <p:cNvSpPr/>
          <p:nvPr/>
        </p:nvSpPr>
        <p:spPr>
          <a:xfrm>
            <a:off x="1352550" y="431800"/>
            <a:ext cx="1524000" cy="7747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Times New Roman"/>
              </a:rPr>
              <a:t>5.1.2</a:t>
            </a:r>
            <a:endPar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
        <p:nvSpPr>
          <p:cNvPr id="9" name="AutoShape 9"/>
          <p:cNvSpPr/>
          <p:nvPr/>
        </p:nvSpPr>
        <p:spPr>
          <a:xfrm>
            <a:off x="1352550" y="1430492"/>
            <a:ext cx="15582900" cy="3314146"/>
          </a:xfrm>
          <a:prstGeom prst="roundRect">
            <a:avLst>
              <a:gd name="adj" fmla="val 0"/>
            </a:avLst>
          </a:prstGeom>
          <a:noFill/>
          <a:ln w="25400" cap="flat" cmpd="sng">
            <a:noFill/>
            <a:prstDash val="solid"/>
            <a:round/>
          </a:ln>
        </p:spPr>
        <p:txBody>
          <a:bodyPr vert="horz" wrap="square" lIns="127000" tIns="127000" rIns="127000" bIns="127000" rtlCol="0" anchor="t" anchorCtr="0"/>
          <a:lstStyle/>
          <a:p>
            <a:pPr marL="0" indent="0" algn="l">
              <a:lnSpc>
                <a:spcPct val="108333"/>
              </a:lnSpc>
              <a:defRPr/>
            </a:pPr>
            <a:r>
              <a:rPr lang="en-US" sz="3600" b="1" i="0" u="none" strike="noStrike" dirty="0">
                <a:solidFill>
                  <a:srgbClr val="000000"/>
                </a:solidFill>
                <a:latin typeface="宋体" panose="02010600030101010101" pitchFamily="2" charset="-122"/>
                <a:ea typeface="宋体" panose="02010600030101010101" pitchFamily="2" charset="-122"/>
                <a:cs typeface="Songti SC"/>
                <a:sym typeface="Songti SC"/>
              </a:rPr>
              <a:t>    自同步序列密码的核心特性：</a:t>
            </a:r>
            <a:r>
              <a:rPr lang="en-US" sz="3600" b="0" i="0" u="none" strike="noStrike" dirty="0">
                <a:solidFill>
                  <a:srgbClr val="374151"/>
                </a:solidFill>
                <a:latin typeface="宋体" panose="02010600030101010101" pitchFamily="2" charset="-122"/>
                <a:ea typeface="宋体" panose="02010600030101010101" pitchFamily="2" charset="-122"/>
                <a:cs typeface="Songti SC"/>
                <a:sym typeface="Songti SC"/>
              </a:rPr>
              <a:t>其密钥流的生成不仅依赖于主密钥，还与加密过程中产生的前序密文位紧密相关。这一机制使其具备“自同步”能力，无需额外的同步信道。但需注意，该特性也带来了“错误传播”效应：若传输中某一密文位被篡改或丢失，错误将影响后续有限位数的解密，直至系统利用正确接收的密文重新实现同步。</a:t>
            </a:r>
            <a:endParaRPr lang="en-US" sz="3600" dirty="0">
              <a:latin typeface="宋体" panose="02010600030101010101" pitchFamily="2" charset="-122"/>
              <a:ea typeface="宋体" panose="02010600030101010101" pitchFamily="2" charset="-122"/>
            </a:endParaRPr>
          </a:p>
        </p:txBody>
      </p:sp>
      <p:pic>
        <p:nvPicPr>
          <p:cNvPr id="10" name="Picture 10"/>
          <p:cNvPicPr>
            <a:picLocks noChangeAspect="1"/>
          </p:cNvPicPr>
          <p:nvPr/>
        </p:nvPicPr>
        <p:blipFill>
          <a:blip r:embed="rId4"/>
          <a:srcRect l="3839" r="3839"/>
          <a:stretch>
            <a:fillRect/>
          </a:stretch>
        </p:blipFill>
        <p:spPr>
          <a:xfrm>
            <a:off x="2146147" y="4699000"/>
            <a:ext cx="6658128" cy="3210169"/>
          </a:xfrm>
          <a:prstGeom prst="rect">
            <a:avLst/>
          </a:prstGeom>
          <a:noFill/>
          <a:ln w="25400" cap="flat" cmpd="sng">
            <a:noFill/>
            <a:prstDash val="solid"/>
            <a:round/>
          </a:ln>
          <a:effectLst>
            <a:outerShdw blurRad="101600" dist="50800" dir="2700000" algn="tl" rotWithShape="0">
              <a:srgbClr val="000000">
                <a:alpha val="15000"/>
              </a:srgbClr>
            </a:outerShdw>
          </a:effectLst>
        </p:spPr>
      </p:pic>
      <p:pic>
        <p:nvPicPr>
          <p:cNvPr id="11" name="Picture 11"/>
          <p:cNvPicPr>
            <a:picLocks noChangeAspect="1"/>
          </p:cNvPicPr>
          <p:nvPr/>
        </p:nvPicPr>
        <p:blipFill>
          <a:blip r:embed="rId5"/>
          <a:srcRect l="4395" r="4395"/>
          <a:stretch>
            <a:fillRect/>
          </a:stretch>
        </p:blipFill>
        <p:spPr>
          <a:xfrm>
            <a:off x="9937596" y="4699000"/>
            <a:ext cx="6204257" cy="3210168"/>
          </a:xfrm>
          <a:prstGeom prst="rect">
            <a:avLst/>
          </a:prstGeom>
          <a:noFill/>
          <a:ln w="25400" cap="flat" cmpd="sng">
            <a:noFill/>
            <a:prstDash val="solid"/>
            <a:round/>
          </a:ln>
          <a:effectLst>
            <a:outerShdw blurRad="101600" dist="50800" dir="2700000" algn="tl" rotWithShape="0">
              <a:srgbClr val="000000">
                <a:alpha val="15000"/>
              </a:srgbClr>
            </a:outerShdw>
          </a:effectLst>
        </p:spPr>
      </p:pic>
      <p:sp>
        <p:nvSpPr>
          <p:cNvPr id="12" name="AutoShape 12"/>
          <p:cNvSpPr/>
          <p:nvPr/>
        </p:nvSpPr>
        <p:spPr>
          <a:xfrm>
            <a:off x="4022969" y="8767885"/>
            <a:ext cx="9550400" cy="490415"/>
          </a:xfrm>
          <a:prstGeom prst="rect">
            <a:avLst/>
          </a:prstGeom>
          <a:noFill/>
          <a:ln w="19050" cap="flat" cmpd="sng">
            <a:noFill/>
            <a:prstDash val="solid"/>
            <a:round/>
          </a:ln>
        </p:spPr>
        <p:txBody>
          <a:bodyPr vert="horz" wrap="square" lIns="88900" tIns="50800" rIns="88900" bIns="50800" rtlCol="0" anchor="t" anchorCtr="0"/>
          <a:lstStyle/>
          <a:p>
            <a:pPr marL="0" indent="0" algn="ctr">
              <a:lnSpc>
                <a:spcPct val="100000"/>
              </a:lnSpc>
              <a:defRPr/>
            </a:pPr>
            <a:r>
              <a:rPr lang="en-US" sz="1800" b="0" i="0" u="none" strike="noStrike" dirty="0">
                <a:solidFill>
                  <a:srgbClr val="505050"/>
                </a:solidFill>
                <a:latin typeface="+mn-ea"/>
                <a:ea typeface="+mn-ea"/>
                <a:cs typeface="Songti SC"/>
                <a:sym typeface="Songti SC"/>
              </a:rPr>
              <a:t>图5.1.6 自同步序列密码的加密（左）与解密（右）流程模型</a:t>
            </a:r>
            <a:endParaRPr lang="en-US" sz="1800" dirty="0">
              <a:latin typeface="+mn-ea"/>
              <a:ea typeface="+mn-ea"/>
            </a:endParaRPr>
          </a:p>
        </p:txBody>
      </p:sp>
      <p:sp>
        <p:nvSpPr>
          <p:cNvPr id="13" name="AutoShape 13"/>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08AC40EB-17E3-429E-9297-E1E55C34D9DD}" type="slidenum">
              <a:rPr sz="1400" b="0" i="0" u="none" strike="noStrike">
                <a:solidFill>
                  <a:srgbClr val="FFC000"/>
                </a:solidFill>
                <a:latin typeface="Calibri"/>
                <a:ea typeface="Calibri"/>
                <a:cs typeface="Calibri"/>
                <a:sym typeface="Calibri"/>
              </a:rPr>
              <a:t>11</a:t>
            </a:fld>
            <a:endParaRPr lang="en-US" sz="1100"/>
          </a:p>
        </p:txBody>
      </p:sp>
      <p:sp>
        <p:nvSpPr>
          <p:cNvPr id="15" name="AutoShape 6">
            <a:extLst>
              <a:ext uri="{FF2B5EF4-FFF2-40B4-BE49-F238E27FC236}">
                <a16:creationId xmlns:a16="http://schemas.microsoft.com/office/drawing/2014/main" id="{0302725A-45FA-32BC-5024-AEDF8763AC55}"/>
              </a:ext>
            </a:extLst>
          </p:cNvPr>
          <p:cNvSpPr/>
          <p:nvPr/>
        </p:nvSpPr>
        <p:spPr>
          <a:xfrm>
            <a:off x="2936798" y="482600"/>
            <a:ext cx="9461500" cy="6223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序列密码的</a:t>
            </a:r>
            <a:r>
              <a:rPr lang="zh-CN" alt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概述</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
        <p:nvSpPr>
          <p:cNvPr id="7" name="AutoShape 29">
            <a:extLst>
              <a:ext uri="{FF2B5EF4-FFF2-40B4-BE49-F238E27FC236}">
                <a16:creationId xmlns:a16="http://schemas.microsoft.com/office/drawing/2014/main" id="{B5136091-22C0-7BDE-B725-9C70D111D020}"/>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7" name="Picture 30">
            <a:extLst>
              <a:ext uri="{FF2B5EF4-FFF2-40B4-BE49-F238E27FC236}">
                <a16:creationId xmlns:a16="http://schemas.microsoft.com/office/drawing/2014/main" id="{655F0783-9FDD-61B9-6569-F90FF3CF5ACF}"/>
              </a:ext>
            </a:extLst>
          </p:cNvPr>
          <p:cNvPicPr>
            <a:picLocks noChangeAspect="1"/>
          </p:cNvPicPr>
          <p:nvPr/>
        </p:nvPicPr>
        <p:blipFill>
          <a:blip r:embed="rId6"/>
          <a:srcRect/>
          <a:stretch>
            <a:fillRect/>
          </a:stretch>
        </p:blipFill>
        <p:spPr>
          <a:xfrm>
            <a:off x="13488377" y="1079500"/>
            <a:ext cx="2768600" cy="50800"/>
          </a:xfrm>
          <a:prstGeom prst="rect">
            <a:avLst/>
          </a:prstGeom>
          <a:noFill/>
          <a:ln w="25400" cap="flat" cmpd="sng">
            <a:noFill/>
            <a:prstDash val="solid"/>
            <a:rou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747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001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4" name="Freeform 4"/>
          <p:cNvSpPr/>
          <p:nvPr/>
        </p:nvSpPr>
        <p:spPr>
          <a:xfrm>
            <a:off x="7747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001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6" name="Freeform 6"/>
          <p:cNvSpPr/>
          <p:nvPr/>
        </p:nvSpPr>
        <p:spPr>
          <a:xfrm>
            <a:off x="7747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01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8" name="Freeform 8"/>
          <p:cNvSpPr/>
          <p:nvPr/>
        </p:nvSpPr>
        <p:spPr>
          <a:xfrm>
            <a:off x="7747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001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0" name="Freeform 10"/>
          <p:cNvSpPr/>
          <p:nvPr/>
        </p:nvSpPr>
        <p:spPr>
          <a:xfrm>
            <a:off x="173355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73482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2" name="Freeform 12"/>
          <p:cNvSpPr/>
          <p:nvPr/>
        </p:nvSpPr>
        <p:spPr>
          <a:xfrm>
            <a:off x="173355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73482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4" name="Freeform 14"/>
          <p:cNvSpPr/>
          <p:nvPr/>
        </p:nvSpPr>
        <p:spPr>
          <a:xfrm>
            <a:off x="173355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73482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6" name="Freeform 16"/>
          <p:cNvSpPr/>
          <p:nvPr/>
        </p:nvSpPr>
        <p:spPr>
          <a:xfrm>
            <a:off x="173355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73482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8" name="Freeform 18"/>
          <p:cNvSpPr/>
          <p:nvPr/>
        </p:nvSpPr>
        <p:spPr>
          <a:xfrm rot="10800000">
            <a:off x="5334000" y="800100"/>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rot="10800000">
            <a:off x="6057900" y="1511300"/>
            <a:ext cx="6184900" cy="61849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0" name="AutoShape 20"/>
          <p:cNvSpPr/>
          <p:nvPr/>
        </p:nvSpPr>
        <p:spPr>
          <a:xfrm>
            <a:off x="7785100" y="2832100"/>
            <a:ext cx="2730500" cy="2006600"/>
          </a:xfrm>
          <a:prstGeom prst="rect">
            <a:avLst/>
          </a:prstGeom>
          <a:noFill/>
          <a:ln w="19050" cap="flat" cmpd="sng">
            <a:noFill/>
            <a:prstDash val="solid"/>
            <a:round/>
          </a:ln>
        </p:spPr>
        <p:txBody>
          <a:bodyPr vert="horz" wrap="square" lIns="0" tIns="0" rIns="0" bIns="0" rtlCol="0" anchor="t" anchorCtr="0"/>
          <a:lstStyle/>
          <a:p>
            <a:pPr marL="0" indent="0" algn="ctr">
              <a:lnSpc>
                <a:spcPts val="17080"/>
              </a:lnSpc>
              <a:defRPr/>
            </a:pPr>
            <a:r>
              <a:rPr lang="en-US" sz="12200" b="0" i="0" u="none" strike="noStrike">
                <a:solidFill>
                  <a:srgbClr val="004AAD"/>
                </a:solidFill>
                <a:latin typeface="Times New Roman"/>
                <a:ea typeface="Times New Roman"/>
                <a:cs typeface="Times New Roman"/>
                <a:sym typeface="Times New Roman"/>
              </a:rPr>
              <a:t>5.2</a:t>
            </a:r>
            <a:endParaRPr lang="en-US" sz="1100"/>
          </a:p>
        </p:txBody>
      </p:sp>
      <p:sp>
        <p:nvSpPr>
          <p:cNvPr id="21" name="AutoShape 21"/>
          <p:cNvSpPr/>
          <p:nvPr/>
        </p:nvSpPr>
        <p:spPr>
          <a:xfrm>
            <a:off x="3429000" y="5143500"/>
            <a:ext cx="11430000" cy="1435100"/>
          </a:xfrm>
          <a:prstGeom prst="rect">
            <a:avLst/>
          </a:prstGeom>
          <a:noFill/>
          <a:ln w="19050" cap="flat" cmpd="sng">
            <a:noFill/>
            <a:prstDash val="solid"/>
            <a:round/>
          </a:ln>
        </p:spPr>
        <p:txBody>
          <a:bodyPr vert="horz" wrap="square" lIns="0" tIns="0" rIns="0" bIns="0" rtlCol="0" anchor="t" anchorCtr="0"/>
          <a:lstStyle/>
          <a:p>
            <a:pPr marL="0" indent="0" algn="ctr">
              <a:lnSpc>
                <a:spcPts val="11200"/>
              </a:lnSpc>
              <a:defRPr/>
            </a:pPr>
            <a:r>
              <a:rPr lang="en-US" sz="9600" b="1" i="0" u="none" strike="noStrike" dirty="0">
                <a:solidFill>
                  <a:srgbClr val="004AAD"/>
                </a:solidFill>
                <a:latin typeface="仿宋"/>
                <a:ea typeface="仿宋"/>
                <a:cs typeface="仿宋"/>
                <a:sym typeface="仿宋"/>
              </a:rPr>
              <a:t>序列密码的组成</a:t>
            </a:r>
            <a:endParaRPr lang="en-US" sz="1100" dirty="0"/>
          </a:p>
        </p:txBody>
      </p:sp>
      <p:sp>
        <p:nvSpPr>
          <p:cNvPr id="22" name="Freeform 22"/>
          <p:cNvSpPr/>
          <p:nvPr/>
        </p:nvSpPr>
        <p:spPr>
          <a:xfrm>
            <a:off x="-1028700" y="9029700"/>
            <a:ext cx="20887940"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28700" y="9029700"/>
            <a:ext cx="20891500" cy="10922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4" name="Freeform 24"/>
          <p:cNvSpPr/>
          <p:nvPr/>
        </p:nvSpPr>
        <p:spPr>
          <a:xfrm>
            <a:off x="-1295400" y="9182100"/>
            <a:ext cx="2088794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1295400" y="9182100"/>
            <a:ext cx="20891500" cy="12446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6" name="AutoShape 26"/>
          <p:cNvSpPr/>
          <p:nvPr/>
        </p:nvSpPr>
        <p:spPr>
          <a:xfrm>
            <a:off x="15379700" y="95250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9116C881-7481-4110-8004-0D1CF3112A4F}" type="slidenum">
              <a:rPr sz="1400" b="0" i="0" u="none" strike="noStrike">
                <a:solidFill>
                  <a:srgbClr val="FFC000"/>
                </a:solidFill>
                <a:latin typeface="Calibri"/>
                <a:ea typeface="Calibri"/>
                <a:cs typeface="Calibri"/>
                <a:sym typeface="Calibri"/>
              </a:rPr>
              <a:t>12</a:t>
            </a:fld>
            <a:endParaRPr lang="en-US" sz="1100"/>
          </a:p>
        </p:txBody>
      </p:sp>
      <p:sp>
        <p:nvSpPr>
          <p:cNvPr id="29" name="AutoShape 29">
            <a:extLst>
              <a:ext uri="{FF2B5EF4-FFF2-40B4-BE49-F238E27FC236}">
                <a16:creationId xmlns:a16="http://schemas.microsoft.com/office/drawing/2014/main" id="{09D5BF1B-FF7D-54E8-FC51-1EB12A0BB6EC}"/>
              </a:ext>
            </a:extLst>
          </p:cNvPr>
          <p:cNvSpPr/>
          <p:nvPr/>
        </p:nvSpPr>
        <p:spPr>
          <a:xfrm>
            <a:off x="800100" y="6096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32" name="Picture 30">
            <a:extLst>
              <a:ext uri="{FF2B5EF4-FFF2-40B4-BE49-F238E27FC236}">
                <a16:creationId xmlns:a16="http://schemas.microsoft.com/office/drawing/2014/main" id="{B38473E0-C987-7772-6EC4-833C29703694}"/>
              </a:ext>
            </a:extLst>
          </p:cNvPr>
          <p:cNvPicPr>
            <a:picLocks noChangeAspect="1"/>
          </p:cNvPicPr>
          <p:nvPr/>
        </p:nvPicPr>
        <p:blipFill>
          <a:blip r:embed="rId3"/>
          <a:srcRect/>
          <a:stretch>
            <a:fillRect/>
          </a:stretch>
        </p:blipFill>
        <p:spPr>
          <a:xfrm>
            <a:off x="927100" y="977900"/>
            <a:ext cx="2768600" cy="50800"/>
          </a:xfrm>
          <a:prstGeom prst="rect">
            <a:avLst/>
          </a:prstGeom>
          <a:noFill/>
          <a:ln w="25400" cap="flat" cmpd="sng">
            <a:noFill/>
            <a:prstDash val="solid"/>
            <a:rou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8" name="AutoShape 8"/>
          <p:cNvSpPr/>
          <p:nvPr/>
        </p:nvSpPr>
        <p:spPr>
          <a:xfrm>
            <a:off x="1733550" y="1801812"/>
            <a:ext cx="14820900" cy="7937500"/>
          </a:xfrm>
          <a:prstGeom prst="rect">
            <a:avLst/>
          </a:prstGeom>
          <a:noFill/>
          <a:ln w="19050" cap="flat" cmpd="sng">
            <a:noFill/>
            <a:prstDash val="solid"/>
            <a:round/>
          </a:ln>
        </p:spPr>
        <p:txBody>
          <a:bodyPr vert="horz" wrap="square" lIns="0" tIns="0" rIns="0" bIns="0" rtlCol="0" anchor="t" anchorCtr="0"/>
          <a:lstStyle/>
          <a:p>
            <a:pPr algn="just">
              <a:lnSpc>
                <a:spcPct val="116666"/>
              </a:lnSpc>
            </a:pPr>
            <a:r>
              <a:rPr lang="zh-CN" altLang="en-US" sz="3600" dirty="0">
                <a:solidFill>
                  <a:srgbClr val="374151"/>
                </a:solidFill>
                <a:latin typeface="宋体" panose="02010600030101010101" pitchFamily="2" charset="-122"/>
                <a:ea typeface="宋体" panose="02010600030101010101" pitchFamily="2" charset="-122"/>
                <a:cs typeface="Songti SC"/>
                <a:sym typeface="Songti SC"/>
              </a:rPr>
              <a:t>    </a:t>
            </a:r>
            <a:r>
              <a:rPr lang="zh-CN" altLang="en-US" sz="3200" dirty="0">
                <a:solidFill>
                  <a:srgbClr val="374151"/>
                </a:solidFill>
                <a:latin typeface="宋体" panose="02010600030101010101" pitchFamily="2" charset="-122"/>
                <a:ea typeface="宋体" panose="02010600030101010101" pitchFamily="2" charset="-122"/>
                <a:cs typeface="Songti SC"/>
                <a:sym typeface="Songti SC"/>
              </a:rPr>
              <a:t>序列密码的关键在于密钥序列生成器（</a:t>
            </a:r>
            <a:r>
              <a:rPr lang="en-US" altLang="zh-CN" sz="3200" dirty="0">
                <a:solidFill>
                  <a:srgbClr val="374151"/>
                </a:solidFill>
                <a:latin typeface="Times New Roman" panose="02020603050405020304" pitchFamily="18" charset="0"/>
                <a:ea typeface="宋体" panose="02010600030101010101" pitchFamily="2" charset="-122"/>
                <a:cs typeface="Times New Roman" panose="02020603050405020304" pitchFamily="18" charset="0"/>
                <a:sym typeface="Songti SC"/>
              </a:rPr>
              <a:t>Key Generator</a:t>
            </a:r>
            <a:r>
              <a:rPr lang="zh-CN" altLang="en-US" sz="3200" dirty="0">
                <a:solidFill>
                  <a:srgbClr val="374151"/>
                </a:solidFill>
                <a:latin typeface="Times New Roman" panose="02020603050405020304" pitchFamily="18" charset="0"/>
                <a:ea typeface="宋体" panose="02010600030101010101" pitchFamily="2" charset="-122"/>
                <a:cs typeface="Times New Roman" panose="02020603050405020304" pitchFamily="18" charset="0"/>
                <a:sym typeface="Songti SC"/>
              </a:rPr>
              <a:t>，</a:t>
            </a:r>
            <a:r>
              <a:rPr lang="en-US" altLang="zh-CN" sz="3200" dirty="0">
                <a:solidFill>
                  <a:srgbClr val="374151"/>
                </a:solidFill>
                <a:latin typeface="Times New Roman" panose="02020603050405020304" pitchFamily="18" charset="0"/>
                <a:ea typeface="宋体" panose="02010600030101010101" pitchFamily="2" charset="-122"/>
                <a:cs typeface="Times New Roman" panose="02020603050405020304" pitchFamily="18" charset="0"/>
                <a:sym typeface="Songti SC"/>
              </a:rPr>
              <a:t>KG</a:t>
            </a:r>
            <a:r>
              <a:rPr lang="zh-CN" altLang="en-US" sz="3200" dirty="0">
                <a:solidFill>
                  <a:srgbClr val="374151"/>
                </a:solidFill>
                <a:latin typeface="宋体" panose="02010600030101010101" pitchFamily="2" charset="-122"/>
                <a:ea typeface="宋体" panose="02010600030101010101" pitchFamily="2" charset="-122"/>
                <a:cs typeface="Songti SC"/>
                <a:sym typeface="Songti SC"/>
              </a:rPr>
              <a:t>）的设计。一般来说，</a:t>
            </a:r>
            <a:r>
              <a:rPr lang="en-US" altLang="zh-CN" sz="3200" dirty="0">
                <a:solidFill>
                  <a:srgbClr val="374151"/>
                </a:solidFill>
                <a:latin typeface="Times New Roman" panose="02020603050405020304" pitchFamily="18" charset="0"/>
                <a:ea typeface="宋体" panose="02010600030101010101" pitchFamily="2" charset="-122"/>
                <a:cs typeface="Times New Roman" panose="02020603050405020304" pitchFamily="18" charset="0"/>
                <a:sym typeface="Songti SC"/>
              </a:rPr>
              <a:t>KG</a:t>
            </a:r>
            <a:r>
              <a:rPr lang="zh-CN" altLang="en-US" sz="3200" dirty="0">
                <a:solidFill>
                  <a:srgbClr val="374151"/>
                </a:solidFill>
                <a:latin typeface="宋体" panose="02010600030101010101" pitchFamily="2" charset="-122"/>
                <a:ea typeface="宋体" panose="02010600030101010101" pitchFamily="2" charset="-122"/>
                <a:cs typeface="Songti SC"/>
                <a:sym typeface="Songti SC"/>
              </a:rPr>
              <a:t>输入的种子密钥 是较短的，人们却希望它的输出密钥序列对不知情的人来说像是随机的。人们对</a:t>
            </a:r>
            <a:r>
              <a:rPr lang="en-US" altLang="zh-CN" sz="3200" dirty="0">
                <a:solidFill>
                  <a:srgbClr val="374151"/>
                </a:solidFill>
                <a:latin typeface="宋体" panose="02010600030101010101" pitchFamily="2" charset="-122"/>
                <a:ea typeface="宋体" panose="02010600030101010101" pitchFamily="2" charset="-122"/>
                <a:cs typeface="Songti SC"/>
                <a:sym typeface="Songti SC"/>
              </a:rPr>
              <a:t>KG</a:t>
            </a:r>
            <a:r>
              <a:rPr lang="zh-CN" altLang="en-US" sz="3200" dirty="0">
                <a:solidFill>
                  <a:srgbClr val="374151"/>
                </a:solidFill>
                <a:latin typeface="宋体" panose="02010600030101010101" pitchFamily="2" charset="-122"/>
                <a:ea typeface="宋体" panose="02010600030101010101" pitchFamily="2" charset="-122"/>
                <a:cs typeface="Songti SC"/>
                <a:sym typeface="Songti SC"/>
              </a:rPr>
              <a:t>提出了以下基本要求。</a:t>
            </a:r>
            <a:endParaRPr lang="en-US" altLang="zh-CN" sz="3200" dirty="0">
              <a:solidFill>
                <a:srgbClr val="374151"/>
              </a:solidFill>
              <a:latin typeface="宋体" panose="02010600030101010101" pitchFamily="2" charset="-122"/>
              <a:ea typeface="宋体" panose="02010600030101010101" pitchFamily="2" charset="-122"/>
              <a:cs typeface="Songti SC"/>
              <a:sym typeface="Songti SC"/>
            </a:endParaRPr>
          </a:p>
          <a:p>
            <a:pPr algn="just">
              <a:lnSpc>
                <a:spcPct val="116666"/>
              </a:lnSpc>
            </a:pPr>
            <a:r>
              <a:rPr lang="en-US" sz="3200" b="1" i="0" u="none" strike="noStrike" dirty="0">
                <a:solidFill>
                  <a:srgbClr val="004AAD"/>
                </a:solidFill>
                <a:latin typeface="宋体" panose="02010600030101010101" pitchFamily="2" charset="-122"/>
                <a:ea typeface="宋体" panose="02010600030101010101" pitchFamily="2" charset="-122"/>
                <a:cs typeface="Songti SC"/>
                <a:sym typeface="Songti SC"/>
              </a:rPr>
              <a:t>KG的七大基本要求</a:t>
            </a:r>
          </a:p>
          <a:p>
            <a:pPr algn="just">
              <a:lnSpc>
                <a:spcPct val="108333"/>
              </a:lnSpc>
            </a:pP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a:t>
            </a:r>
            <a:r>
              <a:rPr lang="en-US" altLang="zh-CN" sz="3200" dirty="0">
                <a:solidFill>
                  <a:srgbClr val="1F2329"/>
                </a:solidFill>
                <a:latin typeface="宋体" panose="02010600030101010101" pitchFamily="2" charset="-122"/>
                <a:ea typeface="宋体" panose="02010600030101010101" pitchFamily="2" charset="-122"/>
                <a:cs typeface="Songti SC"/>
                <a:sym typeface="Songti SC"/>
              </a:rPr>
              <a:t>1</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）种子密钥 的变化量足够大，一般应在</a:t>
            </a:r>
            <a:r>
              <a:rPr lang="en-US" altLang="zh-CN" sz="3200" dirty="0">
                <a:solidFill>
                  <a:srgbClr val="1F2329"/>
                </a:solidFill>
                <a:latin typeface="宋体" panose="02010600030101010101" pitchFamily="2" charset="-122"/>
                <a:ea typeface="宋体" panose="02010600030101010101" pitchFamily="2" charset="-122"/>
                <a:cs typeface="Songti SC"/>
                <a:sym typeface="Songti SC"/>
              </a:rPr>
              <a:t>2128</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以上。</a:t>
            </a:r>
          </a:p>
          <a:p>
            <a:pPr algn="just">
              <a:lnSpc>
                <a:spcPct val="108333"/>
              </a:lnSpc>
            </a:pP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a:t>
            </a:r>
            <a:r>
              <a:rPr lang="en-US" altLang="zh-CN" sz="3200" dirty="0">
                <a:solidFill>
                  <a:srgbClr val="1F2329"/>
                </a:solidFill>
                <a:latin typeface="宋体" panose="02010600030101010101" pitchFamily="2" charset="-122"/>
                <a:ea typeface="宋体" panose="02010600030101010101" pitchFamily="2" charset="-122"/>
                <a:cs typeface="Songti SC"/>
                <a:sym typeface="Songti SC"/>
              </a:rPr>
              <a:t>2</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a:t>
            </a:r>
            <a:r>
              <a:rPr lang="en-US" altLang="zh-CN" sz="3200" dirty="0">
                <a:solidFill>
                  <a:srgbClr val="1F2329"/>
                </a:solidFill>
                <a:latin typeface="Times New Roman" panose="02020603050405020304" pitchFamily="18" charset="0"/>
                <a:ea typeface="宋体" panose="02010600030101010101" pitchFamily="2" charset="-122"/>
                <a:cs typeface="Times New Roman" panose="02020603050405020304" pitchFamily="18" charset="0"/>
                <a:sym typeface="Songti SC"/>
              </a:rPr>
              <a:t>KG</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产生的密钥序列</a:t>
            </a:r>
            <a:r>
              <a:rPr lang="en-US" altLang="zh-CN" sz="3200" dirty="0">
                <a:solidFill>
                  <a:srgbClr val="1F2329"/>
                </a:solidFill>
                <a:latin typeface="宋体" panose="02010600030101010101" pitchFamily="2" charset="-122"/>
                <a:ea typeface="宋体" panose="02010600030101010101" pitchFamily="2" charset="-122"/>
                <a:cs typeface="Songti SC"/>
                <a:sym typeface="Songti SC"/>
              </a:rPr>
              <a:t>z</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具有极大周期，一般应不小于</a:t>
            </a:r>
            <a:r>
              <a:rPr lang="en-US" altLang="zh-CN" sz="3200" dirty="0">
                <a:solidFill>
                  <a:srgbClr val="1F2329"/>
                </a:solidFill>
                <a:latin typeface="宋体" panose="02010600030101010101" pitchFamily="2" charset="-122"/>
                <a:ea typeface="宋体" panose="02010600030101010101" pitchFamily="2" charset="-122"/>
                <a:cs typeface="Songti SC"/>
                <a:sym typeface="Songti SC"/>
              </a:rPr>
              <a:t>255</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a:t>
            </a:r>
          </a:p>
          <a:p>
            <a:pPr algn="just">
              <a:lnSpc>
                <a:spcPct val="108333"/>
              </a:lnSpc>
            </a:pP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a:t>
            </a:r>
            <a:r>
              <a:rPr lang="en-US" altLang="zh-CN" sz="3200" dirty="0">
                <a:solidFill>
                  <a:srgbClr val="1F2329"/>
                </a:solidFill>
                <a:latin typeface="宋体" panose="02010600030101010101" pitchFamily="2" charset="-122"/>
                <a:ea typeface="宋体" panose="02010600030101010101" pitchFamily="2" charset="-122"/>
                <a:cs typeface="Songti SC"/>
                <a:sym typeface="Songti SC"/>
              </a:rPr>
              <a:t>3</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）密钥序列</a:t>
            </a:r>
            <a:r>
              <a:rPr lang="en-US" altLang="zh-CN" sz="3200" dirty="0">
                <a:solidFill>
                  <a:srgbClr val="1F2329"/>
                </a:solidFill>
                <a:latin typeface="Times New Roman" panose="02020603050405020304" pitchFamily="18" charset="0"/>
                <a:ea typeface="宋体" panose="02010600030101010101" pitchFamily="2" charset="-122"/>
                <a:cs typeface="Times New Roman" panose="02020603050405020304" pitchFamily="18" charset="0"/>
                <a:sym typeface="Songti SC"/>
              </a:rPr>
              <a:t>z</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具有均匀的 元分布，即在一个周期环上，某特定形式的 长比特串与其求反，两者出现的频数大抵相当（如均匀的游程分布）。</a:t>
            </a:r>
          </a:p>
          <a:p>
            <a:pPr algn="just">
              <a:lnSpc>
                <a:spcPct val="108333"/>
              </a:lnSpc>
            </a:pP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a:t>
            </a:r>
            <a:r>
              <a:rPr lang="en-US" altLang="zh-CN" sz="3200" dirty="0">
                <a:solidFill>
                  <a:srgbClr val="1F2329"/>
                </a:solidFill>
                <a:latin typeface="宋体" panose="02010600030101010101" pitchFamily="2" charset="-122"/>
                <a:ea typeface="宋体" panose="02010600030101010101" pitchFamily="2" charset="-122"/>
                <a:cs typeface="Songti SC"/>
                <a:sym typeface="Songti SC"/>
              </a:rPr>
              <a:t>4</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）密钥序列</a:t>
            </a:r>
            <a:r>
              <a:rPr lang="en-US" altLang="zh-CN" sz="3200" dirty="0">
                <a:solidFill>
                  <a:srgbClr val="1F2329"/>
                </a:solidFill>
                <a:latin typeface="Times New Roman" panose="02020603050405020304" pitchFamily="18" charset="0"/>
                <a:ea typeface="宋体" panose="02010600030101010101" pitchFamily="2" charset="-122"/>
                <a:cs typeface="Times New Roman" panose="02020603050405020304" pitchFamily="18" charset="0"/>
                <a:sym typeface="Songti SC"/>
              </a:rPr>
              <a:t>z</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不可由一个低级（如小于</a:t>
            </a:r>
            <a:r>
              <a:rPr lang="en-US" altLang="zh-CN" sz="3200" dirty="0">
                <a:solidFill>
                  <a:srgbClr val="1F2329"/>
                </a:solidFill>
                <a:latin typeface="宋体" panose="02010600030101010101" pitchFamily="2" charset="-122"/>
                <a:ea typeface="宋体" panose="02010600030101010101" pitchFamily="2" charset="-122"/>
                <a:cs typeface="Songti SC"/>
                <a:sym typeface="Songti SC"/>
              </a:rPr>
              <a:t>106</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级）的</a:t>
            </a:r>
            <a:r>
              <a:rPr lang="en-US" altLang="zh-CN" sz="3200" dirty="0">
                <a:solidFill>
                  <a:srgbClr val="1F2329"/>
                </a:solidFill>
                <a:latin typeface="Times New Roman" panose="02020603050405020304" pitchFamily="18" charset="0"/>
                <a:ea typeface="宋体" panose="02010600030101010101" pitchFamily="2" charset="-122"/>
                <a:cs typeface="Times New Roman" panose="02020603050405020304" pitchFamily="18" charset="0"/>
                <a:sym typeface="Songti SC"/>
              </a:rPr>
              <a:t>LFSR</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产生，也不可与一个低级的</a:t>
            </a:r>
            <a:r>
              <a:rPr lang="en-US" altLang="zh-CN" sz="3200" dirty="0">
                <a:solidFill>
                  <a:srgbClr val="1F2329"/>
                </a:solidFill>
                <a:latin typeface="Times New Roman" panose="02020603050405020304" pitchFamily="18" charset="0"/>
                <a:ea typeface="宋体" panose="02010600030101010101" pitchFamily="2" charset="-122"/>
                <a:cs typeface="Times New Roman" panose="02020603050405020304" pitchFamily="18" charset="0"/>
                <a:sym typeface="Songti SC"/>
              </a:rPr>
              <a:t>LFSR</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产生的序列有比率很小的相异项。</a:t>
            </a:r>
          </a:p>
          <a:p>
            <a:pPr algn="just">
              <a:lnSpc>
                <a:spcPct val="108333"/>
              </a:lnSpc>
            </a:pP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a:t>
            </a:r>
            <a:r>
              <a:rPr lang="en-US" altLang="zh-CN" sz="3200" dirty="0">
                <a:solidFill>
                  <a:srgbClr val="1F2329"/>
                </a:solidFill>
                <a:latin typeface="宋体" panose="02010600030101010101" pitchFamily="2" charset="-122"/>
                <a:ea typeface="宋体" panose="02010600030101010101" pitchFamily="2" charset="-122"/>
                <a:cs typeface="Songti SC"/>
                <a:sym typeface="Songti SC"/>
              </a:rPr>
              <a:t>5</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）利用统计方法由密钥序列</a:t>
            </a:r>
            <a:r>
              <a:rPr lang="en-US" altLang="zh-CN" sz="3200" dirty="0">
                <a:solidFill>
                  <a:srgbClr val="1F2329"/>
                </a:solidFill>
                <a:latin typeface="Times New Roman" panose="02020603050405020304" pitchFamily="18" charset="0"/>
                <a:ea typeface="宋体" panose="02010600030101010101" pitchFamily="2" charset="-122"/>
                <a:cs typeface="Times New Roman" panose="02020603050405020304" pitchFamily="18" charset="0"/>
                <a:sym typeface="Songti SC"/>
              </a:rPr>
              <a:t>z</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提取关于</a:t>
            </a:r>
            <a:r>
              <a:rPr lang="en-US" altLang="zh-CN" sz="3200" dirty="0">
                <a:solidFill>
                  <a:srgbClr val="1F2329"/>
                </a:solidFill>
                <a:latin typeface="Times New Roman" panose="02020603050405020304" pitchFamily="18" charset="0"/>
                <a:ea typeface="宋体" panose="02010600030101010101" pitchFamily="2" charset="-122"/>
                <a:cs typeface="Times New Roman" panose="02020603050405020304" pitchFamily="18" charset="0"/>
                <a:sym typeface="Songti SC"/>
              </a:rPr>
              <a:t>KG</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的结构或种子密钥 的信息在计算上不可行。</a:t>
            </a:r>
          </a:p>
          <a:p>
            <a:pPr algn="just">
              <a:lnSpc>
                <a:spcPct val="108333"/>
              </a:lnSpc>
            </a:pP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a:t>
            </a:r>
            <a:r>
              <a:rPr lang="en-US" altLang="zh-CN" sz="3200" dirty="0">
                <a:solidFill>
                  <a:srgbClr val="1F2329"/>
                </a:solidFill>
                <a:latin typeface="宋体" panose="02010600030101010101" pitchFamily="2" charset="-122"/>
                <a:ea typeface="宋体" panose="02010600030101010101" pitchFamily="2" charset="-122"/>
                <a:cs typeface="Songti SC"/>
                <a:sym typeface="Songti SC"/>
              </a:rPr>
              <a:t>6</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）混乱性，即密钥序列</a:t>
            </a:r>
            <a:r>
              <a:rPr lang="en-US" altLang="zh-CN" sz="3200" dirty="0">
                <a:solidFill>
                  <a:srgbClr val="1F2329"/>
                </a:solidFill>
                <a:latin typeface="Times New Roman" panose="02020603050405020304" pitchFamily="18" charset="0"/>
                <a:ea typeface="宋体" panose="02010600030101010101" pitchFamily="2" charset="-122"/>
                <a:cs typeface="Times New Roman" panose="02020603050405020304" pitchFamily="18" charset="0"/>
                <a:sym typeface="Songti SC"/>
              </a:rPr>
              <a:t>z</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的每一比特均与种子密钥 的大多数比特有关。</a:t>
            </a:r>
          </a:p>
          <a:p>
            <a:pPr algn="just">
              <a:lnSpc>
                <a:spcPct val="108333"/>
              </a:lnSpc>
            </a:pP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a:t>
            </a:r>
            <a:r>
              <a:rPr lang="en-US" altLang="zh-CN" sz="3200" dirty="0">
                <a:solidFill>
                  <a:srgbClr val="1F2329"/>
                </a:solidFill>
                <a:latin typeface="宋体" panose="02010600030101010101" pitchFamily="2" charset="-122"/>
                <a:ea typeface="宋体" panose="02010600030101010101" pitchFamily="2" charset="-122"/>
                <a:cs typeface="Songti SC"/>
                <a:sym typeface="Songti SC"/>
              </a:rPr>
              <a:t>7</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）扩散性，即种子密钥 任一比特的改变要引起密钥序列</a:t>
            </a:r>
            <a:r>
              <a:rPr lang="en-US" altLang="zh-CN" sz="3200" dirty="0">
                <a:solidFill>
                  <a:srgbClr val="1F2329"/>
                </a:solidFill>
                <a:latin typeface="Times New Roman" panose="02020603050405020304" pitchFamily="18" charset="0"/>
                <a:ea typeface="宋体" panose="02010600030101010101" pitchFamily="2" charset="-122"/>
                <a:cs typeface="Times New Roman" panose="02020603050405020304" pitchFamily="18" charset="0"/>
                <a:sym typeface="Songti SC"/>
              </a:rPr>
              <a:t>z</a:t>
            </a:r>
            <a:r>
              <a:rPr lang="zh-CN" altLang="en-US" sz="3200" dirty="0">
                <a:solidFill>
                  <a:srgbClr val="1F2329"/>
                </a:solidFill>
                <a:latin typeface="宋体" panose="02010600030101010101" pitchFamily="2" charset="-122"/>
                <a:ea typeface="宋体" panose="02010600030101010101" pitchFamily="2" charset="-122"/>
                <a:cs typeface="Songti SC"/>
                <a:sym typeface="Songti SC"/>
              </a:rPr>
              <a:t>在全貌上的变化。</a:t>
            </a:r>
            <a:endParaRPr lang="en-US" sz="3200" b="0" i="0" u="none" strike="noStrike" dirty="0">
              <a:solidFill>
                <a:srgbClr val="1F2329"/>
              </a:solidFill>
              <a:latin typeface="宋体" panose="02010600030101010101" pitchFamily="2" charset="-122"/>
              <a:ea typeface="宋体" panose="02010600030101010101" pitchFamily="2" charset="-122"/>
              <a:cs typeface="Songti SC"/>
              <a:sym typeface="Songti SC"/>
            </a:endParaRPr>
          </a:p>
        </p:txBody>
      </p:sp>
      <p:sp>
        <p:nvSpPr>
          <p:cNvPr id="9" name="AutoShape 9"/>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991D0498-8755-40B1-B7A2-79A53441F58B}" type="slidenum">
              <a:rPr sz="1400" b="0" i="0" u="none" strike="noStrike">
                <a:solidFill>
                  <a:srgbClr val="FFC000"/>
                </a:solidFill>
                <a:latin typeface="Calibri"/>
                <a:ea typeface="Calibri"/>
                <a:cs typeface="Calibri"/>
                <a:sym typeface="Calibri"/>
              </a:rPr>
              <a:t>13</a:t>
            </a:fld>
            <a:endParaRPr lang="en-US" sz="1100"/>
          </a:p>
        </p:txBody>
      </p:sp>
      <p:sp>
        <p:nvSpPr>
          <p:cNvPr id="6" name="AutoShape 29">
            <a:extLst>
              <a:ext uri="{FF2B5EF4-FFF2-40B4-BE49-F238E27FC236}">
                <a16:creationId xmlns:a16="http://schemas.microsoft.com/office/drawing/2014/main" id="{5BEADA00-8560-9925-ED8E-0C0D2C071259}"/>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1" name="Picture 30">
            <a:extLst>
              <a:ext uri="{FF2B5EF4-FFF2-40B4-BE49-F238E27FC236}">
                <a16:creationId xmlns:a16="http://schemas.microsoft.com/office/drawing/2014/main" id="{8BCC27DC-D85A-9CCE-0F58-A6C9746951C5}"/>
              </a:ext>
            </a:extLst>
          </p:cNvPr>
          <p:cNvPicPr>
            <a:picLocks noChangeAspect="1"/>
          </p:cNvPicPr>
          <p:nvPr/>
        </p:nvPicPr>
        <p:blipFill>
          <a:blip r:embed="rId3"/>
          <a:srcRect/>
          <a:stretch>
            <a:fillRect/>
          </a:stretch>
        </p:blipFill>
        <p:spPr>
          <a:xfrm>
            <a:off x="13488377" y="1079500"/>
            <a:ext cx="2768600" cy="50800"/>
          </a:xfrm>
          <a:prstGeom prst="rect">
            <a:avLst/>
          </a:prstGeom>
          <a:noFill/>
          <a:ln w="25400" cap="flat" cmpd="sng">
            <a:noFill/>
            <a:prstDash val="solid"/>
            <a:round/>
          </a:ln>
        </p:spPr>
      </p:pic>
      <p:sp>
        <p:nvSpPr>
          <p:cNvPr id="26" name="Freeform 7">
            <a:extLst>
              <a:ext uri="{FF2B5EF4-FFF2-40B4-BE49-F238E27FC236}">
                <a16:creationId xmlns:a16="http://schemas.microsoft.com/office/drawing/2014/main" id="{58A78645-876B-5716-F702-902040AB2F82}"/>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8" name="AutoShape 8">
            <a:extLst>
              <a:ext uri="{FF2B5EF4-FFF2-40B4-BE49-F238E27FC236}">
                <a16:creationId xmlns:a16="http://schemas.microsoft.com/office/drawing/2014/main" id="{520EBD30-F9DF-F577-050A-E7648927BF65}"/>
              </a:ext>
            </a:extLst>
          </p:cNvPr>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30" name="AutoShape 10">
            <a:extLst>
              <a:ext uri="{FF2B5EF4-FFF2-40B4-BE49-F238E27FC236}">
                <a16:creationId xmlns:a16="http://schemas.microsoft.com/office/drawing/2014/main" id="{9C09FF80-16FF-C06B-3C6A-9E7A1BFCED40}"/>
              </a:ext>
            </a:extLst>
          </p:cNvPr>
          <p:cNvSpPr/>
          <p:nvPr/>
        </p:nvSpPr>
        <p:spPr>
          <a:xfrm>
            <a:off x="1397975" y="423139"/>
            <a:ext cx="1778000" cy="7747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Times New Roman"/>
              </a:rPr>
              <a:t>5.2.1</a:t>
            </a:r>
            <a:endPar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endParaRPr>
          </a:p>
        </p:txBody>
      </p:sp>
      <p:pic>
        <p:nvPicPr>
          <p:cNvPr id="32" name="Picture 11">
            <a:extLst>
              <a:ext uri="{FF2B5EF4-FFF2-40B4-BE49-F238E27FC236}">
                <a16:creationId xmlns:a16="http://schemas.microsoft.com/office/drawing/2014/main" id="{8D606EB4-2CA4-F267-C4FA-088B0676404A}"/>
              </a:ext>
            </a:extLst>
          </p:cNvPr>
          <p:cNvPicPr>
            <a:picLocks noChangeAspect="1"/>
          </p:cNvPicPr>
          <p:nvPr/>
        </p:nvPicPr>
        <p:blipFill>
          <a:blip r:embed="rId4">
            <a:alphaModFix amt="80000"/>
          </a:blip>
          <a:srcRect l="536" r="536"/>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34" name="AutoShape 5">
            <a:extLst>
              <a:ext uri="{FF2B5EF4-FFF2-40B4-BE49-F238E27FC236}">
                <a16:creationId xmlns:a16="http://schemas.microsoft.com/office/drawing/2014/main" id="{071E8E43-332E-58A0-FD8E-0A62977CA8B3}"/>
              </a:ext>
            </a:extLst>
          </p:cNvPr>
          <p:cNvSpPr/>
          <p:nvPr/>
        </p:nvSpPr>
        <p:spPr>
          <a:xfrm>
            <a:off x="2944200" y="461239"/>
            <a:ext cx="9461500" cy="1076398"/>
          </a:xfrm>
          <a:prstGeom prst="rect">
            <a:avLst/>
          </a:prstGeom>
          <a:noFill/>
          <a:ln w="19050" cap="flat" cmpd="sng">
            <a:noFill/>
            <a:prstDash val="solid"/>
            <a:round/>
          </a:ln>
        </p:spPr>
        <p:txBody>
          <a:bodyPr vert="horz" wrap="square" lIns="0" tIns="0" rIns="0" bIns="0" rtlCol="0" anchor="t" anchorCtr="0"/>
          <a:lstStyle/>
          <a:p>
            <a:pPr>
              <a:lnSpc>
                <a:spcPts val="5600"/>
              </a:lnSpc>
            </a:pPr>
            <a:r>
              <a:rPr lang="en-US" altLang="zh-CN" sz="4000" b="1" kern="1200" dirty="0" err="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序列密码的组成</a:t>
            </a:r>
            <a:endParaRPr lang="en-US" altLang="zh-CN"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9" name="AutoShape 9"/>
          <p:cNvSpPr/>
          <p:nvPr/>
        </p:nvSpPr>
        <p:spPr>
          <a:xfrm>
            <a:off x="1358900" y="1524000"/>
            <a:ext cx="15582900" cy="3631777"/>
          </a:xfrm>
          <a:prstGeom prst="roundRect">
            <a:avLst>
              <a:gd name="adj" fmla="val 0"/>
            </a:avLst>
          </a:prstGeom>
          <a:noFill/>
          <a:ln w="25400" cap="flat" cmpd="sng">
            <a:noFill/>
            <a:prstDash val="solid"/>
            <a:round/>
          </a:ln>
        </p:spPr>
        <p:txBody>
          <a:bodyPr vert="horz" wrap="square" lIns="0" tIns="127" rIns="0" bIns="0" rtlCol="0" anchor="t" anchorCtr="0"/>
          <a:lstStyle/>
          <a:p>
            <a:pPr marL="12700" indent="457200" algn="l">
              <a:lnSpc>
                <a:spcPct val="116666"/>
              </a:lnSpc>
              <a:defRPr/>
            </a:pP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密钥生成器（</a:t>
            </a:r>
            <a:r>
              <a:rPr lang="en-US" sz="3600" b="0" i="0" u="none" strike="noStrike"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ongti SC"/>
              </a:rPr>
              <a:t>KG</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的核心设计目标是构造具备高复杂度与优良统计特性的密钥流。其一般结构以多个m序列生成器作为驱动子系统，产生周期长、随机性佳的驱动序列；随后通过非线性组合函数F对多路驱动序列进行变换，有效掩盖原始序列的线性规律，大幅提升密钥流的线性复杂度，从而增强密码系统的抗攻击能力，保障加密数据的安全性。</a:t>
            </a:r>
            <a:endParaRPr lang="en-US" sz="3600" dirty="0">
              <a:latin typeface="宋体" panose="02010600030101010101" pitchFamily="2" charset="-122"/>
              <a:ea typeface="宋体" panose="02010600030101010101" pitchFamily="2" charset="-122"/>
            </a:endParaRPr>
          </a:p>
        </p:txBody>
      </p:sp>
      <p:pic>
        <p:nvPicPr>
          <p:cNvPr id="10" name="Picture 10"/>
          <p:cNvPicPr>
            <a:picLocks noChangeAspect="1"/>
          </p:cNvPicPr>
          <p:nvPr/>
        </p:nvPicPr>
        <p:blipFill>
          <a:blip r:embed="rId3"/>
          <a:srcRect l="255" r="255"/>
          <a:stretch>
            <a:fillRect/>
          </a:stretch>
        </p:blipFill>
        <p:spPr>
          <a:xfrm>
            <a:off x="4545483" y="5155777"/>
            <a:ext cx="9197034" cy="3218962"/>
          </a:xfrm>
          <a:prstGeom prst="rect">
            <a:avLst/>
          </a:prstGeom>
          <a:noFill/>
          <a:ln w="25400" cap="flat" cmpd="sng">
            <a:noFill/>
            <a:prstDash val="solid"/>
            <a:round/>
          </a:ln>
        </p:spPr>
      </p:pic>
      <p:sp>
        <p:nvSpPr>
          <p:cNvPr id="11" name="AutoShape 11"/>
          <p:cNvSpPr/>
          <p:nvPr/>
        </p:nvSpPr>
        <p:spPr>
          <a:xfrm>
            <a:off x="5545015" y="8763000"/>
            <a:ext cx="6600092" cy="444500"/>
          </a:xfrm>
          <a:prstGeom prst="rect">
            <a:avLst/>
          </a:prstGeom>
          <a:noFill/>
          <a:ln w="19050" cap="flat" cmpd="sng">
            <a:noFill/>
            <a:prstDash val="solid"/>
            <a:round/>
          </a:ln>
        </p:spPr>
        <p:txBody>
          <a:bodyPr vert="horz" wrap="square" lIns="88900" tIns="50800" rIns="88900" bIns="50800" rtlCol="0" anchor="t" anchorCtr="0"/>
          <a:lstStyle/>
          <a:p>
            <a:pPr marL="0" indent="0" algn="ctr">
              <a:lnSpc>
                <a:spcPct val="100000"/>
              </a:lnSpc>
              <a:defRPr/>
            </a:pPr>
            <a:r>
              <a:rPr lang="en-US" sz="1800" b="0" i="0" u="none" strike="noStrike" dirty="0">
                <a:solidFill>
                  <a:srgbClr val="000000"/>
                </a:solidFill>
                <a:latin typeface="+mn-ea"/>
                <a:ea typeface="+mn-ea"/>
                <a:cs typeface="Songti SC"/>
                <a:sym typeface="Songti SC"/>
              </a:rPr>
              <a:t>图5.2.1　密钥生成器(KG)的一般结构模型</a:t>
            </a:r>
            <a:endParaRPr lang="en-US" sz="1800" dirty="0">
              <a:latin typeface="+mn-ea"/>
              <a:ea typeface="+mn-ea"/>
            </a:endParaRPr>
          </a:p>
        </p:txBody>
      </p:sp>
      <p:sp>
        <p:nvSpPr>
          <p:cNvPr id="12" name="AutoShape 12"/>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69C64CC8-036D-488F-A9B5-9E28E1872DFF}" type="slidenum">
              <a:rPr sz="1400" b="0" i="0" u="none" strike="noStrike">
                <a:solidFill>
                  <a:srgbClr val="FFC000"/>
                </a:solidFill>
                <a:latin typeface="Calibri"/>
                <a:ea typeface="Calibri"/>
                <a:cs typeface="Calibri"/>
                <a:sym typeface="Calibri"/>
              </a:rPr>
              <a:t>14</a:t>
            </a:fld>
            <a:endParaRPr lang="en-US" sz="1100"/>
          </a:p>
        </p:txBody>
      </p:sp>
      <p:sp>
        <p:nvSpPr>
          <p:cNvPr id="6" name="AutoShape 29">
            <a:extLst>
              <a:ext uri="{FF2B5EF4-FFF2-40B4-BE49-F238E27FC236}">
                <a16:creationId xmlns:a16="http://schemas.microsoft.com/office/drawing/2014/main" id="{A891206E-EB26-83A1-F8C1-37DE9A9261EF}"/>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6" name="Picture 30">
            <a:extLst>
              <a:ext uri="{FF2B5EF4-FFF2-40B4-BE49-F238E27FC236}">
                <a16:creationId xmlns:a16="http://schemas.microsoft.com/office/drawing/2014/main" id="{5E05DF9A-B619-609A-0530-15B9EFE13906}"/>
              </a:ext>
            </a:extLst>
          </p:cNvPr>
          <p:cNvPicPr>
            <a:picLocks noChangeAspect="1"/>
          </p:cNvPicPr>
          <p:nvPr/>
        </p:nvPicPr>
        <p:blipFill>
          <a:blip r:embed="rId4"/>
          <a:srcRect/>
          <a:stretch>
            <a:fillRect/>
          </a:stretch>
        </p:blipFill>
        <p:spPr>
          <a:xfrm>
            <a:off x="13488377" y="1079500"/>
            <a:ext cx="2768600" cy="50800"/>
          </a:xfrm>
          <a:prstGeom prst="rect">
            <a:avLst/>
          </a:prstGeom>
          <a:noFill/>
          <a:ln w="25400" cap="flat" cmpd="sng">
            <a:noFill/>
            <a:prstDash val="solid"/>
            <a:round/>
          </a:ln>
        </p:spPr>
      </p:pic>
      <p:sp>
        <p:nvSpPr>
          <p:cNvPr id="28" name="Freeform 7">
            <a:extLst>
              <a:ext uri="{FF2B5EF4-FFF2-40B4-BE49-F238E27FC236}">
                <a16:creationId xmlns:a16="http://schemas.microsoft.com/office/drawing/2014/main" id="{AA4164AD-D517-12AC-06A4-2DA30CB0BFC3}"/>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0" name="AutoShape 8">
            <a:extLst>
              <a:ext uri="{FF2B5EF4-FFF2-40B4-BE49-F238E27FC236}">
                <a16:creationId xmlns:a16="http://schemas.microsoft.com/office/drawing/2014/main" id="{2DE639DF-2AFD-0F30-50F9-F7DDF1ECC2CD}"/>
              </a:ext>
            </a:extLst>
          </p:cNvPr>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32" name="AutoShape 10">
            <a:extLst>
              <a:ext uri="{FF2B5EF4-FFF2-40B4-BE49-F238E27FC236}">
                <a16:creationId xmlns:a16="http://schemas.microsoft.com/office/drawing/2014/main" id="{CD5FE5D9-43E2-69AA-D7DD-1B916FBD32A6}"/>
              </a:ext>
            </a:extLst>
          </p:cNvPr>
          <p:cNvSpPr/>
          <p:nvPr/>
        </p:nvSpPr>
        <p:spPr>
          <a:xfrm>
            <a:off x="1397975" y="423139"/>
            <a:ext cx="1778000" cy="7747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Times New Roman"/>
              </a:rPr>
              <a:t>5.2.1</a:t>
            </a:r>
            <a:endPar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endParaRPr>
          </a:p>
        </p:txBody>
      </p:sp>
      <p:pic>
        <p:nvPicPr>
          <p:cNvPr id="34" name="Picture 11">
            <a:extLst>
              <a:ext uri="{FF2B5EF4-FFF2-40B4-BE49-F238E27FC236}">
                <a16:creationId xmlns:a16="http://schemas.microsoft.com/office/drawing/2014/main" id="{D841DE87-2C2A-3197-0960-B00AF020AFDA}"/>
              </a:ext>
            </a:extLst>
          </p:cNvPr>
          <p:cNvPicPr>
            <a:picLocks noChangeAspect="1"/>
          </p:cNvPicPr>
          <p:nvPr/>
        </p:nvPicPr>
        <p:blipFill>
          <a:blip r:embed="rId5">
            <a:alphaModFix amt="80000"/>
          </a:blip>
          <a:srcRect l="536" r="536"/>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36" name="AutoShape 5">
            <a:extLst>
              <a:ext uri="{FF2B5EF4-FFF2-40B4-BE49-F238E27FC236}">
                <a16:creationId xmlns:a16="http://schemas.microsoft.com/office/drawing/2014/main" id="{BE516D46-872C-0E2D-3F84-8BD8FB5E888D}"/>
              </a:ext>
            </a:extLst>
          </p:cNvPr>
          <p:cNvSpPr/>
          <p:nvPr/>
        </p:nvSpPr>
        <p:spPr>
          <a:xfrm>
            <a:off x="2944200" y="461239"/>
            <a:ext cx="9461500" cy="1076398"/>
          </a:xfrm>
          <a:prstGeom prst="rect">
            <a:avLst/>
          </a:prstGeom>
          <a:noFill/>
          <a:ln w="19050" cap="flat" cmpd="sng">
            <a:noFill/>
            <a:prstDash val="solid"/>
            <a:round/>
          </a:ln>
        </p:spPr>
        <p:txBody>
          <a:bodyPr vert="horz" wrap="square" lIns="0" tIns="0" rIns="0" bIns="0" rtlCol="0" anchor="t" anchorCtr="0"/>
          <a:lstStyle/>
          <a:p>
            <a:pPr>
              <a:lnSpc>
                <a:spcPts val="5600"/>
              </a:lnSpc>
            </a:pPr>
            <a:r>
              <a:rPr lang="en-US" altLang="zh-CN" sz="4000" b="1" kern="1200" dirty="0" err="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序列密码的组成</a:t>
            </a:r>
            <a:endParaRPr lang="en-US" altLang="zh-CN"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AutoShape 2"/>
              <p:cNvSpPr/>
              <p:nvPr/>
            </p:nvSpPr>
            <p:spPr>
              <a:xfrm>
                <a:off x="1295400" y="2152176"/>
                <a:ext cx="15582900" cy="6812530"/>
              </a:xfrm>
              <a:prstGeom prst="roundRect">
                <a:avLst>
                  <a:gd name="adj" fmla="val 0"/>
                </a:avLst>
              </a:prstGeom>
              <a:noFill/>
              <a:ln w="25400" cap="flat" cmpd="sng">
                <a:noFill/>
                <a:prstDash val="solid"/>
                <a:round/>
              </a:ln>
            </p:spPr>
            <p:txBody>
              <a:bodyPr vert="horz" wrap="square" lIns="0" tIns="127" rIns="0" bIns="0" rtlCol="0" anchor="t" anchorCtr="0"/>
              <a:lstStyle/>
              <a:p>
                <a:pPr marL="12700" indent="457200">
                  <a:lnSpc>
                    <a:spcPct val="125000"/>
                  </a:lnSpc>
                  <a:defRPr/>
                </a:pPr>
                <a:r>
                  <a:rPr lang="zh-CN" altLang="en-US" sz="3600" dirty="0">
                    <a:latin typeface="+mn-ea"/>
                    <a:ea typeface="+mn-ea"/>
                    <a:cs typeface="Songti SC"/>
                    <a:sym typeface="Songti SC"/>
                  </a:rPr>
                  <a:t>有限状态自动机是具有离散输入和输出（输入集和输出集均有限）的一种数学模型，由以下</a:t>
                </a:r>
                <a:r>
                  <a:rPr lang="en-US" altLang="zh-CN" sz="3600" dirty="0">
                    <a:latin typeface="+mn-ea"/>
                    <a:ea typeface="+mn-ea"/>
                    <a:cs typeface="Songti SC"/>
                    <a:sym typeface="Songti SC"/>
                  </a:rPr>
                  <a:t>3</a:t>
                </a:r>
                <a:r>
                  <a:rPr lang="zh-CN" altLang="en-US" sz="3600" dirty="0">
                    <a:latin typeface="+mn-ea"/>
                    <a:ea typeface="+mn-ea"/>
                    <a:cs typeface="Songti SC"/>
                    <a:sym typeface="Songti SC"/>
                  </a:rPr>
                  <a:t>部分组成。</a:t>
                </a:r>
              </a:p>
              <a:p>
                <a:pPr marL="12700" indent="457200">
                  <a:lnSpc>
                    <a:spcPct val="125000"/>
                  </a:lnSpc>
                  <a:defRPr/>
                </a:pPr>
                <a:r>
                  <a:rPr lang="zh-CN" altLang="en-US" sz="3600" dirty="0">
                    <a:latin typeface="+mn-ea"/>
                    <a:ea typeface="+mn-ea"/>
                    <a:cs typeface="Songti SC"/>
                    <a:sym typeface="Songti SC"/>
                  </a:rPr>
                  <a:t>（</a:t>
                </a:r>
                <a:r>
                  <a:rPr lang="en-US" altLang="zh-CN" sz="3600" dirty="0">
                    <a:latin typeface="+mn-ea"/>
                    <a:ea typeface="+mn-ea"/>
                    <a:cs typeface="Songti SC"/>
                    <a:sym typeface="Songti SC"/>
                  </a:rPr>
                  <a:t>1</a:t>
                </a:r>
                <a:r>
                  <a:rPr lang="zh-CN" altLang="en-US" sz="3600" dirty="0">
                    <a:latin typeface="+mn-ea"/>
                    <a:ea typeface="+mn-ea"/>
                    <a:cs typeface="Songti SC"/>
                    <a:sym typeface="Songti SC"/>
                  </a:rPr>
                  <a:t>）有限状态集</a:t>
                </a:r>
                <a14:m>
                  <m:oMath xmlns:m="http://schemas.openxmlformats.org/officeDocument/2006/math">
                    <m:r>
                      <a:rPr lang="zh-CN" altLang="en-US" sz="3600" i="1">
                        <a:latin typeface="+mn-ea"/>
                        <a:ea typeface="+mn-ea"/>
                        <a:sym typeface="Songti SC"/>
                      </a:rPr>
                      <m:t>𝑆</m:t>
                    </m:r>
                    <m:r>
                      <a:rPr lang="zh-CN" altLang="en-US" sz="3600" i="1" smtClean="0">
                        <a:latin typeface="+mn-ea"/>
                        <a:ea typeface="+mn-ea"/>
                        <a:sym typeface="Songti SC"/>
                      </a:rPr>
                      <m:t>=</m:t>
                    </m:r>
                    <m:d>
                      <m:dPr>
                        <m:begChr m:val="{"/>
                        <m:endChr m:val="}"/>
                        <m:ctrlPr>
                          <a:rPr lang="zh-CN" altLang="en-US" sz="3600" i="1" smtClean="0">
                            <a:latin typeface="+mn-ea"/>
                            <a:ea typeface="+mn-ea"/>
                            <a:sym typeface="Songti SC"/>
                          </a:rPr>
                        </m:ctrlPr>
                      </m:dPr>
                      <m:e>
                        <m:d>
                          <m:dPr>
                            <m:begChr m:val=""/>
                            <m:endChr m:val="|"/>
                            <m:ctrlPr>
                              <a:rPr lang="zh-CN" altLang="en-US" sz="3600" i="1" smtClean="0">
                                <a:latin typeface="+mn-ea"/>
                                <a:ea typeface="+mn-ea"/>
                                <a:sym typeface="Songti SC"/>
                              </a:rPr>
                            </m:ctrlPr>
                          </m:dPr>
                          <m:e>
                            <m:sSub>
                              <m:sSubPr>
                                <m:ctrlPr>
                                  <a:rPr lang="en-US" altLang="zh-CN" sz="3600" b="0" i="1" smtClean="0">
                                    <a:latin typeface="+mn-ea"/>
                                    <a:ea typeface="+mn-ea"/>
                                    <a:sym typeface="Songti SC"/>
                                  </a:rPr>
                                </m:ctrlPr>
                              </m:sSubPr>
                              <m:e>
                                <m:r>
                                  <m:rPr>
                                    <m:sty m:val="p"/>
                                  </m:rPr>
                                  <a:rPr lang="en-US" altLang="zh-CN" sz="3600" b="0" i="1" smtClean="0">
                                    <a:latin typeface="+mn-ea"/>
                                    <a:ea typeface="+mn-ea"/>
                                    <a:sym typeface="Songti SC"/>
                                  </a:rPr>
                                  <m:t>S</m:t>
                                </m:r>
                              </m:e>
                              <m:sub>
                                <m:r>
                                  <a:rPr lang="zh-CN" altLang="en-US" sz="3600" i="1" smtClean="0">
                                    <a:latin typeface="+mn-ea"/>
                                    <a:ea typeface="+mn-ea"/>
                                    <a:sym typeface="Songti SC"/>
                                  </a:rPr>
                                  <m:t>𝑖</m:t>
                                </m:r>
                              </m:sub>
                            </m:sSub>
                          </m:e>
                        </m:d>
                        <m:r>
                          <a:rPr lang="zh-CN" altLang="en-US" sz="3600" i="1" smtClean="0">
                            <a:latin typeface="+mn-ea"/>
                            <a:ea typeface="+mn-ea"/>
                            <a:sym typeface="Songti SC"/>
                          </a:rPr>
                          <m:t>𝑖</m:t>
                        </m:r>
                        <m:r>
                          <a:rPr lang="zh-CN" altLang="en-US" sz="3600" i="1" smtClean="0">
                            <a:latin typeface="+mn-ea"/>
                            <a:ea typeface="+mn-ea"/>
                            <a:sym typeface="Songti SC"/>
                          </a:rPr>
                          <m:t>=1,2,</m:t>
                        </m:r>
                        <m:r>
                          <m:rPr>
                            <m:sty m:val="p"/>
                          </m:rPr>
                          <a:rPr lang="en-US" altLang="zh-CN" sz="3600" b="0" i="1" smtClean="0">
                            <a:latin typeface="+mn-ea"/>
                            <a:ea typeface="+mn-ea"/>
                            <a:sym typeface="Songti SC"/>
                          </a:rPr>
                          <m:t>L</m:t>
                        </m:r>
                        <m:r>
                          <a:rPr lang="en-US" altLang="zh-CN" sz="3600" b="0" i="1" smtClean="0">
                            <a:latin typeface="+mn-ea"/>
                            <a:ea typeface="+mn-ea"/>
                            <a:sym typeface="Songti SC"/>
                          </a:rPr>
                          <m:t>,</m:t>
                        </m:r>
                        <m:r>
                          <a:rPr lang="zh-CN" altLang="en-US" sz="3600" i="1" smtClean="0">
                            <a:latin typeface="+mn-ea"/>
                            <a:ea typeface="+mn-ea"/>
                            <a:sym typeface="Songti SC"/>
                          </a:rPr>
                          <m:t>𝑙</m:t>
                        </m:r>
                      </m:e>
                    </m:d>
                  </m:oMath>
                </a14:m>
                <a:r>
                  <a:rPr lang="zh-CN" altLang="en-US" sz="3600" dirty="0">
                    <a:latin typeface="+mn-ea"/>
                    <a:ea typeface="+mn-ea"/>
                    <a:cs typeface="Songti SC"/>
                    <a:sym typeface="Songti SC"/>
                  </a:rPr>
                  <a:t> 。</a:t>
                </a:r>
              </a:p>
              <a:p>
                <a:pPr marL="12700" indent="457200">
                  <a:lnSpc>
                    <a:spcPct val="125000"/>
                  </a:lnSpc>
                  <a:defRPr/>
                </a:pPr>
                <a:r>
                  <a:rPr lang="zh-CN" altLang="en-US" sz="3600" dirty="0">
                    <a:latin typeface="+mn-ea"/>
                    <a:ea typeface="+mn-ea"/>
                    <a:cs typeface="Songti SC"/>
                    <a:sym typeface="Songti SC"/>
                  </a:rPr>
                  <a:t>（</a:t>
                </a:r>
                <a:r>
                  <a:rPr lang="en-US" altLang="zh-CN" sz="3600" dirty="0">
                    <a:latin typeface="+mn-ea"/>
                    <a:ea typeface="+mn-ea"/>
                    <a:cs typeface="Songti SC"/>
                    <a:sym typeface="Songti SC"/>
                  </a:rPr>
                  <a:t>2</a:t>
                </a:r>
                <a:r>
                  <a:rPr lang="zh-CN" altLang="en-US" sz="3600" dirty="0">
                    <a:latin typeface="+mn-ea"/>
                    <a:ea typeface="+mn-ea"/>
                    <a:cs typeface="Songti SC"/>
                    <a:sym typeface="Songti SC"/>
                  </a:rPr>
                  <a:t>） 有限输入字符集</a:t>
                </a:r>
                <a14:m>
                  <m:oMath xmlns:m="http://schemas.openxmlformats.org/officeDocument/2006/math">
                    <m:sSub>
                      <m:sSubPr>
                        <m:ctrlPr>
                          <a:rPr lang="zh-CN" altLang="en-US" sz="3600" i="1" smtClean="0">
                            <a:latin typeface="+mn-ea"/>
                            <a:ea typeface="+mn-ea"/>
                            <a:sym typeface="Songti SC"/>
                          </a:rPr>
                        </m:ctrlPr>
                      </m:sSubPr>
                      <m:e>
                        <m:r>
                          <a:rPr lang="zh-CN" altLang="en-US" sz="3600" i="1" smtClean="0">
                            <a:latin typeface="+mn-ea"/>
                            <a:ea typeface="+mn-ea"/>
                            <a:sym typeface="Songti SC"/>
                          </a:rPr>
                          <m:t>𝐴</m:t>
                        </m:r>
                      </m:e>
                      <m:sub>
                        <m:r>
                          <a:rPr lang="zh-CN" altLang="en-US" sz="3600" i="1" smtClean="0">
                            <a:latin typeface="+mn-ea"/>
                            <a:ea typeface="+mn-ea"/>
                            <a:sym typeface="Songti SC"/>
                          </a:rPr>
                          <m:t>1</m:t>
                        </m:r>
                      </m:sub>
                    </m:sSub>
                    <m:r>
                      <a:rPr lang="zh-CN" altLang="en-US" sz="3600" i="1" smtClean="0">
                        <a:latin typeface="+mn-ea"/>
                        <a:ea typeface="+mn-ea"/>
                        <a:sym typeface="Songti SC"/>
                      </a:rPr>
                      <m:t>=</m:t>
                    </m:r>
                    <m:d>
                      <m:dPr>
                        <m:begChr m:val="{"/>
                        <m:endChr m:val="}"/>
                        <m:ctrlPr>
                          <a:rPr lang="zh-CN" altLang="en-US" sz="3600" i="1" smtClean="0">
                            <a:latin typeface="+mn-ea"/>
                            <a:ea typeface="+mn-ea"/>
                            <a:sym typeface="Songti SC"/>
                          </a:rPr>
                        </m:ctrlPr>
                      </m:dPr>
                      <m:e>
                        <m:d>
                          <m:dPr>
                            <m:begChr m:val=""/>
                            <m:endChr m:val="|"/>
                            <m:ctrlPr>
                              <a:rPr lang="zh-CN" altLang="en-US" sz="3600" i="1" smtClean="0">
                                <a:latin typeface="+mn-ea"/>
                                <a:ea typeface="+mn-ea"/>
                                <a:sym typeface="Songti SC"/>
                              </a:rPr>
                            </m:ctrlPr>
                          </m:dPr>
                          <m:e>
                            <m:sSubSup>
                              <m:sSubSupPr>
                                <m:ctrlPr>
                                  <a:rPr lang="zh-CN" altLang="en-US" sz="3600" i="1" smtClean="0">
                                    <a:latin typeface="+mn-ea"/>
                                    <a:ea typeface="+mn-ea"/>
                                    <a:sym typeface="Songti SC"/>
                                  </a:rPr>
                                </m:ctrlPr>
                              </m:sSubSupPr>
                              <m:e>
                                <m:r>
                                  <a:rPr lang="zh-CN" altLang="en-US" sz="3600" i="1" smtClean="0">
                                    <a:latin typeface="+mn-ea"/>
                                    <a:ea typeface="+mn-ea"/>
                                    <a:sym typeface="Songti SC"/>
                                  </a:rPr>
                                  <m:t>𝐴</m:t>
                                </m:r>
                              </m:e>
                              <m:sub>
                                <m:acc>
                                  <m:accPr>
                                    <m:chr m:val="̇"/>
                                    <m:ctrlPr>
                                      <a:rPr lang="zh-CN" altLang="en-US" sz="3600" i="1" smtClean="0">
                                        <a:latin typeface="+mn-ea"/>
                                        <a:ea typeface="+mn-ea"/>
                                        <a:sym typeface="Songti SC"/>
                                      </a:rPr>
                                    </m:ctrlPr>
                                  </m:accPr>
                                  <m:e>
                                    <m:r>
                                      <a:rPr lang="zh-CN" altLang="en-US" sz="3600" i="1" smtClean="0">
                                        <a:latin typeface="+mn-ea"/>
                                        <a:ea typeface="+mn-ea"/>
                                        <a:sym typeface="Songti SC"/>
                                      </a:rPr>
                                      <m:t>𝐽</m:t>
                                    </m:r>
                                  </m:e>
                                </m:acc>
                              </m:sub>
                              <m:sup>
                                <m:d>
                                  <m:dPr>
                                    <m:ctrlPr>
                                      <a:rPr lang="zh-CN" altLang="en-US" sz="3600" i="1" smtClean="0">
                                        <a:latin typeface="+mn-ea"/>
                                        <a:ea typeface="+mn-ea"/>
                                        <a:sym typeface="Songti SC"/>
                                      </a:rPr>
                                    </m:ctrlPr>
                                  </m:dPr>
                                  <m:e>
                                    <m:r>
                                      <a:rPr lang="zh-CN" altLang="en-US" sz="3600" i="1" smtClean="0">
                                        <a:latin typeface="+mn-ea"/>
                                        <a:ea typeface="+mn-ea"/>
                                        <a:sym typeface="Songti SC"/>
                                      </a:rPr>
                                      <m:t>1</m:t>
                                    </m:r>
                                  </m:e>
                                </m:d>
                              </m:sup>
                            </m:sSubSup>
                          </m:e>
                        </m:d>
                        <m:acc>
                          <m:accPr>
                            <m:chr m:val="̇"/>
                            <m:ctrlPr>
                              <a:rPr lang="zh-CN" altLang="en-US" sz="3600" i="1" smtClean="0">
                                <a:latin typeface="+mn-ea"/>
                                <a:ea typeface="+mn-ea"/>
                                <a:sym typeface="Songti SC"/>
                              </a:rPr>
                            </m:ctrlPr>
                          </m:accPr>
                          <m:e>
                            <m:r>
                              <a:rPr lang="zh-CN" altLang="en-US" sz="3600" i="1" smtClean="0">
                                <a:latin typeface="+mn-ea"/>
                                <a:ea typeface="+mn-ea"/>
                                <a:sym typeface="Songti SC"/>
                              </a:rPr>
                              <m:t>𝐽</m:t>
                            </m:r>
                          </m:e>
                        </m:acc>
                        <m:r>
                          <a:rPr lang="zh-CN" altLang="en-US" sz="3600" i="1" smtClean="0">
                            <a:latin typeface="+mn-ea"/>
                            <a:ea typeface="+mn-ea"/>
                            <a:sym typeface="Songti SC"/>
                          </a:rPr>
                          <m:t>=1,2,</m:t>
                        </m:r>
                        <m:r>
                          <a:rPr lang="zh-CN" altLang="en-US" sz="3600" i="1" smtClean="0">
                            <a:latin typeface="+mn-ea"/>
                            <a:ea typeface="+mn-ea"/>
                            <a:sym typeface="Songti SC"/>
                          </a:rPr>
                          <m:t>𝐿</m:t>
                        </m:r>
                        <m:r>
                          <a:rPr lang="zh-CN" altLang="en-US" sz="3600" i="1" smtClean="0">
                            <a:latin typeface="+mn-ea"/>
                            <a:ea typeface="+mn-ea"/>
                            <a:sym typeface="Songti SC"/>
                          </a:rPr>
                          <m:t>,</m:t>
                        </m:r>
                        <m:r>
                          <a:rPr lang="zh-CN" altLang="en-US" sz="3600" i="1" smtClean="0">
                            <a:latin typeface="+mn-ea"/>
                            <a:ea typeface="+mn-ea"/>
                            <a:sym typeface="Songti SC"/>
                          </a:rPr>
                          <m:t>𝑚</m:t>
                        </m:r>
                      </m:e>
                    </m:d>
                  </m:oMath>
                </a14:m>
                <a:r>
                  <a:rPr lang="zh-CN" altLang="en-US" sz="3600" dirty="0">
                    <a:latin typeface="+mn-ea"/>
                    <a:ea typeface="+mn-ea"/>
                    <a:cs typeface="Songti SC"/>
                    <a:sym typeface="Songti SC"/>
                  </a:rPr>
                  <a:t>和有限输出字符集 </a:t>
                </a:r>
                <a14:m>
                  <m:oMath xmlns:m="http://schemas.openxmlformats.org/officeDocument/2006/math">
                    <m:sSub>
                      <m:sSubPr>
                        <m:ctrlPr>
                          <a:rPr lang="zh-CN" altLang="en-US" sz="3600" i="1" smtClean="0">
                            <a:latin typeface="+mn-ea"/>
                            <a:ea typeface="+mn-ea"/>
                            <a:sym typeface="Songti SC"/>
                          </a:rPr>
                        </m:ctrlPr>
                      </m:sSubPr>
                      <m:e>
                        <m:r>
                          <a:rPr lang="zh-CN" altLang="en-US" sz="3600" i="1" smtClean="0">
                            <a:latin typeface="+mn-ea"/>
                            <a:ea typeface="+mn-ea"/>
                            <a:sym typeface="Songti SC"/>
                          </a:rPr>
                          <m:t>𝐴</m:t>
                        </m:r>
                      </m:e>
                      <m:sub>
                        <m:r>
                          <a:rPr lang="zh-CN" altLang="en-US" sz="3600" i="1" smtClean="0">
                            <a:latin typeface="+mn-ea"/>
                            <a:ea typeface="+mn-ea"/>
                            <a:sym typeface="Songti SC"/>
                          </a:rPr>
                          <m:t>2</m:t>
                        </m:r>
                      </m:sub>
                    </m:sSub>
                    <m:r>
                      <a:rPr lang="zh-CN" altLang="en-US" sz="3600" i="1" smtClean="0">
                        <a:latin typeface="+mn-ea"/>
                        <a:ea typeface="+mn-ea"/>
                        <a:sym typeface="Songti SC"/>
                      </a:rPr>
                      <m:t>=</m:t>
                    </m:r>
                    <m:d>
                      <m:dPr>
                        <m:begChr m:val="{"/>
                        <m:endChr m:val="}"/>
                        <m:ctrlPr>
                          <a:rPr lang="zh-CN" altLang="en-US" sz="3600" i="1" smtClean="0">
                            <a:latin typeface="+mn-ea"/>
                            <a:ea typeface="+mn-ea"/>
                            <a:sym typeface="Songti SC"/>
                          </a:rPr>
                        </m:ctrlPr>
                      </m:dPr>
                      <m:e>
                        <m:d>
                          <m:dPr>
                            <m:begChr m:val=""/>
                            <m:endChr m:val="|"/>
                            <m:ctrlPr>
                              <a:rPr lang="zh-CN" altLang="en-US" sz="3600" i="1" smtClean="0">
                                <a:latin typeface="+mn-ea"/>
                                <a:ea typeface="+mn-ea"/>
                                <a:sym typeface="Songti SC"/>
                              </a:rPr>
                            </m:ctrlPr>
                          </m:dPr>
                          <m:e>
                            <m:sSubSup>
                              <m:sSubSupPr>
                                <m:ctrlPr>
                                  <a:rPr lang="zh-CN" altLang="en-US" sz="3600" i="1" smtClean="0">
                                    <a:latin typeface="+mn-ea"/>
                                    <a:ea typeface="+mn-ea"/>
                                    <a:sym typeface="Songti SC"/>
                                  </a:rPr>
                                </m:ctrlPr>
                              </m:sSubSupPr>
                              <m:e>
                                <m:r>
                                  <a:rPr lang="zh-CN" altLang="en-US" sz="3600" i="1" smtClean="0">
                                    <a:latin typeface="+mn-ea"/>
                                    <a:ea typeface="+mn-ea"/>
                                    <a:sym typeface="Songti SC"/>
                                  </a:rPr>
                                  <m:t>𝐴</m:t>
                                </m:r>
                              </m:e>
                              <m:sub>
                                <m:r>
                                  <a:rPr lang="zh-CN" altLang="en-US" sz="3600" i="1" smtClean="0">
                                    <a:latin typeface="+mn-ea"/>
                                    <a:ea typeface="+mn-ea"/>
                                    <a:sym typeface="Songti SC"/>
                                  </a:rPr>
                                  <m:t>𝑘</m:t>
                                </m:r>
                              </m:sub>
                              <m:sup>
                                <m:d>
                                  <m:dPr>
                                    <m:ctrlPr>
                                      <a:rPr lang="zh-CN" altLang="en-US" sz="3600" i="1" smtClean="0">
                                        <a:latin typeface="+mn-ea"/>
                                        <a:ea typeface="+mn-ea"/>
                                        <a:sym typeface="Songti SC"/>
                                      </a:rPr>
                                    </m:ctrlPr>
                                  </m:dPr>
                                  <m:e>
                                    <m:r>
                                      <a:rPr lang="zh-CN" altLang="en-US" sz="3600" i="1" smtClean="0">
                                        <a:latin typeface="+mn-ea"/>
                                        <a:ea typeface="+mn-ea"/>
                                        <a:sym typeface="Songti SC"/>
                                      </a:rPr>
                                      <m:t>2</m:t>
                                    </m:r>
                                  </m:e>
                                </m:d>
                              </m:sup>
                            </m:sSubSup>
                          </m:e>
                        </m:d>
                        <m:r>
                          <m:rPr>
                            <m:sty m:val="p"/>
                          </m:rPr>
                          <a:rPr lang="en-US" altLang="zh-CN" sz="3600" i="1">
                            <a:latin typeface="+mn-ea"/>
                            <a:ea typeface="+mn-ea"/>
                            <a:sym typeface="Songti SC"/>
                          </a:rPr>
                          <m:t>k</m:t>
                        </m:r>
                        <m:r>
                          <a:rPr lang="en-US" altLang="zh-CN" sz="3600" b="0" i="1" smtClean="0">
                            <a:latin typeface="+mn-ea"/>
                            <a:ea typeface="+mn-ea"/>
                            <a:sym typeface="Songti SC"/>
                          </a:rPr>
                          <m:t>=</m:t>
                        </m:r>
                        <m:r>
                          <a:rPr lang="zh-CN" altLang="en-US" sz="3600" i="1" smtClean="0">
                            <a:latin typeface="+mn-ea"/>
                            <a:ea typeface="+mn-ea"/>
                            <a:sym typeface="Songti SC"/>
                          </a:rPr>
                          <m:t>1,2,</m:t>
                        </m:r>
                        <m:r>
                          <a:rPr lang="zh-CN" altLang="en-US" sz="3600" i="1" smtClean="0">
                            <a:latin typeface="+mn-ea"/>
                            <a:ea typeface="+mn-ea"/>
                            <a:sym typeface="Songti SC"/>
                          </a:rPr>
                          <m:t>𝐿</m:t>
                        </m:r>
                        <m:r>
                          <a:rPr lang="zh-CN" altLang="en-US" sz="3600" i="1" smtClean="0">
                            <a:latin typeface="+mn-ea"/>
                            <a:ea typeface="+mn-ea"/>
                            <a:sym typeface="Songti SC"/>
                          </a:rPr>
                          <m:t>,</m:t>
                        </m:r>
                        <m:r>
                          <m:rPr>
                            <m:sty m:val="p"/>
                          </m:rPr>
                          <a:rPr lang="en-US" altLang="zh-CN" sz="3600" b="0" i="1" smtClean="0">
                            <a:latin typeface="+mn-ea"/>
                            <a:ea typeface="+mn-ea"/>
                            <a:sym typeface="Songti SC"/>
                          </a:rPr>
                          <m:t>n</m:t>
                        </m:r>
                      </m:e>
                    </m:d>
                  </m:oMath>
                </a14:m>
                <a:r>
                  <a:rPr lang="zh-CN" altLang="en-US" sz="3600" dirty="0">
                    <a:latin typeface="+mn-ea"/>
                    <a:ea typeface="+mn-ea"/>
                    <a:cs typeface="Songti SC"/>
                    <a:sym typeface="Songti SC"/>
                  </a:rPr>
                  <a:t>。</a:t>
                </a:r>
              </a:p>
              <a:p>
                <a:pPr marL="12700" indent="457200">
                  <a:lnSpc>
                    <a:spcPct val="125000"/>
                  </a:lnSpc>
                  <a:defRPr/>
                </a:pPr>
                <a:r>
                  <a:rPr lang="zh-CN" altLang="en-US" sz="3600" dirty="0">
                    <a:latin typeface="+mn-ea"/>
                    <a:ea typeface="+mn-ea"/>
                    <a:cs typeface="Songti SC"/>
                    <a:sym typeface="Songti SC"/>
                  </a:rPr>
                  <a:t>（</a:t>
                </a:r>
                <a:r>
                  <a:rPr lang="en-US" altLang="zh-CN" sz="3600" dirty="0">
                    <a:latin typeface="+mn-ea"/>
                    <a:ea typeface="+mn-ea"/>
                    <a:cs typeface="Songti SC"/>
                    <a:sym typeface="Songti SC"/>
                  </a:rPr>
                  <a:t>3</a:t>
                </a:r>
                <a:r>
                  <a:rPr lang="zh-CN" altLang="en-US" sz="3600" dirty="0">
                    <a:latin typeface="+mn-ea"/>
                    <a:ea typeface="+mn-ea"/>
                    <a:cs typeface="Songti SC"/>
                    <a:sym typeface="Songti SC"/>
                  </a:rPr>
                  <a:t>）转移函数</a:t>
                </a:r>
                <a14:m>
                  <m:oMath xmlns:m="http://schemas.openxmlformats.org/officeDocument/2006/math">
                    <m:sSubSup>
                      <m:sSubSupPr>
                        <m:ctrlPr>
                          <a:rPr lang="zh-CN" altLang="en-US" sz="3600" i="1" smtClean="0">
                            <a:latin typeface="+mn-ea"/>
                            <a:ea typeface="+mn-ea"/>
                            <a:sym typeface="Songti SC"/>
                          </a:rPr>
                        </m:ctrlPr>
                      </m:sSubSupPr>
                      <m:e>
                        <m:r>
                          <a:rPr lang="zh-CN" altLang="en-US" sz="3600" i="1" smtClean="0">
                            <a:latin typeface="+mn-ea"/>
                            <a:ea typeface="+mn-ea"/>
                            <a:sym typeface="Songti SC"/>
                          </a:rPr>
                          <m:t>𝐴</m:t>
                        </m:r>
                      </m:e>
                      <m:sub>
                        <m:r>
                          <a:rPr lang="zh-CN" altLang="en-US" sz="3600" i="1" smtClean="0">
                            <a:latin typeface="+mn-ea"/>
                            <a:ea typeface="+mn-ea"/>
                            <a:sym typeface="Songti SC"/>
                          </a:rPr>
                          <m:t>𝑘</m:t>
                        </m:r>
                      </m:sub>
                      <m:sup>
                        <m:d>
                          <m:dPr>
                            <m:ctrlPr>
                              <a:rPr lang="zh-CN" altLang="en-US" sz="3600" i="1" smtClean="0">
                                <a:latin typeface="+mn-ea"/>
                                <a:ea typeface="+mn-ea"/>
                                <a:sym typeface="Songti SC"/>
                              </a:rPr>
                            </m:ctrlPr>
                          </m:dPr>
                          <m:e>
                            <m:r>
                              <a:rPr lang="zh-CN" altLang="en-US" sz="3600" i="1" smtClean="0">
                                <a:latin typeface="+mn-ea"/>
                                <a:ea typeface="+mn-ea"/>
                                <a:sym typeface="Songti SC"/>
                              </a:rPr>
                              <m:t>2</m:t>
                            </m:r>
                          </m:e>
                        </m:d>
                      </m:sup>
                    </m:sSubSup>
                    <m:r>
                      <a:rPr lang="zh-CN" altLang="en-US" sz="3600" i="1" smtClean="0">
                        <a:latin typeface="+mn-ea"/>
                        <a:ea typeface="+mn-ea"/>
                        <a:sym typeface="Songti SC"/>
                      </a:rPr>
                      <m:t>=</m:t>
                    </m:r>
                    <m:sSub>
                      <m:sSubPr>
                        <m:ctrlPr>
                          <a:rPr lang="zh-CN" altLang="en-US" sz="3600" i="1" smtClean="0">
                            <a:latin typeface="+mn-ea"/>
                            <a:ea typeface="+mn-ea"/>
                            <a:sym typeface="Songti SC"/>
                          </a:rPr>
                        </m:ctrlPr>
                      </m:sSubPr>
                      <m:e>
                        <m:r>
                          <a:rPr lang="zh-CN" altLang="en-US" sz="3600" i="1" smtClean="0">
                            <a:latin typeface="+mn-ea"/>
                            <a:ea typeface="+mn-ea"/>
                            <a:sym typeface="Songti SC"/>
                          </a:rPr>
                          <m:t>𝑓</m:t>
                        </m:r>
                      </m:e>
                      <m:sub>
                        <m:r>
                          <a:rPr lang="zh-CN" altLang="en-US" sz="3600" i="1" smtClean="0">
                            <a:latin typeface="+mn-ea"/>
                            <a:ea typeface="+mn-ea"/>
                            <a:sym typeface="Songti SC"/>
                          </a:rPr>
                          <m:t>1</m:t>
                        </m:r>
                      </m:sub>
                    </m:sSub>
                    <m:d>
                      <m:dPr>
                        <m:ctrlPr>
                          <a:rPr lang="zh-CN" altLang="en-US" sz="3600" i="1" smtClean="0">
                            <a:latin typeface="+mn-ea"/>
                            <a:ea typeface="+mn-ea"/>
                            <a:sym typeface="Songti SC"/>
                          </a:rPr>
                        </m:ctrlPr>
                      </m:dPr>
                      <m:e>
                        <m:sSub>
                          <m:sSubPr>
                            <m:ctrlPr>
                              <a:rPr lang="zh-CN" altLang="en-US" sz="3600" i="1" smtClean="0">
                                <a:latin typeface="+mn-ea"/>
                                <a:ea typeface="+mn-ea"/>
                                <a:sym typeface="Songti SC"/>
                              </a:rPr>
                            </m:ctrlPr>
                          </m:sSubPr>
                          <m:e>
                            <m:r>
                              <a:rPr lang="zh-CN" altLang="en-US" sz="3600" i="1" smtClean="0">
                                <a:latin typeface="+mn-ea"/>
                                <a:ea typeface="+mn-ea"/>
                                <a:sym typeface="Songti SC"/>
                              </a:rPr>
                              <m:t>𝑆</m:t>
                            </m:r>
                          </m:e>
                          <m:sub>
                            <m:r>
                              <a:rPr lang="zh-CN" altLang="en-US" sz="3600" i="1" smtClean="0">
                                <a:latin typeface="+mn-ea"/>
                                <a:ea typeface="+mn-ea"/>
                                <a:sym typeface="Songti SC"/>
                              </a:rPr>
                              <m:t>𝑖</m:t>
                            </m:r>
                          </m:sub>
                        </m:sSub>
                        <m:r>
                          <a:rPr lang="zh-CN" altLang="en-US" sz="3600" i="1" smtClean="0">
                            <a:latin typeface="+mn-ea"/>
                            <a:ea typeface="+mn-ea"/>
                            <a:sym typeface="Songti SC"/>
                          </a:rPr>
                          <m:t>,</m:t>
                        </m:r>
                        <m:sSubSup>
                          <m:sSubSupPr>
                            <m:ctrlPr>
                              <a:rPr lang="zh-CN" altLang="en-US" sz="3600" i="1" smtClean="0">
                                <a:latin typeface="+mn-ea"/>
                                <a:ea typeface="+mn-ea"/>
                                <a:sym typeface="Songti SC"/>
                              </a:rPr>
                            </m:ctrlPr>
                          </m:sSubSupPr>
                          <m:e>
                            <m:r>
                              <a:rPr lang="zh-CN" altLang="en-US" sz="3600" i="1" smtClean="0">
                                <a:latin typeface="+mn-ea"/>
                                <a:ea typeface="+mn-ea"/>
                                <a:sym typeface="Songti SC"/>
                              </a:rPr>
                              <m:t>𝐴</m:t>
                            </m:r>
                          </m:e>
                          <m:sub>
                            <m:r>
                              <a:rPr lang="zh-CN" altLang="en-US" sz="3600" i="1" smtClean="0">
                                <a:latin typeface="+mn-ea"/>
                                <a:ea typeface="+mn-ea"/>
                                <a:sym typeface="Songti SC"/>
                              </a:rPr>
                              <m:t>𝑗</m:t>
                            </m:r>
                          </m:sub>
                          <m:sup>
                            <m:d>
                              <m:dPr>
                                <m:ctrlPr>
                                  <a:rPr lang="zh-CN" altLang="en-US" sz="3600" i="1" smtClean="0">
                                    <a:latin typeface="+mn-ea"/>
                                    <a:ea typeface="+mn-ea"/>
                                    <a:sym typeface="Songti SC"/>
                                  </a:rPr>
                                </m:ctrlPr>
                              </m:dPr>
                              <m:e>
                                <m:r>
                                  <a:rPr lang="zh-CN" altLang="en-US" sz="3600" i="1" smtClean="0">
                                    <a:latin typeface="+mn-ea"/>
                                    <a:ea typeface="+mn-ea"/>
                                    <a:sym typeface="Songti SC"/>
                                  </a:rPr>
                                  <m:t>1</m:t>
                                </m:r>
                              </m:e>
                            </m:d>
                          </m:sup>
                        </m:sSubSup>
                      </m:e>
                    </m:d>
                  </m:oMath>
                </a14:m>
                <a:r>
                  <a:rPr lang="en-US" altLang="zh-CN" sz="3600" dirty="0">
                    <a:latin typeface="+mn-ea"/>
                    <a:ea typeface="+mn-ea"/>
                    <a:cs typeface="Songti SC"/>
                    <a:sym typeface="Songti SC"/>
                  </a:rPr>
                  <a:t>,</a:t>
                </a:r>
                <a14:m>
                  <m:oMath xmlns:m="http://schemas.openxmlformats.org/officeDocument/2006/math">
                    <m:sSub>
                      <m:sSubPr>
                        <m:ctrlPr>
                          <a:rPr lang="en-US" altLang="zh-CN" sz="3600" i="1" dirty="0" smtClean="0">
                            <a:latin typeface="+mn-ea"/>
                            <a:ea typeface="+mn-ea"/>
                            <a:sym typeface="Songti SC"/>
                          </a:rPr>
                        </m:ctrlPr>
                      </m:sSubPr>
                      <m:e>
                        <m:r>
                          <a:rPr lang="en-US" altLang="zh-CN" sz="3600" i="1" dirty="0" smtClean="0">
                            <a:latin typeface="+mn-ea"/>
                            <a:ea typeface="+mn-ea"/>
                            <a:sym typeface="Songti SC"/>
                          </a:rPr>
                          <m:t>𝑆</m:t>
                        </m:r>
                      </m:e>
                      <m:sub>
                        <m:r>
                          <a:rPr lang="en-US" altLang="zh-CN" sz="3600" i="1" dirty="0" smtClean="0">
                            <a:latin typeface="+mn-ea"/>
                            <a:ea typeface="+mn-ea"/>
                            <a:sym typeface="Songti SC"/>
                          </a:rPr>
                          <m:t>𝑘</m:t>
                        </m:r>
                      </m:sub>
                    </m:sSub>
                    <m:r>
                      <a:rPr lang="en-US" altLang="zh-CN" sz="3600" i="1" dirty="0" smtClean="0">
                        <a:latin typeface="+mn-ea"/>
                        <a:ea typeface="+mn-ea"/>
                        <a:sym typeface="Songti SC"/>
                      </a:rPr>
                      <m:t>=</m:t>
                    </m:r>
                    <m:sSub>
                      <m:sSubPr>
                        <m:ctrlPr>
                          <a:rPr lang="en-US" altLang="zh-CN" sz="3600" i="1" dirty="0" smtClean="0">
                            <a:latin typeface="+mn-ea"/>
                            <a:ea typeface="+mn-ea"/>
                            <a:sym typeface="Songti SC"/>
                          </a:rPr>
                        </m:ctrlPr>
                      </m:sSubPr>
                      <m:e>
                        <m:r>
                          <a:rPr lang="en-US" altLang="zh-CN" sz="3600" i="1" dirty="0" smtClean="0">
                            <a:latin typeface="+mn-ea"/>
                            <a:ea typeface="+mn-ea"/>
                            <a:sym typeface="Songti SC"/>
                          </a:rPr>
                          <m:t>𝑓</m:t>
                        </m:r>
                      </m:e>
                      <m:sub>
                        <m:r>
                          <a:rPr lang="en-US" altLang="zh-CN" sz="3600" i="1" dirty="0" smtClean="0">
                            <a:latin typeface="+mn-ea"/>
                            <a:ea typeface="+mn-ea"/>
                            <a:sym typeface="Songti SC"/>
                          </a:rPr>
                          <m:t>2</m:t>
                        </m:r>
                      </m:sub>
                    </m:sSub>
                    <m:d>
                      <m:dPr>
                        <m:ctrlPr>
                          <a:rPr lang="en-US" altLang="zh-CN" sz="3600" i="1" dirty="0" smtClean="0">
                            <a:latin typeface="+mn-ea"/>
                            <a:ea typeface="+mn-ea"/>
                            <a:sym typeface="Songti SC"/>
                          </a:rPr>
                        </m:ctrlPr>
                      </m:dPr>
                      <m:e>
                        <m:sSub>
                          <m:sSubPr>
                            <m:ctrlPr>
                              <a:rPr lang="en-US" altLang="zh-CN" sz="3600" i="1" dirty="0" smtClean="0">
                                <a:latin typeface="+mn-ea"/>
                                <a:ea typeface="+mn-ea"/>
                                <a:sym typeface="Songti SC"/>
                              </a:rPr>
                            </m:ctrlPr>
                          </m:sSubPr>
                          <m:e>
                            <m:r>
                              <a:rPr lang="en-US" altLang="zh-CN" sz="3600" i="1" dirty="0" smtClean="0">
                                <a:latin typeface="+mn-ea"/>
                                <a:ea typeface="+mn-ea"/>
                                <a:sym typeface="Songti SC"/>
                              </a:rPr>
                              <m:t>𝑆</m:t>
                            </m:r>
                          </m:e>
                          <m:sub>
                            <m:r>
                              <a:rPr lang="en-US" altLang="zh-CN" sz="3600" i="1" dirty="0" smtClean="0">
                                <a:latin typeface="+mn-ea"/>
                                <a:ea typeface="+mn-ea"/>
                                <a:sym typeface="Songti SC"/>
                              </a:rPr>
                              <m:t>𝑖</m:t>
                            </m:r>
                          </m:sub>
                        </m:sSub>
                        <m:r>
                          <a:rPr lang="en-US" altLang="zh-CN" sz="3600" i="1" dirty="0" smtClean="0">
                            <a:latin typeface="+mn-ea"/>
                            <a:ea typeface="+mn-ea"/>
                            <a:sym typeface="Songti SC"/>
                          </a:rPr>
                          <m:t>,</m:t>
                        </m:r>
                        <m:sSubSup>
                          <m:sSubSupPr>
                            <m:ctrlPr>
                              <a:rPr lang="en-US" altLang="zh-CN" sz="3600" i="1" dirty="0" smtClean="0">
                                <a:latin typeface="+mn-ea"/>
                                <a:ea typeface="+mn-ea"/>
                                <a:sym typeface="Songti SC"/>
                              </a:rPr>
                            </m:ctrlPr>
                          </m:sSubSupPr>
                          <m:e>
                            <m:r>
                              <a:rPr lang="en-US" altLang="zh-CN" sz="3600" i="1" dirty="0" smtClean="0">
                                <a:latin typeface="+mn-ea"/>
                                <a:ea typeface="+mn-ea"/>
                                <a:sym typeface="Songti SC"/>
                              </a:rPr>
                              <m:t>𝐴</m:t>
                            </m:r>
                          </m:e>
                          <m:sub>
                            <m:r>
                              <a:rPr lang="en-US" altLang="zh-CN" sz="3600" i="1" dirty="0" smtClean="0">
                                <a:latin typeface="+mn-ea"/>
                                <a:ea typeface="+mn-ea"/>
                                <a:sym typeface="Songti SC"/>
                              </a:rPr>
                              <m:t>𝑗</m:t>
                            </m:r>
                          </m:sub>
                          <m:sup>
                            <m:d>
                              <m:dPr>
                                <m:ctrlPr>
                                  <a:rPr lang="en-US" altLang="zh-CN" sz="3600" i="1" dirty="0" smtClean="0">
                                    <a:latin typeface="+mn-ea"/>
                                    <a:ea typeface="+mn-ea"/>
                                    <a:sym typeface="Songti SC"/>
                                  </a:rPr>
                                </m:ctrlPr>
                              </m:dPr>
                              <m:e>
                                <m:r>
                                  <a:rPr lang="en-US" altLang="zh-CN" sz="3600" i="1" dirty="0" smtClean="0">
                                    <a:latin typeface="+mn-ea"/>
                                    <a:ea typeface="+mn-ea"/>
                                    <a:sym typeface="Songti SC"/>
                                  </a:rPr>
                                  <m:t>1</m:t>
                                </m:r>
                              </m:e>
                            </m:d>
                          </m:sup>
                        </m:sSubSup>
                      </m:e>
                    </m:d>
                  </m:oMath>
                </a14:m>
                <a:r>
                  <a:rPr lang="zh-CN" altLang="en-US" sz="3600" dirty="0">
                    <a:latin typeface="+mn-ea"/>
                    <a:ea typeface="+mn-ea"/>
                    <a:cs typeface="Songti SC"/>
                    <a:sym typeface="Songti SC"/>
                  </a:rPr>
                  <a:t> 。在状态为</a:t>
                </a:r>
                <a14:m>
                  <m:oMath xmlns:m="http://schemas.openxmlformats.org/officeDocument/2006/math">
                    <m:sSub>
                      <m:sSubPr>
                        <m:ctrlPr>
                          <a:rPr lang="en-US" altLang="zh-CN" sz="3600" i="1">
                            <a:latin typeface="+mn-ea"/>
                            <a:ea typeface="+mn-ea"/>
                            <a:sym typeface="Songti SC"/>
                          </a:rPr>
                        </m:ctrlPr>
                      </m:sSubPr>
                      <m:e>
                        <m:r>
                          <m:rPr>
                            <m:sty m:val="p"/>
                          </m:rPr>
                          <a:rPr lang="en-US" altLang="zh-CN" sz="3600" i="1">
                            <a:latin typeface="+mn-ea"/>
                            <a:ea typeface="+mn-ea"/>
                            <a:sym typeface="Songti SC"/>
                          </a:rPr>
                          <m:t>S</m:t>
                        </m:r>
                      </m:e>
                      <m:sub>
                        <m:r>
                          <a:rPr lang="zh-CN" altLang="en-US" sz="3600" i="1">
                            <a:latin typeface="+mn-ea"/>
                            <a:ea typeface="+mn-ea"/>
                            <a:sym typeface="Songti SC"/>
                          </a:rPr>
                          <m:t>𝑖</m:t>
                        </m:r>
                      </m:sub>
                    </m:sSub>
                  </m:oMath>
                </a14:m>
                <a:r>
                  <a:rPr lang="en-US" altLang="zh-CN" sz="3600" dirty="0">
                    <a:latin typeface="+mn-ea"/>
                    <a:ea typeface="+mn-ea"/>
                    <a:cs typeface="Songti SC"/>
                    <a:sym typeface="Songti SC"/>
                  </a:rPr>
                  <a:t> ,</a:t>
                </a:r>
                <a:r>
                  <a:rPr lang="zh-CN" altLang="en-US" sz="3600" dirty="0">
                    <a:latin typeface="+mn-ea"/>
                    <a:ea typeface="+mn-ea"/>
                    <a:cs typeface="Songti SC"/>
                    <a:sym typeface="Songti SC"/>
                  </a:rPr>
                  <a:t>输入为</a:t>
                </a:r>
                <a14:m>
                  <m:oMath xmlns:m="http://schemas.openxmlformats.org/officeDocument/2006/math">
                    <m:sSubSup>
                      <m:sSubSupPr>
                        <m:ctrlPr>
                          <a:rPr lang="en-US" altLang="zh-CN" sz="3600" i="1" dirty="0">
                            <a:latin typeface="+mn-ea"/>
                            <a:ea typeface="+mn-ea"/>
                            <a:sym typeface="Songti SC"/>
                          </a:rPr>
                        </m:ctrlPr>
                      </m:sSubSupPr>
                      <m:e>
                        <m:r>
                          <a:rPr lang="en-US" altLang="zh-CN" sz="3600" i="1" dirty="0">
                            <a:latin typeface="+mn-ea"/>
                            <a:ea typeface="+mn-ea"/>
                            <a:sym typeface="Songti SC"/>
                          </a:rPr>
                          <m:t>𝐴</m:t>
                        </m:r>
                      </m:e>
                      <m:sub>
                        <m:r>
                          <a:rPr lang="en-US" altLang="zh-CN" sz="3600" i="1" dirty="0">
                            <a:latin typeface="+mn-ea"/>
                            <a:ea typeface="+mn-ea"/>
                            <a:sym typeface="Songti SC"/>
                          </a:rPr>
                          <m:t>𝑗</m:t>
                        </m:r>
                      </m:sub>
                      <m:sup>
                        <m:d>
                          <m:dPr>
                            <m:ctrlPr>
                              <a:rPr lang="en-US" altLang="zh-CN" sz="3600" i="1" dirty="0">
                                <a:latin typeface="+mn-ea"/>
                                <a:ea typeface="+mn-ea"/>
                                <a:sym typeface="Songti SC"/>
                              </a:rPr>
                            </m:ctrlPr>
                          </m:dPr>
                          <m:e>
                            <m:r>
                              <a:rPr lang="en-US" altLang="zh-CN" sz="3600" i="1" dirty="0">
                                <a:latin typeface="+mn-ea"/>
                                <a:ea typeface="+mn-ea"/>
                                <a:sym typeface="Songti SC"/>
                              </a:rPr>
                              <m:t>1</m:t>
                            </m:r>
                          </m:e>
                        </m:d>
                      </m:sup>
                    </m:sSubSup>
                  </m:oMath>
                </a14:m>
                <a:r>
                  <a:rPr lang="zh-CN" altLang="en-US" sz="3600" dirty="0">
                    <a:latin typeface="+mn-ea"/>
                    <a:ea typeface="+mn-ea"/>
                    <a:cs typeface="Songti SC"/>
                    <a:sym typeface="Songti SC"/>
                  </a:rPr>
                  <a:t>时，输出为</a:t>
                </a:r>
                <a14:m>
                  <m:oMath xmlns:m="http://schemas.openxmlformats.org/officeDocument/2006/math">
                    <m:sSubSup>
                      <m:sSubSupPr>
                        <m:ctrlPr>
                          <a:rPr lang="zh-CN" altLang="en-US" sz="3600" i="1">
                            <a:latin typeface="+mn-ea"/>
                            <a:ea typeface="+mn-ea"/>
                            <a:sym typeface="Songti SC"/>
                          </a:rPr>
                        </m:ctrlPr>
                      </m:sSubSupPr>
                      <m:e>
                        <m:r>
                          <a:rPr lang="zh-CN" altLang="en-US" sz="3600" i="1">
                            <a:latin typeface="+mn-ea"/>
                            <a:ea typeface="+mn-ea"/>
                            <a:sym typeface="Songti SC"/>
                          </a:rPr>
                          <m:t>𝐴</m:t>
                        </m:r>
                      </m:e>
                      <m:sub>
                        <m:r>
                          <a:rPr lang="zh-CN" altLang="en-US" sz="3600" i="1">
                            <a:latin typeface="+mn-ea"/>
                            <a:ea typeface="+mn-ea"/>
                            <a:sym typeface="Songti SC"/>
                          </a:rPr>
                          <m:t>𝑘</m:t>
                        </m:r>
                      </m:sub>
                      <m:sup>
                        <m:d>
                          <m:dPr>
                            <m:ctrlPr>
                              <a:rPr lang="zh-CN" altLang="en-US" sz="3600" i="1">
                                <a:latin typeface="+mn-ea"/>
                                <a:ea typeface="+mn-ea"/>
                                <a:sym typeface="Songti SC"/>
                              </a:rPr>
                            </m:ctrlPr>
                          </m:dPr>
                          <m:e>
                            <m:r>
                              <a:rPr lang="zh-CN" altLang="en-US" sz="3600" i="1">
                                <a:latin typeface="+mn-ea"/>
                                <a:ea typeface="+mn-ea"/>
                                <a:sym typeface="Songti SC"/>
                              </a:rPr>
                              <m:t>2</m:t>
                            </m:r>
                          </m:e>
                        </m:d>
                      </m:sup>
                    </m:sSubSup>
                  </m:oMath>
                </a14:m>
                <a:r>
                  <a:rPr lang="zh-CN" altLang="en-US" sz="3600" dirty="0">
                    <a:latin typeface="+mn-ea"/>
                    <a:ea typeface="+mn-ea"/>
                    <a:cs typeface="Songti SC"/>
                    <a:sym typeface="Songti SC"/>
                  </a:rPr>
                  <a:t> ，而状态转移为</a:t>
                </a:r>
                <a14:m>
                  <m:oMath xmlns:m="http://schemas.openxmlformats.org/officeDocument/2006/math">
                    <m:sSub>
                      <m:sSubPr>
                        <m:ctrlPr>
                          <a:rPr lang="en-US" altLang="zh-CN" sz="3600" i="1" dirty="0">
                            <a:latin typeface="+mn-ea"/>
                            <a:ea typeface="+mn-ea"/>
                            <a:sym typeface="Songti SC"/>
                          </a:rPr>
                        </m:ctrlPr>
                      </m:sSubPr>
                      <m:e>
                        <m:r>
                          <a:rPr lang="en-US" altLang="zh-CN" sz="3600" i="1" dirty="0">
                            <a:latin typeface="+mn-ea"/>
                            <a:ea typeface="+mn-ea"/>
                            <a:sym typeface="Songti SC"/>
                          </a:rPr>
                          <m:t>𝑆</m:t>
                        </m:r>
                      </m:e>
                      <m:sub>
                        <m:r>
                          <a:rPr lang="en-US" altLang="zh-CN" sz="3600" i="1" dirty="0">
                            <a:latin typeface="+mn-ea"/>
                            <a:ea typeface="+mn-ea"/>
                            <a:sym typeface="Songti SC"/>
                          </a:rPr>
                          <m:t>𝑘</m:t>
                        </m:r>
                      </m:sub>
                    </m:sSub>
                  </m:oMath>
                </a14:m>
                <a:r>
                  <a:rPr lang="zh-CN" altLang="en-US" sz="3600" dirty="0">
                    <a:latin typeface="+mn-ea"/>
                    <a:ea typeface="+mn-ea"/>
                    <a:cs typeface="Songti SC"/>
                    <a:sym typeface="Songti SC"/>
                  </a:rPr>
                  <a:t> 。</a:t>
                </a:r>
                <a:endParaRPr lang="en-US" sz="3600" dirty="0">
                  <a:latin typeface="+mn-ea"/>
                  <a:ea typeface="+mn-ea"/>
                </a:endParaRPr>
              </a:p>
            </p:txBody>
          </p:sp>
        </mc:Choice>
        <mc:Fallback>
          <p:sp>
            <p:nvSpPr>
              <p:cNvPr id="2" name="AutoShape 2"/>
              <p:cNvSpPr>
                <a:spLocks noRot="1" noChangeAspect="1" noMove="1" noResize="1" noEditPoints="1" noAdjustHandles="1" noChangeArrowheads="1" noChangeShapeType="1" noTextEdit="1"/>
              </p:cNvSpPr>
              <p:nvPr/>
            </p:nvSpPr>
            <p:spPr>
              <a:xfrm>
                <a:off x="1295400" y="2152176"/>
                <a:ext cx="15582900" cy="6812530"/>
              </a:xfrm>
              <a:prstGeom prst="roundRect">
                <a:avLst>
                  <a:gd name="adj" fmla="val 0"/>
                </a:avLst>
              </a:prstGeom>
              <a:blipFill>
                <a:blip r:embed="rId3"/>
                <a:stretch>
                  <a:fillRect l="-1721" t="-1431" r="-1604"/>
                </a:stretch>
              </a:blipFill>
              <a:ln w="25400" cap="flat" cmpd="sng">
                <a:noFill/>
                <a:prstDash val="solid"/>
                <a:round/>
              </a:ln>
            </p:spPr>
            <p:txBody>
              <a:bodyPr/>
              <a:lstStyle/>
              <a:p>
                <a:r>
                  <a:rPr lang="zh-CN" altLang="en-US">
                    <a:noFill/>
                  </a:rPr>
                  <a:t> </a:t>
                </a:r>
              </a:p>
            </p:txBody>
          </p:sp>
        </mc:Fallback>
      </mc:AlternateContent>
      <p:sp>
        <p:nvSpPr>
          <p:cNvPr id="6" name="AutoShape 6"/>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3784DCF1-98CC-4E3A-80AB-262721943C47}" type="slidenum">
              <a:rPr sz="1400" b="0" i="0" u="none" strike="noStrike">
                <a:solidFill>
                  <a:srgbClr val="FFC000"/>
                </a:solidFill>
                <a:latin typeface="Calibri"/>
                <a:ea typeface="Calibri"/>
                <a:cs typeface="Calibri"/>
                <a:sym typeface="Calibri"/>
              </a:rPr>
              <a:t>15</a:t>
            </a:fld>
            <a:endParaRPr lang="en-US" sz="1100"/>
          </a:p>
        </p:txBody>
      </p:sp>
      <p:sp>
        <p:nvSpPr>
          <p:cNvPr id="16" name="文本框 15">
            <a:extLst>
              <a:ext uri="{FF2B5EF4-FFF2-40B4-BE49-F238E27FC236}">
                <a16:creationId xmlns:a16="http://schemas.microsoft.com/office/drawing/2014/main" id="{481350C7-6FC5-6C6D-41A7-8E2A64850D01}"/>
              </a:ext>
            </a:extLst>
          </p:cNvPr>
          <p:cNvSpPr txBox="1"/>
          <p:nvPr/>
        </p:nvSpPr>
        <p:spPr>
          <a:xfrm>
            <a:off x="8686800" y="4688541"/>
            <a:ext cx="65" cy="215444"/>
          </a:xfrm>
          <a:prstGeom prst="rect">
            <a:avLst/>
          </a:prstGeom>
          <a:noFill/>
        </p:spPr>
        <p:txBody>
          <a:bodyPr wrap="none" lIns="0" tIns="0" rIns="0" bIns="0" rtlCol="0">
            <a:spAutoFit/>
          </a:bodyPr>
          <a:lstStyle/>
          <a:p>
            <a:endParaRPr lang="zh-CN" altLang="en-US" dirty="0"/>
          </a:p>
        </p:txBody>
      </p:sp>
      <p:sp>
        <p:nvSpPr>
          <p:cNvPr id="9" name="AutoShape 29">
            <a:extLst>
              <a:ext uri="{FF2B5EF4-FFF2-40B4-BE49-F238E27FC236}">
                <a16:creationId xmlns:a16="http://schemas.microsoft.com/office/drawing/2014/main" id="{0AEEFACB-3D60-2191-7A57-BB1F52FD89B3}"/>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4" name="Picture 30">
            <a:extLst>
              <a:ext uri="{FF2B5EF4-FFF2-40B4-BE49-F238E27FC236}">
                <a16:creationId xmlns:a16="http://schemas.microsoft.com/office/drawing/2014/main" id="{2C9612F7-95CC-5ECE-CDF6-8418234015F6}"/>
              </a:ext>
            </a:extLst>
          </p:cNvPr>
          <p:cNvPicPr>
            <a:picLocks noChangeAspect="1"/>
          </p:cNvPicPr>
          <p:nvPr/>
        </p:nvPicPr>
        <p:blipFill>
          <a:blip r:embed="rId4"/>
          <a:srcRect/>
          <a:stretch>
            <a:fillRect/>
          </a:stretch>
        </p:blipFill>
        <p:spPr>
          <a:xfrm>
            <a:off x="13488377" y="1079500"/>
            <a:ext cx="2768600" cy="50800"/>
          </a:xfrm>
          <a:prstGeom prst="rect">
            <a:avLst/>
          </a:prstGeom>
          <a:noFill/>
          <a:ln w="25400" cap="flat" cmpd="sng">
            <a:noFill/>
            <a:prstDash val="solid"/>
            <a:round/>
          </a:ln>
        </p:spPr>
      </p:pic>
      <p:sp>
        <p:nvSpPr>
          <p:cNvPr id="17" name="Freeform 7">
            <a:extLst>
              <a:ext uri="{FF2B5EF4-FFF2-40B4-BE49-F238E27FC236}">
                <a16:creationId xmlns:a16="http://schemas.microsoft.com/office/drawing/2014/main" id="{A5B6C996-E142-6A73-88B0-13B21C6329D3}"/>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9" name="AutoShape 8">
            <a:extLst>
              <a:ext uri="{FF2B5EF4-FFF2-40B4-BE49-F238E27FC236}">
                <a16:creationId xmlns:a16="http://schemas.microsoft.com/office/drawing/2014/main" id="{C2B616AC-E08A-A77D-A554-7097FE81F6F8}"/>
              </a:ext>
            </a:extLst>
          </p:cNvPr>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1" name="AutoShape 10">
            <a:extLst>
              <a:ext uri="{FF2B5EF4-FFF2-40B4-BE49-F238E27FC236}">
                <a16:creationId xmlns:a16="http://schemas.microsoft.com/office/drawing/2014/main" id="{65E6759C-59AD-BC7C-4063-C4A4A0E17BB2}"/>
              </a:ext>
            </a:extLst>
          </p:cNvPr>
          <p:cNvSpPr/>
          <p:nvPr/>
        </p:nvSpPr>
        <p:spPr>
          <a:xfrm>
            <a:off x="1397975" y="423139"/>
            <a:ext cx="1778000" cy="7747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Times New Roman"/>
              </a:rPr>
              <a:t>5.2.2</a:t>
            </a:r>
            <a:endPar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endParaRPr>
          </a:p>
        </p:txBody>
      </p:sp>
      <p:pic>
        <p:nvPicPr>
          <p:cNvPr id="23" name="Picture 11">
            <a:extLst>
              <a:ext uri="{FF2B5EF4-FFF2-40B4-BE49-F238E27FC236}">
                <a16:creationId xmlns:a16="http://schemas.microsoft.com/office/drawing/2014/main" id="{E3D6D5D2-5322-DC5C-760E-9F15E9BF48A0}"/>
              </a:ext>
            </a:extLst>
          </p:cNvPr>
          <p:cNvPicPr>
            <a:picLocks noChangeAspect="1"/>
          </p:cNvPicPr>
          <p:nvPr/>
        </p:nvPicPr>
        <p:blipFill>
          <a:blip r:embed="rId5">
            <a:alphaModFix amt="80000"/>
          </a:blip>
          <a:srcRect l="536" r="536"/>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25" name="AutoShape 5">
            <a:extLst>
              <a:ext uri="{FF2B5EF4-FFF2-40B4-BE49-F238E27FC236}">
                <a16:creationId xmlns:a16="http://schemas.microsoft.com/office/drawing/2014/main" id="{C7BE7087-8A77-7F89-1687-AC22E54E0266}"/>
              </a:ext>
            </a:extLst>
          </p:cNvPr>
          <p:cNvSpPr/>
          <p:nvPr/>
        </p:nvSpPr>
        <p:spPr>
          <a:xfrm>
            <a:off x="2944200" y="461239"/>
            <a:ext cx="9461500" cy="1076398"/>
          </a:xfrm>
          <a:prstGeom prst="rect">
            <a:avLst/>
          </a:prstGeom>
          <a:noFill/>
          <a:ln w="19050" cap="flat" cmpd="sng">
            <a:noFill/>
            <a:prstDash val="solid"/>
            <a:round/>
          </a:ln>
        </p:spPr>
        <p:txBody>
          <a:bodyPr vert="horz" wrap="square" lIns="0" tIns="0" rIns="0" bIns="0" rtlCol="0" anchor="t" anchorCtr="0"/>
          <a:lstStyle/>
          <a:p>
            <a:pPr>
              <a:lnSpc>
                <a:spcPts val="5600"/>
              </a:lnSpc>
            </a:pPr>
            <a:r>
              <a:rPr lang="en-US" altLang="zh-CN" sz="4000" b="1" kern="1200" dirty="0" err="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序列密码的组成</a:t>
            </a:r>
            <a:endParaRPr lang="en-US" altLang="zh-CN"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a:extLst>
            <a:ext uri="{FF2B5EF4-FFF2-40B4-BE49-F238E27FC236}">
              <a16:creationId xmlns:a16="http://schemas.microsoft.com/office/drawing/2014/main" id="{B2E857F5-77B8-66C2-70AD-92D2225FACDD}"/>
            </a:ext>
          </a:extLst>
        </p:cNvPr>
        <p:cNvGrpSpPr/>
        <p:nvPr/>
      </p:nvGrpSpPr>
      <p:grpSpPr>
        <a:xfrm>
          <a:off x="0" y="0"/>
          <a:ext cx="0" cy="0"/>
          <a:chOff x="0" y="0"/>
          <a:chExt cx="0" cy="0"/>
        </a:xfrm>
      </p:grpSpPr>
      <p:pic>
        <p:nvPicPr>
          <p:cNvPr id="3" name="Picture 3">
            <a:extLst>
              <a:ext uri="{FF2B5EF4-FFF2-40B4-BE49-F238E27FC236}">
                <a16:creationId xmlns:a16="http://schemas.microsoft.com/office/drawing/2014/main" id="{CF245BEA-0F81-0781-B549-1CE4C497BE3F}"/>
              </a:ext>
            </a:extLst>
          </p:cNvPr>
          <p:cNvPicPr>
            <a:picLocks noChangeAspect="1"/>
          </p:cNvPicPr>
          <p:nvPr/>
        </p:nvPicPr>
        <p:blipFill>
          <a:blip r:embed="rId3"/>
          <a:srcRect l="73" r="73"/>
          <a:stretch>
            <a:fillRect/>
          </a:stretch>
        </p:blipFill>
        <p:spPr>
          <a:xfrm>
            <a:off x="1058046" y="2073980"/>
            <a:ext cx="7628754" cy="4720292"/>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4" name="AutoShape 4">
                <a:extLst>
                  <a:ext uri="{FF2B5EF4-FFF2-40B4-BE49-F238E27FC236}">
                    <a16:creationId xmlns:a16="http://schemas.microsoft.com/office/drawing/2014/main" id="{17916D83-1373-DA85-9F51-C5B706BD7AB3}"/>
                  </a:ext>
                </a:extLst>
              </p:cNvPr>
              <p:cNvSpPr/>
              <p:nvPr/>
            </p:nvSpPr>
            <p:spPr>
              <a:xfrm>
                <a:off x="8559800" y="1558998"/>
                <a:ext cx="8763000" cy="7301120"/>
              </a:xfrm>
              <a:prstGeom prst="roundRect">
                <a:avLst>
                  <a:gd name="adj" fmla="val 0"/>
                </a:avLst>
              </a:prstGeom>
              <a:noFill/>
              <a:ln w="25400" cap="flat" cmpd="sng">
                <a:noFill/>
                <a:prstDash val="solid"/>
                <a:round/>
              </a:ln>
            </p:spPr>
            <p:txBody>
              <a:bodyPr vert="horz" wrap="square" lIns="190500" tIns="127000" rIns="190500" bIns="127000" rtlCol="0" anchor="ctr" anchorCtr="0"/>
              <a:lstStyle/>
              <a:p>
                <a:pPr indent="457200" algn="just" latinLnBrk="1">
                  <a:defRPr/>
                </a:pPr>
                <a:r>
                  <a:rPr lang="zh-CN" altLang="en-US" sz="3600" dirty="0">
                    <a:solidFill>
                      <a:schemeClr val="tx1"/>
                    </a:solidFill>
                    <a:latin typeface="宋体" panose="02010600030101010101" pitchFamily="2" charset="-122"/>
                    <a:ea typeface="宋体" panose="02010600030101010101" pitchFamily="2" charset="-122"/>
                    <a:cs typeface="仿宋"/>
                    <a:sym typeface="仿宋"/>
                  </a:rPr>
                  <a:t>有限状态自动机可用有向图表示，称为转移图。转移图的顶点对应自动机的状态，若状态</a:t>
                </a:r>
                <a14:m>
                  <m:oMath xmlns:m="http://schemas.openxmlformats.org/officeDocument/2006/math">
                    <m:sSub>
                      <m:sSubPr>
                        <m:ctrlPr>
                          <a:rPr lang="en-US" altLang="zh-CN" sz="3600" i="1">
                            <a:latin typeface="Cambria Math" panose="02040503050406030204" pitchFamily="18" charset="0"/>
                            <a:sym typeface="Songti SC"/>
                          </a:rPr>
                        </m:ctrlPr>
                      </m:sSubPr>
                      <m:e>
                        <m:r>
                          <m:rPr>
                            <m:sty m:val="p"/>
                          </m:rPr>
                          <a:rPr lang="en-US" altLang="zh-CN" sz="3600" i="1">
                            <a:latin typeface="Cambria Math" panose="02040503050406030204" pitchFamily="18" charset="0"/>
                            <a:sym typeface="Songti SC"/>
                          </a:rPr>
                          <m:t>S</m:t>
                        </m:r>
                      </m:e>
                      <m:sub>
                        <m:r>
                          <a:rPr lang="zh-CN" altLang="en-US" sz="3600" i="1">
                            <a:latin typeface="Cambria Math" panose="02040503050406030204" pitchFamily="18" charset="0"/>
                            <a:sym typeface="Songti SC"/>
                          </a:rPr>
                          <m:t>𝑖</m:t>
                        </m:r>
                      </m:sub>
                    </m:sSub>
                  </m:oMath>
                </a14:m>
                <a:r>
                  <a:rPr lang="zh-CN" altLang="en-US" sz="3600" dirty="0">
                    <a:solidFill>
                      <a:schemeClr val="tx1"/>
                    </a:solidFill>
                    <a:latin typeface="宋体" panose="02010600030101010101" pitchFamily="2" charset="-122"/>
                    <a:ea typeface="宋体" panose="02010600030101010101" pitchFamily="2" charset="-122"/>
                    <a:cs typeface="仿宋"/>
                    <a:sym typeface="仿宋"/>
                  </a:rPr>
                  <a:t>在输入</a:t>
                </a:r>
                <a14:m>
                  <m:oMath xmlns:m="http://schemas.openxmlformats.org/officeDocument/2006/math">
                    <m:sSubSup>
                      <m:sSubSupPr>
                        <m:ctrlPr>
                          <a:rPr lang="zh-CN" altLang="en-US" sz="3600" i="1">
                            <a:latin typeface="Cambria Math" panose="02040503050406030204" pitchFamily="18" charset="0"/>
                            <a:sym typeface="Songti SC"/>
                          </a:rPr>
                        </m:ctrlPr>
                      </m:sSubSupPr>
                      <m:e>
                        <m:r>
                          <a:rPr lang="zh-CN" altLang="en-US" sz="3600" i="1">
                            <a:latin typeface="Cambria Math" panose="02040503050406030204" pitchFamily="18" charset="0"/>
                            <a:sym typeface="Songti SC"/>
                          </a:rPr>
                          <m:t>𝐴</m:t>
                        </m:r>
                      </m:e>
                      <m:sub>
                        <m:acc>
                          <m:accPr>
                            <m:chr m:val="̇"/>
                            <m:ctrlPr>
                              <a:rPr lang="zh-CN" altLang="en-US" sz="3600" i="1">
                                <a:latin typeface="Cambria Math" panose="02040503050406030204" pitchFamily="18" charset="0"/>
                                <a:sym typeface="Songti SC"/>
                              </a:rPr>
                            </m:ctrlPr>
                          </m:accPr>
                          <m:e>
                            <m:r>
                              <a:rPr lang="zh-CN" altLang="en-US" sz="3600" i="1">
                                <a:latin typeface="Cambria Math" panose="02040503050406030204" pitchFamily="18" charset="0"/>
                                <a:sym typeface="Songti SC"/>
                              </a:rPr>
                              <m:t>𝐽</m:t>
                            </m:r>
                          </m:e>
                        </m:acc>
                      </m:sub>
                      <m:sup>
                        <m:d>
                          <m:dPr>
                            <m:ctrlPr>
                              <a:rPr lang="zh-CN" altLang="en-US" sz="3600" i="1">
                                <a:latin typeface="Cambria Math" panose="02040503050406030204" pitchFamily="18" charset="0"/>
                                <a:sym typeface="Songti SC"/>
                              </a:rPr>
                            </m:ctrlPr>
                          </m:dPr>
                          <m:e>
                            <m:r>
                              <a:rPr lang="zh-CN" altLang="en-US" sz="3600" i="1">
                                <a:latin typeface="Cambria Math" panose="02040503050406030204" pitchFamily="18" charset="0"/>
                                <a:sym typeface="Songti SC"/>
                              </a:rPr>
                              <m:t>1</m:t>
                            </m:r>
                          </m:e>
                        </m:d>
                      </m:sup>
                    </m:sSubSup>
                  </m:oMath>
                </a14:m>
                <a:r>
                  <a:rPr lang="zh-CN" altLang="en-US" sz="3600" dirty="0">
                    <a:solidFill>
                      <a:schemeClr val="tx1"/>
                    </a:solidFill>
                    <a:latin typeface="宋体" panose="02010600030101010101" pitchFamily="2" charset="-122"/>
                    <a:ea typeface="宋体" panose="02010600030101010101" pitchFamily="2" charset="-122"/>
                    <a:cs typeface="仿宋"/>
                    <a:sym typeface="仿宋"/>
                  </a:rPr>
                  <a:t>时转为状态</a:t>
                </a:r>
                <a14:m>
                  <m:oMath xmlns:m="http://schemas.openxmlformats.org/officeDocument/2006/math">
                    <m:sSub>
                      <m:sSubPr>
                        <m:ctrlPr>
                          <a:rPr lang="en-US" altLang="zh-CN" sz="3600" i="1" dirty="0">
                            <a:latin typeface="Cambria Math" panose="02040503050406030204" pitchFamily="18" charset="0"/>
                            <a:sym typeface="Songti SC"/>
                          </a:rPr>
                        </m:ctrlPr>
                      </m:sSubPr>
                      <m:e>
                        <m:r>
                          <a:rPr lang="en-US" altLang="zh-CN" sz="3600" i="1" dirty="0">
                            <a:latin typeface="Cambria Math" panose="02040503050406030204" pitchFamily="18" charset="0"/>
                            <a:sym typeface="Songti SC"/>
                          </a:rPr>
                          <m:t>𝑆</m:t>
                        </m:r>
                      </m:e>
                      <m:sub>
                        <m:r>
                          <a:rPr lang="en-US" altLang="zh-CN" sz="3600" i="1" dirty="0">
                            <a:latin typeface="Cambria Math" panose="02040503050406030204" pitchFamily="18" charset="0"/>
                            <a:sym typeface="Songti SC"/>
                          </a:rPr>
                          <m:t>𝑘</m:t>
                        </m:r>
                      </m:sub>
                    </m:sSub>
                    <m:r>
                      <a:rPr lang="en-US" altLang="zh-CN" sz="3600" i="1" dirty="0">
                        <a:latin typeface="Cambria Math" panose="02040503050406030204" pitchFamily="18" charset="0"/>
                        <a:sym typeface="Songti SC"/>
                      </a:rPr>
                      <m:t> </m:t>
                    </m:r>
                  </m:oMath>
                </a14:m>
                <a:r>
                  <a:rPr lang="zh-CN" altLang="en-US" sz="3600" dirty="0">
                    <a:solidFill>
                      <a:schemeClr val="tx1"/>
                    </a:solidFill>
                    <a:latin typeface="宋体" panose="02010600030101010101" pitchFamily="2" charset="-122"/>
                    <a:ea typeface="宋体" panose="02010600030101010101" pitchFamily="2" charset="-122"/>
                    <a:cs typeface="仿宋"/>
                    <a:sym typeface="仿宋"/>
                  </a:rPr>
                  <a:t>，且输出字符</a:t>
                </a:r>
                <a14:m>
                  <m:oMath xmlns:m="http://schemas.openxmlformats.org/officeDocument/2006/math">
                    <m:sSubSup>
                      <m:sSubSupPr>
                        <m:ctrlPr>
                          <a:rPr lang="zh-CN" altLang="en-US" sz="3600" i="1">
                            <a:latin typeface="Cambria Math" panose="02040503050406030204" pitchFamily="18" charset="0"/>
                            <a:sym typeface="Songti SC"/>
                          </a:rPr>
                        </m:ctrlPr>
                      </m:sSubSupPr>
                      <m:e>
                        <m:r>
                          <a:rPr lang="zh-CN" altLang="en-US" sz="3600" i="1">
                            <a:latin typeface="Cambria Math" panose="02040503050406030204" pitchFamily="18" charset="0"/>
                            <a:sym typeface="Songti SC"/>
                          </a:rPr>
                          <m:t>𝐴</m:t>
                        </m:r>
                      </m:e>
                      <m:sub>
                        <m:r>
                          <a:rPr lang="zh-CN" altLang="en-US" sz="3600" i="1">
                            <a:latin typeface="Cambria Math" panose="02040503050406030204" pitchFamily="18" charset="0"/>
                            <a:sym typeface="Songti SC"/>
                          </a:rPr>
                          <m:t>𝑘</m:t>
                        </m:r>
                      </m:sub>
                      <m:sup>
                        <m:d>
                          <m:dPr>
                            <m:ctrlPr>
                              <a:rPr lang="zh-CN" altLang="en-US" sz="3600" i="1">
                                <a:latin typeface="Cambria Math" panose="02040503050406030204" pitchFamily="18" charset="0"/>
                                <a:sym typeface="Songti SC"/>
                              </a:rPr>
                            </m:ctrlPr>
                          </m:dPr>
                          <m:e>
                            <m:r>
                              <a:rPr lang="zh-CN" altLang="en-US" sz="3600" i="1">
                                <a:latin typeface="Cambria Math" panose="02040503050406030204" pitchFamily="18" charset="0"/>
                                <a:sym typeface="Songti SC"/>
                              </a:rPr>
                              <m:t>2</m:t>
                            </m:r>
                          </m:e>
                        </m:d>
                      </m:sup>
                    </m:sSubSup>
                    <m:r>
                      <a:rPr lang="zh-CN" altLang="en-US" sz="3600" i="1">
                        <a:latin typeface="Cambria Math" panose="02040503050406030204" pitchFamily="18" charset="0"/>
                        <a:sym typeface="Songti SC"/>
                      </a:rPr>
                      <m:t> </m:t>
                    </m:r>
                  </m:oMath>
                </a14:m>
                <a:r>
                  <a:rPr lang="zh-CN" altLang="en-US" sz="3600" dirty="0">
                    <a:solidFill>
                      <a:schemeClr val="tx1"/>
                    </a:solidFill>
                    <a:latin typeface="宋体" panose="02010600030101010101" pitchFamily="2" charset="-122"/>
                    <a:ea typeface="宋体" panose="02010600030101010101" pitchFamily="2" charset="-122"/>
                    <a:cs typeface="仿宋"/>
                    <a:sym typeface="仿宋"/>
                  </a:rPr>
                  <a:t>，则在转移图中，从状态</a:t>
                </a:r>
                <a14:m>
                  <m:oMath xmlns:m="http://schemas.openxmlformats.org/officeDocument/2006/math">
                    <m:sSub>
                      <m:sSubPr>
                        <m:ctrlPr>
                          <a:rPr lang="en-US" altLang="zh-CN" sz="3600" i="1">
                            <a:latin typeface="Cambria Math" panose="02040503050406030204" pitchFamily="18" charset="0"/>
                            <a:sym typeface="Songti SC"/>
                          </a:rPr>
                        </m:ctrlPr>
                      </m:sSubPr>
                      <m:e>
                        <m:r>
                          <m:rPr>
                            <m:sty m:val="p"/>
                          </m:rPr>
                          <a:rPr lang="en-US" altLang="zh-CN" sz="3600" i="1">
                            <a:latin typeface="Cambria Math" panose="02040503050406030204" pitchFamily="18" charset="0"/>
                            <a:sym typeface="Songti SC"/>
                          </a:rPr>
                          <m:t>S</m:t>
                        </m:r>
                      </m:e>
                      <m:sub>
                        <m:r>
                          <a:rPr lang="zh-CN" altLang="en-US" sz="3600" i="1">
                            <a:latin typeface="Cambria Math" panose="02040503050406030204" pitchFamily="18" charset="0"/>
                            <a:sym typeface="Songti SC"/>
                          </a:rPr>
                          <m:t>𝑖</m:t>
                        </m:r>
                      </m:sub>
                    </m:sSub>
                  </m:oMath>
                </a14:m>
                <a:r>
                  <a:rPr lang="zh-CN" altLang="en-US" sz="3600" dirty="0">
                    <a:solidFill>
                      <a:schemeClr val="tx1"/>
                    </a:solidFill>
                    <a:latin typeface="宋体" panose="02010600030101010101" pitchFamily="2" charset="-122"/>
                    <a:ea typeface="宋体" panose="02010600030101010101" pitchFamily="2" charset="-122"/>
                    <a:cs typeface="仿宋"/>
                    <a:sym typeface="仿宋"/>
                  </a:rPr>
                  <a:t>到状态</a:t>
                </a:r>
                <a14:m>
                  <m:oMath xmlns:m="http://schemas.openxmlformats.org/officeDocument/2006/math">
                    <m:sSub>
                      <m:sSubPr>
                        <m:ctrlPr>
                          <a:rPr lang="en-US" altLang="zh-CN" sz="3600" i="1">
                            <a:latin typeface="Cambria Math" panose="02040503050406030204" pitchFamily="18" charset="0"/>
                            <a:sym typeface="Songti SC"/>
                          </a:rPr>
                        </m:ctrlPr>
                      </m:sSubPr>
                      <m:e>
                        <m:r>
                          <m:rPr>
                            <m:sty m:val="p"/>
                          </m:rPr>
                          <a:rPr lang="en-US" altLang="zh-CN" sz="3600" i="1">
                            <a:latin typeface="Cambria Math" panose="02040503050406030204" pitchFamily="18" charset="0"/>
                            <a:sym typeface="Songti SC"/>
                          </a:rPr>
                          <m:t>S</m:t>
                        </m:r>
                      </m:e>
                      <m:sub>
                        <m:r>
                          <m:rPr>
                            <m:sty m:val="p"/>
                          </m:rPr>
                          <a:rPr lang="en-US" altLang="zh-CN" sz="3600" b="0" i="1" smtClean="0">
                            <a:latin typeface="Cambria Math" panose="02040503050406030204" pitchFamily="18" charset="0"/>
                            <a:sym typeface="Songti SC"/>
                          </a:rPr>
                          <m:t>j</m:t>
                        </m:r>
                      </m:sub>
                    </m:sSub>
                  </m:oMath>
                </a14:m>
                <a:r>
                  <a:rPr lang="zh-CN" altLang="en-US" sz="3600" dirty="0">
                    <a:solidFill>
                      <a:schemeClr val="tx1"/>
                    </a:solidFill>
                    <a:latin typeface="宋体" panose="02010600030101010101" pitchFamily="2" charset="-122"/>
                    <a:ea typeface="宋体" panose="02010600030101010101" pitchFamily="2" charset="-122"/>
                    <a:cs typeface="仿宋"/>
                    <a:sym typeface="仿宋"/>
                  </a:rPr>
                  <a:t>有一条标有</a:t>
                </a:r>
                <a:r>
                  <a:rPr lang="en-US" altLang="zh-CN" sz="3600" dirty="0">
                    <a:solidFill>
                      <a:schemeClr val="tx1"/>
                    </a:solidFill>
                    <a:latin typeface="宋体" panose="02010600030101010101" pitchFamily="2" charset="-122"/>
                    <a:ea typeface="宋体" panose="02010600030101010101" pitchFamily="2" charset="-122"/>
                    <a:cs typeface="仿宋"/>
                    <a:sym typeface="仿宋"/>
                  </a:rPr>
                  <a:t>(</a:t>
                </a:r>
                <a14:m>
                  <m:oMath xmlns:m="http://schemas.openxmlformats.org/officeDocument/2006/math">
                    <m:sSubSup>
                      <m:sSubSupPr>
                        <m:ctrlPr>
                          <a:rPr lang="zh-CN" altLang="en-US" sz="3600" i="1">
                            <a:latin typeface="Cambria Math" panose="02040503050406030204" pitchFamily="18" charset="0"/>
                            <a:sym typeface="Songti SC"/>
                          </a:rPr>
                        </m:ctrlPr>
                      </m:sSubSupPr>
                      <m:e>
                        <m:r>
                          <a:rPr lang="zh-CN" altLang="en-US" sz="3600" i="1">
                            <a:latin typeface="Cambria Math" panose="02040503050406030204" pitchFamily="18" charset="0"/>
                            <a:sym typeface="Songti SC"/>
                          </a:rPr>
                          <m:t>𝐴</m:t>
                        </m:r>
                      </m:e>
                      <m:sub>
                        <m:acc>
                          <m:accPr>
                            <m:chr m:val="̇"/>
                            <m:ctrlPr>
                              <a:rPr lang="zh-CN" altLang="en-US" sz="3600" i="1">
                                <a:latin typeface="Cambria Math" panose="02040503050406030204" pitchFamily="18" charset="0"/>
                                <a:sym typeface="Songti SC"/>
                              </a:rPr>
                            </m:ctrlPr>
                          </m:accPr>
                          <m:e>
                            <m:r>
                              <a:rPr lang="zh-CN" altLang="en-US" sz="3600" i="1">
                                <a:latin typeface="Cambria Math" panose="02040503050406030204" pitchFamily="18" charset="0"/>
                                <a:sym typeface="Songti SC"/>
                              </a:rPr>
                              <m:t>𝐽</m:t>
                            </m:r>
                          </m:e>
                        </m:acc>
                      </m:sub>
                      <m:sup>
                        <m:d>
                          <m:dPr>
                            <m:ctrlPr>
                              <a:rPr lang="zh-CN" altLang="en-US" sz="3600" i="1">
                                <a:latin typeface="Cambria Math" panose="02040503050406030204" pitchFamily="18" charset="0"/>
                                <a:sym typeface="Songti SC"/>
                              </a:rPr>
                            </m:ctrlPr>
                          </m:dPr>
                          <m:e>
                            <m:r>
                              <a:rPr lang="zh-CN" altLang="en-US" sz="3600" i="1">
                                <a:latin typeface="Cambria Math" panose="02040503050406030204" pitchFamily="18" charset="0"/>
                                <a:sym typeface="Songti SC"/>
                              </a:rPr>
                              <m:t>1</m:t>
                            </m:r>
                          </m:e>
                        </m:d>
                      </m:sup>
                    </m:sSubSup>
                    <m:r>
                      <a:rPr lang="en-US" altLang="zh-CN" sz="3600" b="0" i="1" smtClean="0">
                        <a:latin typeface="Cambria Math" panose="02040503050406030204" pitchFamily="18" charset="0"/>
                        <a:sym typeface="Songti SC"/>
                      </a:rPr>
                      <m:t> </m:t>
                    </m:r>
                  </m:oMath>
                </a14:m>
                <a:r>
                  <a:rPr lang="en-US" altLang="zh-CN" sz="3600" dirty="0">
                    <a:solidFill>
                      <a:schemeClr val="tx1"/>
                    </a:solidFill>
                    <a:latin typeface="宋体" panose="02010600030101010101" pitchFamily="2" charset="-122"/>
                    <a:ea typeface="宋体" panose="02010600030101010101" pitchFamily="2" charset="-122"/>
                    <a:cs typeface="仿宋"/>
                    <a:sym typeface="仿宋"/>
                  </a:rPr>
                  <a:t>,</a:t>
                </a:r>
                <a:r>
                  <a:rPr lang="zh-CN" altLang="en-US" sz="3600" dirty="0">
                    <a:sym typeface="Songti SC"/>
                  </a:rPr>
                  <a:t> </a:t>
                </a:r>
                <a14:m>
                  <m:oMath xmlns:m="http://schemas.openxmlformats.org/officeDocument/2006/math">
                    <m:sSubSup>
                      <m:sSubSupPr>
                        <m:ctrlPr>
                          <a:rPr lang="zh-CN" altLang="en-US" sz="3600" i="1">
                            <a:latin typeface="Cambria Math" panose="02040503050406030204" pitchFamily="18" charset="0"/>
                            <a:sym typeface="Songti SC"/>
                          </a:rPr>
                        </m:ctrlPr>
                      </m:sSubSupPr>
                      <m:e>
                        <m:r>
                          <a:rPr lang="zh-CN" altLang="en-US" sz="3600" i="1">
                            <a:latin typeface="Cambria Math" panose="02040503050406030204" pitchFamily="18" charset="0"/>
                            <a:sym typeface="Songti SC"/>
                          </a:rPr>
                          <m:t>𝐴</m:t>
                        </m:r>
                      </m:e>
                      <m:sub>
                        <m:r>
                          <a:rPr lang="zh-CN" altLang="en-US" sz="3600" i="1">
                            <a:latin typeface="Cambria Math" panose="02040503050406030204" pitchFamily="18" charset="0"/>
                            <a:sym typeface="Songti SC"/>
                          </a:rPr>
                          <m:t>𝑘</m:t>
                        </m:r>
                      </m:sub>
                      <m:sup>
                        <m:d>
                          <m:dPr>
                            <m:ctrlPr>
                              <a:rPr lang="zh-CN" altLang="en-US" sz="3600" i="1">
                                <a:latin typeface="Cambria Math" panose="02040503050406030204" pitchFamily="18" charset="0"/>
                                <a:sym typeface="Songti SC"/>
                              </a:rPr>
                            </m:ctrlPr>
                          </m:dPr>
                          <m:e>
                            <m:r>
                              <a:rPr lang="zh-CN" altLang="en-US" sz="3600" i="1">
                                <a:latin typeface="Cambria Math" panose="02040503050406030204" pitchFamily="18" charset="0"/>
                                <a:sym typeface="Songti SC"/>
                              </a:rPr>
                              <m:t>2</m:t>
                            </m:r>
                          </m:e>
                        </m:d>
                      </m:sup>
                    </m:sSubSup>
                  </m:oMath>
                </a14:m>
                <a:r>
                  <a:rPr lang="en-US" altLang="zh-CN" sz="3600" dirty="0">
                    <a:solidFill>
                      <a:schemeClr val="tx1"/>
                    </a:solidFill>
                    <a:latin typeface="宋体" panose="02010600030101010101" pitchFamily="2" charset="-122"/>
                    <a:ea typeface="宋体" panose="02010600030101010101" pitchFamily="2" charset="-122"/>
                    <a:cs typeface="仿宋"/>
                    <a:sym typeface="仿宋"/>
                  </a:rPr>
                  <a:t>)</a:t>
                </a:r>
                <a:r>
                  <a:rPr lang="zh-CN" altLang="en-US" sz="3600" dirty="0">
                    <a:solidFill>
                      <a:schemeClr val="tx1"/>
                    </a:solidFill>
                    <a:latin typeface="宋体" panose="02010600030101010101" pitchFamily="2" charset="-122"/>
                    <a:ea typeface="宋体" panose="02010600030101010101" pitchFamily="2" charset="-122"/>
                    <a:cs typeface="仿宋"/>
                    <a:sym typeface="仿宋"/>
                  </a:rPr>
                  <a:t>的弧线，有限状态自动机的转移图如图</a:t>
                </a:r>
                <a:r>
                  <a:rPr lang="en-US" altLang="zh-CN" sz="3600" dirty="0">
                    <a:solidFill>
                      <a:schemeClr val="tx1"/>
                    </a:solidFill>
                    <a:latin typeface="宋体" panose="02010600030101010101" pitchFamily="2" charset="-122"/>
                    <a:ea typeface="宋体" panose="02010600030101010101" pitchFamily="2" charset="-122"/>
                    <a:cs typeface="仿宋"/>
                    <a:sym typeface="仿宋"/>
                  </a:rPr>
                  <a:t>5.2.2</a:t>
                </a:r>
                <a:r>
                  <a:rPr lang="zh-CN" altLang="en-US" sz="3600" dirty="0">
                    <a:solidFill>
                      <a:schemeClr val="tx1"/>
                    </a:solidFill>
                    <a:latin typeface="宋体" panose="02010600030101010101" pitchFamily="2" charset="-122"/>
                    <a:ea typeface="宋体" panose="02010600030101010101" pitchFamily="2" charset="-122"/>
                    <a:cs typeface="仿宋"/>
                    <a:sym typeface="仿宋"/>
                  </a:rPr>
                  <a:t>所示。</a:t>
                </a:r>
                <a:endParaRPr lang="en-US" sz="3600" i="0" u="none" strike="noStrike" dirty="0">
                  <a:solidFill>
                    <a:schemeClr val="tx1"/>
                  </a:solidFill>
                  <a:latin typeface="宋体" panose="02010600030101010101" pitchFamily="2" charset="-122"/>
                  <a:ea typeface="宋体" panose="02010600030101010101" pitchFamily="2" charset="-122"/>
                  <a:cs typeface="Noto Sans SC"/>
                  <a:sym typeface="Noto Sans SC"/>
                </a:endParaRPr>
              </a:p>
            </p:txBody>
          </p:sp>
        </mc:Choice>
        <mc:Fallback>
          <p:sp>
            <p:nvSpPr>
              <p:cNvPr id="4" name="AutoShape 4">
                <a:extLst>
                  <a:ext uri="{FF2B5EF4-FFF2-40B4-BE49-F238E27FC236}">
                    <a16:creationId xmlns:a16="http://schemas.microsoft.com/office/drawing/2014/main" id="{17916D83-1373-DA85-9F51-C5B706BD7AB3}"/>
                  </a:ext>
                </a:extLst>
              </p:cNvPr>
              <p:cNvSpPr>
                <a:spLocks noRot="1" noChangeAspect="1" noMove="1" noResize="1" noEditPoints="1" noAdjustHandles="1" noChangeArrowheads="1" noChangeShapeType="1" noTextEdit="1"/>
              </p:cNvSpPr>
              <p:nvPr/>
            </p:nvSpPr>
            <p:spPr>
              <a:xfrm>
                <a:off x="8559800" y="1558998"/>
                <a:ext cx="8763000" cy="7301120"/>
              </a:xfrm>
              <a:prstGeom prst="roundRect">
                <a:avLst>
                  <a:gd name="adj" fmla="val 0"/>
                </a:avLst>
              </a:prstGeom>
              <a:blipFill>
                <a:blip r:embed="rId4"/>
                <a:stretch>
                  <a:fillRect l="-974" r="-6259"/>
                </a:stretch>
              </a:blipFill>
              <a:ln w="25400" cap="flat" cmpd="sng">
                <a:noFill/>
                <a:prstDash val="solid"/>
                <a:round/>
              </a:ln>
            </p:spPr>
            <p:txBody>
              <a:bodyPr/>
              <a:lstStyle/>
              <a:p>
                <a:r>
                  <a:rPr lang="zh-CN" altLang="en-US">
                    <a:noFill/>
                  </a:rPr>
                  <a:t> </a:t>
                </a:r>
              </a:p>
            </p:txBody>
          </p:sp>
        </mc:Fallback>
      </mc:AlternateContent>
      <p:sp>
        <p:nvSpPr>
          <p:cNvPr id="5" name="AutoShape 5">
            <a:extLst>
              <a:ext uri="{FF2B5EF4-FFF2-40B4-BE49-F238E27FC236}">
                <a16:creationId xmlns:a16="http://schemas.microsoft.com/office/drawing/2014/main" id="{CB7B5F87-7144-F707-6EC6-0E7945368001}"/>
              </a:ext>
            </a:extLst>
          </p:cNvPr>
          <p:cNvSpPr/>
          <p:nvPr/>
        </p:nvSpPr>
        <p:spPr>
          <a:xfrm>
            <a:off x="495300" y="7225096"/>
            <a:ext cx="7620000" cy="444500"/>
          </a:xfrm>
          <a:prstGeom prst="rect">
            <a:avLst/>
          </a:prstGeom>
          <a:noFill/>
          <a:ln w="19050" cap="flat" cmpd="sng">
            <a:noFill/>
            <a:prstDash val="solid"/>
            <a:round/>
          </a:ln>
        </p:spPr>
        <p:txBody>
          <a:bodyPr vert="horz" wrap="square" lIns="88900" tIns="50800" rIns="88900" bIns="50800" rtlCol="0" anchor="t" anchorCtr="0"/>
          <a:lstStyle/>
          <a:p>
            <a:pPr marL="0" indent="0" algn="ctr">
              <a:lnSpc>
                <a:spcPct val="100000"/>
              </a:lnSpc>
              <a:defRPr/>
            </a:pPr>
            <a:r>
              <a:rPr lang="en-US" sz="1800" b="0" i="0" u="none" strike="noStrike" dirty="0">
                <a:solidFill>
                  <a:srgbClr val="000000"/>
                </a:solidFill>
                <a:latin typeface="+mn-ea"/>
                <a:ea typeface="+mn-ea"/>
                <a:cs typeface="Songti SC"/>
                <a:sym typeface="Songti SC"/>
              </a:rPr>
              <a:t>图5.2.2　有限状态自动机的状态转移图示例</a:t>
            </a:r>
            <a:endParaRPr lang="en-US" sz="1800" dirty="0">
              <a:latin typeface="+mn-ea"/>
              <a:ea typeface="+mn-ea"/>
            </a:endParaRPr>
          </a:p>
        </p:txBody>
      </p:sp>
      <p:sp>
        <p:nvSpPr>
          <p:cNvPr id="6" name="AutoShape 6">
            <a:extLst>
              <a:ext uri="{FF2B5EF4-FFF2-40B4-BE49-F238E27FC236}">
                <a16:creationId xmlns:a16="http://schemas.microsoft.com/office/drawing/2014/main" id="{2EA11CF7-6AF5-5F89-633C-DB3ECD0DC199}"/>
              </a:ext>
            </a:extLst>
          </p:cNvPr>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3784DCF1-98CC-4E3A-80AB-262721943C47}" type="slidenum">
              <a:rPr sz="1400" b="0" i="0" u="none" strike="noStrike">
                <a:solidFill>
                  <a:srgbClr val="FFC000"/>
                </a:solidFill>
                <a:latin typeface="Calibri"/>
                <a:ea typeface="Calibri"/>
                <a:cs typeface="Calibri"/>
                <a:sym typeface="Calibri"/>
              </a:rPr>
              <a:t>16</a:t>
            </a:fld>
            <a:endParaRPr lang="en-US" sz="1100"/>
          </a:p>
        </p:txBody>
      </p:sp>
      <p:sp>
        <p:nvSpPr>
          <p:cNvPr id="7" name="Freeform 7">
            <a:extLst>
              <a:ext uri="{FF2B5EF4-FFF2-40B4-BE49-F238E27FC236}">
                <a16:creationId xmlns:a16="http://schemas.microsoft.com/office/drawing/2014/main" id="{584751D9-2B84-B840-7138-510312EC0EEC}"/>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8" name="AutoShape 8">
            <a:extLst>
              <a:ext uri="{FF2B5EF4-FFF2-40B4-BE49-F238E27FC236}">
                <a16:creationId xmlns:a16="http://schemas.microsoft.com/office/drawing/2014/main" id="{40D13CE6-2406-BDA4-B39B-BE6E185D67E3}"/>
              </a:ext>
            </a:extLst>
          </p:cNvPr>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0" name="AutoShape 10">
            <a:extLst>
              <a:ext uri="{FF2B5EF4-FFF2-40B4-BE49-F238E27FC236}">
                <a16:creationId xmlns:a16="http://schemas.microsoft.com/office/drawing/2014/main" id="{43EEFCF4-2F07-C91A-D6A7-0A32C1751856}"/>
              </a:ext>
            </a:extLst>
          </p:cNvPr>
          <p:cNvSpPr/>
          <p:nvPr/>
        </p:nvSpPr>
        <p:spPr>
          <a:xfrm>
            <a:off x="1339237" y="390757"/>
            <a:ext cx="1778000" cy="7747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Times New Roman"/>
              </a:rPr>
              <a:t>5.2.2</a:t>
            </a:r>
            <a:endParaRPr lang="en-US" sz="47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endParaRPr>
          </a:p>
        </p:txBody>
      </p:sp>
      <p:pic>
        <p:nvPicPr>
          <p:cNvPr id="11" name="Picture 11">
            <a:extLst>
              <a:ext uri="{FF2B5EF4-FFF2-40B4-BE49-F238E27FC236}">
                <a16:creationId xmlns:a16="http://schemas.microsoft.com/office/drawing/2014/main" id="{7104402E-1F1C-CAEA-B36E-7363923795D4}"/>
              </a:ext>
            </a:extLst>
          </p:cNvPr>
          <p:cNvPicPr>
            <a:picLocks noChangeAspect="1"/>
          </p:cNvPicPr>
          <p:nvPr/>
        </p:nvPicPr>
        <p:blipFill>
          <a:blip r:embed="rId5">
            <a:alphaModFix amt="80000"/>
          </a:blip>
          <a:srcRect l="536" r="536"/>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16" name="文本框 15">
            <a:extLst>
              <a:ext uri="{FF2B5EF4-FFF2-40B4-BE49-F238E27FC236}">
                <a16:creationId xmlns:a16="http://schemas.microsoft.com/office/drawing/2014/main" id="{154CA679-DBC0-BB85-40D0-97879FCE39A6}"/>
              </a:ext>
            </a:extLst>
          </p:cNvPr>
          <p:cNvSpPr txBox="1"/>
          <p:nvPr/>
        </p:nvSpPr>
        <p:spPr>
          <a:xfrm>
            <a:off x="8686800" y="4688541"/>
            <a:ext cx="65" cy="215444"/>
          </a:xfrm>
          <a:prstGeom prst="rect">
            <a:avLst/>
          </a:prstGeom>
          <a:noFill/>
        </p:spPr>
        <p:txBody>
          <a:bodyPr wrap="none" lIns="0" tIns="0" rIns="0" bIns="0" rtlCol="0">
            <a:spAutoFit/>
          </a:bodyPr>
          <a:lstStyle/>
          <a:p>
            <a:endParaRPr lang="zh-CN" altLang="en-US" dirty="0"/>
          </a:p>
        </p:txBody>
      </p:sp>
      <p:sp>
        <p:nvSpPr>
          <p:cNvPr id="2" name="AutoShape 5">
            <a:extLst>
              <a:ext uri="{FF2B5EF4-FFF2-40B4-BE49-F238E27FC236}">
                <a16:creationId xmlns:a16="http://schemas.microsoft.com/office/drawing/2014/main" id="{7B5DC097-DB99-D3B8-7E83-6712DE54AF5F}"/>
              </a:ext>
            </a:extLst>
          </p:cNvPr>
          <p:cNvSpPr/>
          <p:nvPr/>
        </p:nvSpPr>
        <p:spPr>
          <a:xfrm>
            <a:off x="2915625" y="470217"/>
            <a:ext cx="9461500" cy="1076398"/>
          </a:xfrm>
          <a:prstGeom prst="rect">
            <a:avLst/>
          </a:prstGeom>
          <a:noFill/>
          <a:ln w="19050" cap="flat" cmpd="sng">
            <a:noFill/>
            <a:prstDash val="solid"/>
            <a:round/>
          </a:ln>
        </p:spPr>
        <p:txBody>
          <a:bodyPr vert="horz" wrap="square" lIns="0" tIns="0" rIns="0" bIns="0" rtlCol="0" anchor="t" anchorCtr="0"/>
          <a:lstStyle/>
          <a:p>
            <a:pPr>
              <a:lnSpc>
                <a:spcPts val="5600"/>
              </a:lnSpc>
            </a:pPr>
            <a:r>
              <a:rPr lang="en-US" altLang="zh-CN" sz="4000" b="1" kern="1200" dirty="0" err="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序列密码的组成</a:t>
            </a:r>
            <a:endParaRPr lang="en-US" altLang="zh-CN"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
        <p:nvSpPr>
          <p:cNvPr id="12" name="AutoShape 29">
            <a:extLst>
              <a:ext uri="{FF2B5EF4-FFF2-40B4-BE49-F238E27FC236}">
                <a16:creationId xmlns:a16="http://schemas.microsoft.com/office/drawing/2014/main" id="{EC43676F-1328-232E-D123-78ACC67871C3}"/>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7" name="Picture 30">
            <a:extLst>
              <a:ext uri="{FF2B5EF4-FFF2-40B4-BE49-F238E27FC236}">
                <a16:creationId xmlns:a16="http://schemas.microsoft.com/office/drawing/2014/main" id="{320D5CF8-C3D4-B964-9857-EE46CA64D814}"/>
              </a:ext>
            </a:extLst>
          </p:cNvPr>
          <p:cNvPicPr>
            <a:picLocks noChangeAspect="1"/>
          </p:cNvPicPr>
          <p:nvPr/>
        </p:nvPicPr>
        <p:blipFill>
          <a:blip r:embed="rId6"/>
          <a:srcRect/>
          <a:stretch>
            <a:fillRect/>
          </a:stretch>
        </p:blipFill>
        <p:spPr>
          <a:xfrm>
            <a:off x="13488377" y="1079500"/>
            <a:ext cx="2768600" cy="50800"/>
          </a:xfrm>
          <a:prstGeom prst="rect">
            <a:avLst/>
          </a:prstGeom>
          <a:noFill/>
          <a:ln w="25400" cap="flat" cmpd="sng">
            <a:noFill/>
            <a:prstDash val="solid"/>
            <a:round/>
          </a:ln>
        </p:spPr>
      </p:pic>
    </p:spTree>
    <p:extLst>
      <p:ext uri="{BB962C8B-B14F-4D97-AF65-F5344CB8AC3E}">
        <p14:creationId xmlns:p14="http://schemas.microsoft.com/office/powerpoint/2010/main" val="607900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747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001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4" name="Freeform 4"/>
          <p:cNvSpPr/>
          <p:nvPr/>
        </p:nvSpPr>
        <p:spPr>
          <a:xfrm>
            <a:off x="7747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001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6" name="Freeform 6"/>
          <p:cNvSpPr/>
          <p:nvPr/>
        </p:nvSpPr>
        <p:spPr>
          <a:xfrm>
            <a:off x="7747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01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8" name="Freeform 8"/>
          <p:cNvSpPr/>
          <p:nvPr/>
        </p:nvSpPr>
        <p:spPr>
          <a:xfrm>
            <a:off x="7747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001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0" name="Freeform 10"/>
          <p:cNvSpPr/>
          <p:nvPr/>
        </p:nvSpPr>
        <p:spPr>
          <a:xfrm>
            <a:off x="173355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73482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2" name="Freeform 12"/>
          <p:cNvSpPr/>
          <p:nvPr/>
        </p:nvSpPr>
        <p:spPr>
          <a:xfrm>
            <a:off x="173355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73482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4" name="Freeform 14"/>
          <p:cNvSpPr/>
          <p:nvPr/>
        </p:nvSpPr>
        <p:spPr>
          <a:xfrm>
            <a:off x="173355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73482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6" name="Freeform 16"/>
          <p:cNvSpPr/>
          <p:nvPr/>
        </p:nvSpPr>
        <p:spPr>
          <a:xfrm>
            <a:off x="173355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73482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8" name="Freeform 18"/>
          <p:cNvSpPr/>
          <p:nvPr/>
        </p:nvSpPr>
        <p:spPr>
          <a:xfrm rot="10800000">
            <a:off x="5334000" y="800100"/>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rot="10800000">
            <a:off x="6057900" y="1511300"/>
            <a:ext cx="6184900" cy="61849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0" name="AutoShape 20"/>
          <p:cNvSpPr/>
          <p:nvPr/>
        </p:nvSpPr>
        <p:spPr>
          <a:xfrm>
            <a:off x="7785100" y="2832100"/>
            <a:ext cx="2730500" cy="2006600"/>
          </a:xfrm>
          <a:prstGeom prst="rect">
            <a:avLst/>
          </a:prstGeom>
          <a:noFill/>
          <a:ln w="19050" cap="flat" cmpd="sng">
            <a:noFill/>
            <a:prstDash val="solid"/>
            <a:round/>
          </a:ln>
        </p:spPr>
        <p:txBody>
          <a:bodyPr vert="horz" wrap="square" lIns="0" tIns="0" rIns="0" bIns="0" rtlCol="0" anchor="t" anchorCtr="0"/>
          <a:lstStyle/>
          <a:p>
            <a:pPr marL="0" indent="0" algn="ctr">
              <a:lnSpc>
                <a:spcPts val="17080"/>
              </a:lnSpc>
              <a:defRPr/>
            </a:pPr>
            <a:r>
              <a:rPr lang="en-US" sz="12200" b="0" i="0" u="none" strike="noStrike">
                <a:solidFill>
                  <a:srgbClr val="004AAD"/>
                </a:solidFill>
                <a:latin typeface="Times New Roman"/>
                <a:ea typeface="Times New Roman"/>
                <a:cs typeface="Times New Roman"/>
                <a:sym typeface="Times New Roman"/>
              </a:rPr>
              <a:t>5.3</a:t>
            </a:r>
            <a:endParaRPr lang="en-US" sz="1100"/>
          </a:p>
        </p:txBody>
      </p:sp>
      <p:sp>
        <p:nvSpPr>
          <p:cNvPr id="21" name="AutoShape 21"/>
          <p:cNvSpPr/>
          <p:nvPr/>
        </p:nvSpPr>
        <p:spPr>
          <a:xfrm>
            <a:off x="3429000" y="5143500"/>
            <a:ext cx="11430000" cy="1435100"/>
          </a:xfrm>
          <a:prstGeom prst="rect">
            <a:avLst/>
          </a:prstGeom>
          <a:noFill/>
          <a:ln w="19050" cap="flat" cmpd="sng">
            <a:noFill/>
            <a:prstDash val="solid"/>
            <a:round/>
          </a:ln>
        </p:spPr>
        <p:txBody>
          <a:bodyPr vert="horz" wrap="square" lIns="0" tIns="0" rIns="0" bIns="0" rtlCol="0" anchor="t" anchorCtr="0"/>
          <a:lstStyle/>
          <a:p>
            <a:pPr marL="0" indent="0" algn="ctr">
              <a:lnSpc>
                <a:spcPts val="11200"/>
              </a:lnSpc>
              <a:defRPr/>
            </a:pPr>
            <a:r>
              <a:rPr lang="en-US" sz="9600" b="1" i="0" u="none" strike="noStrike" dirty="0">
                <a:solidFill>
                  <a:srgbClr val="004AAD"/>
                </a:solidFill>
                <a:latin typeface="Times New Roman" panose="02020603050405020304" pitchFamily="18" charset="0"/>
                <a:ea typeface="仿宋"/>
                <a:cs typeface="Times New Roman" panose="02020603050405020304" pitchFamily="18" charset="0"/>
                <a:sym typeface="仿宋"/>
              </a:rPr>
              <a:t>LFSR</a:t>
            </a:r>
            <a:endParaRPr lang="en-US" sz="1100" dirty="0">
              <a:latin typeface="Times New Roman" panose="02020603050405020304" pitchFamily="18" charset="0"/>
              <a:cs typeface="Times New Roman" panose="02020603050405020304" pitchFamily="18" charset="0"/>
            </a:endParaRPr>
          </a:p>
        </p:txBody>
      </p:sp>
      <p:sp>
        <p:nvSpPr>
          <p:cNvPr id="22" name="Freeform 22"/>
          <p:cNvSpPr/>
          <p:nvPr/>
        </p:nvSpPr>
        <p:spPr>
          <a:xfrm>
            <a:off x="-1028700" y="9029700"/>
            <a:ext cx="20887940"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28700" y="9029700"/>
            <a:ext cx="20891500" cy="10922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4" name="Freeform 24"/>
          <p:cNvSpPr/>
          <p:nvPr/>
        </p:nvSpPr>
        <p:spPr>
          <a:xfrm>
            <a:off x="-1295400" y="9182100"/>
            <a:ext cx="2088794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1295400" y="9182100"/>
            <a:ext cx="20891500" cy="12446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6" name="AutoShape 26"/>
          <p:cNvSpPr/>
          <p:nvPr/>
        </p:nvSpPr>
        <p:spPr>
          <a:xfrm>
            <a:off x="15379700" y="95250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D43F4048-66BF-4634-A137-F62DBBCCA2E3}" type="slidenum">
              <a:rPr sz="1400" b="0" i="0" u="none" strike="noStrike">
                <a:solidFill>
                  <a:srgbClr val="FFC000"/>
                </a:solidFill>
                <a:latin typeface="Calibri"/>
                <a:ea typeface="Calibri"/>
                <a:cs typeface="Calibri"/>
                <a:sym typeface="Calibri"/>
              </a:rPr>
              <a:t>17</a:t>
            </a:fld>
            <a:endParaRPr lang="en-US" sz="1100"/>
          </a:p>
        </p:txBody>
      </p:sp>
      <p:sp>
        <p:nvSpPr>
          <p:cNvPr id="30" name="AutoShape 29">
            <a:extLst>
              <a:ext uri="{FF2B5EF4-FFF2-40B4-BE49-F238E27FC236}">
                <a16:creationId xmlns:a16="http://schemas.microsoft.com/office/drawing/2014/main" id="{3E0E8CCA-F6F3-A588-834B-2E67E90ACCE3}"/>
              </a:ext>
            </a:extLst>
          </p:cNvPr>
          <p:cNvSpPr/>
          <p:nvPr/>
        </p:nvSpPr>
        <p:spPr>
          <a:xfrm>
            <a:off x="800100" y="6096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32" name="Picture 30">
            <a:extLst>
              <a:ext uri="{FF2B5EF4-FFF2-40B4-BE49-F238E27FC236}">
                <a16:creationId xmlns:a16="http://schemas.microsoft.com/office/drawing/2014/main" id="{71A99567-6002-2065-2F7A-827F11355D72}"/>
              </a:ext>
            </a:extLst>
          </p:cNvPr>
          <p:cNvPicPr>
            <a:picLocks noChangeAspect="1"/>
          </p:cNvPicPr>
          <p:nvPr/>
        </p:nvPicPr>
        <p:blipFill>
          <a:blip r:embed="rId3"/>
          <a:srcRect/>
          <a:stretch>
            <a:fillRect/>
          </a:stretch>
        </p:blipFill>
        <p:spPr>
          <a:xfrm>
            <a:off x="927100" y="977900"/>
            <a:ext cx="2768600" cy="50800"/>
          </a:xfrm>
          <a:prstGeom prst="rect">
            <a:avLst/>
          </a:prstGeom>
          <a:noFill/>
          <a:ln w="25400" cap="flat" cmpd="sng">
            <a:noFill/>
            <a:prstDash val="solid"/>
            <a:rou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4" name="AutoShape 4"/>
          <p:cNvSpPr/>
          <p:nvPr/>
        </p:nvSpPr>
        <p:spPr>
          <a:xfrm>
            <a:off x="1714500" y="1581150"/>
            <a:ext cx="14820900" cy="8216900"/>
          </a:xfrm>
          <a:prstGeom prst="rect">
            <a:avLst/>
          </a:prstGeom>
          <a:noFill/>
          <a:ln w="19050" cap="flat" cmpd="sng">
            <a:noFill/>
            <a:prstDash val="solid"/>
            <a:round/>
          </a:ln>
        </p:spPr>
        <p:txBody>
          <a:bodyPr vert="horz" wrap="square" lIns="0" tIns="0" rIns="0" bIns="0" rtlCol="0" anchor="t" anchorCtr="0"/>
          <a:lstStyle/>
          <a:p>
            <a:pPr marL="0" indent="914400" algn="just">
              <a:lnSpc>
                <a:spcPct val="116666"/>
              </a:lnSpc>
              <a:defRPr/>
            </a:pP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移位寄存器是序列密码产生密钥流的核心组成部分，也是现代流密码体制中生成伪随机序列的基础构件。在有限域</a:t>
            </a:r>
            <a:r>
              <a:rPr lang="en-US" sz="3600" b="0" i="0" u="none" strike="noStrike"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ongti SC"/>
              </a:rPr>
              <a:t>GF</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上，一个</a:t>
            </a:r>
            <a:r>
              <a:rPr lang="en-US" sz="3600" b="0" i="0" u="none" strike="noStrike"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ongti SC"/>
              </a:rPr>
              <a:t>n</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级线性反馈移位寄存器（</a:t>
            </a:r>
            <a:r>
              <a:rPr lang="en-US" sz="3600" b="0" i="0" u="none" strike="noStrike"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ongti SC"/>
              </a:rPr>
              <a:t>LFSR</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）由</a:t>
            </a:r>
            <a:r>
              <a:rPr lang="en-US" sz="3600" b="0" i="0" u="none" strike="noStrike"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ongti SC"/>
              </a:rPr>
              <a:t>n</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个二元存储单元（触发器）和一个线性反馈函数共同构成，每个存储单元可存储1比特的二元信息（0或1），这些单元被称为移位寄存器的“级”。</a:t>
            </a:r>
            <a:endParaRPr lang="en-US" sz="3600" dirty="0">
              <a:latin typeface="宋体" panose="02010600030101010101" pitchFamily="2" charset="-122"/>
              <a:ea typeface="宋体" panose="02010600030101010101" pitchFamily="2" charset="-122"/>
            </a:endParaRPr>
          </a:p>
          <a:p>
            <a:pPr marL="0" indent="914400" algn="just">
              <a:lnSpc>
                <a:spcPct val="116666"/>
              </a:lnSpc>
            </a:pP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在任意时刻，</a:t>
            </a:r>
            <a:r>
              <a:rPr lang="en-US" sz="3600" b="0" i="0" u="none" strike="noStrike"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ongti SC"/>
              </a:rPr>
              <a:t>n</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级存储单元的比特组合构成该寄存器的“状态”。初始状态由用户预先设定，当移位时钟脉冲触发时，每一级的存储内容会依次向下一级传递；同时，反馈函数会根据当前寄存器的全部状态进行线性运算，生成一个新的比特值，并将其反馈输入到寄存器的最左端，形成新的状态，这一过程循环往复，持续输出可用于加密的密钥流序列。</a:t>
            </a:r>
          </a:p>
          <a:p>
            <a:pPr marL="0" indent="914400" algn="just">
              <a:lnSpc>
                <a:spcPct val="116666"/>
              </a:lnSpc>
            </a:pPr>
            <a:r>
              <a:rPr lang="en-US" sz="3600" b="0" i="0" u="none" strike="noStrike"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ongti SC"/>
              </a:rPr>
              <a:t>LFSR</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的优势在于结构简单、硬件实现效率高且能生成具有良好伪随机性的序列，因此被广泛应用于轻量级加密、通信保密及数字电路测试等领域。</a:t>
            </a:r>
          </a:p>
        </p:txBody>
      </p:sp>
      <p:sp>
        <p:nvSpPr>
          <p:cNvPr id="7" name="AutoShape 7"/>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24D9AF64-4F36-4057-8C46-C9B3B4634D6D}" type="slidenum">
              <a:rPr sz="1400" b="0" i="0" u="none" strike="noStrike">
                <a:solidFill>
                  <a:srgbClr val="FFC000"/>
                </a:solidFill>
                <a:latin typeface="Calibri"/>
                <a:ea typeface="Calibri"/>
                <a:cs typeface="Calibri"/>
                <a:sym typeface="Calibri"/>
              </a:rPr>
              <a:t>18</a:t>
            </a:fld>
            <a:endParaRPr lang="en-US" sz="1100"/>
          </a:p>
        </p:txBody>
      </p:sp>
      <p:sp>
        <p:nvSpPr>
          <p:cNvPr id="12" name="AutoShape 29">
            <a:extLst>
              <a:ext uri="{FF2B5EF4-FFF2-40B4-BE49-F238E27FC236}">
                <a16:creationId xmlns:a16="http://schemas.microsoft.com/office/drawing/2014/main" id="{0BEAA69D-2261-737C-9984-3B858A461E47}"/>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4" name="Picture 30">
            <a:extLst>
              <a:ext uri="{FF2B5EF4-FFF2-40B4-BE49-F238E27FC236}">
                <a16:creationId xmlns:a16="http://schemas.microsoft.com/office/drawing/2014/main" id="{4D73E74D-159A-4A23-4260-529D95F79A14}"/>
              </a:ext>
            </a:extLst>
          </p:cNvPr>
          <p:cNvPicPr>
            <a:picLocks noChangeAspect="1"/>
          </p:cNvPicPr>
          <p:nvPr/>
        </p:nvPicPr>
        <p:blipFill>
          <a:blip r:embed="rId3"/>
          <a:srcRect/>
          <a:stretch>
            <a:fillRect/>
          </a:stretch>
        </p:blipFill>
        <p:spPr>
          <a:xfrm>
            <a:off x="13488377" y="1079500"/>
            <a:ext cx="2768600" cy="50800"/>
          </a:xfrm>
          <a:prstGeom prst="rect">
            <a:avLst/>
          </a:prstGeom>
          <a:noFill/>
          <a:ln w="25400" cap="flat" cmpd="sng">
            <a:noFill/>
            <a:prstDash val="solid"/>
            <a:round/>
          </a:ln>
        </p:spPr>
      </p:pic>
      <p:sp>
        <p:nvSpPr>
          <p:cNvPr id="16" name="Freeform 2">
            <a:extLst>
              <a:ext uri="{FF2B5EF4-FFF2-40B4-BE49-F238E27FC236}">
                <a16:creationId xmlns:a16="http://schemas.microsoft.com/office/drawing/2014/main" id="{BCD6909B-3095-F071-7B8E-E6E727F7C4F7}"/>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8" name="AutoShape 3">
            <a:extLst>
              <a:ext uri="{FF2B5EF4-FFF2-40B4-BE49-F238E27FC236}">
                <a16:creationId xmlns:a16="http://schemas.microsoft.com/office/drawing/2014/main" id="{6677231B-4622-ED1F-8EF7-70E23248165B}"/>
              </a:ext>
            </a:extLst>
          </p:cNvPr>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0" name="AutoShape 6">
            <a:extLst>
              <a:ext uri="{FF2B5EF4-FFF2-40B4-BE49-F238E27FC236}">
                <a16:creationId xmlns:a16="http://schemas.microsoft.com/office/drawing/2014/main" id="{D4B9B695-9DAA-65D0-17BC-F62510AB9CE4}"/>
              </a:ext>
            </a:extLst>
          </p:cNvPr>
          <p:cNvSpPr/>
          <p:nvPr/>
        </p:nvSpPr>
        <p:spPr>
          <a:xfrm>
            <a:off x="1219200" y="396314"/>
            <a:ext cx="1524000" cy="838200"/>
          </a:xfrm>
          <a:prstGeom prst="rect">
            <a:avLst/>
          </a:prstGeom>
          <a:noFill/>
          <a:ln w="19050" cap="flat" cmpd="sng">
            <a:noFill/>
            <a:prstDash val="solid"/>
            <a:round/>
          </a:ln>
        </p:spPr>
        <p:txBody>
          <a:bodyPr vert="horz" wrap="square" lIns="0" tIns="0" rIns="0" bIns="0" rtlCol="0" anchor="t" anchorCtr="0"/>
          <a:lstStyle/>
          <a:p>
            <a:pPr marL="0" indent="0" algn="ctr">
              <a:lnSpc>
                <a:spcPts val="6575"/>
              </a:lnSpc>
              <a:defRPr/>
            </a:pPr>
            <a:r>
              <a:rPr lang="en-US" sz="4700" b="0" i="0" u="none" strike="noStrike"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Times New Roman"/>
                <a:cs typeface="Times New Roman"/>
                <a:sym typeface="Times New Roman"/>
              </a:rPr>
              <a:t>5.3.1</a:t>
            </a:r>
            <a:endParaRPr lang="en-US" sz="4700" dirty="0">
              <a:effectLst>
                <a:outerShdw blurRad="50800" dist="38100" dir="2700000" algn="tl" rotWithShape="0">
                  <a:prstClr val="black">
                    <a:alpha val="40000"/>
                  </a:prstClr>
                </a:outerShdw>
                <a:reflection blurRad="6350" stA="60000" endA="900" endPos="58000" dir="5400000" sy="-100000" algn="bl" rotWithShape="0"/>
              </a:effectLst>
            </a:endParaRPr>
          </a:p>
        </p:txBody>
      </p:sp>
      <p:pic>
        <p:nvPicPr>
          <p:cNvPr id="22" name="Picture 8">
            <a:extLst>
              <a:ext uri="{FF2B5EF4-FFF2-40B4-BE49-F238E27FC236}">
                <a16:creationId xmlns:a16="http://schemas.microsoft.com/office/drawing/2014/main" id="{4BCE0A7D-76F7-3667-5C10-5CFDE34446D4}"/>
              </a:ext>
            </a:extLst>
          </p:cNvPr>
          <p:cNvPicPr>
            <a:picLocks noChangeAspect="1"/>
          </p:cNvPicPr>
          <p:nvPr/>
        </p:nvPicPr>
        <p:blipFill>
          <a:blip r:embed="rId4"/>
          <a:srcRect/>
          <a:stretch>
            <a:fillRect/>
          </a:stretch>
        </p:blipFill>
        <p:spPr>
          <a:xfrm>
            <a:off x="762000" y="495300"/>
            <a:ext cx="1066800" cy="660400"/>
          </a:xfrm>
          <a:prstGeom prst="rect">
            <a:avLst/>
          </a:prstGeom>
          <a:noFill/>
          <a:ln w="19050" cap="flat" cmpd="sng">
            <a:noFill/>
            <a:prstDash val="solid"/>
            <a:round/>
          </a:ln>
        </p:spPr>
      </p:pic>
      <p:sp>
        <p:nvSpPr>
          <p:cNvPr id="24" name="AutoShape 5">
            <a:extLst>
              <a:ext uri="{FF2B5EF4-FFF2-40B4-BE49-F238E27FC236}">
                <a16:creationId xmlns:a16="http://schemas.microsoft.com/office/drawing/2014/main" id="{229645C6-5536-5F17-AC76-CD2FD7D072E8}"/>
              </a:ext>
            </a:extLst>
          </p:cNvPr>
          <p:cNvSpPr/>
          <p:nvPr/>
        </p:nvSpPr>
        <p:spPr>
          <a:xfrm>
            <a:off x="2641600" y="475978"/>
            <a:ext cx="9461500" cy="7239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LFSR</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9" name="AutoShape 9"/>
          <p:cNvSpPr/>
          <p:nvPr/>
        </p:nvSpPr>
        <p:spPr>
          <a:xfrm>
            <a:off x="1562100" y="1263650"/>
            <a:ext cx="15582900" cy="3893529"/>
          </a:xfrm>
          <a:prstGeom prst="roundRect">
            <a:avLst>
              <a:gd name="adj" fmla="val 0"/>
            </a:avLst>
          </a:prstGeom>
          <a:noFill/>
          <a:ln w="25400" cap="flat" cmpd="sng">
            <a:noFill/>
            <a:prstDash val="solid"/>
            <a:round/>
          </a:ln>
        </p:spPr>
        <p:txBody>
          <a:bodyPr vert="horz" wrap="square" lIns="190500" tIns="127000" rIns="190500" bIns="127000" rtlCol="0" anchor="t" anchorCtr="0"/>
          <a:lstStyle/>
          <a:p>
            <a:pPr marL="0" indent="0" algn="just">
              <a:lnSpc>
                <a:spcPct val="116666"/>
              </a:lnSpc>
              <a:defRPr/>
            </a:pPr>
            <a:r>
              <a:rPr lang="en-US" sz="3200" b="0" i="0" u="none" strike="noStrike" dirty="0">
                <a:solidFill>
                  <a:srgbClr val="000000"/>
                </a:solidFill>
                <a:latin typeface="Songti SC"/>
                <a:ea typeface="Songti SC"/>
                <a:cs typeface="Songti SC"/>
                <a:sym typeface="Songti SC"/>
              </a:rPr>
              <a:t>         </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线性反馈移位寄存器（</a:t>
            </a:r>
            <a:r>
              <a:rPr lang="en-US" sz="3600" b="0" i="0" u="none" strike="noStrike"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ongti SC"/>
              </a:rPr>
              <a:t>LFSR</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）是由移位寄存器和线性反馈函数构成的关键时序逻辑电路。若反馈移位寄存器的反馈函数为线性函数，则称其为线性反馈移位寄存器，其反馈信号本质是若干寄存器状态位的模2和（即异或运算）。</a:t>
            </a:r>
            <a:r>
              <a:rPr lang="en-US" sz="3600" b="0" i="0" u="none" strike="noStrike"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ongti SC"/>
              </a:rPr>
              <a:t>LFSR</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凭借硬件实现简单、运行速度快、且拥有成熟的代数理论支撑等显著优势，成为构造序列密码体制中密钥流生成器的核心基础部件，在流密码设计与安全通信领域应用广泛。</a:t>
            </a:r>
            <a:endParaRPr lang="en-US" sz="3600" dirty="0">
              <a:latin typeface="宋体" panose="02010600030101010101" pitchFamily="2" charset="-122"/>
              <a:ea typeface="宋体" panose="02010600030101010101" pitchFamily="2" charset="-122"/>
            </a:endParaRPr>
          </a:p>
        </p:txBody>
      </p:sp>
      <p:pic>
        <p:nvPicPr>
          <p:cNvPr id="10" name="Picture 10"/>
          <p:cNvPicPr>
            <a:picLocks noChangeAspect="1"/>
          </p:cNvPicPr>
          <p:nvPr/>
        </p:nvPicPr>
        <p:blipFill>
          <a:blip r:embed="rId3"/>
          <a:srcRect t="149" b="149"/>
          <a:stretch>
            <a:fillRect/>
          </a:stretch>
        </p:blipFill>
        <p:spPr>
          <a:xfrm>
            <a:off x="4616823" y="5680564"/>
            <a:ext cx="9054353" cy="3206750"/>
          </a:xfrm>
          <a:prstGeom prst="rect">
            <a:avLst/>
          </a:prstGeom>
          <a:noFill/>
          <a:ln w="25400" cap="flat" cmpd="sng">
            <a:noFill/>
            <a:prstDash val="solid"/>
            <a:round/>
          </a:ln>
          <a:effectLst>
            <a:outerShdw blurRad="101600" dist="63500" dir="2700000" algn="tl" rotWithShape="0">
              <a:srgbClr val="000000">
                <a:alpha val="15000"/>
              </a:srgbClr>
            </a:outerShdw>
          </a:effectLst>
        </p:spPr>
      </p:pic>
      <p:sp>
        <p:nvSpPr>
          <p:cNvPr id="11" name="AutoShape 11"/>
          <p:cNvSpPr/>
          <p:nvPr/>
        </p:nvSpPr>
        <p:spPr>
          <a:xfrm>
            <a:off x="4305300" y="9023350"/>
            <a:ext cx="8750301" cy="943709"/>
          </a:xfrm>
          <a:prstGeom prst="rect">
            <a:avLst/>
          </a:prstGeom>
          <a:noFill/>
          <a:ln w="19050" cap="flat" cmpd="sng">
            <a:noFill/>
            <a:prstDash val="solid"/>
            <a:round/>
          </a:ln>
        </p:spPr>
        <p:txBody>
          <a:bodyPr vert="horz" wrap="square" lIns="88900" tIns="50800" rIns="88900" bIns="50800" rtlCol="0" anchor="t" anchorCtr="0"/>
          <a:lstStyle/>
          <a:p>
            <a:pPr marL="0" indent="0" algn="ctr">
              <a:lnSpc>
                <a:spcPct val="100000"/>
              </a:lnSpc>
              <a:defRPr/>
            </a:pPr>
            <a:r>
              <a:rPr lang="en-US" sz="1800" b="0" i="0" u="none" strike="noStrike" dirty="0">
                <a:solidFill>
                  <a:srgbClr val="000000"/>
                </a:solidFill>
                <a:latin typeface="+mn-ea"/>
                <a:ea typeface="+mn-ea"/>
                <a:cs typeface="Songti SC"/>
                <a:sym typeface="Songti SC"/>
              </a:rPr>
              <a:t>图5.3.1　线性反馈移位寄存器（LFSR）的基本结构模型</a:t>
            </a:r>
            <a:endParaRPr lang="en-US" sz="1800" dirty="0">
              <a:latin typeface="+mn-ea"/>
              <a:ea typeface="+mn-ea"/>
            </a:endParaRPr>
          </a:p>
        </p:txBody>
      </p:sp>
      <p:sp>
        <p:nvSpPr>
          <p:cNvPr id="12" name="AutoShape 12"/>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9AC82409-87E6-44DC-86D4-B555D529D081}" type="slidenum">
              <a:rPr sz="1400" b="0" i="0" u="none" strike="noStrike">
                <a:solidFill>
                  <a:srgbClr val="FFC000"/>
                </a:solidFill>
                <a:latin typeface="Calibri"/>
                <a:ea typeface="Calibri"/>
                <a:cs typeface="Calibri"/>
                <a:sym typeface="Calibri"/>
              </a:rPr>
              <a:t>19</a:t>
            </a:fld>
            <a:endParaRPr lang="en-US" sz="1100"/>
          </a:p>
        </p:txBody>
      </p:sp>
      <p:sp>
        <p:nvSpPr>
          <p:cNvPr id="5" name="AutoShape 29">
            <a:extLst>
              <a:ext uri="{FF2B5EF4-FFF2-40B4-BE49-F238E27FC236}">
                <a16:creationId xmlns:a16="http://schemas.microsoft.com/office/drawing/2014/main" id="{D9E7870E-74F5-5E84-85EA-EAAE89F063FF}"/>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6" name="Picture 30">
            <a:extLst>
              <a:ext uri="{FF2B5EF4-FFF2-40B4-BE49-F238E27FC236}">
                <a16:creationId xmlns:a16="http://schemas.microsoft.com/office/drawing/2014/main" id="{ED2012D3-C052-BF30-F3A4-18AAC889D3A0}"/>
              </a:ext>
            </a:extLst>
          </p:cNvPr>
          <p:cNvPicPr>
            <a:picLocks noChangeAspect="1"/>
          </p:cNvPicPr>
          <p:nvPr/>
        </p:nvPicPr>
        <p:blipFill>
          <a:blip r:embed="rId4"/>
          <a:srcRect/>
          <a:stretch>
            <a:fillRect/>
          </a:stretch>
        </p:blipFill>
        <p:spPr>
          <a:xfrm>
            <a:off x="13488377" y="1079500"/>
            <a:ext cx="2768600" cy="50800"/>
          </a:xfrm>
          <a:prstGeom prst="rect">
            <a:avLst/>
          </a:prstGeom>
          <a:noFill/>
          <a:ln w="25400" cap="flat" cmpd="sng">
            <a:noFill/>
            <a:prstDash val="solid"/>
            <a:round/>
          </a:ln>
        </p:spPr>
      </p:pic>
      <p:sp>
        <p:nvSpPr>
          <p:cNvPr id="18" name="Freeform 2">
            <a:extLst>
              <a:ext uri="{FF2B5EF4-FFF2-40B4-BE49-F238E27FC236}">
                <a16:creationId xmlns:a16="http://schemas.microsoft.com/office/drawing/2014/main" id="{D7BAD123-8A36-2F4C-DF74-DEC02B589464}"/>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0" name="AutoShape 3">
            <a:extLst>
              <a:ext uri="{FF2B5EF4-FFF2-40B4-BE49-F238E27FC236}">
                <a16:creationId xmlns:a16="http://schemas.microsoft.com/office/drawing/2014/main" id="{0694CAB8-7961-374E-E182-76500385307C}"/>
              </a:ext>
            </a:extLst>
          </p:cNvPr>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2" name="AutoShape 6">
            <a:extLst>
              <a:ext uri="{FF2B5EF4-FFF2-40B4-BE49-F238E27FC236}">
                <a16:creationId xmlns:a16="http://schemas.microsoft.com/office/drawing/2014/main" id="{1C1BF2F8-A188-36B7-838B-7E8D195E9AE9}"/>
              </a:ext>
            </a:extLst>
          </p:cNvPr>
          <p:cNvSpPr/>
          <p:nvPr/>
        </p:nvSpPr>
        <p:spPr>
          <a:xfrm>
            <a:off x="1219200" y="396314"/>
            <a:ext cx="1524000" cy="838200"/>
          </a:xfrm>
          <a:prstGeom prst="rect">
            <a:avLst/>
          </a:prstGeom>
          <a:noFill/>
          <a:ln w="19050" cap="flat" cmpd="sng">
            <a:noFill/>
            <a:prstDash val="solid"/>
            <a:round/>
          </a:ln>
        </p:spPr>
        <p:txBody>
          <a:bodyPr vert="horz" wrap="square" lIns="0" tIns="0" rIns="0" bIns="0" rtlCol="0" anchor="t" anchorCtr="0"/>
          <a:lstStyle/>
          <a:p>
            <a:pPr marL="0" indent="0" algn="ctr">
              <a:lnSpc>
                <a:spcPts val="6575"/>
              </a:lnSpc>
              <a:defRPr/>
            </a:pPr>
            <a:r>
              <a:rPr lang="en-US" sz="4700" b="0" i="0" u="none" strike="noStrike"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Times New Roman"/>
                <a:cs typeface="Times New Roman"/>
                <a:sym typeface="Times New Roman"/>
              </a:rPr>
              <a:t>5.3.2</a:t>
            </a:r>
            <a:endParaRPr lang="en-US" sz="4700" dirty="0">
              <a:effectLst>
                <a:outerShdw blurRad="50800" dist="38100" dir="2700000" algn="tl" rotWithShape="0">
                  <a:prstClr val="black">
                    <a:alpha val="40000"/>
                  </a:prstClr>
                </a:outerShdw>
                <a:reflection blurRad="6350" stA="60000" endA="900" endPos="58000" dir="5400000" sy="-100000" algn="bl" rotWithShape="0"/>
              </a:effectLst>
            </a:endParaRPr>
          </a:p>
        </p:txBody>
      </p:sp>
      <p:pic>
        <p:nvPicPr>
          <p:cNvPr id="24" name="Picture 8">
            <a:extLst>
              <a:ext uri="{FF2B5EF4-FFF2-40B4-BE49-F238E27FC236}">
                <a16:creationId xmlns:a16="http://schemas.microsoft.com/office/drawing/2014/main" id="{74AB0D07-63C4-BEBE-6CCE-8A6123818286}"/>
              </a:ext>
            </a:extLst>
          </p:cNvPr>
          <p:cNvPicPr>
            <a:picLocks noChangeAspect="1"/>
          </p:cNvPicPr>
          <p:nvPr/>
        </p:nvPicPr>
        <p:blipFill>
          <a:blip r:embed="rId5"/>
          <a:srcRect/>
          <a:stretch>
            <a:fillRect/>
          </a:stretch>
        </p:blipFill>
        <p:spPr>
          <a:xfrm>
            <a:off x="762000" y="495300"/>
            <a:ext cx="1066800" cy="660400"/>
          </a:xfrm>
          <a:prstGeom prst="rect">
            <a:avLst/>
          </a:prstGeom>
          <a:noFill/>
          <a:ln w="19050" cap="flat" cmpd="sng">
            <a:noFill/>
            <a:prstDash val="solid"/>
            <a:round/>
          </a:ln>
        </p:spPr>
      </p:pic>
      <p:sp>
        <p:nvSpPr>
          <p:cNvPr id="26" name="AutoShape 5">
            <a:extLst>
              <a:ext uri="{FF2B5EF4-FFF2-40B4-BE49-F238E27FC236}">
                <a16:creationId xmlns:a16="http://schemas.microsoft.com/office/drawing/2014/main" id="{6A6651EF-0A48-60B9-1B4A-C7EA8D973733}"/>
              </a:ext>
            </a:extLst>
          </p:cNvPr>
          <p:cNvSpPr/>
          <p:nvPr/>
        </p:nvSpPr>
        <p:spPr>
          <a:xfrm>
            <a:off x="2641600" y="475978"/>
            <a:ext cx="9461500" cy="7239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LFSR</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4" name="AutoShape 4"/>
          <p:cNvSpPr/>
          <p:nvPr/>
        </p:nvSpPr>
        <p:spPr>
          <a:xfrm>
            <a:off x="1092200" y="1850715"/>
            <a:ext cx="16103600" cy="6853018"/>
          </a:xfrm>
          <a:prstGeom prst="rect">
            <a:avLst/>
          </a:prstGeom>
          <a:noFill/>
          <a:ln w="19050" cap="flat" cmpd="sng">
            <a:noFill/>
            <a:prstDash val="solid"/>
            <a:round/>
          </a:ln>
        </p:spPr>
        <p:txBody>
          <a:bodyPr vert="horz" wrap="square" lIns="0" tIns="0" rIns="0" bIns="0" rtlCol="0" anchor="t" anchorCtr="0"/>
          <a:lstStyle/>
          <a:p>
            <a:pPr marL="0" indent="914400" algn="just">
              <a:lnSpc>
                <a:spcPct val="116666"/>
              </a:lnSpc>
              <a:defRPr/>
            </a:pP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序列密码的安全性核心取决于密钥流的安全性，理想的密钥流需具备高度的随机性，让密码分析者无法通过现有信息对后续序列进行有效预测。但受限于生成机制的确定性，密钥流本质上是周期性的序列，因此在现实中无法实现理论上的“完全随机性”，严格来说，绝对的随机序列在算法生成体系中是不可能达到的。</a:t>
            </a:r>
            <a:endParaRPr lang="en-US" sz="3600" dirty="0">
              <a:latin typeface="宋体" panose="02010600030101010101" pitchFamily="2" charset="-122"/>
              <a:ea typeface="宋体" panose="02010600030101010101" pitchFamily="2" charset="-122"/>
            </a:endParaRPr>
          </a:p>
          <a:p>
            <a:pPr marL="0" indent="914400" algn="just">
              <a:lnSpc>
                <a:spcPct val="116666"/>
              </a:lnSpc>
              <a:defRPr/>
            </a:pP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伪随机序列正是为解决这一矛盾而生：它一方面由确定性算法生成，具备可预先计算、可重复生产和精准复制的特性，满足工程应用中可实现、可控制的要求；另一方面，它在统计特性上高度逼近真随机序列，具备均匀分布、低相关性、不可预测性等随机特征，因此被广泛应用于序列密码的密钥流生成，成为保障序列密码安全的关键构件。</a:t>
            </a:r>
          </a:p>
        </p:txBody>
      </p:sp>
      <p:sp>
        <p:nvSpPr>
          <p:cNvPr id="7" name="AutoShape 7"/>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3B35A53E-E742-4388-89E0-1C2C4E11053E}" type="slidenum">
              <a:rPr sz="1400" b="0" i="0" u="none" strike="noStrike">
                <a:solidFill>
                  <a:srgbClr val="FFC000"/>
                </a:solidFill>
                <a:latin typeface="Calibri"/>
                <a:ea typeface="Calibri"/>
                <a:cs typeface="Calibri"/>
                <a:sym typeface="Calibri"/>
              </a:rPr>
              <a:t>20</a:t>
            </a:fld>
            <a:endParaRPr lang="en-US" sz="1100"/>
          </a:p>
        </p:txBody>
      </p:sp>
      <p:sp>
        <p:nvSpPr>
          <p:cNvPr id="9" name="AutoShape 29">
            <a:extLst>
              <a:ext uri="{FF2B5EF4-FFF2-40B4-BE49-F238E27FC236}">
                <a16:creationId xmlns:a16="http://schemas.microsoft.com/office/drawing/2014/main" id="{8606F363-300D-13ED-25BF-AA318A3DF049}"/>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4" name="Picture 30">
            <a:extLst>
              <a:ext uri="{FF2B5EF4-FFF2-40B4-BE49-F238E27FC236}">
                <a16:creationId xmlns:a16="http://schemas.microsoft.com/office/drawing/2014/main" id="{6BC4FD5F-DF2F-7F61-2099-C0FD68359939}"/>
              </a:ext>
            </a:extLst>
          </p:cNvPr>
          <p:cNvPicPr>
            <a:picLocks noChangeAspect="1"/>
          </p:cNvPicPr>
          <p:nvPr/>
        </p:nvPicPr>
        <p:blipFill>
          <a:blip r:embed="rId3"/>
          <a:srcRect/>
          <a:stretch>
            <a:fillRect/>
          </a:stretch>
        </p:blipFill>
        <p:spPr>
          <a:xfrm>
            <a:off x="13488377" y="1079500"/>
            <a:ext cx="2768600" cy="50800"/>
          </a:xfrm>
          <a:prstGeom prst="rect">
            <a:avLst/>
          </a:prstGeom>
          <a:noFill/>
          <a:ln w="25400" cap="flat" cmpd="sng">
            <a:noFill/>
            <a:prstDash val="solid"/>
            <a:round/>
          </a:ln>
        </p:spPr>
      </p:pic>
      <p:sp>
        <p:nvSpPr>
          <p:cNvPr id="16" name="Freeform 2">
            <a:extLst>
              <a:ext uri="{FF2B5EF4-FFF2-40B4-BE49-F238E27FC236}">
                <a16:creationId xmlns:a16="http://schemas.microsoft.com/office/drawing/2014/main" id="{75F2DA3F-FE0A-02E3-D140-70DA0EF000B1}"/>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8" name="AutoShape 3">
            <a:extLst>
              <a:ext uri="{FF2B5EF4-FFF2-40B4-BE49-F238E27FC236}">
                <a16:creationId xmlns:a16="http://schemas.microsoft.com/office/drawing/2014/main" id="{4E107BF4-328A-6B97-9743-0C8A3FFD6638}"/>
              </a:ext>
            </a:extLst>
          </p:cNvPr>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0" name="AutoShape 6">
            <a:extLst>
              <a:ext uri="{FF2B5EF4-FFF2-40B4-BE49-F238E27FC236}">
                <a16:creationId xmlns:a16="http://schemas.microsoft.com/office/drawing/2014/main" id="{C8FA62F9-584A-FF45-4B63-119EA23B810E}"/>
              </a:ext>
            </a:extLst>
          </p:cNvPr>
          <p:cNvSpPr/>
          <p:nvPr/>
        </p:nvSpPr>
        <p:spPr>
          <a:xfrm>
            <a:off x="1219200" y="396314"/>
            <a:ext cx="1524000" cy="838200"/>
          </a:xfrm>
          <a:prstGeom prst="rect">
            <a:avLst/>
          </a:prstGeom>
          <a:noFill/>
          <a:ln w="19050" cap="flat" cmpd="sng">
            <a:noFill/>
            <a:prstDash val="solid"/>
            <a:round/>
          </a:ln>
        </p:spPr>
        <p:txBody>
          <a:bodyPr vert="horz" wrap="square" lIns="0" tIns="0" rIns="0" bIns="0" rtlCol="0" anchor="t" anchorCtr="0"/>
          <a:lstStyle/>
          <a:p>
            <a:pPr marL="0" indent="0" algn="ctr">
              <a:lnSpc>
                <a:spcPts val="6575"/>
              </a:lnSpc>
              <a:defRPr/>
            </a:pPr>
            <a:r>
              <a:rPr lang="en-US" sz="4700" b="0" i="0" u="none" strike="noStrike"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Times New Roman"/>
                <a:cs typeface="Times New Roman"/>
                <a:sym typeface="Times New Roman"/>
              </a:rPr>
              <a:t>5.3.3</a:t>
            </a:r>
            <a:endParaRPr lang="en-US" sz="4700" dirty="0">
              <a:effectLst>
                <a:outerShdw blurRad="50800" dist="38100" dir="2700000" algn="tl" rotWithShape="0">
                  <a:prstClr val="black">
                    <a:alpha val="40000"/>
                  </a:prstClr>
                </a:outerShdw>
                <a:reflection blurRad="6350" stA="60000" endA="900" endPos="58000" dir="5400000" sy="-100000" algn="bl" rotWithShape="0"/>
              </a:effectLst>
            </a:endParaRPr>
          </a:p>
        </p:txBody>
      </p:sp>
      <p:pic>
        <p:nvPicPr>
          <p:cNvPr id="22" name="Picture 8">
            <a:extLst>
              <a:ext uri="{FF2B5EF4-FFF2-40B4-BE49-F238E27FC236}">
                <a16:creationId xmlns:a16="http://schemas.microsoft.com/office/drawing/2014/main" id="{8DEDB8B1-D6D9-DD0A-EC76-5204E7162FA1}"/>
              </a:ext>
            </a:extLst>
          </p:cNvPr>
          <p:cNvPicPr>
            <a:picLocks noChangeAspect="1"/>
          </p:cNvPicPr>
          <p:nvPr/>
        </p:nvPicPr>
        <p:blipFill>
          <a:blip r:embed="rId4"/>
          <a:srcRect/>
          <a:stretch>
            <a:fillRect/>
          </a:stretch>
        </p:blipFill>
        <p:spPr>
          <a:xfrm>
            <a:off x="762000" y="495300"/>
            <a:ext cx="1066800" cy="660400"/>
          </a:xfrm>
          <a:prstGeom prst="rect">
            <a:avLst/>
          </a:prstGeom>
          <a:noFill/>
          <a:ln w="19050" cap="flat" cmpd="sng">
            <a:noFill/>
            <a:prstDash val="solid"/>
            <a:round/>
          </a:ln>
        </p:spPr>
      </p:pic>
      <p:sp>
        <p:nvSpPr>
          <p:cNvPr id="24" name="AutoShape 5">
            <a:extLst>
              <a:ext uri="{FF2B5EF4-FFF2-40B4-BE49-F238E27FC236}">
                <a16:creationId xmlns:a16="http://schemas.microsoft.com/office/drawing/2014/main" id="{DC5C236F-66E3-ED35-D9D7-FE88D28546E3}"/>
              </a:ext>
            </a:extLst>
          </p:cNvPr>
          <p:cNvSpPr/>
          <p:nvPr/>
        </p:nvSpPr>
        <p:spPr>
          <a:xfrm>
            <a:off x="2641600" y="475978"/>
            <a:ext cx="9461500" cy="7239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LFSR</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4" name="AutoShape 4"/>
          <p:cNvSpPr/>
          <p:nvPr/>
        </p:nvSpPr>
        <p:spPr>
          <a:xfrm>
            <a:off x="1714500" y="1644650"/>
            <a:ext cx="14820900" cy="6561504"/>
          </a:xfrm>
          <a:prstGeom prst="rect">
            <a:avLst/>
          </a:prstGeom>
          <a:noFill/>
          <a:ln w="19050" cap="flat" cmpd="sng">
            <a:noFill/>
            <a:prstDash val="solid"/>
            <a:round/>
          </a:ln>
        </p:spPr>
        <p:txBody>
          <a:bodyPr vert="horz" wrap="square" lIns="0" tIns="0" rIns="0" bIns="0" rtlCol="0" anchor="t" anchorCtr="0"/>
          <a:lstStyle/>
          <a:p>
            <a:pPr marL="0" indent="635000" algn="just">
              <a:lnSpc>
                <a:spcPct val="125000"/>
              </a:lnSpc>
              <a:defRPr/>
            </a:pPr>
            <a:r>
              <a:rPr lang="en-US" sz="3600" b="1" i="0" u="none" strike="noStrike" dirty="0">
                <a:solidFill>
                  <a:srgbClr val="1F2329"/>
                </a:solidFill>
                <a:latin typeface="宋体" panose="02010600030101010101" pitchFamily="2" charset="-122"/>
                <a:ea typeface="宋体" panose="02010600030101010101" pitchFamily="2" charset="-122"/>
                <a:cs typeface="Songti SC"/>
                <a:sym typeface="Songti SC"/>
              </a:rPr>
              <a:t>01 / 一元多项式表示</a:t>
            </a:r>
            <a:endParaRPr lang="en-US" sz="3600" dirty="0">
              <a:latin typeface="宋体" panose="02010600030101010101" pitchFamily="2" charset="-122"/>
              <a:ea typeface="宋体" panose="02010600030101010101" pitchFamily="2" charset="-122"/>
            </a:endParaRPr>
          </a:p>
          <a:p>
            <a:pPr marL="0" indent="635000" algn="just">
              <a:lnSpc>
                <a:spcPct val="116666"/>
              </a:lnSpc>
            </a:pPr>
            <a:r>
              <a:rPr lang="en-US" sz="3600" b="0" i="0" u="none" strike="noStrike" dirty="0">
                <a:solidFill>
                  <a:srgbClr val="374151"/>
                </a:solidFill>
                <a:latin typeface="宋体" panose="02010600030101010101" pitchFamily="2" charset="-122"/>
                <a:ea typeface="宋体" panose="02010600030101010101" pitchFamily="2" charset="-122"/>
                <a:cs typeface="Songti SC"/>
                <a:sym typeface="Songti SC"/>
              </a:rPr>
              <a:t>线性反馈移位寄存器（</a:t>
            </a:r>
            <a:r>
              <a:rPr lang="en-US" sz="3600" b="0" i="0" u="none" strike="noStrike" dirty="0">
                <a:solidFill>
                  <a:srgbClr val="374151"/>
                </a:solidFill>
                <a:latin typeface="Times New Roman" panose="02020603050405020304" pitchFamily="18" charset="0"/>
                <a:ea typeface="宋体" panose="02010600030101010101" pitchFamily="2" charset="-122"/>
                <a:cs typeface="Times New Roman" panose="02020603050405020304" pitchFamily="18" charset="0"/>
                <a:sym typeface="Songti SC"/>
              </a:rPr>
              <a:t>LFSR</a:t>
            </a:r>
            <a:r>
              <a:rPr lang="en-US" sz="3600" b="0" i="0" u="none" strike="noStrike" dirty="0">
                <a:solidFill>
                  <a:srgbClr val="374151"/>
                </a:solidFill>
                <a:latin typeface="宋体" panose="02010600030101010101" pitchFamily="2" charset="-122"/>
                <a:ea typeface="宋体" panose="02010600030101010101" pitchFamily="2" charset="-122"/>
                <a:cs typeface="Songti SC"/>
                <a:sym typeface="Songti SC"/>
              </a:rPr>
              <a:t>）的输出序列满足特定的线性递推关系，这种递推关系可通过一个一元高次多项式来刻画，该多项式被称为LFSR的</a:t>
            </a:r>
            <a:r>
              <a:rPr lang="en-US" sz="3600" b="1" i="0" u="none" strike="noStrike" dirty="0">
                <a:solidFill>
                  <a:srgbClr val="374151"/>
                </a:solidFill>
                <a:latin typeface="宋体" panose="02010600030101010101" pitchFamily="2" charset="-122"/>
                <a:ea typeface="宋体" panose="02010600030101010101" pitchFamily="2" charset="-122"/>
                <a:cs typeface="Songti SC"/>
                <a:sym typeface="Songti SC"/>
              </a:rPr>
              <a:t>特征多项式</a:t>
            </a:r>
            <a:r>
              <a:rPr lang="en-US" sz="3600" b="0" i="0" u="none" strike="noStrike" dirty="0">
                <a:solidFill>
                  <a:srgbClr val="374151"/>
                </a:solidFill>
                <a:latin typeface="宋体" panose="02010600030101010101" pitchFamily="2" charset="-122"/>
                <a:ea typeface="宋体" panose="02010600030101010101" pitchFamily="2" charset="-122"/>
                <a:cs typeface="Songti SC"/>
                <a:sym typeface="Songti SC"/>
              </a:rPr>
              <a:t>。理论上，</a:t>
            </a:r>
            <a:r>
              <a:rPr lang="en-US" sz="3600" b="0" i="0" u="none" strike="noStrike" dirty="0">
                <a:solidFill>
                  <a:srgbClr val="374151"/>
                </a:solidFill>
                <a:latin typeface="Times New Roman" panose="02020603050405020304" pitchFamily="18" charset="0"/>
                <a:ea typeface="宋体" panose="02010600030101010101" pitchFamily="2" charset="-122"/>
                <a:cs typeface="Times New Roman" panose="02020603050405020304" pitchFamily="18" charset="0"/>
                <a:sym typeface="Songti SC"/>
              </a:rPr>
              <a:t>LFSR</a:t>
            </a:r>
            <a:r>
              <a:rPr lang="en-US" sz="3600" b="0" i="0" u="none" strike="noStrike" dirty="0">
                <a:solidFill>
                  <a:srgbClr val="374151"/>
                </a:solidFill>
                <a:latin typeface="宋体" panose="02010600030101010101" pitchFamily="2" charset="-122"/>
                <a:ea typeface="宋体" panose="02010600030101010101" pitchFamily="2" charset="-122"/>
                <a:cs typeface="Songti SC"/>
                <a:sym typeface="Songti SC"/>
              </a:rPr>
              <a:t>的结构与特征多项式之间存在严格的一一对应关系，多项式的系数直接决定了寄存器的反馈逻辑与输出特性。</a:t>
            </a:r>
          </a:p>
          <a:p>
            <a:pPr indent="635000" algn="just">
              <a:lnSpc>
                <a:spcPct val="125000"/>
              </a:lnSpc>
            </a:pPr>
            <a:r>
              <a:rPr lang="en-US" sz="3600" b="1" i="0" u="none" strike="noStrike" dirty="0">
                <a:solidFill>
                  <a:srgbClr val="1F2329"/>
                </a:solidFill>
                <a:latin typeface="宋体" panose="02010600030101010101" pitchFamily="2" charset="-122"/>
                <a:ea typeface="宋体" panose="02010600030101010101" pitchFamily="2" charset="-122"/>
                <a:cs typeface="Songti SC"/>
                <a:sym typeface="Songti SC"/>
              </a:rPr>
              <a:t>02 /</a:t>
            </a:r>
            <a:r>
              <a:rPr lang="zh-CN" altLang="zh-CN" sz="3600" b="1" dirty="0">
                <a:latin typeface="宋体" panose="02010600030101010101" pitchFamily="2" charset="-122"/>
                <a:ea typeface="宋体" panose="02010600030101010101" pitchFamily="2" charset="-122"/>
              </a:rPr>
              <a:t>序列线性复杂度与综合</a:t>
            </a:r>
            <a:endParaRPr lang="en-US" altLang="zh-CN" sz="3600" b="1" dirty="0">
              <a:latin typeface="宋体" panose="02010600030101010101" pitchFamily="2" charset="-122"/>
              <a:ea typeface="宋体" panose="02010600030101010101" pitchFamily="2" charset="-122"/>
            </a:endParaRPr>
          </a:p>
          <a:p>
            <a:r>
              <a:rPr lang="en-US" altLang="zh-CN" sz="3600" dirty="0">
                <a:latin typeface="宋体" panose="02010600030101010101" pitchFamily="2" charset="-122"/>
                <a:ea typeface="宋体" panose="02010600030101010101" pitchFamily="2" charset="-122"/>
              </a:rPr>
              <a:t>    </a:t>
            </a:r>
            <a:r>
              <a:rPr lang="zh-CN" altLang="zh-CN" sz="3600" dirty="0">
                <a:latin typeface="宋体" panose="02010600030101010101" pitchFamily="2" charset="-122"/>
                <a:ea typeface="宋体" panose="02010600030101010101" pitchFamily="2" charset="-122"/>
              </a:rPr>
              <a:t>一般地，把有关线性反馈移位寄存器的求解问题，从正反两个方面分为正向分析与反向综合。正向分析的是从</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LFSR</a:t>
            </a:r>
            <a:r>
              <a:rPr lang="zh-CN" altLang="zh-CN" sz="3600" dirty="0">
                <a:latin typeface="宋体" panose="02010600030101010101" pitchFamily="2" charset="-122"/>
                <a:ea typeface="宋体" panose="02010600030101010101" pitchFamily="2" charset="-122"/>
              </a:rPr>
              <a:t>的结构常数计算出序列，反向综合是从已有的</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LSFR</a:t>
            </a:r>
            <a:r>
              <a:rPr lang="zh-CN" altLang="zh-CN" sz="3600" dirty="0">
                <a:latin typeface="宋体" panose="02010600030101010101" pitchFamily="2" charset="-122"/>
                <a:ea typeface="宋体" panose="02010600030101010101" pitchFamily="2" charset="-122"/>
              </a:rPr>
              <a:t>序列综合计算出结构常数，推导出整个序列所满足的线性递推关系。</a:t>
            </a:r>
          </a:p>
        </p:txBody>
      </p:sp>
      <p:sp>
        <p:nvSpPr>
          <p:cNvPr id="7" name="AutoShape 7"/>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8198A38E-0601-45C7-A4FF-C7F165DE639B}" type="slidenum">
              <a:rPr sz="1400" b="0" i="0" u="none" strike="noStrike">
                <a:solidFill>
                  <a:srgbClr val="FFC000"/>
                </a:solidFill>
                <a:latin typeface="Calibri"/>
                <a:ea typeface="Calibri"/>
                <a:cs typeface="Calibri"/>
                <a:sym typeface="Calibri"/>
              </a:rPr>
              <a:t>21</a:t>
            </a:fld>
            <a:endParaRPr lang="en-US" sz="1100"/>
          </a:p>
        </p:txBody>
      </p:sp>
      <p:sp>
        <p:nvSpPr>
          <p:cNvPr id="6" name="AutoShape 29">
            <a:extLst>
              <a:ext uri="{FF2B5EF4-FFF2-40B4-BE49-F238E27FC236}">
                <a16:creationId xmlns:a16="http://schemas.microsoft.com/office/drawing/2014/main" id="{BC046892-5633-8486-402F-ADAC5AEDC962}"/>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4" name="Picture 30">
            <a:extLst>
              <a:ext uri="{FF2B5EF4-FFF2-40B4-BE49-F238E27FC236}">
                <a16:creationId xmlns:a16="http://schemas.microsoft.com/office/drawing/2014/main" id="{1C47A305-C3EF-75D7-45B9-4137A3AF6136}"/>
              </a:ext>
            </a:extLst>
          </p:cNvPr>
          <p:cNvPicPr>
            <a:picLocks noChangeAspect="1"/>
          </p:cNvPicPr>
          <p:nvPr/>
        </p:nvPicPr>
        <p:blipFill>
          <a:blip r:embed="rId3"/>
          <a:srcRect/>
          <a:stretch>
            <a:fillRect/>
          </a:stretch>
        </p:blipFill>
        <p:spPr>
          <a:xfrm>
            <a:off x="13488377" y="1079500"/>
            <a:ext cx="2768600" cy="50800"/>
          </a:xfrm>
          <a:prstGeom prst="rect">
            <a:avLst/>
          </a:prstGeom>
          <a:noFill/>
          <a:ln w="25400" cap="flat" cmpd="sng">
            <a:noFill/>
            <a:prstDash val="solid"/>
            <a:round/>
          </a:ln>
        </p:spPr>
      </p:pic>
      <p:sp>
        <p:nvSpPr>
          <p:cNvPr id="16" name="Freeform 2">
            <a:extLst>
              <a:ext uri="{FF2B5EF4-FFF2-40B4-BE49-F238E27FC236}">
                <a16:creationId xmlns:a16="http://schemas.microsoft.com/office/drawing/2014/main" id="{CA82907F-6AC1-3434-8964-3F29AC4CE64D}"/>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8" name="AutoShape 3">
            <a:extLst>
              <a:ext uri="{FF2B5EF4-FFF2-40B4-BE49-F238E27FC236}">
                <a16:creationId xmlns:a16="http://schemas.microsoft.com/office/drawing/2014/main" id="{BF7107EA-82EA-C2B0-4F15-9E27BF98D7F2}"/>
              </a:ext>
            </a:extLst>
          </p:cNvPr>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0" name="AutoShape 6">
            <a:extLst>
              <a:ext uri="{FF2B5EF4-FFF2-40B4-BE49-F238E27FC236}">
                <a16:creationId xmlns:a16="http://schemas.microsoft.com/office/drawing/2014/main" id="{C6C12255-8760-C0F2-A40A-EC11FC597669}"/>
              </a:ext>
            </a:extLst>
          </p:cNvPr>
          <p:cNvSpPr/>
          <p:nvPr/>
        </p:nvSpPr>
        <p:spPr>
          <a:xfrm>
            <a:off x="1219200" y="396314"/>
            <a:ext cx="1524000" cy="838200"/>
          </a:xfrm>
          <a:prstGeom prst="rect">
            <a:avLst/>
          </a:prstGeom>
          <a:noFill/>
          <a:ln w="19050" cap="flat" cmpd="sng">
            <a:noFill/>
            <a:prstDash val="solid"/>
            <a:round/>
          </a:ln>
        </p:spPr>
        <p:txBody>
          <a:bodyPr vert="horz" wrap="square" lIns="0" tIns="0" rIns="0" bIns="0" rtlCol="0" anchor="t" anchorCtr="0"/>
          <a:lstStyle/>
          <a:p>
            <a:pPr marL="0" indent="0" algn="ctr">
              <a:lnSpc>
                <a:spcPts val="6575"/>
              </a:lnSpc>
              <a:defRPr/>
            </a:pPr>
            <a:r>
              <a:rPr lang="en-US" sz="4700" b="0" i="0" u="none" strike="noStrike"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Times New Roman"/>
                <a:cs typeface="Times New Roman"/>
                <a:sym typeface="Times New Roman"/>
              </a:rPr>
              <a:t>5.3.4</a:t>
            </a:r>
            <a:endParaRPr lang="en-US" sz="4700" dirty="0">
              <a:effectLst>
                <a:outerShdw blurRad="50800" dist="38100" dir="2700000" algn="tl" rotWithShape="0">
                  <a:prstClr val="black">
                    <a:alpha val="40000"/>
                  </a:prstClr>
                </a:outerShdw>
                <a:reflection blurRad="6350" stA="60000" endA="900" endPos="58000" dir="5400000" sy="-100000" algn="bl" rotWithShape="0"/>
              </a:effectLst>
            </a:endParaRPr>
          </a:p>
        </p:txBody>
      </p:sp>
      <p:pic>
        <p:nvPicPr>
          <p:cNvPr id="22" name="Picture 8">
            <a:extLst>
              <a:ext uri="{FF2B5EF4-FFF2-40B4-BE49-F238E27FC236}">
                <a16:creationId xmlns:a16="http://schemas.microsoft.com/office/drawing/2014/main" id="{2267E8D1-F998-ACE0-99E5-011C49B67AB2}"/>
              </a:ext>
            </a:extLst>
          </p:cNvPr>
          <p:cNvPicPr>
            <a:picLocks noChangeAspect="1"/>
          </p:cNvPicPr>
          <p:nvPr/>
        </p:nvPicPr>
        <p:blipFill>
          <a:blip r:embed="rId4"/>
          <a:srcRect/>
          <a:stretch>
            <a:fillRect/>
          </a:stretch>
        </p:blipFill>
        <p:spPr>
          <a:xfrm>
            <a:off x="762000" y="495300"/>
            <a:ext cx="1066800" cy="660400"/>
          </a:xfrm>
          <a:prstGeom prst="rect">
            <a:avLst/>
          </a:prstGeom>
          <a:noFill/>
          <a:ln w="19050" cap="flat" cmpd="sng">
            <a:noFill/>
            <a:prstDash val="solid"/>
            <a:round/>
          </a:ln>
        </p:spPr>
      </p:pic>
      <p:sp>
        <p:nvSpPr>
          <p:cNvPr id="24" name="AutoShape 5">
            <a:extLst>
              <a:ext uri="{FF2B5EF4-FFF2-40B4-BE49-F238E27FC236}">
                <a16:creationId xmlns:a16="http://schemas.microsoft.com/office/drawing/2014/main" id="{07CF44C0-66E2-2990-CB83-11A6BFB8819C}"/>
              </a:ext>
            </a:extLst>
          </p:cNvPr>
          <p:cNvSpPr/>
          <p:nvPr/>
        </p:nvSpPr>
        <p:spPr>
          <a:xfrm>
            <a:off x="2641600" y="475978"/>
            <a:ext cx="9461500" cy="7239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LFSR</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4" name="AutoShape 4"/>
          <p:cNvSpPr/>
          <p:nvPr/>
        </p:nvSpPr>
        <p:spPr>
          <a:xfrm>
            <a:off x="1790700" y="1286185"/>
            <a:ext cx="14820900" cy="9000815"/>
          </a:xfrm>
          <a:prstGeom prst="rect">
            <a:avLst/>
          </a:prstGeom>
          <a:noFill/>
          <a:ln w="19050" cap="flat" cmpd="sng">
            <a:noFill/>
            <a:prstDash val="solid"/>
            <a:round/>
          </a:ln>
        </p:spPr>
        <p:txBody>
          <a:bodyPr vert="horz" wrap="square" lIns="0" tIns="0" rIns="0" bIns="0" rtlCol="0" anchor="t" anchorCtr="0"/>
          <a:lstStyle/>
          <a:p>
            <a:pPr marL="0" indent="914400" algn="just">
              <a:lnSpc>
                <a:spcPct val="125000"/>
              </a:lnSpc>
              <a:defRPr/>
            </a:pP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密钥流生成器是流密码体系的核心构件，其结构通常可拆解为驱动部分与非线性组合部分两个关键模块。驱动部分一般由一个或多个线性反馈移位寄存器（</a:t>
            </a:r>
            <a:r>
              <a:rPr lang="en-US" sz="3600" b="0" i="0" u="none" strike="noStrike"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ongti SC"/>
              </a:rPr>
              <a:t>LFSR</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）构成，利用其高效的伪随机序列生成能力提供基础驱动源；非线性组合部分则通过设计特定的非线性组合函数</a:t>
            </a:r>
            <a:r>
              <a:rPr lang="en-US" sz="3600" b="0" i="0" u="none" strike="noStrike"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ongti SC"/>
              </a:rPr>
              <a:t>F</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，对驱动部分输出的多路基础序列进行融合与变换，最终生成用于加密的密钥流。</a:t>
            </a:r>
            <a:endParaRPr lang="en-US" sz="3600" dirty="0">
              <a:latin typeface="宋体" panose="02010600030101010101" pitchFamily="2" charset="-122"/>
              <a:ea typeface="宋体" panose="02010600030101010101" pitchFamily="2" charset="-122"/>
            </a:endParaRPr>
          </a:p>
          <a:p>
            <a:pPr marL="0" indent="914400" algn="just">
              <a:lnSpc>
                <a:spcPct val="125000"/>
              </a:lnSpc>
            </a:pP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为确保密钥流具备足够的密码学安全性，需满足周期尽可能长、线性复杂度尽可能高、不可预测性尽可能强三大核心要求。由于单一</a:t>
            </a:r>
            <a:r>
              <a:rPr lang="en-US" sz="3600" b="0" i="0" u="none" strike="noStrike"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ongti SC"/>
              </a:rPr>
              <a:t>LFSR</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生成的序列（如</a:t>
            </a:r>
            <a:r>
              <a:rPr lang="en-US" sz="3600" b="0" i="0" u="none" strike="noStrike"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ongti SC"/>
              </a:rPr>
              <a:t>m</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序列）存在线性特征显著、易被</a:t>
            </a:r>
            <a:r>
              <a:rPr lang="en-US" sz="3600" b="0" i="0" u="none" strike="noStrike"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ongti SC"/>
              </a:rPr>
              <a:t>B-M</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算法等手段分析破解的缺陷，因此在工程实践中，往往采用多个</a:t>
            </a:r>
            <a:r>
              <a:rPr lang="en-US" sz="3600" b="0" i="0" u="none" strike="noStrike"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ongti SC"/>
              </a:rPr>
              <a:t>LFSR</a:t>
            </a: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并行驱动的方式，结合高复杂度的非线性组合函数进行构造，以此打破线性结构的局限性，大幅提升序列的抗攻击能力与密码学强度。</a:t>
            </a:r>
          </a:p>
          <a:p>
            <a:pPr marL="0" indent="914400" algn="just">
              <a:lnSpc>
                <a:spcPct val="125000"/>
              </a:lnSpc>
            </a:pPr>
            <a:r>
              <a:rPr lang="en-US" sz="3600" b="0" i="0" u="none" strike="noStrike" dirty="0">
                <a:solidFill>
                  <a:srgbClr val="000000"/>
                </a:solidFill>
                <a:latin typeface="宋体" panose="02010600030101010101" pitchFamily="2" charset="-122"/>
                <a:ea typeface="宋体" panose="02010600030101010101" pitchFamily="2" charset="-122"/>
                <a:cs typeface="Songti SC"/>
                <a:sym typeface="Songti SC"/>
              </a:rPr>
              <a:t>这种多驱动源与非线性变换的结合，是流密码设计中提升安全性的经典范式，也是保障密钥流不可预测性与复杂度的关键技术手段。</a:t>
            </a:r>
          </a:p>
        </p:txBody>
      </p:sp>
      <p:sp>
        <p:nvSpPr>
          <p:cNvPr id="6" name="AutoShape 6"/>
          <p:cNvSpPr/>
          <p:nvPr/>
        </p:nvSpPr>
        <p:spPr>
          <a:xfrm>
            <a:off x="1219200" y="396314"/>
            <a:ext cx="1524000" cy="838200"/>
          </a:xfrm>
          <a:prstGeom prst="rect">
            <a:avLst/>
          </a:prstGeom>
          <a:noFill/>
          <a:ln w="19050" cap="flat" cmpd="sng">
            <a:noFill/>
            <a:prstDash val="solid"/>
            <a:round/>
          </a:ln>
        </p:spPr>
        <p:txBody>
          <a:bodyPr vert="horz" wrap="square" lIns="0" tIns="0" rIns="0" bIns="0" rtlCol="0" anchor="t" anchorCtr="0"/>
          <a:lstStyle/>
          <a:p>
            <a:pPr marL="0" indent="0" algn="ctr">
              <a:lnSpc>
                <a:spcPts val="6575"/>
              </a:lnSpc>
              <a:defRPr/>
            </a:pPr>
            <a:r>
              <a:rPr lang="en-US" sz="4700" b="0" i="0" u="none" strike="noStrike"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Times New Roman"/>
                <a:cs typeface="Times New Roman"/>
                <a:sym typeface="Times New Roman"/>
              </a:rPr>
              <a:t>5.3.5</a:t>
            </a:r>
            <a:endParaRPr lang="en-US" sz="4700" dirty="0">
              <a:effectLst>
                <a:outerShdw blurRad="50800" dist="38100" dir="2700000" algn="tl" rotWithShape="0">
                  <a:prstClr val="black">
                    <a:alpha val="40000"/>
                  </a:prstClr>
                </a:outerShdw>
                <a:reflection blurRad="6350" stA="60000" endA="900" endPos="58000" dir="5400000" sy="-100000" algn="bl" rotWithShape="0"/>
              </a:effectLst>
            </a:endParaRPr>
          </a:p>
        </p:txBody>
      </p:sp>
      <p:sp>
        <p:nvSpPr>
          <p:cNvPr id="7" name="AutoShape 7"/>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84821A1B-28B4-430D-8C50-3BF1C220F25B}" type="slidenum">
              <a:rPr sz="1400" b="0" i="0" u="none" strike="noStrike">
                <a:solidFill>
                  <a:srgbClr val="FFC000"/>
                </a:solidFill>
                <a:latin typeface="Calibri"/>
                <a:ea typeface="Calibri"/>
                <a:cs typeface="Calibri"/>
                <a:sym typeface="Calibri"/>
              </a:rPr>
              <a:t>22</a:t>
            </a:fld>
            <a:endParaRPr lang="en-US" sz="1100"/>
          </a:p>
        </p:txBody>
      </p:sp>
      <p:pic>
        <p:nvPicPr>
          <p:cNvPr id="8" name="Picture 8"/>
          <p:cNvPicPr>
            <a:picLocks noChangeAspect="1"/>
          </p:cNvPicPr>
          <p:nvPr/>
        </p:nvPicPr>
        <p:blipFill>
          <a:blip r:embed="rId3"/>
          <a:srcRect/>
          <a:stretch>
            <a:fillRect/>
          </a:stretch>
        </p:blipFill>
        <p:spPr>
          <a:xfrm>
            <a:off x="762000" y="495300"/>
            <a:ext cx="1066800" cy="660400"/>
          </a:xfrm>
          <a:prstGeom prst="rect">
            <a:avLst/>
          </a:prstGeom>
          <a:noFill/>
          <a:ln w="19050" cap="flat" cmpd="sng">
            <a:noFill/>
            <a:prstDash val="solid"/>
            <a:round/>
          </a:ln>
        </p:spPr>
      </p:pic>
      <p:sp>
        <p:nvSpPr>
          <p:cNvPr id="12" name="AutoShape 5">
            <a:extLst>
              <a:ext uri="{FF2B5EF4-FFF2-40B4-BE49-F238E27FC236}">
                <a16:creationId xmlns:a16="http://schemas.microsoft.com/office/drawing/2014/main" id="{151E56E3-932B-C402-819B-6DE2EA08AFB6}"/>
              </a:ext>
            </a:extLst>
          </p:cNvPr>
          <p:cNvSpPr/>
          <p:nvPr/>
        </p:nvSpPr>
        <p:spPr>
          <a:xfrm>
            <a:off x="2641600" y="475978"/>
            <a:ext cx="9461500" cy="723900"/>
          </a:xfrm>
          <a:prstGeom prst="rect">
            <a:avLst/>
          </a:prstGeom>
          <a:noFill/>
          <a:ln w="19050" cap="flat" cmpd="sng">
            <a:noFill/>
            <a:prstDash val="solid"/>
            <a:round/>
          </a:ln>
        </p:spPr>
        <p:txBody>
          <a:bodyPr vert="horz" wrap="square" lIns="0" tIns="0" rIns="0" bIns="0" rtlCol="0" anchor="t" anchorCtr="0"/>
          <a:lstStyle/>
          <a:p>
            <a:pPr>
              <a:lnSpc>
                <a:spcPts val="5600"/>
              </a:lnSpc>
            </a:pPr>
            <a:r>
              <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LFSR</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
        <p:nvSpPr>
          <p:cNvPr id="9" name="AutoShape 29">
            <a:extLst>
              <a:ext uri="{FF2B5EF4-FFF2-40B4-BE49-F238E27FC236}">
                <a16:creationId xmlns:a16="http://schemas.microsoft.com/office/drawing/2014/main" id="{001F01C6-6CD7-800E-7046-EB50C15CAB8B}"/>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4" name="Picture 30">
            <a:extLst>
              <a:ext uri="{FF2B5EF4-FFF2-40B4-BE49-F238E27FC236}">
                <a16:creationId xmlns:a16="http://schemas.microsoft.com/office/drawing/2014/main" id="{8181E305-900D-1085-564F-D877942749EF}"/>
              </a:ext>
            </a:extLst>
          </p:cNvPr>
          <p:cNvPicPr>
            <a:picLocks noChangeAspect="1"/>
          </p:cNvPicPr>
          <p:nvPr/>
        </p:nvPicPr>
        <p:blipFill>
          <a:blip r:embed="rId4"/>
          <a:srcRect/>
          <a:stretch>
            <a:fillRect/>
          </a:stretch>
        </p:blipFill>
        <p:spPr>
          <a:xfrm>
            <a:off x="13488377" y="1079500"/>
            <a:ext cx="2768600" cy="50800"/>
          </a:xfrm>
          <a:prstGeom prst="rect">
            <a:avLst/>
          </a:prstGeom>
          <a:noFill/>
          <a:ln w="25400" cap="flat" cmpd="sng">
            <a:noFill/>
            <a:prstDash val="solid"/>
            <a:rou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a:extLst>
            <a:ext uri="{FF2B5EF4-FFF2-40B4-BE49-F238E27FC236}">
              <a16:creationId xmlns:a16="http://schemas.microsoft.com/office/drawing/2014/main" id="{81318CA7-0923-B310-66CE-4C277317EAD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9E24787-6857-0E09-F784-F2B6CE8B2B6C}"/>
              </a:ext>
            </a:extLst>
          </p:cNvPr>
          <p:cNvSpPr/>
          <p:nvPr/>
        </p:nvSpPr>
        <p:spPr>
          <a:xfrm>
            <a:off x="7747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9AF5C1E4-31BA-59CF-D415-D0E15F7D0EFB}"/>
              </a:ext>
            </a:extLst>
          </p:cNvPr>
          <p:cNvSpPr/>
          <p:nvPr/>
        </p:nvSpPr>
        <p:spPr>
          <a:xfrm>
            <a:off x="8001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4" name="Freeform 4">
            <a:extLst>
              <a:ext uri="{FF2B5EF4-FFF2-40B4-BE49-F238E27FC236}">
                <a16:creationId xmlns:a16="http://schemas.microsoft.com/office/drawing/2014/main" id="{D8A3273A-1431-6AA0-C096-EB8676A45486}"/>
              </a:ext>
            </a:extLst>
          </p:cNvPr>
          <p:cNvSpPr/>
          <p:nvPr/>
        </p:nvSpPr>
        <p:spPr>
          <a:xfrm>
            <a:off x="7747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a:extLst>
              <a:ext uri="{FF2B5EF4-FFF2-40B4-BE49-F238E27FC236}">
                <a16:creationId xmlns:a16="http://schemas.microsoft.com/office/drawing/2014/main" id="{FE083CC5-C853-EF26-EC07-58E9A82F374A}"/>
              </a:ext>
            </a:extLst>
          </p:cNvPr>
          <p:cNvSpPr/>
          <p:nvPr/>
        </p:nvSpPr>
        <p:spPr>
          <a:xfrm>
            <a:off x="8001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6" name="Freeform 6">
            <a:extLst>
              <a:ext uri="{FF2B5EF4-FFF2-40B4-BE49-F238E27FC236}">
                <a16:creationId xmlns:a16="http://schemas.microsoft.com/office/drawing/2014/main" id="{6FE50887-4FE2-A78C-6798-31152CB8059D}"/>
              </a:ext>
            </a:extLst>
          </p:cNvPr>
          <p:cNvSpPr/>
          <p:nvPr/>
        </p:nvSpPr>
        <p:spPr>
          <a:xfrm>
            <a:off x="7747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a:extLst>
              <a:ext uri="{FF2B5EF4-FFF2-40B4-BE49-F238E27FC236}">
                <a16:creationId xmlns:a16="http://schemas.microsoft.com/office/drawing/2014/main" id="{BC235E42-5979-CCEC-D5A3-179125DB803A}"/>
              </a:ext>
            </a:extLst>
          </p:cNvPr>
          <p:cNvSpPr/>
          <p:nvPr/>
        </p:nvSpPr>
        <p:spPr>
          <a:xfrm>
            <a:off x="8001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8" name="Freeform 8">
            <a:extLst>
              <a:ext uri="{FF2B5EF4-FFF2-40B4-BE49-F238E27FC236}">
                <a16:creationId xmlns:a16="http://schemas.microsoft.com/office/drawing/2014/main" id="{6B5B55AB-AB73-D461-2FFD-65A120C8CCB4}"/>
              </a:ext>
            </a:extLst>
          </p:cNvPr>
          <p:cNvSpPr/>
          <p:nvPr/>
        </p:nvSpPr>
        <p:spPr>
          <a:xfrm>
            <a:off x="7747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a:extLst>
              <a:ext uri="{FF2B5EF4-FFF2-40B4-BE49-F238E27FC236}">
                <a16:creationId xmlns:a16="http://schemas.microsoft.com/office/drawing/2014/main" id="{04991D3A-7A6E-6583-AD0E-532683EFCD0F}"/>
              </a:ext>
            </a:extLst>
          </p:cNvPr>
          <p:cNvSpPr/>
          <p:nvPr/>
        </p:nvSpPr>
        <p:spPr>
          <a:xfrm>
            <a:off x="8001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0" name="Freeform 10">
            <a:extLst>
              <a:ext uri="{FF2B5EF4-FFF2-40B4-BE49-F238E27FC236}">
                <a16:creationId xmlns:a16="http://schemas.microsoft.com/office/drawing/2014/main" id="{8348D074-1A07-4CB8-C694-3439FE54F063}"/>
              </a:ext>
            </a:extLst>
          </p:cNvPr>
          <p:cNvSpPr/>
          <p:nvPr/>
        </p:nvSpPr>
        <p:spPr>
          <a:xfrm>
            <a:off x="173355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a:extLst>
              <a:ext uri="{FF2B5EF4-FFF2-40B4-BE49-F238E27FC236}">
                <a16:creationId xmlns:a16="http://schemas.microsoft.com/office/drawing/2014/main" id="{C9597769-62D5-BCE1-7EF3-9CE2B94AEEFD}"/>
              </a:ext>
            </a:extLst>
          </p:cNvPr>
          <p:cNvSpPr/>
          <p:nvPr/>
        </p:nvSpPr>
        <p:spPr>
          <a:xfrm>
            <a:off x="173482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2" name="Freeform 12">
            <a:extLst>
              <a:ext uri="{FF2B5EF4-FFF2-40B4-BE49-F238E27FC236}">
                <a16:creationId xmlns:a16="http://schemas.microsoft.com/office/drawing/2014/main" id="{C8B10E07-06EE-AD5E-BEFE-CB13509DA85F}"/>
              </a:ext>
            </a:extLst>
          </p:cNvPr>
          <p:cNvSpPr/>
          <p:nvPr/>
        </p:nvSpPr>
        <p:spPr>
          <a:xfrm>
            <a:off x="173355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a:extLst>
              <a:ext uri="{FF2B5EF4-FFF2-40B4-BE49-F238E27FC236}">
                <a16:creationId xmlns:a16="http://schemas.microsoft.com/office/drawing/2014/main" id="{B05948AD-035C-AECA-780D-ADC133798D77}"/>
              </a:ext>
            </a:extLst>
          </p:cNvPr>
          <p:cNvSpPr/>
          <p:nvPr/>
        </p:nvSpPr>
        <p:spPr>
          <a:xfrm>
            <a:off x="173482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4" name="Freeform 14">
            <a:extLst>
              <a:ext uri="{FF2B5EF4-FFF2-40B4-BE49-F238E27FC236}">
                <a16:creationId xmlns:a16="http://schemas.microsoft.com/office/drawing/2014/main" id="{8FE2871E-EFAE-3076-8049-EB95AEFB3689}"/>
              </a:ext>
            </a:extLst>
          </p:cNvPr>
          <p:cNvSpPr/>
          <p:nvPr/>
        </p:nvSpPr>
        <p:spPr>
          <a:xfrm>
            <a:off x="173355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a:extLst>
              <a:ext uri="{FF2B5EF4-FFF2-40B4-BE49-F238E27FC236}">
                <a16:creationId xmlns:a16="http://schemas.microsoft.com/office/drawing/2014/main" id="{11EA8602-CE90-8ABC-1DF3-1FB1B924D58F}"/>
              </a:ext>
            </a:extLst>
          </p:cNvPr>
          <p:cNvSpPr/>
          <p:nvPr/>
        </p:nvSpPr>
        <p:spPr>
          <a:xfrm>
            <a:off x="173482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6" name="Freeform 16">
            <a:extLst>
              <a:ext uri="{FF2B5EF4-FFF2-40B4-BE49-F238E27FC236}">
                <a16:creationId xmlns:a16="http://schemas.microsoft.com/office/drawing/2014/main" id="{C58F68B8-46EB-81AC-A795-1ACE3080A272}"/>
              </a:ext>
            </a:extLst>
          </p:cNvPr>
          <p:cNvSpPr/>
          <p:nvPr/>
        </p:nvSpPr>
        <p:spPr>
          <a:xfrm>
            <a:off x="173355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a:extLst>
              <a:ext uri="{FF2B5EF4-FFF2-40B4-BE49-F238E27FC236}">
                <a16:creationId xmlns:a16="http://schemas.microsoft.com/office/drawing/2014/main" id="{B54ED099-C178-3DFB-4344-0A0B2F23FC55}"/>
              </a:ext>
            </a:extLst>
          </p:cNvPr>
          <p:cNvSpPr/>
          <p:nvPr/>
        </p:nvSpPr>
        <p:spPr>
          <a:xfrm>
            <a:off x="173482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8" name="Freeform 18">
            <a:extLst>
              <a:ext uri="{FF2B5EF4-FFF2-40B4-BE49-F238E27FC236}">
                <a16:creationId xmlns:a16="http://schemas.microsoft.com/office/drawing/2014/main" id="{3D653735-0B06-D289-11DA-4B626E705DA8}"/>
              </a:ext>
            </a:extLst>
          </p:cNvPr>
          <p:cNvSpPr/>
          <p:nvPr/>
        </p:nvSpPr>
        <p:spPr>
          <a:xfrm rot="10800000">
            <a:off x="5334000" y="800100"/>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19" name="AutoShape 19">
            <a:extLst>
              <a:ext uri="{FF2B5EF4-FFF2-40B4-BE49-F238E27FC236}">
                <a16:creationId xmlns:a16="http://schemas.microsoft.com/office/drawing/2014/main" id="{A6307741-BFAE-6B2D-A4D4-B3A70F7EB309}"/>
              </a:ext>
            </a:extLst>
          </p:cNvPr>
          <p:cNvSpPr/>
          <p:nvPr/>
        </p:nvSpPr>
        <p:spPr>
          <a:xfrm rot="10800000">
            <a:off x="6057900" y="1511300"/>
            <a:ext cx="6184900" cy="61849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0" name="AutoShape 20">
            <a:extLst>
              <a:ext uri="{FF2B5EF4-FFF2-40B4-BE49-F238E27FC236}">
                <a16:creationId xmlns:a16="http://schemas.microsoft.com/office/drawing/2014/main" id="{55993A3A-2D16-70A9-39C8-E41420B542CE}"/>
              </a:ext>
            </a:extLst>
          </p:cNvPr>
          <p:cNvSpPr/>
          <p:nvPr/>
        </p:nvSpPr>
        <p:spPr>
          <a:xfrm>
            <a:off x="7785100" y="2832100"/>
            <a:ext cx="2730500" cy="2006600"/>
          </a:xfrm>
          <a:prstGeom prst="rect">
            <a:avLst/>
          </a:prstGeom>
          <a:noFill/>
          <a:ln w="19050" cap="flat" cmpd="sng">
            <a:noFill/>
            <a:prstDash val="solid"/>
            <a:round/>
          </a:ln>
        </p:spPr>
        <p:txBody>
          <a:bodyPr vert="horz" wrap="square" lIns="0" tIns="0" rIns="0" bIns="0" rtlCol="0" anchor="t" anchorCtr="0"/>
          <a:lstStyle/>
          <a:p>
            <a:pPr marL="0" indent="0" algn="ctr">
              <a:lnSpc>
                <a:spcPts val="17080"/>
              </a:lnSpc>
              <a:defRPr/>
            </a:pPr>
            <a:r>
              <a:rPr lang="en-US" sz="12200" b="0" i="0" u="none" strike="noStrike" dirty="0">
                <a:solidFill>
                  <a:srgbClr val="004AAD"/>
                </a:solidFill>
                <a:latin typeface="Times New Roman"/>
                <a:ea typeface="Times New Roman"/>
                <a:cs typeface="Times New Roman"/>
                <a:sym typeface="Times New Roman"/>
              </a:rPr>
              <a:t>5.4</a:t>
            </a:r>
            <a:endParaRPr lang="en-US" sz="1100" dirty="0"/>
          </a:p>
        </p:txBody>
      </p:sp>
      <p:sp>
        <p:nvSpPr>
          <p:cNvPr id="21" name="AutoShape 21">
            <a:extLst>
              <a:ext uri="{FF2B5EF4-FFF2-40B4-BE49-F238E27FC236}">
                <a16:creationId xmlns:a16="http://schemas.microsoft.com/office/drawing/2014/main" id="{43FD72F4-6F3F-AD81-9C83-D786D85E254F}"/>
              </a:ext>
            </a:extLst>
          </p:cNvPr>
          <p:cNvSpPr/>
          <p:nvPr/>
        </p:nvSpPr>
        <p:spPr>
          <a:xfrm>
            <a:off x="2495246" y="5181655"/>
            <a:ext cx="13306647" cy="1435100"/>
          </a:xfrm>
          <a:prstGeom prst="rect">
            <a:avLst/>
          </a:prstGeom>
          <a:noFill/>
          <a:ln w="19050" cap="flat" cmpd="sng">
            <a:noFill/>
            <a:prstDash val="solid"/>
            <a:round/>
          </a:ln>
        </p:spPr>
        <p:txBody>
          <a:bodyPr vert="horz" wrap="square" lIns="0" tIns="0" rIns="0" bIns="0" rtlCol="0" anchor="t" anchorCtr="0"/>
          <a:lstStyle/>
          <a:p>
            <a:pPr algn="ctr">
              <a:lnSpc>
                <a:spcPts val="11200"/>
              </a:lnSpc>
              <a:defRPr/>
            </a:pPr>
            <a:r>
              <a:rPr lang="zh-CN" altLang="zh-CN" sz="9600" b="1" dirty="0">
                <a:solidFill>
                  <a:schemeClr val="accent1">
                    <a:lumMod val="75000"/>
                  </a:schemeClr>
                </a:solidFill>
                <a:latin typeface="仿宋" panose="02010609060101010101" pitchFamily="49" charset="-122"/>
                <a:ea typeface="仿宋" panose="02010609060101010101" pitchFamily="49" charset="-122"/>
              </a:rPr>
              <a:t>欧洲</a:t>
            </a:r>
            <a:r>
              <a:rPr lang="en-US" altLang="zh-CN" sz="9600" b="1" dirty="0">
                <a:solidFill>
                  <a:schemeClr val="accent1">
                    <a:lumMod val="75000"/>
                  </a:schemeClr>
                </a:solidFill>
                <a:latin typeface="Times New Roman" panose="02020603050405020304" pitchFamily="18" charset="0"/>
                <a:cs typeface="Times New Roman" panose="02020603050405020304" pitchFamily="18" charset="0"/>
              </a:rPr>
              <a:t>eSTREAM</a:t>
            </a:r>
            <a:r>
              <a:rPr lang="zh-CN" altLang="zh-CN" sz="9600" b="1" dirty="0">
                <a:solidFill>
                  <a:schemeClr val="accent1">
                    <a:lumMod val="75000"/>
                  </a:schemeClr>
                </a:solidFill>
                <a:latin typeface="仿宋" panose="02010609060101010101" pitchFamily="49" charset="-122"/>
                <a:ea typeface="仿宋" panose="02010609060101010101" pitchFamily="49" charset="-122"/>
              </a:rPr>
              <a:t>序列密码</a:t>
            </a:r>
            <a:endParaRPr lang="en-US" sz="9600" b="1" dirty="0">
              <a:solidFill>
                <a:schemeClr val="accent1">
                  <a:lumMod val="75000"/>
                </a:schemeClr>
              </a:solidFill>
              <a:latin typeface="仿宋" panose="02010609060101010101" pitchFamily="49" charset="-122"/>
              <a:ea typeface="仿宋" panose="02010609060101010101" pitchFamily="49" charset="-122"/>
            </a:endParaRPr>
          </a:p>
        </p:txBody>
      </p:sp>
      <p:sp>
        <p:nvSpPr>
          <p:cNvPr id="22" name="Freeform 22">
            <a:extLst>
              <a:ext uri="{FF2B5EF4-FFF2-40B4-BE49-F238E27FC236}">
                <a16:creationId xmlns:a16="http://schemas.microsoft.com/office/drawing/2014/main" id="{CB3D2153-C384-BFCA-B27E-68B13B9446B9}"/>
              </a:ext>
            </a:extLst>
          </p:cNvPr>
          <p:cNvSpPr/>
          <p:nvPr/>
        </p:nvSpPr>
        <p:spPr>
          <a:xfrm>
            <a:off x="-1028700" y="9029700"/>
            <a:ext cx="20887940"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AutoShape 23">
            <a:extLst>
              <a:ext uri="{FF2B5EF4-FFF2-40B4-BE49-F238E27FC236}">
                <a16:creationId xmlns:a16="http://schemas.microsoft.com/office/drawing/2014/main" id="{A5F3E1BB-4232-CB02-512A-D75588B728BA}"/>
              </a:ext>
            </a:extLst>
          </p:cNvPr>
          <p:cNvSpPr/>
          <p:nvPr/>
        </p:nvSpPr>
        <p:spPr>
          <a:xfrm>
            <a:off x="-1028700" y="9029700"/>
            <a:ext cx="20891500" cy="10922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4" name="Freeform 24">
            <a:extLst>
              <a:ext uri="{FF2B5EF4-FFF2-40B4-BE49-F238E27FC236}">
                <a16:creationId xmlns:a16="http://schemas.microsoft.com/office/drawing/2014/main" id="{19210C73-4CF5-4315-A411-7C2E3254F0BE}"/>
              </a:ext>
            </a:extLst>
          </p:cNvPr>
          <p:cNvSpPr/>
          <p:nvPr/>
        </p:nvSpPr>
        <p:spPr>
          <a:xfrm>
            <a:off x="-1295400" y="9182100"/>
            <a:ext cx="2088794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a:extLst>
              <a:ext uri="{FF2B5EF4-FFF2-40B4-BE49-F238E27FC236}">
                <a16:creationId xmlns:a16="http://schemas.microsoft.com/office/drawing/2014/main" id="{77DCF000-A108-966A-5A4E-3A4902E20A84}"/>
              </a:ext>
            </a:extLst>
          </p:cNvPr>
          <p:cNvSpPr/>
          <p:nvPr/>
        </p:nvSpPr>
        <p:spPr>
          <a:xfrm>
            <a:off x="-1295400" y="9182100"/>
            <a:ext cx="20891500" cy="12446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6" name="AutoShape 26">
            <a:extLst>
              <a:ext uri="{FF2B5EF4-FFF2-40B4-BE49-F238E27FC236}">
                <a16:creationId xmlns:a16="http://schemas.microsoft.com/office/drawing/2014/main" id="{B7A350C3-CC16-AA99-8FAB-AA3D99A9AE9D}"/>
              </a:ext>
            </a:extLst>
          </p:cNvPr>
          <p:cNvSpPr/>
          <p:nvPr/>
        </p:nvSpPr>
        <p:spPr>
          <a:xfrm>
            <a:off x="15379700" y="95250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r>
              <a:rPr lang="en-US" dirty="0">
                <a:solidFill>
                  <a:srgbClr val="FFC000"/>
                </a:solidFill>
                <a:latin typeface="Calibri"/>
                <a:ea typeface="Calibri"/>
                <a:cs typeface="Calibri"/>
                <a:sym typeface="Calibri"/>
              </a:rPr>
              <a:t>22</a:t>
            </a:r>
            <a:endParaRPr lang="en-US" sz="1100" dirty="0"/>
          </a:p>
        </p:txBody>
      </p:sp>
      <p:sp>
        <p:nvSpPr>
          <p:cNvPr id="30" name="AutoShape 29">
            <a:extLst>
              <a:ext uri="{FF2B5EF4-FFF2-40B4-BE49-F238E27FC236}">
                <a16:creationId xmlns:a16="http://schemas.microsoft.com/office/drawing/2014/main" id="{31E69465-9ACC-11B3-8E11-D5F4DD92CAEF}"/>
              </a:ext>
            </a:extLst>
          </p:cNvPr>
          <p:cNvSpPr/>
          <p:nvPr/>
        </p:nvSpPr>
        <p:spPr>
          <a:xfrm>
            <a:off x="800100" y="6096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32" name="Picture 30">
            <a:extLst>
              <a:ext uri="{FF2B5EF4-FFF2-40B4-BE49-F238E27FC236}">
                <a16:creationId xmlns:a16="http://schemas.microsoft.com/office/drawing/2014/main" id="{1BCE2744-90D8-C615-0263-AAC78D3944AB}"/>
              </a:ext>
            </a:extLst>
          </p:cNvPr>
          <p:cNvPicPr>
            <a:picLocks noChangeAspect="1"/>
          </p:cNvPicPr>
          <p:nvPr/>
        </p:nvPicPr>
        <p:blipFill>
          <a:blip r:embed="rId3"/>
          <a:srcRect/>
          <a:stretch>
            <a:fillRect/>
          </a:stretch>
        </p:blipFill>
        <p:spPr>
          <a:xfrm>
            <a:off x="927100" y="977900"/>
            <a:ext cx="2768600" cy="50800"/>
          </a:xfrm>
          <a:prstGeom prst="rect">
            <a:avLst/>
          </a:prstGeom>
          <a:noFill/>
          <a:ln w="25400" cap="flat" cmpd="sng">
            <a:noFill/>
            <a:prstDash val="solid"/>
            <a:round/>
          </a:ln>
        </p:spPr>
      </p:pic>
    </p:spTree>
    <p:extLst>
      <p:ext uri="{BB962C8B-B14F-4D97-AF65-F5344CB8AC3E}">
        <p14:creationId xmlns:p14="http://schemas.microsoft.com/office/powerpoint/2010/main" val="12729405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a:extLst>
            <a:ext uri="{FF2B5EF4-FFF2-40B4-BE49-F238E27FC236}">
              <a16:creationId xmlns:a16="http://schemas.microsoft.com/office/drawing/2014/main" id="{FE4CF027-FE94-6BDE-352B-E878DF461EDD}"/>
            </a:ext>
          </a:extLst>
        </p:cNvPr>
        <p:cNvGrpSpPr/>
        <p:nvPr/>
      </p:nvGrpSpPr>
      <p:grpSpPr>
        <a:xfrm>
          <a:off x="0" y="0"/>
          <a:ext cx="0" cy="0"/>
          <a:chOff x="0" y="0"/>
          <a:chExt cx="0" cy="0"/>
        </a:xfrm>
      </p:grpSpPr>
      <p:sp>
        <p:nvSpPr>
          <p:cNvPr id="4" name="AutoShape 4">
            <a:extLst>
              <a:ext uri="{FF2B5EF4-FFF2-40B4-BE49-F238E27FC236}">
                <a16:creationId xmlns:a16="http://schemas.microsoft.com/office/drawing/2014/main" id="{6A795A03-3446-DF01-2606-2CC5AD27FF2C}"/>
              </a:ext>
            </a:extLst>
          </p:cNvPr>
          <p:cNvSpPr/>
          <p:nvPr/>
        </p:nvSpPr>
        <p:spPr>
          <a:xfrm>
            <a:off x="876300" y="1473200"/>
            <a:ext cx="16459200" cy="8712201"/>
          </a:xfrm>
          <a:prstGeom prst="rect">
            <a:avLst/>
          </a:prstGeom>
          <a:noFill/>
          <a:ln w="19050" cap="flat" cmpd="sng">
            <a:noFill/>
            <a:prstDash val="solid"/>
            <a:round/>
          </a:ln>
        </p:spPr>
        <p:txBody>
          <a:bodyPr vert="horz" wrap="square" lIns="0" tIns="0" rIns="0" bIns="0" rtlCol="0" anchor="t" anchorCtr="0"/>
          <a:lstStyle/>
          <a:p>
            <a:r>
              <a:rPr lang="en-US" altLang="zh-CN" sz="3200" dirty="0"/>
              <a:t>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eSTREAM</a:t>
            </a:r>
            <a:r>
              <a:rPr lang="zh-CN" altLang="zh-CN" sz="3600" dirty="0">
                <a:latin typeface="宋体" panose="02010600030101010101" pitchFamily="2" charset="-122"/>
                <a:ea typeface="宋体" panose="02010600030101010101" pitchFamily="2" charset="-122"/>
              </a:rPr>
              <a:t>（欧盟流密码标准化项目）的主要任务是征集新的可以广泛使用的序列密码算法，以改变</a:t>
            </a:r>
            <a:r>
              <a:rPr lang="en-US" altLang="zh-CN" sz="3600" dirty="0">
                <a:latin typeface="宋体" panose="02010600030101010101" pitchFamily="2" charset="-122"/>
                <a:ea typeface="宋体" panose="02010600030101010101" pitchFamily="2" charset="-122"/>
              </a:rPr>
              <a:t>2003</a:t>
            </a:r>
            <a:r>
              <a:rPr lang="zh-CN" altLang="zh-CN" sz="3600" dirty="0">
                <a:latin typeface="宋体" panose="02010600030101010101" pitchFamily="2" charset="-122"/>
                <a:ea typeface="宋体" panose="02010600030101010101" pitchFamily="2" charset="-122"/>
              </a:rPr>
              <a:t>年</a:t>
            </a:r>
            <a:r>
              <a:rPr lang="en-US" altLang="zh-CN" sz="3600" dirty="0">
                <a:latin typeface="宋体" panose="02010600030101010101" pitchFamily="2" charset="-122"/>
                <a:ea typeface="宋体" panose="02010600030101010101" pitchFamily="2" charset="-122"/>
              </a:rPr>
              <a:t>NESSIE</a:t>
            </a:r>
            <a:r>
              <a:rPr lang="zh-CN" altLang="zh-CN" sz="3600" dirty="0">
                <a:latin typeface="宋体" panose="02010600030101010101" pitchFamily="2" charset="-122"/>
                <a:ea typeface="宋体" panose="02010600030101010101" pitchFamily="2" charset="-122"/>
              </a:rPr>
              <a:t>，共收到</a:t>
            </a:r>
            <a:r>
              <a:rPr lang="en-US" altLang="zh-CN" sz="3600" dirty="0">
                <a:latin typeface="宋体" panose="02010600030101010101" pitchFamily="2" charset="-122"/>
                <a:ea typeface="宋体" panose="02010600030101010101" pitchFamily="2" charset="-122"/>
              </a:rPr>
              <a:t>34</a:t>
            </a:r>
            <a:r>
              <a:rPr lang="zh-CN" altLang="zh-CN" sz="3600" dirty="0">
                <a:latin typeface="宋体" panose="02010600030101010101" pitchFamily="2" charset="-122"/>
                <a:ea typeface="宋体" panose="02010600030101010101" pitchFamily="2" charset="-122"/>
              </a:rPr>
              <a:t>个候选算法。经过</a:t>
            </a:r>
            <a:r>
              <a:rPr lang="en-US" altLang="zh-CN" sz="3600" dirty="0">
                <a:latin typeface="宋体" panose="02010600030101010101" pitchFamily="2" charset="-122"/>
                <a:ea typeface="宋体" panose="02010600030101010101" pitchFamily="2" charset="-122"/>
              </a:rPr>
              <a:t>3</a:t>
            </a:r>
            <a:r>
              <a:rPr lang="zh-CN" altLang="zh-CN" sz="3600" dirty="0">
                <a:latin typeface="宋体" panose="02010600030101010101" pitchFamily="2" charset="-122"/>
                <a:ea typeface="宋体" panose="02010600030101010101" pitchFamily="2" charset="-122"/>
              </a:rPr>
              <a:t>轮为期</a:t>
            </a:r>
            <a:r>
              <a:rPr lang="en-US" altLang="zh-CN" sz="3600" dirty="0">
                <a:latin typeface="宋体" panose="02010600030101010101" pitchFamily="2" charset="-122"/>
                <a:ea typeface="宋体" panose="02010600030101010101" pitchFamily="2" charset="-122"/>
              </a:rPr>
              <a:t>4</a:t>
            </a:r>
            <a:r>
              <a:rPr lang="zh-CN" altLang="zh-CN" sz="3600" dirty="0">
                <a:latin typeface="宋体" panose="02010600030101010101" pitchFamily="2" charset="-122"/>
                <a:ea typeface="宋体" panose="02010600030101010101" pitchFamily="2" charset="-122"/>
              </a:rPr>
              <a:t>年的评估，</a:t>
            </a:r>
            <a:r>
              <a:rPr lang="en-US" altLang="zh-CN" sz="3600" dirty="0">
                <a:latin typeface="宋体" panose="02010600030101010101" pitchFamily="2" charset="-122"/>
                <a:ea typeface="宋体" panose="02010600030101010101" pitchFamily="2" charset="-122"/>
              </a:rPr>
              <a:t>2008</a:t>
            </a:r>
            <a:r>
              <a:rPr lang="zh-CN" altLang="zh-CN" sz="3600" dirty="0">
                <a:latin typeface="宋体" panose="02010600030101010101" pitchFamily="2" charset="-122"/>
                <a:ea typeface="宋体" panose="02010600030101010101" pitchFamily="2" charset="-122"/>
              </a:rPr>
              <a:t>年</a:t>
            </a:r>
            <a:r>
              <a:rPr lang="en-US" altLang="zh-CN" sz="3600" dirty="0">
                <a:latin typeface="宋体" panose="02010600030101010101" pitchFamily="2" charset="-122"/>
                <a:ea typeface="宋体" panose="02010600030101010101" pitchFamily="2" charset="-122"/>
              </a:rPr>
              <a:t>4</a:t>
            </a:r>
            <a:r>
              <a:rPr lang="zh-CN" altLang="zh-CN" sz="3600" dirty="0">
                <a:latin typeface="宋体" panose="02010600030101010101" pitchFamily="2" charset="-122"/>
                <a:ea typeface="宋体" panose="02010600030101010101" pitchFamily="2" charset="-122"/>
              </a:rPr>
              <a:t>月</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eSTREAM</a:t>
            </a:r>
            <a:r>
              <a:rPr lang="zh-CN" altLang="zh-CN" sz="3600" dirty="0">
                <a:latin typeface="宋体" panose="02010600030101010101" pitchFamily="2" charset="-122"/>
                <a:ea typeface="宋体" panose="02010600030101010101" pitchFamily="2" charset="-122"/>
              </a:rPr>
              <a:t>工程结束，共有</a:t>
            </a:r>
            <a:r>
              <a:rPr lang="en-US" altLang="zh-CN" sz="3600" dirty="0">
                <a:latin typeface="宋体" panose="02010600030101010101" pitchFamily="2" charset="-122"/>
                <a:ea typeface="宋体" panose="02010600030101010101" pitchFamily="2" charset="-122"/>
              </a:rPr>
              <a:t>8</a:t>
            </a:r>
            <a:r>
              <a:rPr lang="zh-CN" altLang="zh-CN" sz="3600" dirty="0">
                <a:latin typeface="宋体" panose="02010600030101010101" pitchFamily="2" charset="-122"/>
                <a:ea typeface="宋体" panose="02010600030101010101" pitchFamily="2" charset="-122"/>
              </a:rPr>
              <a:t>个参赛算法获选。三个评估阶段如下</a:t>
            </a:r>
            <a:r>
              <a:rPr lang="zh-CN" altLang="en-US" sz="3600" dirty="0">
                <a:latin typeface="宋体" panose="02010600030101010101" pitchFamily="2" charset="-122"/>
                <a:ea typeface="宋体" panose="02010600030101010101" pitchFamily="2" charset="-122"/>
              </a:rPr>
              <a:t>：</a:t>
            </a:r>
            <a:endParaRPr lang="zh-CN" altLang="zh-CN" sz="3600" dirty="0">
              <a:latin typeface="宋体" panose="02010600030101010101" pitchFamily="2" charset="-122"/>
              <a:ea typeface="宋体" panose="02010600030101010101" pitchFamily="2" charset="-122"/>
            </a:endParaRPr>
          </a:p>
          <a:p>
            <a:r>
              <a:rPr lang="en-US" altLang="zh-CN" sz="3600" dirty="0">
                <a:latin typeface="宋体" panose="02010600030101010101" pitchFamily="2" charset="-122"/>
                <a:ea typeface="宋体" panose="02010600030101010101" pitchFamily="2" charset="-122"/>
              </a:rPr>
              <a:t>     </a:t>
            </a:r>
            <a:r>
              <a:rPr lang="zh-CN" altLang="zh-CN" sz="3600" dirty="0">
                <a:latin typeface="宋体" panose="02010600030101010101" pitchFamily="2" charset="-122"/>
                <a:ea typeface="宋体" panose="02010600030101010101" pitchFamily="2" charset="-122"/>
              </a:rPr>
              <a:t>第一评估阶段：</a:t>
            </a:r>
            <a:r>
              <a:rPr lang="en-US" altLang="zh-CN" sz="3600" dirty="0">
                <a:latin typeface="宋体" panose="02010600030101010101" pitchFamily="2" charset="-122"/>
                <a:ea typeface="宋体" panose="02010600030101010101" pitchFamily="2" charset="-122"/>
              </a:rPr>
              <a:t>2005</a:t>
            </a:r>
            <a:r>
              <a:rPr lang="zh-CN" altLang="zh-CN" sz="3600" dirty="0">
                <a:latin typeface="宋体" panose="02010600030101010101" pitchFamily="2" charset="-122"/>
                <a:ea typeface="宋体" panose="02010600030101010101" pitchFamily="2" charset="-122"/>
              </a:rPr>
              <a:t>年</a:t>
            </a:r>
            <a:r>
              <a:rPr lang="en-US" altLang="zh-CN" sz="3600" dirty="0">
                <a:latin typeface="宋体" panose="02010600030101010101" pitchFamily="2" charset="-122"/>
                <a:ea typeface="宋体" panose="02010600030101010101" pitchFamily="2" charset="-122"/>
              </a:rPr>
              <a:t>5</a:t>
            </a:r>
            <a:r>
              <a:rPr lang="zh-CN" altLang="zh-CN" sz="3600" dirty="0">
                <a:latin typeface="宋体" panose="02010600030101010101" pitchFamily="2" charset="-122"/>
                <a:ea typeface="宋体" panose="02010600030101010101" pitchFamily="2" charset="-122"/>
              </a:rPr>
              <a:t>月—</a:t>
            </a:r>
            <a:r>
              <a:rPr lang="en-US" altLang="zh-CN" sz="3600" dirty="0">
                <a:latin typeface="宋体" panose="02010600030101010101" pitchFamily="2" charset="-122"/>
                <a:ea typeface="宋体" panose="02010600030101010101" pitchFamily="2" charset="-122"/>
              </a:rPr>
              <a:t>2006</a:t>
            </a:r>
            <a:r>
              <a:rPr lang="zh-CN" altLang="zh-CN" sz="3600" dirty="0">
                <a:latin typeface="宋体" panose="02010600030101010101" pitchFamily="2" charset="-122"/>
                <a:ea typeface="宋体" panose="02010600030101010101" pitchFamily="2" charset="-122"/>
              </a:rPr>
              <a:t>年</a:t>
            </a:r>
            <a:r>
              <a:rPr lang="en-US" altLang="zh-CN" sz="3600" dirty="0">
                <a:latin typeface="宋体" panose="02010600030101010101" pitchFamily="2" charset="-122"/>
                <a:ea typeface="宋体" panose="02010600030101010101" pitchFamily="2" charset="-122"/>
              </a:rPr>
              <a:t>2</a:t>
            </a:r>
            <a:r>
              <a:rPr lang="zh-CN" altLang="zh-CN" sz="3600" dirty="0">
                <a:latin typeface="宋体" panose="02010600030101010101" pitchFamily="2" charset="-122"/>
                <a:ea typeface="宋体" panose="02010600030101010101" pitchFamily="2" charset="-122"/>
              </a:rPr>
              <a:t>月。</a:t>
            </a:r>
          </a:p>
          <a:p>
            <a:r>
              <a:rPr lang="zh-CN" altLang="zh-CN" sz="3600" dirty="0">
                <a:latin typeface="宋体" panose="02010600030101010101" pitchFamily="2" charset="-122"/>
                <a:ea typeface="宋体" panose="02010600030101010101" pitchFamily="2" charset="-122"/>
              </a:rPr>
              <a:t>第一评估阶段对所有提交的候选算法按评估标准进行详细评估。该阶段产生了大量安全性分析报告和性能测试报告，学术讨论气氛浓厚，为下一阶段评估建立了测评构架。第一评估阶段有</a:t>
            </a:r>
            <a:r>
              <a:rPr lang="en-US" altLang="zh-CN" sz="3600" dirty="0">
                <a:latin typeface="宋体" panose="02010600030101010101" pitchFamily="2" charset="-122"/>
                <a:ea typeface="宋体" panose="02010600030101010101" pitchFamily="2" charset="-122"/>
              </a:rPr>
              <a:t>7</a:t>
            </a:r>
            <a:r>
              <a:rPr lang="zh-CN" altLang="zh-CN" sz="3600" dirty="0">
                <a:latin typeface="宋体" panose="02010600030101010101" pitchFamily="2" charset="-122"/>
                <a:ea typeface="宋体" panose="02010600030101010101" pitchFamily="2" charset="-122"/>
              </a:rPr>
              <a:t>个候选算法被淘汰。</a:t>
            </a:r>
          </a:p>
          <a:p>
            <a:r>
              <a:rPr lang="en-US" altLang="zh-CN" sz="3600" dirty="0">
                <a:latin typeface="宋体" panose="02010600030101010101" pitchFamily="2" charset="-122"/>
                <a:ea typeface="宋体" panose="02010600030101010101" pitchFamily="2" charset="-122"/>
              </a:rPr>
              <a:t>     </a:t>
            </a:r>
            <a:r>
              <a:rPr lang="zh-CN" altLang="zh-CN" sz="3600" dirty="0">
                <a:latin typeface="宋体" panose="02010600030101010101" pitchFamily="2" charset="-122"/>
                <a:ea typeface="宋体" panose="02010600030101010101" pitchFamily="2" charset="-122"/>
              </a:rPr>
              <a:t>第二评估阶段：</a:t>
            </a:r>
            <a:r>
              <a:rPr lang="en-US" altLang="zh-CN" sz="3600" dirty="0">
                <a:latin typeface="宋体" panose="02010600030101010101" pitchFamily="2" charset="-122"/>
                <a:ea typeface="宋体" panose="02010600030101010101" pitchFamily="2" charset="-122"/>
              </a:rPr>
              <a:t>2006</a:t>
            </a:r>
            <a:r>
              <a:rPr lang="zh-CN" altLang="zh-CN" sz="3600" dirty="0">
                <a:latin typeface="宋体" panose="02010600030101010101" pitchFamily="2" charset="-122"/>
                <a:ea typeface="宋体" panose="02010600030101010101" pitchFamily="2" charset="-122"/>
              </a:rPr>
              <a:t>年</a:t>
            </a:r>
            <a:r>
              <a:rPr lang="en-US" altLang="zh-CN" sz="3600" dirty="0">
                <a:latin typeface="宋体" panose="02010600030101010101" pitchFamily="2" charset="-122"/>
                <a:ea typeface="宋体" panose="02010600030101010101" pitchFamily="2" charset="-122"/>
              </a:rPr>
              <a:t>7</a:t>
            </a:r>
            <a:r>
              <a:rPr lang="zh-CN" altLang="zh-CN" sz="3600" dirty="0">
                <a:latin typeface="宋体" panose="02010600030101010101" pitchFamily="2" charset="-122"/>
                <a:ea typeface="宋体" panose="02010600030101010101" pitchFamily="2" charset="-122"/>
              </a:rPr>
              <a:t>月—</a:t>
            </a:r>
            <a:r>
              <a:rPr lang="en-US" altLang="zh-CN" sz="3600" dirty="0">
                <a:latin typeface="宋体" panose="02010600030101010101" pitchFamily="2" charset="-122"/>
                <a:ea typeface="宋体" panose="02010600030101010101" pitchFamily="2" charset="-122"/>
              </a:rPr>
              <a:t>2007</a:t>
            </a:r>
            <a:r>
              <a:rPr lang="zh-CN" altLang="zh-CN" sz="3600" dirty="0">
                <a:latin typeface="宋体" panose="02010600030101010101" pitchFamily="2" charset="-122"/>
                <a:ea typeface="宋体" panose="02010600030101010101" pitchFamily="2" charset="-122"/>
              </a:rPr>
              <a:t>年</a:t>
            </a:r>
            <a:r>
              <a:rPr lang="en-US" altLang="zh-CN" sz="3600" dirty="0">
                <a:latin typeface="宋体" panose="02010600030101010101" pitchFamily="2" charset="-122"/>
                <a:ea typeface="宋体" panose="02010600030101010101" pitchFamily="2" charset="-122"/>
              </a:rPr>
              <a:t>2</a:t>
            </a:r>
            <a:r>
              <a:rPr lang="zh-CN" altLang="zh-CN" sz="3600" dirty="0">
                <a:latin typeface="宋体" panose="02010600030101010101" pitchFamily="2" charset="-122"/>
                <a:ea typeface="宋体" panose="02010600030101010101" pitchFamily="2" charset="-122"/>
              </a:rPr>
              <a:t>月。</a:t>
            </a:r>
          </a:p>
          <a:p>
            <a:r>
              <a:rPr lang="zh-CN" altLang="zh-CN" sz="3600" dirty="0">
                <a:latin typeface="宋体" panose="02010600030101010101" pitchFamily="2" charset="-122"/>
                <a:ea typeface="宋体" panose="02010600030101010101" pitchFamily="2" charset="-122"/>
              </a:rPr>
              <a:t>尽管很多算法在第一评估阶段被破解，但</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eSTREAM</a:t>
            </a:r>
            <a:r>
              <a:rPr lang="zh-CN" altLang="zh-CN" sz="3600" dirty="0">
                <a:latin typeface="宋体" panose="02010600030101010101" pitchFamily="2" charset="-122"/>
                <a:ea typeface="宋体" panose="02010600030101010101" pitchFamily="2" charset="-122"/>
              </a:rPr>
              <a:t>委员会考虑其设计理论的创新性，允许对这些算法进行适当修改后进入第二评估阶段。经过半年的评估，该阶段有</a:t>
            </a:r>
            <a:r>
              <a:rPr lang="en-US" altLang="zh-CN" sz="3600" dirty="0">
                <a:latin typeface="宋体" panose="02010600030101010101" pitchFamily="2" charset="-122"/>
                <a:ea typeface="宋体" panose="02010600030101010101" pitchFamily="2" charset="-122"/>
              </a:rPr>
              <a:t>11</a:t>
            </a:r>
            <a:r>
              <a:rPr lang="zh-CN" altLang="zh-CN" sz="3600" dirty="0">
                <a:latin typeface="宋体" panose="02010600030101010101" pitchFamily="2" charset="-122"/>
                <a:ea typeface="宋体" panose="02010600030101010101" pitchFamily="2" charset="-122"/>
              </a:rPr>
              <a:t>个候选算法被淘汰。</a:t>
            </a:r>
          </a:p>
          <a:p>
            <a:r>
              <a:rPr lang="en-US" altLang="zh-CN" sz="3600" dirty="0">
                <a:latin typeface="宋体" panose="02010600030101010101" pitchFamily="2" charset="-122"/>
                <a:ea typeface="宋体" panose="02010600030101010101" pitchFamily="2" charset="-122"/>
              </a:rPr>
              <a:t>     </a:t>
            </a:r>
            <a:r>
              <a:rPr lang="zh-CN" altLang="zh-CN" sz="3600" dirty="0">
                <a:latin typeface="宋体" panose="02010600030101010101" pitchFamily="2" charset="-122"/>
                <a:ea typeface="宋体" panose="02010600030101010101" pitchFamily="2" charset="-122"/>
              </a:rPr>
              <a:t>第三评估阶段：</a:t>
            </a:r>
            <a:r>
              <a:rPr lang="en-US" altLang="zh-CN" sz="3600" dirty="0">
                <a:latin typeface="宋体" panose="02010600030101010101" pitchFamily="2" charset="-122"/>
                <a:ea typeface="宋体" panose="02010600030101010101" pitchFamily="2" charset="-122"/>
              </a:rPr>
              <a:t>2007</a:t>
            </a:r>
            <a:r>
              <a:rPr lang="zh-CN" altLang="zh-CN" sz="3600" dirty="0">
                <a:latin typeface="宋体" panose="02010600030101010101" pitchFamily="2" charset="-122"/>
                <a:ea typeface="宋体" panose="02010600030101010101" pitchFamily="2" charset="-122"/>
              </a:rPr>
              <a:t>年</a:t>
            </a:r>
            <a:r>
              <a:rPr lang="en-US" altLang="zh-CN" sz="3600" dirty="0">
                <a:latin typeface="宋体" panose="02010600030101010101" pitchFamily="2" charset="-122"/>
                <a:ea typeface="宋体" panose="02010600030101010101" pitchFamily="2" charset="-122"/>
              </a:rPr>
              <a:t>4</a:t>
            </a:r>
            <a:r>
              <a:rPr lang="zh-CN" altLang="zh-CN" sz="3600" dirty="0">
                <a:latin typeface="宋体" panose="02010600030101010101" pitchFamily="2" charset="-122"/>
                <a:ea typeface="宋体" panose="02010600030101010101" pitchFamily="2" charset="-122"/>
              </a:rPr>
              <a:t>月—</a:t>
            </a:r>
            <a:r>
              <a:rPr lang="en-US" altLang="zh-CN" sz="3600" dirty="0">
                <a:latin typeface="宋体" panose="02010600030101010101" pitchFamily="2" charset="-122"/>
                <a:ea typeface="宋体" panose="02010600030101010101" pitchFamily="2" charset="-122"/>
              </a:rPr>
              <a:t>2008</a:t>
            </a:r>
            <a:r>
              <a:rPr lang="zh-CN" altLang="zh-CN" sz="3600" dirty="0">
                <a:latin typeface="宋体" panose="02010600030101010101" pitchFamily="2" charset="-122"/>
                <a:ea typeface="宋体" panose="02010600030101010101" pitchFamily="2" charset="-122"/>
              </a:rPr>
              <a:t>年</a:t>
            </a:r>
            <a:r>
              <a:rPr lang="en-US" altLang="zh-CN" sz="3600" dirty="0">
                <a:latin typeface="宋体" panose="02010600030101010101" pitchFamily="2" charset="-122"/>
                <a:ea typeface="宋体" panose="02010600030101010101" pitchFamily="2" charset="-122"/>
              </a:rPr>
              <a:t>4</a:t>
            </a:r>
            <a:r>
              <a:rPr lang="zh-CN" altLang="zh-CN" sz="3600" dirty="0">
                <a:latin typeface="宋体" panose="02010600030101010101" pitchFamily="2" charset="-122"/>
                <a:ea typeface="宋体" panose="02010600030101010101" pitchFamily="2" charset="-122"/>
              </a:rPr>
              <a:t>月。</a:t>
            </a:r>
          </a:p>
          <a:p>
            <a:r>
              <a:rPr lang="en-US" altLang="zh-CN" sz="3600" dirty="0">
                <a:latin typeface="宋体" panose="02010600030101010101" pitchFamily="2" charset="-122"/>
                <a:ea typeface="宋体" panose="02010600030101010101" pitchFamily="2" charset="-122"/>
              </a:rPr>
              <a:t>2008</a:t>
            </a:r>
            <a:r>
              <a:rPr lang="zh-CN" altLang="zh-CN" sz="3600" dirty="0">
                <a:latin typeface="宋体" panose="02010600030101010101" pitchFamily="2" charset="-122"/>
                <a:ea typeface="宋体" panose="02010600030101010101" pitchFamily="2" charset="-122"/>
              </a:rPr>
              <a:t>年</a:t>
            </a:r>
            <a:r>
              <a:rPr lang="en-US" altLang="zh-CN" sz="3600" dirty="0">
                <a:latin typeface="宋体" panose="02010600030101010101" pitchFamily="2" charset="-122"/>
                <a:ea typeface="宋体" panose="02010600030101010101" pitchFamily="2" charset="-122"/>
              </a:rPr>
              <a:t>4</a:t>
            </a:r>
            <a:r>
              <a:rPr lang="zh-CN" altLang="zh-CN" sz="3600" dirty="0">
                <a:latin typeface="宋体" panose="02010600030101010101" pitchFamily="2" charset="-122"/>
                <a:ea typeface="宋体" panose="02010600030101010101" pitchFamily="2" charset="-122"/>
              </a:rPr>
              <a:t>月，在</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SASC</a:t>
            </a:r>
            <a:r>
              <a:rPr lang="en-US" altLang="zh-CN" sz="3600" dirty="0">
                <a:latin typeface="宋体" panose="02010600030101010101" pitchFamily="2" charset="-122"/>
                <a:ea typeface="宋体" panose="02010600030101010101" pitchFamily="2" charset="-122"/>
              </a:rPr>
              <a:t> 2008</a:t>
            </a:r>
            <a:r>
              <a:rPr lang="zh-CN" altLang="zh-CN" sz="3600" dirty="0">
                <a:latin typeface="宋体" panose="02010600030101010101" pitchFamily="2" charset="-122"/>
                <a:ea typeface="宋体" panose="02010600030101010101" pitchFamily="2" charset="-122"/>
              </a:rPr>
              <a:t>会议上，参会研究人员对第三评估阶段候选算法进行了投票，共有</a:t>
            </a:r>
            <a:r>
              <a:rPr lang="en-US" altLang="zh-CN" sz="3600" dirty="0">
                <a:latin typeface="宋体" panose="02010600030101010101" pitchFamily="2" charset="-122"/>
                <a:ea typeface="宋体" panose="02010600030101010101" pitchFamily="2" charset="-122"/>
              </a:rPr>
              <a:t>8</a:t>
            </a:r>
            <a:r>
              <a:rPr lang="zh-CN" altLang="zh-CN" sz="3600" dirty="0">
                <a:latin typeface="宋体" panose="02010600030101010101" pitchFamily="2" charset="-122"/>
                <a:ea typeface="宋体" panose="02010600030101010101" pitchFamily="2" charset="-122"/>
              </a:rPr>
              <a:t>个候选算法获选，第三评估阶段候选算法投票结果对其研究进展进行了分类归纳，并尽可能多地给出相关研究文献，以便对它们进行进一步研究。</a:t>
            </a:r>
          </a:p>
          <a:p>
            <a:pPr marL="0" indent="914400" algn="just">
              <a:lnSpc>
                <a:spcPct val="125000"/>
              </a:lnSpc>
              <a:defRPr/>
            </a:pPr>
            <a:endParaRPr lang="en-US" sz="3200" b="0" i="0" u="none" strike="noStrike" dirty="0">
              <a:solidFill>
                <a:srgbClr val="000000"/>
              </a:solidFill>
              <a:latin typeface="Songti SC"/>
              <a:ea typeface="Songti SC"/>
              <a:cs typeface="Songti SC"/>
              <a:sym typeface="Songti SC"/>
            </a:endParaRPr>
          </a:p>
        </p:txBody>
      </p:sp>
      <p:sp>
        <p:nvSpPr>
          <p:cNvPr id="7" name="AutoShape 7">
            <a:extLst>
              <a:ext uri="{FF2B5EF4-FFF2-40B4-BE49-F238E27FC236}">
                <a16:creationId xmlns:a16="http://schemas.microsoft.com/office/drawing/2014/main" id="{5F89A7E5-1896-4E25-7D1D-8AED2225616C}"/>
              </a:ext>
            </a:extLst>
          </p:cNvPr>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84821A1B-28B4-430D-8C50-3BF1C220F25B}" type="slidenum">
              <a:rPr sz="1400" b="0" i="0" u="none" strike="noStrike">
                <a:solidFill>
                  <a:srgbClr val="FFC000"/>
                </a:solidFill>
                <a:latin typeface="Calibri"/>
                <a:ea typeface="Calibri"/>
                <a:cs typeface="Calibri"/>
                <a:sym typeface="Calibri"/>
              </a:rPr>
              <a:t>24</a:t>
            </a:fld>
            <a:endParaRPr lang="en-US" sz="1100"/>
          </a:p>
        </p:txBody>
      </p:sp>
      <p:sp>
        <p:nvSpPr>
          <p:cNvPr id="12" name="AutoShape 29">
            <a:extLst>
              <a:ext uri="{FF2B5EF4-FFF2-40B4-BE49-F238E27FC236}">
                <a16:creationId xmlns:a16="http://schemas.microsoft.com/office/drawing/2014/main" id="{57CAFEC5-9F3C-430C-A54D-DA8CE21AC645}"/>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4" name="Picture 30">
            <a:extLst>
              <a:ext uri="{FF2B5EF4-FFF2-40B4-BE49-F238E27FC236}">
                <a16:creationId xmlns:a16="http://schemas.microsoft.com/office/drawing/2014/main" id="{C195274C-8DF4-4462-831B-E0CF6AB3136C}"/>
              </a:ext>
            </a:extLst>
          </p:cNvPr>
          <p:cNvPicPr>
            <a:picLocks noChangeAspect="1"/>
          </p:cNvPicPr>
          <p:nvPr/>
        </p:nvPicPr>
        <p:blipFill>
          <a:blip r:embed="rId3"/>
          <a:srcRect/>
          <a:stretch>
            <a:fillRect/>
          </a:stretch>
        </p:blipFill>
        <p:spPr>
          <a:xfrm>
            <a:off x="13488377" y="1079500"/>
            <a:ext cx="2768600" cy="50800"/>
          </a:xfrm>
          <a:prstGeom prst="rect">
            <a:avLst/>
          </a:prstGeom>
          <a:noFill/>
          <a:ln w="25400" cap="flat" cmpd="sng">
            <a:noFill/>
            <a:prstDash val="solid"/>
            <a:round/>
          </a:ln>
        </p:spPr>
      </p:pic>
      <p:sp>
        <p:nvSpPr>
          <p:cNvPr id="16" name="Freeform 2">
            <a:extLst>
              <a:ext uri="{FF2B5EF4-FFF2-40B4-BE49-F238E27FC236}">
                <a16:creationId xmlns:a16="http://schemas.microsoft.com/office/drawing/2014/main" id="{53FC5D3F-C613-EF85-D675-A5E563E30C3A}"/>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8" name="AutoShape 3">
            <a:extLst>
              <a:ext uri="{FF2B5EF4-FFF2-40B4-BE49-F238E27FC236}">
                <a16:creationId xmlns:a16="http://schemas.microsoft.com/office/drawing/2014/main" id="{FE42F158-45AD-4AE1-622C-C6092EFC8DB1}"/>
              </a:ext>
            </a:extLst>
          </p:cNvPr>
          <p:cNvSpPr/>
          <p:nvPr/>
        </p:nvSpPr>
        <p:spPr>
          <a:xfrm>
            <a:off x="961833" y="935192"/>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0" name="AutoShape 6">
            <a:extLst>
              <a:ext uri="{FF2B5EF4-FFF2-40B4-BE49-F238E27FC236}">
                <a16:creationId xmlns:a16="http://schemas.microsoft.com/office/drawing/2014/main" id="{ECE7BF34-4C49-E00C-1C95-6830B6B4F596}"/>
              </a:ext>
            </a:extLst>
          </p:cNvPr>
          <p:cNvSpPr/>
          <p:nvPr/>
        </p:nvSpPr>
        <p:spPr>
          <a:xfrm>
            <a:off x="1044087" y="389300"/>
            <a:ext cx="1524000" cy="838200"/>
          </a:xfrm>
          <a:prstGeom prst="rect">
            <a:avLst/>
          </a:prstGeom>
          <a:noFill/>
          <a:ln w="19050" cap="flat" cmpd="sng">
            <a:noFill/>
            <a:prstDash val="solid"/>
            <a:round/>
          </a:ln>
        </p:spPr>
        <p:txBody>
          <a:bodyPr vert="horz" wrap="square" lIns="0" tIns="0" rIns="0" bIns="0" rtlCol="0" anchor="t" anchorCtr="0"/>
          <a:lstStyle/>
          <a:p>
            <a:pPr algn="ctr">
              <a:lnSpc>
                <a:spcPts val="6575"/>
              </a:lnSpc>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cs typeface="Times New Roman"/>
                <a:sym typeface="Times New Roman"/>
              </a:rPr>
              <a:t>5.4</a:t>
            </a:r>
            <a:endPar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cs typeface="Times New Roman"/>
            </a:endParaRPr>
          </a:p>
        </p:txBody>
      </p:sp>
      <p:pic>
        <p:nvPicPr>
          <p:cNvPr id="22" name="Picture 8">
            <a:extLst>
              <a:ext uri="{FF2B5EF4-FFF2-40B4-BE49-F238E27FC236}">
                <a16:creationId xmlns:a16="http://schemas.microsoft.com/office/drawing/2014/main" id="{EF467573-DE73-94CB-C84D-6AE9983613AF}"/>
              </a:ext>
            </a:extLst>
          </p:cNvPr>
          <p:cNvPicPr>
            <a:picLocks noChangeAspect="1"/>
          </p:cNvPicPr>
          <p:nvPr/>
        </p:nvPicPr>
        <p:blipFill>
          <a:blip r:embed="rId4">
            <a:alphaModFix amt="80000"/>
          </a:blip>
          <a:srcRect/>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24" name="AutoShape 5">
            <a:extLst>
              <a:ext uri="{FF2B5EF4-FFF2-40B4-BE49-F238E27FC236}">
                <a16:creationId xmlns:a16="http://schemas.microsoft.com/office/drawing/2014/main" id="{059C510D-14C6-46F3-ABBE-61B0CD523894}"/>
              </a:ext>
            </a:extLst>
          </p:cNvPr>
          <p:cNvSpPr/>
          <p:nvPr/>
        </p:nvSpPr>
        <p:spPr>
          <a:xfrm>
            <a:off x="2215958" y="459149"/>
            <a:ext cx="9461500" cy="723900"/>
          </a:xfrm>
          <a:prstGeom prst="rect">
            <a:avLst/>
          </a:prstGeom>
          <a:noFill/>
          <a:ln w="19050" cap="flat" cmpd="sng">
            <a:noFill/>
            <a:prstDash val="solid"/>
            <a:round/>
          </a:ln>
        </p:spPr>
        <p:txBody>
          <a:bodyPr vert="horz" wrap="square" lIns="0" tIns="0" rIns="0" bIns="0" rtlCol="0" anchor="t" anchorCtr="0"/>
          <a:lstStyle/>
          <a:p>
            <a:pPr>
              <a:lnSpc>
                <a:spcPts val="5600"/>
              </a:lnSpc>
            </a:pPr>
            <a:r>
              <a:rPr lang="zh-CN" altLang="zh-CN"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rPr>
              <a:t>欧洲</a:t>
            </a:r>
            <a:r>
              <a:rPr lang="en-US" altLang="zh-CN"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rPr>
              <a:t>eSTREAM</a:t>
            </a:r>
            <a:r>
              <a:rPr lang="zh-CN" altLang="zh-CN"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rPr>
              <a:t>序列密码</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858473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a:extLst>
            <a:ext uri="{FF2B5EF4-FFF2-40B4-BE49-F238E27FC236}">
              <a16:creationId xmlns:a16="http://schemas.microsoft.com/office/drawing/2014/main" id="{FC2949B3-A2DA-01C8-56AE-592EDC14D5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3709BE0-9BDC-E3E1-4272-7672768414CD}"/>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CF8B98CE-47E5-22D5-68BD-0BA1C08439FB}"/>
              </a:ext>
            </a:extLst>
          </p:cNvPr>
          <p:cNvSpPr/>
          <p:nvPr/>
        </p:nvSpPr>
        <p:spPr>
          <a:xfrm>
            <a:off x="961833" y="935192"/>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4" name="AutoShape 4">
            <a:extLst>
              <a:ext uri="{FF2B5EF4-FFF2-40B4-BE49-F238E27FC236}">
                <a16:creationId xmlns:a16="http://schemas.microsoft.com/office/drawing/2014/main" id="{A70CE7DC-57CB-A27F-6787-1F53259288CA}"/>
              </a:ext>
            </a:extLst>
          </p:cNvPr>
          <p:cNvSpPr/>
          <p:nvPr/>
        </p:nvSpPr>
        <p:spPr>
          <a:xfrm>
            <a:off x="914400" y="1939613"/>
            <a:ext cx="16459200" cy="3505201"/>
          </a:xfrm>
          <a:prstGeom prst="rect">
            <a:avLst/>
          </a:prstGeom>
          <a:noFill/>
          <a:ln w="19050" cap="flat" cmpd="sng">
            <a:noFill/>
            <a:prstDash val="solid"/>
            <a:round/>
          </a:ln>
        </p:spPr>
        <p:txBody>
          <a:bodyPr vert="horz" wrap="square" lIns="0" tIns="0" rIns="0" bIns="0" rtlCol="0" anchor="t" anchorCtr="0"/>
          <a:lstStyle/>
          <a:p>
            <a:r>
              <a:rPr lang="en-US" altLang="zh-CN" sz="3600" dirty="0">
                <a:latin typeface="宋体" panose="02010600030101010101" pitchFamily="2" charset="-122"/>
                <a:ea typeface="宋体" panose="02010600030101010101" pitchFamily="2" charset="-122"/>
              </a:rPr>
              <a:t>    </a:t>
            </a:r>
            <a:r>
              <a:rPr lang="en-US" altLang="zh-CN" sz="3600" dirty="0" err="1">
                <a:latin typeface="Times New Roman" panose="02020603050405020304" pitchFamily="18" charset="0"/>
                <a:ea typeface="宋体" panose="02010600030101010101" pitchFamily="2" charset="-122"/>
                <a:cs typeface="Times New Roman" panose="02020603050405020304" pitchFamily="18" charset="0"/>
              </a:rPr>
              <a:t>eSTREAM</a:t>
            </a:r>
            <a:r>
              <a:rPr lang="zh-CN" altLang="zh-CN" sz="3600" dirty="0">
                <a:latin typeface="宋体" panose="02010600030101010101" pitchFamily="2" charset="-122"/>
                <a:ea typeface="宋体" panose="02010600030101010101" pitchFamily="2" charset="-122"/>
              </a:rPr>
              <a:t>最终筛选出软件优选集和硬件优选集两类算法。</a:t>
            </a:r>
            <a:endParaRPr lang="zh-CN" altLang="zh-CN" sz="3600" b="1" dirty="0">
              <a:latin typeface="宋体" panose="02010600030101010101" pitchFamily="2" charset="-122"/>
              <a:ea typeface="宋体" panose="02010600030101010101" pitchFamily="2" charset="-122"/>
            </a:endParaRPr>
          </a:p>
          <a:p>
            <a:r>
              <a:rPr lang="en-US" altLang="zh-CN" sz="3600" dirty="0">
                <a:latin typeface="宋体" panose="02010600030101010101" pitchFamily="2" charset="-122"/>
                <a:ea typeface="宋体" panose="02010600030101010101" pitchFamily="2" charset="-122"/>
              </a:rPr>
              <a:t>    </a:t>
            </a:r>
            <a:r>
              <a:rPr lang="zh-CN" altLang="zh-CN" sz="3600" dirty="0">
                <a:latin typeface="宋体" panose="02010600030101010101" pitchFamily="2" charset="-122"/>
                <a:ea typeface="宋体" panose="02010600030101010101" pitchFamily="2" charset="-122"/>
              </a:rPr>
              <a:t>软件优选集适配通用处理器，高效易实现，包括</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Snow</a:t>
            </a:r>
            <a:r>
              <a:rPr lang="en-US" altLang="zh-CN" sz="3600" dirty="0">
                <a:latin typeface="宋体" panose="02010600030101010101" pitchFamily="2" charset="-122"/>
                <a:ea typeface="宋体" panose="02010600030101010101" pitchFamily="2" charset="-122"/>
              </a:rPr>
              <a:t> 2.0</a:t>
            </a:r>
            <a:r>
              <a:rPr lang="zh-CN" altLang="zh-CN" sz="3600" dirty="0">
                <a:latin typeface="宋体" panose="02010600030101010101" pitchFamily="2" charset="-122"/>
                <a:ea typeface="宋体" panose="02010600030101010101" pitchFamily="2" charset="-122"/>
              </a:rPr>
              <a:t>、</a:t>
            </a:r>
            <a:r>
              <a:rPr lang="en-US" altLang="zh-CN" sz="3600" dirty="0">
                <a:latin typeface="宋体" panose="02010600030101010101" pitchFamily="2" charset="-122"/>
                <a:ea typeface="宋体" panose="02010600030101010101" pitchFamily="2" charset="-122"/>
              </a:rPr>
              <a:t>Rabbit</a:t>
            </a:r>
            <a:r>
              <a:rPr lang="zh-CN" altLang="zh-CN" sz="3600" dirty="0">
                <a:latin typeface="宋体" panose="02010600030101010101" pitchFamily="2" charset="-122"/>
                <a:ea typeface="宋体" panose="02010600030101010101" pitchFamily="2" charset="-122"/>
              </a:rPr>
              <a:t>和</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Salsa20</a:t>
            </a:r>
            <a:r>
              <a:rPr lang="zh-CN" altLang="zh-CN" sz="3600" dirty="0">
                <a:latin typeface="宋体" panose="02010600030101010101" pitchFamily="2" charset="-122"/>
                <a:ea typeface="宋体" panose="02010600030101010101" pitchFamily="2" charset="-122"/>
              </a:rPr>
              <a:t>。</a:t>
            </a:r>
            <a:endParaRPr lang="en-US" altLang="zh-CN" sz="3600" dirty="0">
              <a:latin typeface="宋体" panose="02010600030101010101" pitchFamily="2" charset="-122"/>
              <a:ea typeface="宋体" panose="02010600030101010101" pitchFamily="2" charset="-122"/>
            </a:endParaRPr>
          </a:p>
          <a:p>
            <a:r>
              <a:rPr lang="en-US" altLang="zh-CN" sz="3600" dirty="0">
                <a:latin typeface="宋体" panose="02010600030101010101" pitchFamily="2" charset="-122"/>
                <a:ea typeface="宋体" panose="02010600030101010101" pitchFamily="2" charset="-122"/>
              </a:rPr>
              <a:t>    </a:t>
            </a:r>
            <a:r>
              <a:rPr lang="zh-CN" altLang="zh-CN" sz="3600" dirty="0">
                <a:latin typeface="宋体" panose="02010600030101010101" pitchFamily="2" charset="-122"/>
                <a:ea typeface="宋体" panose="02010600030101010101" pitchFamily="2" charset="-122"/>
              </a:rPr>
              <a:t>硬件优选集适配</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FPGA</a:t>
            </a:r>
            <a:r>
              <a:rPr lang="en-US" altLang="zh-CN" sz="3600" dirty="0">
                <a:latin typeface="宋体" panose="02010600030101010101" pitchFamily="2" charset="-122"/>
                <a:ea typeface="宋体" panose="02010600030101010101" pitchFamily="2" charset="-122"/>
              </a:rPr>
              <a:t>/</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ASIC</a:t>
            </a:r>
            <a:r>
              <a:rPr lang="zh-CN" altLang="zh-CN" sz="3600" dirty="0">
                <a:latin typeface="宋体" panose="02010600030101010101" pitchFamily="2" charset="-122"/>
                <a:ea typeface="宋体" panose="02010600030101010101" pitchFamily="2" charset="-122"/>
              </a:rPr>
              <a:t>，轻量化、高并行，包括</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Grain</a:t>
            </a:r>
            <a:r>
              <a:rPr lang="en-US" altLang="zh-CN" sz="3600" dirty="0">
                <a:latin typeface="宋体" panose="02010600030101010101" pitchFamily="2" charset="-122"/>
                <a:ea typeface="宋体" panose="02010600030101010101" pitchFamily="2" charset="-122"/>
              </a:rPr>
              <a:t>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v1</a:t>
            </a:r>
            <a:r>
              <a:rPr lang="zh-CN" altLang="zh-CN" sz="3600" dirty="0">
                <a:latin typeface="宋体" panose="02010600030101010101" pitchFamily="2" charset="-122"/>
                <a:ea typeface="宋体" panose="02010600030101010101" pitchFamily="2" charset="-122"/>
              </a:rPr>
              <a:t>和</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MICKEY</a:t>
            </a:r>
            <a:r>
              <a:rPr lang="en-US" altLang="zh-CN" sz="3600" dirty="0">
                <a:latin typeface="宋体" panose="02010600030101010101" pitchFamily="2" charset="-122"/>
                <a:ea typeface="宋体" panose="02010600030101010101" pitchFamily="2" charset="-122"/>
              </a:rPr>
              <a:t> 2.0</a:t>
            </a:r>
            <a:r>
              <a:rPr lang="zh-CN" altLang="zh-CN" sz="3600" dirty="0">
                <a:latin typeface="宋体" panose="02010600030101010101" pitchFamily="2" charset="-122"/>
                <a:ea typeface="宋体" panose="02010600030101010101" pitchFamily="2" charset="-122"/>
              </a:rPr>
              <a:t>。</a:t>
            </a:r>
            <a:endParaRPr lang="en-US" altLang="zh-CN" sz="3600" dirty="0">
              <a:latin typeface="宋体" panose="02010600030101010101" pitchFamily="2" charset="-122"/>
              <a:ea typeface="宋体" panose="02010600030101010101" pitchFamily="2" charset="-122"/>
            </a:endParaRPr>
          </a:p>
          <a:p>
            <a:r>
              <a:rPr lang="en-US" altLang="zh-CN" sz="3600" dirty="0">
                <a:latin typeface="宋体" panose="02010600030101010101" pitchFamily="2" charset="-122"/>
                <a:ea typeface="宋体" panose="02010600030101010101" pitchFamily="2" charset="-122"/>
              </a:rPr>
              <a:t>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Snow</a:t>
            </a:r>
            <a:r>
              <a:rPr lang="en-US" altLang="zh-CN" sz="3600" dirty="0">
                <a:latin typeface="宋体" panose="02010600030101010101" pitchFamily="2" charset="-122"/>
                <a:ea typeface="宋体" panose="02010600030101010101" pitchFamily="2" charset="-122"/>
              </a:rPr>
              <a:t> 2.0</a:t>
            </a:r>
            <a:r>
              <a:rPr lang="zh-CN" altLang="zh-CN" sz="3600" dirty="0">
                <a:latin typeface="宋体" panose="02010600030101010101" pitchFamily="2" charset="-122"/>
                <a:ea typeface="宋体" panose="02010600030101010101" pitchFamily="2" charset="-122"/>
              </a:rPr>
              <a:t>作为软件优选集获胜算法，是其后续纳入</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ISO</a:t>
            </a:r>
            <a:r>
              <a:rPr lang="zh-CN" altLang="zh-CN" sz="3600" dirty="0">
                <a:latin typeface="宋体" panose="02010600030101010101" pitchFamily="2" charset="-122"/>
                <a:ea typeface="宋体" panose="02010600030101010101" pitchFamily="2" charset="-122"/>
              </a:rPr>
              <a:t>国际标准、</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3GPP</a:t>
            </a:r>
            <a:r>
              <a:rPr lang="zh-CN" altLang="zh-CN" sz="3600" dirty="0">
                <a:latin typeface="宋体" panose="02010600030101010101" pitchFamily="2" charset="-122"/>
                <a:ea typeface="宋体" panose="02010600030101010101" pitchFamily="2" charset="-122"/>
              </a:rPr>
              <a:t>移动通信标准的重要基础，也是</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Snow</a:t>
            </a:r>
            <a:r>
              <a:rPr lang="zh-CN" altLang="zh-CN" sz="3600" dirty="0">
                <a:latin typeface="宋体" panose="02010600030101010101" pitchFamily="2" charset="-122"/>
                <a:ea typeface="宋体" panose="02010600030101010101" pitchFamily="2" charset="-122"/>
              </a:rPr>
              <a:t>系列算法广泛应用的核心前提。</a:t>
            </a:r>
            <a:endParaRPr lang="zh-CN" altLang="zh-CN" sz="3600" b="1" dirty="0">
              <a:latin typeface="宋体" panose="02010600030101010101" pitchFamily="2" charset="-122"/>
              <a:ea typeface="宋体" panose="02010600030101010101" pitchFamily="2" charset="-122"/>
            </a:endParaRPr>
          </a:p>
        </p:txBody>
      </p:sp>
      <p:sp>
        <p:nvSpPr>
          <p:cNvPr id="6" name="AutoShape 6">
            <a:extLst>
              <a:ext uri="{FF2B5EF4-FFF2-40B4-BE49-F238E27FC236}">
                <a16:creationId xmlns:a16="http://schemas.microsoft.com/office/drawing/2014/main" id="{ED86E840-1E42-3FCA-F45D-CAA19F917E4F}"/>
              </a:ext>
            </a:extLst>
          </p:cNvPr>
          <p:cNvSpPr/>
          <p:nvPr/>
        </p:nvSpPr>
        <p:spPr>
          <a:xfrm>
            <a:off x="1044087" y="389300"/>
            <a:ext cx="1524000" cy="838200"/>
          </a:xfrm>
          <a:prstGeom prst="rect">
            <a:avLst/>
          </a:prstGeom>
          <a:noFill/>
          <a:ln w="19050" cap="flat" cmpd="sng">
            <a:noFill/>
            <a:prstDash val="solid"/>
            <a:round/>
          </a:ln>
        </p:spPr>
        <p:txBody>
          <a:bodyPr vert="horz" wrap="square" lIns="0" tIns="0" rIns="0" bIns="0" rtlCol="0" anchor="t" anchorCtr="0"/>
          <a:lstStyle/>
          <a:p>
            <a:pPr algn="ctr">
              <a:lnSpc>
                <a:spcPts val="6575"/>
              </a:lnSpc>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cs typeface="Times New Roman"/>
                <a:sym typeface="Times New Roman"/>
              </a:rPr>
              <a:t>5.4</a:t>
            </a:r>
            <a:endPar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cs typeface="Times New Roman"/>
            </a:endParaRPr>
          </a:p>
        </p:txBody>
      </p:sp>
      <p:sp>
        <p:nvSpPr>
          <p:cNvPr id="7" name="AutoShape 7">
            <a:extLst>
              <a:ext uri="{FF2B5EF4-FFF2-40B4-BE49-F238E27FC236}">
                <a16:creationId xmlns:a16="http://schemas.microsoft.com/office/drawing/2014/main" id="{02AB5F8C-C1D5-FDE2-9695-EF63ED278FA1}"/>
              </a:ext>
            </a:extLst>
          </p:cNvPr>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84821A1B-28B4-430D-8C50-3BF1C220F25B}" type="slidenum">
              <a:rPr sz="1400" b="0" i="0" u="none" strike="noStrike">
                <a:solidFill>
                  <a:srgbClr val="FFC000"/>
                </a:solidFill>
                <a:latin typeface="Calibri"/>
                <a:ea typeface="Calibri"/>
                <a:cs typeface="Calibri"/>
                <a:sym typeface="Calibri"/>
              </a:rPr>
              <a:t>25</a:t>
            </a:fld>
            <a:endParaRPr lang="en-US" sz="1100"/>
          </a:p>
        </p:txBody>
      </p:sp>
      <p:pic>
        <p:nvPicPr>
          <p:cNvPr id="8" name="Picture 8">
            <a:extLst>
              <a:ext uri="{FF2B5EF4-FFF2-40B4-BE49-F238E27FC236}">
                <a16:creationId xmlns:a16="http://schemas.microsoft.com/office/drawing/2014/main" id="{4F6C9C0A-86D9-FA50-132D-8C6740469702}"/>
              </a:ext>
            </a:extLst>
          </p:cNvPr>
          <p:cNvPicPr>
            <a:picLocks noChangeAspect="1"/>
          </p:cNvPicPr>
          <p:nvPr/>
        </p:nvPicPr>
        <p:blipFill>
          <a:blip r:embed="rId3">
            <a:alphaModFix amt="80000"/>
          </a:blip>
          <a:srcRect/>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12" name="AutoShape 5">
            <a:extLst>
              <a:ext uri="{FF2B5EF4-FFF2-40B4-BE49-F238E27FC236}">
                <a16:creationId xmlns:a16="http://schemas.microsoft.com/office/drawing/2014/main" id="{5273EF4E-10CB-CE54-5EF5-1A1DDC0CE235}"/>
              </a:ext>
            </a:extLst>
          </p:cNvPr>
          <p:cNvSpPr/>
          <p:nvPr/>
        </p:nvSpPr>
        <p:spPr>
          <a:xfrm>
            <a:off x="2215958" y="459149"/>
            <a:ext cx="9461500" cy="723900"/>
          </a:xfrm>
          <a:prstGeom prst="rect">
            <a:avLst/>
          </a:prstGeom>
          <a:noFill/>
          <a:ln w="19050" cap="flat" cmpd="sng">
            <a:noFill/>
            <a:prstDash val="solid"/>
            <a:round/>
          </a:ln>
        </p:spPr>
        <p:txBody>
          <a:bodyPr vert="horz" wrap="square" lIns="0" tIns="0" rIns="0" bIns="0" rtlCol="0" anchor="t" anchorCtr="0"/>
          <a:lstStyle/>
          <a:p>
            <a:pPr>
              <a:lnSpc>
                <a:spcPts val="5600"/>
              </a:lnSpc>
            </a:pPr>
            <a:r>
              <a:rPr lang="zh-CN" altLang="zh-CN"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rPr>
              <a:t>欧洲</a:t>
            </a:r>
            <a:r>
              <a:rPr lang="en-US" altLang="zh-CN"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rPr>
              <a:t>eSTREAM</a:t>
            </a:r>
            <a:r>
              <a:rPr lang="zh-CN" altLang="zh-CN"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rPr>
              <a:t>序列密码</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
        <p:nvSpPr>
          <p:cNvPr id="9" name="AutoShape 29">
            <a:extLst>
              <a:ext uri="{FF2B5EF4-FFF2-40B4-BE49-F238E27FC236}">
                <a16:creationId xmlns:a16="http://schemas.microsoft.com/office/drawing/2014/main" id="{286D7060-DACE-9EAD-0700-84F6E1CB539A}"/>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4" name="Picture 30">
            <a:extLst>
              <a:ext uri="{FF2B5EF4-FFF2-40B4-BE49-F238E27FC236}">
                <a16:creationId xmlns:a16="http://schemas.microsoft.com/office/drawing/2014/main" id="{EF707C9C-BB4F-B3F9-912F-97E89E496F4C}"/>
              </a:ext>
            </a:extLst>
          </p:cNvPr>
          <p:cNvPicPr>
            <a:picLocks noChangeAspect="1"/>
          </p:cNvPicPr>
          <p:nvPr/>
        </p:nvPicPr>
        <p:blipFill>
          <a:blip r:embed="rId4"/>
          <a:srcRect/>
          <a:stretch>
            <a:fillRect/>
          </a:stretch>
        </p:blipFill>
        <p:spPr>
          <a:xfrm>
            <a:off x="13488377" y="1079500"/>
            <a:ext cx="2768600" cy="50800"/>
          </a:xfrm>
          <a:prstGeom prst="rect">
            <a:avLst/>
          </a:prstGeom>
          <a:noFill/>
          <a:ln w="25400" cap="flat" cmpd="sng">
            <a:noFill/>
            <a:prstDash val="solid"/>
            <a:round/>
          </a:ln>
        </p:spPr>
      </p:pic>
    </p:spTree>
    <p:extLst>
      <p:ext uri="{BB962C8B-B14F-4D97-AF65-F5344CB8AC3E}">
        <p14:creationId xmlns:p14="http://schemas.microsoft.com/office/powerpoint/2010/main" val="39424305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a:extLst>
            <a:ext uri="{FF2B5EF4-FFF2-40B4-BE49-F238E27FC236}">
              <a16:creationId xmlns:a16="http://schemas.microsoft.com/office/drawing/2014/main" id="{69B5E312-69EC-9844-34A9-6AA15192942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DF204A4-2C23-AA16-FC11-9FACC277F1DC}"/>
              </a:ext>
            </a:extLst>
          </p:cNvPr>
          <p:cNvSpPr/>
          <p:nvPr/>
        </p:nvSpPr>
        <p:spPr>
          <a:xfrm>
            <a:off x="7747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DCAB2003-EAE6-D203-9FF2-861113D83C74}"/>
              </a:ext>
            </a:extLst>
          </p:cNvPr>
          <p:cNvSpPr/>
          <p:nvPr/>
        </p:nvSpPr>
        <p:spPr>
          <a:xfrm>
            <a:off x="8001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4" name="Freeform 4">
            <a:extLst>
              <a:ext uri="{FF2B5EF4-FFF2-40B4-BE49-F238E27FC236}">
                <a16:creationId xmlns:a16="http://schemas.microsoft.com/office/drawing/2014/main" id="{5FFCA654-804E-B1ED-639D-6305B28E2A4D}"/>
              </a:ext>
            </a:extLst>
          </p:cNvPr>
          <p:cNvSpPr/>
          <p:nvPr/>
        </p:nvSpPr>
        <p:spPr>
          <a:xfrm>
            <a:off x="7747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a:extLst>
              <a:ext uri="{FF2B5EF4-FFF2-40B4-BE49-F238E27FC236}">
                <a16:creationId xmlns:a16="http://schemas.microsoft.com/office/drawing/2014/main" id="{445A2F5B-1437-3FAB-2808-DB02E7D30186}"/>
              </a:ext>
            </a:extLst>
          </p:cNvPr>
          <p:cNvSpPr/>
          <p:nvPr/>
        </p:nvSpPr>
        <p:spPr>
          <a:xfrm>
            <a:off x="8001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6" name="Freeform 6">
            <a:extLst>
              <a:ext uri="{FF2B5EF4-FFF2-40B4-BE49-F238E27FC236}">
                <a16:creationId xmlns:a16="http://schemas.microsoft.com/office/drawing/2014/main" id="{4B03E1E4-07BA-BB2D-875C-72310A333469}"/>
              </a:ext>
            </a:extLst>
          </p:cNvPr>
          <p:cNvSpPr/>
          <p:nvPr/>
        </p:nvSpPr>
        <p:spPr>
          <a:xfrm>
            <a:off x="7747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a:extLst>
              <a:ext uri="{FF2B5EF4-FFF2-40B4-BE49-F238E27FC236}">
                <a16:creationId xmlns:a16="http://schemas.microsoft.com/office/drawing/2014/main" id="{8E6C2D0A-4075-6DA8-FA43-C4DC50FB846F}"/>
              </a:ext>
            </a:extLst>
          </p:cNvPr>
          <p:cNvSpPr/>
          <p:nvPr/>
        </p:nvSpPr>
        <p:spPr>
          <a:xfrm>
            <a:off x="8001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8" name="Freeform 8">
            <a:extLst>
              <a:ext uri="{FF2B5EF4-FFF2-40B4-BE49-F238E27FC236}">
                <a16:creationId xmlns:a16="http://schemas.microsoft.com/office/drawing/2014/main" id="{57F9B121-DF44-20C7-D2F4-2B508EDEB8B3}"/>
              </a:ext>
            </a:extLst>
          </p:cNvPr>
          <p:cNvSpPr/>
          <p:nvPr/>
        </p:nvSpPr>
        <p:spPr>
          <a:xfrm>
            <a:off x="7747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a:extLst>
              <a:ext uri="{FF2B5EF4-FFF2-40B4-BE49-F238E27FC236}">
                <a16:creationId xmlns:a16="http://schemas.microsoft.com/office/drawing/2014/main" id="{FB7A40C1-8D52-7699-4F26-6FE5420B88DB}"/>
              </a:ext>
            </a:extLst>
          </p:cNvPr>
          <p:cNvSpPr/>
          <p:nvPr/>
        </p:nvSpPr>
        <p:spPr>
          <a:xfrm>
            <a:off x="8001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0" name="Freeform 10">
            <a:extLst>
              <a:ext uri="{FF2B5EF4-FFF2-40B4-BE49-F238E27FC236}">
                <a16:creationId xmlns:a16="http://schemas.microsoft.com/office/drawing/2014/main" id="{918506F2-595D-8FA0-F870-9AE53ECE8326}"/>
              </a:ext>
            </a:extLst>
          </p:cNvPr>
          <p:cNvSpPr/>
          <p:nvPr/>
        </p:nvSpPr>
        <p:spPr>
          <a:xfrm>
            <a:off x="173355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a:extLst>
              <a:ext uri="{FF2B5EF4-FFF2-40B4-BE49-F238E27FC236}">
                <a16:creationId xmlns:a16="http://schemas.microsoft.com/office/drawing/2014/main" id="{36E1D53D-7906-F50E-7236-28611F306AE3}"/>
              </a:ext>
            </a:extLst>
          </p:cNvPr>
          <p:cNvSpPr/>
          <p:nvPr/>
        </p:nvSpPr>
        <p:spPr>
          <a:xfrm>
            <a:off x="173482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2" name="Freeform 12">
            <a:extLst>
              <a:ext uri="{FF2B5EF4-FFF2-40B4-BE49-F238E27FC236}">
                <a16:creationId xmlns:a16="http://schemas.microsoft.com/office/drawing/2014/main" id="{9E1DDCCE-EFF7-4453-3273-0C52C45D3F2E}"/>
              </a:ext>
            </a:extLst>
          </p:cNvPr>
          <p:cNvSpPr/>
          <p:nvPr/>
        </p:nvSpPr>
        <p:spPr>
          <a:xfrm>
            <a:off x="173355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a:extLst>
              <a:ext uri="{FF2B5EF4-FFF2-40B4-BE49-F238E27FC236}">
                <a16:creationId xmlns:a16="http://schemas.microsoft.com/office/drawing/2014/main" id="{86E6CF01-9D4F-144E-00DA-73816CF6FD6E}"/>
              </a:ext>
            </a:extLst>
          </p:cNvPr>
          <p:cNvSpPr/>
          <p:nvPr/>
        </p:nvSpPr>
        <p:spPr>
          <a:xfrm>
            <a:off x="173482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4" name="Freeform 14">
            <a:extLst>
              <a:ext uri="{FF2B5EF4-FFF2-40B4-BE49-F238E27FC236}">
                <a16:creationId xmlns:a16="http://schemas.microsoft.com/office/drawing/2014/main" id="{F6BB93C3-CD6E-900D-F28A-58E66DDD531B}"/>
              </a:ext>
            </a:extLst>
          </p:cNvPr>
          <p:cNvSpPr/>
          <p:nvPr/>
        </p:nvSpPr>
        <p:spPr>
          <a:xfrm>
            <a:off x="173355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a:extLst>
              <a:ext uri="{FF2B5EF4-FFF2-40B4-BE49-F238E27FC236}">
                <a16:creationId xmlns:a16="http://schemas.microsoft.com/office/drawing/2014/main" id="{E18F40FD-4CF0-6B36-3A87-0EB3F6654D55}"/>
              </a:ext>
            </a:extLst>
          </p:cNvPr>
          <p:cNvSpPr/>
          <p:nvPr/>
        </p:nvSpPr>
        <p:spPr>
          <a:xfrm>
            <a:off x="173482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6" name="Freeform 16">
            <a:extLst>
              <a:ext uri="{FF2B5EF4-FFF2-40B4-BE49-F238E27FC236}">
                <a16:creationId xmlns:a16="http://schemas.microsoft.com/office/drawing/2014/main" id="{9D3DAC15-EAF7-E055-BE81-EB5DBE825E26}"/>
              </a:ext>
            </a:extLst>
          </p:cNvPr>
          <p:cNvSpPr/>
          <p:nvPr/>
        </p:nvSpPr>
        <p:spPr>
          <a:xfrm>
            <a:off x="173355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a:extLst>
              <a:ext uri="{FF2B5EF4-FFF2-40B4-BE49-F238E27FC236}">
                <a16:creationId xmlns:a16="http://schemas.microsoft.com/office/drawing/2014/main" id="{6901DE10-EA67-B65C-A1AD-8D62B7FC30A7}"/>
              </a:ext>
            </a:extLst>
          </p:cNvPr>
          <p:cNvSpPr/>
          <p:nvPr/>
        </p:nvSpPr>
        <p:spPr>
          <a:xfrm>
            <a:off x="173482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8" name="Freeform 18">
            <a:extLst>
              <a:ext uri="{FF2B5EF4-FFF2-40B4-BE49-F238E27FC236}">
                <a16:creationId xmlns:a16="http://schemas.microsoft.com/office/drawing/2014/main" id="{E1DB00A4-5E7B-B1E9-1314-38A3DC0985D1}"/>
              </a:ext>
            </a:extLst>
          </p:cNvPr>
          <p:cNvSpPr/>
          <p:nvPr/>
        </p:nvSpPr>
        <p:spPr>
          <a:xfrm rot="10800000">
            <a:off x="5340278" y="819187"/>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19" name="AutoShape 19">
            <a:extLst>
              <a:ext uri="{FF2B5EF4-FFF2-40B4-BE49-F238E27FC236}">
                <a16:creationId xmlns:a16="http://schemas.microsoft.com/office/drawing/2014/main" id="{2DDEFA3D-FAD5-6892-1933-8B330EC99B70}"/>
              </a:ext>
            </a:extLst>
          </p:cNvPr>
          <p:cNvSpPr/>
          <p:nvPr/>
        </p:nvSpPr>
        <p:spPr>
          <a:xfrm rot="10800000">
            <a:off x="6057900" y="1511300"/>
            <a:ext cx="6184900" cy="61849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0" name="AutoShape 20">
            <a:extLst>
              <a:ext uri="{FF2B5EF4-FFF2-40B4-BE49-F238E27FC236}">
                <a16:creationId xmlns:a16="http://schemas.microsoft.com/office/drawing/2014/main" id="{01E72BD8-B8AC-FC32-3462-5805A7065765}"/>
              </a:ext>
            </a:extLst>
          </p:cNvPr>
          <p:cNvSpPr/>
          <p:nvPr/>
        </p:nvSpPr>
        <p:spPr>
          <a:xfrm>
            <a:off x="7785100" y="2832100"/>
            <a:ext cx="2730500" cy="2006600"/>
          </a:xfrm>
          <a:prstGeom prst="rect">
            <a:avLst/>
          </a:prstGeom>
          <a:noFill/>
          <a:ln w="19050" cap="flat" cmpd="sng">
            <a:noFill/>
            <a:prstDash val="solid"/>
            <a:round/>
          </a:ln>
        </p:spPr>
        <p:txBody>
          <a:bodyPr vert="horz" wrap="square" lIns="0" tIns="0" rIns="0" bIns="0" rtlCol="0" anchor="t" anchorCtr="0"/>
          <a:lstStyle/>
          <a:p>
            <a:pPr marL="0" indent="0" algn="ctr">
              <a:lnSpc>
                <a:spcPts val="17080"/>
              </a:lnSpc>
              <a:defRPr/>
            </a:pPr>
            <a:r>
              <a:rPr lang="en-US" sz="12200" b="0" i="0" u="none" strike="noStrike" dirty="0">
                <a:solidFill>
                  <a:srgbClr val="004AAD"/>
                </a:solidFill>
                <a:latin typeface="Times New Roman"/>
                <a:ea typeface="Times New Roman"/>
                <a:cs typeface="Times New Roman"/>
                <a:sym typeface="Times New Roman"/>
              </a:rPr>
              <a:t>5.5</a:t>
            </a:r>
            <a:endParaRPr lang="en-US" sz="1100" dirty="0"/>
          </a:p>
        </p:txBody>
      </p:sp>
      <p:sp>
        <p:nvSpPr>
          <p:cNvPr id="21" name="AutoShape 21">
            <a:extLst>
              <a:ext uri="{FF2B5EF4-FFF2-40B4-BE49-F238E27FC236}">
                <a16:creationId xmlns:a16="http://schemas.microsoft.com/office/drawing/2014/main" id="{7A1AE7AF-9AB0-6063-EADA-B59CBB31F93A}"/>
              </a:ext>
            </a:extLst>
          </p:cNvPr>
          <p:cNvSpPr/>
          <p:nvPr/>
        </p:nvSpPr>
        <p:spPr>
          <a:xfrm>
            <a:off x="3435349" y="5026243"/>
            <a:ext cx="11430000" cy="1435100"/>
          </a:xfrm>
          <a:prstGeom prst="rect">
            <a:avLst/>
          </a:prstGeom>
          <a:noFill/>
          <a:ln w="19050" cap="flat" cmpd="sng">
            <a:noFill/>
            <a:prstDash val="solid"/>
            <a:round/>
          </a:ln>
        </p:spPr>
        <p:txBody>
          <a:bodyPr vert="horz" wrap="square" lIns="0" tIns="0" rIns="0" bIns="0" rtlCol="0" anchor="t" anchorCtr="0"/>
          <a:lstStyle/>
          <a:p>
            <a:pPr algn="ctr">
              <a:lnSpc>
                <a:spcPts val="11200"/>
              </a:lnSpc>
              <a:defRPr/>
            </a:pPr>
            <a:r>
              <a:rPr lang="zh-CN" altLang="zh-CN" sz="9600" b="1" dirty="0">
                <a:solidFill>
                  <a:srgbClr val="004AAD"/>
                </a:solidFill>
                <a:latin typeface="仿宋"/>
                <a:ea typeface="仿宋"/>
              </a:rPr>
              <a:t>序列密码的安全性及分析技术</a:t>
            </a:r>
          </a:p>
        </p:txBody>
      </p:sp>
      <p:sp>
        <p:nvSpPr>
          <p:cNvPr id="22" name="Freeform 22">
            <a:extLst>
              <a:ext uri="{FF2B5EF4-FFF2-40B4-BE49-F238E27FC236}">
                <a16:creationId xmlns:a16="http://schemas.microsoft.com/office/drawing/2014/main" id="{7EA8E8FB-8624-2597-5249-994296F14227}"/>
              </a:ext>
            </a:extLst>
          </p:cNvPr>
          <p:cNvSpPr/>
          <p:nvPr/>
        </p:nvSpPr>
        <p:spPr>
          <a:xfrm>
            <a:off x="-1028700" y="9029700"/>
            <a:ext cx="20887940"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AutoShape 23">
            <a:extLst>
              <a:ext uri="{FF2B5EF4-FFF2-40B4-BE49-F238E27FC236}">
                <a16:creationId xmlns:a16="http://schemas.microsoft.com/office/drawing/2014/main" id="{CB56EE61-CCA4-10CB-B0EF-2A51D4CD4E7F}"/>
              </a:ext>
            </a:extLst>
          </p:cNvPr>
          <p:cNvSpPr/>
          <p:nvPr/>
        </p:nvSpPr>
        <p:spPr>
          <a:xfrm>
            <a:off x="-1028700" y="9029700"/>
            <a:ext cx="20891500" cy="10922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4" name="Freeform 24">
            <a:extLst>
              <a:ext uri="{FF2B5EF4-FFF2-40B4-BE49-F238E27FC236}">
                <a16:creationId xmlns:a16="http://schemas.microsoft.com/office/drawing/2014/main" id="{155B1DE5-B795-5DF6-0E82-E3847288AADC}"/>
              </a:ext>
            </a:extLst>
          </p:cNvPr>
          <p:cNvSpPr/>
          <p:nvPr/>
        </p:nvSpPr>
        <p:spPr>
          <a:xfrm>
            <a:off x="-1295400" y="9182100"/>
            <a:ext cx="2088794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a:extLst>
              <a:ext uri="{FF2B5EF4-FFF2-40B4-BE49-F238E27FC236}">
                <a16:creationId xmlns:a16="http://schemas.microsoft.com/office/drawing/2014/main" id="{4DE64FCF-0DB7-5D4C-F4C3-817021EC87BD}"/>
              </a:ext>
            </a:extLst>
          </p:cNvPr>
          <p:cNvSpPr/>
          <p:nvPr/>
        </p:nvSpPr>
        <p:spPr>
          <a:xfrm>
            <a:off x="-1295400" y="9182100"/>
            <a:ext cx="20891500" cy="12446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6" name="AutoShape 26">
            <a:extLst>
              <a:ext uri="{FF2B5EF4-FFF2-40B4-BE49-F238E27FC236}">
                <a16:creationId xmlns:a16="http://schemas.microsoft.com/office/drawing/2014/main" id="{3127F653-C95F-119B-38DD-64CEB759E217}"/>
              </a:ext>
            </a:extLst>
          </p:cNvPr>
          <p:cNvSpPr/>
          <p:nvPr/>
        </p:nvSpPr>
        <p:spPr>
          <a:xfrm>
            <a:off x="15379700" y="95250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r>
              <a:rPr lang="en-US" dirty="0">
                <a:solidFill>
                  <a:srgbClr val="FFC000"/>
                </a:solidFill>
                <a:latin typeface="Calibri"/>
                <a:ea typeface="Calibri"/>
                <a:cs typeface="Calibri"/>
                <a:sym typeface="Calibri"/>
              </a:rPr>
              <a:t>25</a:t>
            </a:r>
            <a:endParaRPr lang="en-US" sz="1100" dirty="0"/>
          </a:p>
        </p:txBody>
      </p:sp>
      <p:sp>
        <p:nvSpPr>
          <p:cNvPr id="30" name="AutoShape 29">
            <a:extLst>
              <a:ext uri="{FF2B5EF4-FFF2-40B4-BE49-F238E27FC236}">
                <a16:creationId xmlns:a16="http://schemas.microsoft.com/office/drawing/2014/main" id="{3498464E-143B-C8AE-525E-801BE5EAB65D}"/>
              </a:ext>
            </a:extLst>
          </p:cNvPr>
          <p:cNvSpPr/>
          <p:nvPr/>
        </p:nvSpPr>
        <p:spPr>
          <a:xfrm>
            <a:off x="800100" y="6096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32" name="Picture 30">
            <a:extLst>
              <a:ext uri="{FF2B5EF4-FFF2-40B4-BE49-F238E27FC236}">
                <a16:creationId xmlns:a16="http://schemas.microsoft.com/office/drawing/2014/main" id="{7417B598-5E61-EEC9-0BE6-95CC4CE79070}"/>
              </a:ext>
            </a:extLst>
          </p:cNvPr>
          <p:cNvPicPr>
            <a:picLocks noChangeAspect="1"/>
          </p:cNvPicPr>
          <p:nvPr/>
        </p:nvPicPr>
        <p:blipFill>
          <a:blip r:embed="rId3"/>
          <a:srcRect/>
          <a:stretch>
            <a:fillRect/>
          </a:stretch>
        </p:blipFill>
        <p:spPr>
          <a:xfrm>
            <a:off x="927100" y="977900"/>
            <a:ext cx="2768600" cy="50800"/>
          </a:xfrm>
          <a:prstGeom prst="rect">
            <a:avLst/>
          </a:prstGeom>
          <a:noFill/>
          <a:ln w="25400" cap="flat" cmpd="sng">
            <a:noFill/>
            <a:prstDash val="solid"/>
            <a:round/>
          </a:ln>
        </p:spPr>
      </p:pic>
    </p:spTree>
    <p:extLst>
      <p:ext uri="{BB962C8B-B14F-4D97-AF65-F5344CB8AC3E}">
        <p14:creationId xmlns:p14="http://schemas.microsoft.com/office/powerpoint/2010/main" val="4276854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a:extLst>
            <a:ext uri="{FF2B5EF4-FFF2-40B4-BE49-F238E27FC236}">
              <a16:creationId xmlns:a16="http://schemas.microsoft.com/office/drawing/2014/main" id="{B77F17BA-4B59-2C2D-98EA-80F89115DC0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EE9A6D8-BBF6-399A-9F9B-324C1D9038E9}"/>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FE4B6E9D-4641-3E4C-87F9-193CF342A751}"/>
              </a:ext>
            </a:extLst>
          </p:cNvPr>
          <p:cNvSpPr/>
          <p:nvPr/>
        </p:nvSpPr>
        <p:spPr>
          <a:xfrm>
            <a:off x="961833" y="935192"/>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4" name="AutoShape 4">
            <a:extLst>
              <a:ext uri="{FF2B5EF4-FFF2-40B4-BE49-F238E27FC236}">
                <a16:creationId xmlns:a16="http://schemas.microsoft.com/office/drawing/2014/main" id="{D9F9D662-6020-0DA2-FF2B-CE5C758A9173}"/>
              </a:ext>
            </a:extLst>
          </p:cNvPr>
          <p:cNvSpPr/>
          <p:nvPr/>
        </p:nvSpPr>
        <p:spPr>
          <a:xfrm>
            <a:off x="1022350" y="1743385"/>
            <a:ext cx="16459200" cy="7514916"/>
          </a:xfrm>
          <a:prstGeom prst="rect">
            <a:avLst/>
          </a:prstGeom>
          <a:noFill/>
          <a:ln w="19050" cap="flat" cmpd="sng">
            <a:noFill/>
            <a:prstDash val="solid"/>
            <a:round/>
          </a:ln>
        </p:spPr>
        <p:txBody>
          <a:bodyPr vert="horz" wrap="square" lIns="0" tIns="0" rIns="0" bIns="0" rtlCol="0" anchor="t" anchorCtr="0"/>
          <a:lstStyle/>
          <a:p>
            <a:pPr>
              <a:lnSpc>
                <a:spcPct val="150000"/>
              </a:lnSpc>
            </a:pPr>
            <a:r>
              <a:rPr lang="zh-CN" altLang="zh-CN" sz="3600" dirty="0">
                <a:latin typeface="宋体" panose="02010600030101010101" pitchFamily="2" charset="-122"/>
                <a:ea typeface="宋体" panose="02010600030101010101" pitchFamily="2" charset="-122"/>
              </a:rPr>
              <a:t>寻找有效的区分器是序列密码分析中的主要问题</a:t>
            </a:r>
            <a:r>
              <a:rPr lang="zh-CN" altLang="en-US" sz="3600" dirty="0">
                <a:latin typeface="宋体" panose="02010600030101010101" pitchFamily="2" charset="-122"/>
                <a:ea typeface="宋体" panose="02010600030101010101" pitchFamily="2" charset="-122"/>
              </a:rPr>
              <a:t>：</a:t>
            </a:r>
            <a:endParaRPr lang="zh-CN" altLang="zh-CN" sz="3600" dirty="0">
              <a:latin typeface="宋体" panose="02010600030101010101" pitchFamily="2" charset="-122"/>
              <a:ea typeface="宋体" panose="02010600030101010101" pitchFamily="2" charset="-122"/>
            </a:endParaRPr>
          </a:p>
          <a:p>
            <a:pPr>
              <a:lnSpc>
                <a:spcPct val="150000"/>
              </a:lnSpc>
            </a:pPr>
            <a:r>
              <a:rPr lang="zh-CN" altLang="zh-CN" sz="3600" dirty="0">
                <a:latin typeface="宋体" panose="02010600030101010101" pitchFamily="2" charset="-122"/>
                <a:ea typeface="宋体" panose="02010600030101010101" pitchFamily="2" charset="-122"/>
              </a:rPr>
              <a:t>（</a:t>
            </a:r>
            <a:r>
              <a:rPr lang="en-US" altLang="zh-CN" sz="3600" dirty="0">
                <a:latin typeface="宋体" panose="02010600030101010101" pitchFamily="2" charset="-122"/>
                <a:ea typeface="宋体" panose="02010600030101010101" pitchFamily="2" charset="-122"/>
              </a:rPr>
              <a:t>1</a:t>
            </a:r>
            <a:r>
              <a:rPr lang="zh-CN" altLang="zh-CN" sz="3600" dirty="0">
                <a:latin typeface="宋体" panose="02010600030101010101" pitchFamily="2" charset="-122"/>
                <a:ea typeface="宋体" panose="02010600030101010101" pitchFamily="2" charset="-122"/>
              </a:rPr>
              <a:t>）相关攻击利用密码体制中</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LFSR</a:t>
            </a:r>
            <a:r>
              <a:rPr lang="zh-CN" altLang="zh-CN" sz="3600" dirty="0">
                <a:latin typeface="宋体" panose="02010600030101010101" pitchFamily="2" charset="-122"/>
                <a:ea typeface="宋体" panose="02010600030101010101" pitchFamily="2" charset="-122"/>
              </a:rPr>
              <a:t>序列与密钥流之间的统计相关性实施，其源于</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Siegenthaler</a:t>
            </a:r>
            <a:r>
              <a:rPr lang="zh-CN" altLang="zh-CN" sz="3600" dirty="0">
                <a:latin typeface="宋体" panose="02010600030101010101" pitchFamily="2" charset="-122"/>
                <a:ea typeface="宋体" panose="02010600030101010101" pitchFamily="2" charset="-122"/>
              </a:rPr>
              <a:t>对组合生成器的“分别征服”攻击，之后这种思想被进一步扩展到基于线性码和基于后验概率的快速相关攻击、针对钟控生成器和带记忆的组合生成器的相关攻击中。</a:t>
            </a:r>
          </a:p>
          <a:p>
            <a:pPr>
              <a:lnSpc>
                <a:spcPct val="150000"/>
              </a:lnSpc>
            </a:pPr>
            <a:r>
              <a:rPr lang="zh-CN" altLang="zh-CN" sz="3600" dirty="0">
                <a:latin typeface="宋体" panose="02010600030101010101" pitchFamily="2" charset="-122"/>
                <a:ea typeface="宋体" panose="02010600030101010101" pitchFamily="2" charset="-122"/>
              </a:rPr>
              <a:t>（</a:t>
            </a:r>
            <a:r>
              <a:rPr lang="en-US" altLang="zh-CN" sz="3600" dirty="0">
                <a:latin typeface="宋体" panose="02010600030101010101" pitchFamily="2" charset="-122"/>
                <a:ea typeface="宋体" panose="02010600030101010101" pitchFamily="2" charset="-122"/>
              </a:rPr>
              <a:t>2</a:t>
            </a:r>
            <a:r>
              <a:rPr lang="zh-CN" altLang="zh-CN" sz="3600" dirty="0">
                <a:latin typeface="宋体" panose="02010600030101010101" pitchFamily="2" charset="-122"/>
                <a:ea typeface="宋体" panose="02010600030101010101" pitchFamily="2" charset="-122"/>
              </a:rPr>
              <a:t>）代数攻击是采用基于代数思想的方法和技巧，将一个密码算法的安全性规约于求解一个超定的多变元高次方程组系统的问题上。</a:t>
            </a:r>
            <a:endParaRPr lang="en-US" altLang="zh-CN" sz="3600" dirty="0">
              <a:latin typeface="宋体" panose="02010600030101010101" pitchFamily="2" charset="-122"/>
              <a:ea typeface="宋体" panose="02010600030101010101" pitchFamily="2" charset="-122"/>
            </a:endParaRPr>
          </a:p>
          <a:p>
            <a:pPr>
              <a:lnSpc>
                <a:spcPct val="150000"/>
              </a:lnSpc>
            </a:pPr>
            <a:r>
              <a:rPr lang="zh-CN" altLang="zh-CN" sz="3600" dirty="0">
                <a:latin typeface="宋体" panose="02010600030101010101" pitchFamily="2" charset="-122"/>
                <a:ea typeface="宋体" panose="02010600030101010101" pitchFamily="2" charset="-122"/>
              </a:rPr>
              <a:t>（</a:t>
            </a:r>
            <a:r>
              <a:rPr lang="en-US" altLang="zh-CN" sz="3600" dirty="0">
                <a:latin typeface="宋体" panose="02010600030101010101" pitchFamily="2" charset="-122"/>
                <a:ea typeface="宋体" panose="02010600030101010101" pitchFamily="2" charset="-122"/>
              </a:rPr>
              <a:t>3</a:t>
            </a:r>
            <a:r>
              <a:rPr lang="zh-CN" altLang="zh-CN" sz="3600" dirty="0">
                <a:latin typeface="宋体" panose="02010600030101010101" pitchFamily="2" charset="-122"/>
                <a:ea typeface="宋体" panose="02010600030101010101" pitchFamily="2" charset="-122"/>
              </a:rPr>
              <a:t>）对序列密码的分析方法还包括线性逼近、线性一致性分析、区分攻击、</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Cube</a:t>
            </a:r>
            <a:r>
              <a:rPr lang="zh-CN" altLang="zh-CN" sz="3600" dirty="0">
                <a:latin typeface="宋体" panose="02010600030101010101" pitchFamily="2" charset="-122"/>
                <a:ea typeface="宋体" panose="02010600030101010101" pitchFamily="2" charset="-122"/>
              </a:rPr>
              <a:t>攻击、侧信道攻击等。</a:t>
            </a:r>
          </a:p>
        </p:txBody>
      </p:sp>
      <p:sp>
        <p:nvSpPr>
          <p:cNvPr id="5" name="AutoShape 5">
            <a:extLst>
              <a:ext uri="{FF2B5EF4-FFF2-40B4-BE49-F238E27FC236}">
                <a16:creationId xmlns:a16="http://schemas.microsoft.com/office/drawing/2014/main" id="{9679B0AA-A0C3-B674-AF1B-D1EB8F4B3681}"/>
              </a:ext>
            </a:extLst>
          </p:cNvPr>
          <p:cNvSpPr/>
          <p:nvPr/>
        </p:nvSpPr>
        <p:spPr>
          <a:xfrm>
            <a:off x="2184400" y="463550"/>
            <a:ext cx="9461500" cy="723900"/>
          </a:xfrm>
          <a:prstGeom prst="rect">
            <a:avLst/>
          </a:prstGeom>
          <a:noFill/>
          <a:ln w="19050" cap="flat" cmpd="sng">
            <a:noFill/>
            <a:prstDash val="solid"/>
            <a:round/>
          </a:ln>
        </p:spPr>
        <p:txBody>
          <a:bodyPr vert="horz" wrap="square" lIns="0" tIns="0" rIns="0" bIns="0" rtlCol="0" anchor="t" anchorCtr="0"/>
          <a:lstStyle/>
          <a:p>
            <a:pPr>
              <a:lnSpc>
                <a:spcPts val="5600"/>
              </a:lnSpc>
            </a:pPr>
            <a:r>
              <a:rPr lang="zh-CN" altLang="zh-CN"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rPr>
              <a:t>序列密码的安全性及分析技术</a:t>
            </a:r>
          </a:p>
        </p:txBody>
      </p:sp>
      <p:sp>
        <p:nvSpPr>
          <p:cNvPr id="6" name="AutoShape 6">
            <a:extLst>
              <a:ext uri="{FF2B5EF4-FFF2-40B4-BE49-F238E27FC236}">
                <a16:creationId xmlns:a16="http://schemas.microsoft.com/office/drawing/2014/main" id="{ED668E3C-B964-38EB-61D6-330E40CE93FD}"/>
              </a:ext>
            </a:extLst>
          </p:cNvPr>
          <p:cNvSpPr/>
          <p:nvPr/>
        </p:nvSpPr>
        <p:spPr>
          <a:xfrm>
            <a:off x="1022350" y="406400"/>
            <a:ext cx="1524000" cy="838200"/>
          </a:xfrm>
          <a:prstGeom prst="rect">
            <a:avLst/>
          </a:prstGeom>
          <a:noFill/>
          <a:ln w="19050" cap="flat" cmpd="sng">
            <a:noFill/>
            <a:prstDash val="solid"/>
            <a:round/>
          </a:ln>
        </p:spPr>
        <p:txBody>
          <a:bodyPr vert="horz" wrap="square" lIns="0" tIns="0" rIns="0" bIns="0" rtlCol="0" anchor="t" anchorCtr="0"/>
          <a:lstStyle/>
          <a:p>
            <a:pPr marL="0" indent="0" algn="ctr">
              <a:lnSpc>
                <a:spcPts val="6575"/>
              </a:lnSpc>
              <a:defRPr/>
            </a:pPr>
            <a:r>
              <a:rPr lang="en-US" sz="4700" b="0" i="0" u="none" strike="noStrike"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Times New Roman"/>
                <a:cs typeface="Times New Roman"/>
                <a:sym typeface="Times New Roman"/>
              </a:rPr>
              <a:t>5.5</a:t>
            </a:r>
            <a:endParaRPr lang="en-US" sz="1100" dirty="0">
              <a:effectLst>
                <a:outerShdw blurRad="50800" dist="38100" dir="2700000" algn="tl" rotWithShape="0">
                  <a:prstClr val="black">
                    <a:alpha val="40000"/>
                  </a:prstClr>
                </a:outerShdw>
                <a:reflection blurRad="6350" stA="60000" endA="900" endPos="58000" dir="5400000" sy="-100000" algn="bl" rotWithShape="0"/>
              </a:effectLst>
            </a:endParaRPr>
          </a:p>
        </p:txBody>
      </p:sp>
      <p:sp>
        <p:nvSpPr>
          <p:cNvPr id="7" name="AutoShape 7">
            <a:extLst>
              <a:ext uri="{FF2B5EF4-FFF2-40B4-BE49-F238E27FC236}">
                <a16:creationId xmlns:a16="http://schemas.microsoft.com/office/drawing/2014/main" id="{FA84EDC2-46BB-7565-14D7-621B3F48D79B}"/>
              </a:ext>
            </a:extLst>
          </p:cNvPr>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84821A1B-28B4-430D-8C50-3BF1C220F25B}" type="slidenum">
              <a:rPr sz="1400" b="0" i="0" u="none" strike="noStrike">
                <a:solidFill>
                  <a:srgbClr val="FFC000"/>
                </a:solidFill>
                <a:latin typeface="Calibri"/>
                <a:ea typeface="Calibri"/>
                <a:cs typeface="Calibri"/>
                <a:sym typeface="Calibri"/>
              </a:rPr>
              <a:t>27</a:t>
            </a:fld>
            <a:endParaRPr lang="en-US" sz="1100"/>
          </a:p>
        </p:txBody>
      </p:sp>
      <p:pic>
        <p:nvPicPr>
          <p:cNvPr id="8" name="Picture 8">
            <a:extLst>
              <a:ext uri="{FF2B5EF4-FFF2-40B4-BE49-F238E27FC236}">
                <a16:creationId xmlns:a16="http://schemas.microsoft.com/office/drawing/2014/main" id="{72670427-0130-F52B-6FEB-073A52F63E0A}"/>
              </a:ext>
            </a:extLst>
          </p:cNvPr>
          <p:cNvPicPr>
            <a:picLocks noChangeAspect="1"/>
          </p:cNvPicPr>
          <p:nvPr/>
        </p:nvPicPr>
        <p:blipFill>
          <a:blip r:embed="rId3">
            <a:alphaModFix amt="80000"/>
          </a:blip>
          <a:srcRect/>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12" name="AutoShape 29">
            <a:extLst>
              <a:ext uri="{FF2B5EF4-FFF2-40B4-BE49-F238E27FC236}">
                <a16:creationId xmlns:a16="http://schemas.microsoft.com/office/drawing/2014/main" id="{F8134D17-FB56-6E4D-CC8C-F9D8326A1502}"/>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4" name="Picture 30">
            <a:extLst>
              <a:ext uri="{FF2B5EF4-FFF2-40B4-BE49-F238E27FC236}">
                <a16:creationId xmlns:a16="http://schemas.microsoft.com/office/drawing/2014/main" id="{7839E08E-BB6F-D603-B774-2416D48DF0E8}"/>
              </a:ext>
            </a:extLst>
          </p:cNvPr>
          <p:cNvPicPr>
            <a:picLocks noChangeAspect="1"/>
          </p:cNvPicPr>
          <p:nvPr/>
        </p:nvPicPr>
        <p:blipFill>
          <a:blip r:embed="rId4"/>
          <a:srcRect/>
          <a:stretch>
            <a:fillRect/>
          </a:stretch>
        </p:blipFill>
        <p:spPr>
          <a:xfrm>
            <a:off x="13488377" y="1079500"/>
            <a:ext cx="2768600" cy="50800"/>
          </a:xfrm>
          <a:prstGeom prst="rect">
            <a:avLst/>
          </a:prstGeom>
          <a:noFill/>
          <a:ln w="25400" cap="flat" cmpd="sng">
            <a:noFill/>
            <a:prstDash val="solid"/>
            <a:round/>
          </a:ln>
        </p:spPr>
      </p:pic>
    </p:spTree>
    <p:extLst>
      <p:ext uri="{BB962C8B-B14F-4D97-AF65-F5344CB8AC3E}">
        <p14:creationId xmlns:p14="http://schemas.microsoft.com/office/powerpoint/2010/main" val="19669256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747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001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4" name="Freeform 4"/>
          <p:cNvSpPr/>
          <p:nvPr/>
        </p:nvSpPr>
        <p:spPr>
          <a:xfrm>
            <a:off x="7747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001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6" name="Freeform 6"/>
          <p:cNvSpPr/>
          <p:nvPr/>
        </p:nvSpPr>
        <p:spPr>
          <a:xfrm>
            <a:off x="7747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01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8" name="Freeform 8"/>
          <p:cNvSpPr/>
          <p:nvPr/>
        </p:nvSpPr>
        <p:spPr>
          <a:xfrm>
            <a:off x="7747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001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0" name="Freeform 10"/>
          <p:cNvSpPr/>
          <p:nvPr/>
        </p:nvSpPr>
        <p:spPr>
          <a:xfrm>
            <a:off x="173355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73482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2" name="Freeform 12"/>
          <p:cNvSpPr/>
          <p:nvPr/>
        </p:nvSpPr>
        <p:spPr>
          <a:xfrm>
            <a:off x="173355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73482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4" name="Freeform 14"/>
          <p:cNvSpPr/>
          <p:nvPr/>
        </p:nvSpPr>
        <p:spPr>
          <a:xfrm>
            <a:off x="173355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73482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6" name="Freeform 16"/>
          <p:cNvSpPr/>
          <p:nvPr/>
        </p:nvSpPr>
        <p:spPr>
          <a:xfrm>
            <a:off x="173355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73482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8" name="Freeform 18"/>
          <p:cNvSpPr/>
          <p:nvPr/>
        </p:nvSpPr>
        <p:spPr>
          <a:xfrm rot="10800000">
            <a:off x="5334000" y="800100"/>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rot="10800000">
            <a:off x="6057900" y="1511300"/>
            <a:ext cx="6184900" cy="61849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0" name="AutoShape 20"/>
          <p:cNvSpPr/>
          <p:nvPr/>
        </p:nvSpPr>
        <p:spPr>
          <a:xfrm>
            <a:off x="7785100" y="2832100"/>
            <a:ext cx="2730500" cy="2006600"/>
          </a:xfrm>
          <a:prstGeom prst="rect">
            <a:avLst/>
          </a:prstGeom>
          <a:noFill/>
          <a:ln w="19050" cap="flat" cmpd="sng">
            <a:noFill/>
            <a:prstDash val="solid"/>
            <a:round/>
          </a:ln>
        </p:spPr>
        <p:txBody>
          <a:bodyPr vert="horz" wrap="square" lIns="0" tIns="0" rIns="0" bIns="0" rtlCol="0" anchor="t" anchorCtr="0"/>
          <a:lstStyle/>
          <a:p>
            <a:pPr marL="0" indent="0" algn="ctr">
              <a:lnSpc>
                <a:spcPts val="17080"/>
              </a:lnSpc>
              <a:defRPr/>
            </a:pPr>
            <a:r>
              <a:rPr lang="en-US" sz="12200" b="0" i="0" u="none" strike="noStrike" dirty="0">
                <a:solidFill>
                  <a:srgbClr val="004AAD"/>
                </a:solidFill>
                <a:latin typeface="Times New Roman"/>
                <a:ea typeface="Times New Roman"/>
                <a:cs typeface="Times New Roman"/>
                <a:sym typeface="Times New Roman"/>
              </a:rPr>
              <a:t>5.</a:t>
            </a:r>
            <a:r>
              <a:rPr lang="en-US" sz="12200" dirty="0">
                <a:solidFill>
                  <a:srgbClr val="004AAD"/>
                </a:solidFill>
                <a:latin typeface="Times New Roman"/>
                <a:ea typeface="Times New Roman"/>
                <a:cs typeface="Times New Roman"/>
                <a:sym typeface="Times New Roman"/>
              </a:rPr>
              <a:t>6</a:t>
            </a:r>
            <a:endParaRPr lang="en-US" sz="1100" dirty="0"/>
          </a:p>
        </p:txBody>
      </p:sp>
      <p:sp>
        <p:nvSpPr>
          <p:cNvPr id="21" name="AutoShape 21"/>
          <p:cNvSpPr/>
          <p:nvPr/>
        </p:nvSpPr>
        <p:spPr>
          <a:xfrm>
            <a:off x="4315690" y="4946650"/>
            <a:ext cx="9644062" cy="1435100"/>
          </a:xfrm>
          <a:prstGeom prst="rect">
            <a:avLst/>
          </a:prstGeom>
          <a:noFill/>
          <a:ln w="19050" cap="flat" cmpd="sng">
            <a:noFill/>
            <a:prstDash val="solid"/>
            <a:round/>
          </a:ln>
        </p:spPr>
        <p:txBody>
          <a:bodyPr vert="horz" wrap="square" lIns="0" tIns="0" rIns="0" bIns="0" rtlCol="0" anchor="t" anchorCtr="0"/>
          <a:lstStyle/>
          <a:p>
            <a:pPr algn="ctr">
              <a:lnSpc>
                <a:spcPts val="11200"/>
              </a:lnSpc>
              <a:defRPr/>
            </a:pPr>
            <a:r>
              <a:rPr lang="zh-CN" altLang="zh-CN" sz="9600" b="1" dirty="0">
                <a:solidFill>
                  <a:srgbClr val="004AAD"/>
                </a:solidFill>
                <a:latin typeface="仿宋"/>
                <a:ea typeface="仿宋"/>
              </a:rPr>
              <a:t>序列密码算法的未来发展趋势</a:t>
            </a:r>
            <a:endParaRPr lang="en-US" sz="9600" b="1" dirty="0">
              <a:solidFill>
                <a:srgbClr val="004AAD"/>
              </a:solidFill>
              <a:latin typeface="仿宋"/>
              <a:ea typeface="仿宋"/>
            </a:endParaRPr>
          </a:p>
        </p:txBody>
      </p:sp>
      <p:sp>
        <p:nvSpPr>
          <p:cNvPr id="22" name="Freeform 22"/>
          <p:cNvSpPr/>
          <p:nvPr/>
        </p:nvSpPr>
        <p:spPr>
          <a:xfrm>
            <a:off x="-1028700" y="9029700"/>
            <a:ext cx="20887940"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28700" y="9029700"/>
            <a:ext cx="20891500" cy="10922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4" name="Freeform 24"/>
          <p:cNvSpPr/>
          <p:nvPr/>
        </p:nvSpPr>
        <p:spPr>
          <a:xfrm>
            <a:off x="-1295400" y="9182100"/>
            <a:ext cx="2088794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1295400" y="9182100"/>
            <a:ext cx="20891500" cy="12446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6" name="AutoShape 26"/>
          <p:cNvSpPr/>
          <p:nvPr/>
        </p:nvSpPr>
        <p:spPr>
          <a:xfrm>
            <a:off x="15379700" y="95250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r>
              <a:rPr lang="en-US" dirty="0">
                <a:solidFill>
                  <a:srgbClr val="FFC000"/>
                </a:solidFill>
                <a:latin typeface="Calibri"/>
                <a:ea typeface="Calibri"/>
                <a:cs typeface="Calibri"/>
                <a:sym typeface="Calibri"/>
              </a:rPr>
              <a:t>27</a:t>
            </a:r>
            <a:endParaRPr lang="en-US" sz="1100" dirty="0"/>
          </a:p>
        </p:txBody>
      </p:sp>
      <p:sp>
        <p:nvSpPr>
          <p:cNvPr id="30" name="AutoShape 29">
            <a:extLst>
              <a:ext uri="{FF2B5EF4-FFF2-40B4-BE49-F238E27FC236}">
                <a16:creationId xmlns:a16="http://schemas.microsoft.com/office/drawing/2014/main" id="{12F3AE8D-79E0-A1D5-CD0F-1BB8FF450CA1}"/>
              </a:ext>
            </a:extLst>
          </p:cNvPr>
          <p:cNvSpPr/>
          <p:nvPr/>
        </p:nvSpPr>
        <p:spPr>
          <a:xfrm>
            <a:off x="800100" y="6096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32" name="Picture 30">
            <a:extLst>
              <a:ext uri="{FF2B5EF4-FFF2-40B4-BE49-F238E27FC236}">
                <a16:creationId xmlns:a16="http://schemas.microsoft.com/office/drawing/2014/main" id="{A4D1D667-1C74-557F-89D6-A0DF827CF665}"/>
              </a:ext>
            </a:extLst>
          </p:cNvPr>
          <p:cNvPicPr>
            <a:picLocks noChangeAspect="1"/>
          </p:cNvPicPr>
          <p:nvPr/>
        </p:nvPicPr>
        <p:blipFill>
          <a:blip r:embed="rId3"/>
          <a:srcRect/>
          <a:stretch>
            <a:fillRect/>
          </a:stretch>
        </p:blipFill>
        <p:spPr>
          <a:xfrm>
            <a:off x="927100" y="977900"/>
            <a:ext cx="2768600" cy="50800"/>
          </a:xfrm>
          <a:prstGeom prst="rect">
            <a:avLst/>
          </a:prstGeom>
          <a:noFill/>
          <a:ln w="25400" cap="flat" cmpd="sng">
            <a:noFill/>
            <a:prstDash val="solid"/>
            <a:rou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a:extLst>
            <a:ext uri="{FF2B5EF4-FFF2-40B4-BE49-F238E27FC236}">
              <a16:creationId xmlns:a16="http://schemas.microsoft.com/office/drawing/2014/main" id="{4D73C2EB-CF14-AAAF-31DA-15095E791CC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6BD77F7-222E-0E1E-5521-D5A855A2B33F}"/>
              </a:ext>
            </a:extLst>
          </p:cNvPr>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616ABDA4-22D7-3934-7620-9DA59B07CC55}"/>
              </a:ext>
            </a:extLst>
          </p:cNvPr>
          <p:cNvSpPr/>
          <p:nvPr/>
        </p:nvSpPr>
        <p:spPr>
          <a:xfrm>
            <a:off x="961833" y="935192"/>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4" name="AutoShape 4">
            <a:extLst>
              <a:ext uri="{FF2B5EF4-FFF2-40B4-BE49-F238E27FC236}">
                <a16:creationId xmlns:a16="http://schemas.microsoft.com/office/drawing/2014/main" id="{3954599C-3880-2B89-D3C6-CFF54BED1D91}"/>
              </a:ext>
            </a:extLst>
          </p:cNvPr>
          <p:cNvSpPr/>
          <p:nvPr/>
        </p:nvSpPr>
        <p:spPr>
          <a:xfrm>
            <a:off x="1219199" y="1514507"/>
            <a:ext cx="16749823" cy="8712201"/>
          </a:xfrm>
          <a:prstGeom prst="rect">
            <a:avLst/>
          </a:prstGeom>
          <a:noFill/>
          <a:ln w="19050" cap="flat" cmpd="sng">
            <a:noFill/>
            <a:prstDash val="solid"/>
            <a:round/>
          </a:ln>
        </p:spPr>
        <p:txBody>
          <a:bodyPr vert="horz" wrap="square" lIns="0" tIns="0" rIns="0" bIns="0" rtlCol="0" anchor="t" anchorCtr="0"/>
          <a:lstStyle/>
          <a:p>
            <a:pPr>
              <a:lnSpc>
                <a:spcPct val="150000"/>
              </a:lnSpc>
            </a:pPr>
            <a:r>
              <a:rPr lang="en-US" altLang="zh-CN" sz="3600" dirty="0">
                <a:latin typeface="宋体" panose="02010600030101010101" pitchFamily="2" charset="-122"/>
                <a:ea typeface="宋体" panose="02010600030101010101" pitchFamily="2" charset="-122"/>
              </a:rPr>
              <a:t>    </a:t>
            </a:r>
            <a:r>
              <a:rPr lang="zh-CN" altLang="zh-CN" sz="3600" dirty="0">
                <a:latin typeface="宋体" panose="02010600030101010101" pitchFamily="2" charset="-122"/>
                <a:ea typeface="宋体" panose="02010600030101010101" pitchFamily="2" charset="-122"/>
              </a:rPr>
              <a:t>分组密码在安全上是可度量的，通过使用一定的密码工作模式，分组密码就能够作为序列密码来用，在当前的商用序列密码中，已经越来越多的使用分组密码。</a:t>
            </a:r>
            <a:endParaRPr lang="en-US" altLang="zh-CN" sz="3600" dirty="0">
              <a:latin typeface="宋体" panose="02010600030101010101" pitchFamily="2" charset="-122"/>
              <a:ea typeface="宋体" panose="02010600030101010101" pitchFamily="2" charset="-122"/>
            </a:endParaRPr>
          </a:p>
          <a:p>
            <a:pPr>
              <a:lnSpc>
                <a:spcPct val="150000"/>
              </a:lnSpc>
            </a:pPr>
            <a:r>
              <a:rPr lang="en-US" altLang="zh-CN" sz="3600" dirty="0">
                <a:latin typeface="宋体" panose="02010600030101010101" pitchFamily="2" charset="-122"/>
                <a:ea typeface="宋体" panose="02010600030101010101" pitchFamily="2" charset="-122"/>
              </a:rPr>
              <a:t>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eSTREAM</a:t>
            </a:r>
            <a:r>
              <a:rPr lang="zh-CN" altLang="zh-CN" sz="3600" dirty="0">
                <a:latin typeface="宋体" panose="02010600030101010101" pitchFamily="2" charset="-122"/>
                <a:ea typeface="宋体" panose="02010600030101010101" pitchFamily="2" charset="-122"/>
              </a:rPr>
              <a:t>计划推动了国际序列密码算法的设计和分析的发展。</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eSTREAM</a:t>
            </a:r>
            <a:r>
              <a:rPr lang="zh-CN" altLang="zh-CN" sz="3600" dirty="0">
                <a:latin typeface="宋体" panose="02010600030101010101" pitchFamily="2" charset="-122"/>
                <a:ea typeface="宋体" panose="02010600030101010101" pitchFamily="2" charset="-122"/>
              </a:rPr>
              <a:t>计划中胜出的算法，代表了现代商用序列密码设计的最高水平，标志着非线性驱动和非线性迭代已成为国际序列密码设计的主流方向。因为目前主要的密码分析技术都是针对线性驱动的体制，所以新的设计观念对序列密码分析技术提出了严峻挑战，并且它们也将成为未来国际序列密码分析的焦点。</a:t>
            </a:r>
          </a:p>
          <a:p>
            <a:pPr marL="0" indent="914400" algn="just">
              <a:lnSpc>
                <a:spcPct val="125000"/>
              </a:lnSpc>
              <a:defRPr/>
            </a:pPr>
            <a:endParaRPr lang="en-US" sz="3200" b="0" i="0" u="none" strike="noStrike" dirty="0">
              <a:solidFill>
                <a:srgbClr val="000000"/>
              </a:solidFill>
              <a:latin typeface="Songti SC"/>
              <a:ea typeface="Songti SC"/>
              <a:cs typeface="Songti SC"/>
              <a:sym typeface="Songti SC"/>
            </a:endParaRPr>
          </a:p>
        </p:txBody>
      </p:sp>
      <p:sp>
        <p:nvSpPr>
          <p:cNvPr id="5" name="AutoShape 5">
            <a:extLst>
              <a:ext uri="{FF2B5EF4-FFF2-40B4-BE49-F238E27FC236}">
                <a16:creationId xmlns:a16="http://schemas.microsoft.com/office/drawing/2014/main" id="{1D80DF82-6D1E-5736-FDE6-A494CE95EB86}"/>
              </a:ext>
            </a:extLst>
          </p:cNvPr>
          <p:cNvSpPr/>
          <p:nvPr/>
        </p:nvSpPr>
        <p:spPr>
          <a:xfrm>
            <a:off x="2184400" y="449247"/>
            <a:ext cx="9461500" cy="723900"/>
          </a:xfrm>
          <a:prstGeom prst="rect">
            <a:avLst/>
          </a:prstGeom>
          <a:noFill/>
          <a:ln w="19050" cap="flat" cmpd="sng">
            <a:noFill/>
            <a:prstDash val="solid"/>
            <a:round/>
          </a:ln>
        </p:spPr>
        <p:txBody>
          <a:bodyPr vert="horz" wrap="square" lIns="0" tIns="0" rIns="0" bIns="0" rtlCol="0" anchor="t" anchorCtr="0"/>
          <a:lstStyle/>
          <a:p>
            <a:pPr>
              <a:lnSpc>
                <a:spcPts val="5600"/>
              </a:lnSpc>
            </a:pPr>
            <a:r>
              <a:rPr lang="zh-CN" altLang="zh-CN"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rPr>
              <a:t>序列密码算法的未来发展趋势</a:t>
            </a:r>
          </a:p>
        </p:txBody>
      </p:sp>
      <p:sp>
        <p:nvSpPr>
          <p:cNvPr id="6" name="AutoShape 6">
            <a:extLst>
              <a:ext uri="{FF2B5EF4-FFF2-40B4-BE49-F238E27FC236}">
                <a16:creationId xmlns:a16="http://schemas.microsoft.com/office/drawing/2014/main" id="{D27FA8E1-597D-8EC3-5BB8-770C8BE16DFD}"/>
              </a:ext>
            </a:extLst>
          </p:cNvPr>
          <p:cNvSpPr/>
          <p:nvPr/>
        </p:nvSpPr>
        <p:spPr>
          <a:xfrm>
            <a:off x="1017684" y="417497"/>
            <a:ext cx="1524000" cy="838200"/>
          </a:xfrm>
          <a:prstGeom prst="rect">
            <a:avLst/>
          </a:prstGeom>
          <a:noFill/>
          <a:ln w="19050" cap="flat" cmpd="sng">
            <a:noFill/>
            <a:prstDash val="solid"/>
            <a:round/>
          </a:ln>
        </p:spPr>
        <p:txBody>
          <a:bodyPr vert="horz" wrap="square" lIns="0" tIns="0" rIns="0" bIns="0" rtlCol="0" anchor="t" anchorCtr="0"/>
          <a:lstStyle/>
          <a:p>
            <a:pPr marL="0" indent="0" algn="ctr">
              <a:lnSpc>
                <a:spcPts val="6575"/>
              </a:lnSpc>
              <a:defRPr/>
            </a:pPr>
            <a:r>
              <a:rPr lang="en-US" sz="4700" b="0" i="0" u="none" strike="noStrike"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Times New Roman"/>
                <a:cs typeface="Times New Roman"/>
                <a:sym typeface="Times New Roman"/>
              </a:rPr>
              <a:t>5.6</a:t>
            </a:r>
            <a:endParaRPr lang="en-US" sz="1100" dirty="0">
              <a:effectLst>
                <a:outerShdw blurRad="50800" dist="38100" dir="2700000" algn="tl" rotWithShape="0">
                  <a:prstClr val="black">
                    <a:alpha val="40000"/>
                  </a:prstClr>
                </a:outerShdw>
                <a:reflection blurRad="6350" stA="60000" endA="900" endPos="58000" dir="5400000" sy="-100000" algn="bl" rotWithShape="0"/>
              </a:effectLst>
            </a:endParaRPr>
          </a:p>
        </p:txBody>
      </p:sp>
      <p:sp>
        <p:nvSpPr>
          <p:cNvPr id="7" name="AutoShape 7">
            <a:extLst>
              <a:ext uri="{FF2B5EF4-FFF2-40B4-BE49-F238E27FC236}">
                <a16:creationId xmlns:a16="http://schemas.microsoft.com/office/drawing/2014/main" id="{EA895AAA-0B83-0906-0E00-2E70C676C69D}"/>
              </a:ext>
            </a:extLst>
          </p:cNvPr>
          <p:cNvSpPr/>
          <p:nvPr/>
        </p:nvSpPr>
        <p:spPr>
          <a:xfrm>
            <a:off x="15544800" y="94107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fld id="{84821A1B-28B4-430D-8C50-3BF1C220F25B}" type="slidenum">
              <a:rPr sz="1400" b="0" i="0" u="none" strike="noStrike">
                <a:solidFill>
                  <a:srgbClr val="FFC000"/>
                </a:solidFill>
                <a:latin typeface="Calibri"/>
                <a:ea typeface="Calibri"/>
                <a:cs typeface="Calibri"/>
                <a:sym typeface="Calibri"/>
              </a:rPr>
              <a:t>29</a:t>
            </a:fld>
            <a:endParaRPr lang="en-US" sz="1100"/>
          </a:p>
        </p:txBody>
      </p:sp>
      <p:pic>
        <p:nvPicPr>
          <p:cNvPr id="8" name="Picture 8">
            <a:extLst>
              <a:ext uri="{FF2B5EF4-FFF2-40B4-BE49-F238E27FC236}">
                <a16:creationId xmlns:a16="http://schemas.microsoft.com/office/drawing/2014/main" id="{2036BC87-3C57-4B03-328C-920F6F236EB5}"/>
              </a:ext>
            </a:extLst>
          </p:cNvPr>
          <p:cNvPicPr>
            <a:picLocks noChangeAspect="1"/>
          </p:cNvPicPr>
          <p:nvPr/>
        </p:nvPicPr>
        <p:blipFill>
          <a:blip r:embed="rId3">
            <a:alphaModFix amt="80000"/>
          </a:blip>
          <a:srcRect/>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12" name="AutoShape 29">
            <a:extLst>
              <a:ext uri="{FF2B5EF4-FFF2-40B4-BE49-F238E27FC236}">
                <a16:creationId xmlns:a16="http://schemas.microsoft.com/office/drawing/2014/main" id="{B3E3D2B0-F260-D259-FEE2-3214F28AB09C}"/>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4" name="Picture 30">
            <a:extLst>
              <a:ext uri="{FF2B5EF4-FFF2-40B4-BE49-F238E27FC236}">
                <a16:creationId xmlns:a16="http://schemas.microsoft.com/office/drawing/2014/main" id="{4305D998-A135-F767-BB73-5B8F3E4DB9C3}"/>
              </a:ext>
            </a:extLst>
          </p:cNvPr>
          <p:cNvPicPr>
            <a:picLocks noChangeAspect="1"/>
          </p:cNvPicPr>
          <p:nvPr/>
        </p:nvPicPr>
        <p:blipFill>
          <a:blip r:embed="rId4"/>
          <a:srcRect/>
          <a:stretch>
            <a:fillRect/>
          </a:stretch>
        </p:blipFill>
        <p:spPr>
          <a:xfrm>
            <a:off x="13488377" y="1079500"/>
            <a:ext cx="2768600" cy="50800"/>
          </a:xfrm>
          <a:prstGeom prst="rect">
            <a:avLst/>
          </a:prstGeom>
          <a:noFill/>
          <a:ln w="25400" cap="flat" cmpd="sng">
            <a:noFill/>
            <a:prstDash val="solid"/>
            <a:round/>
          </a:ln>
        </p:spPr>
      </p:pic>
    </p:spTree>
    <p:extLst>
      <p:ext uri="{BB962C8B-B14F-4D97-AF65-F5344CB8AC3E}">
        <p14:creationId xmlns:p14="http://schemas.microsoft.com/office/powerpoint/2010/main" val="23225520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a:extLst>
            <a:ext uri="{FF2B5EF4-FFF2-40B4-BE49-F238E27FC236}">
              <a16:creationId xmlns:a16="http://schemas.microsoft.com/office/drawing/2014/main" id="{DF730479-C58A-1B98-B4A8-D5E2BB2C27E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9488BD5-82FB-C7DF-12E9-61DD96947863}"/>
              </a:ext>
            </a:extLst>
          </p:cNvPr>
          <p:cNvSpPr/>
          <p:nvPr/>
        </p:nvSpPr>
        <p:spPr>
          <a:xfrm>
            <a:off x="7747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C33B20DC-A507-E067-DD20-1861E327D50E}"/>
              </a:ext>
            </a:extLst>
          </p:cNvPr>
          <p:cNvSpPr/>
          <p:nvPr/>
        </p:nvSpPr>
        <p:spPr>
          <a:xfrm>
            <a:off x="8001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4" name="Freeform 4">
            <a:extLst>
              <a:ext uri="{FF2B5EF4-FFF2-40B4-BE49-F238E27FC236}">
                <a16:creationId xmlns:a16="http://schemas.microsoft.com/office/drawing/2014/main" id="{9D3B87C0-5E15-CD9D-B7B6-11CCBBA96807}"/>
              </a:ext>
            </a:extLst>
          </p:cNvPr>
          <p:cNvSpPr/>
          <p:nvPr/>
        </p:nvSpPr>
        <p:spPr>
          <a:xfrm>
            <a:off x="7747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a:extLst>
              <a:ext uri="{FF2B5EF4-FFF2-40B4-BE49-F238E27FC236}">
                <a16:creationId xmlns:a16="http://schemas.microsoft.com/office/drawing/2014/main" id="{F429FD82-3D7F-5086-3A91-E7599467AB90}"/>
              </a:ext>
            </a:extLst>
          </p:cNvPr>
          <p:cNvSpPr/>
          <p:nvPr/>
        </p:nvSpPr>
        <p:spPr>
          <a:xfrm>
            <a:off x="8001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6" name="Freeform 6">
            <a:extLst>
              <a:ext uri="{FF2B5EF4-FFF2-40B4-BE49-F238E27FC236}">
                <a16:creationId xmlns:a16="http://schemas.microsoft.com/office/drawing/2014/main" id="{EC65B94F-7293-6099-386E-FAF5E282C5CF}"/>
              </a:ext>
            </a:extLst>
          </p:cNvPr>
          <p:cNvSpPr/>
          <p:nvPr/>
        </p:nvSpPr>
        <p:spPr>
          <a:xfrm>
            <a:off x="7747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a:extLst>
              <a:ext uri="{FF2B5EF4-FFF2-40B4-BE49-F238E27FC236}">
                <a16:creationId xmlns:a16="http://schemas.microsoft.com/office/drawing/2014/main" id="{7A96A2BD-26EB-F613-7786-477C10AE1E3D}"/>
              </a:ext>
            </a:extLst>
          </p:cNvPr>
          <p:cNvSpPr/>
          <p:nvPr/>
        </p:nvSpPr>
        <p:spPr>
          <a:xfrm>
            <a:off x="8001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8" name="Freeform 8">
            <a:extLst>
              <a:ext uri="{FF2B5EF4-FFF2-40B4-BE49-F238E27FC236}">
                <a16:creationId xmlns:a16="http://schemas.microsoft.com/office/drawing/2014/main" id="{0DC2D505-4F66-24BA-9667-1028F7E01467}"/>
              </a:ext>
            </a:extLst>
          </p:cNvPr>
          <p:cNvSpPr/>
          <p:nvPr/>
        </p:nvSpPr>
        <p:spPr>
          <a:xfrm>
            <a:off x="7747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a:extLst>
              <a:ext uri="{FF2B5EF4-FFF2-40B4-BE49-F238E27FC236}">
                <a16:creationId xmlns:a16="http://schemas.microsoft.com/office/drawing/2014/main" id="{95794EFF-5C60-729B-9FB6-86C40E0A2292}"/>
              </a:ext>
            </a:extLst>
          </p:cNvPr>
          <p:cNvSpPr/>
          <p:nvPr/>
        </p:nvSpPr>
        <p:spPr>
          <a:xfrm>
            <a:off x="8001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0" name="Freeform 10">
            <a:extLst>
              <a:ext uri="{FF2B5EF4-FFF2-40B4-BE49-F238E27FC236}">
                <a16:creationId xmlns:a16="http://schemas.microsoft.com/office/drawing/2014/main" id="{2CF782BD-7A3E-0A0F-5A9B-E516C01D66EC}"/>
              </a:ext>
            </a:extLst>
          </p:cNvPr>
          <p:cNvSpPr/>
          <p:nvPr/>
        </p:nvSpPr>
        <p:spPr>
          <a:xfrm>
            <a:off x="17335500" y="36068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a:extLst>
              <a:ext uri="{FF2B5EF4-FFF2-40B4-BE49-F238E27FC236}">
                <a16:creationId xmlns:a16="http://schemas.microsoft.com/office/drawing/2014/main" id="{0D3B1F34-F838-7771-1CE3-4488C94E6139}"/>
              </a:ext>
            </a:extLst>
          </p:cNvPr>
          <p:cNvSpPr/>
          <p:nvPr/>
        </p:nvSpPr>
        <p:spPr>
          <a:xfrm>
            <a:off x="17348200" y="36195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2" name="Freeform 12">
            <a:extLst>
              <a:ext uri="{FF2B5EF4-FFF2-40B4-BE49-F238E27FC236}">
                <a16:creationId xmlns:a16="http://schemas.microsoft.com/office/drawing/2014/main" id="{0D892F2B-658B-E652-9EAF-5115D5B47139}"/>
              </a:ext>
            </a:extLst>
          </p:cNvPr>
          <p:cNvSpPr/>
          <p:nvPr/>
        </p:nvSpPr>
        <p:spPr>
          <a:xfrm>
            <a:off x="17335500" y="40259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a:extLst>
              <a:ext uri="{FF2B5EF4-FFF2-40B4-BE49-F238E27FC236}">
                <a16:creationId xmlns:a16="http://schemas.microsoft.com/office/drawing/2014/main" id="{AD207F22-8A4B-AEA2-9B97-85F340AFC096}"/>
              </a:ext>
            </a:extLst>
          </p:cNvPr>
          <p:cNvSpPr/>
          <p:nvPr/>
        </p:nvSpPr>
        <p:spPr>
          <a:xfrm>
            <a:off x="17348200" y="40386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4" name="Freeform 14">
            <a:extLst>
              <a:ext uri="{FF2B5EF4-FFF2-40B4-BE49-F238E27FC236}">
                <a16:creationId xmlns:a16="http://schemas.microsoft.com/office/drawing/2014/main" id="{7B85AB23-0670-B5A2-D4C5-55296209029F}"/>
              </a:ext>
            </a:extLst>
          </p:cNvPr>
          <p:cNvSpPr/>
          <p:nvPr/>
        </p:nvSpPr>
        <p:spPr>
          <a:xfrm>
            <a:off x="17335500" y="44450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a:extLst>
              <a:ext uri="{FF2B5EF4-FFF2-40B4-BE49-F238E27FC236}">
                <a16:creationId xmlns:a16="http://schemas.microsoft.com/office/drawing/2014/main" id="{A1AADCA7-0DD0-D81A-EC24-F0F81C194CF5}"/>
              </a:ext>
            </a:extLst>
          </p:cNvPr>
          <p:cNvSpPr/>
          <p:nvPr/>
        </p:nvSpPr>
        <p:spPr>
          <a:xfrm>
            <a:off x="17348200" y="44577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6" name="Freeform 16">
            <a:extLst>
              <a:ext uri="{FF2B5EF4-FFF2-40B4-BE49-F238E27FC236}">
                <a16:creationId xmlns:a16="http://schemas.microsoft.com/office/drawing/2014/main" id="{B6565694-665B-C8B0-22E2-C85161C840D5}"/>
              </a:ext>
            </a:extLst>
          </p:cNvPr>
          <p:cNvSpPr/>
          <p:nvPr/>
        </p:nvSpPr>
        <p:spPr>
          <a:xfrm>
            <a:off x="17335500" y="486410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a:extLst>
              <a:ext uri="{FF2B5EF4-FFF2-40B4-BE49-F238E27FC236}">
                <a16:creationId xmlns:a16="http://schemas.microsoft.com/office/drawing/2014/main" id="{ED2E2A5E-509B-2451-52B6-D6C92F0AE620}"/>
              </a:ext>
            </a:extLst>
          </p:cNvPr>
          <p:cNvSpPr/>
          <p:nvPr/>
        </p:nvSpPr>
        <p:spPr>
          <a:xfrm>
            <a:off x="17348200" y="4876800"/>
            <a:ext cx="139700" cy="1397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18" name="Freeform 18">
            <a:extLst>
              <a:ext uri="{FF2B5EF4-FFF2-40B4-BE49-F238E27FC236}">
                <a16:creationId xmlns:a16="http://schemas.microsoft.com/office/drawing/2014/main" id="{3FE00E45-7ABC-E5A5-1474-48FB78E29F0F}"/>
              </a:ext>
            </a:extLst>
          </p:cNvPr>
          <p:cNvSpPr/>
          <p:nvPr/>
        </p:nvSpPr>
        <p:spPr>
          <a:xfrm rot="10800000">
            <a:off x="5334000" y="800100"/>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19" name="AutoShape 19">
            <a:extLst>
              <a:ext uri="{FF2B5EF4-FFF2-40B4-BE49-F238E27FC236}">
                <a16:creationId xmlns:a16="http://schemas.microsoft.com/office/drawing/2014/main" id="{8DCCB8DB-665A-C5F2-CC7D-89694675A915}"/>
              </a:ext>
            </a:extLst>
          </p:cNvPr>
          <p:cNvSpPr/>
          <p:nvPr/>
        </p:nvSpPr>
        <p:spPr>
          <a:xfrm rot="10800000">
            <a:off x="6057900" y="1511300"/>
            <a:ext cx="6184900" cy="61849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0" name="AutoShape 20">
            <a:extLst>
              <a:ext uri="{FF2B5EF4-FFF2-40B4-BE49-F238E27FC236}">
                <a16:creationId xmlns:a16="http://schemas.microsoft.com/office/drawing/2014/main" id="{2FEE8A54-609B-3273-D07E-C15B11193ACD}"/>
              </a:ext>
            </a:extLst>
          </p:cNvPr>
          <p:cNvSpPr/>
          <p:nvPr/>
        </p:nvSpPr>
        <p:spPr>
          <a:xfrm>
            <a:off x="7785100" y="2832100"/>
            <a:ext cx="2730500" cy="2006600"/>
          </a:xfrm>
          <a:prstGeom prst="rect">
            <a:avLst/>
          </a:prstGeom>
          <a:noFill/>
          <a:ln w="19050" cap="flat" cmpd="sng">
            <a:noFill/>
            <a:prstDash val="solid"/>
            <a:round/>
          </a:ln>
        </p:spPr>
        <p:txBody>
          <a:bodyPr vert="horz" wrap="square" lIns="0" tIns="0" rIns="0" bIns="0" rtlCol="0" anchor="t" anchorCtr="0"/>
          <a:lstStyle/>
          <a:p>
            <a:pPr marL="0" indent="0" algn="ctr">
              <a:lnSpc>
                <a:spcPts val="17080"/>
              </a:lnSpc>
              <a:defRPr/>
            </a:pPr>
            <a:r>
              <a:rPr lang="en-US" sz="12200" b="0" i="0" u="none" strike="noStrike" dirty="0">
                <a:solidFill>
                  <a:srgbClr val="004AAD"/>
                </a:solidFill>
                <a:latin typeface="Times New Roman"/>
                <a:ea typeface="Times New Roman"/>
                <a:cs typeface="Times New Roman"/>
                <a:sym typeface="Times New Roman"/>
              </a:rPr>
              <a:t>5.7</a:t>
            </a:r>
            <a:endParaRPr lang="en-US" sz="1100" dirty="0"/>
          </a:p>
        </p:txBody>
      </p:sp>
      <p:sp>
        <p:nvSpPr>
          <p:cNvPr id="21" name="AutoShape 21">
            <a:extLst>
              <a:ext uri="{FF2B5EF4-FFF2-40B4-BE49-F238E27FC236}">
                <a16:creationId xmlns:a16="http://schemas.microsoft.com/office/drawing/2014/main" id="{0B9CD3B1-C63E-3C87-D8BC-EF848B0114C4}"/>
              </a:ext>
            </a:extLst>
          </p:cNvPr>
          <p:cNvSpPr/>
          <p:nvPr/>
        </p:nvSpPr>
        <p:spPr>
          <a:xfrm>
            <a:off x="3429000" y="5143500"/>
            <a:ext cx="11430000" cy="1435100"/>
          </a:xfrm>
          <a:prstGeom prst="rect">
            <a:avLst/>
          </a:prstGeom>
          <a:noFill/>
          <a:ln w="19050" cap="flat" cmpd="sng">
            <a:noFill/>
            <a:prstDash val="solid"/>
            <a:round/>
          </a:ln>
        </p:spPr>
        <p:txBody>
          <a:bodyPr vert="horz" wrap="square" lIns="0" tIns="0" rIns="0" bIns="0" rtlCol="0" anchor="t" anchorCtr="0"/>
          <a:lstStyle/>
          <a:p>
            <a:pPr marL="0" indent="0" algn="ctr">
              <a:lnSpc>
                <a:spcPts val="11200"/>
              </a:lnSpc>
              <a:defRPr/>
            </a:pPr>
            <a:r>
              <a:rPr lang="en-US" sz="9600" b="1" i="0" u="none" strike="noStrike" dirty="0">
                <a:solidFill>
                  <a:srgbClr val="004AAD"/>
                </a:solidFill>
                <a:latin typeface="仿宋"/>
                <a:ea typeface="仿宋"/>
                <a:cs typeface="仿宋"/>
                <a:sym typeface="仿宋"/>
              </a:rPr>
              <a:t>本章小结</a:t>
            </a:r>
            <a:endParaRPr lang="en-US" sz="1100" dirty="0"/>
          </a:p>
        </p:txBody>
      </p:sp>
      <p:sp>
        <p:nvSpPr>
          <p:cNvPr id="22" name="Freeform 22">
            <a:extLst>
              <a:ext uri="{FF2B5EF4-FFF2-40B4-BE49-F238E27FC236}">
                <a16:creationId xmlns:a16="http://schemas.microsoft.com/office/drawing/2014/main" id="{E4969E7D-0B49-7665-BF78-7E9C8B96B3CC}"/>
              </a:ext>
            </a:extLst>
          </p:cNvPr>
          <p:cNvSpPr/>
          <p:nvPr/>
        </p:nvSpPr>
        <p:spPr>
          <a:xfrm>
            <a:off x="-1028700" y="9029700"/>
            <a:ext cx="20887940"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AutoShape 23">
            <a:extLst>
              <a:ext uri="{FF2B5EF4-FFF2-40B4-BE49-F238E27FC236}">
                <a16:creationId xmlns:a16="http://schemas.microsoft.com/office/drawing/2014/main" id="{742B7BDF-0708-F659-8C89-C62A9B06B183}"/>
              </a:ext>
            </a:extLst>
          </p:cNvPr>
          <p:cNvSpPr/>
          <p:nvPr/>
        </p:nvSpPr>
        <p:spPr>
          <a:xfrm>
            <a:off x="-1028700" y="9029700"/>
            <a:ext cx="20891500" cy="10922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4" name="Freeform 24">
            <a:extLst>
              <a:ext uri="{FF2B5EF4-FFF2-40B4-BE49-F238E27FC236}">
                <a16:creationId xmlns:a16="http://schemas.microsoft.com/office/drawing/2014/main" id="{172AF33E-78D4-A4A0-410F-C75AF84AD26B}"/>
              </a:ext>
            </a:extLst>
          </p:cNvPr>
          <p:cNvSpPr/>
          <p:nvPr/>
        </p:nvSpPr>
        <p:spPr>
          <a:xfrm>
            <a:off x="-1295400" y="9182100"/>
            <a:ext cx="2088794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a:extLst>
              <a:ext uri="{FF2B5EF4-FFF2-40B4-BE49-F238E27FC236}">
                <a16:creationId xmlns:a16="http://schemas.microsoft.com/office/drawing/2014/main" id="{04EF84D9-013F-D138-46C3-AEA747928361}"/>
              </a:ext>
            </a:extLst>
          </p:cNvPr>
          <p:cNvSpPr/>
          <p:nvPr/>
        </p:nvSpPr>
        <p:spPr>
          <a:xfrm>
            <a:off x="-1295400" y="9182100"/>
            <a:ext cx="20891500" cy="12446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26" name="AutoShape 26">
            <a:extLst>
              <a:ext uri="{FF2B5EF4-FFF2-40B4-BE49-F238E27FC236}">
                <a16:creationId xmlns:a16="http://schemas.microsoft.com/office/drawing/2014/main" id="{14E940E8-4B74-BFC2-818B-F2C88F75EF38}"/>
              </a:ext>
            </a:extLst>
          </p:cNvPr>
          <p:cNvSpPr/>
          <p:nvPr/>
        </p:nvSpPr>
        <p:spPr>
          <a:xfrm>
            <a:off x="15379700" y="95250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r>
              <a:rPr lang="en-US" dirty="0">
                <a:solidFill>
                  <a:srgbClr val="FFC000"/>
                </a:solidFill>
                <a:latin typeface="Calibri"/>
                <a:ea typeface="Calibri"/>
                <a:cs typeface="Calibri"/>
                <a:sym typeface="Calibri"/>
              </a:rPr>
              <a:t>2</a:t>
            </a:r>
            <a:r>
              <a:rPr lang="en-US" sz="1400" b="0" i="0" u="none" strike="noStrike" dirty="0">
                <a:solidFill>
                  <a:srgbClr val="FFC000"/>
                </a:solidFill>
                <a:latin typeface="Calibri"/>
                <a:ea typeface="Calibri"/>
                <a:cs typeface="Calibri"/>
                <a:sym typeface="Calibri"/>
              </a:rPr>
              <a:t>9</a:t>
            </a:r>
            <a:endParaRPr lang="en-US" sz="1100" dirty="0"/>
          </a:p>
        </p:txBody>
      </p:sp>
      <p:sp>
        <p:nvSpPr>
          <p:cNvPr id="30" name="AutoShape 29">
            <a:extLst>
              <a:ext uri="{FF2B5EF4-FFF2-40B4-BE49-F238E27FC236}">
                <a16:creationId xmlns:a16="http://schemas.microsoft.com/office/drawing/2014/main" id="{3CC689C9-C5D7-9C3A-0258-008B9105EB41}"/>
              </a:ext>
            </a:extLst>
          </p:cNvPr>
          <p:cNvSpPr/>
          <p:nvPr/>
        </p:nvSpPr>
        <p:spPr>
          <a:xfrm>
            <a:off x="800100" y="6096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32" name="Picture 30">
            <a:extLst>
              <a:ext uri="{FF2B5EF4-FFF2-40B4-BE49-F238E27FC236}">
                <a16:creationId xmlns:a16="http://schemas.microsoft.com/office/drawing/2014/main" id="{67FB844A-1EFB-6C5E-928F-C04D1990D967}"/>
              </a:ext>
            </a:extLst>
          </p:cNvPr>
          <p:cNvPicPr>
            <a:picLocks noChangeAspect="1"/>
          </p:cNvPicPr>
          <p:nvPr/>
        </p:nvPicPr>
        <p:blipFill>
          <a:blip r:embed="rId3"/>
          <a:srcRect/>
          <a:stretch>
            <a:fillRect/>
          </a:stretch>
        </p:blipFill>
        <p:spPr>
          <a:xfrm>
            <a:off x="927100" y="977900"/>
            <a:ext cx="2768600" cy="50800"/>
          </a:xfrm>
          <a:prstGeom prst="rect">
            <a:avLst/>
          </a:prstGeom>
          <a:noFill/>
          <a:ln w="25400" cap="flat" cmpd="sng">
            <a:noFill/>
            <a:prstDash val="solid"/>
            <a:round/>
          </a:ln>
        </p:spPr>
      </p:pic>
    </p:spTree>
    <p:extLst>
      <p:ext uri="{BB962C8B-B14F-4D97-AF65-F5344CB8AC3E}">
        <p14:creationId xmlns:p14="http://schemas.microsoft.com/office/powerpoint/2010/main" val="25082882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AutoShape 2"/>
          <p:cNvSpPr/>
          <p:nvPr/>
        </p:nvSpPr>
        <p:spPr>
          <a:xfrm>
            <a:off x="1733550" y="2165837"/>
            <a:ext cx="14820900" cy="4399085"/>
          </a:xfrm>
          <a:prstGeom prst="rect">
            <a:avLst/>
          </a:prstGeom>
          <a:noFill/>
          <a:ln w="19050" cap="flat" cmpd="sng">
            <a:noFill/>
            <a:prstDash val="solid"/>
            <a:round/>
          </a:ln>
        </p:spPr>
        <p:txBody>
          <a:bodyPr vert="horz" wrap="square" lIns="0" tIns="0" rIns="0" bIns="0" rtlCol="0" anchor="t" anchorCtr="0"/>
          <a:lstStyle/>
          <a:p>
            <a:pPr>
              <a:lnSpc>
                <a:spcPct val="150000"/>
              </a:lnSpc>
            </a:pPr>
            <a:r>
              <a:rPr lang="en-US" altLang="zh-CN" sz="3600" dirty="0">
                <a:latin typeface="宋体" panose="02010600030101010101" pitchFamily="2" charset="-122"/>
                <a:ea typeface="宋体" panose="02010600030101010101" pitchFamily="2" charset="-122"/>
              </a:rPr>
              <a:t>      </a:t>
            </a:r>
            <a:r>
              <a:rPr lang="zh-CN" altLang="zh-CN" sz="3600" dirty="0">
                <a:latin typeface="宋体" panose="02010600030101010101" pitchFamily="2" charset="-122"/>
                <a:ea typeface="宋体" panose="02010600030101010101" pitchFamily="2" charset="-122"/>
              </a:rPr>
              <a:t>本章首先介绍了序列密码的基本概念、序列分类及序列密码密钥流产生的关键组件；其次介绍了密钥序列生成器和反馈移位寄存器，在此基础上介绍了</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LFSR</a:t>
            </a:r>
            <a:r>
              <a:rPr lang="zh-CN" altLang="zh-CN" sz="3600" dirty="0">
                <a:latin typeface="宋体" panose="02010600030101010101" pitchFamily="2" charset="-122"/>
                <a:ea typeface="宋体" panose="02010600030101010101" pitchFamily="2" charset="-122"/>
              </a:rPr>
              <a:t>的一元多项式表示；再次介绍了欧洲</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eSTREAM</a:t>
            </a:r>
            <a:r>
              <a:rPr lang="zh-CN" altLang="zh-CN" sz="3600" dirty="0">
                <a:latin typeface="宋体" panose="02010600030101010101" pitchFamily="2" charset="-122"/>
                <a:ea typeface="宋体" panose="02010600030101010101" pitchFamily="2" charset="-122"/>
              </a:rPr>
              <a:t>序列密码；最后介绍了序列密码算法的安全性及分析技术，以及序列密码未来的发展方向。</a:t>
            </a:r>
          </a:p>
        </p:txBody>
      </p:sp>
      <p:sp>
        <p:nvSpPr>
          <p:cNvPr id="4" name="Freeform 4"/>
          <p:cNvSpPr/>
          <p:nvPr/>
        </p:nvSpPr>
        <p:spPr>
          <a:xfrm>
            <a:off x="40640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406400" y="1028700"/>
            <a:ext cx="7797800" cy="279400"/>
          </a:xfrm>
          <a:prstGeom prst="rect">
            <a:avLst/>
          </a:prstGeom>
          <a:noFill/>
          <a:ln w="19050" cap="flat" cmpd="sng">
            <a:noFill/>
            <a:prstDash val="solid"/>
            <a:round/>
          </a:ln>
        </p:spPr>
        <p:txBody>
          <a:bodyPr vert="horz" wrap="square" lIns="50800" tIns="50800" rIns="50800" bIns="50800" rtlCol="0" anchor="ctr" anchorCtr="0"/>
          <a:lstStyle/>
          <a:p>
            <a:pPr algn="ctr">
              <a:defRPr/>
            </a:pPr>
            <a:endParaRPr/>
          </a:p>
        </p:txBody>
      </p:sp>
      <p:sp>
        <p:nvSpPr>
          <p:cNvPr id="6" name="AutoShape 6"/>
          <p:cNvSpPr/>
          <p:nvPr/>
        </p:nvSpPr>
        <p:spPr>
          <a:xfrm>
            <a:off x="2252244" y="458287"/>
            <a:ext cx="9461500" cy="622300"/>
          </a:xfrm>
          <a:prstGeom prst="rect">
            <a:avLst/>
          </a:prstGeom>
          <a:noFill/>
          <a:ln w="19050" cap="flat" cmpd="sng">
            <a:noFill/>
            <a:prstDash val="solid"/>
            <a:round/>
          </a:ln>
        </p:spPr>
        <p:txBody>
          <a:bodyPr vert="horz" wrap="square" lIns="0" tIns="0" rIns="0" bIns="0" rtlCol="0" anchor="t" anchorCtr="0"/>
          <a:lstStyle/>
          <a:p>
            <a:pPr marL="0" indent="0" algn="l">
              <a:lnSpc>
                <a:spcPts val="5600"/>
              </a:lnSpc>
              <a:defRPr/>
            </a:pPr>
            <a:r>
              <a:rPr lang="en-US" sz="4000" b="1" kern="1200" dirty="0" err="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仿宋"/>
              </a:rPr>
              <a:t>本章小结</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sp>
        <p:nvSpPr>
          <p:cNvPr id="7" name="AutoShape 7"/>
          <p:cNvSpPr/>
          <p:nvPr/>
        </p:nvSpPr>
        <p:spPr>
          <a:xfrm>
            <a:off x="1418388" y="451338"/>
            <a:ext cx="1383323" cy="774700"/>
          </a:xfrm>
          <a:prstGeom prst="rect">
            <a:avLst/>
          </a:prstGeom>
          <a:noFill/>
          <a:ln w="19050" cap="flat" cmpd="sng">
            <a:noFill/>
            <a:prstDash val="solid"/>
            <a:round/>
          </a:ln>
        </p:spPr>
        <p:txBody>
          <a:bodyPr vert="horz" wrap="square" lIns="0" tIns="0" rIns="0" bIns="0" rtlCol="0" anchor="t" anchorCtr="0"/>
          <a:lstStyle/>
          <a:p>
            <a:pPr>
              <a:lnSpc>
                <a:spcPts val="5600"/>
              </a:lnSpc>
              <a:defRPr/>
            </a:pPr>
            <a:r>
              <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sym typeface="Times New Roman"/>
              </a:rPr>
              <a:t>5.7</a:t>
            </a:r>
            <a:endParaRPr lang="en-US" sz="4000" b="1" kern="12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endParaRPr>
          </a:p>
        </p:txBody>
      </p:sp>
      <p:pic>
        <p:nvPicPr>
          <p:cNvPr id="8" name="Picture 8"/>
          <p:cNvPicPr>
            <a:picLocks noChangeAspect="1"/>
          </p:cNvPicPr>
          <p:nvPr/>
        </p:nvPicPr>
        <p:blipFill>
          <a:blip r:embed="rId3">
            <a:alphaModFix amt="80000"/>
          </a:blip>
          <a:srcRect/>
          <a:stretch>
            <a:fillRect/>
          </a:stretch>
        </p:blipFill>
        <p:spPr>
          <a:xfrm>
            <a:off x="762000" y="495300"/>
            <a:ext cx="1066800" cy="660400"/>
          </a:xfrm>
          <a:prstGeom prst="rect">
            <a:avLst/>
          </a:prstGeom>
          <a:noFill/>
          <a:ln w="25400" cap="flat" cmpd="sng">
            <a:noFill/>
            <a:prstDash val="solid"/>
            <a:round/>
          </a:ln>
          <a:effectLst>
            <a:outerShdw blurRad="50800" dist="38100" dir="2700000" algn="tl" rotWithShape="0">
              <a:srgbClr val="000000">
                <a:alpha val="40000"/>
              </a:srgbClr>
            </a:outerShdw>
            <a:reflection blurRad="6350" stA="50000" endA="300" endPos="55000" dir="5400000" sy="-100000" algn="bl" rotWithShape="0"/>
          </a:effectLst>
        </p:spPr>
      </p:pic>
      <p:sp>
        <p:nvSpPr>
          <p:cNvPr id="12" name="AutoShape 26">
            <a:extLst>
              <a:ext uri="{FF2B5EF4-FFF2-40B4-BE49-F238E27FC236}">
                <a16:creationId xmlns:a16="http://schemas.microsoft.com/office/drawing/2014/main" id="{721CA9AD-3B91-39D0-F991-5342724D6756}"/>
              </a:ext>
            </a:extLst>
          </p:cNvPr>
          <p:cNvSpPr/>
          <p:nvPr/>
        </p:nvSpPr>
        <p:spPr>
          <a:xfrm>
            <a:off x="15379700" y="9525000"/>
            <a:ext cx="2133600" cy="444500"/>
          </a:xfrm>
          <a:prstGeom prst="rect">
            <a:avLst/>
          </a:prstGeom>
          <a:noFill/>
          <a:ln w="19050" cap="flat" cmpd="sng">
            <a:noFill/>
            <a:prstDash val="solid"/>
            <a:round/>
          </a:ln>
        </p:spPr>
        <p:txBody>
          <a:bodyPr vert="horz" wrap="square" lIns="88900" tIns="50800" rIns="88900" bIns="50800" rtlCol="0" anchor="ctr" anchorCtr="0"/>
          <a:lstStyle/>
          <a:p>
            <a:pPr marL="0" indent="0" algn="r">
              <a:lnSpc>
                <a:spcPct val="100000"/>
              </a:lnSpc>
              <a:defRPr/>
            </a:pPr>
            <a:r>
              <a:rPr lang="en-US" sz="1100" dirty="0">
                <a:solidFill>
                  <a:srgbClr val="FFC000"/>
                </a:solidFill>
                <a:latin typeface="Calibri"/>
                <a:ea typeface="Calibri"/>
                <a:cs typeface="Calibri"/>
                <a:sym typeface="Calibri"/>
              </a:rPr>
              <a:t>30</a:t>
            </a:r>
            <a:endParaRPr lang="en-US" sz="1100" dirty="0"/>
          </a:p>
        </p:txBody>
      </p:sp>
      <p:sp>
        <p:nvSpPr>
          <p:cNvPr id="11" name="AutoShape 29">
            <a:extLst>
              <a:ext uri="{FF2B5EF4-FFF2-40B4-BE49-F238E27FC236}">
                <a16:creationId xmlns:a16="http://schemas.microsoft.com/office/drawing/2014/main" id="{80B96787-FF86-DA99-97A4-8F6343B5808C}"/>
              </a:ext>
            </a:extLst>
          </p:cNvPr>
          <p:cNvSpPr/>
          <p:nvPr/>
        </p:nvSpPr>
        <p:spPr>
          <a:xfrm>
            <a:off x="13361377" y="711200"/>
            <a:ext cx="3695700" cy="368300"/>
          </a:xfrm>
          <a:prstGeom prst="rect">
            <a:avLst/>
          </a:prstGeom>
          <a:noFill/>
          <a:ln w="19050" cap="flat" cmpd="sng">
            <a:noFill/>
            <a:prstDash val="solid"/>
            <a:round/>
          </a:ln>
        </p:spPr>
        <p:txBody>
          <a:bodyPr vert="horz" wrap="none" lIns="88900" tIns="50800" rIns="88900" bIns="50800" rtlCol="0" anchor="t" anchorCtr="0"/>
          <a:lstStyle/>
          <a:p>
            <a:pPr>
              <a:defRPr/>
            </a:pPr>
            <a:r>
              <a:rPr lang="en-US" sz="1800" kern="12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mn-lt"/>
                <a:ea typeface="+mn-ea"/>
                <a:cs typeface="+mn-cs"/>
                <a:sym typeface="Noto Sans SC"/>
              </a:rPr>
              <a:t>◆◆◆</a:t>
            </a:r>
            <a:r>
              <a:rPr lang="zh-CN" altLang="en-US" sz="1800" b="1" dirty="0">
                <a:solidFill>
                  <a:srgbClr val="1F497D"/>
                </a:solidFill>
                <a:latin typeface="仿宋"/>
                <a:ea typeface="仿宋"/>
                <a:cs typeface="仿宋"/>
                <a:sym typeface="仿宋"/>
              </a:rPr>
              <a:t>密码学</a:t>
            </a:r>
            <a:r>
              <a:rPr lang="en-US" altLang="zh-CN" sz="1800" b="1" dirty="0">
                <a:solidFill>
                  <a:srgbClr val="1F497D"/>
                </a:solidFill>
                <a:latin typeface="仿宋"/>
                <a:ea typeface="仿宋"/>
                <a:cs typeface="仿宋"/>
                <a:sym typeface="仿宋"/>
              </a:rPr>
              <a:t>——</a:t>
            </a:r>
            <a:r>
              <a:rPr lang="zh-CN" altLang="en-US" sz="1800" b="1" dirty="0">
                <a:solidFill>
                  <a:srgbClr val="1F497D"/>
                </a:solidFill>
                <a:latin typeface="仿宋"/>
                <a:ea typeface="仿宋"/>
                <a:cs typeface="仿宋"/>
                <a:sym typeface="仿宋"/>
              </a:rPr>
              <a:t>基础理论与应用</a:t>
            </a:r>
            <a:endParaRPr lang="en-US" sz="1100" dirty="0"/>
          </a:p>
        </p:txBody>
      </p:sp>
      <p:pic>
        <p:nvPicPr>
          <p:cNvPr id="14" name="Picture 30">
            <a:extLst>
              <a:ext uri="{FF2B5EF4-FFF2-40B4-BE49-F238E27FC236}">
                <a16:creationId xmlns:a16="http://schemas.microsoft.com/office/drawing/2014/main" id="{73E2C525-601E-44A0-70B6-B691CE635BD8}"/>
              </a:ext>
            </a:extLst>
          </p:cNvPr>
          <p:cNvPicPr>
            <a:picLocks noChangeAspect="1"/>
          </p:cNvPicPr>
          <p:nvPr/>
        </p:nvPicPr>
        <p:blipFill>
          <a:blip r:embed="rId4"/>
          <a:srcRect/>
          <a:stretch>
            <a:fillRect/>
          </a:stretch>
        </p:blipFill>
        <p:spPr>
          <a:xfrm>
            <a:off x="13488377" y="1079500"/>
            <a:ext cx="2768600" cy="50800"/>
          </a:xfrm>
          <a:prstGeom prst="rect">
            <a:avLst/>
          </a:prstGeom>
          <a:noFill/>
          <a:ln w="25400" cap="flat" cmpd="sng">
            <a:noFill/>
            <a:prstDash val="solid"/>
            <a:round/>
          </a:ln>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TotalTime>
  <Words>3137</Words>
  <Application>Microsoft Office PowerPoint</Application>
  <PresentationFormat>自定义</PresentationFormat>
  <Paragraphs>269</Paragraphs>
  <Slides>31</Slides>
  <Notes>31</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31</vt:i4>
      </vt:variant>
    </vt:vector>
  </HeadingPairs>
  <TitlesOfParts>
    <vt:vector size="40" baseType="lpstr">
      <vt:lpstr>Songti SC</vt:lpstr>
      <vt:lpstr>宋体</vt:lpstr>
      <vt:lpstr>Arial</vt:lpstr>
      <vt:lpstr>Calibri</vt:lpstr>
      <vt:lpstr>Cambria Math</vt:lpstr>
      <vt:lpstr>Times New Roman</vt:lpstr>
      <vt:lpstr>仿宋</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dc:creator>
  <cp:lastModifiedBy>HA111813@365mmt.com</cp:lastModifiedBy>
  <cp:revision>7</cp:revision>
  <dcterms:modified xsi:type="dcterms:W3CDTF">2026-08-21T09:45:38Z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{"Label":"1","ContentProducer":"001191110102MACQD9K64010000","ProduceID":"7673154898279959524","ReservedCode1":"","ContentPropagator":"","PropagateID":"","ReservedCode2":""}</vt:lpwstr>
  </property>
</Properties>
</file>