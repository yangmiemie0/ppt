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47"/>
  </p:handoutMasterIdLst>
  <p:sldIdLst>
    <p:sldId id="256" r:id="rId3"/>
    <p:sldId id="257" r:id="rId5"/>
    <p:sldId id="258" r:id="rId6"/>
    <p:sldId id="259" r:id="rId7"/>
    <p:sldId id="292" r:id="rId8"/>
    <p:sldId id="289" r:id="rId9"/>
    <p:sldId id="260" r:id="rId10"/>
    <p:sldId id="261" r:id="rId11"/>
    <p:sldId id="262" r:id="rId12"/>
    <p:sldId id="263" r:id="rId13"/>
    <p:sldId id="264" r:id="rId14"/>
    <p:sldId id="330" r:id="rId15"/>
    <p:sldId id="265" r:id="rId16"/>
    <p:sldId id="266" r:id="rId17"/>
    <p:sldId id="267" r:id="rId18"/>
    <p:sldId id="293" r:id="rId19"/>
    <p:sldId id="268" r:id="rId20"/>
    <p:sldId id="269" r:id="rId21"/>
    <p:sldId id="270" r:id="rId22"/>
    <p:sldId id="299" r:id="rId23"/>
    <p:sldId id="271" r:id="rId24"/>
    <p:sldId id="272" r:id="rId25"/>
    <p:sldId id="273" r:id="rId26"/>
    <p:sldId id="294" r:id="rId27"/>
    <p:sldId id="274" r:id="rId28"/>
    <p:sldId id="275" r:id="rId29"/>
    <p:sldId id="276" r:id="rId30"/>
    <p:sldId id="295" r:id="rId31"/>
    <p:sldId id="277" r:id="rId32"/>
    <p:sldId id="296" r:id="rId33"/>
    <p:sldId id="278" r:id="rId34"/>
    <p:sldId id="297" r:id="rId35"/>
    <p:sldId id="279" r:id="rId36"/>
    <p:sldId id="280" r:id="rId37"/>
    <p:sldId id="281" r:id="rId38"/>
    <p:sldId id="282" r:id="rId39"/>
    <p:sldId id="291" r:id="rId40"/>
    <p:sldId id="283" r:id="rId41"/>
    <p:sldId id="284" r:id="rId42"/>
    <p:sldId id="290" r:id="rId43"/>
    <p:sldId id="298" r:id="rId44"/>
    <p:sldId id="287" r:id="rId45"/>
    <p:sldId id="285" r:id="rId46"/>
  </p:sldIdLst>
  <p:sldSz cx="18288000" cy="10287000"/>
  <p:notesSz cx="18288000" cy="10287000"/>
  <p:custDataLst>
    <p:tags r:id="rId51"/>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gs" Target="tags/tag222.xml"/><Relationship Id="rId50" Type="http://schemas.openxmlformats.org/officeDocument/2006/relationships/tableStyles" Target="tableStyles.xml"/><Relationship Id="rId5" Type="http://schemas.openxmlformats.org/officeDocument/2006/relationships/slide" Target="slides/slide2.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1132800" cy="580654"/>
          </a:xfrm>
          <a:prstGeom prst="rect">
            <a:avLst/>
          </a:prstGeom>
        </p:spPr>
        <p:txBody>
          <a:bodyPr vert="horz" lIns="91440" tIns="45720" rIns="91440" bIns="45720" rtlCol="0"/>
          <a:lstStyle>
            <a:lvl1pPr algn="l">
              <a:defRPr sz="1520"/>
            </a:lvl1pPr>
          </a:lstStyle>
          <a:p>
            <a:endParaRPr lang="zh-CN" altLang="en-US"/>
          </a:p>
        </p:txBody>
      </p:sp>
      <p:sp>
        <p:nvSpPr>
          <p:cNvPr id="3" name="日期占位符 2"/>
          <p:cNvSpPr>
            <a:spLocks noGrp="1"/>
          </p:cNvSpPr>
          <p:nvPr>
            <p:ph type="dt" sz="quarter" idx="1"/>
          </p:nvPr>
        </p:nvSpPr>
        <p:spPr>
          <a:xfrm>
            <a:off x="27623915" y="0"/>
            <a:ext cx="21132800" cy="580654"/>
          </a:xfrm>
          <a:prstGeom prst="rect">
            <a:avLst/>
          </a:prstGeom>
        </p:spPr>
        <p:txBody>
          <a:bodyPr vert="horz" lIns="91440" tIns="45720" rIns="91440" bIns="45720" rtlCol="0"/>
          <a:lstStyle>
            <a:lvl1pPr algn="r">
              <a:defRPr sz="152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0992223"/>
            <a:ext cx="21132800" cy="580652"/>
          </a:xfrm>
          <a:prstGeom prst="rect">
            <a:avLst/>
          </a:prstGeom>
        </p:spPr>
        <p:txBody>
          <a:bodyPr vert="horz" lIns="91440" tIns="45720" rIns="91440" bIns="45720" rtlCol="0" anchor="b"/>
          <a:lstStyle>
            <a:lvl1pPr algn="l">
              <a:defRPr sz="1520"/>
            </a:lvl1pPr>
          </a:lstStyle>
          <a:p>
            <a:endParaRPr lang="zh-CN" altLang="en-US"/>
          </a:p>
        </p:txBody>
      </p:sp>
      <p:sp>
        <p:nvSpPr>
          <p:cNvPr id="5" name="灯片编号占位符 4"/>
          <p:cNvSpPr>
            <a:spLocks noGrp="1"/>
          </p:cNvSpPr>
          <p:nvPr>
            <p:ph type="sldNum" sz="quarter" idx="3"/>
          </p:nvPr>
        </p:nvSpPr>
        <p:spPr>
          <a:xfrm>
            <a:off x="27623915" y="10992223"/>
            <a:ext cx="21132800" cy="580652"/>
          </a:xfrm>
          <a:prstGeom prst="rect">
            <a:avLst/>
          </a:prstGeom>
        </p:spPr>
        <p:txBody>
          <a:bodyPr vert="horz" lIns="91440" tIns="45720" rIns="91440" bIns="45720" rtlCol="0" anchor="b"/>
          <a:lstStyle>
            <a:lvl1pPr algn="r">
              <a:defRPr sz="152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1132800" cy="58065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27623915" y="0"/>
            <a:ext cx="21132800" cy="580654"/>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0912138" y="1446609"/>
            <a:ext cx="6943725" cy="390584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876800" y="5569446"/>
            <a:ext cx="39014400" cy="455682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10992223"/>
            <a:ext cx="21132800" cy="58065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27623915" y="10992223"/>
            <a:ext cx="21132800" cy="580652"/>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png"/><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image" Target="../media/image3.png"/><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image" Target="../media/image3.png"/><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0"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image" Target="../media/image2.png"/><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image" Target="../media/image6.png"/><Relationship Id="rId12" Type="http://schemas.openxmlformats.org/officeDocument/2006/relationships/notesSlide" Target="../notesSlides/notesSlide2.xml"/><Relationship Id="rId11" Type="http://schemas.openxmlformats.org/officeDocument/2006/relationships/slideLayout" Target="../slideLayouts/slideLayout1.xml"/><Relationship Id="rId10" Type="http://schemas.openxmlformats.org/officeDocument/2006/relationships/image" Target="../media/image3.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image" Target="../media/image2.png"/><Relationship Id="rId3" Type="http://schemas.openxmlformats.org/officeDocument/2006/relationships/tags" Target="../tags/tag26.xml"/><Relationship Id="rId2" Type="http://schemas.openxmlformats.org/officeDocument/2006/relationships/tags" Target="../tags/tag25.xml"/><Relationship Id="rId10" Type="http://schemas.openxmlformats.org/officeDocument/2006/relationships/slideLayout" Target="../slideLayouts/slideLayout1.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image" Target="../media/image2.png"/><Relationship Id="rId3" Type="http://schemas.openxmlformats.org/officeDocument/2006/relationships/tags" Target="../tags/tag32.xml"/><Relationship Id="rId2" Type="http://schemas.openxmlformats.org/officeDocument/2006/relationships/tags" Target="../tags/tag31.xml"/><Relationship Id="rId10" Type="http://schemas.openxmlformats.org/officeDocument/2006/relationships/slideLayout" Target="../slideLayouts/slideLayout1.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image" Target="../media/image2.png"/><Relationship Id="rId3" Type="http://schemas.openxmlformats.org/officeDocument/2006/relationships/tags" Target="../tags/tag38.xml"/><Relationship Id="rId2" Type="http://schemas.openxmlformats.org/officeDocument/2006/relationships/tags" Target="../tags/tag37.xml"/><Relationship Id="rId10" Type="http://schemas.openxmlformats.org/officeDocument/2006/relationships/slideLayout" Target="../slideLayouts/slideLayout1.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image" Target="../media/image2.png"/><Relationship Id="rId2" Type="http://schemas.openxmlformats.org/officeDocument/2006/relationships/tags" Target="../tags/tag44.xml"/><Relationship Id="rId1" Type="http://schemas.openxmlformats.org/officeDocument/2006/relationships/tags" Target="../tags/tag43.xml"/></Relationships>
</file>

<file path=ppt/slides/_rels/slide1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image" Target="../media/image2.png"/><Relationship Id="rId3" Type="http://schemas.openxmlformats.org/officeDocument/2006/relationships/tags" Target="../tags/tag50.xml"/><Relationship Id="rId2" Type="http://schemas.openxmlformats.org/officeDocument/2006/relationships/tags" Target="../tags/tag49.xml"/><Relationship Id="rId11" Type="http://schemas.openxmlformats.org/officeDocument/2006/relationships/notesSlide" Target="../notesSlides/notesSlide3.xml"/><Relationship Id="rId10" Type="http://schemas.openxmlformats.org/officeDocument/2006/relationships/slideLayout" Target="../slideLayouts/slideLayout1.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image" Target="../media/image2.png"/><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4" Type="http://schemas.openxmlformats.org/officeDocument/2006/relationships/notesSlide" Target="../notesSlides/notesSlide4.xml"/><Relationship Id="rId13" Type="http://schemas.openxmlformats.org/officeDocument/2006/relationships/slideLayout" Target="../slideLayouts/slideLayout1.xml"/><Relationship Id="rId12" Type="http://schemas.openxmlformats.org/officeDocument/2006/relationships/image" Target="../media/image3.png"/><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image" Target="../media/image2.png"/><Relationship Id="rId3" Type="http://schemas.openxmlformats.org/officeDocument/2006/relationships/tags" Target="../tags/tag62.xml"/><Relationship Id="rId2" Type="http://schemas.openxmlformats.org/officeDocument/2006/relationships/tags" Target="../tags/tag61.xml"/><Relationship Id="rId10" Type="http://schemas.openxmlformats.org/officeDocument/2006/relationships/slideLayout" Target="../slideLayouts/slideLayout1.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image" Target="../media/image2.png"/><Relationship Id="rId3" Type="http://schemas.openxmlformats.org/officeDocument/2006/relationships/tags" Target="../tags/tag68.xml"/><Relationship Id="rId2" Type="http://schemas.openxmlformats.org/officeDocument/2006/relationships/tags" Target="../tags/tag67.xml"/><Relationship Id="rId10" Type="http://schemas.openxmlformats.org/officeDocument/2006/relationships/slideLayout" Target="../slideLayouts/slideLayout1.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image" Target="../media/image2.png"/><Relationship Id="rId3" Type="http://schemas.openxmlformats.org/officeDocument/2006/relationships/tags" Target="../tags/tag74.xml"/><Relationship Id="rId2" Type="http://schemas.openxmlformats.org/officeDocument/2006/relationships/tags" Target="../tags/tag73.xml"/><Relationship Id="rId10" Type="http://schemas.openxmlformats.org/officeDocument/2006/relationships/slideLayout" Target="../slideLayouts/slideLayout1.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image" Target="../media/image2.png"/><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3" Type="http://schemas.openxmlformats.org/officeDocument/2006/relationships/slideLayout" Target="../slideLayouts/slideLayout1.xml"/><Relationship Id="rId12" Type="http://schemas.openxmlformats.org/officeDocument/2006/relationships/image" Target="../media/image3.png"/><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image" Target="../media/image2.png"/><Relationship Id="rId3" Type="http://schemas.openxmlformats.org/officeDocument/2006/relationships/tags" Target="../tags/tag86.xml"/><Relationship Id="rId2" Type="http://schemas.openxmlformats.org/officeDocument/2006/relationships/tags" Target="../tags/tag85.xml"/><Relationship Id="rId10" Type="http://schemas.openxmlformats.org/officeDocument/2006/relationships/slideLayout" Target="../slideLayouts/slideLayout1.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image" Target="../media/image2.png"/><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image" Target="../media/image24.png"/><Relationship Id="rId11" Type="http://schemas.openxmlformats.org/officeDocument/2006/relationships/slideLayout" Target="../slideLayouts/slideLayout1.xml"/><Relationship Id="rId10" Type="http://schemas.openxmlformats.org/officeDocument/2006/relationships/image" Target="../media/image3.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image" Target="../media/image2.png"/><Relationship Id="rId3" Type="http://schemas.openxmlformats.org/officeDocument/2006/relationships/tags" Target="../tags/tag98.xml"/><Relationship Id="rId2" Type="http://schemas.openxmlformats.org/officeDocument/2006/relationships/tags" Target="../tags/tag97.xml"/><Relationship Id="rId11" Type="http://schemas.openxmlformats.org/officeDocument/2006/relationships/notesSlide" Target="../notesSlides/notesSlide5.xml"/><Relationship Id="rId10" Type="http://schemas.openxmlformats.org/officeDocument/2006/relationships/slideLayout" Target="../slideLayouts/slideLayout1.xml"/><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image" Target="../media/image2.png"/><Relationship Id="rId3" Type="http://schemas.openxmlformats.org/officeDocument/2006/relationships/tags" Target="../tags/tag104.xml"/><Relationship Id="rId2" Type="http://schemas.openxmlformats.org/officeDocument/2006/relationships/tags" Target="../tags/tag103.xml"/><Relationship Id="rId10" Type="http://schemas.openxmlformats.org/officeDocument/2006/relationships/slideLayout" Target="../slideLayouts/slideLayout1.xml"/><Relationship Id="rId1" Type="http://schemas.openxmlformats.org/officeDocument/2006/relationships/image" Target="../media/image26.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image" Target="../media/image2.png"/><Relationship Id="rId2" Type="http://schemas.openxmlformats.org/officeDocument/2006/relationships/tags" Target="../tags/tag110.xml"/><Relationship Id="rId1" Type="http://schemas.openxmlformats.org/officeDocument/2006/relationships/tags" Target="../tags/tag109.xml"/></Relationships>
</file>

<file path=ppt/slides/_rels/slide23.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image" Target="../media/image2.png"/><Relationship Id="rId3" Type="http://schemas.openxmlformats.org/officeDocument/2006/relationships/tags" Target="../tags/tag116.xml"/><Relationship Id="rId2" Type="http://schemas.openxmlformats.org/officeDocument/2006/relationships/tags" Target="../tags/tag115.xml"/><Relationship Id="rId10" Type="http://schemas.openxmlformats.org/officeDocument/2006/relationships/slideLayout" Target="../slideLayouts/slideLayout1.xml"/><Relationship Id="rId1" Type="http://schemas.openxmlformats.org/officeDocument/2006/relationships/image" Target="../media/image27.png"/></Relationships>
</file>

<file path=ppt/slides/_rels/slide24.xml.rels><?xml version="1.0" encoding="UTF-8" standalone="yes"?>
<Relationships xmlns="http://schemas.openxmlformats.org/package/2006/relationships"><Relationship Id="rId9" Type="http://schemas.openxmlformats.org/officeDocument/2006/relationships/tags" Target="../tags/tag125.xml"/><Relationship Id="rId8" Type="http://schemas.openxmlformats.org/officeDocument/2006/relationships/tags" Target="../tags/tag124.xml"/><Relationship Id="rId7" Type="http://schemas.openxmlformats.org/officeDocument/2006/relationships/tags" Target="../tags/tag123.xml"/><Relationship Id="rId6" Type="http://schemas.openxmlformats.org/officeDocument/2006/relationships/image" Target="../media/image2.png"/><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image" Target="../media/image30.png"/><Relationship Id="rId2" Type="http://schemas.openxmlformats.org/officeDocument/2006/relationships/image" Target="../media/image29.png"/><Relationship Id="rId12" Type="http://schemas.openxmlformats.org/officeDocument/2006/relationships/slideLayout" Target="../slideLayouts/slideLayout1.xml"/><Relationship Id="rId11" Type="http://schemas.openxmlformats.org/officeDocument/2006/relationships/image" Target="../media/image3.png"/><Relationship Id="rId10" Type="http://schemas.openxmlformats.org/officeDocument/2006/relationships/tags" Target="../tags/tag126.xml"/><Relationship Id="rId1" Type="http://schemas.openxmlformats.org/officeDocument/2006/relationships/image" Target="../media/image28.png"/></Relationships>
</file>

<file path=ppt/slides/_rels/slide25.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image" Target="../media/image2.png"/><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image" Target="../media/image33.png"/><Relationship Id="rId2" Type="http://schemas.openxmlformats.org/officeDocument/2006/relationships/image" Target="../media/image32.png"/><Relationship Id="rId12" Type="http://schemas.openxmlformats.org/officeDocument/2006/relationships/slideLayout" Target="../slideLayouts/slideLayout1.xml"/><Relationship Id="rId11" Type="http://schemas.openxmlformats.org/officeDocument/2006/relationships/image" Target="../media/image3.png"/><Relationship Id="rId10" Type="http://schemas.openxmlformats.org/officeDocument/2006/relationships/tags" Target="../tags/tag132.xml"/><Relationship Id="rId1" Type="http://schemas.openxmlformats.org/officeDocument/2006/relationships/image" Target="../media/image31.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tags" Target="../tags/tag134.xml"/><Relationship Id="rId1" Type="http://schemas.openxmlformats.org/officeDocument/2006/relationships/tags" Target="../tags/tag133.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png"/><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image" Target="../media/image3.png"/><Relationship Id="rId1" Type="http://schemas.openxmlformats.org/officeDocument/2006/relationships/image" Target="../media/image34.png"/></Relationships>
</file>

<file path=ppt/slides/_rels/slide29.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image" Target="../media/image2.png"/><Relationship Id="rId3" Type="http://schemas.openxmlformats.org/officeDocument/2006/relationships/tags" Target="../tags/tag140.xml"/><Relationship Id="rId2" Type="http://schemas.openxmlformats.org/officeDocument/2006/relationships/tags" Target="../tags/tag139.xml"/><Relationship Id="rId10" Type="http://schemas.openxmlformats.org/officeDocument/2006/relationships/slideLayout" Target="../slideLayouts/slideLayout1.xml"/><Relationship Id="rId1" Type="http://schemas.openxmlformats.org/officeDocument/2006/relationships/image" Target="../media/image35.png"/></Relationships>
</file>

<file path=ppt/slides/_rels/slide30.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50.xml"/><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image" Target="../media/image2.png"/><Relationship Id="rId3" Type="http://schemas.openxmlformats.org/officeDocument/2006/relationships/tags" Target="../tags/tag146.xml"/><Relationship Id="rId2" Type="http://schemas.openxmlformats.org/officeDocument/2006/relationships/tags" Target="../tags/tag145.xml"/><Relationship Id="rId10" Type="http://schemas.openxmlformats.org/officeDocument/2006/relationships/slideLayout" Target="../slideLayouts/slideLayout1.xml"/><Relationship Id="rId1" Type="http://schemas.openxmlformats.org/officeDocument/2006/relationships/image" Target="../media/image36.png"/></Relationships>
</file>

<file path=ppt/slides/_rels/slide3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tags" Target="../tags/tag153.xml"/><Relationship Id="rId4" Type="http://schemas.openxmlformats.org/officeDocument/2006/relationships/image" Target="../media/image2.png"/><Relationship Id="rId3" Type="http://schemas.openxmlformats.org/officeDocument/2006/relationships/tags" Target="../tags/tag152.xml"/><Relationship Id="rId2" Type="http://schemas.openxmlformats.org/officeDocument/2006/relationships/tags" Target="../tags/tag151.xml"/><Relationship Id="rId11" Type="http://schemas.openxmlformats.org/officeDocument/2006/relationships/notesSlide" Target="../notesSlides/notesSlide6.xml"/><Relationship Id="rId10" Type="http://schemas.openxmlformats.org/officeDocument/2006/relationships/slideLayout" Target="../slideLayouts/slideLayout1.xml"/><Relationship Id="rId1" Type="http://schemas.openxmlformats.org/officeDocument/2006/relationships/image" Target="../media/image37.png"/></Relationships>
</file>

<file path=ppt/slides/_rels/slide3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62.xml"/><Relationship Id="rId7" Type="http://schemas.openxmlformats.org/officeDocument/2006/relationships/tags" Target="../tags/tag161.xml"/><Relationship Id="rId6" Type="http://schemas.openxmlformats.org/officeDocument/2006/relationships/tags" Target="../tags/tag160.xml"/><Relationship Id="rId5" Type="http://schemas.openxmlformats.org/officeDocument/2006/relationships/tags" Target="../tags/tag159.xml"/><Relationship Id="rId4" Type="http://schemas.openxmlformats.org/officeDocument/2006/relationships/image" Target="../media/image2.png"/><Relationship Id="rId3" Type="http://schemas.openxmlformats.org/officeDocument/2006/relationships/tags" Target="../tags/tag158.xml"/><Relationship Id="rId2" Type="http://schemas.openxmlformats.org/officeDocument/2006/relationships/tags" Target="../tags/tag157.xml"/><Relationship Id="rId11" Type="http://schemas.openxmlformats.org/officeDocument/2006/relationships/notesSlide" Target="../notesSlides/notesSlide7.xml"/><Relationship Id="rId10" Type="http://schemas.openxmlformats.org/officeDocument/2006/relationships/slideLayout" Target="../slideLayouts/slideLayout1.xml"/><Relationship Id="rId1" Type="http://schemas.openxmlformats.org/officeDocument/2006/relationships/image" Target="../media/image38.png"/></Relationships>
</file>

<file path=ppt/slides/_rels/slide33.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68.xml"/><Relationship Id="rId7" Type="http://schemas.openxmlformats.org/officeDocument/2006/relationships/tags" Target="../tags/tag167.xml"/><Relationship Id="rId6" Type="http://schemas.openxmlformats.org/officeDocument/2006/relationships/tags" Target="../tags/tag166.xml"/><Relationship Id="rId5" Type="http://schemas.openxmlformats.org/officeDocument/2006/relationships/tags" Target="../tags/tag165.xml"/><Relationship Id="rId4" Type="http://schemas.openxmlformats.org/officeDocument/2006/relationships/image" Target="../media/image2.png"/><Relationship Id="rId3" Type="http://schemas.openxmlformats.org/officeDocument/2006/relationships/tags" Target="../tags/tag164.xml"/><Relationship Id="rId2" Type="http://schemas.openxmlformats.org/officeDocument/2006/relationships/tags" Target="../tags/tag163.xml"/><Relationship Id="rId10" Type="http://schemas.openxmlformats.org/officeDocument/2006/relationships/slideLayout" Target="../slideLayouts/slideLayout1.xml"/><Relationship Id="rId1" Type="http://schemas.openxmlformats.org/officeDocument/2006/relationships/image" Target="../media/image39.png"/></Relationships>
</file>

<file path=ppt/slides/_rels/slide34.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74.xml"/><Relationship Id="rId7" Type="http://schemas.openxmlformats.org/officeDocument/2006/relationships/tags" Target="../tags/tag173.xml"/><Relationship Id="rId6" Type="http://schemas.openxmlformats.org/officeDocument/2006/relationships/tags" Target="../tags/tag172.xml"/><Relationship Id="rId5" Type="http://schemas.openxmlformats.org/officeDocument/2006/relationships/tags" Target="../tags/tag171.xml"/><Relationship Id="rId4" Type="http://schemas.openxmlformats.org/officeDocument/2006/relationships/image" Target="../media/image2.png"/><Relationship Id="rId3" Type="http://schemas.openxmlformats.org/officeDocument/2006/relationships/tags" Target="../tags/tag170.xml"/><Relationship Id="rId2" Type="http://schemas.openxmlformats.org/officeDocument/2006/relationships/tags" Target="../tags/tag169.xml"/><Relationship Id="rId10" Type="http://schemas.openxmlformats.org/officeDocument/2006/relationships/slideLayout" Target="../slideLayouts/slideLayout1.xml"/><Relationship Id="rId1" Type="http://schemas.openxmlformats.org/officeDocument/2006/relationships/image" Target="../media/image40.png"/></Relationships>
</file>

<file path=ppt/slides/_rels/slide35.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image" Target="../media/image2.png"/><Relationship Id="rId3" Type="http://schemas.openxmlformats.org/officeDocument/2006/relationships/tags" Target="../tags/tag176.xml"/><Relationship Id="rId2" Type="http://schemas.openxmlformats.org/officeDocument/2006/relationships/tags" Target="../tags/tag175.xml"/><Relationship Id="rId10" Type="http://schemas.openxmlformats.org/officeDocument/2006/relationships/slideLayout" Target="../slideLayouts/slideLayout1.xml"/><Relationship Id="rId1" Type="http://schemas.openxmlformats.org/officeDocument/2006/relationships/image" Target="../media/image41.png"/></Relationships>
</file>

<file path=ppt/slides/_rels/slide36.xml.rels><?xml version="1.0" encoding="UTF-8" standalone="yes"?>
<Relationships xmlns="http://schemas.openxmlformats.org/package/2006/relationships"><Relationship Id="rId9" Type="http://schemas.openxmlformats.org/officeDocument/2006/relationships/tags" Target="../tags/tag186.xml"/><Relationship Id="rId8" Type="http://schemas.openxmlformats.org/officeDocument/2006/relationships/tags" Target="../tags/tag185.xml"/><Relationship Id="rId7" Type="http://schemas.openxmlformats.org/officeDocument/2006/relationships/image" Target="../media/image2.png"/><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image" Target="../media/image43.png"/><Relationship Id="rId3" Type="http://schemas.openxmlformats.org/officeDocument/2006/relationships/tags" Target="../tags/tag182.xml"/><Relationship Id="rId2" Type="http://schemas.openxmlformats.org/officeDocument/2006/relationships/tags" Target="../tags/tag181.xml"/><Relationship Id="rId13" Type="http://schemas.openxmlformats.org/officeDocument/2006/relationships/slideLayout" Target="../slideLayouts/slideLayout1.xml"/><Relationship Id="rId12" Type="http://schemas.openxmlformats.org/officeDocument/2006/relationships/image" Target="../media/image3.png"/><Relationship Id="rId11" Type="http://schemas.openxmlformats.org/officeDocument/2006/relationships/tags" Target="../tags/tag188.xml"/><Relationship Id="rId10" Type="http://schemas.openxmlformats.org/officeDocument/2006/relationships/tags" Target="../tags/tag187.xml"/><Relationship Id="rId1" Type="http://schemas.openxmlformats.org/officeDocument/2006/relationships/image" Target="../media/image42.png"/></Relationships>
</file>

<file path=ppt/slides/_rels/slide37.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image" Target="../media/image2.png"/><Relationship Id="rId3" Type="http://schemas.openxmlformats.org/officeDocument/2006/relationships/tags" Target="../tags/tag190.xml"/><Relationship Id="rId2" Type="http://schemas.openxmlformats.org/officeDocument/2006/relationships/tags" Target="../tags/tag189.xml"/><Relationship Id="rId10" Type="http://schemas.openxmlformats.org/officeDocument/2006/relationships/slideLayout" Target="../slideLayouts/slideLayout1.xml"/><Relationship Id="rId1" Type="http://schemas.openxmlformats.org/officeDocument/2006/relationships/image" Target="../media/image44.png"/></Relationships>
</file>

<file path=ppt/slides/_rels/slide38.xml.rels><?xml version="1.0" encoding="UTF-8" standalone="yes"?>
<Relationships xmlns="http://schemas.openxmlformats.org/package/2006/relationships"><Relationship Id="rId9" Type="http://schemas.openxmlformats.org/officeDocument/2006/relationships/tags" Target="../tags/tag199.xml"/><Relationship Id="rId8" Type="http://schemas.openxmlformats.org/officeDocument/2006/relationships/tags" Target="../tags/tag198.xml"/><Relationship Id="rId7" Type="http://schemas.openxmlformats.org/officeDocument/2006/relationships/tags" Target="../tags/tag197.xml"/><Relationship Id="rId6" Type="http://schemas.openxmlformats.org/officeDocument/2006/relationships/image" Target="../media/image2.png"/><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image" Target="../media/image47.png"/><Relationship Id="rId2" Type="http://schemas.openxmlformats.org/officeDocument/2006/relationships/image" Target="../media/image46.png"/><Relationship Id="rId13" Type="http://schemas.openxmlformats.org/officeDocument/2006/relationships/notesSlide" Target="../notesSlides/notesSlide8.xml"/><Relationship Id="rId12" Type="http://schemas.openxmlformats.org/officeDocument/2006/relationships/slideLayout" Target="../slideLayouts/slideLayout1.xml"/><Relationship Id="rId11" Type="http://schemas.openxmlformats.org/officeDocument/2006/relationships/image" Target="../media/image3.png"/><Relationship Id="rId10" Type="http://schemas.openxmlformats.org/officeDocument/2006/relationships/tags" Target="../tags/tag200.xml"/><Relationship Id="rId1" Type="http://schemas.openxmlformats.org/officeDocument/2006/relationships/image" Target="../media/image45.png"/></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3" Type="http://schemas.openxmlformats.org/officeDocument/2006/relationships/image" Target="../media/image2.png"/><Relationship Id="rId2" Type="http://schemas.openxmlformats.org/officeDocument/2006/relationships/tags" Target="../tags/tag202.xml"/><Relationship Id="rId1" Type="http://schemas.openxmlformats.org/officeDocument/2006/relationships/tags" Target="../tags/tag201.xml"/></Relationships>
</file>

<file path=ppt/slides/_rels/slide40.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12.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image" Target="../media/image2.png"/><Relationship Id="rId3" Type="http://schemas.openxmlformats.org/officeDocument/2006/relationships/tags" Target="../tags/tag208.xml"/><Relationship Id="rId2" Type="http://schemas.openxmlformats.org/officeDocument/2006/relationships/tags" Target="../tags/tag207.xml"/><Relationship Id="rId10" Type="http://schemas.openxmlformats.org/officeDocument/2006/relationships/slideLayout" Target="../slideLayouts/slideLayout1.xml"/><Relationship Id="rId1" Type="http://schemas.openxmlformats.org/officeDocument/2006/relationships/image" Target="../media/image48.png"/></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218.xml"/><Relationship Id="rId6" Type="http://schemas.openxmlformats.org/officeDocument/2006/relationships/tags" Target="../tags/tag217.xml"/><Relationship Id="rId5" Type="http://schemas.openxmlformats.org/officeDocument/2006/relationships/tags" Target="../tags/tag216.xml"/><Relationship Id="rId4" Type="http://schemas.openxmlformats.org/officeDocument/2006/relationships/tags" Target="../tags/tag215.xml"/><Relationship Id="rId3" Type="http://schemas.openxmlformats.org/officeDocument/2006/relationships/image" Target="../media/image2.png"/><Relationship Id="rId2" Type="http://schemas.openxmlformats.org/officeDocument/2006/relationships/tags" Target="../tags/tag214.xml"/><Relationship Id="rId1" Type="http://schemas.openxmlformats.org/officeDocument/2006/relationships/tags" Target="../tags/tag213.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tags" Target="../tags/tag219.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png"/><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ircle-cv"/>
          <p:cNvSpPr/>
          <p:nvPr/>
        </p:nvSpPr>
        <p:spPr>
          <a:xfrm rot="10800000">
            <a:off x="5340350" y="765810"/>
            <a:ext cx="7607300" cy="76073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gs>
            </a:gsLst>
            <a:lin ang="5400000" scaled="1"/>
          </a:gradFill>
          <a:ln>
            <a:noFill/>
          </a:ln>
        </p:spPr>
      </p:sp>
      <p:sp>
        <p:nvSpPr>
          <p:cNvPr id="3" name="cover-title"/>
          <p:cNvSpPr txBox="1"/>
          <p:nvPr/>
        </p:nvSpPr>
        <p:spPr>
          <a:xfrm>
            <a:off x="1925320" y="2707640"/>
            <a:ext cx="14437360" cy="1656080"/>
          </a:xfrm>
          <a:prstGeom prst="rect">
            <a:avLst/>
          </a:prstGeom>
          <a:noFill/>
          <a:ln>
            <a:noFill/>
          </a:ln>
        </p:spPr>
        <p:txBody>
          <a:bodyPr wrap="square" lIns="0" tIns="0" rIns="0" bIns="0" rtlCol="0" anchor="t"/>
          <a:lstStyle/>
          <a:p>
            <a:pPr algn="ctr">
              <a:lnSpc>
                <a:spcPts val="14935"/>
              </a:lnSpc>
            </a:pPr>
            <a:r>
              <a:rPr lang="en-US" sz="10300" b="1" noProof="1">
                <a:solidFill>
                  <a:srgbClr val="004AAD"/>
                </a:solidFill>
                <a:latin typeface="仿宋" panose="02010609060101010101" charset="-122"/>
                <a:ea typeface="仿宋" panose="02010609060101010101" charset="-122"/>
              </a:rPr>
              <a:t>密码学-基础理论与应用</a:t>
            </a:r>
            <a:endParaRPr lang="en-US" sz="10300" noProof="1"/>
          </a:p>
        </p:txBody>
      </p:sp>
      <p:sp>
        <p:nvSpPr>
          <p:cNvPr id="4" name="dot-cv-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cv-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cv-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cv-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cv-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cv-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dot-cv-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11" name="dot-cv-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2" name="cover-ch"/>
          <p:cNvSpPr txBox="1"/>
          <p:nvPr/>
        </p:nvSpPr>
        <p:spPr>
          <a:xfrm>
            <a:off x="2183130" y="5334000"/>
            <a:ext cx="13921740" cy="1230630"/>
          </a:xfrm>
          <a:prstGeom prst="rect">
            <a:avLst/>
          </a:prstGeom>
          <a:noFill/>
          <a:ln>
            <a:noFill/>
          </a:ln>
        </p:spPr>
        <p:txBody>
          <a:bodyPr wrap="square" lIns="0" tIns="0" rIns="0" bIns="0" rtlCol="0" anchor="t"/>
          <a:lstStyle/>
          <a:p>
            <a:pPr algn="ctr">
              <a:lnSpc>
                <a:spcPts val="9600"/>
              </a:lnSpc>
            </a:pPr>
            <a:r>
              <a:rPr lang="en-US" sz="8000" b="1" noProof="1">
                <a:solidFill>
                  <a:srgbClr val="004AAD"/>
                </a:solidFill>
                <a:latin typeface="仿宋" panose="02010609060101010101" charset="-122"/>
                <a:ea typeface="仿宋" panose="02010609060101010101" charset="-122"/>
              </a:rPr>
              <a:t>第八章 SM2公钥密码算法</a:t>
            </a:r>
            <a:endParaRPr lang="en-US" sz="8000" noProof="1"/>
          </a:p>
        </p:txBody>
      </p:sp>
      <p:sp>
        <p:nvSpPr>
          <p:cNvPr id="13" name="bar1-cv"/>
          <p:cNvSpPr/>
          <p:nvPr/>
        </p:nvSpPr>
        <p:spPr>
          <a:xfrm>
            <a:off x="-1028700" y="8495030"/>
            <a:ext cx="20887690" cy="1518920"/>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gs>
              <a:gs pos="100000">
                <a:srgbClr val="FFE1C4"/>
              </a:gs>
            </a:gsLst>
            <a:lin ang="0" scaled="1"/>
          </a:gradFill>
          <a:ln>
            <a:noFill/>
          </a:ln>
        </p:spPr>
      </p:sp>
      <p:sp>
        <p:nvSpPr>
          <p:cNvPr id="14" name="bar2-cv"/>
          <p:cNvSpPr/>
          <p:nvPr/>
        </p:nvSpPr>
        <p:spPr>
          <a:xfrm>
            <a:off x="-1300480" y="8707120"/>
            <a:ext cx="20887690" cy="1718310"/>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a:ln>
            <a:noFill/>
          </a:ln>
        </p:spPr>
      </p:sp>
      <p:sp>
        <p:nvSpPr>
          <p:cNvPr id="15" name="pagenum-cv"/>
          <p:cNvSpPr txBox="1"/>
          <p:nvPr/>
        </p:nvSpPr>
        <p:spPr>
          <a:xfrm>
            <a:off x="15443200" y="9300210"/>
            <a:ext cx="1950720" cy="2743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a:t>
            </a:r>
            <a:endParaRPr lang="en-US" sz="1400" noProof="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t-toc-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3" name="dot-toc-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4" name="dot-toc-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toc-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toc-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toc-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toc-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toc-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toc-word"/>
          <p:cNvSpPr txBox="1"/>
          <p:nvPr/>
        </p:nvSpPr>
        <p:spPr>
          <a:xfrm>
            <a:off x="2948940" y="3196590"/>
            <a:ext cx="2336800" cy="3176270"/>
          </a:xfrm>
          <a:prstGeom prst="rect">
            <a:avLst/>
          </a:prstGeom>
          <a:noFill/>
          <a:ln>
            <a:noFill/>
          </a:ln>
        </p:spPr>
        <p:txBody>
          <a:bodyPr wrap="square" lIns="0" tIns="0" rIns="0" bIns="0" rtlCol="0" anchor="t"/>
          <a:lstStyle/>
          <a:p>
            <a:pPr algn="ctr">
              <a:lnSpc>
                <a:spcPts val="12880"/>
              </a:lnSpc>
            </a:pPr>
            <a:r>
              <a:rPr lang="en-US" sz="9200" b="1" noProof="1">
                <a:solidFill>
                  <a:srgbClr val="004AAD"/>
                </a:solidFill>
                <a:latin typeface="仿宋" panose="02010609060101010101" charset="-122"/>
                <a:ea typeface="仿宋" panose="02010609060101010101" charset="-122"/>
              </a:rPr>
              <a:t>目录</a:t>
            </a:r>
            <a:endParaRPr lang="en-US" sz="9200" noProof="1"/>
          </a:p>
        </p:txBody>
      </p:sp>
      <p:sp>
        <p:nvSpPr>
          <p:cNvPr id="11" name="toc-en"/>
          <p:cNvSpPr txBox="1"/>
          <p:nvPr/>
        </p:nvSpPr>
        <p:spPr>
          <a:xfrm>
            <a:off x="2744470" y="4610100"/>
            <a:ext cx="2745740" cy="494030"/>
          </a:xfrm>
          <a:prstGeom prst="rect">
            <a:avLst/>
          </a:prstGeom>
          <a:noFill/>
          <a:ln>
            <a:noFill/>
          </a:ln>
        </p:spPr>
        <p:txBody>
          <a:bodyPr wrap="square" lIns="0" tIns="0" rIns="0" bIns="0" rtlCol="0" anchor="t"/>
          <a:lstStyle/>
          <a:p>
            <a:pPr algn="ctr">
              <a:lnSpc>
                <a:spcPts val="4200"/>
              </a:lnSpc>
            </a:pPr>
            <a:r>
              <a:rPr lang="en-US" sz="3000" noProof="1">
                <a:solidFill>
                  <a:srgbClr val="004AAD"/>
                </a:solidFill>
                <a:latin typeface="Times New Roman" panose="02020603050405020304"/>
                <a:ea typeface="字由文艺黑" panose="00020600040101010101" charset="-122"/>
              </a:rPr>
              <a:t>CONTENTS</a:t>
            </a:r>
            <a:endParaRPr lang="en-US" sz="3000" noProof="1"/>
          </a:p>
        </p:txBody>
      </p:sp>
      <p:sp>
        <p:nvSpPr>
          <p:cNvPr id="12" name="toc-num-0"/>
          <p:cNvSpPr txBox="1"/>
          <p:nvPr/>
        </p:nvSpPr>
        <p:spPr>
          <a:xfrm>
            <a:off x="7233285" y="332295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8.1</a:t>
            </a:r>
            <a:endParaRPr lang="en-US" sz="4000" noProof="1"/>
          </a:p>
        </p:txBody>
      </p:sp>
      <p:sp>
        <p:nvSpPr>
          <p:cNvPr id="13" name="toc-title-0"/>
          <p:cNvSpPr txBox="1"/>
          <p:nvPr/>
        </p:nvSpPr>
        <p:spPr>
          <a:xfrm>
            <a:off x="8578215" y="3303905"/>
            <a:ext cx="682752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椭圆曲线</a:t>
            </a:r>
            <a:endParaRPr lang="en-US" sz="4200" noProof="1"/>
          </a:p>
        </p:txBody>
      </p:sp>
      <p:sp>
        <p:nvSpPr>
          <p:cNvPr id="14" name="toc-num-1"/>
          <p:cNvSpPr txBox="1"/>
          <p:nvPr/>
        </p:nvSpPr>
        <p:spPr>
          <a:xfrm>
            <a:off x="7233285" y="430847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8.2</a:t>
            </a:r>
            <a:endParaRPr lang="en-US" sz="4000" noProof="1"/>
          </a:p>
        </p:txBody>
      </p:sp>
      <p:sp>
        <p:nvSpPr>
          <p:cNvPr id="15" name="toc-title-1"/>
          <p:cNvSpPr txBox="1"/>
          <p:nvPr/>
        </p:nvSpPr>
        <p:spPr>
          <a:xfrm>
            <a:off x="8578215" y="4289425"/>
            <a:ext cx="682752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SM2公钥密码体制</a:t>
            </a:r>
            <a:endParaRPr lang="en-US" sz="4200" noProof="1"/>
          </a:p>
        </p:txBody>
      </p:sp>
      <p:sp>
        <p:nvSpPr>
          <p:cNvPr id="16" name="toc-num-2"/>
          <p:cNvSpPr txBox="1"/>
          <p:nvPr/>
        </p:nvSpPr>
        <p:spPr>
          <a:xfrm>
            <a:off x="7233285" y="529399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8.3</a:t>
            </a:r>
            <a:endParaRPr lang="en-US" sz="4000" noProof="1"/>
          </a:p>
        </p:txBody>
      </p:sp>
      <p:sp>
        <p:nvSpPr>
          <p:cNvPr id="17" name="toc-title-2"/>
          <p:cNvSpPr txBox="1"/>
          <p:nvPr/>
        </p:nvSpPr>
        <p:spPr>
          <a:xfrm>
            <a:off x="8578215" y="5274945"/>
            <a:ext cx="682752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本章小结</a:t>
            </a:r>
            <a:endParaRPr lang="en-US" sz="4200" noProof="1"/>
          </a:p>
        </p:txBody>
      </p:sp>
      <p:sp>
        <p:nvSpPr>
          <p:cNvPr id="20" name="bar1-toc"/>
          <p:cNvSpPr/>
          <p:nvPr/>
        </p:nvSpPr>
        <p:spPr>
          <a:xfrm>
            <a:off x="-1028700" y="9109710"/>
            <a:ext cx="20887690" cy="1035050"/>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gs>
              <a:gs pos="100000">
                <a:srgbClr val="FFE1C4"/>
              </a:gs>
            </a:gsLst>
            <a:lin ang="0" scaled="1"/>
          </a:gradFill>
          <a:ln>
            <a:noFill/>
          </a:ln>
        </p:spPr>
      </p:sp>
      <p:sp>
        <p:nvSpPr>
          <p:cNvPr id="21" name="bar2-toc"/>
          <p:cNvSpPr/>
          <p:nvPr/>
        </p:nvSpPr>
        <p:spPr>
          <a:xfrm>
            <a:off x="-1300480" y="9253220"/>
            <a:ext cx="20887690" cy="1170940"/>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a:ln>
            <a:noFill/>
          </a:ln>
        </p:spPr>
      </p:sp>
      <p:sp>
        <p:nvSpPr>
          <p:cNvPr id="22" name="pagenum-to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a:t>
            </a:r>
            <a:endParaRPr lang="en-US" sz="1400" noProof="1"/>
          </a:p>
        </p:txBody>
      </p:sp>
      <p:grpSp>
        <p:nvGrpSpPr>
          <p:cNvPr id="35" name="组合 34"/>
          <p:cNvGrpSpPr/>
          <p:nvPr/>
        </p:nvGrpSpPr>
        <p:grpSpPr>
          <a:xfrm>
            <a:off x="796975" y="605801"/>
            <a:ext cx="3700052" cy="416951"/>
            <a:chOff x="13811849" y="507954"/>
            <a:chExt cx="3700052" cy="416951"/>
          </a:xfrm>
        </p:grpSpPr>
        <p:sp>
          <p:nvSpPr>
            <p:cNvPr id="36" name="文本框 35"/>
            <p:cNvSpPr txBox="1"/>
            <p:nvPr>
              <p:custDataLst>
                <p:tags r:id="rId1"/>
              </p:custDataLst>
            </p:nvPr>
          </p:nvSpPr>
          <p:spPr>
            <a:xfrm>
              <a:off x="13811849" y="507954"/>
              <a:ext cx="3700052" cy="369332"/>
            </a:xfrm>
            <a:prstGeom prst="rect">
              <a:avLst/>
            </a:prstGeom>
            <a:noFill/>
          </p:spPr>
          <p:txBody>
            <a:bodyPr wrap="none" rtlCol="0">
              <a:spAutoFit/>
            </a:bodyPr>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charset="-122"/>
                  <a:ea typeface="仿宋" panose="02010609060101010101" charset="-122"/>
                </a:rPr>
                <a:t>密码学——基础理论与应用</a:t>
              </a:r>
              <a:endParaRPr lang="zh-CN" altLang="zh-CN" b="1" dirty="0">
                <a:solidFill>
                  <a:schemeClr val="tx2"/>
                </a:solidFill>
                <a:latin typeface="仿宋" panose="02010609060101010101" charset="-122"/>
                <a:ea typeface="仿宋" panose="02010609060101010101" charset="-122"/>
              </a:endParaRPr>
            </a:p>
          </p:txBody>
        </p:sp>
        <p:pic>
          <p:nvPicPr>
            <p:cNvPr id="37" name="图片 36"/>
            <p:cNvPicPr>
              <a:picLocks noChangeAspect="1"/>
            </p:cNvPicPr>
            <p:nvPr>
              <p:custDataLst>
                <p:tags r:id="rId2"/>
              </p:custDataLst>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t-d81-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3" name="dot-d81-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4" name="dot-d81-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d81-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d81-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d81-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d81-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d81-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circle-d81"/>
          <p:cNvSpPr/>
          <p:nvPr/>
        </p:nvSpPr>
        <p:spPr>
          <a:xfrm>
            <a:off x="5340350" y="802640"/>
            <a:ext cx="7607300" cy="76073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gs>
            </a:gsLst>
            <a:lin ang="5400000" scaled="1"/>
          </a:gradFill>
          <a:ln>
            <a:noFill/>
          </a:ln>
        </p:spPr>
      </p:sp>
      <p:sp>
        <p:nvSpPr>
          <p:cNvPr id="11" name="divnum-d81"/>
          <p:cNvSpPr txBox="1"/>
          <p:nvPr/>
        </p:nvSpPr>
        <p:spPr>
          <a:xfrm>
            <a:off x="7781290" y="2834640"/>
            <a:ext cx="2725420" cy="2190750"/>
          </a:xfrm>
          <a:prstGeom prst="rect">
            <a:avLst/>
          </a:prstGeom>
          <a:noFill/>
          <a:ln>
            <a:noFill/>
          </a:ln>
        </p:spPr>
        <p:txBody>
          <a:bodyPr wrap="square" lIns="0" tIns="0" rIns="0" bIns="0" rtlCol="0" anchor="t"/>
          <a:lstStyle/>
          <a:p>
            <a:pPr algn="ctr">
              <a:lnSpc>
                <a:spcPts val="17080"/>
              </a:lnSpc>
            </a:pPr>
            <a:r>
              <a:rPr lang="en-US" sz="12200" noProof="1">
                <a:solidFill>
                  <a:srgbClr val="004AAD"/>
                </a:solidFill>
                <a:latin typeface="Times New Roman" panose="02020603050405020304"/>
                <a:ea typeface="微软雅黑" panose="020B0503020204020204" charset="-122"/>
              </a:rPr>
              <a:t>8.1</a:t>
            </a:r>
            <a:endParaRPr lang="en-US" sz="12200" noProof="1"/>
          </a:p>
        </p:txBody>
      </p:sp>
      <p:sp>
        <p:nvSpPr>
          <p:cNvPr id="12" name="divtitle-d81"/>
          <p:cNvSpPr txBox="1"/>
          <p:nvPr/>
        </p:nvSpPr>
        <p:spPr>
          <a:xfrm>
            <a:off x="3429000" y="5143500"/>
            <a:ext cx="11430000" cy="2872740"/>
          </a:xfrm>
          <a:prstGeom prst="rect">
            <a:avLst/>
          </a:prstGeom>
          <a:noFill/>
          <a:ln>
            <a:noFill/>
          </a:ln>
        </p:spPr>
        <p:txBody>
          <a:bodyPr wrap="square" lIns="0" tIns="0" rIns="0" bIns="0" rtlCol="0" anchor="t"/>
          <a:lstStyle/>
          <a:p>
            <a:pPr algn="ctr">
              <a:lnSpc>
                <a:spcPts val="11200"/>
              </a:lnSpc>
            </a:pPr>
            <a:r>
              <a:rPr lang="en-US" sz="9600" b="1" noProof="1">
                <a:solidFill>
                  <a:srgbClr val="004AAD"/>
                </a:solidFill>
                <a:latin typeface="仿宋" panose="02010609060101010101" charset="-122"/>
                <a:ea typeface="仿宋" panose="02010609060101010101" charset="-122"/>
              </a:rPr>
              <a:t>椭圆曲线</a:t>
            </a:r>
            <a:endParaRPr lang="en-US" sz="9600" noProof="1"/>
          </a:p>
        </p:txBody>
      </p:sp>
      <p:sp>
        <p:nvSpPr>
          <p:cNvPr id="13" name="bar1-d81"/>
          <p:cNvSpPr/>
          <p:nvPr/>
        </p:nvSpPr>
        <p:spPr>
          <a:xfrm>
            <a:off x="-1028700" y="8890000"/>
            <a:ext cx="20887690" cy="1035050"/>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gs>
              <a:gs pos="100000">
                <a:srgbClr val="FFE1C4"/>
              </a:gs>
            </a:gsLst>
            <a:lin ang="0" scaled="1"/>
          </a:gradFill>
          <a:ln>
            <a:noFill/>
          </a:ln>
        </p:spPr>
      </p:sp>
      <p:sp>
        <p:nvSpPr>
          <p:cNvPr id="14" name="bar2-d81"/>
          <p:cNvSpPr/>
          <p:nvPr/>
        </p:nvSpPr>
        <p:spPr>
          <a:xfrm>
            <a:off x="-1300480" y="9017000"/>
            <a:ext cx="20887690" cy="1170940"/>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a:ln>
            <a:noFill/>
          </a:ln>
        </p:spPr>
      </p:sp>
      <p:sp>
        <p:nvSpPr>
          <p:cNvPr id="15" name="bookhead-d81"/>
          <p:cNvSpPr txBox="1"/>
          <p:nvPr/>
        </p:nvSpPr>
        <p:spPr>
          <a:xfrm>
            <a:off x="957580" y="666115"/>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6" name="bookline-d81"/>
          <p:cNvPicPr/>
          <p:nvPr/>
        </p:nvPicPr>
        <p:blipFill>
          <a:blip r:embed="rId1"/>
          <a:stretch>
            <a:fillRect/>
          </a:stretch>
        </p:blipFill>
        <p:spPr>
          <a:xfrm>
            <a:off x="889000" y="975360"/>
            <a:ext cx="2771140" cy="46990"/>
          </a:xfrm>
          <a:prstGeom prst="rect">
            <a:avLst/>
          </a:prstGeom>
          <a:ln>
            <a:noFill/>
          </a:ln>
        </p:spPr>
      </p:pic>
      <p:sp>
        <p:nvSpPr>
          <p:cNvPr id="17" name="pagenum-d81"/>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a:t>
            </a:r>
            <a:endParaRPr lang="en-US" sz="1400" noProof="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81a"/>
          <p:cNvSpPr txBox="1"/>
          <p:nvPr/>
        </p:nvSpPr>
        <p:spPr>
          <a:xfrm>
            <a:off x="1684020" y="2459355"/>
            <a:ext cx="14818360" cy="244157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早在</a:t>
            </a: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20</a:t>
            </a: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世纪80年代</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，我国密码学者已经开始了椭圆曲线公钥密码体制的研究。</a:t>
            </a: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2007年，国家密码管理局组织密码学专家成立专门的研究小组，开始起草我国自己的椭圆曲线公钥密码算法（简称SM2）标准。</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pagenum-81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a:t>
            </a:r>
            <a:endParaRPr lang="en-US" sz="1400" noProof="1"/>
          </a:p>
        </p:txBody>
      </p:sp>
      <p:sp>
        <p:nvSpPr>
          <p:cNvPr id="8" name="bookhead-81a"/>
          <p:cNvSpPr txBox="1"/>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nvPicPr>
        <p:blipFill>
          <a:blip r:embed="rId1"/>
          <a:stretch>
            <a:fillRect/>
          </a:stretch>
        </p:blipFill>
        <p:spPr>
          <a:xfrm>
            <a:off x="13731240" y="1102360"/>
            <a:ext cx="2771140" cy="46990"/>
          </a:xfrm>
          <a:prstGeom prst="rect">
            <a:avLst/>
          </a:prstGeom>
          <a:ln>
            <a:noFill/>
          </a:ln>
        </p:spPr>
      </p:pic>
      <p:sp>
        <p:nvSpPr>
          <p:cNvPr id="10" name="gradbar-81b"/>
          <p:cNvSpPr/>
          <p:nvPr>
            <p:custDataLst>
              <p:tags r:id="rId2"/>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1" name="secnum-81b"/>
          <p:cNvSpPr txBox="1"/>
          <p:nvPr>
            <p:custDataLst>
              <p:tags r:id="rId3"/>
            </p:custDataLst>
          </p:nvPr>
        </p:nvSpPr>
        <p:spPr>
          <a:xfrm>
            <a:off x="1419860" y="494030"/>
            <a:ext cx="1049020"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2" name="sectitle-81b"/>
          <p:cNvSpPr txBox="1"/>
          <p:nvPr>
            <p:custDataLst>
              <p:tags r:id="rId4"/>
            </p:custDataLst>
          </p:nvPr>
        </p:nvSpPr>
        <p:spPr>
          <a:xfrm>
            <a:off x="2209800" y="509270"/>
            <a:ext cx="210439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3" name="logo-81b"/>
          <p:cNvPicPr/>
          <p:nvPr>
            <p:custDataLst>
              <p:tags r:id="rId5"/>
            </p:custDataLst>
          </p:nvPr>
        </p:nvPicPr>
        <p:blipFill>
          <a:blip r:embed="rId6">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81a"/>
          <p:cNvSpPr txBox="1"/>
          <p:nvPr/>
        </p:nvSpPr>
        <p:spPr>
          <a:xfrm>
            <a:off x="1724660" y="1877695"/>
            <a:ext cx="14818360" cy="572706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历时三年，</a:t>
            </a:r>
            <a:r>
              <a:rPr lang="zh-CN" alt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我国</a:t>
            </a: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完成了SM2算法标准的制定，2010年12月首次公开发布，2012年成为国家商用密码标准（标准号为GM/T0003—2012），2016年成为中国国家标准（标准号为GB/T32918—2016）。2018年11月，作为补篇纳入国际标准的SM2数字签名算法，以正文形式随ISO/IEC14888-3:2018《信息安全技术带附录的数字签名第3部分：基于离散对数的机制》最新一版发布。同年，SM2密钥交换和公钥加密机制被纳入IETF RFC 8998，正式成为互联网工程任务组推荐标准。2020年，SM2被列入欧盟SOG-IS可信算法清单，获得欧洲安全机构的认可。</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pagenum-81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5</a:t>
            </a:r>
            <a:endParaRPr lang="en-US" sz="1400" noProof="1"/>
          </a:p>
        </p:txBody>
      </p:sp>
      <p:sp>
        <p:nvSpPr>
          <p:cNvPr id="10" name="gradbar-81b"/>
          <p:cNvSpPr/>
          <p:nvPr>
            <p:custDataLst>
              <p:tags r:id="rId1"/>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1" name="secnum-81b"/>
          <p:cNvSpPr txBox="1"/>
          <p:nvPr>
            <p:custDataLst>
              <p:tags r:id="rId2"/>
            </p:custDataLst>
          </p:nvPr>
        </p:nvSpPr>
        <p:spPr>
          <a:xfrm>
            <a:off x="1419860" y="494030"/>
            <a:ext cx="1049020"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2" name="sectitle-81b"/>
          <p:cNvSpPr txBox="1"/>
          <p:nvPr>
            <p:custDataLst>
              <p:tags r:id="rId3"/>
            </p:custDataLst>
          </p:nvPr>
        </p:nvSpPr>
        <p:spPr>
          <a:xfrm>
            <a:off x="2209800" y="509270"/>
            <a:ext cx="210439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3" name="logo-81b"/>
          <p:cNvPicPr/>
          <p:nvPr>
            <p:custDataLst>
              <p:tags r:id="rId4"/>
            </p:custDataLst>
          </p:nvPr>
        </p:nvPicPr>
        <p:blipFill>
          <a:blip r:embed="rId5">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2" name="bookhead-81a"/>
          <p:cNvSpPr txBox="1"/>
          <p:nvPr>
            <p:custDataLst>
              <p:tags r:id="rId6"/>
            </p:custDataLst>
          </p:nvPr>
        </p:nvSpPr>
        <p:spPr>
          <a:xfrm>
            <a:off x="13731240" y="778510"/>
            <a:ext cx="3516630" cy="278130"/>
          </a:xfrm>
          <a:prstGeom prst="rect">
            <a:avLst/>
          </a:prstGeom>
          <a:noFill/>
          <a:ln>
            <a:noFill/>
          </a:ln>
        </p:spPr>
        <p:txBody>
          <a:bodyPr wrap="none" lIns="0" tIns="0" rIns="0" bIns="0" rtlCol="0"/>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7"/>
            </p:custDataLst>
          </p:nvPr>
        </p:nvPicPr>
        <p:blipFill>
          <a:blip r:embed="rId8"/>
          <a:stretch>
            <a:fillRect/>
          </a:stretch>
        </p:blipFill>
        <p:spPr>
          <a:xfrm>
            <a:off x="13731240" y="1102360"/>
            <a:ext cx="2771140" cy="46990"/>
          </a:xfrm>
          <a:prstGeom prst="rect">
            <a:avLst/>
          </a:prstGeom>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a"/>
              <p:cNvSpPr txBox="1"/>
              <p:nvPr/>
            </p:nvSpPr>
            <p:spPr>
              <a:xfrm>
                <a:off x="1724660" y="2095500"/>
                <a:ext cx="14818360" cy="569531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 椭圆曲线是指由三次平滑代数平面曲线，即由Weierstrass方程所确定的平面曲线，可以表达为</a:t>
                </a:r>
                <a14:m>
                  <m:oMath xmlns:m="http://schemas.openxmlformats.org/officeDocument/2006/math">
                    <m:r>
                      <m:rPr>
                        <m:sty m:val="p"/>
                      </m:rPr>
                      <a:rPr lang="en-US" sz="3600" noProof="1">
                        <a:solidFill>
                          <a:srgbClr val="000000"/>
                        </a:solidFill>
                        <a:latin typeface="Times New Roman" panose="02020603050405020304"/>
                      </a:rPr>
                      <m:t>E</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y</m:t>
                        </m:r>
                      </m:e>
                      <m:sup>
                        <m:r>
                          <a:rPr lang="en-US" sz="3600" noProof="1">
                            <a:solidFill>
                              <a:srgbClr val="000000"/>
                            </a:solidFill>
                            <a:latin typeface="Times New Roman" panose="02020603050405020304"/>
                          </a:rPr>
                          <m:t>2</m:t>
                        </m:r>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axy</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by</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x</m:t>
                        </m:r>
                      </m:e>
                      <m:sup>
                        <m:r>
                          <a:rPr lang="en-US" sz="3600" noProof="1">
                            <a:solidFill>
                              <a:srgbClr val="000000"/>
                            </a:solidFill>
                            <a:latin typeface="Times New Roman" panose="02020603050405020304"/>
                          </a:rPr>
                          <m:t>3</m:t>
                        </m:r>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x</m:t>
                        </m:r>
                      </m:e>
                      <m:sup>
                        <m:r>
                          <a:rPr lang="en-US" sz="3600" noProof="1">
                            <a:solidFill>
                              <a:srgbClr val="000000"/>
                            </a:solidFill>
                            <a:latin typeface="Times New Roman" panose="02020603050405020304"/>
                          </a:rPr>
                          <m:t>2</m:t>
                        </m:r>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dx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e</m:t>
                    </m:r>
                  </m:oMath>
                </a14:m>
                <a:r>
                  <a:rPr lang="en-US" sz="3600" noProof="1">
                    <a:solidFill>
                      <a:srgbClr val="000000"/>
                    </a:solidFill>
                    <a:latin typeface="Times New Roman" panose="02020603050405020304"/>
                    <a:ea typeface="宋体" panose="02010600030101010101" pitchFamily="2" charset="-122"/>
                  </a:rPr>
                  <a:t>。其中，</a:t>
                </a:r>
                <a14:m>
                  <m:oMath xmlns:m="http://schemas.openxmlformats.org/officeDocument/2006/math">
                    <m:r>
                      <m:rPr>
                        <m:sty m:val="p"/>
                      </m:rPr>
                      <a:rPr lang="en-US" sz="3600" noProof="1">
                        <a:solidFill>
                          <a:srgbClr val="000000"/>
                        </a:solidFill>
                        <a:latin typeface="Times New Roman" panose="02020603050405020304"/>
                      </a:rPr>
                      <m:t>a</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b</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d</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e</m:t>
                    </m:r>
                  </m:oMath>
                </a14:m>
                <a:r>
                  <a:rPr lang="en-US" sz="3600" noProof="1">
                    <a:solidFill>
                      <a:srgbClr val="000000"/>
                    </a:solidFill>
                    <a:latin typeface="Times New Roman" panose="02020603050405020304"/>
                    <a:ea typeface="宋体" panose="02010600030101010101" pitchFamily="2" charset="-122"/>
                  </a:rPr>
                  <a:t>属于</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m:rPr>
                        <m:sty m:val="p"/>
                      </m:rPr>
                      <a:rPr lang="en-US" sz="3600" noProof="1">
                        <a:solidFill>
                          <a:srgbClr val="000000"/>
                        </a:solidFill>
                        <a:latin typeface="Times New Roman" panose="02020603050405020304"/>
                      </a:rPr>
                      <m:t>F</m:t>
                    </m:r>
                  </m:oMath>
                </a14:m>
                <a:r>
                  <a:rPr lang="en-US" sz="3600" noProof="1">
                    <a:solidFill>
                      <a:srgbClr val="000000"/>
                    </a:solidFill>
                    <a:latin typeface="Times New Roman" panose="02020603050405020304"/>
                    <a:ea typeface="宋体" panose="02010600030101010101" pitchFamily="2" charset="-122"/>
                  </a:rPr>
                  <a:t>是一个域，可以是有理数域、复数域，还可以是有限域</a:t>
                </a:r>
                <a14:m>
                  <m:oMath xmlns:m="http://schemas.openxmlformats.org/officeDocument/2006/math">
                    <m:r>
                      <m:rPr>
                        <m:sty m:val="p"/>
                      </m:rPr>
                      <a:rPr lang="en-US" sz="3600" noProof="1">
                        <a:solidFill>
                          <a:srgbClr val="000000"/>
                        </a:solidFill>
                        <a:latin typeface="Times New Roman" panose="02020603050405020304"/>
                      </a:rPr>
                      <m:t>GF</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p</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。椭圆曲线是其上所有点</a:t>
                </a:r>
                <a14:m>
                  <m:oMath xmlns:m="http://schemas.openxmlformats.org/officeDocument/2006/math">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y</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的集合，外加一个无限远点</a:t>
                </a:r>
                <a14:m>
                  <m:oMath xmlns:m="http://schemas.openxmlformats.org/officeDocument/2006/math">
                    <m:r>
                      <m:rPr>
                        <m:sty m:val="p"/>
                      </m:rPr>
                      <a:rPr lang="en-US" sz="3600" noProof="1">
                        <a:solidFill>
                          <a:srgbClr val="000000"/>
                        </a:solidFill>
                        <a:latin typeface="Times New Roman" panose="02020603050405020304"/>
                      </a:rPr>
                      <m:t>O</m:t>
                    </m:r>
                  </m:oMath>
                </a14:m>
                <a:r>
                  <a:rPr lang="en-US" sz="3600" noProof="1">
                    <a:solidFill>
                      <a:srgbClr val="000000"/>
                    </a:solidFill>
                    <a:latin typeface="Times New Roman" panose="02020603050405020304"/>
                    <a:ea typeface="宋体" panose="02010600030101010101" pitchFamily="2" charset="-122"/>
                  </a:rPr>
                  <a:t>（椭圆曲线有一个特殊的点，记为</a:t>
                </a:r>
                <a14:m>
                  <m:oMath xmlns:m="http://schemas.openxmlformats.org/officeDocument/2006/math">
                    <m:r>
                      <m:rPr>
                        <m:sty m:val="p"/>
                      </m:rPr>
                      <a:rPr lang="en-US" sz="3600" noProof="1">
                        <a:solidFill>
                          <a:srgbClr val="000000"/>
                        </a:solidFill>
                        <a:latin typeface="Times New Roman" panose="02020603050405020304"/>
                      </a:rPr>
                      <m:t>O</m:t>
                    </m:r>
                  </m:oMath>
                </a14:m>
                <a:r>
                  <a:rPr lang="en-US" sz="3600" noProof="1">
                    <a:solidFill>
                      <a:srgbClr val="000000"/>
                    </a:solidFill>
                    <a:latin typeface="Times New Roman" panose="02020603050405020304"/>
                    <a:ea typeface="宋体" panose="02010600030101010101" pitchFamily="2" charset="-122"/>
                  </a:rPr>
                  <a:t>，它并不在椭圆曲线</a:t>
                </a:r>
                <a14:m>
                  <m:oMath xmlns:m="http://schemas.openxmlformats.org/officeDocument/2006/math">
                    <m:r>
                      <m:rPr>
                        <m:sty m:val="p"/>
                      </m:rPr>
                      <a:rPr lang="en-US" sz="3600" noProof="1">
                        <a:solidFill>
                          <a:srgbClr val="000000"/>
                        </a:solidFill>
                        <a:latin typeface="Times New Roman" panose="02020603050405020304"/>
                      </a:rPr>
                      <m:t>E</m:t>
                    </m:r>
                  </m:oMath>
                </a14:m>
                <a:r>
                  <a:rPr lang="en-US" sz="3600" noProof="1">
                    <a:solidFill>
                      <a:srgbClr val="000000"/>
                    </a:solidFill>
                    <a:latin typeface="Times New Roman" panose="02020603050405020304"/>
                    <a:ea typeface="宋体" panose="02010600030101010101" pitchFamily="2" charset="-122"/>
                  </a:rPr>
                  <a:t>上，此点称为无限远点）。图8.1所示为椭圆曲线的两个例子。</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通过坐标变换，可以将上述Weierstrass方程简化为</a:t>
                </a:r>
                <a14:m>
                  <m:oMath xmlns:m="http://schemas.openxmlformats.org/officeDocument/2006/math">
                    <m:r>
                      <m:rPr>
                        <m:sty m:val="p"/>
                      </m:rPr>
                      <a:rPr lang="en-US" sz="3600" noProof="1">
                        <a:solidFill>
                          <a:srgbClr val="000000"/>
                        </a:solidFill>
                        <a:latin typeface="Times New Roman" panose="02020603050405020304"/>
                      </a:rPr>
                      <m:t>E</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y</m:t>
                        </m:r>
                      </m:e>
                      <m:sup>
                        <m:r>
                          <a:rPr lang="en-US" sz="3600" noProof="1">
                            <a:solidFill>
                              <a:srgbClr val="000000"/>
                            </a:solidFill>
                            <a:latin typeface="Times New Roman" panose="02020603050405020304"/>
                          </a:rPr>
                          <m:t>2</m:t>
                        </m:r>
                      </m:sup>
                    </m:sSup>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x</m:t>
                        </m:r>
                      </m:e>
                      <m:sup>
                        <m:r>
                          <a:rPr lang="en-US" sz="3600" noProof="1">
                            <a:solidFill>
                              <a:srgbClr val="000000"/>
                            </a:solidFill>
                            <a:latin typeface="Times New Roman" panose="02020603050405020304"/>
                          </a:rPr>
                          <m:t>3</m:t>
                        </m:r>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ax</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b</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3" name="body-81a"/>
              <p:cNvSpPr txBox="1">
                <a:spLocks noRot="1" noChangeAspect="1" noMove="1" noResize="1" noEditPoints="1" noAdjustHandles="1" noChangeArrowheads="1" noChangeShapeType="1" noTextEdit="1"/>
              </p:cNvSpPr>
              <p:nvPr/>
            </p:nvSpPr>
            <p:spPr>
              <a:xfrm>
                <a:off x="1724660" y="2095500"/>
                <a:ext cx="14818360" cy="5695315"/>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81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6</a:t>
            </a:r>
            <a:endParaRPr lang="en-US" sz="1400" noProof="1"/>
          </a:p>
        </p:txBody>
      </p:sp>
      <p:sp>
        <p:nvSpPr>
          <p:cNvPr id="10" name="gradbar-81b"/>
          <p:cNvSpPr/>
          <p:nvPr>
            <p:custDataLst>
              <p:tags r:id="rId2"/>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1" name="secnum-81b"/>
          <p:cNvSpPr txBox="1"/>
          <p:nvPr>
            <p:custDataLst>
              <p:tags r:id="rId3"/>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2" name="sectitle-81b"/>
          <p:cNvSpPr txBox="1"/>
          <p:nvPr>
            <p:custDataLst>
              <p:tags r:id="rId4"/>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有限域</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上的椭圆曲线</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3" name="logo-81b"/>
          <p:cNvPicPr/>
          <p:nvPr>
            <p:custDataLst>
              <p:tags r:id="rId5"/>
            </p:custDataLst>
          </p:nvPr>
        </p:nvPicPr>
        <p:blipFill>
          <a:blip r:embed="rId6">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2" name="bookhead-81a"/>
          <p:cNvSpPr txBox="1"/>
          <p:nvPr>
            <p:custDataLst>
              <p:tags r:id="rId7"/>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8"/>
            </p:custDataLst>
          </p:nvPr>
        </p:nvPicPr>
        <p:blipFill>
          <a:blip r:embed="rId9"/>
          <a:stretch>
            <a:fillRect/>
          </a:stretch>
        </p:blipFill>
        <p:spPr>
          <a:xfrm>
            <a:off x="13731240" y="1102360"/>
            <a:ext cx="2771140" cy="46990"/>
          </a:xfrm>
          <a:prstGeom prst="rect">
            <a:avLst/>
          </a:prstGeom>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81b1"/>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椭圆曲线的两个例子如图8.1所示。</a:t>
            </a:r>
            <a:endParaRPr lang="en-US" sz="3200" noProof="1"/>
          </a:p>
        </p:txBody>
      </p:sp>
      <p:pic>
        <p:nvPicPr>
          <p:cNvPr id="4" name="img-81b"/>
          <p:cNvPicPr/>
          <p:nvPr/>
        </p:nvPicPr>
        <p:blipFill>
          <a:blip r:embed="rId1"/>
          <a:stretch>
            <a:fillRect/>
          </a:stretch>
        </p:blipFill>
        <p:spPr>
          <a:xfrm>
            <a:off x="4318000" y="3238500"/>
            <a:ext cx="9652000" cy="3619500"/>
          </a:xfrm>
          <a:prstGeom prst="rect">
            <a:avLst/>
          </a:prstGeom>
          <a:ln>
            <a:noFill/>
          </a:ln>
        </p:spPr>
      </p:pic>
      <p:sp>
        <p:nvSpPr>
          <p:cNvPr id="5" name="imgcap-81b"/>
          <p:cNvSpPr txBox="1"/>
          <p:nvPr/>
        </p:nvSpPr>
        <p:spPr>
          <a:xfrm>
            <a:off x="1734820" y="70485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图8.1　椭圆曲线实例</a:t>
            </a:r>
            <a:endParaRPr lang="en-US" sz="1600" noProof="1"/>
          </a:p>
        </p:txBody>
      </p:sp>
      <mc:AlternateContent xmlns:mc="http://schemas.openxmlformats.org/markup-compatibility/2006">
        <mc:Choice xmlns:a14="http://schemas.microsoft.com/office/drawing/2010/main" Requires="a14">
          <p:sp>
            <p:nvSpPr>
              <p:cNvPr id="6" name="body-81b2"/>
              <p:cNvSpPr txBox="1"/>
              <p:nvPr/>
            </p:nvSpPr>
            <p:spPr>
              <a:xfrm>
                <a:off x="1734820" y="7556500"/>
                <a:ext cx="14818360" cy="2590800"/>
              </a:xfrm>
              <a:prstGeom prst="rect">
                <a:avLst/>
              </a:prstGeom>
              <a:noFill/>
              <a:ln>
                <a:noFill/>
              </a:ln>
            </p:spPr>
            <p:txBody>
              <a:bodyPr wrap="square" lIns="0" tIns="0" rIns="0" bIns="0" rtlCol="0" anchor="t"/>
              <a:lstStyle/>
              <a:p>
                <a:pPr indent="457200" algn="just" fontAlgn="auto">
                  <a:lnSpc>
                    <a:spcPct val="120000"/>
                  </a:lnSpc>
                </a:pPr>
                <a:r>
                  <a:rPr lang="en-US" sz="3200" b="1" noProof="1">
                    <a:solidFill>
                      <a:srgbClr val="000000"/>
                    </a:solidFill>
                    <a:latin typeface="Times New Roman" panose="02020603050405020304"/>
                    <a:ea typeface="宋体" panose="02010600030101010101" pitchFamily="2" charset="-122"/>
                  </a:rPr>
                  <a:t>定义8.1　</a:t>
                </a:r>
                <a:r>
                  <a:rPr lang="en-US" sz="3200" noProof="1">
                    <a:solidFill>
                      <a:srgbClr val="000000"/>
                    </a:solidFill>
                    <a:latin typeface="Times New Roman" panose="02020603050405020304"/>
                    <a:ea typeface="宋体" panose="02010600030101010101" pitchFamily="2" charset="-122"/>
                  </a:rPr>
                  <a:t>椭圆曲线</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：设</a:t>
                </a:r>
                <a14:m>
                  <m:oMath xmlns:m="http://schemas.openxmlformats.org/officeDocument/2006/math">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&gt;</m:t>
                    </m:r>
                    <m:r>
                      <a:rPr lang="en-US" sz="3200" i="0" noProof="1">
                        <a:solidFill>
                          <a:srgbClr val="000000"/>
                        </a:solidFill>
                        <a:latin typeface="Times New Roman" panose="02020603050405020304"/>
                      </a:rPr>
                      <m:t>3</m:t>
                    </m:r>
                  </m:oMath>
                </a14:m>
                <a:r>
                  <a:rPr lang="en-US" sz="3200" noProof="1">
                    <a:solidFill>
                      <a:srgbClr val="000000"/>
                    </a:solidFill>
                    <a:latin typeface="Times New Roman" panose="02020603050405020304"/>
                    <a:ea typeface="宋体" panose="02010600030101010101" pitchFamily="2" charset="-122"/>
                  </a:rPr>
                  <a:t>是一个素数，有限域</a:t>
                </a:r>
                <a14:m>
                  <m:oMath xmlns:m="http://schemas.openxmlformats.org/officeDocument/2006/math">
                    <m:r>
                      <a:rPr lang="en-US" sz="3200" i="0" noProof="1">
                        <a:solidFill>
                          <a:srgbClr val="000000"/>
                        </a:solidFill>
                        <a:latin typeface="Times New Roman" panose="02020603050405020304"/>
                      </a:rPr>
                      <m:t>𝐺𝐹</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上的椭圆曲线是一个称为由无穷远点</a:t>
                </a:r>
                <a14:m>
                  <m:oMath xmlns:m="http://schemas.openxmlformats.org/officeDocument/2006/math">
                    <m:r>
                      <a:rPr lang="en-US" sz="3200" i="1" noProof="1">
                        <a:solidFill>
                          <a:srgbClr val="000000"/>
                        </a:solidFill>
                        <a:latin typeface="Times New Roman" panose="02020603050405020304"/>
                      </a:rPr>
                      <m:t>𝑂</m:t>
                    </m:r>
                  </m:oMath>
                </a14:m>
                <a:r>
                  <a:rPr lang="en-US" sz="3200" noProof="1">
                    <a:solidFill>
                      <a:srgbClr val="000000"/>
                    </a:solidFill>
                    <a:latin typeface="Times New Roman" panose="02020603050405020304"/>
                    <a:ea typeface="宋体" panose="02010600030101010101" pitchFamily="2" charset="-122"/>
                  </a:rPr>
                  <a:t>和满足同余方程</a:t>
                </a:r>
                <a14:m>
                  <m:oMath xmlns:m="http://schemas.openxmlformats.org/officeDocument/2006/math">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𝑦</m:t>
                        </m:r>
                      </m:e>
                      <m:sup>
                        <m:r>
                          <a:rPr lang="en-US" sz="3200" i="0" noProof="1">
                            <a:solidFill>
                              <a:srgbClr val="000000"/>
                            </a:solidFill>
                            <a:latin typeface="Times New Roman" panose="02020603050405020304"/>
                          </a:rPr>
                          <m:t>2</m:t>
                        </m:r>
                      </m:sup>
                    </m:sSup>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𝑥</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𝑎𝑥</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oMath>
                </a14:m>
                <a:r>
                  <a:rPr lang="en-US" sz="3200" noProof="1">
                    <a:solidFill>
                      <a:srgbClr val="000000"/>
                    </a:solidFill>
                    <a:latin typeface="Times New Roman" panose="02020603050405020304"/>
                    <a:ea typeface="宋体" panose="02010600030101010101" pitchFamily="2" charset="-122"/>
                  </a:rPr>
                  <a:t>的点组成的集合。其中，</a:t>
                </a:r>
                <a14:m>
                  <m:oMath xmlns:m="http://schemas.openxmlformats.org/officeDocument/2006/math">
                    <m:r>
                      <a:rPr lang="en-US" sz="3200" i="0" noProof="1">
                        <a:solidFill>
                          <a:srgbClr val="000000"/>
                        </a:solidFill>
                        <a:latin typeface="Times New Roman" panose="02020603050405020304"/>
                      </a:rPr>
                      <m:t>4</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𝑎</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27</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𝑏</m:t>
                        </m:r>
                      </m:e>
                      <m:sup>
                        <m:r>
                          <a:rPr lang="en-US" sz="3200" i="0" noProof="1">
                            <a:solidFill>
                              <a:srgbClr val="000000"/>
                            </a:solidFill>
                            <a:latin typeface="Times New Roman" panose="02020603050405020304"/>
                          </a:rPr>
                          <m:t>2</m:t>
                        </m:r>
                      </m:sup>
                    </m:sSup>
                    <m:r>
                      <a:rPr lang="en-US" sz="3200" i="0" noProof="1">
                        <a:solidFill>
                          <a:srgbClr val="000000"/>
                        </a:solidFill>
                        <a:latin typeface="Cambria Math" panose="02040503050406030204" charset="0"/>
                        <a:cs typeface="Cambria Math" panose="02040503050406030204" charset="0"/>
                      </a:rPr>
                      <m:t>≠</m:t>
                    </m:r>
                    <m:r>
                      <a:rPr lang="en-US" sz="3200" i="0" noProof="1">
                        <a:solidFill>
                          <a:srgbClr val="000000"/>
                        </a:solidFill>
                        <a:latin typeface="Times New Roman" panose="02020603050405020304"/>
                      </a:rPr>
                      <m:t>0</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𝑚</m:t>
                    </m:r>
                    <m:r>
                      <a:rPr lang="en-US" sz="3200" i="0" noProof="1">
                        <a:solidFill>
                          <a:srgbClr val="000000"/>
                        </a:solidFill>
                        <a:latin typeface="Times New Roman" panose="02020603050405020304"/>
                      </a:rPr>
                      <m:t>𝑜𝑑</m:t>
                    </m:r>
                    <m:r>
                      <a:rPr lang="en-US" sz="3200" i="0" noProof="1">
                        <a:solidFill>
                          <a:srgbClr val="000000"/>
                        </a:solidFill>
                        <a:latin typeface="Times New Roman" panose="02020603050405020304"/>
                      </a:rPr>
                      <m:t> </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，即</a:t>
                </a:r>
                <a14:m>
                  <m:oMath xmlns:m="http://schemas.openxmlformats.org/officeDocument/2006/math">
                    <m:r>
                      <a:rPr lang="en-US" sz="3200" i="1" noProof="1">
                        <a:solidFill>
                          <a:srgbClr val="000000"/>
                        </a:solidFill>
                        <a:latin typeface="Times New Roman" panose="02020603050405020304"/>
                      </a:rPr>
                      <m:t>𝐸</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𝑂</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𝑦</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𝑦</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𝑍</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𝑍</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 </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𝑦</m:t>
                        </m:r>
                      </m:e>
                      <m:sup>
                        <m:r>
                          <a:rPr lang="en-US" sz="3200" i="0" noProof="1">
                            <a:solidFill>
                              <a:srgbClr val="000000"/>
                            </a:solidFill>
                            <a:latin typeface="Times New Roman" panose="02020603050405020304"/>
                          </a:rPr>
                          <m:t>2</m:t>
                        </m:r>
                      </m:sup>
                    </m:sSup>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𝑥</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𝑎𝑥</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𝑚</m:t>
                    </m:r>
                    <m:r>
                      <a:rPr lang="en-US" sz="3200" i="0" noProof="1">
                        <a:solidFill>
                          <a:srgbClr val="000000"/>
                        </a:solidFill>
                        <a:latin typeface="Times New Roman" panose="02020603050405020304"/>
                      </a:rPr>
                      <m:t>𝑜𝑑</m:t>
                    </m:r>
                    <m:r>
                      <a:rPr lang="en-US" sz="3200" i="0" noProof="1">
                        <a:solidFill>
                          <a:srgbClr val="000000"/>
                        </a:solidFill>
                        <a:latin typeface="Times New Roman" panose="02020603050405020304"/>
                      </a:rPr>
                      <m:t> </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p:txBody>
          </p:sp>
        </mc:Choice>
        <mc:Fallback>
          <p:sp>
            <p:nvSpPr>
              <p:cNvPr id="6" name="body-81b2"/>
              <p:cNvSpPr txBox="1">
                <a:spLocks noRot="1" noChangeAspect="1" noMove="1" noResize="1" noEditPoints="1" noAdjustHandles="1" noChangeArrowheads="1" noChangeShapeType="1" noTextEdit="1"/>
              </p:cNvSpPr>
              <p:nvPr/>
            </p:nvSpPr>
            <p:spPr>
              <a:xfrm>
                <a:off x="1734820" y="7556500"/>
                <a:ext cx="14818360" cy="2590800"/>
              </a:xfrm>
              <a:prstGeom prst="rect">
                <a:avLst/>
              </a:prstGeom>
              <a:blipFill rotWithShape="1">
                <a:blip r:embed="rId2"/>
                <a:stretch>
                  <a:fillRect/>
                </a:stretch>
              </a:blipFill>
              <a:ln>
                <a:noFill/>
              </a:ln>
            </p:spPr>
            <p:txBody>
              <a:bodyPr/>
              <a:lstStyle/>
              <a:p>
                <a:r>
                  <a:rPr lang="zh-CN" altLang="en-US">
                    <a:noFill/>
                  </a:rPr>
                  <a:t> </a:t>
                </a:r>
              </a:p>
            </p:txBody>
          </p:sp>
        </mc:Fallback>
      </mc:AlternateContent>
      <p:sp>
        <p:nvSpPr>
          <p:cNvPr id="7" name="pagenum-81b"/>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7</a:t>
            </a:r>
            <a:endParaRPr lang="en-US" sz="1400" noProof="1"/>
          </a:p>
        </p:txBody>
      </p:sp>
      <p:sp>
        <p:nvSpPr>
          <p:cNvPr id="13" name="bookhead-81a"/>
          <p:cNvSpPr txBox="1"/>
          <p:nvPr>
            <p:custDataLst>
              <p:tags r:id="rId3"/>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4" name="bookline-81a"/>
          <p:cNvPicPr/>
          <p:nvPr>
            <p:custDataLst>
              <p:tags r:id="rId4"/>
            </p:custDataLst>
          </p:nvPr>
        </p:nvPicPr>
        <p:blipFill>
          <a:blip r:embed="rId5"/>
          <a:stretch>
            <a:fillRect/>
          </a:stretch>
        </p:blipFill>
        <p:spPr>
          <a:xfrm>
            <a:off x="13731240" y="1102360"/>
            <a:ext cx="2771140" cy="46990"/>
          </a:xfrm>
          <a:prstGeom prst="rect">
            <a:avLst/>
          </a:prstGeom>
          <a:ln>
            <a:noFill/>
          </a:ln>
        </p:spPr>
      </p:pic>
      <p:sp>
        <p:nvSpPr>
          <p:cNvPr id="15" name="gradbar-81b"/>
          <p:cNvSpPr/>
          <p:nvPr>
            <p:custDataLst>
              <p:tags r:id="rId6"/>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6" name="secnum-81b"/>
          <p:cNvSpPr txBox="1"/>
          <p:nvPr>
            <p:custDataLst>
              <p:tags r:id="rId7"/>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7" name="sectitle-81b"/>
          <p:cNvSpPr txBox="1"/>
          <p:nvPr>
            <p:custDataLst>
              <p:tags r:id="rId8"/>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有限域</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上的椭圆曲线</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8" name="logo-81b"/>
          <p:cNvPicPr/>
          <p:nvPr>
            <p:custDataLst>
              <p:tags r:id="rId9"/>
            </p:custDataLst>
          </p:nvPr>
        </p:nvPicPr>
        <p:blipFill>
          <a:blip r:embed="rId10">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c"/>
              <p:cNvSpPr txBox="1"/>
              <p:nvPr/>
            </p:nvSpPr>
            <p:spPr>
              <a:xfrm>
                <a:off x="1724660" y="2095500"/>
                <a:ext cx="14818360" cy="6858000"/>
              </a:xfrm>
              <a:prstGeom prst="rect">
                <a:avLst/>
              </a:prstGeom>
              <a:noFill/>
              <a:ln>
                <a:noFill/>
              </a:ln>
            </p:spPr>
            <p:txBody>
              <a:bodyPr wrap="square" lIns="0" tIns="0" rIns="0" bIns="0" rtlCol="0" anchor="t"/>
              <a:lstStyle/>
              <a:p>
                <a:pPr indent="0" algn="just" fontAlgn="auto">
                  <a:lnSpc>
                    <a:spcPct val="120000"/>
                  </a:lnSpc>
                </a:pPr>
                <a:r>
                  <a:rPr lang="en-US" sz="3200" noProof="1">
                    <a:solidFill>
                      <a:srgbClr val="000000"/>
                    </a:solidFill>
                    <a:latin typeface="Times New Roman" panose="02020603050405020304"/>
                    <a:ea typeface="宋体" panose="02010600030101010101" pitchFamily="2" charset="-122"/>
                  </a:rPr>
                  <a:t>椭圆曲线点集产生方法如下</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（1）对每个</a:t>
                </a:r>
                <a14:m>
                  <m:oMath xmlns:m="http://schemas.openxmlformats.org/officeDocument/2006/math">
                    <m:r>
                      <a:rPr lang="en-US" sz="3200" i="1" noProof="1">
                        <a:solidFill>
                          <a:srgbClr val="000000"/>
                        </a:solidFill>
                        <a:latin typeface="Times New Roman" panose="02020603050405020304"/>
                      </a:rPr>
                      <m:t>𝑋</m:t>
                    </m:r>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200" i="0" noProof="1">
                        <a:solidFill>
                          <a:srgbClr val="000000"/>
                        </a:solidFill>
                        <a:latin typeface="Times New Roman" panose="02020603050405020304"/>
                      </a:rPr>
                      <m:t>0</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&lt;</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oMath>
                </a14:m>
                <a:r>
                  <a:rPr lang="en-US" sz="3200" noProof="1">
                    <a:solidFill>
                      <a:srgbClr val="000000"/>
                    </a:solidFill>
                    <a:latin typeface="Times New Roman" panose="02020603050405020304"/>
                    <a:ea typeface="宋体" panose="02010600030101010101" pitchFamily="2" charset="-122"/>
                  </a:rPr>
                  <a:t>，且</a:t>
                </a:r>
                <a14:m>
                  <m:oMath xmlns:m="http://schemas.openxmlformats.org/officeDocument/2006/math">
                    <m:r>
                      <a:rPr lang="en-US" sz="3200" i="1" noProof="1">
                        <a:solidFill>
                          <a:srgbClr val="000000"/>
                        </a:solidFill>
                        <a:latin typeface="Times New Roman" panose="02020603050405020304"/>
                      </a:rPr>
                      <m:t>𝑋</m:t>
                    </m:r>
                  </m:oMath>
                </a14:m>
                <a:r>
                  <a:rPr lang="en-US" sz="3200" noProof="1">
                    <a:solidFill>
                      <a:srgbClr val="000000"/>
                    </a:solidFill>
                    <a:latin typeface="Times New Roman" panose="02020603050405020304"/>
                    <a:ea typeface="宋体" panose="02010600030101010101" pitchFamily="2" charset="-122"/>
                  </a:rPr>
                  <a:t>为整数，计算</a:t>
                </a:r>
                <a14:m>
                  <m:oMath xmlns:m="http://schemas.openxmlformats.org/officeDocument/2006/math">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𝑥</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𝑎𝑥</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𝑚</m:t>
                    </m:r>
                    <m:r>
                      <a:rPr lang="en-US" sz="3200" i="0" noProof="1">
                        <a:solidFill>
                          <a:srgbClr val="000000"/>
                        </a:solidFill>
                        <a:latin typeface="Times New Roman" panose="02020603050405020304"/>
                      </a:rPr>
                      <m:t>𝑜𝑑</m:t>
                    </m:r>
                    <m:r>
                      <a:rPr lang="en-US" sz="3200" i="0" noProof="1">
                        <a:solidFill>
                          <a:srgbClr val="000000"/>
                        </a:solidFill>
                        <a:latin typeface="Times New Roman" panose="02020603050405020304"/>
                      </a:rPr>
                      <m:t> </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（2）判定求出的值在模</a:t>
                </a:r>
                <a14:m>
                  <m:oMath xmlns:m="http://schemas.openxmlformats.org/officeDocument/2006/math">
                    <m:r>
                      <a:rPr lang="en-US" sz="3200" i="1" noProof="1">
                        <a:solidFill>
                          <a:srgbClr val="000000"/>
                        </a:solidFill>
                        <a:latin typeface="Times New Roman" panose="02020603050405020304"/>
                      </a:rPr>
                      <m:t>𝑝</m:t>
                    </m:r>
                  </m:oMath>
                </a14:m>
                <a:r>
                  <a:rPr lang="en-US" sz="3200" noProof="1">
                    <a:solidFill>
                      <a:srgbClr val="000000"/>
                    </a:solidFill>
                    <a:latin typeface="Times New Roman" panose="02020603050405020304"/>
                    <a:ea typeface="宋体" panose="02010600030101010101" pitchFamily="2" charset="-122"/>
                  </a:rPr>
                  <a:t>下是否有平方根，如果有，那么求出两个平方根；如果没有，那么椭圆曲线上没有与</a:t>
                </a:r>
                <a14:m>
                  <m:oMath xmlns:m="http://schemas.openxmlformats.org/officeDocument/2006/math">
                    <m:r>
                      <a:rPr lang="en-US" sz="3200" i="1" noProof="1">
                        <a:solidFill>
                          <a:srgbClr val="000000"/>
                        </a:solidFill>
                        <a:latin typeface="Times New Roman" panose="02020603050405020304"/>
                      </a:rPr>
                      <m:t>𝑋</m:t>
                    </m:r>
                  </m:oMath>
                </a14:m>
                <a:r>
                  <a:rPr lang="en-US" sz="3200" noProof="1">
                    <a:solidFill>
                      <a:srgbClr val="000000"/>
                    </a:solidFill>
                    <a:latin typeface="Times New Roman" panose="02020603050405020304"/>
                    <a:ea typeface="宋体" panose="02010600030101010101" pitchFamily="2" charset="-122"/>
                  </a:rPr>
                  <a:t>对应的点。</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    采用欧拉准则判别平方剩余：若</a:t>
                </a:r>
                <a14:m>
                  <m:oMath xmlns:m="http://schemas.openxmlformats.org/officeDocument/2006/math">
                    <m:r>
                      <a:rPr lang="en-US" sz="3200" i="1" noProof="1">
                        <a:solidFill>
                          <a:srgbClr val="000000"/>
                        </a:solidFill>
                        <a:latin typeface="Times New Roman" panose="02020603050405020304"/>
                      </a:rPr>
                      <m:t>𝑝</m:t>
                    </m:r>
                  </m:oMath>
                </a14:m>
                <a:r>
                  <a:rPr lang="en-US" sz="3200" noProof="1">
                    <a:solidFill>
                      <a:srgbClr val="000000"/>
                    </a:solidFill>
                    <a:latin typeface="Times New Roman" panose="02020603050405020304"/>
                    <a:ea typeface="宋体" panose="02010600030101010101" pitchFamily="2" charset="-122"/>
                  </a:rPr>
                  <a:t>是一个奇数，则</a:t>
                </a:r>
                <a14:m>
                  <m:oMath xmlns:m="http://schemas.openxmlformats.org/officeDocument/2006/math">
                    <m:r>
                      <a:rPr lang="en-US" sz="3200" i="1" noProof="1">
                        <a:solidFill>
                          <a:srgbClr val="000000"/>
                        </a:solidFill>
                        <a:latin typeface="Times New Roman" panose="02020603050405020304"/>
                      </a:rPr>
                      <m:t>𝑍</m:t>
                    </m:r>
                  </m:oMath>
                </a14:m>
                <a:r>
                  <a:rPr lang="en-US" sz="3200" noProof="1">
                    <a:solidFill>
                      <a:srgbClr val="000000"/>
                    </a:solidFill>
                    <a:latin typeface="Times New Roman" panose="02020603050405020304"/>
                    <a:ea typeface="宋体" panose="02010600030101010101" pitchFamily="2" charset="-122"/>
                  </a:rPr>
                  <a:t>是模</a:t>
                </a:r>
                <a14:m>
                  <m:oMath xmlns:m="http://schemas.openxmlformats.org/officeDocument/2006/math">
                    <m:r>
                      <a:rPr lang="en-US" sz="3200" i="1" noProof="1">
                        <a:solidFill>
                          <a:srgbClr val="000000"/>
                        </a:solidFill>
                        <a:latin typeface="Times New Roman" panose="02020603050405020304"/>
                      </a:rPr>
                      <m:t>𝑝</m:t>
                    </m:r>
                  </m:oMath>
                </a14:m>
                <a:r>
                  <a:rPr lang="en-US" sz="3200" noProof="1">
                    <a:solidFill>
                      <a:srgbClr val="000000"/>
                    </a:solidFill>
                    <a:latin typeface="Times New Roman" panose="02020603050405020304"/>
                    <a:ea typeface="宋体" panose="02010600030101010101" pitchFamily="2" charset="-122"/>
                  </a:rPr>
                  <a:t>的平方剩余的充要条件是</a:t>
                </a:r>
                <a14:m>
                  <m:oMath xmlns:m="http://schemas.openxmlformats.org/officeDocument/2006/math">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𝑧</m:t>
                        </m:r>
                      </m:e>
                      <m:sup>
                        <m:f>
                          <m:fPr>
                            <m:ctrlPr>
                              <a:rPr sz="3200"/>
                            </m:ctrlPr>
                          </m:fPr>
                          <m:num>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num>
                          <m:den>
                            <m:r>
                              <a:rPr lang="en-US" sz="3200" i="0" noProof="1">
                                <a:solidFill>
                                  <a:srgbClr val="000000"/>
                                </a:solidFill>
                                <a:latin typeface="Times New Roman" panose="02020603050405020304"/>
                              </a:rPr>
                              <m:t>2</m:t>
                            </m:r>
                          </m:den>
                        </m:f>
                      </m:sup>
                    </m:sSup>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𝑚</m:t>
                    </m:r>
                    <m:r>
                      <a:rPr lang="en-US" sz="3200" i="0" noProof="1">
                        <a:solidFill>
                          <a:srgbClr val="000000"/>
                        </a:solidFill>
                        <a:latin typeface="Times New Roman" panose="02020603050405020304"/>
                      </a:rPr>
                      <m:t>𝑜𝑑</m:t>
                    </m:r>
                    <m:r>
                      <a:rPr lang="en-US" sz="3200" i="0" noProof="1">
                        <a:solidFill>
                          <a:srgbClr val="000000"/>
                        </a:solidFill>
                        <a:latin typeface="Times New Roman" panose="02020603050405020304"/>
                      </a:rPr>
                      <m:t> </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    求解</a:t>
                </a:r>
                <a14:m>
                  <m:oMath xmlns:m="http://schemas.openxmlformats.org/officeDocument/2006/math">
                    <m:r>
                      <a:rPr lang="en-US" sz="3200" i="1" noProof="1">
                        <a:solidFill>
                          <a:srgbClr val="000000"/>
                        </a:solidFill>
                        <a:latin typeface="Times New Roman" panose="02020603050405020304"/>
                      </a:rPr>
                      <m:t>𝑍</m:t>
                    </m:r>
                  </m:oMath>
                </a14:m>
                <a:r>
                  <a:rPr lang="en-US" sz="3200" noProof="1">
                    <a:solidFill>
                      <a:srgbClr val="000000"/>
                    </a:solidFill>
                    <a:latin typeface="Times New Roman" panose="02020603050405020304"/>
                    <a:ea typeface="宋体" panose="02010600030101010101" pitchFamily="2" charset="-122"/>
                  </a:rPr>
                  <a:t>的两个模</a:t>
                </a:r>
                <a14:m>
                  <m:oMath xmlns:m="http://schemas.openxmlformats.org/officeDocument/2006/math">
                    <m:r>
                      <a:rPr lang="en-US" sz="3200" i="1" noProof="1">
                        <a:solidFill>
                          <a:srgbClr val="000000"/>
                        </a:solidFill>
                        <a:latin typeface="Times New Roman" panose="02020603050405020304"/>
                      </a:rPr>
                      <m:t>𝑝</m:t>
                    </m:r>
                  </m:oMath>
                </a14:m>
                <a:r>
                  <a:rPr lang="en-US" sz="3200" noProof="1">
                    <a:solidFill>
                      <a:srgbClr val="000000"/>
                    </a:solidFill>
                    <a:latin typeface="Times New Roman" panose="02020603050405020304"/>
                    <a:ea typeface="宋体" panose="02010600030101010101" pitchFamily="2" charset="-122"/>
                  </a:rPr>
                  <a:t>的平方根：当</a:t>
                </a:r>
                <a14:m>
                  <m:oMath xmlns:m="http://schemas.openxmlformats.org/officeDocument/2006/math">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3</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𝑚</m:t>
                    </m:r>
                    <m:r>
                      <a:rPr lang="en-US" sz="3200" i="0" noProof="1">
                        <a:solidFill>
                          <a:srgbClr val="000000"/>
                        </a:solidFill>
                        <a:latin typeface="Times New Roman" panose="02020603050405020304"/>
                      </a:rPr>
                      <m:t>𝑜𝑑</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4</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时，若</a:t>
                </a:r>
                <a14:m>
                  <m:oMath xmlns:m="http://schemas.openxmlformats.org/officeDocument/2006/math">
                    <m:r>
                      <a:rPr lang="en-US" sz="3200" i="1" noProof="1">
                        <a:solidFill>
                          <a:srgbClr val="000000"/>
                        </a:solidFill>
                        <a:latin typeface="Times New Roman" panose="02020603050405020304"/>
                      </a:rPr>
                      <m:t>𝑍</m:t>
                    </m:r>
                  </m:oMath>
                </a14:m>
                <a:r>
                  <a:rPr lang="en-US" sz="3200" noProof="1">
                    <a:solidFill>
                      <a:srgbClr val="000000"/>
                    </a:solidFill>
                    <a:latin typeface="Times New Roman" panose="02020603050405020304"/>
                    <a:ea typeface="宋体" panose="02010600030101010101" pitchFamily="2" charset="-122"/>
                  </a:rPr>
                  <a:t>是模</a:t>
                </a:r>
                <a14:m>
                  <m:oMath xmlns:m="http://schemas.openxmlformats.org/officeDocument/2006/math">
                    <m:r>
                      <a:rPr lang="en-US" sz="3200" i="1" noProof="1">
                        <a:solidFill>
                          <a:srgbClr val="000000"/>
                        </a:solidFill>
                        <a:latin typeface="Times New Roman" panose="02020603050405020304"/>
                      </a:rPr>
                      <m:t>𝑝</m:t>
                    </m:r>
                  </m:oMath>
                </a14:m>
                <a:r>
                  <a:rPr lang="en-US" sz="3200" noProof="1">
                    <a:solidFill>
                      <a:srgbClr val="000000"/>
                    </a:solidFill>
                    <a:latin typeface="Times New Roman" panose="02020603050405020304"/>
                    <a:ea typeface="宋体" panose="02010600030101010101" pitchFamily="2" charset="-122"/>
                  </a:rPr>
                  <a:t>的平方剩余，则</a:t>
                </a:r>
                <a14:m>
                  <m:oMath xmlns:m="http://schemas.openxmlformats.org/officeDocument/2006/math">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𝑍</m:t>
                        </m:r>
                      </m:e>
                      <m:sup>
                        <m:f>
                          <m:fPr>
                            <m:ctrlPr>
                              <a:rPr sz="3200"/>
                            </m:ctrlPr>
                          </m:fPr>
                          <m:num>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num>
                          <m:den>
                            <m:r>
                              <a:rPr lang="en-US" sz="3200" i="0" noProof="1">
                                <a:solidFill>
                                  <a:srgbClr val="000000"/>
                                </a:solidFill>
                                <a:latin typeface="Times New Roman" panose="02020603050405020304"/>
                              </a:rPr>
                              <m:t>4</m:t>
                            </m:r>
                          </m:den>
                        </m:f>
                      </m:sup>
                    </m:sSup>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𝑚</m:t>
                    </m:r>
                    <m:r>
                      <a:rPr lang="en-US" sz="3200" i="0" noProof="1">
                        <a:solidFill>
                          <a:srgbClr val="000000"/>
                        </a:solidFill>
                        <a:latin typeface="Times New Roman" panose="02020603050405020304"/>
                      </a:rPr>
                      <m:t>𝑜𝑑</m:t>
                    </m:r>
                    <m:r>
                      <a:rPr lang="en-US" sz="3200" i="0" noProof="1">
                        <a:solidFill>
                          <a:srgbClr val="000000"/>
                        </a:solidFill>
                        <a:latin typeface="Times New Roman" panose="02020603050405020304"/>
                      </a:rPr>
                      <m:t> </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是</a:t>
                </a:r>
                <a14:m>
                  <m:oMath xmlns:m="http://schemas.openxmlformats.org/officeDocument/2006/math">
                    <m:r>
                      <a:rPr lang="en-US" sz="3200" i="1" noProof="1">
                        <a:solidFill>
                          <a:srgbClr val="000000"/>
                        </a:solidFill>
                        <a:latin typeface="Times New Roman" panose="02020603050405020304"/>
                      </a:rPr>
                      <m:t>𝑍</m:t>
                    </m:r>
                  </m:oMath>
                </a14:m>
                <a:r>
                  <a:rPr lang="en-US" sz="3200" noProof="1">
                    <a:solidFill>
                      <a:srgbClr val="000000"/>
                    </a:solidFill>
                    <a:latin typeface="Times New Roman" panose="02020603050405020304"/>
                    <a:ea typeface="宋体" panose="02010600030101010101" pitchFamily="2" charset="-122"/>
                  </a:rPr>
                  <a:t>的两个模</a:t>
                </a:r>
                <a14:m>
                  <m:oMath xmlns:m="http://schemas.openxmlformats.org/officeDocument/2006/math">
                    <m:r>
                      <a:rPr lang="en-US" sz="3200" i="1" noProof="1">
                        <a:solidFill>
                          <a:srgbClr val="000000"/>
                        </a:solidFill>
                        <a:latin typeface="Times New Roman" panose="02020603050405020304"/>
                      </a:rPr>
                      <m:t>𝑝</m:t>
                    </m:r>
                  </m:oMath>
                </a14:m>
                <a:r>
                  <a:rPr lang="en-US" sz="3200" noProof="1">
                    <a:solidFill>
                      <a:srgbClr val="000000"/>
                    </a:solidFill>
                    <a:latin typeface="Times New Roman" panose="02020603050405020304"/>
                    <a:ea typeface="宋体" panose="02010600030101010101" pitchFamily="2" charset="-122"/>
                  </a:rPr>
                  <a:t>的平方根。</a:t>
                </a:r>
                <a:endParaRPr lang="en-US" sz="3200" noProof="1"/>
              </a:p>
            </p:txBody>
          </p:sp>
        </mc:Choice>
        <mc:Fallback>
          <p:sp>
            <p:nvSpPr>
              <p:cNvPr id="3" name="body-81c"/>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81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8</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6" name="gradbar-81b"/>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num-81b"/>
          <p:cNvSpPr txBox="1"/>
          <p:nvPr>
            <p:custDataLst>
              <p:tags r:id="rId6"/>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title-81b"/>
          <p:cNvSpPr txBox="1"/>
          <p:nvPr>
            <p:custDataLst>
              <p:tags r:id="rId7"/>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有限域</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上的椭圆曲线</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81b"/>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d"/>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200" b="1" noProof="1">
                    <a:solidFill>
                      <a:srgbClr val="000000"/>
                    </a:solidFill>
                    <a:latin typeface="Times New Roman" panose="02020603050405020304"/>
                    <a:ea typeface="宋体" panose="02010600030101010101" pitchFamily="2" charset="-122"/>
                  </a:rPr>
                  <a:t>例8.1　</a:t>
                </a:r>
                <a:r>
                  <a:rPr lang="en-US" sz="3200" noProof="1">
                    <a:solidFill>
                      <a:srgbClr val="000000"/>
                    </a:solidFill>
                    <a:latin typeface="Times New Roman" panose="02020603050405020304"/>
                    <a:ea typeface="宋体" panose="02010600030101010101" pitchFamily="2" charset="-122"/>
                  </a:rPr>
                  <a:t>求解椭圆曲线</a:t>
                </a:r>
                <a14:m>
                  <m:oMath xmlns:m="http://schemas.openxmlformats.org/officeDocument/2006/math">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𝑦</m:t>
                        </m:r>
                      </m:e>
                      <m:sup>
                        <m:r>
                          <a:rPr lang="en-US" sz="3200" i="0" noProof="1">
                            <a:solidFill>
                              <a:srgbClr val="000000"/>
                            </a:solidFill>
                            <a:latin typeface="Times New Roman" panose="02020603050405020304"/>
                          </a:rPr>
                          <m:t>2</m:t>
                        </m:r>
                      </m:sup>
                    </m:sSup>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𝑥</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𝑚</m:t>
                    </m:r>
                    <m:r>
                      <a:rPr lang="en-US" sz="3200" i="0" noProof="1">
                        <a:solidFill>
                          <a:srgbClr val="000000"/>
                        </a:solidFill>
                        <a:latin typeface="Times New Roman" panose="02020603050405020304"/>
                      </a:rPr>
                      <m:t>𝑜𝑑</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11</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上的点。</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（1）当</a:t>
                </a:r>
                <a14:m>
                  <m:oMath xmlns:m="http://schemas.openxmlformats.org/officeDocument/2006/math">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0</m:t>
                    </m:r>
                  </m:oMath>
                </a14:m>
                <a:r>
                  <a:rPr lang="en-US" sz="3200" noProof="1">
                    <a:solidFill>
                      <a:srgbClr val="000000"/>
                    </a:solidFill>
                    <a:latin typeface="Times New Roman" panose="02020603050405020304"/>
                    <a:ea typeface="宋体" panose="02010600030101010101" pitchFamily="2" charset="-122"/>
                  </a:rPr>
                  <a:t>时，</a:t>
                </a:r>
                <a14:m>
                  <m:oMath xmlns:m="http://schemas.openxmlformats.org/officeDocument/2006/math">
                    <m:r>
                      <a:rPr lang="en-US" sz="3200" i="1" noProof="1">
                        <a:solidFill>
                          <a:srgbClr val="000000"/>
                        </a:solidFill>
                        <a:latin typeface="Times New Roman" panose="02020603050405020304"/>
                      </a:rPr>
                      <m:t>𝑧</m:t>
                    </m:r>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𝑥</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 </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𝑧</m:t>
                        </m:r>
                      </m:e>
                      <m:sup>
                        <m:f>
                          <m:fPr>
                            <m:ctrlPr>
                              <a:rPr sz="3200"/>
                            </m:ctrlPr>
                          </m:fPr>
                          <m:num>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num>
                          <m:den>
                            <m:r>
                              <a:rPr lang="en-US" sz="3200" i="0" noProof="1">
                                <a:solidFill>
                                  <a:srgbClr val="000000"/>
                                </a:solidFill>
                                <a:latin typeface="Times New Roman" panose="02020603050405020304"/>
                              </a:rPr>
                              <m:t>2</m:t>
                            </m:r>
                          </m:den>
                        </m:f>
                      </m:sup>
                    </m:sSup>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0" noProof="1">
                            <a:solidFill>
                              <a:srgbClr val="000000"/>
                            </a:solidFill>
                            <a:latin typeface="Times New Roman" panose="02020603050405020304"/>
                          </a:rPr>
                          <m:t>6</m:t>
                        </m:r>
                      </m:e>
                      <m:sup>
                        <m:r>
                          <a:rPr lang="en-US" sz="3200" i="0" noProof="1">
                            <a:solidFill>
                              <a:srgbClr val="000000"/>
                            </a:solidFill>
                            <a:latin typeface="Times New Roman" panose="02020603050405020304"/>
                          </a:rPr>
                          <m:t>5</m:t>
                        </m:r>
                      </m:sup>
                    </m:sSup>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3</m:t>
                    </m:r>
                  </m:oMath>
                </a14:m>
                <a:r>
                  <a:rPr lang="en-US" sz="3200" noProof="1">
                    <a:solidFill>
                      <a:srgbClr val="000000"/>
                    </a:solidFill>
                    <a:latin typeface="Times New Roman" panose="02020603050405020304"/>
                    <a:ea typeface="宋体" panose="02010600030101010101" pitchFamily="2" charset="-122"/>
                  </a:rPr>
                  <a:t>，因此不是平方剩余。</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（2）当</a:t>
                </a:r>
                <a14:m>
                  <m:oMath xmlns:m="http://schemas.openxmlformats.org/officeDocument/2006/math">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oMath>
                </a14:m>
                <a:r>
                  <a:rPr lang="en-US" sz="3200" noProof="1">
                    <a:solidFill>
                      <a:srgbClr val="000000"/>
                    </a:solidFill>
                    <a:latin typeface="Times New Roman" panose="02020603050405020304"/>
                    <a:ea typeface="宋体" panose="02010600030101010101" pitchFamily="2" charset="-122"/>
                  </a:rPr>
                  <a:t>时，</a:t>
                </a:r>
                <a14:m>
                  <m:oMath xmlns:m="http://schemas.openxmlformats.org/officeDocument/2006/math">
                    <m:r>
                      <a:rPr lang="en-US" sz="3200" i="1" noProof="1">
                        <a:solidFill>
                          <a:srgbClr val="000000"/>
                        </a:solidFill>
                        <a:latin typeface="Times New Roman" panose="02020603050405020304"/>
                      </a:rPr>
                      <m:t>𝑧</m:t>
                    </m:r>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𝑥</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8</m:t>
                    </m:r>
                    <m:r>
                      <a:rPr lang="en-US" sz="3200" i="0" noProof="1">
                        <a:solidFill>
                          <a:srgbClr val="000000"/>
                        </a:solidFill>
                        <a:latin typeface="Times New Roman" panose="02020603050405020304"/>
                      </a:rPr>
                      <m:t>, </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𝑧</m:t>
                        </m:r>
                      </m:e>
                      <m:sup>
                        <m:f>
                          <m:fPr>
                            <m:ctrlPr>
                              <a:rPr sz="3200"/>
                            </m:ctrlPr>
                          </m:fPr>
                          <m:num>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num>
                          <m:den>
                            <m:r>
                              <a:rPr lang="en-US" sz="3200" i="0" noProof="1">
                                <a:solidFill>
                                  <a:srgbClr val="000000"/>
                                </a:solidFill>
                                <a:latin typeface="Times New Roman" panose="02020603050405020304"/>
                              </a:rPr>
                              <m:t>2</m:t>
                            </m:r>
                          </m:den>
                        </m:f>
                      </m:sup>
                    </m:sSup>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0" noProof="1">
                            <a:solidFill>
                              <a:srgbClr val="000000"/>
                            </a:solidFill>
                            <a:latin typeface="Times New Roman" panose="02020603050405020304"/>
                          </a:rPr>
                          <m:t>8</m:t>
                        </m:r>
                      </m:e>
                      <m:sup>
                        <m:r>
                          <a:rPr lang="en-US" sz="3200" i="0" noProof="1">
                            <a:solidFill>
                              <a:srgbClr val="000000"/>
                            </a:solidFill>
                            <a:latin typeface="Times New Roman" panose="02020603050405020304"/>
                          </a:rPr>
                          <m:t>5</m:t>
                        </m:r>
                      </m:sup>
                    </m:sSup>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10</m:t>
                    </m:r>
                  </m:oMath>
                </a14:m>
                <a:r>
                  <a:rPr lang="en-US" sz="3200" noProof="1">
                    <a:solidFill>
                      <a:srgbClr val="000000"/>
                    </a:solidFill>
                    <a:latin typeface="Times New Roman" panose="02020603050405020304"/>
                    <a:ea typeface="宋体" panose="02010600030101010101" pitchFamily="2" charset="-122"/>
                  </a:rPr>
                  <a:t>，因此不是平方剩余。</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（3）当</a:t>
                </a:r>
                <a14:m>
                  <m:oMath xmlns:m="http://schemas.openxmlformats.org/officeDocument/2006/math">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oMath>
                </a14:m>
                <a:r>
                  <a:rPr lang="en-US" sz="3200" noProof="1">
                    <a:solidFill>
                      <a:srgbClr val="000000"/>
                    </a:solidFill>
                    <a:latin typeface="Times New Roman" panose="02020603050405020304"/>
                    <a:ea typeface="宋体" panose="02010600030101010101" pitchFamily="2" charset="-122"/>
                  </a:rPr>
                  <a:t>时，</a:t>
                </a:r>
                <a14:m>
                  <m:oMath xmlns:m="http://schemas.openxmlformats.org/officeDocument/2006/math">
                    <m:r>
                      <a:rPr lang="en-US" sz="3200" i="1" noProof="1">
                        <a:solidFill>
                          <a:srgbClr val="000000"/>
                        </a:solidFill>
                        <a:latin typeface="Times New Roman" panose="02020603050405020304"/>
                      </a:rPr>
                      <m:t>𝑧</m:t>
                    </m:r>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𝑥</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5</m:t>
                    </m:r>
                    <m:r>
                      <a:rPr lang="en-US" sz="3200" i="0" noProof="1">
                        <a:solidFill>
                          <a:srgbClr val="000000"/>
                        </a:solidFill>
                        <a:latin typeface="Times New Roman" panose="02020603050405020304"/>
                      </a:rPr>
                      <m:t>, </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𝑧</m:t>
                        </m:r>
                      </m:e>
                      <m:sup>
                        <m:f>
                          <m:fPr>
                            <m:ctrlPr>
                              <a:rPr sz="3200"/>
                            </m:ctrlPr>
                          </m:fPr>
                          <m:num>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num>
                          <m:den>
                            <m:r>
                              <a:rPr lang="en-US" sz="3200" i="0" noProof="1">
                                <a:solidFill>
                                  <a:srgbClr val="000000"/>
                                </a:solidFill>
                                <a:latin typeface="Times New Roman" panose="02020603050405020304"/>
                              </a:rPr>
                              <m:t>2</m:t>
                            </m:r>
                          </m:den>
                        </m:f>
                      </m:sup>
                    </m:sSup>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0" noProof="1">
                            <a:solidFill>
                              <a:srgbClr val="000000"/>
                            </a:solidFill>
                            <a:latin typeface="Times New Roman" panose="02020603050405020304"/>
                          </a:rPr>
                          <m:t>5</m:t>
                        </m:r>
                      </m:e>
                      <m:sup>
                        <m:r>
                          <a:rPr lang="en-US" sz="3200" i="0" noProof="1">
                            <a:solidFill>
                              <a:srgbClr val="000000"/>
                            </a:solidFill>
                            <a:latin typeface="Times New Roman" panose="02020603050405020304"/>
                          </a:rPr>
                          <m:t>5</m:t>
                        </m:r>
                      </m:sup>
                    </m:sSup>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oMath>
                </a14:m>
                <a:r>
                  <a:rPr lang="en-US" sz="3200" noProof="1">
                    <a:solidFill>
                      <a:srgbClr val="000000"/>
                    </a:solidFill>
                    <a:latin typeface="Times New Roman" panose="02020603050405020304"/>
                    <a:ea typeface="宋体" panose="02010600030101010101" pitchFamily="2" charset="-122"/>
                  </a:rPr>
                  <a:t>，因此是平方剩余。z的平方剩余（平方根）为</a:t>
                </a:r>
                <a14:m>
                  <m:oMath xmlns:m="http://schemas.openxmlformats.org/officeDocument/2006/math">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0" noProof="1">
                            <a:solidFill>
                              <a:srgbClr val="000000"/>
                            </a:solidFill>
                            <a:latin typeface="Times New Roman" panose="02020603050405020304"/>
                          </a:rPr>
                          <m:t>5</m:t>
                        </m:r>
                      </m:e>
                      <m:sup>
                        <m:f>
                          <m:fPr>
                            <m:ctrlPr>
                              <a:rPr sz="3200"/>
                            </m:ctrlPr>
                          </m:fPr>
                          <m:num>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num>
                          <m:den>
                            <m:r>
                              <a:rPr lang="en-US" sz="3200" i="0" noProof="1">
                                <a:solidFill>
                                  <a:srgbClr val="000000"/>
                                </a:solidFill>
                                <a:latin typeface="Times New Roman" panose="02020603050405020304"/>
                              </a:rPr>
                              <m:t>4</m:t>
                            </m:r>
                          </m:den>
                        </m:f>
                      </m:sup>
                    </m:sSup>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0" noProof="1">
                            <a:solidFill>
                              <a:srgbClr val="000000"/>
                            </a:solidFill>
                            <a:latin typeface="Times New Roman" panose="02020603050405020304"/>
                          </a:rPr>
                          <m:t>5</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4</m:t>
                    </m:r>
                  </m:oMath>
                </a14:m>
                <a:r>
                  <a:rPr lang="en-US" sz="3200" noProof="1">
                    <a:solidFill>
                      <a:srgbClr val="000000"/>
                    </a:solidFill>
                    <a:latin typeface="Times New Roman" panose="02020603050405020304"/>
                    <a:ea typeface="宋体" panose="02010600030101010101" pitchFamily="2" charset="-122"/>
                  </a:rPr>
                  <a:t>。因此，方程的两个根为4和7。即可得到，点（2，4）和（2，7）为椭圆曲线上的两个点。</a:t>
                </a:r>
                <a:endParaRPr lang="en-US" sz="3200" noProof="1"/>
              </a:p>
            </p:txBody>
          </p:sp>
        </mc:Choice>
        <mc:Fallback>
          <p:sp>
            <p:nvSpPr>
              <p:cNvPr id="3" name="body-81d"/>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r="-1213"/>
                </a:stretch>
              </a:blipFill>
              <a:ln>
                <a:noFill/>
              </a:ln>
            </p:spPr>
            <p:txBody>
              <a:bodyPr/>
              <a:lstStyle/>
              <a:p>
                <a:r>
                  <a:rPr lang="zh-CN" altLang="en-US">
                    <a:noFill/>
                  </a:rPr>
                  <a:t> </a:t>
                </a:r>
              </a:p>
            </p:txBody>
          </p:sp>
        </mc:Fallback>
      </mc:AlternateContent>
      <p:sp>
        <p:nvSpPr>
          <p:cNvPr id="4" name="imgcap-81d"/>
          <p:cNvSpPr txBox="1"/>
          <p:nvPr/>
        </p:nvSpPr>
        <p:spPr>
          <a:xfrm>
            <a:off x="1734820" y="670941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表8.1　椭圆曲线上的点分布</a:t>
            </a:r>
            <a:endParaRPr lang="en-US" sz="1600" noProof="1"/>
          </a:p>
        </p:txBody>
      </p:sp>
      <p:graphicFrame>
        <p:nvGraphicFramePr>
          <p:cNvPr id="5" name="table-81d"/>
          <p:cNvGraphicFramePr>
            <a:graphicFrameLocks noGrp="1"/>
          </p:cNvGraphicFramePr>
          <p:nvPr/>
        </p:nvGraphicFramePr>
        <p:xfrm>
          <a:off x="3048000" y="7112000"/>
          <a:ext cx="12192000" cy="2032000"/>
        </p:xfrm>
        <a:graphic>
          <a:graphicData uri="http://schemas.openxmlformats.org/drawingml/2006/table">
            <a:tbl>
              <a:tblPr/>
              <a:tblGrid>
                <a:gridCol w="2682240"/>
                <a:gridCol w="3657600"/>
                <a:gridCol w="3657600"/>
                <a:gridCol w="2194560"/>
              </a:tblGrid>
              <a:tr h="508000">
                <a:tc>
                  <a:txBody>
                    <a:bodyPr wrap="square" rtlCol="0"/>
                    <a:lstStyle/>
                    <a:p>
                      <a:pPr algn="ctr"/>
                      <a:r>
                        <a:rPr lang="en-US" sz="2200" b="1" noProof="1">
                          <a:solidFill>
                            <a:srgbClr val="333333"/>
                          </a:solidFill>
                          <a:latin typeface="Times New Roman" panose="02020603050405020304"/>
                          <a:ea typeface="宋体" panose="02010600030101010101" pitchFamily="2" charset="-122"/>
                        </a:rPr>
                        <a:t>x</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x³+x+6 (mod 11)</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是否为模11的平方剩余</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y</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508000">
                <a:tc>
                  <a:txBody>
                    <a:bodyPr wrap="square" rtlCol="0"/>
                    <a:lstStyle/>
                    <a:p>
                      <a:pPr algn="ctr"/>
                      <a:r>
                        <a:rPr lang="en-US" sz="2200" noProof="1">
                          <a:solidFill>
                            <a:srgbClr val="333333"/>
                          </a:solidFill>
                          <a:latin typeface="Times New Roman" panose="02020603050405020304"/>
                          <a:ea typeface="宋体" panose="02010600030101010101" pitchFamily="2" charset="-122"/>
                        </a:rPr>
                        <a:t>0</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6</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不是</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508000">
                <a:tc>
                  <a:txBody>
                    <a:bodyPr wrap="square" rtlCol="0"/>
                    <a:lstStyle/>
                    <a:p>
                      <a:pPr algn="ctr"/>
                      <a:r>
                        <a:rPr lang="en-US" sz="2200" noProof="1">
                          <a:solidFill>
                            <a:srgbClr val="333333"/>
                          </a:solidFill>
                          <a:latin typeface="Times New Roman" panose="02020603050405020304"/>
                          <a:ea typeface="宋体" panose="02010600030101010101" pitchFamily="2" charset="-122"/>
                        </a:rPr>
                        <a:t>1</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8</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不是</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508000">
                <a:tc>
                  <a:txBody>
                    <a:bodyPr wrap="square" rtlCol="0"/>
                    <a:lstStyle/>
                    <a:p>
                      <a:pPr algn="ctr"/>
                      <a:r>
                        <a:rPr lang="en-US" sz="2200" noProof="1">
                          <a:solidFill>
                            <a:srgbClr val="333333"/>
                          </a:solidFill>
                          <a:latin typeface="Times New Roman" panose="02020603050405020304"/>
                          <a:ea typeface="宋体" panose="02010600030101010101" pitchFamily="2" charset="-122"/>
                        </a:rPr>
                        <a:t>2</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5</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是</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4，7</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
        <p:nvSpPr>
          <p:cNvPr id="6" name="pagenum-81d"/>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9</a:t>
            </a:r>
            <a:endParaRPr lang="en-US" sz="1400" noProof="1"/>
          </a:p>
        </p:txBody>
      </p:sp>
      <p:sp>
        <p:nvSpPr>
          <p:cNvPr id="8"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2" name="gradbar-81b"/>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num-81b"/>
          <p:cNvSpPr txBox="1"/>
          <p:nvPr>
            <p:custDataLst>
              <p:tags r:id="rId6"/>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6" name="sectitle-81b"/>
          <p:cNvSpPr txBox="1"/>
          <p:nvPr>
            <p:custDataLst>
              <p:tags r:id="rId7"/>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有限域</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上的椭圆曲线</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7" name="logo-81b"/>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e"/>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通过计算得到</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𝑍</m:t>
                        </m:r>
                      </m:e>
                      <m:sub>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上椭圆曲线</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𝑦</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𝑥</m:t>
                        </m:r>
                      </m:e>
                      <m:sup>
                        <m:r>
                          <a:rPr lang="en-US" sz="3600" i="0" noProof="1">
                            <a:solidFill>
                              <a:srgbClr val="000000"/>
                            </a:solidFill>
                            <a:latin typeface="Times New Roman" panose="02020603050405020304"/>
                          </a:rPr>
                          <m:t>3</m:t>
                        </m:r>
                      </m:sup>
                    </m:s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6</m:t>
                    </m:r>
                  </m:oMath>
                </a14:m>
                <a:r>
                  <a:rPr lang="en-US" sz="3600" noProof="1">
                    <a:solidFill>
                      <a:srgbClr val="000000"/>
                    </a:solidFill>
                    <a:latin typeface="Times New Roman" panose="02020603050405020304"/>
                    <a:ea typeface="宋体" panose="02010600030101010101" pitchFamily="2" charset="-122"/>
                  </a:rPr>
                  <a:t>中的点，椭圆曲线上的点分布如表8.1所示。E</a:t>
                </a:r>
                <a:r>
                  <a:rPr lang="en-US" sz="3600" baseline="-25000" noProof="1">
                    <a:solidFill>
                      <a:srgbClr val="000000"/>
                    </a:solidFill>
                    <a:latin typeface="Times New Roman" panose="02020603050405020304"/>
                    <a:ea typeface="宋体" panose="02010600030101010101" pitchFamily="2" charset="-122"/>
                  </a:rPr>
                  <a:t>11</a:t>
                </a:r>
                <a:r>
                  <a:rPr lang="en-US" sz="3600" noProof="1">
                    <a:solidFill>
                      <a:srgbClr val="000000"/>
                    </a:solidFill>
                    <a:latin typeface="Times New Roman" panose="02020603050405020304"/>
                    <a:ea typeface="宋体" panose="02010600030101010101" pitchFamily="2" charset="-122"/>
                  </a:rPr>
                  <a:t>(1，6）上椭圆曲线的点分布如表8.2所示。</a:t>
                </a:r>
                <a:endParaRPr lang="en-US" sz="3600" noProof="1"/>
              </a:p>
            </p:txBody>
          </p:sp>
        </mc:Choice>
        <mc:Fallback>
          <p:sp>
            <p:nvSpPr>
              <p:cNvPr id="3" name="body-81e"/>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imgcap-81e0"/>
          <p:cNvSpPr txBox="1"/>
          <p:nvPr/>
        </p:nvSpPr>
        <p:spPr>
          <a:xfrm>
            <a:off x="1734820" y="34290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续表</a:t>
            </a:r>
            <a:endParaRPr lang="en-US" sz="1600" noProof="1"/>
          </a:p>
        </p:txBody>
      </p:sp>
      <p:graphicFrame>
        <p:nvGraphicFramePr>
          <p:cNvPr id="5" name="table-81e0"/>
          <p:cNvGraphicFramePr>
            <a:graphicFrameLocks noGrp="1"/>
          </p:cNvGraphicFramePr>
          <p:nvPr/>
        </p:nvGraphicFramePr>
        <p:xfrm>
          <a:off x="3048000" y="3746500"/>
          <a:ext cx="12192000" cy="4064000"/>
        </p:xfrm>
        <a:graphic>
          <a:graphicData uri="http://schemas.openxmlformats.org/drawingml/2006/table">
            <a:tbl>
              <a:tblPr/>
              <a:tblGrid>
                <a:gridCol w="2682240"/>
                <a:gridCol w="3657600"/>
                <a:gridCol w="3657600"/>
                <a:gridCol w="2194560"/>
              </a:tblGrid>
              <a:tr h="451104">
                <a:tc>
                  <a:txBody>
                    <a:bodyPr wrap="square" rtlCol="0"/>
                    <a:lstStyle/>
                    <a:p>
                      <a:pPr algn="ctr"/>
                      <a:r>
                        <a:rPr lang="en-US" sz="2200" b="1" noProof="1">
                          <a:solidFill>
                            <a:srgbClr val="333333"/>
                          </a:solidFill>
                          <a:latin typeface="Times New Roman" panose="02020603050405020304"/>
                          <a:ea typeface="宋体" panose="02010600030101010101" pitchFamily="2" charset="-122"/>
                        </a:rPr>
                        <a:t>x</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x³+x+6 (mod 11)</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是否为模11的平方剩余</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y</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451104">
                <a:tc>
                  <a:txBody>
                    <a:bodyPr wrap="square" rtlCol="0"/>
                    <a:lstStyle/>
                    <a:p>
                      <a:pPr algn="ctr"/>
                      <a:r>
                        <a:rPr lang="en-US" sz="2200" noProof="1">
                          <a:solidFill>
                            <a:srgbClr val="333333"/>
                          </a:solidFill>
                          <a:latin typeface="Times New Roman" panose="02020603050405020304"/>
                          <a:ea typeface="宋体" panose="02010600030101010101" pitchFamily="2" charset="-122"/>
                        </a:rPr>
                        <a:t>3</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3</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是</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5，6</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451104">
                <a:tc>
                  <a:txBody>
                    <a:bodyPr wrap="square" rtlCol="0"/>
                    <a:lstStyle/>
                    <a:p>
                      <a:pPr algn="ctr"/>
                      <a:r>
                        <a:rPr lang="en-US" sz="2200" noProof="1">
                          <a:solidFill>
                            <a:srgbClr val="333333"/>
                          </a:solidFill>
                          <a:latin typeface="Times New Roman" panose="02020603050405020304"/>
                          <a:ea typeface="宋体" panose="02010600030101010101" pitchFamily="2" charset="-122"/>
                        </a:rPr>
                        <a:t>4</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8</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不是</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451104">
                <a:tc>
                  <a:txBody>
                    <a:bodyPr wrap="square" rtlCol="0"/>
                    <a:lstStyle/>
                    <a:p>
                      <a:pPr algn="ctr"/>
                      <a:r>
                        <a:rPr lang="en-US" sz="2200" noProof="1">
                          <a:solidFill>
                            <a:srgbClr val="333333"/>
                          </a:solidFill>
                          <a:latin typeface="Times New Roman" panose="02020603050405020304"/>
                          <a:ea typeface="宋体" panose="02010600030101010101" pitchFamily="2" charset="-122"/>
                        </a:rPr>
                        <a:t>5</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4</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是</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2，9</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451104">
                <a:tc>
                  <a:txBody>
                    <a:bodyPr wrap="square" rtlCol="0"/>
                    <a:lstStyle/>
                    <a:p>
                      <a:pPr algn="ctr"/>
                      <a:r>
                        <a:rPr lang="en-US" sz="2200" noProof="1">
                          <a:solidFill>
                            <a:srgbClr val="333333"/>
                          </a:solidFill>
                          <a:latin typeface="Times New Roman" panose="02020603050405020304"/>
                          <a:ea typeface="宋体" panose="02010600030101010101" pitchFamily="2" charset="-122"/>
                        </a:rPr>
                        <a:t>6</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8</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不是</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451104">
                <a:tc>
                  <a:txBody>
                    <a:bodyPr wrap="square" rtlCol="0"/>
                    <a:lstStyle/>
                    <a:p>
                      <a:pPr algn="ctr"/>
                      <a:r>
                        <a:rPr lang="en-US" sz="2200" noProof="1">
                          <a:solidFill>
                            <a:srgbClr val="333333"/>
                          </a:solidFill>
                          <a:latin typeface="Times New Roman" panose="02020603050405020304"/>
                          <a:ea typeface="宋体" panose="02010600030101010101" pitchFamily="2" charset="-122"/>
                        </a:rPr>
                        <a:t>7</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4</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是</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2，9</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451104">
                <a:tc>
                  <a:txBody>
                    <a:bodyPr wrap="square" rtlCol="0"/>
                    <a:lstStyle/>
                    <a:p>
                      <a:pPr algn="ctr"/>
                      <a:r>
                        <a:rPr lang="en-US" sz="2200" noProof="1">
                          <a:solidFill>
                            <a:srgbClr val="333333"/>
                          </a:solidFill>
                          <a:latin typeface="Times New Roman" panose="02020603050405020304"/>
                          <a:ea typeface="宋体" panose="02010600030101010101" pitchFamily="2" charset="-122"/>
                        </a:rPr>
                        <a:t>8</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9</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是</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3，8</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451104">
                <a:tc>
                  <a:txBody>
                    <a:bodyPr wrap="square" rtlCol="0"/>
                    <a:lstStyle/>
                    <a:p>
                      <a:pPr algn="ctr"/>
                      <a:r>
                        <a:rPr lang="en-US" sz="2200" noProof="1">
                          <a:solidFill>
                            <a:srgbClr val="333333"/>
                          </a:solidFill>
                          <a:latin typeface="Times New Roman" panose="02020603050405020304"/>
                          <a:ea typeface="宋体" panose="02010600030101010101" pitchFamily="2" charset="-122"/>
                        </a:rPr>
                        <a:t>9</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7</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不是</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455168">
                <a:tc>
                  <a:txBody>
                    <a:bodyPr wrap="square" rtlCol="0"/>
                    <a:lstStyle/>
                    <a:p>
                      <a:pPr algn="ctr"/>
                      <a:r>
                        <a:rPr lang="en-US" sz="2200" noProof="1">
                          <a:solidFill>
                            <a:srgbClr val="333333"/>
                          </a:solidFill>
                          <a:latin typeface="Times New Roman" panose="02020603050405020304"/>
                          <a:ea typeface="宋体" panose="02010600030101010101" pitchFamily="2" charset="-122"/>
                        </a:rPr>
                        <a:t>10</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4</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是</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2，9</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
        <p:nvSpPr>
          <p:cNvPr id="6" name="imgcap-81e1"/>
          <p:cNvSpPr txBox="1"/>
          <p:nvPr/>
        </p:nvSpPr>
        <p:spPr>
          <a:xfrm>
            <a:off x="1734820" y="80010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表8.2　E</a:t>
            </a:r>
            <a:r>
              <a:rPr lang="en-US" sz="1600" baseline="-25000" noProof="1">
                <a:solidFill>
                  <a:srgbClr val="000000"/>
                </a:solidFill>
                <a:latin typeface="Times New Roman" panose="02020603050405020304"/>
                <a:ea typeface="Times New Roman" panose="02020603050405020304"/>
              </a:rPr>
              <a:t>11</a:t>
            </a:r>
            <a:r>
              <a:rPr lang="en-US" sz="1600" noProof="1">
                <a:solidFill>
                  <a:srgbClr val="000000"/>
                </a:solidFill>
                <a:latin typeface="Times New Roman" panose="02020603050405020304"/>
                <a:ea typeface="Times New Roman" panose="02020603050405020304"/>
              </a:rPr>
              <a:t>(1，6）上椭圆曲线的点分布</a:t>
            </a:r>
            <a:endParaRPr lang="en-US" sz="1600" noProof="1"/>
          </a:p>
        </p:txBody>
      </p:sp>
      <p:graphicFrame>
        <p:nvGraphicFramePr>
          <p:cNvPr id="7" name="table-81e1"/>
          <p:cNvGraphicFramePr>
            <a:graphicFrameLocks noGrp="1"/>
          </p:cNvGraphicFramePr>
          <p:nvPr/>
        </p:nvGraphicFramePr>
        <p:xfrm>
          <a:off x="1905000" y="8382000"/>
          <a:ext cx="14506956" cy="1397000"/>
        </p:xfrm>
        <a:graphic>
          <a:graphicData uri="http://schemas.openxmlformats.org/drawingml/2006/table">
            <a:tbl>
              <a:tblPr/>
              <a:tblGrid>
                <a:gridCol w="2417826"/>
                <a:gridCol w="2417826"/>
                <a:gridCol w="2417826"/>
                <a:gridCol w="2417826"/>
                <a:gridCol w="2417826"/>
                <a:gridCol w="2417826"/>
              </a:tblGrid>
              <a:tr h="698500">
                <a:tc>
                  <a:txBody>
                    <a:bodyPr wrap="square" rtlCol="0"/>
                    <a:lstStyle/>
                    <a:p>
                      <a:pPr algn="ctr"/>
                      <a:r>
                        <a:rPr lang="en-US" sz="2200" b="1" noProof="1">
                          <a:solidFill>
                            <a:srgbClr val="333333"/>
                          </a:solidFill>
                          <a:latin typeface="Times New Roman" panose="02020603050405020304"/>
                          <a:ea typeface="宋体" panose="02010600030101010101" pitchFamily="2" charset="-122"/>
                        </a:rPr>
                        <a:t>（2，4）</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（3，5）</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（5，2）</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（7，2）</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（8，3）</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（10，2）</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698500">
                <a:tc>
                  <a:txBody>
                    <a:bodyPr wrap="square" rtlCol="0"/>
                    <a:lstStyle/>
                    <a:p>
                      <a:pPr algn="ctr"/>
                      <a:r>
                        <a:rPr lang="en-US" sz="2200" noProof="1">
                          <a:solidFill>
                            <a:srgbClr val="333333"/>
                          </a:solidFill>
                          <a:latin typeface="Times New Roman" panose="02020603050405020304"/>
                          <a:ea typeface="宋体" panose="02010600030101010101" pitchFamily="2" charset="-122"/>
                        </a:rPr>
                        <a:t>（2，7）</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（3，6）</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（5，9）</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（7，9）</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（8，8）</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（10，9）</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
        <p:nvSpPr>
          <p:cNvPr id="8" name="pagenum-81e"/>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10</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10" name="gradbar-81b"/>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1" name="secnum-81b"/>
          <p:cNvSpPr txBox="1"/>
          <p:nvPr>
            <p:custDataLst>
              <p:tags r:id="rId6"/>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title-81b"/>
          <p:cNvSpPr txBox="1"/>
          <p:nvPr>
            <p:custDataLst>
              <p:tags r:id="rId7"/>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有限域</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上的椭圆曲线</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1b"/>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81f1"/>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通过计算还可以得到E</a:t>
            </a:r>
            <a:r>
              <a:rPr lang="en-US" sz="3200" baseline="-25000" noProof="1">
                <a:solidFill>
                  <a:srgbClr val="000000"/>
                </a:solidFill>
                <a:latin typeface="Times New Roman" panose="02020603050405020304"/>
                <a:ea typeface="宋体" panose="02010600030101010101" pitchFamily="2" charset="-122"/>
              </a:rPr>
              <a:t>23</a:t>
            </a:r>
            <a:r>
              <a:rPr lang="en-US" sz="3200" noProof="1">
                <a:solidFill>
                  <a:srgbClr val="000000"/>
                </a:solidFill>
                <a:latin typeface="Times New Roman" panose="02020603050405020304"/>
                <a:ea typeface="宋体" panose="02010600030101010101" pitchFamily="2" charset="-122"/>
              </a:rPr>
              <a:t>(1，1）椭圆曲线点集，如表8.3所示</a:t>
            </a:r>
            <a:r>
              <a:rPr lang="zh-CN" altLang="en-US" sz="3200" noProof="1">
                <a:solidFill>
                  <a:srgbClr val="000000"/>
                </a:solidFill>
                <a:latin typeface="Times New Roman" panose="02020603050405020304"/>
                <a:ea typeface="宋体" panose="02010600030101010101" pitchFamily="2" charset="-122"/>
              </a:rPr>
              <a:t>。</a:t>
            </a:r>
            <a:endParaRPr lang="zh-CN" altLang="en-US" sz="3200" noProof="1">
              <a:solidFill>
                <a:srgbClr val="000000"/>
              </a:solidFill>
              <a:latin typeface="Times New Roman" panose="02020603050405020304"/>
              <a:ea typeface="宋体" panose="02010600030101010101" pitchFamily="2" charset="-122"/>
            </a:endParaRPr>
          </a:p>
        </p:txBody>
      </p:sp>
      <p:sp>
        <p:nvSpPr>
          <p:cNvPr id="4" name="imgcap-81f0"/>
          <p:cNvSpPr txBox="1"/>
          <p:nvPr/>
        </p:nvSpPr>
        <p:spPr>
          <a:xfrm>
            <a:off x="1684020" y="3842385"/>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表8.3　E</a:t>
            </a:r>
            <a:r>
              <a:rPr lang="en-US" sz="1600" baseline="-25000" noProof="1">
                <a:solidFill>
                  <a:srgbClr val="000000"/>
                </a:solidFill>
                <a:latin typeface="Times New Roman" panose="02020603050405020304"/>
                <a:ea typeface="Times New Roman" panose="02020603050405020304"/>
              </a:rPr>
              <a:t>23</a:t>
            </a:r>
            <a:r>
              <a:rPr lang="en-US" sz="1600" noProof="1">
                <a:solidFill>
                  <a:srgbClr val="000000"/>
                </a:solidFill>
                <a:latin typeface="Times New Roman" panose="02020603050405020304"/>
                <a:ea typeface="Times New Roman" panose="02020603050405020304"/>
              </a:rPr>
              <a:t>(1，1）椭圆曲线点集</a:t>
            </a:r>
            <a:endParaRPr lang="en-US" sz="1600" noProof="1"/>
          </a:p>
        </p:txBody>
      </p:sp>
      <p:graphicFrame>
        <p:nvGraphicFramePr>
          <p:cNvPr id="5" name="table-81f0"/>
          <p:cNvGraphicFramePr>
            <a:graphicFrameLocks noGrp="1"/>
          </p:cNvGraphicFramePr>
          <p:nvPr/>
        </p:nvGraphicFramePr>
        <p:xfrm>
          <a:off x="1724660" y="4484370"/>
          <a:ext cx="14478000" cy="2286000"/>
        </p:xfrm>
        <a:graphic>
          <a:graphicData uri="http://schemas.openxmlformats.org/drawingml/2006/table">
            <a:tbl>
              <a:tblPr/>
              <a:tblGrid>
                <a:gridCol w="1607058"/>
                <a:gridCol w="1607058"/>
                <a:gridCol w="1607058"/>
                <a:gridCol w="1607058"/>
                <a:gridCol w="1607058"/>
                <a:gridCol w="1607058"/>
                <a:gridCol w="1607058"/>
                <a:gridCol w="1607058"/>
                <a:gridCol w="1607058"/>
              </a:tblGrid>
              <a:tr h="761238">
                <a:tc>
                  <a:txBody>
                    <a:bodyPr wrap="square" rtlCol="0"/>
                    <a:lstStyle/>
                    <a:p>
                      <a:pPr algn="ctr"/>
                      <a:r>
                        <a:rPr lang="en-US" sz="2000" b="1" noProof="1">
                          <a:solidFill>
                            <a:srgbClr val="333333"/>
                          </a:solidFill>
                          <a:latin typeface="Times New Roman" panose="02020603050405020304"/>
                          <a:ea typeface="宋体" panose="02010600030101010101" pitchFamily="2" charset="-122"/>
                        </a:rPr>
                        <a:t>(0，1)</a:t>
                      </a:r>
                      <a:endParaRPr lang="en-US" sz="20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b="1" noProof="1">
                          <a:solidFill>
                            <a:srgbClr val="333333"/>
                          </a:solidFill>
                          <a:latin typeface="Times New Roman" panose="02020603050405020304"/>
                          <a:ea typeface="宋体" panose="02010600030101010101" pitchFamily="2" charset="-122"/>
                        </a:rPr>
                        <a:t>(0，22)</a:t>
                      </a:r>
                      <a:endParaRPr lang="en-US" sz="20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b="1" noProof="1">
                          <a:solidFill>
                            <a:srgbClr val="333333"/>
                          </a:solidFill>
                          <a:latin typeface="Times New Roman" panose="02020603050405020304"/>
                          <a:ea typeface="宋体" panose="02010600030101010101" pitchFamily="2" charset="-122"/>
                        </a:rPr>
                        <a:t>(1，7)</a:t>
                      </a:r>
                      <a:endParaRPr lang="en-US" sz="20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b="1" noProof="1">
                          <a:solidFill>
                            <a:srgbClr val="333333"/>
                          </a:solidFill>
                          <a:latin typeface="Times New Roman" panose="02020603050405020304"/>
                          <a:ea typeface="宋体" panose="02010600030101010101" pitchFamily="2" charset="-122"/>
                        </a:rPr>
                        <a:t>(1，16)</a:t>
                      </a:r>
                      <a:endParaRPr lang="en-US" sz="20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b="1" noProof="1">
                          <a:solidFill>
                            <a:srgbClr val="333333"/>
                          </a:solidFill>
                          <a:latin typeface="Times New Roman" panose="02020603050405020304"/>
                          <a:ea typeface="宋体" panose="02010600030101010101" pitchFamily="2" charset="-122"/>
                        </a:rPr>
                        <a:t>(3，10)</a:t>
                      </a:r>
                      <a:endParaRPr lang="en-US" sz="20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b="1" noProof="1">
                          <a:solidFill>
                            <a:srgbClr val="333333"/>
                          </a:solidFill>
                          <a:latin typeface="Times New Roman" panose="02020603050405020304"/>
                          <a:ea typeface="宋体" panose="02010600030101010101" pitchFamily="2" charset="-122"/>
                        </a:rPr>
                        <a:t>(3，13)</a:t>
                      </a:r>
                      <a:endParaRPr lang="en-US" sz="20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b="1" noProof="1">
                          <a:solidFill>
                            <a:srgbClr val="333333"/>
                          </a:solidFill>
                          <a:latin typeface="Times New Roman" panose="02020603050405020304"/>
                          <a:ea typeface="宋体" panose="02010600030101010101" pitchFamily="2" charset="-122"/>
                        </a:rPr>
                        <a:t>(4，0)</a:t>
                      </a:r>
                      <a:endParaRPr lang="en-US" sz="20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b="1" noProof="1">
                          <a:solidFill>
                            <a:srgbClr val="333333"/>
                          </a:solidFill>
                          <a:latin typeface="Times New Roman" panose="02020603050405020304"/>
                          <a:ea typeface="宋体" panose="02010600030101010101" pitchFamily="2" charset="-122"/>
                        </a:rPr>
                        <a:t>(5，4)</a:t>
                      </a:r>
                      <a:endParaRPr lang="en-US" sz="20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b="1" noProof="1">
                          <a:solidFill>
                            <a:srgbClr val="333333"/>
                          </a:solidFill>
                          <a:latin typeface="Times New Roman" panose="02020603050405020304"/>
                          <a:ea typeface="宋体" panose="02010600030101010101" pitchFamily="2" charset="-122"/>
                        </a:rPr>
                        <a:t>(5，19)</a:t>
                      </a:r>
                      <a:endParaRPr lang="en-US" sz="20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1238">
                <a:tc>
                  <a:txBody>
                    <a:bodyPr wrap="square" rtlCol="0"/>
                    <a:lstStyle/>
                    <a:p>
                      <a:pPr algn="ctr"/>
                      <a:r>
                        <a:rPr lang="en-US" sz="2000" noProof="1">
                          <a:solidFill>
                            <a:srgbClr val="333333"/>
                          </a:solidFill>
                          <a:latin typeface="Times New Roman" panose="02020603050405020304"/>
                          <a:ea typeface="宋体" panose="02010600030101010101" pitchFamily="2" charset="-122"/>
                        </a:rPr>
                        <a:t>(6，4)</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(6，19)</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(7，11)</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(7，12)</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(9，7)</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(9，16)</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(11，3)</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(11，20)</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(12，4)</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3524">
                <a:tc>
                  <a:txBody>
                    <a:bodyPr wrap="square" rtlCol="0"/>
                    <a:lstStyle/>
                    <a:p>
                      <a:pPr algn="ctr"/>
                      <a:r>
                        <a:rPr lang="en-US" sz="2000" noProof="1">
                          <a:solidFill>
                            <a:srgbClr val="333333"/>
                          </a:solidFill>
                          <a:latin typeface="Times New Roman" panose="02020603050405020304"/>
                          <a:ea typeface="宋体" panose="02010600030101010101" pitchFamily="2" charset="-122"/>
                        </a:rPr>
                        <a:t>(12，19)</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(13，7)</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(13，16)</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(17，3)</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(17，20)</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(18，3)</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(18，20)</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(19，5)</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000" noProof="1">
                          <a:solidFill>
                            <a:srgbClr val="333333"/>
                          </a:solidFill>
                          <a:latin typeface="Times New Roman" panose="02020603050405020304"/>
                          <a:ea typeface="宋体" panose="02010600030101010101" pitchFamily="2" charset="-122"/>
                        </a:rPr>
                        <a:t>(19，18)</a:t>
                      </a:r>
                      <a:endParaRPr lang="en-US" sz="20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
        <p:nvSpPr>
          <p:cNvPr id="7" name="pagenum-81f"/>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11</a:t>
            </a:r>
            <a:endParaRPr lang="en-US" sz="1400" noProof="1"/>
          </a:p>
        </p:txBody>
      </p:sp>
      <p:sp>
        <p:nvSpPr>
          <p:cNvPr id="8" name="bookhead-8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custDataLst>
              <p:tags r:id="rId2"/>
            </p:custDataLst>
          </p:nvPr>
        </p:nvPicPr>
        <p:blipFill>
          <a:blip r:embed="rId3"/>
          <a:stretch>
            <a:fillRect/>
          </a:stretch>
        </p:blipFill>
        <p:spPr>
          <a:xfrm>
            <a:off x="13731240" y="1102360"/>
            <a:ext cx="2771140" cy="46990"/>
          </a:xfrm>
          <a:prstGeom prst="rect">
            <a:avLst/>
          </a:prstGeom>
          <a:ln>
            <a:noFill/>
          </a:ln>
        </p:spPr>
      </p:pic>
      <p:sp>
        <p:nvSpPr>
          <p:cNvPr id="10" name="gradbar-81b"/>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2" name="secnum-81b"/>
          <p:cNvSpPr txBox="1"/>
          <p:nvPr>
            <p:custDataLst>
              <p:tags r:id="rId5"/>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7" name="sectitle-81b"/>
          <p:cNvSpPr txBox="1"/>
          <p:nvPr>
            <p:custDataLst>
              <p:tags r:id="rId6"/>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有限域</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上的椭圆曲线</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8" name="logo-81b"/>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81f1"/>
          <p:cNvSpPr txBox="1"/>
          <p:nvPr/>
        </p:nvSpPr>
        <p:spPr>
          <a:xfrm>
            <a:off x="1724660" y="2095500"/>
            <a:ext cx="14818360" cy="4662805"/>
          </a:xfrm>
          <a:prstGeom prst="rect">
            <a:avLst/>
          </a:prstGeom>
          <a:noFill/>
          <a:ln>
            <a:noFill/>
          </a:ln>
        </p:spPr>
        <p:txBody>
          <a:bodyPr wrap="square" lIns="0" tIns="0" rIns="0" bIns="0" rtlCol="0" anchor="t"/>
          <a:lstStyle/>
          <a:p>
            <a:pPr algn="just">
              <a:lnSpc>
                <a:spcPct val="120000"/>
              </a:lnSpc>
            </a:pPr>
            <a:endParaRPr lang="zh-CN" altLang="en-US" sz="3200" noProof="1">
              <a:solidFill>
                <a:srgbClr val="000000"/>
              </a:solidFill>
              <a:latin typeface="Times New Roman" panose="02020603050405020304"/>
              <a:ea typeface="宋体" panose="02010600030101010101" pitchFamily="2" charset="-122"/>
            </a:endParaRPr>
          </a:p>
        </p:txBody>
      </p:sp>
      <mc:AlternateContent xmlns:mc="http://schemas.openxmlformats.org/markup-compatibility/2006">
        <mc:Choice xmlns:a14="http://schemas.microsoft.com/office/drawing/2010/main" Requires="a14">
          <p:sp>
            <p:nvSpPr>
              <p:cNvPr id="6" name="body-81f2"/>
              <p:cNvSpPr txBox="1"/>
              <p:nvPr/>
            </p:nvSpPr>
            <p:spPr>
              <a:xfrm>
                <a:off x="1593215" y="2421255"/>
                <a:ext cx="14818360" cy="3556000"/>
              </a:xfrm>
              <a:prstGeom prst="rect">
                <a:avLst/>
              </a:prstGeom>
              <a:noFill/>
              <a:ln>
                <a:noFill/>
              </a:ln>
            </p:spPr>
            <p:txBody>
              <a:bodyPr wrap="square" lIns="0" tIns="0" rIns="0" bIns="0" rtlCol="0" anchor="t"/>
              <a:lstStyle/>
              <a:p>
                <a:pPr indent="0" algn="just" fontAlgn="auto">
                  <a:lnSpc>
                    <a:spcPct val="120000"/>
                  </a:lnSpc>
                </a:pPr>
                <a:r>
                  <a:rPr lang="en-US" sz="3600" b="1" noProof="1">
                    <a:solidFill>
                      <a:srgbClr val="000000"/>
                    </a:solidFill>
                    <a:latin typeface="Times New Roman" panose="02020603050405020304"/>
                    <a:ea typeface="宋体" panose="02010600030101010101" pitchFamily="2" charset="-122"/>
                  </a:rPr>
                  <a:t>1．椭圆曲线上的运算规则</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  设椭圆曲线的无穷远点为</a:t>
                </a:r>
                <a14:m>
                  <m:oMath xmlns:m="http://schemas.openxmlformats.org/officeDocument/2006/math">
                    <m:r>
                      <a:rPr lang="en-US" sz="3600" i="1" noProof="1">
                        <a:solidFill>
                          <a:srgbClr val="000000"/>
                        </a:solidFill>
                        <a:latin typeface="Times New Roman" panose="02020603050405020304"/>
                      </a:rPr>
                      <m:t>𝑂</m:t>
                    </m:r>
                  </m:oMath>
                </a14:m>
                <a:r>
                  <a:rPr lang="en-US" sz="3600" noProof="1">
                    <a:solidFill>
                      <a:srgbClr val="000000"/>
                    </a:solidFill>
                    <a:latin typeface="Times New Roman" panose="02020603050405020304"/>
                    <a:ea typeface="宋体" panose="02010600030101010101" pitchFamily="2" charset="-122"/>
                  </a:rPr>
                  <a:t>，则椭圆曲线上的点对于如下定义的“</a:t>
                </a:r>
                <a14:m>
                  <m:oMath xmlns:m="http://schemas.openxmlformats.org/officeDocument/2006/math">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”运算构成一个群。</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a:t>
                </a:r>
                <a14:m>
                  <m:oMath xmlns:m="http://schemas.openxmlformats.org/officeDocument/2006/math">
                    <m:r>
                      <a:rPr lang="en-US" sz="3600" i="1" noProof="1">
                        <a:solidFill>
                          <a:srgbClr val="000000"/>
                        </a:solidFill>
                        <a:latin typeface="Times New Roman" panose="02020603050405020304"/>
                      </a:rPr>
                      <m:t>𝑂</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𝑂</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𝑂</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a:t>
                </a:r>
                <a14:m>
                  <m:oMath xmlns:m="http://schemas.openxmlformats.org/officeDocument/2006/math">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𝑂</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𝑃</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（3）若</a:t>
                </a:r>
                <a14:m>
                  <m:oMath xmlns:m="http://schemas.openxmlformats.org/officeDocument/2006/math">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，则</a:t>
                </a:r>
                <a14:m>
                  <m:oMath xmlns:m="http://schemas.openxmlformats.org/officeDocument/2006/math">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𝑂</m:t>
                    </m:r>
                  </m:oMath>
                </a14:m>
                <a:r>
                  <a:rPr lang="en-US" sz="3600" noProof="1">
                    <a:solidFill>
                      <a:srgbClr val="000000"/>
                    </a:solidFill>
                    <a:latin typeface="Times New Roman" panose="02020603050405020304"/>
                    <a:ea typeface="宋体" panose="02010600030101010101" pitchFamily="2" charset="-122"/>
                  </a:rPr>
                  <a:t>，即</a:t>
                </a:r>
                <a14:m>
                  <m:oMath xmlns:m="http://schemas.openxmlformats.org/officeDocument/2006/math">
                    <m:r>
                      <a:rPr lang="en-US" sz="3600" i="1" noProof="1">
                        <a:solidFill>
                          <a:srgbClr val="000000"/>
                        </a:solidFill>
                        <a:latin typeface="Times New Roman" panose="02020603050405020304"/>
                      </a:rPr>
                      <m:t>𝑃</m:t>
                    </m:r>
                  </m:oMath>
                </a14:m>
                <a:r>
                  <a:rPr lang="en-US" sz="3600" noProof="1">
                    <a:solidFill>
                      <a:srgbClr val="000000"/>
                    </a:solidFill>
                    <a:latin typeface="Times New Roman" panose="02020603050405020304"/>
                    <a:ea typeface="宋体" panose="02010600030101010101" pitchFamily="2" charset="-122"/>
                  </a:rPr>
                  <a:t>的逆</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6" name="body-81f2"/>
              <p:cNvSpPr txBox="1">
                <a:spLocks noRot="1" noChangeAspect="1" noMove="1" noResize="1" noEditPoints="1" noAdjustHandles="1" noChangeArrowheads="1" noChangeShapeType="1" noTextEdit="1"/>
              </p:cNvSpPr>
              <p:nvPr/>
            </p:nvSpPr>
            <p:spPr>
              <a:xfrm>
                <a:off x="1593215" y="2421255"/>
                <a:ext cx="14818360" cy="3556000"/>
              </a:xfrm>
              <a:prstGeom prst="rect">
                <a:avLst/>
              </a:prstGeom>
              <a:blipFill rotWithShape="1">
                <a:blip r:embed="rId1"/>
                <a:stretch>
                  <a:fillRect b="-13018"/>
                </a:stretch>
              </a:blipFill>
              <a:ln>
                <a:noFill/>
              </a:ln>
            </p:spPr>
            <p:txBody>
              <a:bodyPr/>
              <a:lstStyle/>
              <a:p>
                <a:r>
                  <a:rPr lang="zh-CN" altLang="en-US">
                    <a:noFill/>
                  </a:rPr>
                  <a:t> </a:t>
                </a:r>
              </a:p>
            </p:txBody>
          </p:sp>
        </mc:Fallback>
      </mc:AlternateContent>
      <p:sp>
        <p:nvSpPr>
          <p:cNvPr id="7" name="pagenum-81f"/>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12</a:t>
            </a:r>
            <a:endParaRPr lang="en-US" sz="1400" noProof="1"/>
          </a:p>
        </p:txBody>
      </p:sp>
      <p:sp>
        <p:nvSpPr>
          <p:cNvPr id="8"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10" name="gradbar-81b"/>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2" name="secnum-81b"/>
          <p:cNvSpPr txBox="1"/>
          <p:nvPr>
            <p:custDataLst>
              <p:tags r:id="rId6"/>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7" name="sectitle-81b"/>
          <p:cNvSpPr txBox="1"/>
          <p:nvPr>
            <p:custDataLst>
              <p:tags r:id="rId7"/>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椭圆曲线上的</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运算</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8" name="logo-81b"/>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g"/>
              <p:cNvSpPr txBox="1"/>
              <p:nvPr/>
            </p:nvSpPr>
            <p:spPr>
              <a:xfrm>
                <a:off x="1724660" y="2095500"/>
                <a:ext cx="14818360" cy="6858000"/>
              </a:xfrm>
              <a:prstGeom prst="rect">
                <a:avLst/>
              </a:prstGeom>
              <a:noFill/>
              <a:ln>
                <a:noFill/>
              </a:ln>
            </p:spPr>
            <p:txBody>
              <a:bodyPr wrap="square" lIns="0" tIns="0" rIns="0" bIns="0" rtlCol="0" anchor="t"/>
              <a:lstStyle/>
              <a:p>
                <a:pPr algn="just">
                  <a:lnSpc>
                    <a:spcPct val="120000"/>
                  </a:lnSpc>
                </a:pPr>
                <a:r>
                  <a:rPr lang="en-US" sz="3200" noProof="1">
                    <a:solidFill>
                      <a:srgbClr val="000000"/>
                    </a:solidFill>
                    <a:latin typeface="Times New Roman" panose="02020603050405020304"/>
                    <a:ea typeface="宋体" panose="02010600030101010101" pitchFamily="2" charset="-122"/>
                  </a:rPr>
                  <a:t>（4）若</a:t>
                </a:r>
                <a14:m>
                  <m:oMath xmlns:m="http://schemas.openxmlformats.org/officeDocument/2006/math">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𝑥</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𝑦</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 </m:t>
                    </m:r>
                    <m:r>
                      <a:rPr lang="en-US" sz="3200" i="1" noProof="1">
                        <a:solidFill>
                          <a:srgbClr val="000000"/>
                        </a:solidFill>
                        <a:latin typeface="Times New Roman" panose="02020603050405020304"/>
                      </a:rPr>
                      <m:t>𝑄</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𝑥</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𝑦</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，则</a:t>
                </a:r>
                <a14:m>
                  <m:oMath xmlns:m="http://schemas.openxmlformats.org/officeDocument/2006/math">
                    <m:r>
                      <a:rPr lang="en-US" sz="3200" i="1" noProof="1">
                        <a:solidFill>
                          <a:srgbClr val="000000"/>
                        </a:solidFill>
                        <a:latin typeface="Times New Roman" panose="02020603050405020304"/>
                      </a:rPr>
                      <m:t>𝑅</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𝑄</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𝑥</m:t>
                        </m:r>
                      </m:e>
                      <m:sub>
                        <m:r>
                          <a:rPr lang="en-US" sz="3200" i="0" noProof="1">
                            <a:solidFill>
                              <a:srgbClr val="000000"/>
                            </a:solidFill>
                            <a:latin typeface="Times New Roman" panose="02020603050405020304"/>
                          </a:rPr>
                          <m:t>3</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𝑦</m:t>
                        </m:r>
                      </m:e>
                      <m:sub>
                        <m:r>
                          <a:rPr lang="en-US" sz="3200" i="0" noProof="1">
                            <a:solidFill>
                              <a:srgbClr val="000000"/>
                            </a:solidFill>
                            <a:latin typeface="Times New Roman" panose="02020603050405020304"/>
                          </a:rPr>
                          <m:t>3</m:t>
                        </m:r>
                      </m:sub>
                    </m:sSub>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p:txBody>
          </p:sp>
        </mc:Choice>
        <mc:Fallback>
          <p:sp>
            <p:nvSpPr>
              <p:cNvPr id="3" name="body-81g"/>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f81a"/>
              <p:cNvSpPr txBox="1"/>
              <p:nvPr/>
            </p:nvSpPr>
            <p:spPr>
              <a:xfrm>
                <a:off x="3175000" y="3115945"/>
                <a:ext cx="11938000" cy="762000"/>
              </a:xfrm>
              <a:prstGeom prst="rect">
                <a:avLst/>
              </a:prstGeom>
              <a:noFill/>
              <a:ln>
                <a:noFill/>
              </a:ln>
            </p:spPr>
            <p:txBody>
              <a:bodyPr wrap="square" lIns="0" tIns="0" rIns="0" bIns="0" rtlCol="0" anchor="t"/>
              <a:lstStyle/>
              <a:p>
                <a:pPr algn="ctr">
                  <a:lnSpc>
                    <a:spcPct val="120000"/>
                  </a:lnSpc>
                </a:pP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𝑥</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𝑥</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𝑥</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𝜆</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𝑦</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𝑦</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𝜆</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𝑥</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𝑥</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m:t>
                    </m:r>
                  </m:oMath>
                </a14:m>
                <a:r>
                  <a:rPr lang="en-US" sz="3600" noProof="1"/>
                  <a:t> </a:t>
                </a:r>
                <a:endParaRPr lang="en-US" sz="3600" noProof="1"/>
              </a:p>
            </p:txBody>
          </p:sp>
        </mc:Choice>
        <mc:Fallback>
          <p:sp>
            <p:nvSpPr>
              <p:cNvPr id="4" name="f81a"/>
              <p:cNvSpPr txBox="1">
                <a:spLocks noRot="1" noChangeAspect="1" noMove="1" noResize="1" noEditPoints="1" noAdjustHandles="1" noChangeArrowheads="1" noChangeShapeType="1" noTextEdit="1"/>
              </p:cNvSpPr>
              <p:nvPr/>
            </p:nvSpPr>
            <p:spPr>
              <a:xfrm>
                <a:off x="3175000" y="3115945"/>
                <a:ext cx="11938000" cy="762000"/>
              </a:xfrm>
              <a:prstGeom prst="rect">
                <a:avLst/>
              </a:prstGeom>
              <a:blipFill rotWithShape="1">
                <a:blip r:embed="rId2"/>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f81b"/>
              <p:cNvSpPr txBox="1"/>
              <p:nvPr/>
            </p:nvSpPr>
            <p:spPr>
              <a:xfrm>
                <a:off x="3175000" y="4138930"/>
                <a:ext cx="11938000" cy="2771140"/>
              </a:xfrm>
              <a:prstGeom prst="rect">
                <a:avLst/>
              </a:prstGeom>
              <a:noFill/>
              <a:ln>
                <a:noFill/>
              </a:ln>
            </p:spPr>
            <p:txBody>
              <a:bodyPr wrap="square" lIns="0" tIns="0" rIns="0" bIns="0" rtlCol="0" anchor="t"/>
              <a:lstStyle/>
              <a:p>
                <a:pPr algn="ctr">
                  <a:lnSpc>
                    <a:spcPct val="120000"/>
                  </a:lnSpc>
                </a:pPr>
                <a:r>
                  <a:rPr lang="en-US" sz="3200" noProof="1">
                    <a:solidFill>
                      <a:srgbClr val="000000"/>
                    </a:solidFill>
                    <a:latin typeface="Times New Roman" panose="02020603050405020304"/>
                    <a:ea typeface="Times New Roman" panose="02020603050405020304"/>
                  </a:rPr>
                  <a:t>其中，</a:t>
                </a:r>
                <a:endParaRPr lang="en-US" sz="3200" noProof="1"/>
              </a:p>
              <a:p>
                <a:pPr algn="ctr">
                  <a:lnSpc>
                    <a:spcPct val="120000"/>
                  </a:lnSpc>
                </a:pPr>
                <a14:m>
                  <m:oMath xmlns:m="http://schemas.openxmlformats.org/officeDocument/2006/math">
                    <m:r>
                      <a:rPr lang="en-US" sz="3600" i="0" noProof="1">
                        <a:solidFill>
                          <a:srgbClr val="000000"/>
                        </a:solidFill>
                        <a:latin typeface="Times New Roman" panose="02020603050405020304"/>
                      </a:rPr>
                      <m:t>𝜆</m:t>
                    </m:r>
                    <m:r>
                      <a:rPr lang="en-US" sz="3600" i="0" noProof="1">
                        <a:solidFill>
                          <a:srgbClr val="000000"/>
                        </a:solidFill>
                        <a:latin typeface="Times New Roman" panose="02020603050405020304"/>
                      </a:rPr>
                      <m:t>=</m:t>
                    </m:r>
                    <m:f>
                      <m:fPr>
                        <m:ctrlPr>
                          <a:rPr sz="3600"/>
                        </m:ctrlPr>
                      </m:fPr>
                      <m:num>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𝑦</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𝑦</m:t>
                            </m:r>
                          </m:e>
                          <m:sub>
                            <m:r>
                              <a:rPr lang="en-US" sz="3600" i="0" noProof="1">
                                <a:solidFill>
                                  <a:srgbClr val="000000"/>
                                </a:solidFill>
                                <a:latin typeface="Times New Roman" panose="02020603050405020304"/>
                              </a:rPr>
                              <m:t>1</m:t>
                            </m:r>
                          </m:sub>
                        </m:sSub>
                      </m:num>
                      <m:den>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𝑥</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𝑥</m:t>
                            </m:r>
                          </m:e>
                          <m:sub>
                            <m:r>
                              <a:rPr lang="en-US" sz="3600" i="0" noProof="1">
                                <a:solidFill>
                                  <a:srgbClr val="000000"/>
                                </a:solidFill>
                                <a:latin typeface="Times New Roman" panose="02020603050405020304"/>
                              </a:rPr>
                              <m:t>1</m:t>
                            </m:r>
                          </m:sub>
                        </m:sSub>
                      </m:den>
                    </m:f>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𝑄</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Times New Roman" panose="02020603050405020304"/>
                  </a:rPr>
                  <a:t>，</a:t>
                </a:r>
                <a:endParaRPr lang="en-US" sz="3600" noProof="1"/>
              </a:p>
              <a:p>
                <a:pPr algn="ctr">
                  <a:lnSpc>
                    <a:spcPct val="120000"/>
                  </a:lnSpc>
                </a:pPr>
                <a14:m>
                  <m:oMath xmlns:m="http://schemas.openxmlformats.org/officeDocument/2006/math">
                    <m:r>
                      <a:rPr lang="en-US" sz="3600" i="0" noProof="1">
                        <a:solidFill>
                          <a:srgbClr val="000000"/>
                        </a:solidFill>
                        <a:latin typeface="Times New Roman" panose="02020603050405020304"/>
                      </a:rPr>
                      <m:t>𝜆</m:t>
                    </m:r>
                    <m:r>
                      <a:rPr lang="en-US" sz="3600" i="0" noProof="1">
                        <a:solidFill>
                          <a:srgbClr val="000000"/>
                        </a:solidFill>
                        <a:latin typeface="Times New Roman" panose="02020603050405020304"/>
                      </a:rPr>
                      <m:t>=</m:t>
                    </m:r>
                    <m:f>
                      <m:fPr>
                        <m:ctrlPr>
                          <a:rPr sz="3600"/>
                        </m:ctrlPr>
                      </m:fPr>
                      <m:num>
                        <m:r>
                          <a:rPr lang="en-US" sz="3600" i="0" noProof="1">
                            <a:solidFill>
                              <a:srgbClr val="000000"/>
                            </a:solidFill>
                            <a:latin typeface="Times New Roman" panose="02020603050405020304"/>
                          </a:rPr>
                          <m:t>3</m:t>
                        </m:r>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𝑥</m:t>
                            </m:r>
                          </m:e>
                          <m:sub>
                            <m:r>
                              <a:rPr lang="en-US" sz="3600" i="0" noProof="1">
                                <a:solidFill>
                                  <a:srgbClr val="000000"/>
                                </a:solidFill>
                                <a:latin typeface="Times New Roman" panose="02020603050405020304"/>
                              </a:rPr>
                              <m:t>1</m:t>
                            </m:r>
                          </m:sub>
                          <m:sup>
                            <m:r>
                              <a:rPr lang="en-US" sz="3600" i="0" noProof="1">
                                <a:solidFill>
                                  <a:srgbClr val="000000"/>
                                </a:solidFill>
                                <a:latin typeface="Times New Roman" panose="02020603050405020304"/>
                              </a:rPr>
                              <m:t>2</m:t>
                            </m:r>
                          </m:sup>
                        </m:sSub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𝑎</m:t>
                        </m:r>
                      </m:num>
                      <m:den>
                        <m:r>
                          <a:rPr lang="en-US" sz="3600" i="0" noProof="1">
                            <a:solidFill>
                              <a:srgbClr val="000000"/>
                            </a:solidFill>
                            <a:latin typeface="Times New Roman" panose="02020603050405020304"/>
                          </a:rPr>
                          <m:t>2</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𝑦</m:t>
                            </m:r>
                          </m:e>
                          <m:sub>
                            <m:r>
                              <a:rPr lang="en-US" sz="3600" i="0" noProof="1">
                                <a:solidFill>
                                  <a:srgbClr val="000000"/>
                                </a:solidFill>
                                <a:latin typeface="Times New Roman" panose="02020603050405020304"/>
                              </a:rPr>
                              <m:t>1</m:t>
                            </m:r>
                          </m:sub>
                        </m:sSub>
                      </m:den>
                    </m:f>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𝑄</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Times New Roman" panose="02020603050405020304"/>
                  </a:rPr>
                  <a:t>　（8.1）</a:t>
                </a:r>
                <a:endParaRPr lang="en-US" sz="3600" noProof="1"/>
              </a:p>
            </p:txBody>
          </p:sp>
        </mc:Choice>
        <mc:Fallback>
          <p:sp>
            <p:nvSpPr>
              <p:cNvPr id="5" name="f81b"/>
              <p:cNvSpPr txBox="1">
                <a:spLocks noRot="1" noChangeAspect="1" noMove="1" noResize="1" noEditPoints="1" noAdjustHandles="1" noChangeArrowheads="1" noChangeShapeType="1" noTextEdit="1"/>
              </p:cNvSpPr>
              <p:nvPr/>
            </p:nvSpPr>
            <p:spPr>
              <a:xfrm>
                <a:off x="3175000" y="4138930"/>
                <a:ext cx="11938000" cy="2771140"/>
              </a:xfrm>
              <a:prstGeom prst="rect">
                <a:avLst/>
              </a:prstGeom>
              <a:blipFill rotWithShape="1">
                <a:blip r:embed="rId3"/>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body-81g2"/>
              <p:cNvSpPr txBox="1"/>
              <p:nvPr/>
            </p:nvSpPr>
            <p:spPr>
              <a:xfrm>
                <a:off x="1724660" y="7091045"/>
                <a:ext cx="14818360" cy="2540000"/>
              </a:xfrm>
              <a:prstGeom prst="rect">
                <a:avLst/>
              </a:prstGeom>
              <a:noFill/>
              <a:ln>
                <a:noFill/>
              </a:ln>
            </p:spPr>
            <p:txBody>
              <a:bodyPr wrap="square" lIns="0" tIns="0" rIns="0" bIns="0" rtlCol="0" anchor="t"/>
              <a:lstStyle/>
              <a:p>
                <a:pPr algn="just">
                  <a:lnSpc>
                    <a:spcPct val="120000"/>
                  </a:lnSpc>
                </a:pPr>
                <a:r>
                  <a:rPr lang="en-US" sz="3200" noProof="1">
                    <a:solidFill>
                      <a:srgbClr val="000000"/>
                    </a:solidFill>
                    <a:latin typeface="Times New Roman" panose="02020603050405020304"/>
                    <a:ea typeface="宋体" panose="02010600030101010101" pitchFamily="2" charset="-122"/>
                  </a:rPr>
                  <a:t>（5）对于所有的点</a:t>
                </a:r>
                <a14:m>
                  <m:oMath xmlns:m="http://schemas.openxmlformats.org/officeDocument/2006/math">
                    <m:r>
                      <a:rPr lang="en-US" sz="3200" i="1" noProof="1">
                        <a:solidFill>
                          <a:srgbClr val="000000"/>
                        </a:solidFill>
                        <a:latin typeface="Times New Roman" panose="02020603050405020304"/>
                      </a:rPr>
                      <m:t>𝑃</m:t>
                    </m:r>
                  </m:oMath>
                </a14:m>
                <a:r>
                  <a:rPr lang="en-US" sz="32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200" i="1" noProof="1">
                        <a:solidFill>
                          <a:srgbClr val="000000"/>
                        </a:solidFill>
                        <a:latin typeface="Times New Roman" panose="02020603050405020304"/>
                      </a:rPr>
                      <m:t>𝑄</m:t>
                    </m:r>
                  </m:oMath>
                </a14:m>
                <a:r>
                  <a:rPr lang="en-US" sz="3200" noProof="1">
                    <a:solidFill>
                      <a:srgbClr val="000000"/>
                    </a:solidFill>
                    <a:latin typeface="Times New Roman" panose="02020603050405020304"/>
                    <a:ea typeface="宋体" panose="02010600030101010101" pitchFamily="2" charset="-122"/>
                  </a:rPr>
                  <a:t>，满足加法交换律</a:t>
                </a:r>
                <a14:m>
                  <m:oMath xmlns:m="http://schemas.openxmlformats.org/officeDocument/2006/math">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𝑄</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𝑄</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𝑃</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algn="just">
                  <a:lnSpc>
                    <a:spcPct val="120000"/>
                  </a:lnSpc>
                </a:pPr>
                <a:r>
                  <a:rPr lang="en-US" sz="3200" noProof="1">
                    <a:solidFill>
                      <a:srgbClr val="000000"/>
                    </a:solidFill>
                    <a:latin typeface="Times New Roman" panose="02020603050405020304"/>
                    <a:ea typeface="宋体" panose="02010600030101010101" pitchFamily="2" charset="-122"/>
                  </a:rPr>
                  <a:t>（6）对于所有的点</a:t>
                </a:r>
                <a14:m>
                  <m:oMath xmlns:m="http://schemas.openxmlformats.org/officeDocument/2006/math">
                    <m:r>
                      <a:rPr lang="en-US" sz="3200" i="1" noProof="1">
                        <a:solidFill>
                          <a:srgbClr val="000000"/>
                        </a:solidFill>
                        <a:latin typeface="Times New Roman" panose="02020603050405020304"/>
                      </a:rPr>
                      <m:t>𝑃</m:t>
                    </m:r>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200" i="1" noProof="1">
                        <a:solidFill>
                          <a:srgbClr val="000000"/>
                        </a:solidFill>
                        <a:latin typeface="Times New Roman" panose="02020603050405020304"/>
                      </a:rPr>
                      <m:t>𝑄</m:t>
                    </m:r>
                  </m:oMath>
                </a14:m>
                <a:r>
                  <a:rPr lang="en-US" sz="32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200" i="1" noProof="1">
                        <a:solidFill>
                          <a:srgbClr val="000000"/>
                        </a:solidFill>
                        <a:latin typeface="Times New Roman" panose="02020603050405020304"/>
                      </a:rPr>
                      <m:t>𝑅</m:t>
                    </m:r>
                  </m:oMath>
                </a14:m>
                <a:r>
                  <a:rPr lang="en-US" sz="3200" noProof="1">
                    <a:solidFill>
                      <a:srgbClr val="000000"/>
                    </a:solidFill>
                    <a:latin typeface="Times New Roman" panose="02020603050405020304"/>
                    <a:ea typeface="宋体" panose="02010600030101010101" pitchFamily="2" charset="-122"/>
                  </a:rPr>
                  <a:t>，满足加法结合律</a:t>
                </a:r>
                <a14:m>
                  <m:oMath xmlns:m="http://schemas.openxmlformats.org/officeDocument/2006/math">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𝑄</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𝑅</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𝑄</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𝑅</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p:txBody>
          </p:sp>
        </mc:Choice>
        <mc:Fallback>
          <p:sp>
            <p:nvSpPr>
              <p:cNvPr id="6" name="body-81g2"/>
              <p:cNvSpPr txBox="1">
                <a:spLocks noRot="1" noChangeAspect="1" noMove="1" noResize="1" noEditPoints="1" noAdjustHandles="1" noChangeArrowheads="1" noChangeShapeType="1" noTextEdit="1"/>
              </p:cNvSpPr>
              <p:nvPr/>
            </p:nvSpPr>
            <p:spPr>
              <a:xfrm>
                <a:off x="1724660" y="7091045"/>
                <a:ext cx="14818360" cy="2540000"/>
              </a:xfrm>
              <a:prstGeom prst="rect">
                <a:avLst/>
              </a:prstGeom>
              <a:blipFill rotWithShape="1">
                <a:blip r:embed="rId4"/>
                <a:stretch>
                  <a:fillRect/>
                </a:stretch>
              </a:blipFill>
              <a:ln>
                <a:noFill/>
              </a:ln>
            </p:spPr>
            <p:txBody>
              <a:bodyPr/>
              <a:lstStyle/>
              <a:p>
                <a:r>
                  <a:rPr lang="zh-CN" altLang="en-US">
                    <a:noFill/>
                  </a:rPr>
                  <a:t> </a:t>
                </a:r>
              </a:p>
            </p:txBody>
          </p:sp>
        </mc:Fallback>
      </mc:AlternateContent>
      <p:sp>
        <p:nvSpPr>
          <p:cNvPr id="7" name="pagenum-81g"/>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13</a:t>
            </a:r>
            <a:endParaRPr lang="en-US" sz="1400" noProof="1"/>
          </a:p>
        </p:txBody>
      </p:sp>
      <p:sp>
        <p:nvSpPr>
          <p:cNvPr id="8" name="bookhead-81a"/>
          <p:cNvSpPr txBox="1"/>
          <p:nvPr>
            <p:custDataLst>
              <p:tags r:id="rId5"/>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custDataLst>
              <p:tags r:id="rId6"/>
            </p:custDataLst>
          </p:nvPr>
        </p:nvPicPr>
        <p:blipFill>
          <a:blip r:embed="rId7"/>
          <a:stretch>
            <a:fillRect/>
          </a:stretch>
        </p:blipFill>
        <p:spPr>
          <a:xfrm>
            <a:off x="13731240" y="1102360"/>
            <a:ext cx="2771140" cy="46990"/>
          </a:xfrm>
          <a:prstGeom prst="rect">
            <a:avLst/>
          </a:prstGeom>
          <a:ln>
            <a:noFill/>
          </a:ln>
        </p:spPr>
      </p:pic>
      <p:sp>
        <p:nvSpPr>
          <p:cNvPr id="19" name="gradbar-81b"/>
          <p:cNvSpPr/>
          <p:nvPr>
            <p:custDataLst>
              <p:tags r:id="rId8"/>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20" name="secnum-81b"/>
          <p:cNvSpPr txBox="1"/>
          <p:nvPr>
            <p:custDataLst>
              <p:tags r:id="rId9"/>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21" name="sectitle-81b"/>
          <p:cNvSpPr txBox="1"/>
          <p:nvPr>
            <p:custDataLst>
              <p:tags r:id="rId10"/>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椭圆曲线上的</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运算</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22" name="logo-81b"/>
          <p:cNvPicPr/>
          <p:nvPr>
            <p:custDataLst>
              <p:tags r:id="rId11"/>
            </p:custDataLst>
          </p:nvPr>
        </p:nvPicPr>
        <p:blipFill>
          <a:blip r:embed="rId12">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h"/>
              <p:cNvSpPr txBox="1"/>
              <p:nvPr/>
            </p:nvSpPr>
            <p:spPr>
              <a:xfrm>
                <a:off x="1724660" y="2328545"/>
                <a:ext cx="14818360" cy="2627630"/>
              </a:xfrm>
              <a:prstGeom prst="rect">
                <a:avLst/>
              </a:prstGeom>
              <a:noFill/>
              <a:ln>
                <a:noFill/>
              </a:ln>
            </p:spPr>
            <p:txBody>
              <a:bodyPr wrap="square" lIns="0" tIns="0" rIns="0" bIns="0" rtlCol="0" anchor="t"/>
              <a:lstStyle/>
              <a:p>
                <a:pPr indent="0" algn="just" fontAlgn="auto">
                  <a:lnSpc>
                    <a:spcPct val="150000"/>
                  </a:lnSpc>
                </a:pPr>
                <a:r>
                  <a:rPr lang="en-US" sz="3600" b="1" noProof="1">
                    <a:solidFill>
                      <a:srgbClr val="000000"/>
                    </a:solidFill>
                    <a:latin typeface="Times New Roman" panose="02020603050405020304"/>
                    <a:ea typeface="宋体" panose="02010600030101010101" pitchFamily="2" charset="-122"/>
                  </a:rPr>
                  <a:t>椭圆曲线上的乘法规则如下</a:t>
                </a:r>
                <a:endParaRPr lang="en-US" sz="3600" noProof="1"/>
              </a:p>
              <a:p>
                <a:pPr indent="457200" algn="just" fontAlgn="auto">
                  <a:lnSpc>
                    <a:spcPct val="150000"/>
                  </a:lnSpc>
                </a:pPr>
                <a:r>
                  <a:rPr lang="en-US" sz="3600" noProof="1">
                    <a:solidFill>
                      <a:srgbClr val="000000"/>
                    </a:solidFill>
                    <a:latin typeface="Times New Roman" panose="02020603050405020304"/>
                    <a:ea typeface="宋体" panose="02010600030101010101" pitchFamily="2" charset="-122"/>
                  </a:rPr>
                  <a:t>（1）若</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为整数，则对于点</a:t>
                </a:r>
                <a14:m>
                  <m:oMath xmlns:m="http://schemas.openxmlformats.org/officeDocument/2006/math">
                    <m:r>
                      <a:rPr lang="en-US" sz="3600" i="1" noProof="1">
                        <a:solidFill>
                          <a:srgbClr val="000000"/>
                        </a:solidFill>
                        <a:latin typeface="Times New Roman" panose="02020603050405020304"/>
                      </a:rPr>
                      <m:t>𝑃</m:t>
                    </m:r>
                  </m:oMath>
                </a14:m>
                <a:r>
                  <a:rPr lang="en-US" sz="3600" noProof="1">
                    <a:solidFill>
                      <a:srgbClr val="000000"/>
                    </a:solidFill>
                    <a:latin typeface="Times New Roman" panose="02020603050405020304"/>
                    <a:ea typeface="宋体" panose="02010600030101010101" pitchFamily="2" charset="-122"/>
                  </a:rPr>
                  <a:t>有：</a:t>
                </a:r>
                <a14:m>
                  <m:oMath xmlns:m="http://schemas.openxmlformats.org/officeDocument/2006/math">
                    <m:r>
                      <a:rPr lang="en-US" sz="3600" i="1" noProof="1">
                        <a:solidFill>
                          <a:srgbClr val="000000"/>
                        </a:solidFill>
                        <a:latin typeface="Times New Roman" panose="02020603050405020304"/>
                      </a:rPr>
                      <m:t>𝑘𝑃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𝑃</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个</a:t>
                </a:r>
                <a14:m>
                  <m:oMath xmlns:m="http://schemas.openxmlformats.org/officeDocument/2006/math">
                    <m:r>
                      <a:rPr lang="en-US" sz="3600" i="1" noProof="1">
                        <a:solidFill>
                          <a:srgbClr val="000000"/>
                        </a:solidFill>
                        <a:latin typeface="Times New Roman" panose="02020603050405020304"/>
                      </a:rPr>
                      <m:t>𝑃</m:t>
                    </m:r>
                  </m:oMath>
                </a14:m>
                <a:r>
                  <a:rPr lang="en-US" sz="3600" noProof="1">
                    <a:solidFill>
                      <a:srgbClr val="000000"/>
                    </a:solidFill>
                    <a:latin typeface="Times New Roman" panose="02020603050405020304"/>
                    <a:ea typeface="宋体" panose="02010600030101010101" pitchFamily="2" charset="-122"/>
                  </a:rPr>
                  <a:t>相加）。</a:t>
                </a:r>
                <a:endParaRPr lang="en-US" sz="3600" noProof="1"/>
              </a:p>
              <a:p>
                <a:pPr indent="457200" algn="just" fontAlgn="auto">
                  <a:lnSpc>
                    <a:spcPct val="150000"/>
                  </a:lnSpc>
                </a:pPr>
                <a:r>
                  <a:rPr lang="en-US" sz="3600" noProof="1">
                    <a:solidFill>
                      <a:srgbClr val="000000"/>
                    </a:solidFill>
                    <a:latin typeface="Times New Roman" panose="02020603050405020304"/>
                    <a:ea typeface="宋体" panose="02010600030101010101" pitchFamily="2" charset="-122"/>
                  </a:rPr>
                  <a:t>（2）若</a:t>
                </a:r>
                <a14:m>
                  <m:oMath xmlns:m="http://schemas.openxmlformats.org/officeDocument/2006/math">
                    <m:r>
                      <a:rPr lang="en-US" sz="3600" i="1" noProof="1">
                        <a:solidFill>
                          <a:srgbClr val="000000"/>
                        </a:solidFill>
                        <a:latin typeface="Times New Roman" panose="02020603050405020304"/>
                      </a:rPr>
                      <m:t>𝑠</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𝑡</m:t>
                    </m:r>
                  </m:oMath>
                </a14:m>
                <a:r>
                  <a:rPr lang="en-US" sz="3600" noProof="1">
                    <a:solidFill>
                      <a:srgbClr val="000000"/>
                    </a:solidFill>
                    <a:latin typeface="Times New Roman" panose="02020603050405020304"/>
                    <a:ea typeface="宋体" panose="02010600030101010101" pitchFamily="2" charset="-122"/>
                  </a:rPr>
                  <a:t>为整数，则对于点</a:t>
                </a:r>
                <a14:m>
                  <m:oMath xmlns:m="http://schemas.openxmlformats.org/officeDocument/2006/math">
                    <m:r>
                      <a:rPr lang="en-US" sz="3600" i="1" noProof="1">
                        <a:solidFill>
                          <a:srgbClr val="000000"/>
                        </a:solidFill>
                        <a:latin typeface="Times New Roman" panose="02020603050405020304"/>
                      </a:rPr>
                      <m:t>𝑃</m:t>
                    </m:r>
                  </m:oMath>
                </a14:m>
                <a:r>
                  <a:rPr lang="en-US" sz="3600" noProof="1">
                    <a:solidFill>
                      <a:srgbClr val="000000"/>
                    </a:solidFill>
                    <a:latin typeface="Times New Roman" panose="02020603050405020304"/>
                    <a:ea typeface="宋体" panose="02010600030101010101" pitchFamily="2" charset="-122"/>
                  </a:rPr>
                  <a:t>有：</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𝑠</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𝑡</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𝑠𝑃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𝑡𝑃</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𝑠</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𝑡𝑃</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𝑠𝑡</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𝑃</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3" name="body-81h"/>
              <p:cNvSpPr txBox="1">
                <a:spLocks noRot="1" noChangeAspect="1" noMove="1" noResize="1" noEditPoints="1" noAdjustHandles="1" noChangeArrowheads="1" noChangeShapeType="1" noTextEdit="1"/>
              </p:cNvSpPr>
              <p:nvPr/>
            </p:nvSpPr>
            <p:spPr>
              <a:xfrm>
                <a:off x="1724660" y="2328545"/>
                <a:ext cx="14818360" cy="2627630"/>
              </a:xfrm>
              <a:prstGeom prst="rect">
                <a:avLst/>
              </a:prstGeom>
              <a:blipFill rotWithShape="1">
                <a:blip r:embed="rId1"/>
                <a:stretch>
                  <a:fillRect b="-28661"/>
                </a:stretch>
              </a:blipFill>
              <a:ln>
                <a:noFill/>
              </a:ln>
            </p:spPr>
            <p:txBody>
              <a:bodyPr/>
              <a:lstStyle/>
              <a:p>
                <a:r>
                  <a:rPr lang="zh-CN" altLang="en-US">
                    <a:noFill/>
                  </a:rPr>
                  <a:t> </a:t>
                </a:r>
              </a:p>
            </p:txBody>
          </p:sp>
        </mc:Fallback>
      </mc:AlternateContent>
      <p:sp>
        <p:nvSpPr>
          <p:cNvPr id="4" name="pagenum-81h"/>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14</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16" name="gradbar-81b"/>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num-81b"/>
          <p:cNvSpPr txBox="1"/>
          <p:nvPr>
            <p:custDataLst>
              <p:tags r:id="rId6"/>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title-81b"/>
          <p:cNvSpPr txBox="1"/>
          <p:nvPr>
            <p:custDataLst>
              <p:tags r:id="rId7"/>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椭圆曲线上的</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运算</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1b"/>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i"/>
              <p:cNvSpPr txBox="1"/>
              <p:nvPr/>
            </p:nvSpPr>
            <p:spPr>
              <a:xfrm>
                <a:off x="1724660" y="2095500"/>
                <a:ext cx="14818360" cy="3602355"/>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    例8.2　</a:t>
                </a:r>
                <a:r>
                  <a:rPr lang="en-US" sz="3600" noProof="1">
                    <a:solidFill>
                      <a:srgbClr val="000000"/>
                    </a:solidFill>
                    <a:latin typeface="Times New Roman" panose="02020603050405020304"/>
                    <a:ea typeface="宋体" panose="02010600030101010101" pitchFamily="2" charset="-122"/>
                  </a:rPr>
                  <a:t>在椭圆曲线</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𝐸</m:t>
                        </m:r>
                      </m:e>
                      <m:sub>
                        <m:r>
                          <a:rPr lang="en-US" sz="3600" i="0" noProof="1">
                            <a:solidFill>
                              <a:srgbClr val="000000"/>
                            </a:solidFill>
                            <a:latin typeface="Times New Roman" panose="02020603050405020304"/>
                          </a:rPr>
                          <m:t>23</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上，若</a:t>
                </a:r>
                <a14:m>
                  <m:oMath xmlns:m="http://schemas.openxmlformats.org/officeDocument/2006/math">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10</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𝑄</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7</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，计算</a:t>
                </a:r>
                <a14:m>
                  <m:oMath xmlns:m="http://schemas.openxmlformats.org/officeDocument/2006/math">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𝑄</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已知</a:t>
                </a:r>
                <a14:m>
                  <m:oMath xmlns:m="http://schemas.openxmlformats.org/officeDocument/2006/math">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10</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𝑄</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7</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，则</a:t>
                </a:r>
                <a14:m>
                  <m:oMath xmlns:m="http://schemas.openxmlformats.org/officeDocument/2006/math">
                    <m:r>
                      <a:rPr lang="en-US" sz="3600" i="0" noProof="1">
                        <a:solidFill>
                          <a:srgbClr val="000000"/>
                        </a:solidFill>
                        <a:latin typeface="Times New Roman" panose="02020603050405020304"/>
                      </a:rPr>
                      <m:t>𝜆</m:t>
                    </m:r>
                    <m:r>
                      <a:rPr lang="en-US" sz="3600" i="0" noProof="1">
                        <a:solidFill>
                          <a:srgbClr val="000000"/>
                        </a:solidFill>
                        <a:latin typeface="Times New Roman" panose="02020603050405020304"/>
                      </a:rPr>
                      <m:t>=</m:t>
                    </m:r>
                    <m:f>
                      <m:fPr>
                        <m:ctrlPr>
                          <a:rPr sz="3600"/>
                        </m:ctrlPr>
                      </m:fPr>
                      <m:num>
                        <m:r>
                          <a:rPr lang="en-US" sz="3600" i="0" noProof="1">
                            <a:solidFill>
                              <a:srgbClr val="000000"/>
                            </a:solidFill>
                            <a:latin typeface="Times New Roman" panose="02020603050405020304"/>
                          </a:rPr>
                          <m:t>7</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10</m:t>
                        </m:r>
                      </m:num>
                      <m:den>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den>
                    </m:f>
                    <m:r>
                      <a:rPr lang="en-US" sz="3600" i="0" noProof="1">
                        <a:solidFill>
                          <a:srgbClr val="000000"/>
                        </a:solidFill>
                        <a:latin typeface="Times New Roman" panose="02020603050405020304"/>
                      </a:rPr>
                      <m:t>=</m:t>
                    </m:r>
                    <m:f>
                      <m:fPr>
                        <m:ctrlPr>
                          <a:rPr sz="3600"/>
                        </m:ctrlPr>
                      </m:fPr>
                      <m:num>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num>
                      <m:den>
                        <m:r>
                          <a:rPr lang="en-US" sz="3600" i="0" noProof="1">
                            <a:solidFill>
                              <a:srgbClr val="000000"/>
                            </a:solidFill>
                            <a:latin typeface="Times New Roman" panose="02020603050405020304"/>
                          </a:rPr>
                          <m:t>6</m:t>
                        </m:r>
                      </m:den>
                    </m:f>
                    <m:r>
                      <a:rPr lang="en-US" sz="3600" i="0" noProof="1">
                        <a:solidFill>
                          <a:srgbClr val="000000"/>
                        </a:solidFill>
                        <a:latin typeface="Times New Roman" panose="02020603050405020304"/>
                      </a:rPr>
                      <m:t>=</m:t>
                    </m:r>
                    <m:f>
                      <m:fPr>
                        <m:ctrlPr>
                          <a:rPr sz="3600"/>
                        </m:ctrlPr>
                      </m:fPr>
                      <m:num>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num>
                      <m:den>
                        <m:r>
                          <a:rPr lang="en-US" sz="3600" i="0" noProof="1">
                            <a:solidFill>
                              <a:srgbClr val="000000"/>
                            </a:solidFill>
                            <a:latin typeface="Times New Roman" panose="02020603050405020304"/>
                          </a:rPr>
                          <m:t>2</m:t>
                        </m:r>
                      </m:den>
                    </m:f>
                    <m:r>
                      <a:rPr lang="en-US" sz="3600" i="0" noProof="1">
                        <a:solidFill>
                          <a:srgbClr val="000000"/>
                        </a:solidFill>
                        <a:latin typeface="Times New Roman" panose="02020603050405020304"/>
                      </a:rPr>
                      <m:t>≡</m:t>
                    </m:r>
                    <m:f>
                      <m:fPr>
                        <m:ctrlPr>
                          <a:rPr sz="3600"/>
                        </m:ctrlPr>
                      </m:fPr>
                      <m:num>
                        <m:r>
                          <a:rPr lang="en-US" sz="3600" i="0" noProof="1">
                            <a:solidFill>
                              <a:srgbClr val="000000"/>
                            </a:solidFill>
                            <a:latin typeface="Times New Roman" panose="02020603050405020304"/>
                          </a:rPr>
                          <m:t>22</m:t>
                        </m:r>
                      </m:num>
                      <m:den>
                        <m:r>
                          <a:rPr lang="en-US" sz="3600" i="0" noProof="1">
                            <a:solidFill>
                              <a:srgbClr val="000000"/>
                            </a:solidFill>
                            <a:latin typeface="Times New Roman" panose="02020603050405020304"/>
                          </a:rPr>
                          <m:t>2</m:t>
                        </m:r>
                      </m:den>
                    </m:f>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11</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23</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，所以</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𝑥</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1</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09</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17</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23</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𝑦</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17</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10</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64</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20</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23</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，得到</a:t>
                </a:r>
                <a14:m>
                  <m:oMath xmlns:m="http://schemas.openxmlformats.org/officeDocument/2006/math">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𝑄</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17</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20</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𝐸</m:t>
                        </m:r>
                      </m:e>
                      <m:sub>
                        <m:r>
                          <a:rPr lang="en-US" sz="3600" i="0" noProof="1">
                            <a:solidFill>
                              <a:srgbClr val="000000"/>
                            </a:solidFill>
                            <a:latin typeface="Times New Roman" panose="02020603050405020304"/>
                          </a:rPr>
                          <m:t>23</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3" name="body-81i"/>
              <p:cNvSpPr txBox="1">
                <a:spLocks noRot="1" noChangeAspect="1" noMove="1" noResize="1" noEditPoints="1" noAdjustHandles="1" noChangeArrowheads="1" noChangeShapeType="1" noTextEdit="1"/>
              </p:cNvSpPr>
              <p:nvPr/>
            </p:nvSpPr>
            <p:spPr>
              <a:xfrm>
                <a:off x="1724660" y="2095500"/>
                <a:ext cx="14818360" cy="3602355"/>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81i"/>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15</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16" name="gradbar-81b"/>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num-81b"/>
          <p:cNvSpPr txBox="1"/>
          <p:nvPr>
            <p:custDataLst>
              <p:tags r:id="rId6"/>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title-81b"/>
          <p:cNvSpPr txBox="1"/>
          <p:nvPr>
            <p:custDataLst>
              <p:tags r:id="rId7"/>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椭圆曲线上的</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运算</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1b"/>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i"/>
              <p:cNvSpPr txBox="1"/>
              <p:nvPr/>
            </p:nvSpPr>
            <p:spPr>
              <a:xfrm>
                <a:off x="1724660" y="2095500"/>
                <a:ext cx="14818360" cy="3369310"/>
              </a:xfrm>
              <a:prstGeom prst="rect">
                <a:avLst/>
              </a:prstGeom>
              <a:noFill/>
              <a:ln>
                <a:noFill/>
              </a:ln>
            </p:spPr>
            <p:txBody>
              <a:bodyPr wrap="square" lIns="0" tIns="0" rIns="0" bIns="0" rtlCol="0" anchor="t"/>
              <a:lstStyle/>
              <a:p>
                <a:pPr indent="0" algn="just" fontAlgn="auto">
                  <a:lnSpc>
                    <a:spcPct val="120000"/>
                  </a:lnSpc>
                </a:pPr>
                <a:r>
                  <a:rPr lang="en-US" sz="3600" b="1" noProof="1">
                    <a:solidFill>
                      <a:srgbClr val="000000"/>
                    </a:solidFill>
                    <a:latin typeface="Times New Roman" panose="02020603050405020304"/>
                    <a:ea typeface="宋体" panose="02010600030101010101" pitchFamily="2" charset="-122"/>
                  </a:rPr>
                  <a:t>    例8.3　</a:t>
                </a:r>
                <a:r>
                  <a:rPr lang="en-US" sz="3600" noProof="1">
                    <a:solidFill>
                      <a:srgbClr val="000000"/>
                    </a:solidFill>
                    <a:latin typeface="Times New Roman" panose="02020603050405020304"/>
                    <a:ea typeface="宋体" panose="02010600030101010101" pitchFamily="2" charset="-122"/>
                  </a:rPr>
                  <a:t>若</a:t>
                </a:r>
                <a14:m>
                  <m:oMath xmlns:m="http://schemas.openxmlformats.org/officeDocument/2006/math">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10</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为椭圆曲线</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𝐸</m:t>
                        </m:r>
                      </m:e>
                      <m:sub>
                        <m:r>
                          <a:rPr lang="en-US" sz="3600" i="0" noProof="1">
                            <a:solidFill>
                              <a:srgbClr val="000000"/>
                            </a:solidFill>
                            <a:latin typeface="Times New Roman" panose="02020603050405020304"/>
                          </a:rPr>
                          <m:t>23</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上的一点，求</a:t>
                </a:r>
                <a14:m>
                  <m:oMath xmlns:m="http://schemas.openxmlformats.org/officeDocument/2006/math">
                    <m:r>
                      <a:rPr lang="en-US" sz="3600" i="0" noProof="1">
                        <a:solidFill>
                          <a:srgbClr val="000000"/>
                        </a:solidFill>
                        <a:latin typeface="Times New Roman" panose="02020603050405020304"/>
                      </a:rPr>
                      <m:t>2</m:t>
                    </m:r>
                    <m:r>
                      <a:rPr lang="en-US" sz="3600" i="1" noProof="1">
                        <a:solidFill>
                          <a:srgbClr val="000000"/>
                        </a:solidFill>
                        <a:latin typeface="Times New Roman" panose="02020603050405020304"/>
                      </a:rPr>
                      <m:t>𝑃</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因为</a:t>
                </a:r>
                <a14:m>
                  <m:oMath xmlns:m="http://schemas.openxmlformats.org/officeDocument/2006/math">
                    <m:r>
                      <a:rPr lang="en-US" sz="3600" i="0" noProof="1">
                        <a:solidFill>
                          <a:srgbClr val="000000"/>
                        </a:solidFill>
                        <a:latin typeface="Times New Roman" panose="02020603050405020304"/>
                      </a:rPr>
                      <m:t>2</m:t>
                    </m:r>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𝑃</m:t>
                    </m:r>
                  </m:oMath>
                </a14:m>
                <a:r>
                  <a:rPr lang="en-US" sz="3600" noProof="1">
                    <a:solidFill>
                      <a:srgbClr val="000000"/>
                    </a:solidFill>
                    <a:latin typeface="Times New Roman" panose="02020603050405020304"/>
                    <a:ea typeface="宋体" panose="02010600030101010101" pitchFamily="2" charset="-122"/>
                  </a:rPr>
                  <a:t>，所以</a:t>
                </a:r>
                <a14:m>
                  <m:oMath xmlns:m="http://schemas.openxmlformats.org/officeDocument/2006/math">
                    <m:r>
                      <a:rPr lang="en-US" sz="3600" i="0" noProof="1">
                        <a:solidFill>
                          <a:srgbClr val="000000"/>
                        </a:solidFill>
                        <a:latin typeface="Times New Roman" panose="02020603050405020304"/>
                      </a:rPr>
                      <m:t>𝜆</m:t>
                    </m:r>
                    <m:r>
                      <a:rPr lang="en-US" sz="3600" i="0" noProof="1">
                        <a:solidFill>
                          <a:srgbClr val="000000"/>
                        </a:solidFill>
                        <a:latin typeface="Times New Roman" panose="02020603050405020304"/>
                      </a:rPr>
                      <m:t>=</m:t>
                    </m:r>
                    <m:f>
                      <m:fPr>
                        <m:ctrlPr>
                          <a:rPr sz="3600"/>
                        </m:ctrlPr>
                      </m:fPr>
                      <m:num>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3</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num>
                      <m:den>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10</m:t>
                        </m:r>
                      </m:den>
                    </m:f>
                    <m:r>
                      <a:rPr lang="en-US" sz="3600" i="0" noProof="1">
                        <a:solidFill>
                          <a:srgbClr val="000000"/>
                        </a:solidFill>
                        <a:latin typeface="Times New Roman" panose="02020603050405020304"/>
                      </a:rPr>
                      <m:t>=</m:t>
                    </m:r>
                    <m:f>
                      <m:fPr>
                        <m:ctrlPr>
                          <a:rPr sz="3600"/>
                        </m:ctrlPr>
                      </m:fPr>
                      <m:num>
                        <m:r>
                          <a:rPr lang="en-US" sz="3600" i="0" noProof="1">
                            <a:solidFill>
                              <a:srgbClr val="000000"/>
                            </a:solidFill>
                            <a:latin typeface="Times New Roman" panose="02020603050405020304"/>
                          </a:rPr>
                          <m:t>5</m:t>
                        </m:r>
                      </m:num>
                      <m:den>
                        <m:r>
                          <a:rPr lang="en-US" sz="3600" i="0" noProof="1">
                            <a:solidFill>
                              <a:srgbClr val="000000"/>
                            </a:solidFill>
                            <a:latin typeface="Times New Roman" panose="02020603050405020304"/>
                          </a:rPr>
                          <m:t>20</m:t>
                        </m:r>
                      </m:den>
                    </m:f>
                    <m:r>
                      <a:rPr lang="en-US" sz="3600" i="0" noProof="1">
                        <a:solidFill>
                          <a:srgbClr val="000000"/>
                        </a:solidFill>
                        <a:latin typeface="Times New Roman" panose="02020603050405020304"/>
                      </a:rPr>
                      <m:t>=</m:t>
                    </m:r>
                    <m:f>
                      <m:fPr>
                        <m:ctrlPr>
                          <a:rPr sz="3600"/>
                        </m:ctrlPr>
                      </m:fPr>
                      <m:num>
                        <m:r>
                          <a:rPr lang="en-US" sz="3600" i="0" noProof="1">
                            <a:solidFill>
                              <a:srgbClr val="000000"/>
                            </a:solidFill>
                            <a:latin typeface="Times New Roman" panose="02020603050405020304"/>
                          </a:rPr>
                          <m:t>1</m:t>
                        </m:r>
                      </m:num>
                      <m:den>
                        <m:r>
                          <a:rPr lang="en-US" sz="3600" i="0" noProof="1">
                            <a:solidFill>
                              <a:srgbClr val="000000"/>
                            </a:solidFill>
                            <a:latin typeface="Times New Roman" panose="02020603050405020304"/>
                          </a:rPr>
                          <m:t>4</m:t>
                        </m:r>
                      </m:den>
                    </m:f>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6</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23</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，则</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𝑥</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6</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30</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7</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23</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𝑦</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6</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7</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10</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34</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12</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23</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，得到</a:t>
                </a:r>
                <a14:m>
                  <m:oMath xmlns:m="http://schemas.openxmlformats.org/officeDocument/2006/math">
                    <m:r>
                      <a:rPr lang="en-US" sz="3600" i="0" noProof="1">
                        <a:solidFill>
                          <a:srgbClr val="000000"/>
                        </a:solidFill>
                        <a:latin typeface="Times New Roman" panose="02020603050405020304"/>
                      </a:rPr>
                      <m:t>2</m:t>
                    </m:r>
                    <m:r>
                      <a:rPr lang="en-US" sz="3600" i="1" noProof="1">
                        <a:solidFill>
                          <a:srgbClr val="000000"/>
                        </a:solidFill>
                        <a:latin typeface="Times New Roman" panose="02020603050405020304"/>
                      </a:rPr>
                      <m:t>𝑃</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7</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12</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3" name="body-81i"/>
              <p:cNvSpPr txBox="1">
                <a:spLocks noRot="1" noChangeAspect="1" noMove="1" noResize="1" noEditPoints="1" noAdjustHandles="1" noChangeArrowheads="1" noChangeShapeType="1" noTextEdit="1"/>
              </p:cNvSpPr>
              <p:nvPr/>
            </p:nvSpPr>
            <p:spPr>
              <a:xfrm>
                <a:off x="1724660" y="2095500"/>
                <a:ext cx="14818360" cy="336931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81i"/>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16</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16" name="gradbar-81b"/>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num-81b"/>
          <p:cNvSpPr txBox="1"/>
          <p:nvPr>
            <p:custDataLst>
              <p:tags r:id="rId6"/>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title-81b"/>
          <p:cNvSpPr txBox="1"/>
          <p:nvPr>
            <p:custDataLst>
              <p:tags r:id="rId7"/>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椭圆曲线上的</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运算</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1b"/>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j"/>
              <p:cNvSpPr txBox="1"/>
              <p:nvPr/>
            </p:nvSpPr>
            <p:spPr>
              <a:xfrm>
                <a:off x="1684020" y="1840230"/>
                <a:ext cx="14818360" cy="6858000"/>
              </a:xfrm>
              <a:prstGeom prst="rect">
                <a:avLst/>
              </a:prstGeom>
              <a:noFill/>
              <a:ln>
                <a:noFill/>
              </a:ln>
            </p:spPr>
            <p:txBody>
              <a:bodyPr wrap="square" lIns="0" tIns="0" rIns="0" bIns="0" rtlCol="0" anchor="t"/>
              <a:lstStyle/>
              <a:p>
                <a:pPr algn="just">
                  <a:lnSpc>
                    <a:spcPct val="120000"/>
                  </a:lnSpc>
                </a:pPr>
                <a:r>
                  <a:rPr lang="en-US" sz="3200" b="1" noProof="1">
                    <a:solidFill>
                      <a:srgbClr val="000000"/>
                    </a:solidFill>
                    <a:latin typeface="Times New Roman" panose="02020603050405020304"/>
                    <a:ea typeface="宋体" panose="02010600030101010101" pitchFamily="2" charset="-122"/>
                  </a:rPr>
                  <a:t>2．椭圆曲线上“</a:t>
                </a:r>
                <a14:m>
                  <m:oMath xmlns:m="http://schemas.openxmlformats.org/officeDocument/2006/math">
                    <m:r>
                      <a:rPr lang="en-US" sz="3200" b="1" i="0" noProof="1">
                        <a:solidFill>
                          <a:srgbClr val="000000"/>
                        </a:solidFill>
                        <a:latin typeface="Times New Roman" panose="02020603050405020304"/>
                      </a:rPr>
                      <m:t>⊕</m:t>
                    </m:r>
                  </m:oMath>
                </a14:m>
                <a:r>
                  <a:rPr lang="en-US" sz="3200" b="1" noProof="1">
                    <a:solidFill>
                      <a:srgbClr val="000000"/>
                    </a:solidFill>
                    <a:latin typeface="Times New Roman" panose="02020603050405020304"/>
                    <a:ea typeface="宋体" panose="02010600030101010101" pitchFamily="2" charset="-122"/>
                  </a:rPr>
                  <a:t>”的几何意义</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椭圆曲线上“</a:t>
                </a:r>
                <a14:m>
                  <m:oMath xmlns:m="http://schemas.openxmlformats.org/officeDocument/2006/math">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”的几何意义如图8.2所示。</a:t>
                </a:r>
                <a:endParaRPr lang="en-US" sz="3200" noProof="1"/>
              </a:p>
            </p:txBody>
          </p:sp>
        </mc:Choice>
        <mc:Fallback>
          <p:sp>
            <p:nvSpPr>
              <p:cNvPr id="3" name="body-81j"/>
              <p:cNvSpPr txBox="1">
                <a:spLocks noRot="1" noChangeAspect="1" noMove="1" noResize="1" noEditPoints="1" noAdjustHandles="1" noChangeArrowheads="1" noChangeShapeType="1" noTextEdit="1"/>
              </p:cNvSpPr>
              <p:nvPr/>
            </p:nvSpPr>
            <p:spPr>
              <a:xfrm>
                <a:off x="1684020" y="184023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pic>
        <p:nvPicPr>
          <p:cNvPr id="4" name="img-81j"/>
          <p:cNvPicPr/>
          <p:nvPr/>
        </p:nvPicPr>
        <p:blipFill>
          <a:blip r:embed="rId2"/>
          <a:stretch>
            <a:fillRect/>
          </a:stretch>
        </p:blipFill>
        <p:spPr>
          <a:xfrm>
            <a:off x="6350000" y="3275965"/>
            <a:ext cx="5588000" cy="4191000"/>
          </a:xfrm>
          <a:prstGeom prst="rect">
            <a:avLst/>
          </a:prstGeom>
          <a:ln>
            <a:noFill/>
          </a:ln>
        </p:spPr>
      </p:pic>
      <mc:AlternateContent xmlns:mc="http://schemas.openxmlformats.org/markup-compatibility/2006">
        <mc:Choice xmlns:a14="http://schemas.microsoft.com/office/drawing/2010/main" Requires="a14">
          <p:sp>
            <p:nvSpPr>
              <p:cNvPr id="5" name="imgcap-81j"/>
              <p:cNvSpPr txBox="1"/>
              <p:nvPr/>
            </p:nvSpPr>
            <p:spPr>
              <a:xfrm>
                <a:off x="1832610" y="74295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图8.2　椭圆曲线上“</a:t>
                </a:r>
                <a14:m>
                  <m:oMath xmlns:m="http://schemas.openxmlformats.org/officeDocument/2006/math">
                    <m:r>
                      <a:rPr lang="en-US" i="0" noProof="1">
                        <a:solidFill>
                          <a:srgbClr val="000000"/>
                        </a:solidFill>
                        <a:latin typeface="Times New Roman" panose="02020603050405020304"/>
                      </a:rPr>
                      <m:t>⊕</m:t>
                    </m:r>
                  </m:oMath>
                </a14:m>
                <a:r>
                  <a:rPr lang="en-US" sz="1600" noProof="1">
                    <a:solidFill>
                      <a:srgbClr val="000000"/>
                    </a:solidFill>
                    <a:latin typeface="Times New Roman" panose="02020603050405020304"/>
                    <a:ea typeface="Times New Roman" panose="02020603050405020304"/>
                  </a:rPr>
                  <a:t>”的几何意义</a:t>
                </a:r>
                <a:endParaRPr lang="en-US" sz="1600" noProof="1"/>
              </a:p>
            </p:txBody>
          </p:sp>
        </mc:Choice>
        <mc:Fallback>
          <p:sp>
            <p:nvSpPr>
              <p:cNvPr id="5" name="imgcap-81j"/>
              <p:cNvSpPr txBox="1">
                <a:spLocks noRot="1" noChangeAspect="1" noMove="1" noResize="1" noEditPoints="1" noAdjustHandles="1" noChangeArrowheads="1" noChangeShapeType="1" noTextEdit="1"/>
              </p:cNvSpPr>
              <p:nvPr/>
            </p:nvSpPr>
            <p:spPr>
              <a:xfrm>
                <a:off x="1832610" y="7429500"/>
                <a:ext cx="14818360" cy="508000"/>
              </a:xfrm>
              <a:prstGeom prst="rect">
                <a:avLst/>
              </a:prstGeom>
              <a:blipFill rotWithShape="1">
                <a:blip r:embed="rId3"/>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body-81j2"/>
              <p:cNvSpPr txBox="1"/>
              <p:nvPr/>
            </p:nvSpPr>
            <p:spPr>
              <a:xfrm>
                <a:off x="1724660" y="7937500"/>
                <a:ext cx="14818360" cy="1270000"/>
              </a:xfrm>
              <a:prstGeom prst="rect">
                <a:avLst/>
              </a:prstGeom>
              <a:noFill/>
              <a:ln>
                <a:noFill/>
              </a:ln>
            </p:spPr>
            <p:txBody>
              <a:bodyPr wrap="square" lIns="0" tIns="0" rIns="0" bIns="0" rtlCol="0" anchor="t"/>
              <a:lstStyle/>
              <a:p>
                <a:pPr indent="457200" algn="just" fontAlgn="auto">
                  <a:lnSpc>
                    <a:spcPct val="120000"/>
                  </a:lnSpc>
                </a:pPr>
                <a:r>
                  <a:rPr lang="en-US" sz="2800" noProof="1">
                    <a:solidFill>
                      <a:srgbClr val="000000"/>
                    </a:solidFill>
                    <a:latin typeface="Times New Roman" panose="02020603050405020304"/>
                    <a:ea typeface="宋体" panose="02010600030101010101" pitchFamily="2" charset="-122"/>
                  </a:rPr>
                  <a:t>    </a:t>
                </a:r>
                <a:r>
                  <a:rPr lang="en-US" sz="3200" noProof="1">
                    <a:solidFill>
                      <a:srgbClr val="000000"/>
                    </a:solidFill>
                    <a:latin typeface="Times New Roman" panose="02020603050405020304"/>
                    <a:ea typeface="宋体" panose="02010600030101010101" pitchFamily="2" charset="-122"/>
                  </a:rPr>
                  <a:t>设</a:t>
                </a:r>
                <a14:m>
                  <m:oMath xmlns:m="http://schemas.openxmlformats.org/officeDocument/2006/math">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 </m:t>
                    </m:r>
                    <m:r>
                      <a:rPr lang="en-US" sz="3200" i="1" noProof="1">
                        <a:solidFill>
                          <a:srgbClr val="000000"/>
                        </a:solidFill>
                        <a:latin typeface="Times New Roman" panose="02020603050405020304"/>
                      </a:rPr>
                      <m:t>𝑄</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1" noProof="1">
                            <a:solidFill>
                              <a:srgbClr val="000000"/>
                            </a:solidFill>
                            <a:latin typeface="Times New Roman" panose="02020603050405020304"/>
                          </a:rPr>
                          <m:t>𝑝</m:t>
                        </m:r>
                      </m:sub>
                    </m:sSub>
                  </m:oMath>
                </a14:m>
                <a:r>
                  <a:rPr lang="en-US" sz="3200" noProof="1">
                    <a:solidFill>
                      <a:srgbClr val="000000"/>
                    </a:solidFill>
                    <a:latin typeface="Times New Roman" panose="02020603050405020304"/>
                    <a:ea typeface="宋体" panose="02010600030101010101" pitchFamily="2" charset="-122"/>
                  </a:rPr>
                  <a:t>，所谓</a:t>
                </a:r>
                <a14:m>
                  <m:oMath xmlns:m="http://schemas.openxmlformats.org/officeDocument/2006/math">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𝑄</m:t>
                    </m:r>
                  </m:oMath>
                </a14:m>
                <a:r>
                  <a:rPr lang="en-US" sz="3200" noProof="1">
                    <a:solidFill>
                      <a:srgbClr val="000000"/>
                    </a:solidFill>
                    <a:latin typeface="Times New Roman" panose="02020603050405020304"/>
                    <a:ea typeface="宋体" panose="02010600030101010101" pitchFamily="2" charset="-122"/>
                  </a:rPr>
                  <a:t>是指这样一个点</a:t>
                </a:r>
                <a14:m>
                  <m:oMath xmlns:m="http://schemas.openxmlformats.org/officeDocument/2006/math">
                    <m:r>
                      <a:rPr lang="en-US" sz="3200" i="1" noProof="1">
                        <a:solidFill>
                          <a:srgbClr val="000000"/>
                        </a:solidFill>
                        <a:latin typeface="Times New Roman" panose="02020603050405020304"/>
                      </a:rPr>
                      <m:t>𝑅</m:t>
                    </m:r>
                  </m:oMath>
                </a14:m>
                <a:r>
                  <a:rPr lang="en-US" sz="3200" noProof="1">
                    <a:solidFill>
                      <a:srgbClr val="000000"/>
                    </a:solidFill>
                    <a:latin typeface="Times New Roman" panose="02020603050405020304"/>
                    <a:ea typeface="宋体" panose="02010600030101010101" pitchFamily="2" charset="-122"/>
                  </a:rPr>
                  <a:t>，设</a:t>
                </a:r>
                <a14:m>
                  <m:oMath xmlns:m="http://schemas.openxmlformats.org/officeDocument/2006/math">
                    <m:r>
                      <a:rPr lang="en-US" sz="3200" i="1" noProof="1">
                        <a:solidFill>
                          <a:srgbClr val="000000"/>
                        </a:solidFill>
                        <a:latin typeface="Times New Roman" panose="02020603050405020304"/>
                      </a:rPr>
                      <m:t>𝐿</m:t>
                    </m:r>
                  </m:oMath>
                </a14:m>
                <a:r>
                  <a:rPr lang="en-US" sz="3200" noProof="1">
                    <a:solidFill>
                      <a:srgbClr val="000000"/>
                    </a:solidFill>
                    <a:latin typeface="Times New Roman" panose="02020603050405020304"/>
                    <a:ea typeface="宋体" panose="02010600030101010101" pitchFamily="2" charset="-122"/>
                  </a:rPr>
                  <a:t>是</a:t>
                </a:r>
                <a14:m>
                  <m:oMath xmlns:m="http://schemas.openxmlformats.org/officeDocument/2006/math">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 </m:t>
                    </m:r>
                    <m:r>
                      <a:rPr lang="en-US" sz="3200" i="1" noProof="1">
                        <a:solidFill>
                          <a:srgbClr val="000000"/>
                        </a:solidFill>
                        <a:latin typeface="Times New Roman" panose="02020603050405020304"/>
                      </a:rPr>
                      <m:t>𝑄</m:t>
                    </m:r>
                  </m:oMath>
                </a14:m>
                <a:r>
                  <a:rPr lang="en-US" sz="3200" noProof="1">
                    <a:solidFill>
                      <a:srgbClr val="000000"/>
                    </a:solidFill>
                    <a:latin typeface="Times New Roman" panose="02020603050405020304"/>
                    <a:ea typeface="宋体" panose="02010600030101010101" pitchFamily="2" charset="-122"/>
                  </a:rPr>
                  <a:t>两点的连线，若</a:t>
                </a:r>
                <a14:m>
                  <m:oMath xmlns:m="http://schemas.openxmlformats.org/officeDocument/2006/math">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𝑄</m:t>
                    </m:r>
                  </m:oMath>
                </a14:m>
                <a:r>
                  <a:rPr lang="en-US" sz="3200" noProof="1">
                    <a:solidFill>
                      <a:srgbClr val="000000"/>
                    </a:solidFill>
                    <a:latin typeface="Times New Roman" panose="02020603050405020304"/>
                    <a:ea typeface="宋体" panose="02010600030101010101" pitchFamily="2" charset="-122"/>
                  </a:rPr>
                  <a:t>，则退化为</a:t>
                </a:r>
                <a14:m>
                  <m:oMath xmlns:m="http://schemas.openxmlformats.org/officeDocument/2006/math">
                    <m:r>
                      <a:rPr lang="en-US" sz="3200" i="1" noProof="1">
                        <a:solidFill>
                          <a:srgbClr val="000000"/>
                        </a:solidFill>
                        <a:latin typeface="Times New Roman" panose="02020603050405020304"/>
                      </a:rPr>
                      <m:t>𝑃</m:t>
                    </m:r>
                  </m:oMath>
                </a14:m>
                <a:r>
                  <a:rPr lang="en-US" sz="3200" noProof="1">
                    <a:solidFill>
                      <a:srgbClr val="000000"/>
                    </a:solidFill>
                    <a:latin typeface="Times New Roman" panose="02020603050405020304"/>
                    <a:ea typeface="宋体" panose="02010600030101010101" pitchFamily="2" charset="-122"/>
                  </a:rPr>
                  <a:t>点的切线，</a:t>
                </a:r>
                <a14:m>
                  <m:oMath xmlns:m="http://schemas.openxmlformats.org/officeDocument/2006/math">
                    <m:r>
                      <a:rPr lang="en-US" sz="3200" i="1" noProof="1">
                        <a:solidFill>
                          <a:srgbClr val="000000"/>
                        </a:solidFill>
                        <a:latin typeface="Times New Roman" panose="02020603050405020304"/>
                      </a:rPr>
                      <m:t>𝐿</m:t>
                    </m:r>
                  </m:oMath>
                </a14:m>
                <a:r>
                  <a:rPr lang="en-US" sz="3200" noProof="1">
                    <a:solidFill>
                      <a:srgbClr val="000000"/>
                    </a:solidFill>
                    <a:latin typeface="Times New Roman" panose="02020603050405020304"/>
                    <a:ea typeface="宋体" panose="02010600030101010101" pitchFamily="2" charset="-122"/>
                  </a:rPr>
                  <a:t>和椭圆曲线相交于</a:t>
                </a:r>
                <a14:m>
                  <m:oMath xmlns:m="http://schemas.openxmlformats.org/officeDocument/2006/math">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𝑅</m:t>
                        </m:r>
                      </m:e>
                      <m:sup>
                        <m:r>
                          <a:rPr lang="en-US" sz="3200" i="0" noProof="1">
                            <a:solidFill>
                              <a:srgbClr val="000000"/>
                            </a:solidFill>
                            <a:latin typeface="Times New Roman" panose="02020603050405020304"/>
                          </a:rPr>
                          <m:t>′</m:t>
                        </m:r>
                      </m:sup>
                    </m:sSup>
                  </m:oMath>
                </a14:m>
                <a:r>
                  <a:rPr lang="en-US" sz="3200" noProof="1">
                    <a:solidFill>
                      <a:srgbClr val="000000"/>
                    </a:solidFill>
                    <a:latin typeface="Times New Roman" panose="02020603050405020304"/>
                    <a:ea typeface="宋体" panose="02010600030101010101" pitchFamily="2" charset="-122"/>
                  </a:rPr>
                  <a:t>，过</a:t>
                </a:r>
                <a14:m>
                  <m:oMath xmlns:m="http://schemas.openxmlformats.org/officeDocument/2006/math">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𝑅</m:t>
                        </m:r>
                      </m:e>
                      <m:sup>
                        <m:r>
                          <a:rPr lang="en-US" sz="3200" i="0" noProof="1">
                            <a:solidFill>
                              <a:srgbClr val="000000"/>
                            </a:solidFill>
                            <a:latin typeface="Times New Roman" panose="02020603050405020304"/>
                          </a:rPr>
                          <m:t>′</m:t>
                        </m:r>
                      </m:sup>
                    </m:sSup>
                  </m:oMath>
                </a14:m>
                <a:r>
                  <a:rPr lang="en-US" sz="3200" noProof="1">
                    <a:solidFill>
                      <a:srgbClr val="000000"/>
                    </a:solidFill>
                    <a:latin typeface="Times New Roman" panose="02020603050405020304"/>
                    <a:ea typeface="宋体" panose="02010600030101010101" pitchFamily="2" charset="-122"/>
                  </a:rPr>
                  <a:t>垂直于</a:t>
                </a:r>
                <a14:m>
                  <m:oMath xmlns:m="http://schemas.openxmlformats.org/officeDocument/2006/math">
                    <m:r>
                      <a:rPr lang="en-US" sz="3200" i="1" noProof="1">
                        <a:solidFill>
                          <a:srgbClr val="000000"/>
                        </a:solidFill>
                        <a:latin typeface="Times New Roman" panose="02020603050405020304"/>
                      </a:rPr>
                      <m:t>𝑋</m:t>
                    </m:r>
                  </m:oMath>
                </a14:m>
                <a:r>
                  <a:rPr lang="en-US" sz="3200" noProof="1">
                    <a:solidFill>
                      <a:srgbClr val="000000"/>
                    </a:solidFill>
                    <a:latin typeface="Times New Roman" panose="02020603050405020304"/>
                    <a:ea typeface="宋体" panose="02010600030101010101" pitchFamily="2" charset="-122"/>
                  </a:rPr>
                  <a:t>轴的直线交椭圆曲线于</a:t>
                </a:r>
                <a14:m>
                  <m:oMath xmlns:m="http://schemas.openxmlformats.org/officeDocument/2006/math">
                    <m:r>
                      <a:rPr lang="en-US" sz="3200" i="1" noProof="1">
                        <a:solidFill>
                          <a:srgbClr val="000000"/>
                        </a:solidFill>
                        <a:latin typeface="Times New Roman" panose="02020603050405020304"/>
                      </a:rPr>
                      <m:t>𝑅</m:t>
                    </m:r>
                  </m:oMath>
                </a14:m>
                <a:r>
                  <a:rPr lang="en-US" sz="3200" noProof="1">
                    <a:solidFill>
                      <a:srgbClr val="000000"/>
                    </a:solidFill>
                    <a:latin typeface="Times New Roman" panose="02020603050405020304"/>
                    <a:ea typeface="宋体" panose="02010600030101010101" pitchFamily="2" charset="-122"/>
                  </a:rPr>
                  <a:t>，则</a:t>
                </a:r>
                <a14:m>
                  <m:oMath xmlns:m="http://schemas.openxmlformats.org/officeDocument/2006/math">
                    <m:r>
                      <a:rPr lang="en-US" sz="3200" i="1" noProof="1">
                        <a:solidFill>
                          <a:srgbClr val="000000"/>
                        </a:solidFill>
                        <a:latin typeface="Times New Roman" panose="02020603050405020304"/>
                      </a:rPr>
                      <m:t>𝑅</m:t>
                    </m:r>
                  </m:oMath>
                </a14:m>
                <a:r>
                  <a:rPr lang="en-US" sz="3200" noProof="1">
                    <a:solidFill>
                      <a:srgbClr val="000000"/>
                    </a:solidFill>
                    <a:latin typeface="Times New Roman" panose="02020603050405020304"/>
                    <a:ea typeface="宋体" panose="02010600030101010101" pitchFamily="2" charset="-122"/>
                  </a:rPr>
                  <a:t>称为</a:t>
                </a:r>
                <a14:m>
                  <m:oMath xmlns:m="http://schemas.openxmlformats.org/officeDocument/2006/math">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𝑄</m:t>
                    </m:r>
                  </m:oMath>
                </a14:m>
                <a:r>
                  <a:rPr lang="en-US" sz="3200" noProof="1">
                    <a:solidFill>
                      <a:srgbClr val="000000"/>
                    </a:solidFill>
                    <a:latin typeface="Times New Roman" panose="02020603050405020304"/>
                    <a:ea typeface="宋体" panose="02010600030101010101" pitchFamily="2" charset="-122"/>
                  </a:rPr>
                  <a:t>。</a:t>
                </a:r>
                <a:endParaRPr lang="en-US" sz="3200" noProof="1"/>
              </a:p>
            </p:txBody>
          </p:sp>
        </mc:Choice>
        <mc:Fallback>
          <p:sp>
            <p:nvSpPr>
              <p:cNvPr id="6" name="body-81j2"/>
              <p:cNvSpPr txBox="1">
                <a:spLocks noRot="1" noChangeAspect="1" noMove="1" noResize="1" noEditPoints="1" noAdjustHandles="1" noChangeArrowheads="1" noChangeShapeType="1" noTextEdit="1"/>
              </p:cNvSpPr>
              <p:nvPr/>
            </p:nvSpPr>
            <p:spPr>
              <a:xfrm>
                <a:off x="1724660" y="7937500"/>
                <a:ext cx="14818360" cy="1270000"/>
              </a:xfrm>
              <a:prstGeom prst="rect">
                <a:avLst/>
              </a:prstGeom>
              <a:blipFill rotWithShape="1">
                <a:blip r:embed="rId4"/>
                <a:stretch>
                  <a:fillRect r="-1757" b="-43800"/>
                </a:stretch>
              </a:blipFill>
              <a:ln>
                <a:noFill/>
              </a:ln>
            </p:spPr>
            <p:txBody>
              <a:bodyPr/>
              <a:lstStyle/>
              <a:p>
                <a:r>
                  <a:rPr lang="zh-CN" altLang="en-US">
                    <a:noFill/>
                  </a:rPr>
                  <a:t> </a:t>
                </a:r>
              </a:p>
            </p:txBody>
          </p:sp>
        </mc:Fallback>
      </mc:AlternateContent>
      <p:sp>
        <p:nvSpPr>
          <p:cNvPr id="7" name="pagenum-81j"/>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17</a:t>
            </a:r>
            <a:endParaRPr lang="en-US" sz="1400" noProof="1"/>
          </a:p>
        </p:txBody>
      </p:sp>
      <p:sp>
        <p:nvSpPr>
          <p:cNvPr id="8" name="bookhead-81a"/>
          <p:cNvSpPr txBox="1"/>
          <p:nvPr>
            <p:custDataLst>
              <p:tags r:id="rId5"/>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custDataLst>
              <p:tags r:id="rId6"/>
            </p:custDataLst>
          </p:nvPr>
        </p:nvPicPr>
        <p:blipFill>
          <a:blip r:embed="rId7"/>
          <a:stretch>
            <a:fillRect/>
          </a:stretch>
        </p:blipFill>
        <p:spPr>
          <a:xfrm>
            <a:off x="13731240" y="1102360"/>
            <a:ext cx="2771140" cy="46990"/>
          </a:xfrm>
          <a:prstGeom prst="rect">
            <a:avLst/>
          </a:prstGeom>
          <a:ln>
            <a:noFill/>
          </a:ln>
        </p:spPr>
      </p:pic>
      <p:sp>
        <p:nvSpPr>
          <p:cNvPr id="19" name="gradbar-81b"/>
          <p:cNvSpPr/>
          <p:nvPr>
            <p:custDataLst>
              <p:tags r:id="rId8"/>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20" name="secnum-81b"/>
          <p:cNvSpPr txBox="1"/>
          <p:nvPr>
            <p:custDataLst>
              <p:tags r:id="rId9"/>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21" name="sectitle-81b"/>
          <p:cNvSpPr txBox="1"/>
          <p:nvPr>
            <p:custDataLst>
              <p:tags r:id="rId10"/>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椭圆曲线上的</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运算</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22" name="logo-81b"/>
          <p:cNvPicPr/>
          <p:nvPr>
            <p:custDataLst>
              <p:tags r:id="rId11"/>
            </p:custDataLst>
          </p:nvPr>
        </p:nvPicPr>
        <p:blipFill>
          <a:blip r:embed="rId12">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k"/>
              <p:cNvSpPr txBox="1"/>
              <p:nvPr/>
            </p:nvSpPr>
            <p:spPr>
              <a:xfrm>
                <a:off x="1724660" y="2095500"/>
                <a:ext cx="14818360" cy="4300220"/>
              </a:xfrm>
              <a:prstGeom prst="rect">
                <a:avLst/>
              </a:prstGeom>
              <a:noFill/>
              <a:ln>
                <a:noFill/>
              </a:ln>
            </p:spPr>
            <p:txBody>
              <a:bodyPr wrap="square" lIns="0" tIns="0" rIns="0" bIns="0" rtlCol="0" anchor="t"/>
              <a:lstStyle/>
              <a:p>
                <a:pPr algn="just">
                  <a:lnSpc>
                    <a:spcPct val="120000"/>
                  </a:lnSpc>
                </a:pPr>
                <a:r>
                  <a:rPr lang="en-US" sz="3200" b="1" noProof="1">
                    <a:solidFill>
                      <a:srgbClr val="000000"/>
                    </a:solidFill>
                    <a:latin typeface="Times New Roman" panose="02020603050405020304"/>
                    <a:ea typeface="宋体" panose="02010600030101010101" pitchFamily="2" charset="-122"/>
                  </a:rPr>
                  <a:t>3．椭圆曲线的阶</a:t>
                </a:r>
                <a:endParaRPr lang="en-US" sz="3200" noProof="1"/>
              </a:p>
              <a:p>
                <a:pPr algn="just">
                  <a:lnSpc>
                    <a:spcPct val="120000"/>
                  </a:lnSpc>
                </a:pPr>
                <a:r>
                  <a:rPr lang="en-US" sz="3200" noProof="1">
                    <a:solidFill>
                      <a:srgbClr val="000000"/>
                    </a:solidFill>
                    <a:latin typeface="Times New Roman" panose="02020603050405020304"/>
                    <a:ea typeface="宋体" panose="02010600030101010101" pitchFamily="2" charset="-122"/>
                  </a:rPr>
                  <a:t>    椭圆曲线的阶即椭圆曲线中元素的个数，如</a:t>
                </a:r>
                <a14:m>
                  <m:oMath xmlns:m="http://schemas.openxmlformats.org/officeDocument/2006/math">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0" noProof="1">
                            <a:solidFill>
                              <a:srgbClr val="000000"/>
                            </a:solidFill>
                            <a:latin typeface="Times New Roman" panose="02020603050405020304"/>
                          </a:rPr>
                          <m:t>11</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13</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 ∣</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0" noProof="1">
                            <a:solidFill>
                              <a:srgbClr val="000000"/>
                            </a:solidFill>
                            <a:latin typeface="Times New Roman" panose="02020603050405020304"/>
                          </a:rPr>
                          <m:t>23</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28</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algn="just">
                  <a:lnSpc>
                    <a:spcPct val="120000"/>
                  </a:lnSpc>
                </a:pPr>
                <a:r>
                  <a:rPr lang="en-US" sz="3200" b="1" noProof="1">
                    <a:solidFill>
                      <a:srgbClr val="000000"/>
                    </a:solidFill>
                    <a:latin typeface="Times New Roman" panose="02020603050405020304"/>
                    <a:ea typeface="宋体" panose="02010600030101010101" pitchFamily="2" charset="-122"/>
                  </a:rPr>
                  <a:t>    定义8.2　</a:t>
                </a:r>
                <a:r>
                  <a:rPr lang="en-US" sz="3200" noProof="1">
                    <a:solidFill>
                      <a:srgbClr val="000000"/>
                    </a:solidFill>
                    <a:latin typeface="Times New Roman" panose="02020603050405020304"/>
                    <a:ea typeface="宋体" panose="02010600030101010101" pitchFamily="2" charset="-122"/>
                  </a:rPr>
                  <a:t>椭圆曲线上元素的阶：设</a:t>
                </a:r>
                <a14:m>
                  <m:oMath xmlns:m="http://schemas.openxmlformats.org/officeDocument/2006/math">
                    <m:r>
                      <a:rPr lang="en-US" sz="3200" i="1" noProof="1">
                        <a:solidFill>
                          <a:srgbClr val="000000"/>
                        </a:solidFill>
                        <a:latin typeface="Times New Roman" panose="02020603050405020304"/>
                      </a:rPr>
                      <m:t>𝐸</m:t>
                    </m:r>
                  </m:oMath>
                </a14:m>
                <a:r>
                  <a:rPr lang="en-US" sz="3200" noProof="1">
                    <a:solidFill>
                      <a:srgbClr val="000000"/>
                    </a:solidFill>
                    <a:latin typeface="Times New Roman" panose="02020603050405020304"/>
                    <a:ea typeface="宋体" panose="02010600030101010101" pitchFamily="2" charset="-122"/>
                  </a:rPr>
                  <a:t>是有限域</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𝑍</m:t>
                        </m:r>
                      </m:e>
                      <m:sub>
                        <m:r>
                          <a:rPr lang="en-US" sz="3200" i="1" noProof="1">
                            <a:solidFill>
                              <a:srgbClr val="000000"/>
                            </a:solidFill>
                            <a:latin typeface="Times New Roman" panose="02020603050405020304"/>
                          </a:rPr>
                          <m:t>𝑝</m:t>
                        </m:r>
                      </m:sub>
                    </m:sSub>
                  </m:oMath>
                </a14:m>
                <a:r>
                  <a:rPr lang="en-US" sz="3200" noProof="1">
                    <a:solidFill>
                      <a:srgbClr val="000000"/>
                    </a:solidFill>
                    <a:latin typeface="Times New Roman" panose="02020603050405020304"/>
                    <a:ea typeface="宋体" panose="02010600030101010101" pitchFamily="2" charset="-122"/>
                  </a:rPr>
                  <a:t>上的椭圆曲线，</a:t>
                </a:r>
                <a14:m>
                  <m:oMath xmlns:m="http://schemas.openxmlformats.org/officeDocument/2006/math">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𝐸</m:t>
                    </m:r>
                  </m:oMath>
                </a14:m>
                <a:r>
                  <a:rPr lang="en-US" sz="3200" noProof="1">
                    <a:solidFill>
                      <a:srgbClr val="000000"/>
                    </a:solidFill>
                    <a:latin typeface="Times New Roman" panose="02020603050405020304"/>
                    <a:ea typeface="宋体" panose="02010600030101010101" pitchFamily="2" charset="-122"/>
                  </a:rPr>
                  <a:t>，称满足</a:t>
                </a:r>
                <a14:m>
                  <m:oMath xmlns:m="http://schemas.openxmlformats.org/officeDocument/2006/math">
                    <m:r>
                      <a:rPr lang="en-US" sz="3200" i="1" noProof="1">
                        <a:solidFill>
                          <a:srgbClr val="000000"/>
                        </a:solidFill>
                        <a:latin typeface="Times New Roman" panose="02020603050405020304"/>
                      </a:rPr>
                      <m:t>𝑛𝑃</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𝑂</m:t>
                    </m:r>
                  </m:oMath>
                </a14:m>
                <a:r>
                  <a:rPr lang="en-US" sz="3200" noProof="1">
                    <a:solidFill>
                      <a:srgbClr val="000000"/>
                    </a:solidFill>
                    <a:latin typeface="Times New Roman" panose="02020603050405020304"/>
                    <a:ea typeface="宋体" panose="02010600030101010101" pitchFamily="2" charset="-122"/>
                  </a:rPr>
                  <a:t>的最小正整数</a:t>
                </a:r>
                <a14:m>
                  <m:oMath xmlns:m="http://schemas.openxmlformats.org/officeDocument/2006/math">
                    <m:r>
                      <a:rPr lang="en-US" sz="3200" i="1" noProof="1">
                        <a:solidFill>
                          <a:srgbClr val="000000"/>
                        </a:solidFill>
                        <a:latin typeface="Times New Roman" panose="02020603050405020304"/>
                      </a:rPr>
                      <m:t>𝑛</m:t>
                    </m:r>
                  </m:oMath>
                </a14:m>
                <a:r>
                  <a:rPr lang="en-US" sz="3200" noProof="1">
                    <a:solidFill>
                      <a:srgbClr val="000000"/>
                    </a:solidFill>
                    <a:latin typeface="Times New Roman" panose="02020603050405020304"/>
                    <a:ea typeface="宋体" panose="02010600030101010101" pitchFamily="2" charset="-122"/>
                  </a:rPr>
                  <a:t>为元素</a:t>
                </a:r>
                <a14:m>
                  <m:oMath xmlns:m="http://schemas.openxmlformats.org/officeDocument/2006/math">
                    <m:r>
                      <a:rPr lang="en-US" sz="3200" i="1" noProof="1">
                        <a:solidFill>
                          <a:srgbClr val="000000"/>
                        </a:solidFill>
                        <a:latin typeface="Times New Roman" panose="02020603050405020304"/>
                      </a:rPr>
                      <m:t>𝑃</m:t>
                    </m:r>
                  </m:oMath>
                </a14:m>
                <a:r>
                  <a:rPr lang="en-US" sz="3200" noProof="1">
                    <a:solidFill>
                      <a:srgbClr val="000000"/>
                    </a:solidFill>
                    <a:latin typeface="Times New Roman" panose="02020603050405020304"/>
                    <a:ea typeface="宋体" panose="02010600030101010101" pitchFamily="2" charset="-122"/>
                  </a:rPr>
                  <a:t>的阶，记为</a:t>
                </a:r>
                <a14:m>
                  <m:oMath xmlns:m="http://schemas.openxmlformats.org/officeDocument/2006/math">
                    <m:r>
                      <a:rPr lang="en-US" sz="3200" i="0" noProof="1">
                        <a:solidFill>
                          <a:srgbClr val="000000"/>
                        </a:solidFill>
                        <a:latin typeface="Times New Roman" panose="02020603050405020304"/>
                      </a:rPr>
                      <m:t>𝑜</m:t>
                    </m:r>
                    <m:r>
                      <a:rPr lang="en-US" sz="3200" i="0" noProof="1">
                        <a:solidFill>
                          <a:srgbClr val="000000"/>
                        </a:solidFill>
                        <a:latin typeface="Times New Roman" panose="02020603050405020304"/>
                      </a:rPr>
                      <m:t>𝑟𝑑</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algn="just">
                  <a:lnSpc>
                    <a:spcPct val="120000"/>
                  </a:lnSpc>
                </a:pPr>
                <a:r>
                  <a:rPr lang="en-US" sz="3200" b="1" noProof="1">
                    <a:solidFill>
                      <a:srgbClr val="000000"/>
                    </a:solidFill>
                    <a:latin typeface="Times New Roman" panose="02020603050405020304"/>
                    <a:ea typeface="宋体" panose="02010600030101010101" pitchFamily="2" charset="-122"/>
                  </a:rPr>
                  <a:t>    定义8.3　</a:t>
                </a:r>
                <a:r>
                  <a:rPr lang="en-US" sz="3200" noProof="1">
                    <a:solidFill>
                      <a:srgbClr val="000000"/>
                    </a:solidFill>
                    <a:latin typeface="Times New Roman" panose="02020603050405020304"/>
                    <a:ea typeface="宋体" panose="02010600030101010101" pitchFamily="2" charset="-122"/>
                  </a:rPr>
                  <a:t>生成元（本原元）：设</a:t>
                </a:r>
                <a14:m>
                  <m:oMath xmlns:m="http://schemas.openxmlformats.org/officeDocument/2006/math">
                    <m:r>
                      <a:rPr lang="en-US" sz="3200" i="1" noProof="1">
                        <a:solidFill>
                          <a:srgbClr val="000000"/>
                        </a:solidFill>
                        <a:latin typeface="Times New Roman" panose="02020603050405020304"/>
                      </a:rPr>
                      <m:t>𝐸</m:t>
                    </m:r>
                  </m:oMath>
                </a14:m>
                <a:r>
                  <a:rPr lang="en-US" sz="3200" noProof="1">
                    <a:solidFill>
                      <a:srgbClr val="000000"/>
                    </a:solidFill>
                    <a:latin typeface="Times New Roman" panose="02020603050405020304"/>
                    <a:ea typeface="宋体" panose="02010600030101010101" pitchFamily="2" charset="-122"/>
                  </a:rPr>
                  <a:t>是有限域</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𝑍</m:t>
                        </m:r>
                      </m:e>
                      <m:sub>
                        <m:r>
                          <a:rPr lang="en-US" sz="3200" i="1" noProof="1">
                            <a:solidFill>
                              <a:srgbClr val="000000"/>
                            </a:solidFill>
                            <a:latin typeface="Times New Roman" panose="02020603050405020304"/>
                          </a:rPr>
                          <m:t>𝑝</m:t>
                        </m:r>
                      </m:sub>
                    </m:sSub>
                  </m:oMath>
                </a14:m>
                <a:r>
                  <a:rPr lang="en-US" sz="3200" noProof="1">
                    <a:solidFill>
                      <a:srgbClr val="000000"/>
                    </a:solidFill>
                    <a:latin typeface="Times New Roman" panose="02020603050405020304"/>
                    <a:ea typeface="宋体" panose="02010600030101010101" pitchFamily="2" charset="-122"/>
                  </a:rPr>
                  <a:t>上的椭圆曲线，</a:t>
                </a:r>
                <a14:m>
                  <m:oMath xmlns:m="http://schemas.openxmlformats.org/officeDocument/2006/math">
                    <m:r>
                      <a:rPr lang="en-US" sz="3200" i="1" noProof="1">
                        <a:solidFill>
                          <a:srgbClr val="000000"/>
                        </a:solidFill>
                        <a:latin typeface="Times New Roman" panose="02020603050405020304"/>
                      </a:rPr>
                      <m:t>𝐺</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𝐸</m:t>
                    </m:r>
                  </m:oMath>
                </a14:m>
                <a:r>
                  <a:rPr lang="en-US" sz="3200" noProof="1">
                    <a:solidFill>
                      <a:srgbClr val="000000"/>
                    </a:solidFill>
                    <a:latin typeface="Times New Roman" panose="02020603050405020304"/>
                    <a:ea typeface="宋体" panose="02010600030101010101" pitchFamily="2" charset="-122"/>
                  </a:rPr>
                  <a:t>，若</a:t>
                </a:r>
                <a14:m>
                  <m:oMath xmlns:m="http://schemas.openxmlformats.org/officeDocument/2006/math">
                    <m:r>
                      <a:rPr lang="en-US" sz="3200" i="0" noProof="1">
                        <a:solidFill>
                          <a:srgbClr val="000000"/>
                        </a:solidFill>
                        <a:latin typeface="Times New Roman" panose="02020603050405020304"/>
                      </a:rPr>
                      <m:t>𝑜</m:t>
                    </m:r>
                    <m:r>
                      <a:rPr lang="en-US" sz="3200" i="0" noProof="1">
                        <a:solidFill>
                          <a:srgbClr val="000000"/>
                        </a:solidFill>
                        <a:latin typeface="Times New Roman" panose="02020603050405020304"/>
                      </a:rPr>
                      <m:t>𝑟𝑑</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𝐺</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，称</a:t>
                </a:r>
                <a14:m>
                  <m:oMath xmlns:m="http://schemas.openxmlformats.org/officeDocument/2006/math">
                    <m:r>
                      <a:rPr lang="en-US" sz="3200" i="1" noProof="1">
                        <a:solidFill>
                          <a:srgbClr val="000000"/>
                        </a:solidFill>
                        <a:latin typeface="Times New Roman" panose="02020603050405020304"/>
                      </a:rPr>
                      <m:t>𝐺</m:t>
                    </m:r>
                  </m:oMath>
                </a14:m>
                <a:r>
                  <a:rPr lang="en-US" sz="3200" noProof="1">
                    <a:solidFill>
                      <a:srgbClr val="000000"/>
                    </a:solidFill>
                    <a:latin typeface="Times New Roman" panose="02020603050405020304"/>
                    <a:ea typeface="宋体" panose="02010600030101010101" pitchFamily="2" charset="-122"/>
                  </a:rPr>
                  <a:t>为</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的生成元。</a:t>
                </a:r>
                <a:endParaRPr lang="en-US" sz="3200" noProof="1"/>
              </a:p>
            </p:txBody>
          </p:sp>
        </mc:Choice>
        <mc:Fallback>
          <p:sp>
            <p:nvSpPr>
              <p:cNvPr id="3" name="body-81k"/>
              <p:cNvSpPr txBox="1">
                <a:spLocks noRot="1" noChangeAspect="1" noMove="1" noResize="1" noEditPoints="1" noAdjustHandles="1" noChangeArrowheads="1" noChangeShapeType="1" noTextEdit="1"/>
              </p:cNvSpPr>
              <p:nvPr/>
            </p:nvSpPr>
            <p:spPr>
              <a:xfrm>
                <a:off x="1724660" y="2095500"/>
                <a:ext cx="14818360" cy="430022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81k"/>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18</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16" name="gradbar-81b"/>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num-81b"/>
          <p:cNvSpPr txBox="1"/>
          <p:nvPr>
            <p:custDataLst>
              <p:tags r:id="rId6"/>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title-81b"/>
          <p:cNvSpPr txBox="1"/>
          <p:nvPr>
            <p:custDataLst>
              <p:tags r:id="rId7"/>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椭圆曲线上的</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运算</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1b"/>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l1"/>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椭圆曲线</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𝐸</m:t>
                        </m:r>
                      </m:e>
                      <m:sub>
                        <m:r>
                          <a:rPr lang="en-US" sz="3600" i="0" noProof="1">
                            <a:solidFill>
                              <a:srgbClr val="000000"/>
                            </a:solidFill>
                            <a:latin typeface="Times New Roman" panose="02020603050405020304"/>
                          </a:rPr>
                          <m:t>11</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6</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上的点分布如表8.4所示。</a:t>
                </a:r>
                <a:endParaRPr lang="en-US" sz="3600" noProof="1"/>
              </a:p>
            </p:txBody>
          </p:sp>
        </mc:Choice>
        <mc:Fallback>
          <p:sp>
            <p:nvSpPr>
              <p:cNvPr id="3" name="body-81l1"/>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imgcap-81l1"/>
              <p:cNvSpPr txBox="1"/>
              <p:nvPr/>
            </p:nvSpPr>
            <p:spPr>
              <a:xfrm>
                <a:off x="1734820" y="281432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表8.4　椭圆曲线</a:t>
                </a:r>
                <a14:m>
                  <m:oMath xmlns:m="http://schemas.openxmlformats.org/officeDocument/2006/math">
                    <m:sSub>
                      <m:sSubPr>
                        <m:ctrlPr>
                          <a:rPr lang="en-US" noProof="1">
                            <a:solidFill>
                              <a:srgbClr val="000000"/>
                            </a:solidFill>
                            <a:latin typeface="Times New Roman" panose="02020603050405020304"/>
                          </a:rPr>
                        </m:ctrlPr>
                      </m:sSubPr>
                      <m:e>
                        <m:r>
                          <a:rPr lang="en-US" i="1" noProof="1">
                            <a:solidFill>
                              <a:srgbClr val="000000"/>
                            </a:solidFill>
                            <a:latin typeface="Times New Roman" panose="02020603050405020304"/>
                          </a:rPr>
                          <m:t>𝐸</m:t>
                        </m:r>
                      </m:e>
                      <m:sub>
                        <m:r>
                          <a:rPr lang="en-US" i="0" noProof="1">
                            <a:solidFill>
                              <a:srgbClr val="000000"/>
                            </a:solidFill>
                            <a:latin typeface="Times New Roman" panose="02020603050405020304"/>
                          </a:rPr>
                          <m:t>1</m:t>
                        </m:r>
                        <m:r>
                          <a:rPr lang="en-US" i="0" noProof="1">
                            <a:solidFill>
                              <a:srgbClr val="000000"/>
                            </a:solidFill>
                            <a:latin typeface="Times New Roman" panose="02020603050405020304"/>
                          </a:rPr>
                          <m:t>1</m:t>
                        </m:r>
                      </m:sub>
                    </m:sSub>
                    <m:r>
                      <a:rPr lang="en-US" i="0" noProof="1">
                        <a:solidFill>
                          <a:srgbClr val="000000"/>
                        </a:solidFill>
                        <a:latin typeface="Times New Roman" panose="02020603050405020304"/>
                      </a:rPr>
                      <m:t>(</m:t>
                    </m:r>
                    <m:r>
                      <a:rPr lang="en-US" i="0" noProof="1">
                        <a:solidFill>
                          <a:srgbClr val="000000"/>
                        </a:solidFill>
                        <a:latin typeface="Times New Roman" panose="02020603050405020304"/>
                      </a:rPr>
                      <m:t>1</m:t>
                    </m:r>
                    <m:r>
                      <a:rPr lang="en-US" i="0" noProof="1">
                        <a:solidFill>
                          <a:srgbClr val="000000"/>
                        </a:solidFill>
                        <a:latin typeface="Times New Roman" panose="02020603050405020304"/>
                      </a:rPr>
                      <m:t>,</m:t>
                    </m:r>
                    <m:r>
                      <a:rPr lang="en-US" i="0" noProof="1">
                        <a:solidFill>
                          <a:srgbClr val="000000"/>
                        </a:solidFill>
                        <a:latin typeface="Times New Roman" panose="02020603050405020304"/>
                      </a:rPr>
                      <m:t>6</m:t>
                    </m:r>
                    <m:r>
                      <a:rPr lang="en-US" i="0" noProof="1">
                        <a:solidFill>
                          <a:srgbClr val="000000"/>
                        </a:solidFill>
                        <a:latin typeface="Times New Roman" panose="02020603050405020304"/>
                      </a:rPr>
                      <m:t>)</m:t>
                    </m:r>
                  </m:oMath>
                </a14:m>
                <a:r>
                  <a:rPr lang="en-US" sz="1600" noProof="1">
                    <a:solidFill>
                      <a:srgbClr val="000000"/>
                    </a:solidFill>
                    <a:latin typeface="Times New Roman" panose="02020603050405020304"/>
                    <a:ea typeface="Times New Roman" panose="02020603050405020304"/>
                  </a:rPr>
                  <a:t>上的点分布</a:t>
                </a:r>
                <a:endParaRPr lang="en-US" sz="1600" noProof="1"/>
              </a:p>
            </p:txBody>
          </p:sp>
        </mc:Choice>
        <mc:Fallback>
          <p:sp>
            <p:nvSpPr>
              <p:cNvPr id="4" name="imgcap-81l1"/>
              <p:cNvSpPr txBox="1">
                <a:spLocks noRot="1" noChangeAspect="1" noMove="1" noResize="1" noEditPoints="1" noAdjustHandles="1" noChangeArrowheads="1" noChangeShapeType="1" noTextEdit="1"/>
              </p:cNvSpPr>
              <p:nvPr/>
            </p:nvSpPr>
            <p:spPr>
              <a:xfrm>
                <a:off x="1734820" y="2814320"/>
                <a:ext cx="14818360" cy="508000"/>
              </a:xfrm>
              <a:prstGeom prst="rect">
                <a:avLst/>
              </a:prstGeom>
              <a:blipFill rotWithShape="1">
                <a:blip r:embed="rId2"/>
                <a:stretch>
                  <a:fillRect/>
                </a:stretch>
              </a:blipFill>
              <a:ln>
                <a:noFill/>
              </a:ln>
            </p:spPr>
            <p:txBody>
              <a:bodyPr/>
              <a:lstStyle/>
              <a:p>
                <a:r>
                  <a:rPr lang="zh-CN" altLang="en-US">
                    <a:noFill/>
                  </a:rPr>
                  <a:t> </a:t>
                </a:r>
              </a:p>
            </p:txBody>
          </p:sp>
        </mc:Fallback>
      </mc:AlternateContent>
      <p:graphicFrame>
        <p:nvGraphicFramePr>
          <p:cNvPr id="5" name="table-81l1"/>
          <p:cNvGraphicFramePr>
            <a:graphicFrameLocks noGrp="1"/>
          </p:cNvGraphicFramePr>
          <p:nvPr/>
        </p:nvGraphicFramePr>
        <p:xfrm>
          <a:off x="1905000" y="3175000"/>
          <a:ext cx="14506956" cy="1524000"/>
        </p:xfrm>
        <a:graphic>
          <a:graphicData uri="http://schemas.openxmlformats.org/drawingml/2006/table">
            <a:tbl>
              <a:tblPr/>
              <a:tblGrid>
                <a:gridCol w="2417826"/>
                <a:gridCol w="2417826"/>
                <a:gridCol w="2417826"/>
                <a:gridCol w="2417826"/>
                <a:gridCol w="2417826"/>
                <a:gridCol w="2417826"/>
              </a:tblGrid>
              <a:tr h="762000">
                <a:tc>
                  <a:txBody>
                    <a:bodyPr wrap="square" rtlCol="0"/>
                    <a:lstStyle/>
                    <a:p>
                      <a:pPr algn="ctr"/>
                      <a:r>
                        <a:rPr lang="en-US" sz="2200" b="1" noProof="1">
                          <a:solidFill>
                            <a:srgbClr val="333333"/>
                          </a:solidFill>
                          <a:latin typeface="Times New Roman" panose="02020603050405020304"/>
                          <a:ea typeface="宋体" panose="02010600030101010101" pitchFamily="2" charset="-122"/>
                        </a:rPr>
                        <a:t>(2，4)</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(3，5)</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(5，2)</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(7，2)</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(8，3)</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b="1" noProof="1">
                          <a:solidFill>
                            <a:srgbClr val="333333"/>
                          </a:solidFill>
                          <a:latin typeface="Times New Roman" panose="02020603050405020304"/>
                          <a:ea typeface="宋体" panose="02010600030101010101" pitchFamily="2" charset="-122"/>
                        </a:rPr>
                        <a:t>(10，2)</a:t>
                      </a:r>
                      <a:endParaRPr lang="en-US" sz="2200" b="1"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762000">
                <a:tc>
                  <a:txBody>
                    <a:bodyPr wrap="square" rtlCol="0"/>
                    <a:lstStyle/>
                    <a:p>
                      <a:pPr algn="ctr"/>
                      <a:r>
                        <a:rPr lang="en-US" sz="2200" noProof="1">
                          <a:solidFill>
                            <a:srgbClr val="333333"/>
                          </a:solidFill>
                          <a:latin typeface="Times New Roman" panose="02020603050405020304"/>
                          <a:ea typeface="宋体" panose="02010600030101010101" pitchFamily="2" charset="-122"/>
                        </a:rPr>
                        <a:t>(2，7)</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(3，6)</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(5，9)</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(7，9)</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(8，8)</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200" noProof="1">
                          <a:solidFill>
                            <a:srgbClr val="333333"/>
                          </a:solidFill>
                          <a:latin typeface="Times New Roman" panose="02020603050405020304"/>
                          <a:ea typeface="宋体" panose="02010600030101010101" pitchFamily="2" charset="-122"/>
                        </a:rPr>
                        <a:t>(10，9)</a:t>
                      </a:r>
                      <a:endParaRPr lang="en-US" sz="2200" noProof="1">
                        <a:solidFill>
                          <a:srgbClr val="333333"/>
                        </a:solidFill>
                        <a:latin typeface="Times New Roman" panose="02020603050405020304"/>
                        <a:ea typeface="宋体" panose="02010600030101010101" pitchFamily="2" charset="-122"/>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
        <p:nvSpPr>
          <p:cNvPr id="6" name="body-81l2"/>
          <p:cNvSpPr txBox="1"/>
          <p:nvPr/>
        </p:nvSpPr>
        <p:spPr>
          <a:xfrm>
            <a:off x="1724660" y="5080000"/>
            <a:ext cx="14818360" cy="167195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    对于点G=(2，7），分别计算1G、2G、3G、4G、5G、6G、7G、8G、9G、10G、11G、12G、13G，验证G的生成元</a:t>
            </a:r>
            <a:r>
              <a:rPr lang="zh-CN" alt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endParaRPr lang="en-US" sz="3600" noProof="1"/>
          </a:p>
        </p:txBody>
      </p:sp>
      <p:sp>
        <p:nvSpPr>
          <p:cNvPr id="7" name="pagenum-81l"/>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19</a:t>
            </a:r>
            <a:endParaRPr lang="en-US" sz="1400" noProof="1"/>
          </a:p>
        </p:txBody>
      </p:sp>
      <p:sp>
        <p:nvSpPr>
          <p:cNvPr id="8" name="bookhead-81a"/>
          <p:cNvSpPr txBox="1"/>
          <p:nvPr>
            <p:custDataLst>
              <p:tags r:id="rId3"/>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custDataLst>
              <p:tags r:id="rId4"/>
            </p:custDataLst>
          </p:nvPr>
        </p:nvPicPr>
        <p:blipFill>
          <a:blip r:embed="rId5"/>
          <a:stretch>
            <a:fillRect/>
          </a:stretch>
        </p:blipFill>
        <p:spPr>
          <a:xfrm>
            <a:off x="13731240" y="1102360"/>
            <a:ext cx="2771140" cy="46990"/>
          </a:xfrm>
          <a:prstGeom prst="rect">
            <a:avLst/>
          </a:prstGeom>
          <a:ln>
            <a:noFill/>
          </a:ln>
        </p:spPr>
      </p:pic>
      <p:sp>
        <p:nvSpPr>
          <p:cNvPr id="10" name="gradbar-81b"/>
          <p:cNvSpPr/>
          <p:nvPr>
            <p:custDataLst>
              <p:tags r:id="rId6"/>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2" name="secnum-81b"/>
          <p:cNvSpPr txBox="1"/>
          <p:nvPr>
            <p:custDataLst>
              <p:tags r:id="rId7"/>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7" name="sectitle-81b"/>
          <p:cNvSpPr txBox="1"/>
          <p:nvPr>
            <p:custDataLst>
              <p:tags r:id="rId8"/>
            </p:custDataLst>
          </p:nvPr>
        </p:nvSpPr>
        <p:spPr>
          <a:xfrm>
            <a:off x="2755900" y="494030"/>
            <a:ext cx="46990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椭圆曲线上的</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运算</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8" name="logo-81b"/>
          <p:cNvPicPr/>
          <p:nvPr>
            <p:custDataLst>
              <p:tags r:id="rId9"/>
            </p:custDataLst>
          </p:nvPr>
        </p:nvPicPr>
        <p:blipFill>
          <a:blip r:embed="rId10">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body-81l2"/>
              <p:cNvSpPr txBox="1"/>
              <p:nvPr/>
            </p:nvSpPr>
            <p:spPr>
              <a:xfrm>
                <a:off x="1724660" y="2730500"/>
                <a:ext cx="14818360" cy="2413000"/>
              </a:xfrm>
              <a:prstGeom prst="rect">
                <a:avLst/>
              </a:prstGeom>
              <a:noFill/>
              <a:ln>
                <a:noFill/>
              </a:ln>
            </p:spPr>
            <p:txBody>
              <a:bodyPr wrap="square" lIns="0" tIns="0" rIns="0" bIns="0" rtlCol="0" anchor="t"/>
              <a:lstStyle/>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    </a:t>
                </a:r>
                <a:r>
                  <a:rPr lang="en-US" sz="3600" b="1"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定义8.4 </a:t>
                </a:r>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设</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r>
                      <a:rPr lang="en-US" sz="3600" i="0" noProof="1">
                        <a:solidFill>
                          <a:srgbClr val="000000"/>
                        </a:solidFill>
                        <a:latin typeface="Cambria Math" panose="02040503050406030204" charset="0"/>
                        <a:ea typeface="MS Mincho" charset="0"/>
                        <a:cs typeface="Cambria Math" panose="02040503050406030204" charset="0"/>
                      </a:rPr>
                      <m:t>&gt;</m:t>
                    </m:r>
                    <m:r>
                      <a:rPr lang="en-US" sz="3600" i="0" noProof="1">
                        <a:solidFill>
                          <a:srgbClr val="000000"/>
                        </a:solidFill>
                        <a:latin typeface="Cambria Math" panose="02040503050406030204" charset="0"/>
                        <a:ea typeface="MS Mincho" charset="0"/>
                        <a:cs typeface="Cambria Math" panose="02040503050406030204" charset="0"/>
                      </a:rPr>
                      <m:t>3</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是一个素数，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𝐸</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是有限域</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𝑍</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sub>
                    </m:sSub>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上的椭圆曲线，</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𝐺</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是</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𝐸</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𝑎</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𝑏</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的生成元，</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𝑌</m:t>
                    </m:r>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𝐸</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𝑎</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𝑏</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，对于</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𝑌</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𝐺</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，求满足方程</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𝑥𝐺</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𝑌</m:t>
                    </m:r>
                    <m:r>
                      <a:rPr lang="en-US" sz="3600" i="0" noProof="1">
                        <a:solidFill>
                          <a:srgbClr val="000000"/>
                        </a:solidFill>
                        <a:latin typeface="Cambria Math" panose="02040503050406030204" charset="0"/>
                        <a:ea typeface="MS Mincho" charset="0"/>
                        <a:cs typeface="Cambria Math" panose="02040503050406030204" charset="0"/>
                      </a:rPr>
                      <m:t>, </m:t>
                    </m:r>
                    <m:r>
                      <a:rPr lang="en-US" sz="3600" i="0" noProof="1">
                        <a:solidFill>
                          <a:srgbClr val="000000"/>
                        </a:solidFill>
                        <a:latin typeface="Cambria Math" panose="02040503050406030204" charset="0"/>
                        <a:ea typeface="MS Mincho" charset="0"/>
                        <a:cs typeface="Cambria Math" panose="02040503050406030204" charset="0"/>
                      </a:rPr>
                      <m:t>0</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宋体" panose="02010600030101010101" pitchFamily="2" charset="-122"/>
                        <a:cs typeface="Cambria Math" panose="02040503050406030204" charset="0"/>
                      </a:rPr>
                      <m:t>𝑜𝑟𝑑</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𝐺</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的唯一整数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𝑋</m:t>
                    </m:r>
                  </m:oMath>
                </a14:m>
                <a:r>
                  <a:rPr lang="en-US" sz="36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，称为椭圆曲线上的离散对数问题。</a:t>
                </a:r>
                <a:endParaRPr lang="en-US" sz="3600" noProof="1">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6" name="body-81l2"/>
              <p:cNvSpPr txBox="1">
                <a:spLocks noRot="1" noChangeAspect="1" noMove="1" noResize="1" noEditPoints="1" noAdjustHandles="1" noChangeArrowheads="1" noChangeShapeType="1" noTextEdit="1"/>
              </p:cNvSpPr>
              <p:nvPr/>
            </p:nvSpPr>
            <p:spPr>
              <a:xfrm>
                <a:off x="1724660" y="2730500"/>
                <a:ext cx="14818360" cy="241300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7" name="pagenum-81l"/>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20</a:t>
            </a:r>
            <a:endParaRPr lang="en-US" sz="1400" noProof="1"/>
          </a:p>
        </p:txBody>
      </p:sp>
      <p:sp>
        <p:nvSpPr>
          <p:cNvPr id="8"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3" name="gradbar-81b"/>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4" name="secnum-81b"/>
          <p:cNvSpPr txBox="1"/>
          <p:nvPr>
            <p:custDataLst>
              <p:tags r:id="rId6"/>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5" name="sectitle-81b"/>
          <p:cNvSpPr txBox="1"/>
          <p:nvPr>
            <p:custDataLst>
              <p:tags r:id="rId7"/>
            </p:custDataLst>
          </p:nvPr>
        </p:nvSpPr>
        <p:spPr>
          <a:xfrm>
            <a:off x="2755900" y="494030"/>
            <a:ext cx="646938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椭圆曲线上的离散对数问题</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1b"/>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m"/>
              <p:cNvSpPr txBox="1"/>
              <p:nvPr/>
            </p:nvSpPr>
            <p:spPr>
              <a:xfrm>
                <a:off x="1724660" y="2226310"/>
                <a:ext cx="14818360" cy="583882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假设</a:t>
                </a:r>
                <a14:m>
                  <m:oMath xmlns:m="http://schemas.openxmlformats.org/officeDocument/2006/math">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𝑟𝑑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𝐺</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，目前针对椭圆曲线上离散对数问题的分析方法如下。</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（1）Pohlig-Hellman方法。设</a:t>
                </a:r>
                <a14:m>
                  <m:oMath xmlns:m="http://schemas.openxmlformats.org/officeDocument/2006/math">
                    <m:r>
                      <a:rPr lang="en-US" sz="3600" i="1" noProof="1">
                        <a:solidFill>
                          <a:srgbClr val="000000"/>
                        </a:solidFill>
                        <a:latin typeface="Times New Roman" panose="02020603050405020304"/>
                      </a:rPr>
                      <m:t>𝑙</m:t>
                    </m:r>
                  </m:oMath>
                </a14:m>
                <a:r>
                  <a:rPr lang="en-US" sz="3600" noProof="1">
                    <a:solidFill>
                      <a:srgbClr val="000000"/>
                    </a:solidFill>
                    <a:latin typeface="Times New Roman" panose="02020603050405020304"/>
                    <a:ea typeface="宋体" panose="02010600030101010101" pitchFamily="2" charset="-122"/>
                  </a:rPr>
                  <a:t>是</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的最大素因子，则算法复杂度为</a:t>
                </a:r>
                <a14:m>
                  <m:oMath xmlns:m="http://schemas.openxmlformats.org/officeDocument/2006/math">
                    <m:r>
                      <a:rPr lang="en-US" sz="3600" i="1" noProof="1">
                        <a:solidFill>
                          <a:srgbClr val="000000"/>
                        </a:solidFill>
                        <a:latin typeface="Times New Roman" panose="02020603050405020304"/>
                      </a:rPr>
                      <m:t>𝑂</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𝑙</m:t>
                        </m:r>
                      </m:e>
                      <m:sup>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（2）BSGS方法。时间复杂度和空间复杂度均为</a:t>
                </a:r>
                <a14:m>
                  <m:oMath xmlns:m="http://schemas.openxmlformats.org/officeDocument/2006/math">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𝜋</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m:t>
                        </m:r>
                      </m:e>
                      <m:sup>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sup>
                    </m:sSup>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（3）Pollard方法。算法复杂度为</a:t>
                </a:r>
                <a14:m>
                  <m:oMath xmlns:m="http://schemas.openxmlformats.org/officeDocument/2006/math">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𝜋</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m:t>
                        </m:r>
                      </m:e>
                      <m:sup>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sup>
                    </m:sSup>
                  </m:oMath>
                </a14:m>
                <a:r>
                  <a:rPr lang="en-US" sz="3600" noProof="1">
                    <a:solidFill>
                      <a:srgbClr val="000000"/>
                    </a:solidFill>
                    <a:latin typeface="Times New Roman" panose="02020603050405020304"/>
                    <a:ea typeface="宋体" panose="02010600030101010101" pitchFamily="2" charset="-122"/>
                  </a:rPr>
                  <a:t>。</a:t>
                </a:r>
                <a:endParaRPr lang="en-US" sz="3600" noProof="1">
                  <a:solidFill>
                    <a:srgbClr val="000000"/>
                  </a:solidFill>
                  <a:latin typeface="Times New Roman" panose="02020603050405020304"/>
                  <a:ea typeface="宋体" panose="02010600030101010101" pitchFamily="2" charset="-122"/>
                </a:endParaRPr>
              </a:p>
              <a:p>
                <a:pPr indent="457200" algn="just" fontAlgn="auto">
                  <a:lnSpc>
                    <a:spcPct val="120000"/>
                  </a:lnSpc>
                </a:pPr>
                <a:r>
                  <a:rPr lang="en-US" sz="3600">
                    <a:solidFill>
                      <a:srgbClr val="000000"/>
                    </a:solidFill>
                    <a:latin typeface="Times New Roman" panose="02020603050405020304"/>
                    <a:ea typeface="宋体" panose="02010600030101010101" pitchFamily="2" charset="-122"/>
                    <a:sym typeface="+mn-ea"/>
                  </a:rPr>
                  <a:t>（4）并行Pollard方法。设</a:t>
                </a:r>
                <a14:m>
                  <m:oMath xmlns:m="http://schemas.openxmlformats.org/officeDocument/2006/math">
                    <m:r>
                      <a:rPr lang="en-US" sz="3600" i="1" noProof="1">
                        <a:solidFill>
                          <a:srgbClr val="000000"/>
                        </a:solidFill>
                        <a:latin typeface="Times New Roman" panose="02020603050405020304"/>
                      </a:rPr>
                      <m:t>𝑟</m:t>
                    </m:r>
                  </m:oMath>
                </a14:m>
                <a:r>
                  <a:rPr lang="en-US" sz="3600">
                    <a:solidFill>
                      <a:srgbClr val="000000"/>
                    </a:solidFill>
                    <a:latin typeface="Times New Roman" panose="02020603050405020304"/>
                    <a:ea typeface="宋体" panose="02010600030101010101" pitchFamily="2" charset="-122"/>
                    <a:sym typeface="+mn-ea"/>
                  </a:rPr>
                  <a:t>为平行处理器个数，算法复杂度降至</a:t>
                </a:r>
                <a14:m>
                  <m:oMath xmlns:m="http://schemas.openxmlformats.org/officeDocument/2006/math">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𝜋</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m:t>
                        </m:r>
                      </m:e>
                      <m:sup>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𝑟</m:t>
                    </m:r>
                  </m:oMath>
                </a14:m>
                <a:r>
                  <a:rPr lang="en-US" sz="3600">
                    <a:solidFill>
                      <a:srgbClr val="000000"/>
                    </a:solidFill>
                    <a:latin typeface="Times New Roman" panose="02020603050405020304"/>
                    <a:ea typeface="宋体" panose="02010600030101010101" pitchFamily="2" charset="-122"/>
                    <a:sym typeface="+mn-ea"/>
                  </a:rPr>
                  <a:t>。</a:t>
                </a:r>
                <a:endParaRPr lang="en-US" sz="3600">
                  <a:solidFill>
                    <a:srgbClr val="000000"/>
                  </a:solidFill>
                  <a:latin typeface="Times New Roman" panose="02020603050405020304"/>
                  <a:ea typeface="宋体" panose="02010600030101010101" pitchFamily="2" charset="-122"/>
                  <a:sym typeface="+mn-ea"/>
                </a:endParaRPr>
              </a:p>
              <a:p>
                <a:pPr indent="457200" algn="just" fontAlgn="auto">
                  <a:lnSpc>
                    <a:spcPct val="120000"/>
                  </a:lnSpc>
                </a:pPr>
                <a:r>
                  <a:rPr lang="en-US" sz="3600">
                    <a:solidFill>
                      <a:srgbClr val="000000"/>
                    </a:solidFill>
                    <a:latin typeface="Times New Roman" panose="02020603050405020304"/>
                    <a:ea typeface="宋体" panose="02010600030101010101" pitchFamily="2" charset="-122"/>
                    <a:sym typeface="+mn-ea"/>
                  </a:rPr>
                  <a:t>（5）MOV-方法。把超奇异椭圆曲线及具有相似性质的曲线的ECDLP降到有限域</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𝑍</m:t>
                        </m:r>
                      </m:e>
                      <m:sub>
                        <m:r>
                          <a:rPr lang="en-US" sz="3600" i="1" noProof="1">
                            <a:solidFill>
                              <a:srgbClr val="000000"/>
                            </a:solidFill>
                            <a:latin typeface="Times New Roman" panose="02020603050405020304"/>
                          </a:rPr>
                          <m:t>𝑝</m:t>
                        </m:r>
                      </m:sub>
                    </m:sSub>
                  </m:oMath>
                </a14:m>
                <a:r>
                  <a:rPr lang="en-US" sz="3600">
                    <a:solidFill>
                      <a:srgbClr val="000000"/>
                    </a:solidFill>
                    <a:latin typeface="Times New Roman" panose="02020603050405020304"/>
                    <a:ea typeface="宋体" panose="02010600030101010101" pitchFamily="2" charset="-122"/>
                    <a:sym typeface="+mn-ea"/>
                  </a:rPr>
                  <a:t>的小扩域上的离散对数问题，计算复杂度为亚指数级。</a:t>
                </a:r>
                <a:endParaRPr lang="en-US" sz="3600" noProof="1"/>
              </a:p>
            </p:txBody>
          </p:sp>
        </mc:Choice>
        <mc:Fallback>
          <p:sp>
            <p:nvSpPr>
              <p:cNvPr id="3" name="body-81m"/>
              <p:cNvSpPr txBox="1">
                <a:spLocks noRot="1" noChangeAspect="1" noMove="1" noResize="1" noEditPoints="1" noAdjustHandles="1" noChangeArrowheads="1" noChangeShapeType="1" noTextEdit="1"/>
              </p:cNvSpPr>
              <p:nvPr/>
            </p:nvSpPr>
            <p:spPr>
              <a:xfrm>
                <a:off x="1724660" y="2226310"/>
                <a:ext cx="14818360" cy="5838825"/>
              </a:xfrm>
              <a:prstGeom prst="rect">
                <a:avLst/>
              </a:prstGeom>
              <a:blipFill rotWithShape="1">
                <a:blip r:embed="rId1"/>
                <a:stretch>
                  <a:fillRect r="-3043"/>
                </a:stretch>
              </a:blipFill>
              <a:ln>
                <a:noFill/>
              </a:ln>
            </p:spPr>
            <p:txBody>
              <a:bodyPr/>
              <a:lstStyle/>
              <a:p>
                <a:r>
                  <a:rPr lang="zh-CN" altLang="en-US">
                    <a:noFill/>
                  </a:rPr>
                  <a:t> </a:t>
                </a:r>
              </a:p>
            </p:txBody>
          </p:sp>
        </mc:Fallback>
      </mc:AlternateContent>
      <p:sp>
        <p:nvSpPr>
          <p:cNvPr id="4" name="pagenum-81m"/>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21</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6" name="gradbar-81b"/>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num-81b"/>
          <p:cNvSpPr txBox="1"/>
          <p:nvPr>
            <p:custDataLst>
              <p:tags r:id="rId6"/>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title-81b"/>
          <p:cNvSpPr txBox="1"/>
          <p:nvPr>
            <p:custDataLst>
              <p:tags r:id="rId7"/>
            </p:custDataLst>
          </p:nvPr>
        </p:nvSpPr>
        <p:spPr>
          <a:xfrm>
            <a:off x="2755900" y="494030"/>
            <a:ext cx="646938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椭圆曲线上的离散对数问题</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1b"/>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81n"/>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（6）GHS-方法:利用Weil下降技术求解扩张次数为合数的二元扩域上椭圆曲线离散对数问题，将ECDLP转化为超椭圆曲线离散对数问题，而求解高亏格的超椭圆曲线离散对数存在亚指数级计算复杂度算法。</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因此，对于一般曲线的离散对数问题，目前的求解方法计算复杂度都为指数级，未发现有效的亚指数级计算复杂度的分析方法。而对于某些特殊曲线的离散对数问题，存在亚指数级计算复杂度算法，选择曲线时，应避免使用易受上述方法分析的密码学意义上的弱椭圆曲线。本章将在8.2.4节对MOV规约法进行简要介绍。</a:t>
            </a:r>
            <a:endParaRPr lang="en-US" sz="3600" noProof="1"/>
          </a:p>
        </p:txBody>
      </p:sp>
      <p:sp>
        <p:nvSpPr>
          <p:cNvPr id="4" name="pagenum-81n"/>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22</a:t>
            </a:r>
            <a:endParaRPr lang="en-US" sz="1400" noProof="1"/>
          </a:p>
        </p:txBody>
      </p:sp>
      <p:sp>
        <p:nvSpPr>
          <p:cNvPr id="2" name="bookhead-8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2"/>
            </p:custDataLst>
          </p:nvPr>
        </p:nvPicPr>
        <p:blipFill>
          <a:blip r:embed="rId3"/>
          <a:stretch>
            <a:fillRect/>
          </a:stretch>
        </p:blipFill>
        <p:spPr>
          <a:xfrm>
            <a:off x="13731240" y="1102360"/>
            <a:ext cx="2771140" cy="46990"/>
          </a:xfrm>
          <a:prstGeom prst="rect">
            <a:avLst/>
          </a:prstGeom>
          <a:ln>
            <a:noFill/>
          </a:ln>
        </p:spPr>
      </p:pic>
      <p:sp>
        <p:nvSpPr>
          <p:cNvPr id="6" name="gradbar-81b"/>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num-81b"/>
          <p:cNvSpPr txBox="1"/>
          <p:nvPr>
            <p:custDataLst>
              <p:tags r:id="rId5"/>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title-81b"/>
          <p:cNvSpPr txBox="1"/>
          <p:nvPr>
            <p:custDataLst>
              <p:tags r:id="rId6"/>
            </p:custDataLst>
          </p:nvPr>
        </p:nvSpPr>
        <p:spPr>
          <a:xfrm>
            <a:off x="2755900" y="494030"/>
            <a:ext cx="646938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椭圆曲线上的离散对数问题</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1b"/>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o"/>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1993年，Menezes和Vanstone设计了一种椭圆曲线公钥密码体制ECC（Eliptic Curve Cryptosystem）。设</a:t>
                </a:r>
                <a14:m>
                  <m:oMath xmlns:m="http://schemas.openxmlformats.org/officeDocument/2006/math">
                    <m:r>
                      <a:rPr lang="en-US" sz="3200" i="1" noProof="1">
                        <a:solidFill>
                          <a:srgbClr val="000000"/>
                        </a:solidFill>
                        <a:latin typeface="Times New Roman" panose="02020603050405020304"/>
                      </a:rPr>
                      <m:t>𝐸</m:t>
                    </m:r>
                  </m:oMath>
                </a14:m>
                <a:r>
                  <a:rPr lang="en-US" sz="3200" noProof="1">
                    <a:solidFill>
                      <a:srgbClr val="000000"/>
                    </a:solidFill>
                    <a:latin typeface="Times New Roman" panose="02020603050405020304"/>
                    <a:ea typeface="宋体" panose="02010600030101010101" pitchFamily="2" charset="-122"/>
                  </a:rPr>
                  <a:t>是有限域</a:t>
                </a:r>
                <a14:m>
                  <m:oMath xmlns:m="http://schemas.openxmlformats.org/officeDocument/2006/math">
                    <m:r>
                      <a:rPr lang="en-US" sz="3200" i="0" noProof="1">
                        <a:solidFill>
                          <a:srgbClr val="000000"/>
                        </a:solidFill>
                        <a:latin typeface="Times New Roman" panose="02020603050405020304"/>
                      </a:rPr>
                      <m:t>𝐺𝐹</m:t>
                    </m:r>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𝑝</m:t>
                        </m:r>
                      </m:e>
                      <m:sup>
                        <m:r>
                          <a:rPr lang="en-US" sz="3200" i="1" noProof="1">
                            <a:solidFill>
                              <a:srgbClr val="000000"/>
                            </a:solidFill>
                            <a:latin typeface="Times New Roman" panose="02020603050405020304"/>
                          </a:rPr>
                          <m:t>𝑚</m:t>
                        </m:r>
                      </m:sup>
                    </m:sSup>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或</a:t>
                </a:r>
                <a14:m>
                  <m:oMath xmlns:m="http://schemas.openxmlformats.org/officeDocument/2006/math">
                    <m:r>
                      <a:rPr lang="en-US" sz="3200" i="0" noProof="1">
                        <a:solidFill>
                          <a:srgbClr val="000000"/>
                        </a:solidFill>
                        <a:latin typeface="Times New Roman" panose="02020603050405020304"/>
                      </a:rPr>
                      <m:t>𝐺𝐹</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上的椭圆曲线，这里</a:t>
                </a:r>
                <a14:m>
                  <m:oMath xmlns:m="http://schemas.openxmlformats.org/officeDocument/2006/math">
                    <m:r>
                      <a:rPr lang="en-US" sz="3200" i="1" noProof="1">
                        <a:solidFill>
                          <a:srgbClr val="000000"/>
                        </a:solidFill>
                        <a:latin typeface="Times New Roman" panose="02020603050405020304"/>
                      </a:rPr>
                      <m:t>𝑝</m:t>
                    </m:r>
                  </m:oMath>
                </a14:m>
                <a:r>
                  <a:rPr lang="en-US" sz="3200" noProof="1">
                    <a:solidFill>
                      <a:srgbClr val="000000"/>
                    </a:solidFill>
                    <a:latin typeface="Times New Roman" panose="02020603050405020304"/>
                    <a:ea typeface="宋体" panose="02010600030101010101" pitchFamily="2" charset="-122"/>
                  </a:rPr>
                  <a:t>是素数，</a:t>
                </a:r>
                <a14:m>
                  <m:oMath xmlns:m="http://schemas.openxmlformats.org/officeDocument/2006/math">
                    <m:r>
                      <a:rPr lang="en-US" sz="3200" i="1" noProof="1">
                        <a:solidFill>
                          <a:srgbClr val="000000"/>
                        </a:solidFill>
                        <a:latin typeface="Times New Roman" panose="02020603050405020304"/>
                      </a:rPr>
                      <m:t>𝑚</m:t>
                    </m:r>
                  </m:oMath>
                </a14:m>
                <a:r>
                  <a:rPr lang="en-US" sz="3200" noProof="1">
                    <a:solidFill>
                      <a:srgbClr val="000000"/>
                    </a:solidFill>
                    <a:latin typeface="Times New Roman" panose="02020603050405020304"/>
                    <a:ea typeface="宋体" panose="02010600030101010101" pitchFamily="2" charset="-122"/>
                  </a:rPr>
                  <a:t>是正整数，已知</a:t>
                </a:r>
                <a14:m>
                  <m:oMath xmlns:m="http://schemas.openxmlformats.org/officeDocument/2006/math">
                    <m:r>
                      <a:rPr lang="en-US" sz="3200" i="1" noProof="1">
                        <a:solidFill>
                          <a:srgbClr val="000000"/>
                        </a:solidFill>
                        <a:latin typeface="Times New Roman" panose="02020603050405020304"/>
                      </a:rPr>
                      <m:t>𝐸</m:t>
                    </m:r>
                  </m:oMath>
                </a14:m>
                <a:r>
                  <a:rPr lang="en-US" sz="3200" noProof="1">
                    <a:solidFill>
                      <a:srgbClr val="000000"/>
                    </a:solidFill>
                    <a:latin typeface="Times New Roman" panose="02020603050405020304"/>
                    <a:ea typeface="宋体" panose="02010600030101010101" pitchFamily="2" charset="-122"/>
                  </a:rPr>
                  <a:t>对运算“</a:t>
                </a:r>
                <a14:m>
                  <m:oMath xmlns:m="http://schemas.openxmlformats.org/officeDocument/2006/math">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”构成一个群，椭圆曲线公钥密码体制主要包括三个过程：选取参数、加密过程和解密过程。</a:t>
                </a:r>
                <a:endParaRPr lang="en-US" sz="3200" noProof="1"/>
              </a:p>
              <a:p>
                <a:pPr indent="457200" algn="just" fontAlgn="auto">
                  <a:lnSpc>
                    <a:spcPct val="120000"/>
                  </a:lnSpc>
                </a:pPr>
                <a:r>
                  <a:rPr lang="en-US" sz="3200" b="1" noProof="1">
                    <a:solidFill>
                      <a:srgbClr val="000000"/>
                    </a:solidFill>
                    <a:latin typeface="Times New Roman" panose="02020603050405020304"/>
                    <a:ea typeface="宋体" panose="02010600030101010101" pitchFamily="2" charset="-122"/>
                  </a:rPr>
                  <a:t>选取参数：</a:t>
                </a:r>
                <a:r>
                  <a:rPr lang="en-US" sz="3200" noProof="1">
                    <a:solidFill>
                      <a:srgbClr val="000000"/>
                    </a:solidFill>
                    <a:latin typeface="Times New Roman" panose="02020603050405020304"/>
                    <a:ea typeface="宋体" panose="02010600030101010101" pitchFamily="2" charset="-122"/>
                  </a:rPr>
                  <a:t>选取一条椭圆曲线</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，将明文消息通过编码嵌入曲线上得到点</a:t>
                </a:r>
                <a14:m>
                  <m:oMath xmlns:m="http://schemas.openxmlformats.org/officeDocument/2006/math">
                    <m:r>
                      <a:rPr lang="en-US" sz="3200" i="1" noProof="1">
                        <a:solidFill>
                          <a:srgbClr val="000000"/>
                        </a:solidFill>
                        <a:latin typeface="Times New Roman" panose="02020603050405020304"/>
                      </a:rPr>
                      <m:t>𝑀</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𝑃</m:t>
                        </m:r>
                      </m:e>
                      <m:sub>
                        <m:r>
                          <a:rPr lang="en-US" sz="3200" i="1" noProof="1">
                            <a:solidFill>
                              <a:srgbClr val="000000"/>
                            </a:solidFill>
                            <a:latin typeface="Times New Roman" panose="02020603050405020304"/>
                          </a:rPr>
                          <m:t>𝑚</m:t>
                        </m:r>
                      </m:sub>
                    </m:sSub>
                  </m:oMath>
                </a14:m>
                <a:r>
                  <a:rPr lang="en-US" sz="3200" noProof="1">
                    <a:solidFill>
                      <a:srgbClr val="000000"/>
                    </a:solidFill>
                    <a:latin typeface="Times New Roman" panose="02020603050405020304"/>
                    <a:ea typeface="宋体" panose="02010600030101010101" pitchFamily="2" charset="-122"/>
                  </a:rPr>
                  <a:t>（嵌入方式有多种，可以参考有关文献），取</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的生成元</a:t>
                </a:r>
                <a14:m>
                  <m:oMath xmlns:m="http://schemas.openxmlformats.org/officeDocument/2006/math">
                    <m:r>
                      <a:rPr lang="en-US" sz="3200" i="1" noProof="1">
                        <a:solidFill>
                          <a:srgbClr val="000000"/>
                        </a:solidFill>
                        <a:latin typeface="Times New Roman" panose="02020603050405020304"/>
                      </a:rPr>
                      <m:t>𝐺</m:t>
                    </m:r>
                  </m:oMath>
                </a14:m>
                <a:r>
                  <a:rPr lang="en-US" sz="32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200" i="1" noProof="1">
                        <a:solidFill>
                          <a:srgbClr val="000000"/>
                        </a:solidFill>
                        <a:latin typeface="Times New Roman" panose="02020603050405020304"/>
                      </a:rPr>
                      <m:t>𝐺</m:t>
                    </m:r>
                  </m:oMath>
                </a14:m>
                <a:r>
                  <a:rPr lang="en-US" sz="3200" noProof="1">
                    <a:solidFill>
                      <a:srgbClr val="000000"/>
                    </a:solidFill>
                    <a:latin typeface="Times New Roman" panose="02020603050405020304"/>
                    <a:ea typeface="宋体" panose="02010600030101010101" pitchFamily="2" charset="-122"/>
                  </a:rPr>
                  <a:t>和</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为公开参数，任意选取</a:t>
                </a:r>
                <a14:m>
                  <m:oMath xmlns:m="http://schemas.openxmlformats.org/officeDocument/2006/math">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𝑜</m:t>
                    </m:r>
                    <m:r>
                      <a:rPr lang="en-US" sz="3200" i="0" noProof="1">
                        <a:solidFill>
                          <a:srgbClr val="000000"/>
                        </a:solidFill>
                        <a:latin typeface="Times New Roman" panose="02020603050405020304"/>
                      </a:rPr>
                      <m:t>𝑟𝑑</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𝐺</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为私钥，计算</a:t>
                </a:r>
                <a14:m>
                  <m:oMath xmlns:m="http://schemas.openxmlformats.org/officeDocument/2006/math">
                    <m:r>
                      <a:rPr lang="en-US" sz="3200" i="1" noProof="1">
                        <a:solidFill>
                          <a:srgbClr val="000000"/>
                        </a:solidFill>
                        <a:latin typeface="Times New Roman" panose="02020603050405020304"/>
                      </a:rPr>
                      <m:t>𝑌</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𝑥𝐺</m:t>
                    </m:r>
                  </m:oMath>
                </a14:m>
                <a:r>
                  <a:rPr lang="en-US" sz="3200" noProof="1">
                    <a:solidFill>
                      <a:srgbClr val="000000"/>
                    </a:solidFill>
                    <a:latin typeface="Times New Roman" panose="02020603050405020304"/>
                    <a:ea typeface="宋体" panose="02010600030101010101" pitchFamily="2" charset="-122"/>
                  </a:rPr>
                  <a:t>为公钥。</a:t>
                </a:r>
                <a:endParaRPr lang="en-US" sz="3200" noProof="1"/>
              </a:p>
              <a:p>
                <a:pPr indent="457200" algn="just" fontAlgn="auto">
                  <a:lnSpc>
                    <a:spcPct val="120000"/>
                  </a:lnSpc>
                </a:pPr>
                <a:endParaRPr lang="en-US" sz="3200" noProof="1"/>
              </a:p>
            </p:txBody>
          </p:sp>
        </mc:Choice>
        <mc:Fallback>
          <p:sp>
            <p:nvSpPr>
              <p:cNvPr id="3" name="body-81o"/>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6" name="pagenum-81o"/>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23</a:t>
            </a:r>
            <a:endParaRPr lang="en-US" sz="1400" noProof="1"/>
          </a:p>
        </p:txBody>
      </p:sp>
      <p:sp>
        <p:nvSpPr>
          <p:cNvPr id="8"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7" name="gradbar-81b"/>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6" name="secnum-81b"/>
          <p:cNvSpPr txBox="1"/>
          <p:nvPr>
            <p:custDataLst>
              <p:tags r:id="rId6"/>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.4</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7" name="sectitle-81b"/>
          <p:cNvSpPr txBox="1"/>
          <p:nvPr>
            <p:custDataLst>
              <p:tags r:id="rId7"/>
            </p:custDataLst>
          </p:nvPr>
        </p:nvSpPr>
        <p:spPr>
          <a:xfrm>
            <a:off x="2755900" y="494030"/>
            <a:ext cx="6469380" cy="717550"/>
          </a:xfrm>
          <a:prstGeom prst="rect">
            <a:avLst/>
          </a:prstGeom>
          <a:noFill/>
          <a:ln>
            <a:noFill/>
          </a:ln>
        </p:spPr>
        <p:txBody>
          <a:bodyPr wrap="square" lIns="0" tIns="0" rIns="0" bIns="0" rtlCol="0" anchor="t"/>
          <a:p>
            <a:pPr algn="l">
              <a:lnSpc>
                <a:spcPts val="5600"/>
              </a:lnSpc>
            </a:pP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ECC</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8" name="logo-81b"/>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o"/>
              <p:cNvSpPr txBox="1"/>
              <p:nvPr/>
            </p:nvSpPr>
            <p:spPr>
              <a:xfrm>
                <a:off x="1724660" y="2095500"/>
                <a:ext cx="14818360" cy="4663440"/>
              </a:xfrm>
              <a:prstGeom prst="rect">
                <a:avLst/>
              </a:prstGeom>
              <a:noFill/>
              <a:ln>
                <a:noFill/>
              </a:ln>
            </p:spPr>
            <p:txBody>
              <a:bodyPr wrap="square" lIns="0" tIns="0" rIns="0" bIns="0" rtlCol="0" anchor="t"/>
              <a:lstStyle/>
              <a:p>
                <a:pPr indent="457200" algn="just" fontAlgn="auto">
                  <a:lnSpc>
                    <a:spcPct val="120000"/>
                  </a:lnSpc>
                </a:pPr>
                <a:r>
                  <a:rPr lang="en-US" sz="3200" b="1" noProof="1">
                    <a:solidFill>
                      <a:srgbClr val="000000"/>
                    </a:solidFill>
                    <a:latin typeface="Times New Roman" panose="02020603050405020304"/>
                    <a:ea typeface="宋体" panose="02010600030101010101" pitchFamily="2" charset="-122"/>
                  </a:rPr>
                  <a:t>加密过程：</a:t>
                </a:r>
                <a:r>
                  <a:rPr lang="en-US" sz="3200" noProof="1">
                    <a:solidFill>
                      <a:srgbClr val="000000"/>
                    </a:solidFill>
                    <a:latin typeface="Times New Roman" panose="02020603050405020304"/>
                    <a:ea typeface="宋体" panose="02010600030101010101" pitchFamily="2" charset="-122"/>
                  </a:rPr>
                  <a:t>任意选取</a:t>
                </a:r>
                <a14:m>
                  <m:oMath xmlns:m="http://schemas.openxmlformats.org/officeDocument/2006/math">
                    <m:r>
                      <a:rPr lang="en-US" sz="3200" i="1" noProof="1">
                        <a:solidFill>
                          <a:srgbClr val="000000"/>
                        </a:solidFill>
                        <a:latin typeface="Times New Roman" panose="02020603050405020304"/>
                      </a:rPr>
                      <m:t>𝑘</m:t>
                    </m:r>
                  </m:oMath>
                </a14:m>
                <a:r>
                  <a:rPr lang="en-US" sz="3200" noProof="1">
                    <a:solidFill>
                      <a:srgbClr val="000000"/>
                    </a:solidFill>
                    <a:latin typeface="Times New Roman" panose="02020603050405020304"/>
                    <a:ea typeface="宋体" panose="02010600030101010101" pitchFamily="2" charset="-122"/>
                  </a:rPr>
                  <a:t>，密文为</a:t>
                </a:r>
                <a14:m>
                  <m:oMath xmlns:m="http://schemas.openxmlformats.org/officeDocument/2006/math">
                    <m:r>
                      <a:rPr lang="en-US" sz="3200" i="1" noProof="1">
                        <a:solidFill>
                          <a:srgbClr val="000000"/>
                        </a:solidFill>
                        <a:latin typeface="Times New Roman" panose="02020603050405020304"/>
                      </a:rPr>
                      <m:t>𝑐</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，其中</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𝑘𝐺</m:t>
                    </m:r>
                    <m:r>
                      <a:rPr lang="en-US" sz="3200" i="0" noProof="1">
                        <a:solidFill>
                          <a:srgbClr val="000000"/>
                        </a:solidFill>
                        <a:latin typeface="Times New Roman" panose="02020603050405020304"/>
                      </a:rPr>
                      <m:t>, </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𝑀</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𝑘𝑌</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b="1" noProof="1">
                    <a:solidFill>
                      <a:srgbClr val="000000"/>
                    </a:solidFill>
                    <a:latin typeface="Times New Roman" panose="02020603050405020304"/>
                    <a:ea typeface="宋体" panose="02010600030101010101" pitchFamily="2" charset="-122"/>
                  </a:rPr>
                  <a:t>解密过程：</a:t>
                </a:r>
                <a:endParaRPr lang="en-US" sz="3200" noProof="1"/>
              </a:p>
            </p:txBody>
          </p:sp>
        </mc:Choice>
        <mc:Fallback>
          <p:sp>
            <p:nvSpPr>
              <p:cNvPr id="3" name="body-81o"/>
              <p:cNvSpPr txBox="1">
                <a:spLocks noRot="1" noChangeAspect="1" noMove="1" noResize="1" noEditPoints="1" noAdjustHandles="1" noChangeArrowheads="1" noChangeShapeType="1" noTextEdit="1"/>
              </p:cNvSpPr>
              <p:nvPr/>
            </p:nvSpPr>
            <p:spPr>
              <a:xfrm>
                <a:off x="1724660" y="2095500"/>
                <a:ext cx="14818360" cy="4663440"/>
              </a:xfrm>
              <a:prstGeom prst="rect">
                <a:avLst/>
              </a:prstGeom>
              <a:blipFill rotWithShape="1">
                <a:blip r:embed="rId1"/>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f82"/>
              <p:cNvSpPr txBox="1"/>
              <p:nvPr/>
            </p:nvSpPr>
            <p:spPr>
              <a:xfrm>
                <a:off x="3150870" y="3731260"/>
                <a:ext cx="10668000" cy="889000"/>
              </a:xfrm>
              <a:prstGeom prst="rect">
                <a:avLst/>
              </a:prstGeom>
              <a:noFill/>
              <a:ln>
                <a:noFill/>
              </a:ln>
            </p:spPr>
            <p:txBody>
              <a:bodyPr wrap="square" lIns="0" tIns="0" rIns="0" bIns="0" rtlCol="0" anchor="t"/>
              <a:lstStyle/>
              <a:p>
                <a:pPr algn="ctr">
                  <a:lnSpc>
                    <a:spcPct val="120000"/>
                  </a:lnSpc>
                </a:pP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𝑀</m:t>
                    </m:r>
                  </m:oMath>
                </a14:m>
                <a:r>
                  <a:rPr lang="en-US" sz="3200" noProof="1">
                    <a:solidFill>
                      <a:srgbClr val="000000"/>
                    </a:solidFill>
                    <a:latin typeface="Times New Roman" panose="02020603050405020304"/>
                    <a:ea typeface="Times New Roman" panose="02020603050405020304"/>
                  </a:rPr>
                  <a:t>　（8.2）</a:t>
                </a:r>
                <a:endParaRPr lang="en-US" sz="3200" noProof="1"/>
              </a:p>
            </p:txBody>
          </p:sp>
        </mc:Choice>
        <mc:Fallback>
          <p:sp>
            <p:nvSpPr>
              <p:cNvPr id="4" name="f82"/>
              <p:cNvSpPr txBox="1">
                <a:spLocks noRot="1" noChangeAspect="1" noMove="1" noResize="1" noEditPoints="1" noAdjustHandles="1" noChangeArrowheads="1" noChangeShapeType="1" noTextEdit="1"/>
              </p:cNvSpPr>
              <p:nvPr/>
            </p:nvSpPr>
            <p:spPr>
              <a:xfrm>
                <a:off x="3150870" y="3731260"/>
                <a:ext cx="10668000" cy="889000"/>
              </a:xfrm>
              <a:prstGeom prst="rect">
                <a:avLst/>
              </a:prstGeom>
              <a:blipFill rotWithShape="1">
                <a:blip r:embed="rId2"/>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body-81o2"/>
              <p:cNvSpPr txBox="1"/>
              <p:nvPr/>
            </p:nvSpPr>
            <p:spPr>
              <a:xfrm>
                <a:off x="1724660" y="4889500"/>
                <a:ext cx="14818360" cy="1270000"/>
              </a:xfrm>
              <a:prstGeom prst="rect">
                <a:avLst/>
              </a:prstGeom>
              <a:noFill/>
              <a:ln>
                <a:noFill/>
              </a:ln>
            </p:spPr>
            <p:txBody>
              <a:bodyPr wrap="square" lIns="0" tIns="0" rIns="0" bIns="0" rtlCol="0" anchor="t"/>
              <a:lstStyle/>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其中，“-”为</a:t>
                </a:r>
                <a14:m>
                  <m:oMath xmlns:m="http://schemas.openxmlformats.org/officeDocument/2006/math">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的逆过程，且由加密算法和解密算法的过程可得</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m:t>
                    </m:r>
                    <m:r>
                      <a:rPr lang="en-US" sz="3200" i="1" noProof="1">
                        <a:solidFill>
                          <a:srgbClr val="000000"/>
                        </a:solidFill>
                        <a:latin typeface="Times New Roman" panose="02020603050405020304"/>
                      </a:rPr>
                      <m:t>𝑘𝐺</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𝑘𝑌</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𝑀</m:t>
                    </m:r>
                  </m:oMath>
                </a14:m>
                <a:r>
                  <a:rPr lang="en-US" sz="3200" noProof="1">
                    <a:solidFill>
                      <a:srgbClr val="000000"/>
                    </a:solidFill>
                    <a:latin typeface="Times New Roman" panose="02020603050405020304"/>
                    <a:ea typeface="宋体" panose="02010600030101010101" pitchFamily="2" charset="-122"/>
                  </a:rPr>
                  <a:t>，从而验证解密的正确性。</a:t>
                </a:r>
                <a:endParaRPr lang="en-US" sz="3200" noProof="1"/>
              </a:p>
            </p:txBody>
          </p:sp>
        </mc:Choice>
        <mc:Fallback>
          <p:sp>
            <p:nvSpPr>
              <p:cNvPr id="5" name="body-81o2"/>
              <p:cNvSpPr txBox="1">
                <a:spLocks noRot="1" noChangeAspect="1" noMove="1" noResize="1" noEditPoints="1" noAdjustHandles="1" noChangeArrowheads="1" noChangeShapeType="1" noTextEdit="1"/>
              </p:cNvSpPr>
              <p:nvPr/>
            </p:nvSpPr>
            <p:spPr>
              <a:xfrm>
                <a:off x="1724660" y="4889500"/>
                <a:ext cx="14818360" cy="1270000"/>
              </a:xfrm>
              <a:prstGeom prst="rect">
                <a:avLst/>
              </a:prstGeom>
              <a:blipFill rotWithShape="1">
                <a:blip r:embed="rId3"/>
                <a:stretch>
                  <a:fillRect b="-1900"/>
                </a:stretch>
              </a:blipFill>
              <a:ln>
                <a:noFill/>
              </a:ln>
            </p:spPr>
            <p:txBody>
              <a:bodyPr/>
              <a:lstStyle/>
              <a:p>
                <a:r>
                  <a:rPr lang="zh-CN" altLang="en-US">
                    <a:noFill/>
                  </a:rPr>
                  <a:t> </a:t>
                </a:r>
              </a:p>
            </p:txBody>
          </p:sp>
        </mc:Fallback>
      </mc:AlternateContent>
      <p:sp>
        <p:nvSpPr>
          <p:cNvPr id="6" name="pagenum-81o"/>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24</a:t>
            </a:r>
            <a:endParaRPr lang="en-US" sz="1400" noProof="1"/>
          </a:p>
        </p:txBody>
      </p:sp>
      <p:sp>
        <p:nvSpPr>
          <p:cNvPr id="8" name="bookhead-81a"/>
          <p:cNvSpPr txBox="1"/>
          <p:nvPr>
            <p:custDataLst>
              <p:tags r:id="rId4"/>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custDataLst>
              <p:tags r:id="rId5"/>
            </p:custDataLst>
          </p:nvPr>
        </p:nvPicPr>
        <p:blipFill>
          <a:blip r:embed="rId6"/>
          <a:stretch>
            <a:fillRect/>
          </a:stretch>
        </p:blipFill>
        <p:spPr>
          <a:xfrm>
            <a:off x="13731240" y="1102360"/>
            <a:ext cx="2771140" cy="46990"/>
          </a:xfrm>
          <a:prstGeom prst="rect">
            <a:avLst/>
          </a:prstGeom>
          <a:ln>
            <a:noFill/>
          </a:ln>
        </p:spPr>
      </p:pic>
      <p:sp>
        <p:nvSpPr>
          <p:cNvPr id="7" name="gradbar-81b"/>
          <p:cNvSpPr/>
          <p:nvPr>
            <p:custDataLst>
              <p:tags r:id="rId7"/>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6" name="secnum-81b"/>
          <p:cNvSpPr txBox="1"/>
          <p:nvPr>
            <p:custDataLst>
              <p:tags r:id="rId8"/>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.4</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7" name="sectitle-81b"/>
          <p:cNvSpPr txBox="1"/>
          <p:nvPr>
            <p:custDataLst>
              <p:tags r:id="rId9"/>
            </p:custDataLst>
          </p:nvPr>
        </p:nvSpPr>
        <p:spPr>
          <a:xfrm>
            <a:off x="2755900" y="494030"/>
            <a:ext cx="6469380" cy="717550"/>
          </a:xfrm>
          <a:prstGeom prst="rect">
            <a:avLst/>
          </a:prstGeom>
          <a:noFill/>
          <a:ln>
            <a:noFill/>
          </a:ln>
        </p:spPr>
        <p:txBody>
          <a:bodyPr wrap="square" lIns="0" tIns="0" rIns="0" bIns="0" rtlCol="0" anchor="t"/>
          <a:p>
            <a:pPr algn="l">
              <a:lnSpc>
                <a:spcPts val="5600"/>
              </a:lnSpc>
            </a:pP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ECC</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8" name="logo-81b"/>
          <p:cNvPicPr/>
          <p:nvPr>
            <p:custDataLst>
              <p:tags r:id="rId10"/>
            </p:custDataLst>
          </p:nvPr>
        </p:nvPicPr>
        <p:blipFill>
          <a:blip r:embed="rId11">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1p"/>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200" b="1" noProof="1">
                    <a:solidFill>
                      <a:srgbClr val="000000"/>
                    </a:solidFill>
                    <a:latin typeface="Times New Roman" panose="02020603050405020304"/>
                    <a:ea typeface="宋体" panose="02010600030101010101" pitchFamily="2" charset="-122"/>
                  </a:rPr>
                  <a:t>例8.4　</a:t>
                </a:r>
                <a:r>
                  <a:rPr lang="en-US" sz="3200" noProof="1">
                    <a:solidFill>
                      <a:srgbClr val="000000"/>
                    </a:solidFill>
                    <a:latin typeface="Times New Roman" panose="02020603050405020304"/>
                    <a:ea typeface="宋体" panose="02010600030101010101" pitchFamily="2" charset="-122"/>
                  </a:rPr>
                  <a:t>参数选取：取</a:t>
                </a:r>
                <a14:m>
                  <m:oMath xmlns:m="http://schemas.openxmlformats.org/officeDocument/2006/math">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11</m:t>
                    </m:r>
                  </m:oMath>
                </a14:m>
                <a:r>
                  <a:rPr lang="en-US" sz="3200" noProof="1">
                    <a:solidFill>
                      <a:srgbClr val="000000"/>
                    </a:solidFill>
                    <a:latin typeface="Times New Roman" panose="02020603050405020304"/>
                    <a:ea typeface="宋体" panose="02010600030101010101" pitchFamily="2" charset="-122"/>
                  </a:rPr>
                  <a:t>，椭圆曲线为</a:t>
                </a:r>
                <a14:m>
                  <m:oMath xmlns:m="http://schemas.openxmlformats.org/officeDocument/2006/math">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𝑦</m:t>
                        </m:r>
                      </m:e>
                      <m:sup>
                        <m:r>
                          <a:rPr lang="en-US" sz="3200" i="0" noProof="1">
                            <a:solidFill>
                              <a:srgbClr val="000000"/>
                            </a:solidFill>
                            <a:latin typeface="Times New Roman" panose="02020603050405020304"/>
                          </a:rPr>
                          <m:t>2</m:t>
                        </m:r>
                      </m:sup>
                    </m:sSup>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𝑥</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的一个生成元是</a:t>
                </a:r>
                <a14:m>
                  <m:oMath xmlns:m="http://schemas.openxmlformats.org/officeDocument/2006/math">
                    <m:r>
                      <a:rPr lang="en-US" sz="3200" i="1" noProof="1">
                        <a:solidFill>
                          <a:srgbClr val="000000"/>
                        </a:solidFill>
                        <a:latin typeface="Times New Roman" panose="02020603050405020304"/>
                      </a:rPr>
                      <m:t>𝐺</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，私钥</a:t>
                </a:r>
                <a14:m>
                  <m:oMath xmlns:m="http://schemas.openxmlformats.org/officeDocument/2006/math">
                    <m:r>
                      <a:rPr lang="en-US" sz="3200" i="1" noProof="1">
                        <a:solidFill>
                          <a:srgbClr val="000000"/>
                        </a:solidFill>
                        <a:latin typeface="Times New Roman" panose="02020603050405020304"/>
                      </a:rPr>
                      <m:t>𝑑</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oMath>
                </a14:m>
                <a:r>
                  <a:rPr lang="en-US" sz="3200" noProof="1">
                    <a:solidFill>
                      <a:srgbClr val="000000"/>
                    </a:solidFill>
                    <a:latin typeface="Times New Roman" panose="02020603050405020304"/>
                    <a:ea typeface="宋体" panose="02010600030101010101" pitchFamily="2" charset="-122"/>
                  </a:rPr>
                  <a:t>，用户A的公钥为</a:t>
                </a:r>
                <a14:m>
                  <m:oMath xmlns:m="http://schemas.openxmlformats.org/officeDocument/2006/math">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𝑑𝐺</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，明文</a:t>
                </a:r>
                <a14:m>
                  <m:oMath xmlns:m="http://schemas.openxmlformats.org/officeDocument/2006/math">
                    <m:r>
                      <a:rPr lang="en-US" sz="3200" i="1" noProof="1">
                        <a:solidFill>
                          <a:srgbClr val="000000"/>
                        </a:solidFill>
                        <a:latin typeface="Times New Roman" panose="02020603050405020304"/>
                      </a:rPr>
                      <m:t>𝑀</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    加密：明文</a:t>
                </a:r>
                <a14:m>
                  <m:oMath xmlns:m="http://schemas.openxmlformats.org/officeDocument/2006/math">
                    <m:r>
                      <a:rPr lang="en-US" sz="3200" i="1" noProof="1">
                        <a:solidFill>
                          <a:srgbClr val="000000"/>
                        </a:solidFill>
                        <a:latin typeface="Times New Roman" panose="02020603050405020304"/>
                      </a:rPr>
                      <m:t>𝑀</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，用户B随机选取数</a:t>
                </a:r>
                <a14:m>
                  <m:oMath xmlns:m="http://schemas.openxmlformats.org/officeDocument/2006/math">
                    <m:r>
                      <a:rPr lang="en-US" sz="3200" i="1" noProof="1">
                        <a:solidFill>
                          <a:srgbClr val="000000"/>
                        </a:solidFill>
                        <a:latin typeface="Times New Roman" panose="02020603050405020304"/>
                      </a:rPr>
                      <m:t>𝑘</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oMath>
                </a14:m>
                <a:r>
                  <a:rPr lang="en-US" sz="3200" noProof="1">
                    <a:solidFill>
                      <a:srgbClr val="000000"/>
                    </a:solidFill>
                    <a:latin typeface="Times New Roman" panose="02020603050405020304"/>
                    <a:ea typeface="宋体" panose="02010600030101010101" pitchFamily="2" charset="-122"/>
                  </a:rPr>
                  <a:t>，由</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𝑘𝐺</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1" noProof="1">
                        <a:solidFill>
                          <a:srgbClr val="000000"/>
                        </a:solidFill>
                        <a:latin typeface="Times New Roman" panose="02020603050405020304"/>
                      </a:rPr>
                      <m:t>𝐺</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𝑀</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𝑘</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𝑃</m:t>
                        </m:r>
                      </m:e>
                      <m:sub>
                        <m:r>
                          <a:rPr lang="en-US" sz="3200" i="1" noProof="1">
                            <a:solidFill>
                              <a:srgbClr val="000000"/>
                            </a:solidFill>
                            <a:latin typeface="Times New Roman" panose="02020603050405020304"/>
                          </a:rPr>
                          <m:t>𝐴</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3</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，得密文为</a:t>
                </a:r>
                <a:endParaRPr lang="en-US" sz="3200" noProof="1"/>
              </a:p>
            </p:txBody>
          </p:sp>
        </mc:Choice>
        <mc:Fallback>
          <p:sp>
            <p:nvSpPr>
              <p:cNvPr id="3" name="body-81p"/>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f84"/>
              <p:cNvSpPr txBox="1"/>
              <p:nvPr/>
            </p:nvSpPr>
            <p:spPr>
              <a:xfrm>
                <a:off x="3799840" y="4803775"/>
                <a:ext cx="10668000" cy="889000"/>
              </a:xfrm>
              <a:prstGeom prst="rect">
                <a:avLst/>
              </a:prstGeom>
              <a:noFill/>
              <a:ln>
                <a:noFill/>
              </a:ln>
            </p:spPr>
            <p:txBody>
              <a:bodyPr wrap="square" lIns="0" tIns="0" rIns="0" bIns="0" rtlCol="0" anchor="t"/>
              <a:lstStyle/>
              <a:p>
                <a:pPr algn="ctr">
                  <a:lnSpc>
                    <a:spcPct val="120000"/>
                  </a:lnSpc>
                </a:pP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3</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3</m:t>
                    </m:r>
                    <m:r>
                      <a:rPr lang="en-US" sz="3200" i="0" noProof="1">
                        <a:solidFill>
                          <a:srgbClr val="000000"/>
                        </a:solidFill>
                        <a:latin typeface="Times New Roman" panose="02020603050405020304"/>
                      </a:rPr>
                      <m:t>))</m:t>
                    </m:r>
                  </m:oMath>
                </a14:m>
                <a:r>
                  <a:rPr lang="en-US" sz="3200" noProof="1"/>
                  <a:t> </a:t>
                </a:r>
                <a:endParaRPr lang="en-US" sz="3200" noProof="1"/>
              </a:p>
            </p:txBody>
          </p:sp>
        </mc:Choice>
        <mc:Fallback>
          <p:sp>
            <p:nvSpPr>
              <p:cNvPr id="4" name="f84"/>
              <p:cNvSpPr txBox="1">
                <a:spLocks noRot="1" noChangeAspect="1" noMove="1" noResize="1" noEditPoints="1" noAdjustHandles="1" noChangeArrowheads="1" noChangeShapeType="1" noTextEdit="1"/>
              </p:cNvSpPr>
              <p:nvPr/>
            </p:nvSpPr>
            <p:spPr>
              <a:xfrm>
                <a:off x="3799840" y="4803775"/>
                <a:ext cx="10668000" cy="889000"/>
              </a:xfrm>
              <a:prstGeom prst="rect">
                <a:avLst/>
              </a:prstGeom>
              <a:blipFill rotWithShape="1">
                <a:blip r:embed="rId2"/>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body-81p2"/>
              <p:cNvSpPr txBox="1"/>
              <p:nvPr/>
            </p:nvSpPr>
            <p:spPr>
              <a:xfrm>
                <a:off x="1684020" y="5692775"/>
                <a:ext cx="14818360" cy="3175000"/>
              </a:xfrm>
              <a:prstGeom prst="rect">
                <a:avLst/>
              </a:prstGeom>
              <a:noFill/>
              <a:ln>
                <a:noFill/>
              </a:ln>
            </p:spPr>
            <p:txBody>
              <a:bodyPr wrap="square" lIns="0" tIns="0" rIns="0" bIns="0" rtlCol="0" anchor="t"/>
              <a:lstStyle/>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    解密：</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𝑑</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3</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𝑑</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3</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    此处</a:t>
                </a:r>
                <a14:m>
                  <m:oMath xmlns:m="http://schemas.openxmlformats.org/officeDocument/2006/math">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椭圆曲线上的点乘运算也可表示为6个</a:t>
                </a:r>
                <a14:m>
                  <m:oMath xmlns:m="http://schemas.openxmlformats.org/officeDocument/2006/math">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相加。按照上述椭圆曲线上点的加法运算计算即可。同理可得</a:t>
                </a:r>
                <a14:m>
                  <m:oMath xmlns:m="http://schemas.openxmlformats.org/officeDocument/2006/math">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也是椭圆曲线上的点乘运算。</a:t>
                </a:r>
                <a:endParaRPr lang="en-US" sz="3200" noProof="1"/>
              </a:p>
            </p:txBody>
          </p:sp>
        </mc:Choice>
        <mc:Fallback>
          <p:sp>
            <p:nvSpPr>
              <p:cNvPr id="5" name="body-81p2"/>
              <p:cNvSpPr txBox="1">
                <a:spLocks noRot="1" noChangeAspect="1" noMove="1" noResize="1" noEditPoints="1" noAdjustHandles="1" noChangeArrowheads="1" noChangeShapeType="1" noTextEdit="1"/>
              </p:cNvSpPr>
              <p:nvPr/>
            </p:nvSpPr>
            <p:spPr>
              <a:xfrm>
                <a:off x="1684020" y="5692775"/>
                <a:ext cx="14818360" cy="3175000"/>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6" name="pagenum-81p"/>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25</a:t>
            </a:r>
            <a:endParaRPr lang="en-US" sz="1400" noProof="1"/>
          </a:p>
        </p:txBody>
      </p:sp>
      <p:sp>
        <p:nvSpPr>
          <p:cNvPr id="8" name="bookhead-81a"/>
          <p:cNvSpPr txBox="1"/>
          <p:nvPr>
            <p:custDataLst>
              <p:tags r:id="rId4"/>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custDataLst>
              <p:tags r:id="rId5"/>
            </p:custDataLst>
          </p:nvPr>
        </p:nvPicPr>
        <p:blipFill>
          <a:blip r:embed="rId6"/>
          <a:stretch>
            <a:fillRect/>
          </a:stretch>
        </p:blipFill>
        <p:spPr>
          <a:xfrm>
            <a:off x="13731240" y="1102360"/>
            <a:ext cx="2771140" cy="46990"/>
          </a:xfrm>
          <a:prstGeom prst="rect">
            <a:avLst/>
          </a:prstGeom>
          <a:ln>
            <a:noFill/>
          </a:ln>
        </p:spPr>
      </p:pic>
      <p:sp>
        <p:nvSpPr>
          <p:cNvPr id="2" name="gradbar-81b"/>
          <p:cNvSpPr/>
          <p:nvPr>
            <p:custDataLst>
              <p:tags r:id="rId7"/>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9" name="secnum-81b"/>
          <p:cNvSpPr txBox="1"/>
          <p:nvPr>
            <p:custDataLst>
              <p:tags r:id="rId8"/>
            </p:custDataLst>
          </p:nvPr>
        </p:nvSpPr>
        <p:spPr>
          <a:xfrm>
            <a:off x="1419860" y="494030"/>
            <a:ext cx="170116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.4</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20" name="sectitle-81b"/>
          <p:cNvSpPr txBox="1"/>
          <p:nvPr>
            <p:custDataLst>
              <p:tags r:id="rId9"/>
            </p:custDataLst>
          </p:nvPr>
        </p:nvSpPr>
        <p:spPr>
          <a:xfrm>
            <a:off x="2755900" y="494030"/>
            <a:ext cx="6469380" cy="717550"/>
          </a:xfrm>
          <a:prstGeom prst="rect">
            <a:avLst/>
          </a:prstGeom>
          <a:noFill/>
          <a:ln>
            <a:noFill/>
          </a:ln>
        </p:spPr>
        <p:txBody>
          <a:bodyPr wrap="square" lIns="0" tIns="0" rIns="0" bIns="0" rtlCol="0" anchor="t"/>
          <a:p>
            <a:pPr algn="l">
              <a:lnSpc>
                <a:spcPts val="5600"/>
              </a:lnSpc>
            </a:pP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ECC</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21" name="logo-81b"/>
          <p:cNvPicPr/>
          <p:nvPr>
            <p:custDataLst>
              <p:tags r:id="rId10"/>
            </p:custDataLst>
          </p:nvPr>
        </p:nvPicPr>
        <p:blipFill>
          <a:blip r:embed="rId11">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t-d82-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3" name="dot-d82-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4" name="dot-d82-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d82-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d82-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d82-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d82-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d82-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circle-d82"/>
          <p:cNvSpPr/>
          <p:nvPr/>
        </p:nvSpPr>
        <p:spPr>
          <a:xfrm>
            <a:off x="5340350" y="802640"/>
            <a:ext cx="7607300" cy="76073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gs>
            </a:gsLst>
            <a:lin ang="5400000" scaled="1"/>
          </a:gradFill>
          <a:ln>
            <a:noFill/>
          </a:ln>
        </p:spPr>
      </p:sp>
      <p:sp>
        <p:nvSpPr>
          <p:cNvPr id="11" name="divnum-d82"/>
          <p:cNvSpPr txBox="1"/>
          <p:nvPr/>
        </p:nvSpPr>
        <p:spPr>
          <a:xfrm>
            <a:off x="7781290" y="2834640"/>
            <a:ext cx="2725420" cy="2190750"/>
          </a:xfrm>
          <a:prstGeom prst="rect">
            <a:avLst/>
          </a:prstGeom>
          <a:noFill/>
          <a:ln>
            <a:noFill/>
          </a:ln>
        </p:spPr>
        <p:txBody>
          <a:bodyPr wrap="square" lIns="0" tIns="0" rIns="0" bIns="0" rtlCol="0" anchor="t"/>
          <a:lstStyle/>
          <a:p>
            <a:pPr algn="ctr">
              <a:lnSpc>
                <a:spcPts val="17080"/>
              </a:lnSpc>
            </a:pPr>
            <a:r>
              <a:rPr lang="en-US" sz="12200" noProof="1">
                <a:solidFill>
                  <a:srgbClr val="004AAD"/>
                </a:solidFill>
                <a:latin typeface="Times New Roman" panose="02020603050405020304"/>
                <a:ea typeface="微软雅黑" panose="020B0503020204020204" charset="-122"/>
              </a:rPr>
              <a:t>8.2</a:t>
            </a:r>
            <a:endParaRPr lang="en-US" sz="12200" noProof="1"/>
          </a:p>
        </p:txBody>
      </p:sp>
      <p:sp>
        <p:nvSpPr>
          <p:cNvPr id="12" name="divtitle-d82"/>
          <p:cNvSpPr txBox="1"/>
          <p:nvPr/>
        </p:nvSpPr>
        <p:spPr>
          <a:xfrm>
            <a:off x="3429000" y="5143500"/>
            <a:ext cx="11430000" cy="2872740"/>
          </a:xfrm>
          <a:prstGeom prst="rect">
            <a:avLst/>
          </a:prstGeom>
          <a:noFill/>
          <a:ln>
            <a:noFill/>
          </a:ln>
        </p:spPr>
        <p:txBody>
          <a:bodyPr wrap="square" lIns="0" tIns="0" rIns="0" bIns="0" rtlCol="0" anchor="t"/>
          <a:lstStyle/>
          <a:p>
            <a:pPr algn="ctr">
              <a:lnSpc>
                <a:spcPts val="11200"/>
              </a:lnSpc>
            </a:pPr>
            <a:r>
              <a:rPr lang="en-US" sz="9600" b="1" noProof="1">
                <a:solidFill>
                  <a:srgbClr val="004AAD"/>
                </a:solidFill>
                <a:latin typeface="仿宋" panose="02010609060101010101" charset="-122"/>
                <a:ea typeface="仿宋" panose="02010609060101010101" charset="-122"/>
              </a:rPr>
              <a:t>SM2公钥密码体制</a:t>
            </a:r>
            <a:endParaRPr lang="en-US" sz="9600" noProof="1"/>
          </a:p>
        </p:txBody>
      </p:sp>
      <p:sp>
        <p:nvSpPr>
          <p:cNvPr id="13" name="bar1-d82"/>
          <p:cNvSpPr/>
          <p:nvPr/>
        </p:nvSpPr>
        <p:spPr>
          <a:xfrm>
            <a:off x="-1028700" y="8890000"/>
            <a:ext cx="20887690" cy="1035050"/>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gs>
              <a:gs pos="100000">
                <a:srgbClr val="FFE1C4"/>
              </a:gs>
            </a:gsLst>
            <a:lin ang="0" scaled="1"/>
          </a:gradFill>
          <a:ln>
            <a:noFill/>
          </a:ln>
        </p:spPr>
      </p:sp>
      <p:sp>
        <p:nvSpPr>
          <p:cNvPr id="14" name="bar2-d82"/>
          <p:cNvSpPr/>
          <p:nvPr/>
        </p:nvSpPr>
        <p:spPr>
          <a:xfrm>
            <a:off x="-1300480" y="9017000"/>
            <a:ext cx="20887690" cy="1170940"/>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a:ln>
            <a:noFill/>
          </a:ln>
        </p:spPr>
      </p:sp>
      <p:sp>
        <p:nvSpPr>
          <p:cNvPr id="17" name="pagenum-d82"/>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26</a:t>
            </a:r>
            <a:endParaRPr lang="en-US" sz="1400" noProof="1"/>
          </a:p>
        </p:txBody>
      </p:sp>
      <p:grpSp>
        <p:nvGrpSpPr>
          <p:cNvPr id="35" name="组合 34"/>
          <p:cNvGrpSpPr/>
          <p:nvPr/>
        </p:nvGrpSpPr>
        <p:grpSpPr>
          <a:xfrm>
            <a:off x="796975" y="605801"/>
            <a:ext cx="3700052" cy="416951"/>
            <a:chOff x="13811849" y="507954"/>
            <a:chExt cx="3700052" cy="416951"/>
          </a:xfrm>
        </p:grpSpPr>
        <p:sp>
          <p:nvSpPr>
            <p:cNvPr id="36" name="文本框 35"/>
            <p:cNvSpPr txBox="1"/>
            <p:nvPr>
              <p:custDataLst>
                <p:tags r:id="rId1"/>
              </p:custDataLst>
            </p:nvPr>
          </p:nvSpPr>
          <p:spPr>
            <a:xfrm>
              <a:off x="13811849" y="507954"/>
              <a:ext cx="3700052" cy="369332"/>
            </a:xfrm>
            <a:prstGeom prst="rect">
              <a:avLst/>
            </a:prstGeom>
            <a:noFill/>
          </p:spPr>
          <p:txBody>
            <a:bodyPr wrap="none" rtlCol="0">
              <a:spAutoFit/>
            </a:bodyPr>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charset="-122"/>
                  <a:ea typeface="仿宋" panose="02010609060101010101" charset="-122"/>
                </a:rPr>
                <a:t>密码学——基础理论与应用</a:t>
              </a:r>
              <a:endParaRPr lang="zh-CN" altLang="zh-CN" b="1" dirty="0">
                <a:solidFill>
                  <a:schemeClr val="tx2"/>
                </a:solidFill>
                <a:latin typeface="仿宋" panose="02010609060101010101" charset="-122"/>
                <a:ea typeface="仿宋" panose="02010609060101010101" charset="-122"/>
              </a:endParaRPr>
            </a:p>
          </p:txBody>
        </p:sp>
        <p:pic>
          <p:nvPicPr>
            <p:cNvPr id="37" name="图片 36"/>
            <p:cNvPicPr>
              <a:picLocks noChangeAspect="1"/>
            </p:cNvPicPr>
            <p:nvPr>
              <p:custDataLst>
                <p:tags r:id="rId2"/>
              </p:custDataLst>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radbar-82a"/>
          <p:cNvSpPr/>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3" name="body-82a"/>
          <p:cNvSpPr txBox="1"/>
          <p:nvPr/>
        </p:nvSpPr>
        <p:spPr>
          <a:xfrm>
            <a:off x="1724660" y="2938780"/>
            <a:ext cx="14818360" cy="208915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SM2算法是一种椭圆曲线公钥密码算法，其密钥长度为256bit。SM2算法有基于素域和二元扩域的椭圆曲线。本节主要对基于素域椭圆曲线的SM2算法进行讲解。</a:t>
            </a:r>
            <a:endParaRPr lang="en-US" sz="3600" noProof="1"/>
          </a:p>
        </p:txBody>
      </p:sp>
      <p:sp>
        <p:nvSpPr>
          <p:cNvPr id="4" name="pagenum-82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27</a:t>
            </a:r>
            <a:endParaRPr lang="en-US" sz="1400" noProof="1"/>
          </a:p>
        </p:txBody>
      </p:sp>
      <p:sp>
        <p:nvSpPr>
          <p:cNvPr id="5" name="secnum-82a"/>
          <p:cNvSpPr txBox="1"/>
          <p:nvPr/>
        </p:nvSpPr>
        <p:spPr>
          <a:xfrm>
            <a:off x="1216660" y="429260"/>
            <a:ext cx="1049020"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6" name="sectitle-82a"/>
          <p:cNvSpPr txBox="1"/>
          <p:nvPr/>
        </p:nvSpPr>
        <p:spPr>
          <a:xfrm>
            <a:off x="2209800" y="509270"/>
            <a:ext cx="412369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SM2公钥密码体制</a:t>
            </a:r>
            <a:endParaRPr lang="en-US" sz="4000" noProof="1"/>
          </a:p>
        </p:txBody>
      </p:sp>
      <p:pic>
        <p:nvPicPr>
          <p:cNvPr id="7" name="logo-82a"/>
          <p:cNvPicPr/>
          <p:nvPr/>
        </p:nvPicPr>
        <p:blipFill>
          <a:blip r:embed="rId1">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10"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1"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radbar-82a"/>
          <p:cNvSpPr/>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mc:AlternateContent xmlns:mc="http://schemas.openxmlformats.org/markup-compatibility/2006">
        <mc:Choice xmlns:a14="http://schemas.microsoft.com/office/drawing/2010/main" Requires="a14">
          <p:sp>
            <p:nvSpPr>
              <p:cNvPr id="3" name="body-82a"/>
              <p:cNvSpPr txBox="1"/>
              <p:nvPr/>
            </p:nvSpPr>
            <p:spPr>
              <a:xfrm>
                <a:off x="1832610" y="2095500"/>
                <a:ext cx="14818360" cy="4895850"/>
              </a:xfrm>
              <a:prstGeom prst="rect">
                <a:avLst/>
              </a:prstGeom>
              <a:noFill/>
              <a:ln>
                <a:noFill/>
              </a:ln>
            </p:spPr>
            <p:txBody>
              <a:bodyPr wrap="square" lIns="0" tIns="0" rIns="0" bIns="0" rtlCol="0" anchor="t"/>
              <a:lstStyle/>
              <a:p>
                <a:pPr indent="0" algn="just" fontAlgn="auto">
                  <a:lnSpc>
                    <a:spcPct val="120000"/>
                  </a:lnSpc>
                </a:pPr>
                <a:r>
                  <a:rPr lang="en-US" sz="3200" b="1" noProof="1">
                    <a:solidFill>
                      <a:srgbClr val="000000"/>
                    </a:solidFill>
                    <a:latin typeface="Times New Roman" panose="02020603050405020304"/>
                    <a:ea typeface="宋体" panose="02010600030101010101" pitchFamily="2" charset="-122"/>
                  </a:rPr>
                  <a:t>1．参数选取</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要保证SM2算法的安全性，就要使所选取的曲线能够抵抗各种已知的攻击，这就涉及选取安全椭圆曲线的问题。用于建立密码体制的椭圆曲线的主要参数有</a:t>
                </a:r>
                <a14:m>
                  <m:oMath xmlns:m="http://schemas.openxmlformats.org/officeDocument/2006/math">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𝐺</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𝑛</m:t>
                    </m:r>
                  </m:oMath>
                </a14:m>
                <a:r>
                  <a:rPr lang="en-US" sz="32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200" i="1" noProof="1">
                        <a:solidFill>
                          <a:srgbClr val="000000"/>
                        </a:solidFill>
                        <a:latin typeface="Times New Roman" panose="02020603050405020304"/>
                      </a:rPr>
                      <m:t>ℎ</m:t>
                    </m:r>
                  </m:oMath>
                </a14:m>
                <a:r>
                  <a:rPr lang="en-US" sz="32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200" i="1" noProof="1">
                        <a:solidFill>
                          <a:srgbClr val="000000"/>
                        </a:solidFill>
                        <a:latin typeface="Times New Roman" panose="02020603050405020304"/>
                      </a:rPr>
                      <m:t>𝑝</m:t>
                    </m:r>
                  </m:oMath>
                </a14:m>
                <a:r>
                  <a:rPr lang="en-US" sz="3200" noProof="1">
                    <a:solidFill>
                      <a:srgbClr val="000000"/>
                    </a:solidFill>
                    <a:latin typeface="Times New Roman" panose="02020603050405020304"/>
                    <a:ea typeface="宋体" panose="02010600030101010101" pitchFamily="2" charset="-122"/>
                  </a:rPr>
                  <a:t>是有限域</a:t>
                </a:r>
                <a14:m>
                  <m:oMath xmlns:m="http://schemas.openxmlformats.org/officeDocument/2006/math">
                    <m:r>
                      <a:rPr lang="en-US" sz="3200" i="1" noProof="1">
                        <a:solidFill>
                          <a:srgbClr val="000000"/>
                        </a:solidFill>
                        <a:latin typeface="Times New Roman" panose="02020603050405020304"/>
                      </a:rPr>
                      <m:t>𝐹</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中元素的数目；</a:t>
                </a:r>
                <a14:m>
                  <m:oMath xmlns:m="http://schemas.openxmlformats.org/officeDocument/2006/math">
                    <m:r>
                      <a:rPr lang="en-US" sz="3200" i="1" noProof="1">
                        <a:solidFill>
                          <a:srgbClr val="000000"/>
                        </a:solidFill>
                        <a:latin typeface="Times New Roman" panose="02020603050405020304"/>
                      </a:rPr>
                      <m:t>𝑎</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oMath>
                </a14:m>
                <a:r>
                  <a:rPr lang="en-US" sz="3200" noProof="1">
                    <a:solidFill>
                      <a:srgbClr val="000000"/>
                    </a:solidFill>
                    <a:latin typeface="Times New Roman" panose="02020603050405020304"/>
                    <a:ea typeface="宋体" panose="02010600030101010101" pitchFamily="2" charset="-122"/>
                  </a:rPr>
                  <a:t>是方程中的系数，取值于</a:t>
                </a:r>
                <a14:m>
                  <m:oMath xmlns:m="http://schemas.openxmlformats.org/officeDocument/2006/math">
                    <m:r>
                      <a:rPr lang="en-US" sz="3200" i="1" noProof="1">
                        <a:solidFill>
                          <a:srgbClr val="000000"/>
                        </a:solidFill>
                        <a:latin typeface="Times New Roman" panose="02020603050405020304"/>
                      </a:rPr>
                      <m:t>𝐹</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200" i="1" noProof="1">
                        <a:solidFill>
                          <a:srgbClr val="000000"/>
                        </a:solidFill>
                        <a:latin typeface="Times New Roman" panose="02020603050405020304"/>
                      </a:rPr>
                      <m:t>𝐺</m:t>
                    </m:r>
                  </m:oMath>
                </a14:m>
                <a:r>
                  <a:rPr lang="en-US" sz="3200" noProof="1">
                    <a:solidFill>
                      <a:srgbClr val="000000"/>
                    </a:solidFill>
                    <a:latin typeface="Times New Roman" panose="02020603050405020304"/>
                    <a:ea typeface="宋体" panose="02010600030101010101" pitchFamily="2" charset="-122"/>
                  </a:rPr>
                  <a:t>为基点（生成元）；</a:t>
                </a:r>
                <a14:m>
                  <m:oMath xmlns:m="http://schemas.openxmlformats.org/officeDocument/2006/math">
                    <m:r>
                      <a:rPr lang="en-US" sz="3200" i="1" noProof="1">
                        <a:solidFill>
                          <a:srgbClr val="000000"/>
                        </a:solidFill>
                        <a:latin typeface="Times New Roman" panose="02020603050405020304"/>
                      </a:rPr>
                      <m:t>𝑛</m:t>
                    </m:r>
                  </m:oMath>
                </a14:m>
                <a:r>
                  <a:rPr lang="en-US" sz="3200" noProof="1">
                    <a:solidFill>
                      <a:srgbClr val="000000"/>
                    </a:solidFill>
                    <a:latin typeface="Times New Roman" panose="02020603050405020304"/>
                    <a:ea typeface="宋体" panose="02010600030101010101" pitchFamily="2" charset="-122"/>
                  </a:rPr>
                  <a:t>为点</a:t>
                </a:r>
                <a14:m>
                  <m:oMath xmlns:m="http://schemas.openxmlformats.org/officeDocument/2006/math">
                    <m:r>
                      <a:rPr lang="en-US" sz="3200" i="1" noProof="1">
                        <a:solidFill>
                          <a:srgbClr val="000000"/>
                        </a:solidFill>
                        <a:latin typeface="Times New Roman" panose="02020603050405020304"/>
                      </a:rPr>
                      <m:t>𝐺</m:t>
                    </m:r>
                  </m:oMath>
                </a14:m>
                <a:r>
                  <a:rPr lang="en-US" sz="3200" noProof="1">
                    <a:solidFill>
                      <a:srgbClr val="000000"/>
                    </a:solidFill>
                    <a:latin typeface="Times New Roman" panose="02020603050405020304"/>
                    <a:ea typeface="宋体" panose="02010600030101010101" pitchFamily="2" charset="-122"/>
                  </a:rPr>
                  <a:t>的阶；</a:t>
                </a:r>
                <a14:m>
                  <m:oMath xmlns:m="http://schemas.openxmlformats.org/officeDocument/2006/math">
                    <m:r>
                      <a:rPr lang="en-US" sz="3200" i="1" noProof="1">
                        <a:solidFill>
                          <a:srgbClr val="000000"/>
                        </a:solidFill>
                        <a:latin typeface="Times New Roman" panose="02020603050405020304"/>
                      </a:rPr>
                      <m:t>ℎ</m:t>
                    </m:r>
                  </m:oMath>
                </a14:m>
                <a:r>
                  <a:rPr lang="en-US" sz="3200" noProof="1">
                    <a:solidFill>
                      <a:srgbClr val="000000"/>
                    </a:solidFill>
                    <a:latin typeface="Times New Roman" panose="02020603050405020304"/>
                    <a:ea typeface="宋体" panose="02010600030101010101" pitchFamily="2" charset="-122"/>
                  </a:rPr>
                  <a:t>是椭圆曲线上点的个数</a:t>
                </a:r>
                <a14:m>
                  <m:oMath xmlns:m="http://schemas.openxmlformats.org/officeDocument/2006/math">
                    <m:r>
                      <a:rPr lang="en-US" sz="3200" i="1" noProof="1">
                        <a:solidFill>
                          <a:srgbClr val="000000"/>
                        </a:solidFill>
                        <a:latin typeface="Times New Roman" panose="02020603050405020304"/>
                      </a:rPr>
                      <m:t>𝑁</m:t>
                    </m:r>
                  </m:oMath>
                </a14:m>
                <a:r>
                  <a:rPr lang="en-US" sz="3200" noProof="1">
                    <a:solidFill>
                      <a:srgbClr val="000000"/>
                    </a:solidFill>
                    <a:latin typeface="Times New Roman" panose="02020603050405020304"/>
                    <a:ea typeface="宋体" panose="02010600030101010101" pitchFamily="2" charset="-122"/>
                  </a:rPr>
                  <a:t>除以</a:t>
                </a:r>
                <a14:m>
                  <m:oMath xmlns:m="http://schemas.openxmlformats.org/officeDocument/2006/math">
                    <m:r>
                      <a:rPr lang="en-US" sz="3200" i="1" noProof="1">
                        <a:solidFill>
                          <a:srgbClr val="000000"/>
                        </a:solidFill>
                        <a:latin typeface="Times New Roman" panose="02020603050405020304"/>
                      </a:rPr>
                      <m:t>𝑛</m:t>
                    </m:r>
                  </m:oMath>
                </a14:m>
                <a:r>
                  <a:rPr lang="en-US" sz="3200" noProof="1">
                    <a:solidFill>
                      <a:srgbClr val="000000"/>
                    </a:solidFill>
                    <a:latin typeface="Times New Roman" panose="02020603050405020304"/>
                    <a:ea typeface="宋体" panose="02010600030101010101" pitchFamily="2" charset="-122"/>
                  </a:rPr>
                  <a:t>的结果，也称余因子。为了使所建立的密码体制有较好的安全性，这些参数的选取应满足如下条件。</a:t>
                </a:r>
                <a:endParaRPr lang="en-US" sz="3200" noProof="1"/>
              </a:p>
            </p:txBody>
          </p:sp>
        </mc:Choice>
        <mc:Fallback>
          <p:sp>
            <p:nvSpPr>
              <p:cNvPr id="3" name="body-82a"/>
              <p:cNvSpPr txBox="1">
                <a:spLocks noRot="1" noChangeAspect="1" noMove="1" noResize="1" noEditPoints="1" noAdjustHandles="1" noChangeArrowheads="1" noChangeShapeType="1" noTextEdit="1"/>
              </p:cNvSpPr>
              <p:nvPr/>
            </p:nvSpPr>
            <p:spPr>
              <a:xfrm>
                <a:off x="1832610" y="2095500"/>
                <a:ext cx="14818360" cy="4895850"/>
              </a:xfrm>
              <a:prstGeom prst="rect">
                <a:avLst/>
              </a:prstGeom>
              <a:blipFill rotWithShape="1">
                <a:blip r:embed="rId1"/>
                <a:stretch>
                  <a:fillRect r="-30"/>
                </a:stretch>
              </a:blipFill>
              <a:ln>
                <a:noFill/>
              </a:ln>
            </p:spPr>
            <p:txBody>
              <a:bodyPr/>
              <a:lstStyle/>
              <a:p>
                <a:r>
                  <a:rPr lang="zh-CN" altLang="en-US">
                    <a:noFill/>
                  </a:rPr>
                  <a:t> </a:t>
                </a:r>
              </a:p>
            </p:txBody>
          </p:sp>
        </mc:Fallback>
      </mc:AlternateContent>
      <p:sp>
        <p:nvSpPr>
          <p:cNvPr id="4" name="pagenum-82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28</a:t>
            </a:r>
            <a:endParaRPr lang="en-US" sz="1400" noProof="1"/>
          </a:p>
        </p:txBody>
      </p:sp>
      <p:sp>
        <p:nvSpPr>
          <p:cNvPr id="5" name="secnum-82a"/>
          <p:cNvSpPr txBox="1"/>
          <p:nvPr/>
        </p:nvSpPr>
        <p:spPr>
          <a:xfrm>
            <a:off x="1216660" y="429260"/>
            <a:ext cx="1580515"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6" name="sectitle-82a"/>
          <p:cNvSpPr txBox="1"/>
          <p:nvPr/>
        </p:nvSpPr>
        <p:spPr>
          <a:xfrm>
            <a:off x="2797175" y="509270"/>
            <a:ext cx="412369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算法</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描述</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7" name="logo-82a"/>
          <p:cNvPicPr/>
          <p:nvPr/>
        </p:nvPicPr>
        <p:blipFill>
          <a:blip r:embed="rId2">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10" name="bookhead-81a"/>
          <p:cNvSpPr txBox="1"/>
          <p:nvPr>
            <p:custDataLst>
              <p:tags r:id="rId3"/>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1" name="bookline-81a"/>
          <p:cNvPicPr/>
          <p:nvPr>
            <p:custDataLst>
              <p:tags r:id="rId4"/>
            </p:custDataLst>
          </p:nvPr>
        </p:nvPicPr>
        <p:blipFill>
          <a:blip r:embed="rId5"/>
          <a:stretch>
            <a:fillRect/>
          </a:stretch>
        </p:blipFill>
        <p:spPr>
          <a:xfrm>
            <a:off x="13731240" y="1102360"/>
            <a:ext cx="2771140" cy="46990"/>
          </a:xfrm>
          <a:prstGeom prst="rect">
            <a:avLst/>
          </a:prstGeom>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2b"/>
              <p:cNvSpPr txBox="1"/>
              <p:nvPr/>
            </p:nvSpPr>
            <p:spPr>
              <a:xfrm>
                <a:off x="1724660" y="2095500"/>
                <a:ext cx="14818360" cy="5186680"/>
              </a:xfrm>
              <a:prstGeom prst="rect">
                <a:avLst/>
              </a:prstGeom>
              <a:noFill/>
              <a:ln>
                <a:noFill/>
              </a:ln>
            </p:spPr>
            <p:txBody>
              <a:bodyPr wrap="square" lIns="0" tIns="0" rIns="0" bIns="0" rtlCol="0" anchor="t"/>
              <a:lstStyle/>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（1）</a:t>
                </a:r>
                <a14:m>
                  <m:oMath xmlns:m="http://schemas.openxmlformats.org/officeDocument/2006/math">
                    <m:r>
                      <a:rPr lang="en-US" sz="3200" i="1" noProof="1">
                        <a:solidFill>
                          <a:srgbClr val="000000"/>
                        </a:solidFill>
                        <a:latin typeface="Times New Roman" panose="02020603050405020304"/>
                      </a:rPr>
                      <m:t>𝑝</m:t>
                    </m:r>
                  </m:oMath>
                </a14:m>
                <a:r>
                  <a:rPr lang="en-US" sz="3200" noProof="1">
                    <a:solidFill>
                      <a:srgbClr val="000000"/>
                    </a:solidFill>
                    <a:latin typeface="Times New Roman" panose="02020603050405020304"/>
                    <a:ea typeface="宋体" panose="02010600030101010101" pitchFamily="2" charset="-122"/>
                  </a:rPr>
                  <a:t>越大越安全，但计算速度会变慢，160位可以满足目前的安全需求。</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（2）为了防止Pohlig-Hellman算法的攻击，</a:t>
                </a:r>
                <a14:m>
                  <m:oMath xmlns:m="http://schemas.openxmlformats.org/officeDocument/2006/math">
                    <m:r>
                      <a:rPr lang="en-US" sz="3200" i="1" noProof="1">
                        <a:solidFill>
                          <a:srgbClr val="000000"/>
                        </a:solidFill>
                        <a:latin typeface="Times New Roman" panose="02020603050405020304"/>
                      </a:rPr>
                      <m:t>𝑛</m:t>
                    </m:r>
                  </m:oMath>
                </a14:m>
                <a:r>
                  <a:rPr lang="en-US" sz="3200" noProof="1">
                    <a:solidFill>
                      <a:srgbClr val="000000"/>
                    </a:solidFill>
                    <a:latin typeface="Times New Roman" panose="02020603050405020304"/>
                    <a:ea typeface="宋体" panose="02010600030101010101" pitchFamily="2" charset="-122"/>
                  </a:rPr>
                  <a:t>为大素数（</a:t>
                </a:r>
                <a14:m>
                  <m:oMath xmlns:m="http://schemas.openxmlformats.org/officeDocument/2006/math">
                    <m:r>
                      <a:rPr lang="en-US" sz="3200" i="1" noProof="1">
                        <a:solidFill>
                          <a:srgbClr val="000000"/>
                        </a:solidFill>
                        <a:latin typeface="Times New Roman" panose="02020603050405020304"/>
                      </a:rPr>
                      <m:t>𝑛</m:t>
                    </m:r>
                    <m:r>
                      <a:rPr lang="en-US" sz="3200" i="0" noProof="1">
                        <a:solidFill>
                          <a:srgbClr val="000000"/>
                        </a:solidFill>
                        <a:latin typeface="Times New Roman" panose="02020603050405020304"/>
                      </a:rPr>
                      <m:t>&gt;</m:t>
                    </m:r>
                    <m:sSup>
                      <m:sSupPr>
                        <m:ctrlPr>
                          <a:rPr lang="en-US" sz="3200" noProof="1">
                            <a:solidFill>
                              <a:srgbClr val="000000"/>
                            </a:solidFill>
                            <a:latin typeface="Times New Roman" panose="02020603050405020304"/>
                          </a:rPr>
                        </m:ctrlPr>
                      </m:sSupPr>
                      <m:e>
                        <m:r>
                          <a:rPr lang="en-US" sz="3200" i="0" noProof="1">
                            <a:solidFill>
                              <a:srgbClr val="000000"/>
                            </a:solidFill>
                            <a:latin typeface="Times New Roman" panose="02020603050405020304"/>
                          </a:rPr>
                          <m:t>2</m:t>
                        </m:r>
                      </m:e>
                      <m:sup>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60</m:t>
                        </m:r>
                      </m:sup>
                    </m:sSup>
                  </m:oMath>
                </a14:m>
                <a:r>
                  <a:rPr lang="en-US" sz="3200" noProof="1">
                    <a:solidFill>
                      <a:srgbClr val="000000"/>
                    </a:solidFill>
                    <a:latin typeface="Times New Roman" panose="02020603050405020304"/>
                    <a:ea typeface="宋体" panose="02010600030101010101" pitchFamily="2" charset="-122"/>
                  </a:rPr>
                  <a:t>），对于固定的有限域</a:t>
                </a:r>
                <a14:m>
                  <m:oMath xmlns:m="http://schemas.openxmlformats.org/officeDocument/2006/math">
                    <m:r>
                      <a:rPr lang="en-US" sz="3200" i="1" noProof="1">
                        <a:solidFill>
                          <a:srgbClr val="000000"/>
                        </a:solidFill>
                        <a:latin typeface="Times New Roman" panose="02020603050405020304"/>
                      </a:rPr>
                      <m:t>𝐹</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200" i="1" noProof="1">
                        <a:solidFill>
                          <a:srgbClr val="000000"/>
                        </a:solidFill>
                        <a:latin typeface="Times New Roman" panose="02020603050405020304"/>
                      </a:rPr>
                      <m:t>𝑛</m:t>
                    </m:r>
                  </m:oMath>
                </a14:m>
                <a:r>
                  <a:rPr lang="en-US" sz="3200" noProof="1">
                    <a:solidFill>
                      <a:srgbClr val="000000"/>
                    </a:solidFill>
                    <a:latin typeface="Times New Roman" panose="02020603050405020304"/>
                    <a:ea typeface="宋体" panose="02010600030101010101" pitchFamily="2" charset="-122"/>
                  </a:rPr>
                  <a:t>应当尽可能大。</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（3）因为</a:t>
                </a:r>
                <a14:m>
                  <m:oMath xmlns:m="http://schemas.openxmlformats.org/officeDocument/2006/math">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𝑥</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𝑎𝑥</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oMath>
                </a14:m>
                <a:r>
                  <a:rPr lang="en-US" sz="3200" noProof="1">
                    <a:solidFill>
                      <a:srgbClr val="000000"/>
                    </a:solidFill>
                    <a:latin typeface="Times New Roman" panose="02020603050405020304"/>
                    <a:ea typeface="宋体" panose="02010600030101010101" pitchFamily="2" charset="-122"/>
                  </a:rPr>
                  <a:t>无重复因子才可基于椭圆曲线</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定义群，所以要求</a:t>
                </a:r>
                <a14:m>
                  <m:oMath xmlns:m="http://schemas.openxmlformats.org/officeDocument/2006/math">
                    <m:r>
                      <a:rPr lang="en-US" sz="3200" i="0" noProof="1">
                        <a:solidFill>
                          <a:srgbClr val="000000"/>
                        </a:solidFill>
                        <a:latin typeface="Times New Roman" panose="02020603050405020304"/>
                      </a:rPr>
                      <m:t>4</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𝑎</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27</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𝑏</m:t>
                        </m:r>
                      </m:e>
                      <m:sup>
                        <m:r>
                          <a:rPr lang="en-US" sz="3200" i="0" noProof="1">
                            <a:solidFill>
                              <a:srgbClr val="000000"/>
                            </a:solidFill>
                            <a:latin typeface="Times New Roman" panose="02020603050405020304"/>
                          </a:rPr>
                          <m:t>2</m:t>
                        </m:r>
                      </m:sup>
                    </m:sSup>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0</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𝑚</m:t>
                    </m:r>
                    <m:r>
                      <a:rPr lang="en-US" sz="3200" i="0" noProof="1">
                        <a:solidFill>
                          <a:srgbClr val="000000"/>
                        </a:solidFill>
                        <a:latin typeface="Times New Roman" panose="02020603050405020304"/>
                      </a:rPr>
                      <m:t>𝑜𝑑</m:t>
                    </m:r>
                    <m:r>
                      <a:rPr lang="en-US" sz="3200" i="0" noProof="1">
                        <a:solidFill>
                          <a:srgbClr val="000000"/>
                        </a:solidFill>
                        <a:latin typeface="Times New Roman" panose="02020603050405020304"/>
                      </a:rPr>
                      <m:t> </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（4）为了防止小步大步攻击，要保证</a:t>
                </a:r>
                <a14:m>
                  <m:oMath xmlns:m="http://schemas.openxmlformats.org/officeDocument/2006/math">
                    <m:r>
                      <a:rPr lang="en-US" sz="3200" i="1" noProof="1">
                        <a:solidFill>
                          <a:srgbClr val="000000"/>
                        </a:solidFill>
                        <a:latin typeface="Times New Roman" panose="02020603050405020304"/>
                      </a:rPr>
                      <m:t>𝑃</m:t>
                    </m:r>
                  </m:oMath>
                </a14:m>
                <a:r>
                  <a:rPr lang="en-US" sz="3200" noProof="1">
                    <a:solidFill>
                      <a:srgbClr val="000000"/>
                    </a:solidFill>
                    <a:latin typeface="Times New Roman" panose="02020603050405020304"/>
                    <a:ea typeface="宋体" panose="02010600030101010101" pitchFamily="2" charset="-122"/>
                  </a:rPr>
                  <a:t>的阶</a:t>
                </a:r>
                <a14:m>
                  <m:oMath xmlns:m="http://schemas.openxmlformats.org/officeDocument/2006/math">
                    <m:r>
                      <a:rPr lang="en-US" sz="3200" i="1" noProof="1">
                        <a:solidFill>
                          <a:srgbClr val="000000"/>
                        </a:solidFill>
                        <a:latin typeface="Times New Roman" panose="02020603050405020304"/>
                      </a:rPr>
                      <m:t>𝑛</m:t>
                    </m:r>
                  </m:oMath>
                </a14:m>
                <a:r>
                  <a:rPr lang="en-US" sz="3200" noProof="1">
                    <a:solidFill>
                      <a:srgbClr val="000000"/>
                    </a:solidFill>
                    <a:latin typeface="Times New Roman" panose="02020603050405020304"/>
                    <a:ea typeface="宋体" panose="02010600030101010101" pitchFamily="2" charset="-122"/>
                  </a:rPr>
                  <a:t>足够大，要求</a:t>
                </a:r>
                <a14:m>
                  <m:oMath xmlns:m="http://schemas.openxmlformats.org/officeDocument/2006/math">
                    <m:r>
                      <a:rPr lang="en-US" sz="3200" i="1" noProof="1">
                        <a:solidFill>
                          <a:srgbClr val="000000"/>
                        </a:solidFill>
                        <a:latin typeface="Times New Roman" panose="02020603050405020304"/>
                      </a:rPr>
                      <m:t>ℎ</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4</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（5）为了防止MOV规约法，不能选取超奇异椭圆曲线和异常椭圆曲线等两类特殊曲线。</a:t>
                </a:r>
                <a:endParaRPr lang="en-US" sz="3200" noProof="1"/>
              </a:p>
              <a:p>
                <a:pPr algn="just">
                  <a:lnSpc>
                    <a:spcPct val="120000"/>
                  </a:lnSpc>
                </a:pPr>
                <a:endParaRPr lang="en-US" sz="3200" noProof="1"/>
              </a:p>
            </p:txBody>
          </p:sp>
        </mc:Choice>
        <mc:Fallback>
          <p:sp>
            <p:nvSpPr>
              <p:cNvPr id="3" name="body-82b"/>
              <p:cNvSpPr txBox="1">
                <a:spLocks noRot="1" noChangeAspect="1" noMove="1" noResize="1" noEditPoints="1" noAdjustHandles="1" noChangeArrowheads="1" noChangeShapeType="1" noTextEdit="1"/>
              </p:cNvSpPr>
              <p:nvPr/>
            </p:nvSpPr>
            <p:spPr>
              <a:xfrm>
                <a:off x="1724660" y="2095500"/>
                <a:ext cx="14818360" cy="5186680"/>
              </a:xfrm>
              <a:prstGeom prst="rect">
                <a:avLst/>
              </a:prstGeom>
              <a:blipFill rotWithShape="1">
                <a:blip r:embed="rId1"/>
                <a:stretch>
                  <a:fillRect b="-6219"/>
                </a:stretch>
              </a:blipFill>
              <a:ln>
                <a:noFill/>
              </a:ln>
            </p:spPr>
            <p:txBody>
              <a:bodyPr/>
              <a:lstStyle/>
              <a:p>
                <a:r>
                  <a:rPr lang="zh-CN" altLang="en-US">
                    <a:noFill/>
                  </a:rPr>
                  <a:t> </a:t>
                </a:r>
              </a:p>
            </p:txBody>
          </p:sp>
        </mc:Fallback>
      </mc:AlternateContent>
      <p:sp>
        <p:nvSpPr>
          <p:cNvPr id="4" name="pagenum-82b"/>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29</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6" name="gradbar-8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num-82a"/>
          <p:cNvSpPr txBox="1"/>
          <p:nvPr>
            <p:custDataLst>
              <p:tags r:id="rId6"/>
            </p:custDataLst>
          </p:nvPr>
        </p:nvSpPr>
        <p:spPr>
          <a:xfrm>
            <a:off x="1216660" y="429260"/>
            <a:ext cx="158051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title-82a"/>
          <p:cNvSpPr txBox="1"/>
          <p:nvPr>
            <p:custDataLst>
              <p:tags r:id="rId7"/>
            </p:custDataLst>
          </p:nvPr>
        </p:nvSpPr>
        <p:spPr>
          <a:xfrm>
            <a:off x="2797175" y="509270"/>
            <a:ext cx="412369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算法</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描述</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8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2b"/>
              <p:cNvSpPr txBox="1"/>
              <p:nvPr/>
            </p:nvSpPr>
            <p:spPr>
              <a:xfrm>
                <a:off x="1724660" y="2095500"/>
                <a:ext cx="14818360" cy="4124960"/>
              </a:xfrm>
              <a:prstGeom prst="rect">
                <a:avLst/>
              </a:prstGeom>
              <a:noFill/>
              <a:ln>
                <a:noFill/>
              </a:ln>
            </p:spPr>
            <p:txBody>
              <a:bodyPr wrap="square" lIns="0" tIns="0" rIns="0" bIns="0" rtlCol="0" anchor="t"/>
              <a:lstStyle/>
              <a:p>
                <a:pPr algn="just">
                  <a:lnSpc>
                    <a:spcPct val="120000"/>
                  </a:lnSpc>
                </a:pPr>
                <a:r>
                  <a:rPr lang="en-US" sz="3200" b="1" noProof="1">
                    <a:solidFill>
                      <a:srgbClr val="000000"/>
                    </a:solidFill>
                    <a:latin typeface="Times New Roman" panose="02020603050405020304"/>
                    <a:ea typeface="宋体" panose="02010600030101010101" pitchFamily="2" charset="-122"/>
                  </a:rPr>
                  <a:t>2．椭圆曲线的阶和基点</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对于有限域上随机的椭圆曲线，其阶的计算是一个相当复杂的问题，目前有效的计算方法有SEA算法和Satoh算法。</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ECC并不是运行在整个生成元素构成的群上，而是运行在由其基点G生成的子群中，为了提高曲线的安全性，选择的基点</a:t>
                </a:r>
                <a14:m>
                  <m:oMath xmlns:m="http://schemas.openxmlformats.org/officeDocument/2006/math">
                    <m:r>
                      <a:rPr lang="en-US" sz="3200" i="1" noProof="1">
                        <a:solidFill>
                          <a:srgbClr val="000000"/>
                        </a:solidFill>
                        <a:latin typeface="Times New Roman" panose="02020603050405020304"/>
                      </a:rPr>
                      <m:t>𝐺</m:t>
                    </m:r>
                  </m:oMath>
                </a14:m>
                <a:r>
                  <a:rPr lang="en-US" sz="3200" noProof="1">
                    <a:solidFill>
                      <a:srgbClr val="000000"/>
                    </a:solidFill>
                    <a:latin typeface="Times New Roman" panose="02020603050405020304"/>
                    <a:ea typeface="宋体" panose="02010600030101010101" pitchFamily="2" charset="-122"/>
                  </a:rPr>
                  <a:t>的阶就是</a:t>
                </a:r>
                <a14:m>
                  <m:oMath xmlns:m="http://schemas.openxmlformats.org/officeDocument/2006/math">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𝐸</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𝐹</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的一个大素因子，其中</a:t>
                </a:r>
                <a14:m>
                  <m:oMath xmlns:m="http://schemas.openxmlformats.org/officeDocument/2006/math">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表示椭圆曲线</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𝑎</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𝑏</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上点的个数。</a:t>
                </a:r>
                <a:endParaRPr lang="en-US" sz="3200" noProof="1"/>
              </a:p>
            </p:txBody>
          </p:sp>
        </mc:Choice>
        <mc:Fallback>
          <p:sp>
            <p:nvSpPr>
              <p:cNvPr id="3" name="body-82b"/>
              <p:cNvSpPr txBox="1">
                <a:spLocks noRot="1" noChangeAspect="1" noMove="1" noResize="1" noEditPoints="1" noAdjustHandles="1" noChangeArrowheads="1" noChangeShapeType="1" noTextEdit="1"/>
              </p:cNvSpPr>
              <p:nvPr/>
            </p:nvSpPr>
            <p:spPr>
              <a:xfrm>
                <a:off x="1724660" y="2095500"/>
                <a:ext cx="14818360" cy="412496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82b"/>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30</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6" name="gradbar-8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num-82a"/>
          <p:cNvSpPr txBox="1"/>
          <p:nvPr>
            <p:custDataLst>
              <p:tags r:id="rId6"/>
            </p:custDataLst>
          </p:nvPr>
        </p:nvSpPr>
        <p:spPr>
          <a:xfrm>
            <a:off x="1216660" y="429260"/>
            <a:ext cx="1580515"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title-82a"/>
          <p:cNvSpPr txBox="1"/>
          <p:nvPr>
            <p:custDataLst>
              <p:tags r:id="rId7"/>
            </p:custDataLst>
          </p:nvPr>
        </p:nvSpPr>
        <p:spPr>
          <a:xfrm>
            <a:off x="2797175" y="509270"/>
            <a:ext cx="412369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算法</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描述</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8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2c"/>
              <p:cNvSpPr txBox="1"/>
              <p:nvPr/>
            </p:nvSpPr>
            <p:spPr>
              <a:xfrm>
                <a:off x="1684020" y="2138680"/>
                <a:ext cx="14818360" cy="3252470"/>
              </a:xfrm>
              <a:prstGeom prst="rect">
                <a:avLst/>
              </a:prstGeom>
              <a:noFill/>
              <a:ln>
                <a:noFill/>
              </a:ln>
            </p:spPr>
            <p:txBody>
              <a:bodyPr wrap="square" lIns="0" tIns="0" rIns="0" bIns="0" rtlCol="0" anchor="t"/>
              <a:lstStyle/>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密钥派生函数的作用是从一个共享的秘密比特串中派生出密钥数据，密钥派生函数需要调用杂凑函数，杂凑函数的输出比特长度为</a:t>
                </a:r>
                <a14:m>
                  <m:oMath xmlns:m="http://schemas.openxmlformats.org/officeDocument/2006/math">
                    <m:r>
                      <a:rPr lang="en-US" sz="3200" i="1" noProof="1">
                        <a:solidFill>
                          <a:srgbClr val="000000"/>
                        </a:solidFill>
                        <a:latin typeface="Times New Roman" panose="02020603050405020304"/>
                      </a:rPr>
                      <m:t>𝑣</m:t>
                    </m:r>
                  </m:oMath>
                </a14:m>
                <a:r>
                  <a:rPr lang="en-US" sz="3200" noProof="1">
                    <a:solidFill>
                      <a:srgbClr val="000000"/>
                    </a:solidFill>
                    <a:latin typeface="Times New Roman" panose="02020603050405020304"/>
                    <a:ea typeface="宋体" panose="02010600030101010101" pitchFamily="2" charset="-122"/>
                  </a:rPr>
                  <a:t>。在SM2算法中，密钥派生函数是通过输入比特串</a:t>
                </a:r>
                <a14:m>
                  <m:oMath xmlns:m="http://schemas.openxmlformats.org/officeDocument/2006/math">
                    <m:r>
                      <a:rPr lang="en-US" sz="3200" i="1" noProof="1">
                        <a:solidFill>
                          <a:srgbClr val="000000"/>
                        </a:solidFill>
                        <a:latin typeface="Times New Roman" panose="02020603050405020304"/>
                      </a:rPr>
                      <m:t>𝑍</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𝑥</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𝑦</m:t>
                        </m:r>
                      </m:e>
                      <m:sub>
                        <m:r>
                          <a:rPr lang="en-US" sz="3200" i="0" noProof="1">
                            <a:solidFill>
                              <a:srgbClr val="000000"/>
                            </a:solidFill>
                            <a:latin typeface="Times New Roman" panose="02020603050405020304"/>
                          </a:rPr>
                          <m:t>2</m:t>
                        </m:r>
                      </m:sub>
                    </m:sSub>
                  </m:oMath>
                </a14:m>
                <a:r>
                  <a:rPr lang="en-US" sz="3200" noProof="1">
                    <a:solidFill>
                      <a:srgbClr val="000000"/>
                    </a:solidFill>
                    <a:latin typeface="Times New Roman" panose="02020603050405020304"/>
                    <a:ea typeface="宋体" panose="02010600030101010101" pitchFamily="2" charset="-122"/>
                  </a:rPr>
                  <a:t>和整数</a:t>
                </a:r>
                <a14:m>
                  <m:oMath xmlns:m="http://schemas.openxmlformats.org/officeDocument/2006/math">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oMath>
                </a14:m>
                <a:r>
                  <a:rPr lang="en-US" sz="3200" noProof="1">
                    <a:solidFill>
                      <a:srgbClr val="000000"/>
                    </a:solidFill>
                    <a:latin typeface="Times New Roman" panose="02020603050405020304"/>
                    <a:ea typeface="宋体" panose="02010600030101010101" pitchFamily="2" charset="-122"/>
                  </a:rPr>
                  <a:t>，从而得到一个长度为</a:t>
                </a:r>
                <a14:m>
                  <m:oMath xmlns:m="http://schemas.openxmlformats.org/officeDocument/2006/math">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oMath>
                </a14:m>
                <a:r>
                  <a:rPr lang="en-US" sz="3200" noProof="1">
                    <a:solidFill>
                      <a:srgbClr val="000000"/>
                    </a:solidFill>
                    <a:latin typeface="Times New Roman" panose="02020603050405020304"/>
                    <a:ea typeface="宋体" panose="02010600030101010101" pitchFamily="2" charset="-122"/>
                  </a:rPr>
                  <a:t>的比特串，杂凑函数一般选用国密算法SM3。</a:t>
                </a:r>
                <a:endParaRPr lang="en-US" sz="3200" noProof="1"/>
              </a:p>
            </p:txBody>
          </p:sp>
        </mc:Choice>
        <mc:Fallback>
          <p:sp>
            <p:nvSpPr>
              <p:cNvPr id="3" name="body-82c"/>
              <p:cNvSpPr txBox="1">
                <a:spLocks noRot="1" noChangeAspect="1" noMove="1" noResize="1" noEditPoints="1" noAdjustHandles="1" noChangeArrowheads="1" noChangeShapeType="1" noTextEdit="1"/>
              </p:cNvSpPr>
              <p:nvPr/>
            </p:nvSpPr>
            <p:spPr>
              <a:xfrm>
                <a:off x="1684020" y="2138680"/>
                <a:ext cx="14818360" cy="325247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82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31</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6" name="gradbar-8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num-82a"/>
          <p:cNvSpPr txBox="1"/>
          <p:nvPr>
            <p:custDataLst>
              <p:tags r:id="rId6"/>
            </p:custDataLst>
          </p:nvPr>
        </p:nvSpPr>
        <p:spPr>
          <a:xfrm>
            <a:off x="1216660" y="429260"/>
            <a:ext cx="1580515"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title-82a"/>
          <p:cNvSpPr txBox="1"/>
          <p:nvPr>
            <p:custDataLst>
              <p:tags r:id="rId7"/>
            </p:custDataLst>
          </p:nvPr>
        </p:nvSpPr>
        <p:spPr>
          <a:xfrm>
            <a:off x="2797175" y="509270"/>
            <a:ext cx="412369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密钥派生函数</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8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2c"/>
              <p:cNvSpPr txBox="1"/>
              <p:nvPr/>
            </p:nvSpPr>
            <p:spPr>
              <a:xfrm>
                <a:off x="1684020" y="2066290"/>
                <a:ext cx="14818360" cy="5021580"/>
              </a:xfrm>
              <a:prstGeom prst="rect">
                <a:avLst/>
              </a:prstGeom>
              <a:noFill/>
              <a:ln>
                <a:noFill/>
              </a:ln>
            </p:spPr>
            <p:txBody>
              <a:bodyPr wrap="square" lIns="0" tIns="0" rIns="0" bIns="0" rtlCol="0" anchor="t"/>
              <a:lstStyle/>
              <a:p>
                <a:pPr indent="0" algn="just" fontAlgn="auto">
                  <a:lnSpc>
                    <a:spcPct val="120000"/>
                  </a:lnSpc>
                </a:pPr>
                <a:r>
                  <a:rPr lang="en-US" sz="3200" noProof="1">
                    <a:solidFill>
                      <a:srgbClr val="000000"/>
                    </a:solidFill>
                    <a:latin typeface="Times New Roman" panose="02020603050405020304"/>
                    <a:ea typeface="宋体" panose="02010600030101010101" pitchFamily="2" charset="-122"/>
                  </a:rPr>
                  <a:t>密钥派生函数的具体过程如下。</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（1）初始化一个32bit长度的计数器</a:t>
                </a:r>
                <a14:m>
                  <m:oMath xmlns:m="http://schemas.openxmlformats.org/officeDocument/2006/math">
                    <m:r>
                      <a:rPr lang="en-US" sz="3200" i="0" noProof="1">
                        <a:solidFill>
                          <a:srgbClr val="000000"/>
                        </a:solidFill>
                        <a:latin typeface="Times New Roman" panose="02020603050405020304"/>
                      </a:rPr>
                      <m:t>𝑐𝑡</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0</m:t>
                    </m:r>
                    <m:r>
                      <a:rPr lang="en-US" sz="3200" i="0" noProof="1">
                        <a:solidFill>
                          <a:srgbClr val="000000"/>
                        </a:solidFill>
                        <a:latin typeface="Times New Roman" panose="02020603050405020304"/>
                      </a:rPr>
                      <m:t>𝑥</m:t>
                    </m:r>
                    <m:r>
                      <a:rPr lang="en-US" sz="3200" i="0" noProof="1">
                        <a:solidFill>
                          <a:srgbClr val="000000"/>
                        </a:solidFill>
                        <a:latin typeface="Times New Roman" panose="02020603050405020304"/>
                      </a:rPr>
                      <m:t>00</m:t>
                    </m:r>
                    <m:r>
                      <a:rPr lang="en-US" sz="3200" i="0" noProof="1">
                        <a:solidFill>
                          <a:srgbClr val="000000"/>
                        </a:solidFill>
                        <a:latin typeface="Times New Roman" panose="02020603050405020304"/>
                      </a:rPr>
                      <m:t>00</m:t>
                    </m:r>
                    <m:r>
                      <a:rPr lang="en-US" sz="3200" i="0" noProof="1">
                        <a:solidFill>
                          <a:srgbClr val="000000"/>
                        </a:solidFill>
                        <a:latin typeface="Times New Roman" panose="02020603050405020304"/>
                      </a:rPr>
                      <m:t>00</m:t>
                    </m:r>
                    <m:r>
                      <a:rPr lang="en-US" sz="3200" i="0" noProof="1">
                        <a:solidFill>
                          <a:srgbClr val="000000"/>
                        </a:solidFill>
                        <a:latin typeface="Times New Roman" panose="02020603050405020304"/>
                      </a:rPr>
                      <m:t>01</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（2）从1到</a:t>
                </a:r>
                <a14:m>
                  <m:oMath xmlns:m="http://schemas.openxmlformats.org/officeDocument/2006/math">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𝑣</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，循环对</a:t>
                </a:r>
                <a14:m>
                  <m:oMath xmlns:m="http://schemas.openxmlformats.org/officeDocument/2006/math">
                    <m:r>
                      <a:rPr lang="en-US" sz="3200" i="1" noProof="1">
                        <a:solidFill>
                          <a:srgbClr val="000000"/>
                        </a:solidFill>
                        <a:latin typeface="Times New Roman" panose="02020603050405020304"/>
                      </a:rPr>
                      <m:t>𝑍</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𝑐𝑡</m:t>
                    </m:r>
                  </m:oMath>
                </a14:m>
                <a:r>
                  <a:rPr lang="en-US" sz="3200" noProof="1">
                    <a:solidFill>
                      <a:srgbClr val="000000"/>
                    </a:solidFill>
                    <a:latin typeface="Times New Roman" panose="02020603050405020304"/>
                    <a:ea typeface="宋体" panose="02010600030101010101" pitchFamily="2" charset="-122"/>
                  </a:rPr>
                  <a:t>进行Hash运算，每进行一次Hash运算，</a:t>
                </a:r>
                <a14:m>
                  <m:oMath xmlns:m="http://schemas.openxmlformats.org/officeDocument/2006/math">
                    <m:r>
                      <a:rPr lang="en-US" sz="3200" i="0" noProof="1">
                        <a:solidFill>
                          <a:srgbClr val="000000"/>
                        </a:solidFill>
                        <a:latin typeface="Times New Roman" panose="02020603050405020304"/>
                      </a:rPr>
                      <m:t>𝑐𝑡</m:t>
                    </m:r>
                  </m:oMath>
                </a14:m>
                <a:r>
                  <a:rPr lang="en-US" sz="3200" noProof="1">
                    <a:solidFill>
                      <a:srgbClr val="000000"/>
                    </a:solidFill>
                    <a:latin typeface="Times New Roman" panose="02020603050405020304"/>
                    <a:ea typeface="宋体" panose="02010600030101010101" pitchFamily="2" charset="-122"/>
                  </a:rPr>
                  <a:t>加一。</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（3）若</a:t>
                </a:r>
                <a14:m>
                  <m:oMath xmlns:m="http://schemas.openxmlformats.org/officeDocument/2006/math">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oMath>
                </a14:m>
                <a:r>
                  <a:rPr lang="en-US" sz="3200" noProof="1">
                    <a:solidFill>
                      <a:srgbClr val="000000"/>
                    </a:solidFill>
                    <a:latin typeface="Times New Roman" panose="02020603050405020304"/>
                    <a:ea typeface="宋体" panose="02010600030101010101" pitchFamily="2" charset="-122"/>
                  </a:rPr>
                  <a:t>为</a:t>
                </a:r>
                <a14:m>
                  <m:oMath xmlns:m="http://schemas.openxmlformats.org/officeDocument/2006/math">
                    <m:r>
                      <a:rPr lang="en-US" sz="3200" i="1" noProof="1">
                        <a:solidFill>
                          <a:srgbClr val="000000"/>
                        </a:solidFill>
                        <a:latin typeface="Times New Roman" panose="02020603050405020304"/>
                      </a:rPr>
                      <m:t>𝑣</m:t>
                    </m:r>
                  </m:oMath>
                </a14:m>
                <a:r>
                  <a:rPr lang="en-US" sz="3200" noProof="1">
                    <a:solidFill>
                      <a:srgbClr val="000000"/>
                    </a:solidFill>
                    <a:latin typeface="Times New Roman" panose="02020603050405020304"/>
                    <a:ea typeface="宋体" panose="02010600030101010101" pitchFamily="2" charset="-122"/>
                  </a:rPr>
                  <a:t>的整数倍，则输出</a:t>
                </a:r>
                <a14:m>
                  <m:oMath xmlns:m="http://schemas.openxmlformats.org/officeDocument/2006/math">
                    <m:r>
                      <a:rPr lang="en-US" sz="3200" i="1" noProof="1">
                        <a:solidFill>
                          <a:srgbClr val="000000"/>
                        </a:solidFill>
                        <a:latin typeface="Times New Roman" panose="02020603050405020304"/>
                      </a:rPr>
                      <m:t>𝐾</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𝐻</m:t>
                        </m:r>
                      </m:e>
                      <m: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𝑎</m:t>
                            </m:r>
                          </m:e>
                          <m:sub>
                            <m:r>
                              <a:rPr lang="en-US" sz="3200" i="0" noProof="1">
                                <a:solidFill>
                                  <a:srgbClr val="000000"/>
                                </a:solidFill>
                                <a:latin typeface="Times New Roman" panose="02020603050405020304"/>
                              </a:rPr>
                              <m:t>1</m:t>
                            </m:r>
                          </m:sub>
                        </m:sSub>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𝐻</m:t>
                        </m:r>
                      </m:e>
                      <m: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𝑎</m:t>
                            </m:r>
                          </m:e>
                          <m:sub>
                            <m:r>
                              <a:rPr lang="en-US" sz="3200" i="0" noProof="1">
                                <a:solidFill>
                                  <a:srgbClr val="000000"/>
                                </a:solidFill>
                                <a:latin typeface="Times New Roman" panose="02020603050405020304"/>
                              </a:rPr>
                              <m:t>2</m:t>
                            </m:r>
                          </m:sub>
                        </m:sSub>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𝐻</m:t>
                        </m:r>
                      </m:e>
                      <m: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𝑎</m:t>
                            </m:r>
                          </m:e>
                          <m: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𝑣</m:t>
                            </m:r>
                            <m:r>
                              <a:rPr lang="en-US" sz="3200" i="0" noProof="1">
                                <a:solidFill>
                                  <a:srgbClr val="000000"/>
                                </a:solidFill>
                                <a:latin typeface="Times New Roman" panose="02020603050405020304"/>
                              </a:rPr>
                              <m:t>⌉</m:t>
                            </m:r>
                          </m:sub>
                        </m:sSub>
                      </m:sub>
                    </m:sSub>
                  </m:oMath>
                </a14:m>
                <a:r>
                  <a:rPr lang="en-US" sz="32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表示连接符。</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（4）若</a:t>
                </a:r>
                <a14:m>
                  <m:oMath xmlns:m="http://schemas.openxmlformats.org/officeDocument/2006/math">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oMath>
                </a14:m>
                <a:r>
                  <a:rPr lang="en-US" sz="3200" noProof="1">
                    <a:solidFill>
                      <a:srgbClr val="000000"/>
                    </a:solidFill>
                    <a:latin typeface="Times New Roman" panose="02020603050405020304"/>
                    <a:ea typeface="宋体" panose="02010600030101010101" pitchFamily="2" charset="-122"/>
                  </a:rPr>
                  <a:t>不是</a:t>
                </a:r>
                <a14:m>
                  <m:oMath xmlns:m="http://schemas.openxmlformats.org/officeDocument/2006/math">
                    <m:r>
                      <a:rPr lang="en-US" sz="3200" i="1" noProof="1">
                        <a:solidFill>
                          <a:srgbClr val="000000"/>
                        </a:solidFill>
                        <a:latin typeface="Times New Roman" panose="02020603050405020304"/>
                      </a:rPr>
                      <m:t>𝑣</m:t>
                    </m:r>
                  </m:oMath>
                </a14:m>
                <a:r>
                  <a:rPr lang="en-US" sz="3200" noProof="1">
                    <a:solidFill>
                      <a:srgbClr val="000000"/>
                    </a:solidFill>
                    <a:latin typeface="Times New Roman" panose="02020603050405020304"/>
                    <a:ea typeface="宋体" panose="02010600030101010101" pitchFamily="2" charset="-122"/>
                  </a:rPr>
                  <a:t>的整数倍，</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𝐻</m:t>
                        </m:r>
                      </m:e>
                      <m: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𝑎</m:t>
                            </m:r>
                          </m:e>
                          <m: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𝑣</m:t>
                            </m:r>
                            <m:r>
                              <a:rPr lang="en-US" sz="3200" i="0" noProof="1">
                                <a:solidFill>
                                  <a:srgbClr val="000000"/>
                                </a:solidFill>
                                <a:latin typeface="Times New Roman" panose="02020603050405020304"/>
                              </a:rPr>
                              <m:t>⌉</m:t>
                            </m:r>
                          </m:sub>
                        </m:sSub>
                      </m:sub>
                    </m:sSub>
                  </m:oMath>
                </a14:m>
                <a:r>
                  <a:rPr lang="en-US" sz="3200" noProof="1">
                    <a:solidFill>
                      <a:srgbClr val="000000"/>
                    </a:solidFill>
                    <a:latin typeface="Times New Roman" panose="02020603050405020304"/>
                    <a:ea typeface="宋体" panose="02010600030101010101" pitchFamily="2" charset="-122"/>
                  </a:rPr>
                  <a:t>为</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𝐻</m:t>
                        </m:r>
                      </m:e>
                      <m: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𝑎</m:t>
                            </m:r>
                          </m:e>
                          <m: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𝑣</m:t>
                            </m:r>
                            <m:r>
                              <a:rPr lang="en-US" sz="3200" i="0" noProof="1">
                                <a:solidFill>
                                  <a:srgbClr val="000000"/>
                                </a:solidFill>
                                <a:latin typeface="Times New Roman" panose="02020603050405020304"/>
                              </a:rPr>
                              <m:t>⌉</m:t>
                            </m:r>
                          </m:sub>
                        </m:sSub>
                      </m:sub>
                    </m:sSub>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𝐻</m:t>
                        </m:r>
                      </m:e>
                      <m: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𝑎</m:t>
                            </m:r>
                          </m:e>
                          <m: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𝑣</m:t>
                            </m:r>
                            <m:r>
                              <a:rPr lang="en-US" sz="3200" i="0" noProof="1">
                                <a:solidFill>
                                  <a:srgbClr val="000000"/>
                                </a:solidFill>
                                <a:latin typeface="Times New Roman" panose="02020603050405020304"/>
                              </a:rPr>
                              <m:t>⌉</m:t>
                            </m:r>
                          </m:sub>
                        </m:sSub>
                      </m:sub>
                    </m:sSub>
                  </m:oMath>
                </a14:m>
                <a:r>
                  <a:rPr lang="en-US" sz="3200" noProof="1">
                    <a:solidFill>
                      <a:srgbClr val="000000"/>
                    </a:solidFill>
                    <a:latin typeface="Times New Roman" panose="02020603050405020304"/>
                    <a:ea typeface="宋体" panose="02010600030101010101" pitchFamily="2" charset="-122"/>
                  </a:rPr>
                  <a:t>表示为了使输出和</a:t>
                </a:r>
                <a14:m>
                  <m:oMath xmlns:m="http://schemas.openxmlformats.org/officeDocument/2006/math">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oMath>
                </a14:m>
                <a:r>
                  <a:rPr lang="en-US" sz="3200" noProof="1">
                    <a:solidFill>
                      <a:srgbClr val="000000"/>
                    </a:solidFill>
                    <a:latin typeface="Times New Roman" panose="02020603050405020304"/>
                    <a:ea typeface="宋体" panose="02010600030101010101" pitchFamily="2" charset="-122"/>
                  </a:rPr>
                  <a:t>长度保持一致，需要对最后一个Hash值进行比特选取）最左边的</a:t>
                </a:r>
                <a14:m>
                  <m:oMath xmlns:m="http://schemas.openxmlformats.org/officeDocument/2006/math">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𝑣</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𝑣</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bit，则输出</a:t>
                </a:r>
                <a14:m>
                  <m:oMath xmlns:m="http://schemas.openxmlformats.org/officeDocument/2006/math">
                    <m:r>
                      <a:rPr lang="en-US" sz="3200" i="1" noProof="1">
                        <a:solidFill>
                          <a:srgbClr val="000000"/>
                        </a:solidFill>
                        <a:latin typeface="Times New Roman" panose="02020603050405020304"/>
                      </a:rPr>
                      <m:t>𝐾</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𝐻</m:t>
                        </m:r>
                      </m:e>
                      <m: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𝑎</m:t>
                            </m:r>
                          </m:e>
                          <m:sub>
                            <m:r>
                              <a:rPr lang="en-US" sz="3200" i="0" noProof="1">
                                <a:solidFill>
                                  <a:srgbClr val="000000"/>
                                </a:solidFill>
                                <a:latin typeface="Times New Roman" panose="02020603050405020304"/>
                              </a:rPr>
                              <m:t>1</m:t>
                            </m:r>
                          </m:sub>
                        </m:sSub>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𝐻</m:t>
                        </m:r>
                      </m:e>
                      <m: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𝑎</m:t>
                            </m:r>
                          </m:e>
                          <m:sub>
                            <m:r>
                              <a:rPr lang="en-US" sz="3200" i="0" noProof="1">
                                <a:solidFill>
                                  <a:srgbClr val="000000"/>
                                </a:solidFill>
                                <a:latin typeface="Times New Roman" panose="02020603050405020304"/>
                              </a:rPr>
                              <m:t>2</m:t>
                            </m:r>
                          </m:sub>
                        </m:sSub>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𝐿</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𝐻</m:t>
                        </m:r>
                      </m:e>
                      <m: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𝑎</m:t>
                            </m:r>
                          </m:e>
                          <m: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𝑣</m:t>
                            </m:r>
                            <m:r>
                              <a:rPr lang="en-US" sz="3200" i="0" noProof="1">
                                <a:solidFill>
                                  <a:srgbClr val="000000"/>
                                </a:solidFill>
                                <a:latin typeface="Times New Roman" panose="02020603050405020304"/>
                              </a:rPr>
                              <m:t>⌉</m:t>
                            </m:r>
                          </m:sub>
                        </m:sSub>
                      </m:sub>
                    </m:sSub>
                  </m:oMath>
                </a14:m>
                <a:r>
                  <a:rPr lang="en-US" sz="3200" noProof="1">
                    <a:solidFill>
                      <a:srgbClr val="000000"/>
                    </a:solidFill>
                    <a:latin typeface="Times New Roman" panose="02020603050405020304"/>
                    <a:ea typeface="宋体" panose="02010600030101010101" pitchFamily="2" charset="-122"/>
                  </a:rPr>
                  <a:t>。</a:t>
                </a:r>
                <a:endParaRPr lang="en-US" sz="3200" noProof="1"/>
              </a:p>
            </p:txBody>
          </p:sp>
        </mc:Choice>
        <mc:Fallback>
          <p:sp>
            <p:nvSpPr>
              <p:cNvPr id="3" name="body-82c"/>
              <p:cNvSpPr txBox="1">
                <a:spLocks noRot="1" noChangeAspect="1" noMove="1" noResize="1" noEditPoints="1" noAdjustHandles="1" noChangeArrowheads="1" noChangeShapeType="1" noTextEdit="1"/>
              </p:cNvSpPr>
              <p:nvPr/>
            </p:nvSpPr>
            <p:spPr>
              <a:xfrm>
                <a:off x="1684020" y="2066290"/>
                <a:ext cx="14818360" cy="5021580"/>
              </a:xfrm>
              <a:prstGeom prst="rect">
                <a:avLst/>
              </a:prstGeom>
              <a:blipFill rotWithShape="1">
                <a:blip r:embed="rId1"/>
                <a:stretch>
                  <a:fillRect r="-1448"/>
                </a:stretch>
              </a:blipFill>
              <a:ln>
                <a:noFill/>
              </a:ln>
            </p:spPr>
            <p:txBody>
              <a:bodyPr/>
              <a:lstStyle/>
              <a:p>
                <a:r>
                  <a:rPr lang="zh-CN" altLang="en-US">
                    <a:noFill/>
                  </a:rPr>
                  <a:t> </a:t>
                </a:r>
              </a:p>
            </p:txBody>
          </p:sp>
        </mc:Fallback>
      </mc:AlternateContent>
      <p:sp>
        <p:nvSpPr>
          <p:cNvPr id="4" name="pagenum-82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32</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6" name="gradbar-8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num-82a"/>
          <p:cNvSpPr txBox="1"/>
          <p:nvPr>
            <p:custDataLst>
              <p:tags r:id="rId6"/>
            </p:custDataLst>
          </p:nvPr>
        </p:nvSpPr>
        <p:spPr>
          <a:xfrm>
            <a:off x="1216660" y="429260"/>
            <a:ext cx="158051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title-82a"/>
          <p:cNvSpPr txBox="1"/>
          <p:nvPr>
            <p:custDataLst>
              <p:tags r:id="rId7"/>
            </p:custDataLst>
          </p:nvPr>
        </p:nvSpPr>
        <p:spPr>
          <a:xfrm>
            <a:off x="2797175" y="509270"/>
            <a:ext cx="412369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密钥派生函数</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8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2d"/>
              <p:cNvSpPr txBox="1"/>
              <p:nvPr/>
            </p:nvSpPr>
            <p:spPr>
              <a:xfrm>
                <a:off x="1724660" y="2095500"/>
                <a:ext cx="14818360" cy="3863340"/>
              </a:xfrm>
              <a:prstGeom prst="rect">
                <a:avLst/>
              </a:prstGeom>
              <a:noFill/>
              <a:ln>
                <a:noFill/>
              </a:ln>
            </p:spPr>
            <p:txBody>
              <a:bodyPr wrap="square" lIns="0" tIns="0" rIns="0" bIns="0" rtlCol="0" anchor="t"/>
              <a:lstStyle/>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    现假设加密者用户A向解密者用户B发送数据，具体加密和解密过程如下所示。</a:t>
                </a:r>
                <a:endParaRPr lang="en-US" sz="3200" noProof="1"/>
              </a:p>
              <a:p>
                <a:pPr indent="0" algn="just" fontAlgn="auto">
                  <a:lnSpc>
                    <a:spcPct val="120000"/>
                  </a:lnSpc>
                </a:pPr>
                <a:r>
                  <a:rPr lang="en-US" sz="3200" b="1" noProof="1">
                    <a:solidFill>
                      <a:srgbClr val="000000"/>
                    </a:solidFill>
                    <a:latin typeface="Times New Roman" panose="02020603050405020304"/>
                    <a:ea typeface="宋体" panose="02010600030101010101" pitchFamily="2" charset="-122"/>
                  </a:rPr>
                  <a:t>1．初始化</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首先需要根据8.2.1节的内容选定一条满足安全要求的椭圆曲线，通过随机数发生器产生用户B的私钥</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𝑑</m:t>
                        </m:r>
                      </m:e>
                      <m:sub>
                        <m:r>
                          <a:rPr lang="en-US" sz="3200" i="1" noProof="1">
                            <a:solidFill>
                              <a:srgbClr val="000000"/>
                            </a:solidFill>
                            <a:latin typeface="Times New Roman" panose="02020603050405020304"/>
                          </a:rPr>
                          <m:t>𝐵</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𝑛</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200" i="1" noProof="1">
                        <a:solidFill>
                          <a:srgbClr val="000000"/>
                        </a:solidFill>
                        <a:latin typeface="Times New Roman" panose="02020603050405020304"/>
                      </a:rPr>
                      <m:t>𝑛</m:t>
                    </m:r>
                  </m:oMath>
                </a14:m>
                <a:r>
                  <a:rPr lang="en-US" sz="3200" noProof="1">
                    <a:solidFill>
                      <a:srgbClr val="000000"/>
                    </a:solidFill>
                    <a:latin typeface="Times New Roman" panose="02020603050405020304"/>
                    <a:ea typeface="宋体" panose="02010600030101010101" pitchFamily="2" charset="-122"/>
                  </a:rPr>
                  <a:t>为基点</a:t>
                </a:r>
                <a14:m>
                  <m:oMath xmlns:m="http://schemas.openxmlformats.org/officeDocument/2006/math">
                    <m:r>
                      <a:rPr lang="en-US" sz="3200" i="1" noProof="1">
                        <a:solidFill>
                          <a:srgbClr val="000000"/>
                        </a:solidFill>
                        <a:latin typeface="Times New Roman" panose="02020603050405020304"/>
                      </a:rPr>
                      <m:t>𝐺</m:t>
                    </m:r>
                  </m:oMath>
                </a14:m>
                <a:r>
                  <a:rPr lang="en-US" sz="3200" noProof="1">
                    <a:solidFill>
                      <a:srgbClr val="000000"/>
                    </a:solidFill>
                    <a:latin typeface="Times New Roman" panose="02020603050405020304"/>
                    <a:ea typeface="宋体" panose="02010600030101010101" pitchFamily="2" charset="-122"/>
                  </a:rPr>
                  <a:t>的阶。其次通过</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𝑃</m:t>
                        </m:r>
                      </m:e>
                      <m:sub>
                        <m:r>
                          <a:rPr lang="en-US" sz="3200" i="1" noProof="1">
                            <a:solidFill>
                              <a:srgbClr val="000000"/>
                            </a:solidFill>
                            <a:latin typeface="Times New Roman" panose="02020603050405020304"/>
                          </a:rPr>
                          <m:t>𝐵</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𝑑</m:t>
                        </m:r>
                      </m:e>
                      <m:sub>
                        <m:r>
                          <a:rPr lang="en-US" sz="3200" i="1" noProof="1">
                            <a:solidFill>
                              <a:srgbClr val="000000"/>
                            </a:solidFill>
                            <a:latin typeface="Times New Roman" panose="02020603050405020304"/>
                          </a:rPr>
                          <m:t>𝐵</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𝐺</m:t>
                    </m:r>
                  </m:oMath>
                </a14:m>
                <a:r>
                  <a:rPr lang="en-US" sz="3200" noProof="1">
                    <a:solidFill>
                      <a:srgbClr val="000000"/>
                    </a:solidFill>
                    <a:latin typeface="Times New Roman" panose="02020603050405020304"/>
                    <a:ea typeface="宋体" panose="02010600030101010101" pitchFamily="2" charset="-122"/>
                  </a:rPr>
                  <a:t>得到用户B的公钥，其中</a:t>
                </a:r>
                <a14:m>
                  <m:oMath xmlns:m="http://schemas.openxmlformats.org/officeDocument/2006/math">
                    <m:r>
                      <a:rPr lang="en-US" sz="3200" i="1" noProof="1">
                        <a:solidFill>
                          <a:srgbClr val="000000"/>
                        </a:solidFill>
                        <a:latin typeface="Times New Roman" panose="02020603050405020304"/>
                      </a:rPr>
                      <m:t>𝐺</m:t>
                    </m:r>
                  </m:oMath>
                </a14:m>
                <a:r>
                  <a:rPr lang="en-US" sz="3200" noProof="1">
                    <a:solidFill>
                      <a:srgbClr val="000000"/>
                    </a:solidFill>
                    <a:latin typeface="Times New Roman" panose="02020603050405020304"/>
                    <a:ea typeface="宋体" panose="02010600030101010101" pitchFamily="2" charset="-122"/>
                  </a:rPr>
                  <a:t>为椭圆曲线的基点，</a:t>
                </a:r>
                <a14:m>
                  <m:oMath xmlns:m="http://schemas.openxmlformats.org/officeDocument/2006/math">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𝑃</m:t>
                        </m:r>
                      </m:e>
                      <m:sub>
                        <m:r>
                          <a:rPr lang="en-US" sz="3200" i="1" noProof="1">
                            <a:solidFill>
                              <a:srgbClr val="000000"/>
                            </a:solidFill>
                            <a:latin typeface="Times New Roman" panose="02020603050405020304"/>
                          </a:rPr>
                          <m:t>𝐵</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𝑑</m:t>
                        </m:r>
                      </m:e>
                      <m:sub>
                        <m:r>
                          <a:rPr lang="en-US" sz="3200" i="1" noProof="1">
                            <a:solidFill>
                              <a:srgbClr val="000000"/>
                            </a:solidFill>
                            <a:latin typeface="Times New Roman" panose="02020603050405020304"/>
                          </a:rPr>
                          <m:t>𝐵</m:t>
                        </m:r>
                      </m:sub>
                    </m:sSub>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即用户B的公私密钥对。</a:t>
                </a:r>
                <a:endParaRPr lang="en-US" sz="3200" noProof="1"/>
              </a:p>
            </p:txBody>
          </p:sp>
        </mc:Choice>
        <mc:Fallback>
          <p:sp>
            <p:nvSpPr>
              <p:cNvPr id="3" name="body-82d"/>
              <p:cNvSpPr txBox="1">
                <a:spLocks noRot="1" noChangeAspect="1" noMove="1" noResize="1" noEditPoints="1" noAdjustHandles="1" noChangeArrowheads="1" noChangeShapeType="1" noTextEdit="1"/>
              </p:cNvSpPr>
              <p:nvPr/>
            </p:nvSpPr>
            <p:spPr>
              <a:xfrm>
                <a:off x="1724660" y="2095500"/>
                <a:ext cx="14818360" cy="3863340"/>
              </a:xfrm>
              <a:prstGeom prst="rect">
                <a:avLst/>
              </a:prstGeom>
              <a:blipFill rotWithShape="1">
                <a:blip r:embed="rId1"/>
                <a:stretch>
                  <a:fillRect l="-34" r="-107"/>
                </a:stretch>
              </a:blipFill>
              <a:ln>
                <a:noFill/>
              </a:ln>
            </p:spPr>
            <p:txBody>
              <a:bodyPr/>
              <a:lstStyle/>
              <a:p>
                <a:r>
                  <a:rPr lang="zh-CN" altLang="en-US">
                    <a:noFill/>
                  </a:rPr>
                  <a:t> </a:t>
                </a:r>
              </a:p>
            </p:txBody>
          </p:sp>
        </mc:Fallback>
      </mc:AlternateContent>
      <p:sp>
        <p:nvSpPr>
          <p:cNvPr id="4" name="pagenum-82d"/>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33</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16" name="gradbar-8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num-82a"/>
          <p:cNvSpPr txBox="1"/>
          <p:nvPr>
            <p:custDataLst>
              <p:tags r:id="rId6"/>
            </p:custDataLst>
          </p:nvPr>
        </p:nvSpPr>
        <p:spPr>
          <a:xfrm>
            <a:off x="1216660" y="429260"/>
            <a:ext cx="1580515"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title-82a"/>
          <p:cNvSpPr txBox="1"/>
          <p:nvPr>
            <p:custDataLst>
              <p:tags r:id="rId7"/>
            </p:custDataLst>
          </p:nvPr>
        </p:nvSpPr>
        <p:spPr>
          <a:xfrm>
            <a:off x="2797175" y="509270"/>
            <a:ext cx="547370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SM2算法加密和解密过程</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2e"/>
              <p:cNvSpPr txBox="1"/>
              <p:nvPr/>
            </p:nvSpPr>
            <p:spPr>
              <a:xfrm>
                <a:off x="1684020" y="1775460"/>
                <a:ext cx="14818360" cy="7361555"/>
              </a:xfrm>
              <a:prstGeom prst="rect">
                <a:avLst/>
              </a:prstGeom>
              <a:noFill/>
              <a:ln>
                <a:noFill/>
              </a:ln>
            </p:spPr>
            <p:txBody>
              <a:bodyPr wrap="square" lIns="0" tIns="0" rIns="0" bIns="0" rtlCol="0" anchor="t"/>
              <a:lstStyle/>
              <a:p>
                <a:pPr algn="just">
                  <a:lnSpc>
                    <a:spcPct val="120000"/>
                  </a:lnSpc>
                </a:pPr>
                <a:r>
                  <a:rPr lang="en-US" sz="3200" b="1" noProof="1">
                    <a:solidFill>
                      <a:srgbClr val="000000"/>
                    </a:solidFill>
                    <a:latin typeface="Times New Roman" panose="02020603050405020304"/>
                    <a:ea typeface="宋体" panose="02010600030101010101" pitchFamily="2" charset="-122"/>
                  </a:rPr>
                  <a:t>2．加密过程</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假设要发送的消息为比特串</a:t>
                </a:r>
                <a14:m>
                  <m:oMath xmlns:m="http://schemas.openxmlformats.org/officeDocument/2006/math">
                    <m:r>
                      <a:rPr lang="en-US" sz="3200" i="1" noProof="1">
                        <a:solidFill>
                          <a:srgbClr val="000000"/>
                        </a:solidFill>
                        <a:latin typeface="Times New Roman" panose="02020603050405020304"/>
                      </a:rPr>
                      <m:t>𝑀</m:t>
                    </m:r>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oMath>
                </a14:m>
                <a:r>
                  <a:rPr lang="en-US" sz="3200" noProof="1">
                    <a:solidFill>
                      <a:srgbClr val="000000"/>
                    </a:solidFill>
                    <a:latin typeface="Times New Roman" panose="02020603050405020304"/>
                    <a:ea typeface="宋体" panose="02010600030101010101" pitchFamily="2" charset="-122"/>
                  </a:rPr>
                  <a:t>为</a:t>
                </a:r>
                <a14:m>
                  <m:oMath xmlns:m="http://schemas.openxmlformats.org/officeDocument/2006/math">
                    <m:r>
                      <a:rPr lang="en-US" sz="3200" i="1" noProof="1">
                        <a:solidFill>
                          <a:srgbClr val="000000"/>
                        </a:solidFill>
                        <a:latin typeface="Times New Roman" panose="02020603050405020304"/>
                      </a:rPr>
                      <m:t>𝑀</m:t>
                    </m:r>
                  </m:oMath>
                </a14:m>
                <a:r>
                  <a:rPr lang="en-US" sz="3200" noProof="1">
                    <a:solidFill>
                      <a:srgbClr val="000000"/>
                    </a:solidFill>
                    <a:latin typeface="Times New Roman" panose="02020603050405020304"/>
                    <a:ea typeface="宋体" panose="02010600030101010101" pitchFamily="2" charset="-122"/>
                  </a:rPr>
                  <a:t>的比特长度。为了对明文</a:t>
                </a:r>
                <a14:m>
                  <m:oMath xmlns:m="http://schemas.openxmlformats.org/officeDocument/2006/math">
                    <m:r>
                      <a:rPr lang="en-US" sz="3200" i="1" noProof="1">
                        <a:solidFill>
                          <a:srgbClr val="000000"/>
                        </a:solidFill>
                        <a:latin typeface="Times New Roman" panose="02020603050405020304"/>
                      </a:rPr>
                      <m:t>𝑀</m:t>
                    </m:r>
                  </m:oMath>
                </a14:m>
                <a:r>
                  <a:rPr lang="en-US" sz="3200" noProof="1">
                    <a:solidFill>
                      <a:srgbClr val="000000"/>
                    </a:solidFill>
                    <a:latin typeface="Times New Roman" panose="02020603050405020304"/>
                    <a:ea typeface="宋体" panose="02010600030101010101" pitchFamily="2" charset="-122"/>
                  </a:rPr>
                  <a:t>进行加密，作为加密者的用户A应进行以下运算步骤。</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（1）用随机数发生器产生随机数</a:t>
                </a:r>
                <a14:m>
                  <m:oMath xmlns:m="http://schemas.openxmlformats.org/officeDocument/2006/math">
                    <m:r>
                      <a:rPr lang="en-US" sz="3200" i="1" noProof="1">
                        <a:solidFill>
                          <a:srgbClr val="000000"/>
                        </a:solidFill>
                        <a:latin typeface="Times New Roman" panose="02020603050405020304"/>
                      </a:rPr>
                      <m:t>𝑘</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𝑛</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200" i="1" noProof="1">
                        <a:solidFill>
                          <a:srgbClr val="000000"/>
                        </a:solidFill>
                        <a:latin typeface="Times New Roman" panose="02020603050405020304"/>
                      </a:rPr>
                      <m:t>𝑛</m:t>
                    </m:r>
                  </m:oMath>
                </a14:m>
                <a:r>
                  <a:rPr lang="en-US" sz="3200" noProof="1">
                    <a:solidFill>
                      <a:srgbClr val="000000"/>
                    </a:solidFill>
                    <a:latin typeface="Times New Roman" panose="02020603050405020304"/>
                    <a:ea typeface="宋体" panose="02010600030101010101" pitchFamily="2" charset="-122"/>
                  </a:rPr>
                  <a:t>是椭圆曲线基点G的阶次。</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（2）计算椭圆曲线点</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𝑘</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𝐺</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𝑥</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𝑦</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（3）计算椭圆曲线上的点</a:t>
                </a:r>
                <a14:m>
                  <m:oMath xmlns:m="http://schemas.openxmlformats.org/officeDocument/2006/math">
                    <m:r>
                      <a:rPr lang="en-US" sz="3200" i="1" noProof="1">
                        <a:solidFill>
                          <a:srgbClr val="000000"/>
                        </a:solidFill>
                        <a:latin typeface="Times New Roman" panose="02020603050405020304"/>
                      </a:rPr>
                      <m:t>𝑆</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ℎ</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𝑃</m:t>
                        </m:r>
                      </m:e>
                      <m:sub>
                        <m:r>
                          <a:rPr lang="en-US" sz="3200" i="1" noProof="1">
                            <a:solidFill>
                              <a:srgbClr val="000000"/>
                            </a:solidFill>
                            <a:latin typeface="Times New Roman" panose="02020603050405020304"/>
                          </a:rPr>
                          <m:t>𝐵</m:t>
                        </m:r>
                      </m:sub>
                    </m:sSub>
                  </m:oMath>
                </a14:m>
                <a:r>
                  <a:rPr lang="en-US" sz="32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200" i="1" noProof="1">
                        <a:solidFill>
                          <a:srgbClr val="000000"/>
                        </a:solidFill>
                        <a:latin typeface="Times New Roman" panose="02020603050405020304"/>
                      </a:rPr>
                      <m:t>𝑆</m:t>
                    </m:r>
                  </m:oMath>
                </a14:m>
                <a:r>
                  <a:rPr lang="en-US" sz="3200" noProof="1">
                    <a:solidFill>
                      <a:srgbClr val="000000"/>
                    </a:solidFill>
                    <a:latin typeface="Times New Roman" panose="02020603050405020304"/>
                    <a:ea typeface="宋体" panose="02010600030101010101" pitchFamily="2" charset="-122"/>
                  </a:rPr>
                  <a:t>不能为无穷远点O。</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（4）计算椭圆曲线点</a:t>
                </a:r>
                <a14:m>
                  <m:oMath xmlns:m="http://schemas.openxmlformats.org/officeDocument/2006/math">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𝑘</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𝑃</m:t>
                        </m:r>
                      </m:e>
                      <m:sub>
                        <m:r>
                          <a:rPr lang="en-US" sz="3200" i="1" noProof="1">
                            <a:solidFill>
                              <a:srgbClr val="000000"/>
                            </a:solidFill>
                            <a:latin typeface="Times New Roman" panose="02020603050405020304"/>
                          </a:rPr>
                          <m:t>𝐵</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𝑥</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𝑦</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（5）计算</a:t>
                </a:r>
                <a14:m>
                  <m:oMath xmlns:m="http://schemas.openxmlformats.org/officeDocument/2006/math">
                    <m:r>
                      <a:rPr lang="en-US" sz="3200" i="1" noProof="1">
                        <a:solidFill>
                          <a:srgbClr val="000000"/>
                        </a:solidFill>
                        <a:latin typeface="Times New Roman" panose="02020603050405020304"/>
                      </a:rPr>
                      <m:t>𝑡</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𝐾</m:t>
                    </m:r>
                    <m:r>
                      <a:rPr lang="en-US" sz="3200" i="1" noProof="1">
                        <a:solidFill>
                          <a:srgbClr val="000000"/>
                        </a:solidFill>
                        <a:latin typeface="Times New Roman" panose="02020603050405020304"/>
                      </a:rPr>
                      <m:t>𝐷𝐹</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𝑥</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𝑦</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，KDF是密钥派生函数，输出长度是</a:t>
                </a:r>
                <a14:m>
                  <m:oMath xmlns:m="http://schemas.openxmlformats.org/officeDocument/2006/math">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oMath>
                </a14:m>
                <a:r>
                  <a:rPr lang="en-US" sz="3200" noProof="1">
                    <a:solidFill>
                      <a:srgbClr val="000000"/>
                    </a:solidFill>
                    <a:latin typeface="Times New Roman" panose="02020603050405020304"/>
                    <a:ea typeface="宋体" panose="02010600030101010101" pitchFamily="2" charset="-122"/>
                  </a:rPr>
                  <a:t>的比特串，且密钥派生函数的结果不能为全0。若结果为全0，则需要重新选择随机数</a:t>
                </a:r>
                <a14:m>
                  <m:oMath xmlns:m="http://schemas.openxmlformats.org/officeDocument/2006/math">
                    <m:r>
                      <a:rPr lang="en-US" sz="3200" i="1" noProof="1">
                        <a:solidFill>
                          <a:srgbClr val="000000"/>
                        </a:solidFill>
                        <a:latin typeface="Times New Roman" panose="02020603050405020304"/>
                      </a:rPr>
                      <m:t>𝑘</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（6）计算</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𝑀</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𝑡</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（7）计算</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3</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𝐻𝑎</m:t>
                    </m:r>
                    <m:r>
                      <a:rPr lang="en-US" sz="3200" i="1" noProof="1">
                        <a:solidFill>
                          <a:srgbClr val="000000"/>
                        </a:solidFill>
                        <a:latin typeface="Times New Roman" panose="02020603050405020304"/>
                      </a:rPr>
                      <m:t>𝑠ℎ</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𝑥</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𝑀</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𝑦</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200" i="1" noProof="1">
                        <a:solidFill>
                          <a:srgbClr val="000000"/>
                        </a:solidFill>
                        <a:latin typeface="Times New Roman" panose="02020603050405020304"/>
                      </a:rPr>
                      <m:t>𝐻𝑎</m:t>
                    </m:r>
                    <m:r>
                      <a:rPr lang="en-US" sz="3200" i="1" noProof="1">
                        <a:solidFill>
                          <a:srgbClr val="000000"/>
                        </a:solidFill>
                        <a:latin typeface="Times New Roman" panose="02020603050405020304"/>
                      </a:rPr>
                      <m:t>𝑠ℎ</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是密码杂凑函数。</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（8）输出密文</a:t>
                </a:r>
                <a14:m>
                  <m:oMath xmlns:m="http://schemas.openxmlformats.org/officeDocument/2006/math">
                    <m:r>
                      <a:rPr lang="en-US" sz="3200" i="1" noProof="1">
                        <a:solidFill>
                          <a:srgbClr val="000000"/>
                        </a:solidFill>
                        <a:latin typeface="Times New Roman" panose="02020603050405020304"/>
                      </a:rPr>
                      <m:t>𝐶</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3</m:t>
                        </m:r>
                      </m:sub>
                    </m:sSub>
                  </m:oMath>
                </a14:m>
                <a:r>
                  <a:rPr lang="en-US" sz="3200" noProof="1">
                    <a:solidFill>
                      <a:srgbClr val="000000"/>
                    </a:solidFill>
                    <a:latin typeface="Times New Roman" panose="02020603050405020304"/>
                    <a:ea typeface="宋体" panose="02010600030101010101" pitchFamily="2" charset="-122"/>
                  </a:rPr>
                  <a:t>。</a:t>
                </a:r>
                <a:endParaRPr lang="en-US" sz="3200" noProof="1"/>
              </a:p>
            </p:txBody>
          </p:sp>
        </mc:Choice>
        <mc:Fallback>
          <p:sp>
            <p:nvSpPr>
              <p:cNvPr id="3" name="body-82e"/>
              <p:cNvSpPr txBox="1">
                <a:spLocks noRot="1" noChangeAspect="1" noMove="1" noResize="1" noEditPoints="1" noAdjustHandles="1" noChangeArrowheads="1" noChangeShapeType="1" noTextEdit="1"/>
              </p:cNvSpPr>
              <p:nvPr/>
            </p:nvSpPr>
            <p:spPr>
              <a:xfrm>
                <a:off x="1684020" y="1775460"/>
                <a:ext cx="14818360" cy="7361555"/>
              </a:xfrm>
              <a:prstGeom prst="rect">
                <a:avLst/>
              </a:prstGeom>
              <a:blipFill rotWithShape="1">
                <a:blip r:embed="rId1"/>
                <a:stretch>
                  <a:fillRect r="-1238"/>
                </a:stretch>
              </a:blipFill>
              <a:ln>
                <a:noFill/>
              </a:ln>
            </p:spPr>
            <p:txBody>
              <a:bodyPr/>
              <a:lstStyle/>
              <a:p>
                <a:r>
                  <a:rPr lang="zh-CN" altLang="en-US">
                    <a:noFill/>
                  </a:rPr>
                  <a:t> </a:t>
                </a:r>
              </a:p>
            </p:txBody>
          </p:sp>
        </mc:Fallback>
      </mc:AlternateContent>
      <p:sp>
        <p:nvSpPr>
          <p:cNvPr id="4" name="pagenum-82e"/>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34</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16" name="gradbar-8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num-82a"/>
          <p:cNvSpPr txBox="1"/>
          <p:nvPr>
            <p:custDataLst>
              <p:tags r:id="rId6"/>
            </p:custDataLst>
          </p:nvPr>
        </p:nvSpPr>
        <p:spPr>
          <a:xfrm>
            <a:off x="1216660" y="429260"/>
            <a:ext cx="158051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title-82a"/>
          <p:cNvSpPr txBox="1"/>
          <p:nvPr>
            <p:custDataLst>
              <p:tags r:id="rId7"/>
            </p:custDataLst>
          </p:nvPr>
        </p:nvSpPr>
        <p:spPr>
          <a:xfrm>
            <a:off x="2797175" y="509270"/>
            <a:ext cx="54737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SM2算法加密和解密过程</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2f"/>
              <p:cNvSpPr txBox="1"/>
              <p:nvPr/>
            </p:nvSpPr>
            <p:spPr>
              <a:xfrm>
                <a:off x="1724660" y="2095500"/>
                <a:ext cx="14818360" cy="6858000"/>
              </a:xfrm>
              <a:prstGeom prst="rect">
                <a:avLst/>
              </a:prstGeom>
              <a:noFill/>
              <a:ln>
                <a:noFill/>
              </a:ln>
            </p:spPr>
            <p:txBody>
              <a:bodyPr wrap="square" lIns="0" tIns="0" rIns="0" bIns="0" rtlCol="0" anchor="t"/>
              <a:lstStyle/>
              <a:p>
                <a:pPr algn="just">
                  <a:lnSpc>
                    <a:spcPct val="120000"/>
                  </a:lnSpc>
                </a:pPr>
                <a:r>
                  <a:rPr lang="en-US" sz="3200" b="1" noProof="1">
                    <a:solidFill>
                      <a:srgbClr val="000000"/>
                    </a:solidFill>
                    <a:latin typeface="Times New Roman" panose="02020603050405020304"/>
                    <a:ea typeface="宋体" panose="02010600030101010101" pitchFamily="2" charset="-122"/>
                  </a:rPr>
                  <a:t>3．解密过程</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由上述加密过程可知，密文中</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2</m:t>
                        </m:r>
                      </m:sub>
                    </m:sSub>
                  </m:oMath>
                </a14:m>
                <a:r>
                  <a:rPr lang="en-US" sz="3200" noProof="1">
                    <a:solidFill>
                      <a:srgbClr val="000000"/>
                    </a:solidFill>
                    <a:latin typeface="Times New Roman" panose="02020603050405020304"/>
                    <a:ea typeface="宋体" panose="02010600030101010101" pitchFamily="2" charset="-122"/>
                  </a:rPr>
                  <a:t>的比特长度为</a:t>
                </a:r>
                <a14:m>
                  <m:oMath xmlns:m="http://schemas.openxmlformats.org/officeDocument/2006/math">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oMath>
                </a14:m>
                <a:r>
                  <a:rPr lang="en-US" sz="3200" noProof="1">
                    <a:solidFill>
                      <a:srgbClr val="000000"/>
                    </a:solidFill>
                    <a:latin typeface="Times New Roman" panose="02020603050405020304"/>
                    <a:ea typeface="宋体" panose="02010600030101010101" pitchFamily="2" charset="-122"/>
                  </a:rPr>
                  <a:t>，解密者B对密文</a:t>
                </a:r>
                <a14:m>
                  <m:oMath xmlns:m="http://schemas.openxmlformats.org/officeDocument/2006/math">
                    <m:r>
                      <a:rPr lang="en-US" sz="3200" i="1" noProof="1">
                        <a:solidFill>
                          <a:srgbClr val="000000"/>
                        </a:solidFill>
                        <a:latin typeface="Times New Roman" panose="02020603050405020304"/>
                      </a:rPr>
                      <m:t>𝐶</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3</m:t>
                        </m:r>
                      </m:sub>
                    </m:sSub>
                  </m:oMath>
                </a14:m>
                <a:r>
                  <a:rPr lang="en-US" sz="3200" noProof="1">
                    <a:solidFill>
                      <a:srgbClr val="000000"/>
                    </a:solidFill>
                    <a:latin typeface="Times New Roman" panose="02020603050405020304"/>
                    <a:ea typeface="宋体" panose="02010600030101010101" pitchFamily="2" charset="-122"/>
                  </a:rPr>
                  <a:t>进行解密，要完成以下运算。</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（1）从C中取出比特串</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1</m:t>
                        </m:r>
                      </m:sub>
                    </m:sSub>
                  </m:oMath>
                </a14:m>
                <a:r>
                  <a:rPr lang="en-US" sz="3200" noProof="1">
                    <a:solidFill>
                      <a:srgbClr val="000000"/>
                    </a:solidFill>
                    <a:latin typeface="Times New Roman" panose="02020603050405020304"/>
                    <a:ea typeface="宋体" panose="02010600030101010101" pitchFamily="2" charset="-122"/>
                  </a:rPr>
                  <a:t>，验证</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1</m:t>
                        </m:r>
                      </m:sub>
                    </m:sSub>
                  </m:oMath>
                </a14:m>
                <a:r>
                  <a:rPr lang="en-US" sz="3200" noProof="1">
                    <a:solidFill>
                      <a:srgbClr val="000000"/>
                    </a:solidFill>
                    <a:latin typeface="Times New Roman" panose="02020603050405020304"/>
                    <a:ea typeface="宋体" panose="02010600030101010101" pitchFamily="2" charset="-122"/>
                  </a:rPr>
                  <a:t>是否满足椭圆曲线方程，若不满足则解密错误。</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（2）计算椭圆曲线点</a:t>
                </a:r>
                <a14:m>
                  <m:oMath xmlns:m="http://schemas.openxmlformats.org/officeDocument/2006/math">
                    <m:r>
                      <a:rPr lang="en-US" sz="3200" i="1" noProof="1">
                        <a:solidFill>
                          <a:srgbClr val="000000"/>
                        </a:solidFill>
                        <a:latin typeface="Times New Roman" panose="02020603050405020304"/>
                      </a:rPr>
                      <m:t>𝑆</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ℎ</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1</m:t>
                        </m:r>
                      </m:sub>
                    </m:sSub>
                  </m:oMath>
                </a14:m>
                <a:r>
                  <a:rPr lang="en-US" sz="3200" noProof="1">
                    <a:solidFill>
                      <a:srgbClr val="000000"/>
                    </a:solidFill>
                    <a:latin typeface="Times New Roman" panose="02020603050405020304"/>
                    <a:ea typeface="宋体" panose="02010600030101010101" pitchFamily="2" charset="-122"/>
                  </a:rPr>
                  <a:t>，验证</a:t>
                </a:r>
                <a14:m>
                  <m:oMath xmlns:m="http://schemas.openxmlformats.org/officeDocument/2006/math">
                    <m:r>
                      <a:rPr lang="en-US" sz="3200" i="1" noProof="1">
                        <a:solidFill>
                          <a:srgbClr val="000000"/>
                        </a:solidFill>
                        <a:latin typeface="Times New Roman" panose="02020603050405020304"/>
                      </a:rPr>
                      <m:t>𝑆</m:t>
                    </m:r>
                  </m:oMath>
                </a14:m>
                <a:r>
                  <a:rPr lang="en-US" sz="3200" noProof="1">
                    <a:solidFill>
                      <a:srgbClr val="000000"/>
                    </a:solidFill>
                    <a:latin typeface="Times New Roman" panose="02020603050405020304"/>
                    <a:ea typeface="宋体" panose="02010600030101010101" pitchFamily="2" charset="-122"/>
                  </a:rPr>
                  <a:t>是否为无穷远点，若为无穷远点则解密错误。</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（3）计算</a:t>
                </a:r>
                <a14:m>
                  <m:oMath xmlns:m="http://schemas.openxmlformats.org/officeDocument/2006/math">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𝑑</m:t>
                        </m:r>
                      </m:e>
                      <m:sub>
                        <m:r>
                          <a:rPr lang="en-US" sz="3200" i="1" noProof="1">
                            <a:solidFill>
                              <a:srgbClr val="000000"/>
                            </a:solidFill>
                            <a:latin typeface="Times New Roman" panose="02020603050405020304"/>
                          </a:rPr>
                          <m:t>𝐵</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𝑥</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𝑦</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（4）计算</a:t>
                </a:r>
                <a14:m>
                  <m:oMath xmlns:m="http://schemas.openxmlformats.org/officeDocument/2006/math">
                    <m:r>
                      <a:rPr lang="en-US" sz="3200" i="1" noProof="1">
                        <a:solidFill>
                          <a:srgbClr val="000000"/>
                        </a:solidFill>
                        <a:latin typeface="Times New Roman" panose="02020603050405020304"/>
                      </a:rPr>
                      <m:t>𝑡</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𝐾</m:t>
                    </m:r>
                    <m:r>
                      <a:rPr lang="en-US" sz="3200" i="1" noProof="1">
                        <a:solidFill>
                          <a:srgbClr val="000000"/>
                        </a:solidFill>
                        <a:latin typeface="Times New Roman" panose="02020603050405020304"/>
                      </a:rPr>
                      <m:t>𝐷𝐹</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𝑥</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𝑦</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𝑙</m:t>
                    </m:r>
                    <m:r>
                      <a:rPr lang="en-US" sz="3200" i="0" noProof="1">
                        <a:solidFill>
                          <a:srgbClr val="000000"/>
                        </a:solidFill>
                        <a:latin typeface="Times New Roman" panose="02020603050405020304"/>
                      </a:rPr>
                      <m:t>𝑒𝑛</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，验证</a:t>
                </a:r>
                <a14:m>
                  <m:oMath xmlns:m="http://schemas.openxmlformats.org/officeDocument/2006/math">
                    <m:r>
                      <a:rPr lang="en-US" sz="3200" i="1" noProof="1">
                        <a:solidFill>
                          <a:srgbClr val="000000"/>
                        </a:solidFill>
                        <a:latin typeface="Times New Roman" panose="02020603050405020304"/>
                      </a:rPr>
                      <m:t>𝑡</m:t>
                    </m:r>
                  </m:oMath>
                </a14:m>
                <a:r>
                  <a:rPr lang="en-US" sz="3200" noProof="1">
                    <a:solidFill>
                      <a:srgbClr val="000000"/>
                    </a:solidFill>
                    <a:latin typeface="Times New Roman" panose="02020603050405020304"/>
                    <a:ea typeface="宋体" panose="02010600030101010101" pitchFamily="2" charset="-122"/>
                  </a:rPr>
                  <a:t>是否为全0比特串，若为全0则解密错误。</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（5）从</a:t>
                </a:r>
                <a14:m>
                  <m:oMath xmlns:m="http://schemas.openxmlformats.org/officeDocument/2006/math">
                    <m:r>
                      <a:rPr lang="en-US" sz="3200" i="1" noProof="1">
                        <a:solidFill>
                          <a:srgbClr val="000000"/>
                        </a:solidFill>
                        <a:latin typeface="Times New Roman" panose="02020603050405020304"/>
                      </a:rPr>
                      <m:t>𝐶</m:t>
                    </m:r>
                  </m:oMath>
                </a14:m>
                <a:r>
                  <a:rPr lang="en-US" sz="3200" noProof="1">
                    <a:solidFill>
                      <a:srgbClr val="000000"/>
                    </a:solidFill>
                    <a:latin typeface="Times New Roman" panose="02020603050405020304"/>
                    <a:ea typeface="宋体" panose="02010600030101010101" pitchFamily="2" charset="-122"/>
                  </a:rPr>
                  <a:t>中取出比特串</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2</m:t>
                        </m:r>
                      </m:sub>
                    </m:sSub>
                  </m:oMath>
                </a14:m>
                <a:r>
                  <a:rPr lang="en-US" sz="3200" noProof="1">
                    <a:solidFill>
                      <a:srgbClr val="000000"/>
                    </a:solidFill>
                    <a:latin typeface="Times New Roman" panose="02020603050405020304"/>
                    <a:ea typeface="宋体" panose="02010600030101010101" pitchFamily="2" charset="-122"/>
                  </a:rPr>
                  <a:t>，计算</a:t>
                </a:r>
                <a14:m>
                  <m:oMath xmlns:m="http://schemas.openxmlformats.org/officeDocument/2006/math">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𝑀</m:t>
                        </m:r>
                      </m:e>
                      <m:sup>
                        <m:r>
                          <a:rPr lang="en-US" sz="3200" i="0" noProof="1">
                            <a:solidFill>
                              <a:srgbClr val="000000"/>
                            </a:solidFill>
                            <a:latin typeface="Times New Roman" panose="02020603050405020304"/>
                          </a:rPr>
                          <m:t>′</m:t>
                        </m:r>
                      </m:sup>
                    </m:sSup>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𝑡</m:t>
                    </m:r>
                  </m:oMath>
                </a14:m>
                <a:r>
                  <a:rPr lang="en-US" sz="3200" noProof="1">
                    <a:solidFill>
                      <a:srgbClr val="000000"/>
                    </a:solidFill>
                    <a:latin typeface="Times New Roman" panose="02020603050405020304"/>
                    <a:ea typeface="宋体" panose="02010600030101010101" pitchFamily="2" charset="-122"/>
                  </a:rPr>
                  <a:t>；计算</a:t>
                </a:r>
                <a14:m>
                  <m:oMath xmlns:m="http://schemas.openxmlformats.org/officeDocument/2006/math">
                    <m:r>
                      <a:rPr lang="en-US" sz="3200" i="1" noProof="1">
                        <a:solidFill>
                          <a:srgbClr val="000000"/>
                        </a:solidFill>
                        <a:latin typeface="Times New Roman" panose="02020603050405020304"/>
                      </a:rPr>
                      <m:t>𝑢</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𝐻𝑎</m:t>
                    </m:r>
                    <m:r>
                      <a:rPr lang="en-US" sz="3200" i="1" noProof="1">
                        <a:solidFill>
                          <a:srgbClr val="000000"/>
                        </a:solidFill>
                        <a:latin typeface="Times New Roman" panose="02020603050405020304"/>
                      </a:rPr>
                      <m:t>𝑠ℎ</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𝑥</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𝑀</m:t>
                        </m:r>
                      </m:e>
                      <m:sup>
                        <m:r>
                          <a:rPr lang="en-US" sz="3200" i="0" noProof="1">
                            <a:solidFill>
                              <a:srgbClr val="000000"/>
                            </a:solidFill>
                            <a:latin typeface="Times New Roman" panose="02020603050405020304"/>
                          </a:rPr>
                          <m:t>′</m:t>
                        </m:r>
                      </m:sup>
                    </m:sSup>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𝑦</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，从</a:t>
                </a:r>
                <a14:m>
                  <m:oMath xmlns:m="http://schemas.openxmlformats.org/officeDocument/2006/math">
                    <m:r>
                      <a:rPr lang="en-US" sz="3200" i="1" noProof="1">
                        <a:solidFill>
                          <a:srgbClr val="000000"/>
                        </a:solidFill>
                        <a:latin typeface="Times New Roman" panose="02020603050405020304"/>
                      </a:rPr>
                      <m:t>𝐶</m:t>
                    </m:r>
                  </m:oMath>
                </a14:m>
                <a:r>
                  <a:rPr lang="en-US" sz="3200" noProof="1">
                    <a:solidFill>
                      <a:srgbClr val="000000"/>
                    </a:solidFill>
                    <a:latin typeface="Times New Roman" panose="02020603050405020304"/>
                    <a:ea typeface="宋体" panose="02010600030101010101" pitchFamily="2" charset="-122"/>
                  </a:rPr>
                  <a:t>中取出比特串</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3</m:t>
                        </m:r>
                      </m:sub>
                    </m:sSub>
                  </m:oMath>
                </a14:m>
                <a:r>
                  <a:rPr lang="en-US" sz="3200" noProof="1">
                    <a:solidFill>
                      <a:srgbClr val="000000"/>
                    </a:solidFill>
                    <a:latin typeface="Times New Roman" panose="02020603050405020304"/>
                    <a:ea typeface="宋体" panose="02010600030101010101" pitchFamily="2" charset="-122"/>
                  </a:rPr>
                  <a:t>，若</a:t>
                </a:r>
                <a14:m>
                  <m:oMath xmlns:m="http://schemas.openxmlformats.org/officeDocument/2006/math">
                    <m:r>
                      <a:rPr lang="en-US" sz="3200" i="1" noProof="1">
                        <a:solidFill>
                          <a:srgbClr val="000000"/>
                        </a:solidFill>
                        <a:latin typeface="Times New Roman" panose="02020603050405020304"/>
                      </a:rPr>
                      <m:t>𝑢</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3</m:t>
                        </m:r>
                      </m:sub>
                    </m:sSub>
                  </m:oMath>
                </a14:m>
                <a:r>
                  <a:rPr lang="en-US" sz="3200" noProof="1">
                    <a:solidFill>
                      <a:srgbClr val="000000"/>
                    </a:solidFill>
                    <a:latin typeface="Times New Roman" panose="02020603050405020304"/>
                    <a:ea typeface="宋体" panose="02010600030101010101" pitchFamily="2" charset="-122"/>
                  </a:rPr>
                  <a:t>，则解密错误。</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（6）</a:t>
                </a:r>
                <a14:m>
                  <m:oMath xmlns:m="http://schemas.openxmlformats.org/officeDocument/2006/math">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𝑀</m:t>
                        </m:r>
                      </m:e>
                      <m:sup>
                        <m:r>
                          <a:rPr lang="en-US" sz="3200" i="0" noProof="1">
                            <a:solidFill>
                              <a:srgbClr val="000000"/>
                            </a:solidFill>
                            <a:latin typeface="Times New Roman" panose="02020603050405020304"/>
                          </a:rPr>
                          <m:t>′</m:t>
                        </m:r>
                      </m:sup>
                    </m:sSup>
                  </m:oMath>
                </a14:m>
                <a:r>
                  <a:rPr lang="en-US" sz="3200" noProof="1">
                    <a:solidFill>
                      <a:srgbClr val="000000"/>
                    </a:solidFill>
                    <a:latin typeface="Times New Roman" panose="02020603050405020304"/>
                    <a:ea typeface="宋体" panose="02010600030101010101" pitchFamily="2" charset="-122"/>
                  </a:rPr>
                  <a:t>即解密后的明文。</a:t>
                </a:r>
                <a:endParaRPr lang="en-US" sz="3200" noProof="1"/>
              </a:p>
            </p:txBody>
          </p:sp>
        </mc:Choice>
        <mc:Fallback>
          <p:sp>
            <p:nvSpPr>
              <p:cNvPr id="3" name="body-82f"/>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r="-2250"/>
                </a:stretch>
              </a:blipFill>
              <a:ln>
                <a:noFill/>
              </a:ln>
            </p:spPr>
            <p:txBody>
              <a:bodyPr/>
              <a:lstStyle/>
              <a:p>
                <a:r>
                  <a:rPr lang="zh-CN" altLang="en-US">
                    <a:noFill/>
                  </a:rPr>
                  <a:t> </a:t>
                </a:r>
              </a:p>
            </p:txBody>
          </p:sp>
        </mc:Fallback>
      </mc:AlternateContent>
      <p:sp>
        <p:nvSpPr>
          <p:cNvPr id="5" name="pagenum-82f"/>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35</a:t>
            </a:r>
            <a:endParaRPr lang="en-US" sz="1400" noProof="1"/>
          </a:p>
        </p:txBody>
      </p:sp>
      <p:sp>
        <p:nvSpPr>
          <p:cNvPr id="8"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2"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4" name="gradbar-8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num-82a"/>
          <p:cNvSpPr txBox="1"/>
          <p:nvPr>
            <p:custDataLst>
              <p:tags r:id="rId6"/>
            </p:custDataLst>
          </p:nvPr>
        </p:nvSpPr>
        <p:spPr>
          <a:xfrm>
            <a:off x="1216660" y="429260"/>
            <a:ext cx="1580515"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7" name="sectitle-82a"/>
          <p:cNvSpPr txBox="1"/>
          <p:nvPr>
            <p:custDataLst>
              <p:tags r:id="rId7"/>
            </p:custDataLst>
          </p:nvPr>
        </p:nvSpPr>
        <p:spPr>
          <a:xfrm>
            <a:off x="2797175" y="509270"/>
            <a:ext cx="547370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SM2算法加密和解密过程</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8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2g"/>
              <p:cNvSpPr txBox="1"/>
              <p:nvPr/>
            </p:nvSpPr>
            <p:spPr>
              <a:xfrm>
                <a:off x="1724660" y="2745105"/>
                <a:ext cx="14818360" cy="145034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事实上：当接收方B用自己的私钥</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𝑑</m:t>
                        </m:r>
                      </m:e>
                      <m:sub>
                        <m:r>
                          <a:rPr lang="en-US" sz="3600" i="1" noProof="1">
                            <a:solidFill>
                              <a:srgbClr val="000000"/>
                            </a:solidFill>
                            <a:latin typeface="Times New Roman" panose="02020603050405020304"/>
                          </a:rPr>
                          <m:t>𝐵</m:t>
                        </m:r>
                      </m:sub>
                    </m:sSub>
                  </m:oMath>
                </a14:m>
                <a:r>
                  <a:rPr lang="en-US" sz="3600" noProof="1">
                    <a:solidFill>
                      <a:srgbClr val="000000"/>
                    </a:solidFill>
                    <a:latin typeface="Times New Roman" panose="02020603050405020304"/>
                    <a:ea typeface="宋体" panose="02010600030101010101" pitchFamily="2" charset="-122"/>
                  </a:rPr>
                  <a:t>进行运算时，可得式（8.3），从而可以保证加密和解密过程中密钥派生函数</a:t>
                </a:r>
                <a14:m>
                  <m:oMath xmlns:m="http://schemas.openxmlformats.org/officeDocument/2006/math">
                    <m:r>
                      <a:rPr lang="en-US" sz="3600" i="1" noProof="1">
                        <a:solidFill>
                          <a:srgbClr val="000000"/>
                        </a:solidFill>
                        <a:latin typeface="Times New Roman" panose="02020603050405020304"/>
                      </a:rPr>
                      <m:t>𝐾</m:t>
                    </m:r>
                    <m:r>
                      <a:rPr lang="en-US" sz="3600" i="1" noProof="1">
                        <a:solidFill>
                          <a:srgbClr val="000000"/>
                        </a:solidFill>
                        <a:latin typeface="Times New Roman" panose="02020603050405020304"/>
                      </a:rPr>
                      <m:t>𝐷𝐹</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输出的</a:t>
                </a:r>
                <a14:m>
                  <m:oMath xmlns:m="http://schemas.openxmlformats.org/officeDocument/2006/math">
                    <m:r>
                      <a:rPr lang="en-US" sz="3600" i="1" noProof="1">
                        <a:solidFill>
                          <a:srgbClr val="000000"/>
                        </a:solidFill>
                        <a:latin typeface="Times New Roman" panose="02020603050405020304"/>
                      </a:rPr>
                      <m:t>𝑡</m:t>
                    </m:r>
                  </m:oMath>
                </a14:m>
                <a:r>
                  <a:rPr lang="en-US" sz="3600" noProof="1">
                    <a:solidFill>
                      <a:srgbClr val="000000"/>
                    </a:solidFill>
                    <a:latin typeface="Times New Roman" panose="02020603050405020304"/>
                    <a:ea typeface="宋体" panose="02010600030101010101" pitchFamily="2" charset="-122"/>
                  </a:rPr>
                  <a:t>相同，因此由</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𝑀</m:t>
                        </m:r>
                      </m:e>
                      <m:sup>
                        <m:r>
                          <a:rPr lang="en-US" sz="3600" i="0" noProof="1">
                            <a:solidFill>
                              <a:srgbClr val="000000"/>
                            </a:solidFill>
                            <a:latin typeface="Times New Roman" panose="02020603050405020304"/>
                          </a:rPr>
                          <m:t>′</m:t>
                        </m:r>
                      </m:sup>
                    </m:sSup>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𝐶</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𝑡</m:t>
                    </m:r>
                  </m:oMath>
                </a14:m>
                <a:r>
                  <a:rPr lang="en-US" sz="3600" noProof="1">
                    <a:solidFill>
                      <a:srgbClr val="000000"/>
                    </a:solidFill>
                    <a:latin typeface="Times New Roman" panose="02020603050405020304"/>
                    <a:ea typeface="宋体" panose="02010600030101010101" pitchFamily="2" charset="-122"/>
                  </a:rPr>
                  <a:t>可得明文</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𝑀</m:t>
                        </m:r>
                      </m:e>
                      <m:sup>
                        <m:r>
                          <a:rPr lang="en-US" sz="3600" i="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endParaRPr lang="en-US" sz="3600" noProof="1"/>
              </a:p>
            </p:txBody>
          </p:sp>
        </mc:Choice>
        <mc:Fallback>
          <p:sp>
            <p:nvSpPr>
              <p:cNvPr id="3" name="body-82g"/>
              <p:cNvSpPr txBox="1">
                <a:spLocks noRot="1" noChangeAspect="1" noMove="1" noResize="1" noEditPoints="1" noAdjustHandles="1" noChangeArrowheads="1" noChangeShapeType="1" noTextEdit="1"/>
              </p:cNvSpPr>
              <p:nvPr/>
            </p:nvSpPr>
            <p:spPr>
              <a:xfrm>
                <a:off x="1724660" y="2745105"/>
                <a:ext cx="14818360" cy="1450340"/>
              </a:xfrm>
              <a:prstGeom prst="rect">
                <a:avLst/>
              </a:prstGeom>
              <a:blipFill rotWithShape="1">
                <a:blip r:embed="rId1"/>
                <a:stretch>
                  <a:fillRect b="-96278"/>
                </a:stretch>
              </a:blipFill>
              <a:ln>
                <a:noFill/>
              </a:ln>
            </p:spPr>
            <p:txBody>
              <a:bodyPr/>
              <a:lstStyle/>
              <a:p>
                <a:r>
                  <a:rPr lang="zh-CN" altLang="en-US">
                    <a:noFill/>
                  </a:rPr>
                  <a:t> </a:t>
                </a:r>
              </a:p>
            </p:txBody>
          </p:sp>
        </mc:Fallback>
      </mc:AlternateContent>
      <p:sp>
        <p:nvSpPr>
          <p:cNvPr id="4" name="pagenum-82g"/>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36</a:t>
            </a:r>
            <a:endParaRPr lang="en-US" sz="1400" noProof="1"/>
          </a:p>
        </p:txBody>
      </p:sp>
      <mc:AlternateContent xmlns:mc="http://schemas.openxmlformats.org/markup-compatibility/2006">
        <mc:Choice xmlns:a14="http://schemas.microsoft.com/office/drawing/2010/main" Requires="a14">
          <p:sp>
            <p:nvSpPr>
              <p:cNvPr id="2" name="f83"/>
              <p:cNvSpPr txBox="1"/>
              <p:nvPr>
                <p:custDataLst>
                  <p:tags r:id="rId2"/>
                </p:custDataLst>
              </p:nvPr>
            </p:nvSpPr>
            <p:spPr>
              <a:xfrm>
                <a:off x="2540000" y="5200015"/>
                <a:ext cx="13208000" cy="762000"/>
              </a:xfrm>
              <a:prstGeom prst="rect">
                <a:avLst/>
              </a:prstGeom>
              <a:noFill/>
              <a:ln>
                <a:noFill/>
              </a:ln>
            </p:spPr>
            <p:txBody>
              <a:bodyPr wrap="square" lIns="0" tIns="0" rIns="0" bIns="0" rtlCol="0" anchor="t"/>
              <a:lstStyle/>
              <a:p>
                <a:pPr algn="ctr">
                  <a:lnSpc>
                    <a:spcPct val="120000"/>
                  </a:lnSpc>
                </a:pPr>
                <a14:m>
                  <m:oMath xmlns:m="http://schemas.openxmlformats.org/officeDocument/2006/math">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𝑑</m:t>
                        </m:r>
                      </m:e>
                      <m:sub>
                        <m:r>
                          <a:rPr lang="en-US" sz="3200" i="1" noProof="1">
                            <a:solidFill>
                              <a:srgbClr val="000000"/>
                            </a:solidFill>
                            <a:latin typeface="Times New Roman" panose="02020603050405020304"/>
                          </a:rPr>
                          <m:t>𝐵</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𝑑</m:t>
                        </m:r>
                      </m:e>
                      <m:sub>
                        <m:r>
                          <a:rPr lang="en-US" sz="3200" i="1" noProof="1">
                            <a:solidFill>
                              <a:srgbClr val="000000"/>
                            </a:solidFill>
                            <a:latin typeface="Times New Roman" panose="02020603050405020304"/>
                          </a:rPr>
                          <m:t>𝐵</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𝑘</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𝐺</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𝑘</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𝑑</m:t>
                        </m:r>
                      </m:e>
                      <m:sub>
                        <m:r>
                          <a:rPr lang="en-US" sz="3200" i="1" noProof="1">
                            <a:solidFill>
                              <a:srgbClr val="000000"/>
                            </a:solidFill>
                            <a:latin typeface="Times New Roman" panose="02020603050405020304"/>
                          </a:rPr>
                          <m:t>𝐵</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𝐺</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𝑘</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𝑃</m:t>
                        </m:r>
                      </m:e>
                      <m:sub>
                        <m:r>
                          <a:rPr lang="en-US" sz="3200" i="1" noProof="1">
                            <a:solidFill>
                              <a:srgbClr val="000000"/>
                            </a:solidFill>
                            <a:latin typeface="Times New Roman" panose="02020603050405020304"/>
                          </a:rPr>
                          <m:t>𝐵</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𝑥</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𝑦</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Times New Roman" panose="02020603050405020304"/>
                  </a:rPr>
                  <a:t>　（8.3）</a:t>
                </a:r>
                <a:endParaRPr lang="en-US" sz="3200" noProof="1"/>
              </a:p>
            </p:txBody>
          </p:sp>
        </mc:Choice>
        <mc:Fallback>
          <p:sp>
            <p:nvSpPr>
              <p:cNvPr id="2" name="f83"/>
              <p:cNvSpPr txBox="1">
                <a:spLocks noRot="1" noChangeAspect="1" noMove="1" noResize="1" noEditPoints="1" noAdjustHandles="1" noChangeArrowheads="1" noChangeShapeType="1" noTextEdit="1"/>
              </p:cNvSpPr>
              <p:nvPr>
                <p:custDataLst>
                  <p:tags r:id="rId3"/>
                </p:custDataLst>
              </p:nvPr>
            </p:nvSpPr>
            <p:spPr>
              <a:xfrm>
                <a:off x="2540000" y="5200015"/>
                <a:ext cx="13208000" cy="762000"/>
              </a:xfrm>
              <a:prstGeom prst="rect">
                <a:avLst/>
              </a:prstGeom>
              <a:blipFill rotWithShape="1">
                <a:blip r:embed="rId4"/>
                <a:stretch>
                  <a:fillRect/>
                </a:stretch>
              </a:blipFill>
              <a:ln>
                <a:noFill/>
              </a:ln>
            </p:spPr>
            <p:txBody>
              <a:bodyPr/>
              <a:lstStyle/>
              <a:p>
                <a:r>
                  <a:rPr lang="zh-CN" altLang="en-US">
                    <a:noFill/>
                  </a:rPr>
                  <a:t> </a:t>
                </a:r>
              </a:p>
            </p:txBody>
          </p:sp>
        </mc:Fallback>
      </mc:AlternateContent>
      <p:sp>
        <p:nvSpPr>
          <p:cNvPr id="5" name="bookhead-81a"/>
          <p:cNvSpPr txBox="1"/>
          <p:nvPr>
            <p:custDataLst>
              <p:tags r:id="rId5"/>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6" name="bookline-81a"/>
          <p:cNvPicPr/>
          <p:nvPr>
            <p:custDataLst>
              <p:tags r:id="rId6"/>
            </p:custDataLst>
          </p:nvPr>
        </p:nvPicPr>
        <p:blipFill>
          <a:blip r:embed="rId7"/>
          <a:stretch>
            <a:fillRect/>
          </a:stretch>
        </p:blipFill>
        <p:spPr>
          <a:xfrm>
            <a:off x="13731240" y="1102360"/>
            <a:ext cx="2771140" cy="46990"/>
          </a:xfrm>
          <a:prstGeom prst="rect">
            <a:avLst/>
          </a:prstGeom>
          <a:ln>
            <a:noFill/>
          </a:ln>
        </p:spPr>
      </p:pic>
      <p:sp>
        <p:nvSpPr>
          <p:cNvPr id="16" name="gradbar-82a"/>
          <p:cNvSpPr/>
          <p:nvPr>
            <p:custDataLst>
              <p:tags r:id="rId8"/>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num-82a"/>
          <p:cNvSpPr txBox="1"/>
          <p:nvPr>
            <p:custDataLst>
              <p:tags r:id="rId9"/>
            </p:custDataLst>
          </p:nvPr>
        </p:nvSpPr>
        <p:spPr>
          <a:xfrm>
            <a:off x="1216660" y="429260"/>
            <a:ext cx="1580515"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title-82a"/>
          <p:cNvSpPr txBox="1"/>
          <p:nvPr>
            <p:custDataLst>
              <p:tags r:id="rId10"/>
            </p:custDataLst>
          </p:nvPr>
        </p:nvSpPr>
        <p:spPr>
          <a:xfrm>
            <a:off x="2797175" y="509270"/>
            <a:ext cx="547370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SM2算法加密和解密过程</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2a"/>
          <p:cNvPicPr/>
          <p:nvPr>
            <p:custDataLst>
              <p:tags r:id="rId11"/>
            </p:custDataLst>
          </p:nvPr>
        </p:nvPicPr>
        <p:blipFill>
          <a:blip r:embed="rId12">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2g"/>
              <p:cNvSpPr txBox="1"/>
              <p:nvPr/>
            </p:nvSpPr>
            <p:spPr>
              <a:xfrm>
                <a:off x="168402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200" b="1" noProof="1">
                    <a:solidFill>
                      <a:srgbClr val="000000"/>
                    </a:solidFill>
                    <a:latin typeface="Times New Roman" panose="02020603050405020304"/>
                    <a:ea typeface="宋体" panose="02010600030101010101" pitchFamily="2" charset="-122"/>
                  </a:rPr>
                  <a:t>例8.5　</a:t>
                </a:r>
                <a:r>
                  <a:rPr lang="en-US" sz="3200" noProof="1">
                    <a:solidFill>
                      <a:srgbClr val="000000"/>
                    </a:solidFill>
                    <a:latin typeface="Times New Roman" panose="02020603050405020304"/>
                    <a:ea typeface="宋体" panose="02010600030101010101" pitchFamily="2" charset="-122"/>
                  </a:rPr>
                  <a:t>参数选取：取</a:t>
                </a:r>
                <a14:m>
                  <m:oMath xmlns:m="http://schemas.openxmlformats.org/officeDocument/2006/math">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11</m:t>
                    </m:r>
                  </m:oMath>
                </a14:m>
                <a:r>
                  <a:rPr lang="en-US" sz="3200" noProof="1">
                    <a:solidFill>
                      <a:srgbClr val="000000"/>
                    </a:solidFill>
                    <a:latin typeface="Times New Roman" panose="02020603050405020304"/>
                    <a:ea typeface="宋体" panose="02010600030101010101" pitchFamily="2" charset="-122"/>
                  </a:rPr>
                  <a:t>，椭圆曲线为</a:t>
                </a:r>
                <a14:m>
                  <m:oMath xmlns:m="http://schemas.openxmlformats.org/officeDocument/2006/math">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𝑦</m:t>
                        </m:r>
                      </m:e>
                      <m:sup>
                        <m:r>
                          <a:rPr lang="en-US" sz="3200" i="0" noProof="1">
                            <a:solidFill>
                              <a:srgbClr val="000000"/>
                            </a:solidFill>
                            <a:latin typeface="Times New Roman" panose="02020603050405020304"/>
                          </a:rPr>
                          <m:t>2</m:t>
                        </m:r>
                      </m:sup>
                    </m:sSup>
                    <m:r>
                      <a:rPr lang="en-US" sz="3200" i="0" noProof="1">
                        <a:solidFill>
                          <a:srgbClr val="000000"/>
                        </a:solidFill>
                        <a:latin typeface="Times New Roman" panose="02020603050405020304"/>
                      </a:rPr>
                      <m:t>=</m:t>
                    </m:r>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𝑥</m:t>
                        </m:r>
                      </m:e>
                      <m:sup>
                        <m:r>
                          <a:rPr lang="en-US" sz="3200" i="0" noProof="1">
                            <a:solidFill>
                              <a:srgbClr val="000000"/>
                            </a:solidFill>
                            <a:latin typeface="Times New Roman" panose="02020603050405020304"/>
                          </a:rPr>
                          <m:t>3</m:t>
                        </m:r>
                      </m:sup>
                    </m:sSup>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𝑥</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𝐸</m:t>
                        </m:r>
                      </m:e>
                      <m:sub>
                        <m:r>
                          <a:rPr lang="en-US" sz="3200" i="1" noProof="1">
                            <a:solidFill>
                              <a:srgbClr val="000000"/>
                            </a:solidFill>
                            <a:latin typeface="Times New Roman" panose="02020603050405020304"/>
                          </a:rPr>
                          <m:t>𝑝</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的一个生成元是</a:t>
                </a:r>
                <a14:m>
                  <m:oMath xmlns:m="http://schemas.openxmlformats.org/officeDocument/2006/math">
                    <m:r>
                      <a:rPr lang="en-US" sz="3200" i="1" noProof="1">
                        <a:solidFill>
                          <a:srgbClr val="000000"/>
                        </a:solidFill>
                        <a:latin typeface="Times New Roman" panose="02020603050405020304"/>
                      </a:rPr>
                      <m:t>𝐺</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，私钥</a:t>
                </a:r>
                <a14:m>
                  <m:oMath xmlns:m="http://schemas.openxmlformats.org/officeDocument/2006/math">
                    <m:r>
                      <a:rPr lang="en-US" sz="3200" i="1" noProof="1">
                        <a:solidFill>
                          <a:srgbClr val="000000"/>
                        </a:solidFill>
                        <a:latin typeface="Times New Roman" panose="02020603050405020304"/>
                      </a:rPr>
                      <m:t>𝑑</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oMath>
                </a14:m>
                <a:r>
                  <a:rPr lang="en-US" sz="3200" noProof="1">
                    <a:solidFill>
                      <a:srgbClr val="000000"/>
                    </a:solidFill>
                    <a:latin typeface="Times New Roman" panose="02020603050405020304"/>
                    <a:ea typeface="宋体" panose="02010600030101010101" pitchFamily="2" charset="-122"/>
                  </a:rPr>
                  <a:t>，A的公钥为</a:t>
                </a:r>
                <a14:m>
                  <m:oMath xmlns:m="http://schemas.openxmlformats.org/officeDocument/2006/math">
                    <m:r>
                      <a:rPr lang="en-US" sz="3200" i="1" noProof="1">
                        <a:solidFill>
                          <a:srgbClr val="000000"/>
                        </a:solidFill>
                        <a:latin typeface="Times New Roman" panose="02020603050405020304"/>
                      </a:rPr>
                      <m:t>𝑃</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𝑑𝐺</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，明文</a:t>
                </a:r>
                <a14:m>
                  <m:oMath xmlns:m="http://schemas.openxmlformats.org/officeDocument/2006/math">
                    <m:r>
                      <a:rPr lang="en-US" sz="3200" i="1" noProof="1">
                        <a:solidFill>
                          <a:srgbClr val="000000"/>
                        </a:solidFill>
                        <a:latin typeface="Times New Roman" panose="02020603050405020304"/>
                      </a:rPr>
                      <m:t>𝑀</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加密过程：由上述加密过程可知，明文加密后的数据存储在</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2</m:t>
                        </m:r>
                      </m:sub>
                    </m:sSub>
                  </m:oMath>
                </a14:m>
                <a:r>
                  <a:rPr lang="en-US" sz="3200" noProof="1">
                    <a:solidFill>
                      <a:srgbClr val="000000"/>
                    </a:solidFill>
                    <a:latin typeface="Times New Roman" panose="02020603050405020304"/>
                    <a:ea typeface="宋体" panose="02010600030101010101" pitchFamily="2" charset="-122"/>
                  </a:rPr>
                  <a:t>部分。用户A选取随机数</a:t>
                </a:r>
                <a14:m>
                  <m:oMath xmlns:m="http://schemas.openxmlformats.org/officeDocument/2006/math">
                    <m:r>
                      <a:rPr lang="en-US" sz="3200" i="1" noProof="1">
                        <a:solidFill>
                          <a:srgbClr val="000000"/>
                        </a:solidFill>
                        <a:latin typeface="Times New Roman" panose="02020603050405020304"/>
                      </a:rPr>
                      <m:t>𝑘</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oMath>
                </a14:m>
                <a:r>
                  <a:rPr lang="en-US" sz="3200" noProof="1">
                    <a:solidFill>
                      <a:srgbClr val="000000"/>
                    </a:solidFill>
                    <a:latin typeface="Times New Roman" panose="02020603050405020304"/>
                    <a:ea typeface="宋体" panose="02010600030101010101" pitchFamily="2" charset="-122"/>
                  </a:rPr>
                  <a:t>，则有</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𝑘𝐺</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1" noProof="1">
                        <a:solidFill>
                          <a:srgbClr val="000000"/>
                        </a:solidFill>
                        <a:latin typeface="Times New Roman" panose="02020603050405020304"/>
                      </a:rPr>
                      <m:t>𝐺</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200" i="1" noProof="1">
                        <a:solidFill>
                          <a:srgbClr val="000000"/>
                        </a:solidFill>
                        <a:latin typeface="Times New Roman" panose="02020603050405020304"/>
                      </a:rPr>
                      <m:t>𝑘</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𝑃</m:t>
                        </m:r>
                      </m:e>
                      <m:sub>
                        <m:r>
                          <a:rPr lang="en-US" sz="3200" i="1" noProof="1">
                            <a:solidFill>
                              <a:srgbClr val="000000"/>
                            </a:solidFill>
                            <a:latin typeface="Times New Roman" panose="02020603050405020304"/>
                          </a:rPr>
                          <m:t>𝐴</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6</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8</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，将式（8.2）代入密钥派生函数进行计算，假设密钥派生函数输出值为</a:t>
                </a:r>
                <a14:m>
                  <m:oMath xmlns:m="http://schemas.openxmlformats.org/officeDocument/2006/math">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，即</a:t>
                </a:r>
                <a14:m>
                  <m:oMath xmlns:m="http://schemas.openxmlformats.org/officeDocument/2006/math">
                    <m:r>
                      <a:rPr lang="en-US" sz="3200" i="1" noProof="1">
                        <a:solidFill>
                          <a:srgbClr val="000000"/>
                        </a:solidFill>
                        <a:latin typeface="Times New Roman" panose="02020603050405020304"/>
                      </a:rPr>
                      <m:t>𝑡</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𝐾</m:t>
                    </m:r>
                    <m:r>
                      <a:rPr lang="en-US" sz="3200" i="1" noProof="1">
                        <a:solidFill>
                          <a:srgbClr val="000000"/>
                        </a:solidFill>
                        <a:latin typeface="Times New Roman" panose="02020603050405020304"/>
                      </a:rPr>
                      <m:t>𝐷𝐹</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8</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，则有密文</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10</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。为了方便理解，这里的</a:t>
                </a:r>
                <a14:m>
                  <m:oMath xmlns:m="http://schemas.openxmlformats.org/officeDocument/2006/math">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是二维向量分量上的加法运算。</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另外，</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3</m:t>
                        </m:r>
                      </m:sub>
                    </m:sSub>
                  </m:oMath>
                </a14:m>
                <a:r>
                  <a:rPr lang="en-US" sz="3200" noProof="1">
                    <a:solidFill>
                      <a:srgbClr val="000000"/>
                    </a:solidFill>
                    <a:latin typeface="Times New Roman" panose="02020603050405020304"/>
                    <a:ea typeface="宋体" panose="02010600030101010101" pitchFamily="2" charset="-122"/>
                  </a:rPr>
                  <a:t>主要通过Hash运算验证解密的正确性，因此本例不进行计算。</a:t>
                </a:r>
                <a:endParaRPr lang="en-US" sz="3200" noProof="1"/>
              </a:p>
            </p:txBody>
          </p:sp>
        </mc:Choice>
        <mc:Fallback>
          <p:sp>
            <p:nvSpPr>
              <p:cNvPr id="3" name="body-82g"/>
              <p:cNvSpPr txBox="1">
                <a:spLocks noRot="1" noChangeAspect="1" noMove="1" noResize="1" noEditPoints="1" noAdjustHandles="1" noChangeArrowheads="1" noChangeShapeType="1" noTextEdit="1"/>
              </p:cNvSpPr>
              <p:nvPr/>
            </p:nvSpPr>
            <p:spPr>
              <a:xfrm>
                <a:off x="168402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82g"/>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37</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16" name="gradbar-8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num-82a"/>
          <p:cNvSpPr txBox="1"/>
          <p:nvPr>
            <p:custDataLst>
              <p:tags r:id="rId6"/>
            </p:custDataLst>
          </p:nvPr>
        </p:nvSpPr>
        <p:spPr>
          <a:xfrm>
            <a:off x="1216660" y="429260"/>
            <a:ext cx="158051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title-82a"/>
          <p:cNvSpPr txBox="1"/>
          <p:nvPr>
            <p:custDataLst>
              <p:tags r:id="rId7"/>
            </p:custDataLst>
          </p:nvPr>
        </p:nvSpPr>
        <p:spPr>
          <a:xfrm>
            <a:off x="2797175" y="509270"/>
            <a:ext cx="54737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SM2算法加密和解密过程</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2h"/>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解密过程：用户A计算</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𝑑</m:t>
                        </m:r>
                      </m:e>
                      <m:sub>
                        <m:r>
                          <a:rPr lang="en-US" sz="3200" i="1" noProof="1">
                            <a:solidFill>
                              <a:srgbClr val="000000"/>
                            </a:solidFill>
                            <a:latin typeface="Times New Roman" panose="02020603050405020304"/>
                          </a:rPr>
                          <m:t>𝐵</m:t>
                        </m:r>
                      </m:sub>
                    </m:s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7</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8</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，同样将式（8.2）代入密钥派生函数</a:t>
                </a:r>
                <a14:m>
                  <m:oMath xmlns:m="http://schemas.openxmlformats.org/officeDocument/2006/math">
                    <m:r>
                      <a:rPr lang="en-US" sz="3200" i="1" noProof="1">
                        <a:solidFill>
                          <a:srgbClr val="000000"/>
                        </a:solidFill>
                        <a:latin typeface="Times New Roman" panose="02020603050405020304"/>
                      </a:rPr>
                      <m:t>𝑡</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𝐾</m:t>
                    </m:r>
                    <m:r>
                      <a:rPr lang="en-US" sz="3200" i="1" noProof="1">
                        <a:solidFill>
                          <a:srgbClr val="000000"/>
                        </a:solidFill>
                        <a:latin typeface="Times New Roman" panose="02020603050405020304"/>
                      </a:rPr>
                      <m:t>𝐷𝐹</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8</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，计算密钥派生函数输出值为</a:t>
                </a:r>
                <a14:m>
                  <m:oMath xmlns:m="http://schemas.openxmlformats.org/officeDocument/2006/math">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。从密文</a:t>
                </a:r>
                <a14:m>
                  <m:oMath xmlns:m="http://schemas.openxmlformats.org/officeDocument/2006/math">
                    <m:r>
                      <a:rPr lang="en-US" sz="3200" i="1" noProof="1">
                        <a:solidFill>
                          <a:srgbClr val="000000"/>
                        </a:solidFill>
                        <a:latin typeface="Times New Roman" panose="02020603050405020304"/>
                      </a:rPr>
                      <m:t>𝐶</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，得到</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10</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，根据解密算法得到</a:t>
                </a:r>
                <a:endParaRPr lang="en-US" sz="3200" noProof="1"/>
              </a:p>
            </p:txBody>
          </p:sp>
        </mc:Choice>
        <mc:Fallback>
          <p:sp>
            <p:nvSpPr>
              <p:cNvPr id="3" name="body-82h"/>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f84x"/>
              <p:cNvSpPr txBox="1"/>
              <p:nvPr/>
            </p:nvSpPr>
            <p:spPr>
              <a:xfrm>
                <a:off x="2540000" y="4572000"/>
                <a:ext cx="13208000" cy="762000"/>
              </a:xfrm>
              <a:prstGeom prst="rect">
                <a:avLst/>
              </a:prstGeom>
              <a:noFill/>
              <a:ln>
                <a:noFill/>
              </a:ln>
            </p:spPr>
            <p:txBody>
              <a:bodyPr wrap="square" lIns="0" tIns="0" rIns="0" bIns="0" rtlCol="0" anchor="t"/>
              <a:lstStyle/>
              <a:p>
                <a:pPr algn="ctr">
                  <a:lnSpc>
                    <a:spcPct val="120000"/>
                  </a:lnSpc>
                </a:pPr>
                <a14:m>
                  <m:oMath xmlns:m="http://schemas.openxmlformats.org/officeDocument/2006/math">
                    <m:sSup>
                      <m:sSupPr>
                        <m:ctrlPr>
                          <a:rPr lang="en-US" sz="3200" noProof="1">
                            <a:solidFill>
                              <a:srgbClr val="000000"/>
                            </a:solidFill>
                            <a:latin typeface="Times New Roman" panose="02020603050405020304"/>
                          </a:rPr>
                        </m:ctrlPr>
                      </m:sSupPr>
                      <m:e>
                        <m:r>
                          <a:rPr lang="en-US" sz="3200" i="1" noProof="1">
                            <a:solidFill>
                              <a:srgbClr val="000000"/>
                            </a:solidFill>
                            <a:latin typeface="Times New Roman" panose="02020603050405020304"/>
                          </a:rPr>
                          <m:t>𝑀</m:t>
                        </m:r>
                      </m:e>
                      <m:sup>
                        <m:r>
                          <a:rPr lang="en-US" sz="3200" i="0" noProof="1">
                            <a:solidFill>
                              <a:srgbClr val="000000"/>
                            </a:solidFill>
                            <a:latin typeface="Times New Roman" panose="02020603050405020304"/>
                          </a:rPr>
                          <m:t>′</m:t>
                        </m:r>
                      </m:sup>
                    </m:sSup>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𝐶</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𝑡</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10</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9</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Times New Roman" panose="02020603050405020304"/>
                  </a:rPr>
                  <a:t>　（8.4）</a:t>
                </a:r>
                <a:endParaRPr lang="en-US" sz="3200" noProof="1"/>
              </a:p>
            </p:txBody>
          </p:sp>
        </mc:Choice>
        <mc:Fallback>
          <p:sp>
            <p:nvSpPr>
              <p:cNvPr id="4" name="f84x"/>
              <p:cNvSpPr txBox="1">
                <a:spLocks noRot="1" noChangeAspect="1" noMove="1" noResize="1" noEditPoints="1" noAdjustHandles="1" noChangeArrowheads="1" noChangeShapeType="1" noTextEdit="1"/>
              </p:cNvSpPr>
              <p:nvPr/>
            </p:nvSpPr>
            <p:spPr>
              <a:xfrm>
                <a:off x="2540000" y="4572000"/>
                <a:ext cx="13208000" cy="762000"/>
              </a:xfrm>
              <a:prstGeom prst="rect">
                <a:avLst/>
              </a:prstGeom>
              <a:blipFill rotWithShape="1">
                <a:blip r:embed="rId2"/>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body-82h2"/>
              <p:cNvSpPr txBox="1"/>
              <p:nvPr/>
            </p:nvSpPr>
            <p:spPr>
              <a:xfrm>
                <a:off x="1724660" y="5715000"/>
                <a:ext cx="14818360" cy="1524000"/>
              </a:xfrm>
              <a:prstGeom prst="rect">
                <a:avLst/>
              </a:prstGeom>
              <a:noFill/>
              <a:ln>
                <a:noFill/>
              </a:ln>
            </p:spPr>
            <p:txBody>
              <a:bodyPr wrap="square" lIns="0" tIns="0" rIns="0" bIns="0" rtlCol="0" anchor="t"/>
              <a:lstStyle/>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r>
                  <a:rPr lang="en-US" sz="3200" noProof="1">
                    <a:solidFill>
                      <a:srgbClr val="000000"/>
                    </a:solidFill>
                    <a:latin typeface="Times New Roman" panose="02020603050405020304"/>
                    <a:ea typeface="宋体" panose="02010600030101010101" pitchFamily="2" charset="-122"/>
                  </a:rPr>
                  <a:t>为</a:t>
                </a:r>
                <a14:m>
                  <m:oMath xmlns:m="http://schemas.openxmlformats.org/officeDocument/2006/math">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的逆运算，为方便理解，这里的</a:t>
                </a:r>
                <a14:m>
                  <m:oMath xmlns:m="http://schemas.openxmlformats.org/officeDocument/2006/math">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r>
                  <a:rPr lang="en-US" sz="3200" noProof="1">
                    <a:solidFill>
                      <a:srgbClr val="000000"/>
                    </a:solidFill>
                    <a:latin typeface="Times New Roman" panose="02020603050405020304"/>
                    <a:ea typeface="宋体" panose="02010600030101010101" pitchFamily="2" charset="-122"/>
                  </a:rPr>
                  <a:t>就是二维向量分量上的减法运算。</a:t>
                </a:r>
                <a:endParaRPr lang="en-US" sz="3200" noProof="1"/>
              </a:p>
            </p:txBody>
          </p:sp>
        </mc:Choice>
        <mc:Fallback>
          <p:sp>
            <p:nvSpPr>
              <p:cNvPr id="5" name="body-82h2"/>
              <p:cNvSpPr txBox="1">
                <a:spLocks noRot="1" noChangeAspect="1" noMove="1" noResize="1" noEditPoints="1" noAdjustHandles="1" noChangeArrowheads="1" noChangeShapeType="1" noTextEdit="1"/>
              </p:cNvSpPr>
              <p:nvPr/>
            </p:nvSpPr>
            <p:spPr>
              <a:xfrm>
                <a:off x="1724660" y="5715000"/>
                <a:ext cx="14818360" cy="1524000"/>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6" name="pagenum-82h"/>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38</a:t>
            </a:r>
            <a:endParaRPr lang="en-US" sz="1400" noProof="1"/>
          </a:p>
        </p:txBody>
      </p:sp>
      <p:sp>
        <p:nvSpPr>
          <p:cNvPr id="8" name="bookhead-81a"/>
          <p:cNvSpPr txBox="1"/>
          <p:nvPr>
            <p:custDataLst>
              <p:tags r:id="rId4"/>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81a"/>
          <p:cNvPicPr/>
          <p:nvPr>
            <p:custDataLst>
              <p:tags r:id="rId5"/>
            </p:custDataLst>
          </p:nvPr>
        </p:nvPicPr>
        <p:blipFill>
          <a:blip r:embed="rId6"/>
          <a:stretch>
            <a:fillRect/>
          </a:stretch>
        </p:blipFill>
        <p:spPr>
          <a:xfrm>
            <a:off x="13731240" y="1102360"/>
            <a:ext cx="2771140" cy="46990"/>
          </a:xfrm>
          <a:prstGeom prst="rect">
            <a:avLst/>
          </a:prstGeom>
          <a:ln>
            <a:noFill/>
          </a:ln>
        </p:spPr>
      </p:pic>
      <p:sp>
        <p:nvSpPr>
          <p:cNvPr id="16" name="gradbar-82a"/>
          <p:cNvSpPr/>
          <p:nvPr>
            <p:custDataLst>
              <p:tags r:id="rId7"/>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num-82a"/>
          <p:cNvSpPr txBox="1"/>
          <p:nvPr>
            <p:custDataLst>
              <p:tags r:id="rId8"/>
            </p:custDataLst>
          </p:nvPr>
        </p:nvSpPr>
        <p:spPr>
          <a:xfrm>
            <a:off x="1216660" y="429260"/>
            <a:ext cx="1580515"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title-82a"/>
          <p:cNvSpPr txBox="1"/>
          <p:nvPr>
            <p:custDataLst>
              <p:tags r:id="rId9"/>
            </p:custDataLst>
          </p:nvPr>
        </p:nvSpPr>
        <p:spPr>
          <a:xfrm>
            <a:off x="2797175" y="509270"/>
            <a:ext cx="547370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SM2算法加密和解密过程</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2a"/>
          <p:cNvPicPr/>
          <p:nvPr>
            <p:custDataLst>
              <p:tags r:id="rId10"/>
            </p:custDataLst>
          </p:nvPr>
        </p:nvPicPr>
        <p:blipFill>
          <a:blip r:embed="rId11">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82i"/>
          <p:cNvSpPr txBox="1"/>
          <p:nvPr/>
        </p:nvSpPr>
        <p:spPr>
          <a:xfrm>
            <a:off x="1684020" y="2008505"/>
            <a:ext cx="14818360" cy="547687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SM2算法的安全性基于ECDLP的难解性，它优于基于有限域乘法群上离散对数问题的密码体制，求解有限域上离散对数问题的指数筛因子分解法对ECDLP不适用。多年来，ECDLP一直受到各国数学家的关注，目前还没有发现ECDLP的明显弱点，但也存在一些求解思路，大致分为两类：一类是利用一般曲线离散对数的攻击方法；另一类是对特殊曲线的攻击方法，如MOV规约法。这里简要介绍MOV规约法。</a:t>
            </a:r>
            <a:endParaRPr lang="en-US" sz="3600" noProof="1"/>
          </a:p>
        </p:txBody>
      </p:sp>
      <p:sp>
        <p:nvSpPr>
          <p:cNvPr id="4" name="pagenum-82i"/>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39</a:t>
            </a:r>
            <a:endParaRPr lang="en-US" sz="1400" noProof="1"/>
          </a:p>
        </p:txBody>
      </p:sp>
      <p:sp>
        <p:nvSpPr>
          <p:cNvPr id="2" name="bookhead-8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2"/>
            </p:custDataLst>
          </p:nvPr>
        </p:nvPicPr>
        <p:blipFill>
          <a:blip r:embed="rId3"/>
          <a:stretch>
            <a:fillRect/>
          </a:stretch>
        </p:blipFill>
        <p:spPr>
          <a:xfrm>
            <a:off x="13731240" y="1102360"/>
            <a:ext cx="2771140" cy="46990"/>
          </a:xfrm>
          <a:prstGeom prst="rect">
            <a:avLst/>
          </a:prstGeom>
          <a:ln>
            <a:noFill/>
          </a:ln>
        </p:spPr>
      </p:pic>
      <p:sp>
        <p:nvSpPr>
          <p:cNvPr id="16" name="gradbar-82a"/>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num-82a"/>
          <p:cNvSpPr txBox="1"/>
          <p:nvPr>
            <p:custDataLst>
              <p:tags r:id="rId5"/>
            </p:custDataLst>
          </p:nvPr>
        </p:nvSpPr>
        <p:spPr>
          <a:xfrm>
            <a:off x="1216660" y="429260"/>
            <a:ext cx="1580515"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.4</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title-82a"/>
          <p:cNvSpPr txBox="1"/>
          <p:nvPr>
            <p:custDataLst>
              <p:tags r:id="rId6"/>
            </p:custDataLst>
          </p:nvPr>
        </p:nvSpPr>
        <p:spPr>
          <a:xfrm>
            <a:off x="2797175" y="509270"/>
            <a:ext cx="547370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2a"/>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82i"/>
              <p:cNvSpPr txBox="1"/>
              <p:nvPr/>
            </p:nvSpPr>
            <p:spPr>
              <a:xfrm>
                <a:off x="1684020" y="2008505"/>
                <a:ext cx="14818360" cy="441579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1993年，Menezes、Okamoto和Vanstone发表了将ECDLP规约到有限域上离散对数问题的有效解法，并以他们三个人的名字命名为MOV规约，这种方法只适用于超奇异椭圆曲线。MOV规约法利用Well-Paring方法建立</a:t>
                </a:r>
                <a14:m>
                  <m:oMath xmlns:m="http://schemas.openxmlformats.org/officeDocument/2006/math">
                    <m:r>
                      <a:rPr lang="en-US" sz="3600" i="0" noProof="1">
                        <a:solidFill>
                          <a:srgbClr val="000000"/>
                        </a:solidFill>
                        <a:latin typeface="Times New Roman" panose="02020603050405020304"/>
                      </a:rPr>
                      <m:t>𝐺𝐹</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上的椭圆曲线加法群与有限次扩域</a:t>
                </a:r>
                <a14:m>
                  <m:oMath xmlns:m="http://schemas.openxmlformats.org/officeDocument/2006/math">
                    <m:r>
                      <a:rPr lang="en-US" sz="3600" i="0" noProof="1">
                        <a:solidFill>
                          <a:srgbClr val="000000"/>
                        </a:solidFill>
                        <a:latin typeface="Times New Roman" panose="02020603050405020304"/>
                      </a:rPr>
                      <m:t>𝐺𝐹</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𝑝</m:t>
                        </m:r>
                      </m:e>
                      <m:sup>
                        <m:r>
                          <a:rPr lang="en-US" sz="3600" i="1" noProof="1">
                            <a:solidFill>
                              <a:srgbClr val="000000"/>
                            </a:solidFill>
                            <a:latin typeface="Times New Roman" panose="02020603050405020304"/>
                          </a:rPr>
                          <m:t>𝑟</m:t>
                        </m:r>
                      </m:sup>
                    </m:sSup>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上的乘法群之间的联系，也就是把计算椭圆曲线上离散对数问题转化为有限域上乘法群的离散对数问题的求解，那么攻击者就可以采用指数积分法等有效攻击方法求解。</a:t>
                </a:r>
                <a:endParaRPr lang="en-US" sz="3600" noProof="1"/>
              </a:p>
            </p:txBody>
          </p:sp>
        </mc:Choice>
        <mc:Fallback>
          <p:sp>
            <p:nvSpPr>
              <p:cNvPr id="3" name="body-82i"/>
              <p:cNvSpPr txBox="1">
                <a:spLocks noRot="1" noChangeAspect="1" noMove="1" noResize="1" noEditPoints="1" noAdjustHandles="1" noChangeArrowheads="1" noChangeShapeType="1" noTextEdit="1"/>
              </p:cNvSpPr>
              <p:nvPr/>
            </p:nvSpPr>
            <p:spPr>
              <a:xfrm>
                <a:off x="1684020" y="2008505"/>
                <a:ext cx="14818360" cy="441579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82i"/>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40</a:t>
            </a:r>
            <a:endParaRPr lang="en-US" sz="1400" noProof="1"/>
          </a:p>
        </p:txBody>
      </p:sp>
      <p:sp>
        <p:nvSpPr>
          <p:cNvPr id="2"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
        <p:nvSpPr>
          <p:cNvPr id="16" name="gradbar-8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num-82a"/>
          <p:cNvSpPr txBox="1"/>
          <p:nvPr>
            <p:custDataLst>
              <p:tags r:id="rId6"/>
            </p:custDataLst>
          </p:nvPr>
        </p:nvSpPr>
        <p:spPr>
          <a:xfrm>
            <a:off x="1216660" y="429260"/>
            <a:ext cx="158051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.4</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title-82a"/>
          <p:cNvSpPr txBox="1"/>
          <p:nvPr>
            <p:custDataLst>
              <p:tags r:id="rId7"/>
            </p:custDataLst>
          </p:nvPr>
        </p:nvSpPr>
        <p:spPr>
          <a:xfrm>
            <a:off x="2797175" y="509270"/>
            <a:ext cx="54737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8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82i"/>
          <p:cNvSpPr txBox="1"/>
          <p:nvPr/>
        </p:nvSpPr>
        <p:spPr>
          <a:xfrm>
            <a:off x="1684020" y="2155190"/>
            <a:ext cx="14818360" cy="268541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椭圆曲线的离散对数问题被公认为比整数因子分解问题和基于有限域的离散对数问题难解得多，因此它的密钥长度大大减少了，这使得ECC成为目前已知公钥密码体制中安全强度最高的体制之一。</a:t>
            </a:r>
            <a:endParaRPr lang="en-US" sz="3600" noProof="1"/>
          </a:p>
        </p:txBody>
      </p:sp>
      <p:sp>
        <p:nvSpPr>
          <p:cNvPr id="4" name="pagenum-82i"/>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41</a:t>
            </a:r>
            <a:endParaRPr lang="en-US" sz="1400" noProof="1"/>
          </a:p>
        </p:txBody>
      </p:sp>
      <p:sp>
        <p:nvSpPr>
          <p:cNvPr id="2" name="bookhead-8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81a"/>
          <p:cNvPicPr/>
          <p:nvPr>
            <p:custDataLst>
              <p:tags r:id="rId2"/>
            </p:custDataLst>
          </p:nvPr>
        </p:nvPicPr>
        <p:blipFill>
          <a:blip r:embed="rId3"/>
          <a:stretch>
            <a:fillRect/>
          </a:stretch>
        </p:blipFill>
        <p:spPr>
          <a:xfrm>
            <a:off x="13731240" y="1102360"/>
            <a:ext cx="2771140" cy="46990"/>
          </a:xfrm>
          <a:prstGeom prst="rect">
            <a:avLst/>
          </a:prstGeom>
          <a:ln>
            <a:noFill/>
          </a:ln>
        </p:spPr>
      </p:pic>
      <p:sp>
        <p:nvSpPr>
          <p:cNvPr id="6" name="gradbar-82a"/>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num-82a"/>
          <p:cNvSpPr txBox="1"/>
          <p:nvPr>
            <p:custDataLst>
              <p:tags r:id="rId5"/>
            </p:custDataLst>
          </p:nvPr>
        </p:nvSpPr>
        <p:spPr>
          <a:xfrm>
            <a:off x="1216660" y="429260"/>
            <a:ext cx="158051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.4</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title-82a"/>
          <p:cNvSpPr txBox="1"/>
          <p:nvPr>
            <p:custDataLst>
              <p:tags r:id="rId6"/>
            </p:custDataLst>
          </p:nvPr>
        </p:nvSpPr>
        <p:spPr>
          <a:xfrm>
            <a:off x="2797175" y="509270"/>
            <a:ext cx="547370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82a"/>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charset="-122"/>
                <a:cs typeface="Times New Roman" panose="02020603050405020304" pitchFamily="18" charset="0"/>
                <a:sym typeface="字由文艺黑" panose="00020600040101010101" charset="-122"/>
              </a:rPr>
              <a:t>8.3</a:t>
            </a:r>
            <a:endParaRPr lang="en-US" sz="12200" dirty="0">
              <a:solidFill>
                <a:srgbClr val="004AAD"/>
              </a:solidFill>
              <a:latin typeface="Times New Roman" panose="02020603050405020304" pitchFamily="18" charset="0"/>
              <a:ea typeface="微软雅黑" panose="020B050302020402020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charset="-122"/>
                <a:ea typeface="仿宋" panose="02010609060101010101" charset="-122"/>
                <a:cs typeface="字由文艺黑" panose="00020600040101010101" charset="-122"/>
                <a:sym typeface="字由文艺黑" panose="00020600040101010101" charset="-122"/>
              </a:rPr>
              <a:t>本章小结</a:t>
            </a:r>
            <a:endParaRPr lang="zh-CN" altLang="en-US" sz="9600" b="1" dirty="0">
              <a:solidFill>
                <a:srgbClr val="004AAD"/>
              </a:solidFill>
              <a:latin typeface="仿宋" panose="02010609060101010101" charset="-122"/>
              <a:ea typeface="仿宋" panose="02010609060101010101"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p>
            </p:txBody>
          </p:sp>
        </p:grpSp>
      </p:gr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charset="-122"/>
                  <a:ea typeface="仿宋" panose="02010609060101010101" charset="-122"/>
                </a:rPr>
                <a:t>密码学——基础理论与应用</a:t>
              </a:r>
              <a:endParaRPr lang="zh-CN" altLang="zh-CN" b="1" dirty="0">
                <a:solidFill>
                  <a:schemeClr val="tx2"/>
                </a:solidFill>
                <a:latin typeface="仿宋" panose="02010609060101010101" charset="-122"/>
                <a:ea typeface="仿宋" panose="02010609060101010101" charset="-122"/>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
        <p:nvSpPr>
          <p:cNvPr id="32" name="pagenum-82i"/>
          <p:cNvSpPr txBox="1"/>
          <p:nvPr>
            <p:custDataLst>
              <p:tags r:id="rId2"/>
            </p:custDataLst>
          </p:nvPr>
        </p:nvSpPr>
        <p:spPr>
          <a:xfrm>
            <a:off x="15636240" y="9456420"/>
            <a:ext cx="1950720" cy="350520"/>
          </a:xfrm>
          <a:prstGeom prst="rect">
            <a:avLst/>
          </a:prstGeom>
          <a:noFill/>
          <a:ln>
            <a:noFill/>
          </a:ln>
        </p:spPr>
        <p:txBody>
          <a:bodyPr wrap="square" lIns="0" tIns="0" rIns="0" bIns="0" rtlCol="0" anchor="ctr"/>
          <a:p>
            <a:pPr algn="r">
              <a:lnSpc>
                <a:spcPct val="120000"/>
              </a:lnSpc>
            </a:pPr>
            <a:r>
              <a:rPr lang="en-US" sz="1400" i="0" noProof="1">
                <a:solidFill>
                  <a:srgbClr val="FFC000"/>
                </a:solidFill>
                <a:latin typeface="Calibri" panose="020F0502020204030204"/>
                <a:ea typeface="Calibri" panose="020F0502020204030204"/>
              </a:rPr>
              <a:t>42</a:t>
            </a:r>
            <a:endParaRPr lang="en-US" sz="1400" noProof="1"/>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radbar-83a"/>
          <p:cNvSpPr/>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3" name="body-83a"/>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本章在介绍椭圆曲线相关原理的基础上，对ECC公钥密码体制进行了简单介绍。之后，在介绍素域上椭圆曲线概念的基础上，详细描述了SM2算法的原理、加密和解密过程及验证，并对SM2算法的安全性进行了分析。对我国公钥密码走向应用、形成自主知识产权的产品来说，SM2算法可谓是一场技术雨，它不仅提供加密功能，还提供数字签名功能和密钥协商功能，可以方便地服务于电子邮件、电子转账、电子商务及办公自动化等系统。随着应用市场对密码产品的需求不断扩大，密码编码与密码破译的对抗将进一步激活，密码又面临新的考验。</a:t>
            </a:r>
            <a:endParaRPr lang="en-US" sz="3600" noProof="1">
              <a:solidFill>
                <a:srgbClr val="000000"/>
              </a:solidFill>
              <a:latin typeface="Times New Roman" panose="02020603050405020304"/>
              <a:ea typeface="宋体" panose="02010600030101010101" pitchFamily="2" charset="-122"/>
            </a:endParaRPr>
          </a:p>
        </p:txBody>
      </p:sp>
      <p:sp>
        <p:nvSpPr>
          <p:cNvPr id="4" name="pagenum-83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43</a:t>
            </a:r>
            <a:endParaRPr lang="en-US" sz="1400" noProof="1"/>
          </a:p>
        </p:txBody>
      </p:sp>
      <p:sp>
        <p:nvSpPr>
          <p:cNvPr id="5" name="secnum-83a"/>
          <p:cNvSpPr txBox="1"/>
          <p:nvPr/>
        </p:nvSpPr>
        <p:spPr>
          <a:xfrm>
            <a:off x="1332865" y="509270"/>
            <a:ext cx="1049020" cy="843280"/>
          </a:xfrm>
          <a:prstGeom prst="rect">
            <a:avLst/>
          </a:prstGeom>
          <a:noFill/>
          <a:ln>
            <a:noFill/>
          </a:ln>
        </p:spPr>
        <p:txBody>
          <a:bodyPr wrap="square" lIns="0" tIns="0" rIns="0" bIns="0" rtlCol="0" anchor="t"/>
          <a:lstStyle/>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8.3</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6" name="sectitle-83a"/>
          <p:cNvSpPr txBox="1"/>
          <p:nvPr/>
        </p:nvSpPr>
        <p:spPr>
          <a:xfrm>
            <a:off x="2209800" y="509270"/>
            <a:ext cx="945896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本章小结</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7" name="logo-83a"/>
          <p:cNvPicPr/>
          <p:nvPr/>
        </p:nvPicPr>
        <p:blipFill>
          <a:blip r:embed="rId1">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10" name="bookhead-8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1" name="bookline-81a"/>
          <p:cNvPicPr/>
          <p:nvPr>
            <p:custDataLst>
              <p:tags r:id="rId3"/>
            </p:custDataLst>
          </p:nvPr>
        </p:nvPicPr>
        <p:blipFill>
          <a:blip r:embed="rId4"/>
          <a:stretch>
            <a:fillRect/>
          </a:stretch>
        </p:blipFill>
        <p:spPr>
          <a:xfrm>
            <a:off x="13731240" y="1102360"/>
            <a:ext cx="2771140" cy="46990"/>
          </a:xfrm>
          <a:prstGeom prst="rect">
            <a:avLst/>
          </a:prstGeom>
          <a:ln>
            <a:noFill/>
          </a:ln>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commondata" val="eyJoZGlkIjoiM2Q2NTU3ZTViNTE3NjNhYjBkYzRmZjQ0MWUwOWYwNWYifQ=="/>
</p:tagLst>
</file>

<file path=ppt/theme/theme1.xml><?xml version="1.0" encoding="utf-8"?>
<a:theme xmlns:a="http://schemas.openxmlformats.org/drawingml/2006/main" name="PPTD">
  <a:themeElements>
    <a:clrScheme name="PPTD">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10284</Words>
  <Application>WPS 演示</Application>
  <PresentationFormat/>
  <Paragraphs>734</Paragraphs>
  <Slides>43</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43</vt:i4>
      </vt:variant>
    </vt:vector>
  </HeadingPairs>
  <TitlesOfParts>
    <vt:vector size="60" baseType="lpstr">
      <vt:lpstr>Arial</vt:lpstr>
      <vt:lpstr>宋体</vt:lpstr>
      <vt:lpstr>Wingdings</vt:lpstr>
      <vt:lpstr>仿宋</vt:lpstr>
      <vt:lpstr>Calibri</vt:lpstr>
      <vt:lpstr>Times New Roman</vt:lpstr>
      <vt:lpstr>字由文艺黑</vt:lpstr>
      <vt:lpstr>微软雅黑</vt:lpstr>
      <vt:lpstr>Times New Roman</vt:lpstr>
      <vt:lpstr>Cambria Math</vt:lpstr>
      <vt:lpstr>MiSans</vt:lpstr>
      <vt:lpstr>MiSans Semibold</vt:lpstr>
      <vt:lpstr>Arial Unicode MS</vt:lpstr>
      <vt:lpstr>MS Mincho</vt:lpstr>
      <vt:lpstr>Segoe Print</vt:lpstr>
      <vt:lpstr>Calibri</vt:lpstr>
      <vt:lpstr>PPTD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第八章 SM2公钥密码算法</dc:title>
  <dc:creator/>
  <cp:lastModifiedBy>杨妮</cp:lastModifiedBy>
  <cp:revision>49</cp:revision>
  <dcterms:created xsi:type="dcterms:W3CDTF">2026-10-06T08:40:00Z</dcterms:created>
  <dcterms:modified xsi:type="dcterms:W3CDTF">2026-10-09T11:20:54Z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
  </property>
  <property fmtid="{D5CDD505-2E9C-101B-9397-08002B2CF9AE}" pid="3" name="ICV">
    <vt:lpwstr>E89E18A6E93142F19C02AADD218D6E2A_12</vt:lpwstr>
  </property>
  <property fmtid="{D5CDD505-2E9C-101B-9397-08002B2CF9AE}" pid="4" name="KSOProductBuildVer">
    <vt:lpwstr>2052-12.1.0.28505</vt:lpwstr>
  </property>
</Properties>
</file>