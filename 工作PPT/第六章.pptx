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tiff" ContentType="image/tif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16"/>
  </p:notesMasterIdLst>
  <p:sldIdLst>
    <p:sldId id="256" r:id="rId3"/>
    <p:sldId id="257" r:id="rId4"/>
    <p:sldId id="258" r:id="rId5"/>
    <p:sldId id="259" r:id="rId6"/>
    <p:sldId id="342" r:id="rId7"/>
    <p:sldId id="263" r:id="rId8"/>
    <p:sldId id="344" r:id="rId9"/>
    <p:sldId id="345" r:id="rId10"/>
    <p:sldId id="346" r:id="rId11"/>
    <p:sldId id="347" r:id="rId12"/>
    <p:sldId id="380" r:id="rId13"/>
    <p:sldId id="381" r:id="rId14"/>
    <p:sldId id="382" r:id="rId15"/>
    <p:sldId id="348" r:id="rId17"/>
    <p:sldId id="349" r:id="rId18"/>
    <p:sldId id="374" r:id="rId19"/>
    <p:sldId id="264" r:id="rId20"/>
    <p:sldId id="350" r:id="rId21"/>
    <p:sldId id="351" r:id="rId22"/>
    <p:sldId id="352" r:id="rId23"/>
    <p:sldId id="353" r:id="rId24"/>
    <p:sldId id="354" r:id="rId25"/>
    <p:sldId id="383" r:id="rId26"/>
    <p:sldId id="384" r:id="rId27"/>
    <p:sldId id="385" r:id="rId28"/>
    <p:sldId id="386" r:id="rId29"/>
    <p:sldId id="387" r:id="rId30"/>
    <p:sldId id="388" r:id="rId31"/>
    <p:sldId id="375" r:id="rId32"/>
    <p:sldId id="356" r:id="rId33"/>
    <p:sldId id="394" r:id="rId34"/>
    <p:sldId id="395" r:id="rId35"/>
    <p:sldId id="396" r:id="rId36"/>
    <p:sldId id="393" r:id="rId37"/>
    <p:sldId id="376" r:id="rId38"/>
    <p:sldId id="400" r:id="rId39"/>
    <p:sldId id="399" r:id="rId40"/>
    <p:sldId id="398" r:id="rId41"/>
    <p:sldId id="379" r:id="rId42"/>
    <p:sldId id="340" r:id="rId43"/>
  </p:sldIdLst>
  <p:sldSz cx="18288000" cy="10287000"/>
  <p:notesSz cx="6858000" cy="9144000"/>
  <p:embeddedFontLst>
    <p:embeddedFont>
      <p:font typeface="仿宋" panose="02010609060101010101" pitchFamily="49" charset="-122"/>
      <p:regular r:id="rId47"/>
    </p:embeddedFont>
    <p:embeddedFont>
      <p:font typeface="字由文艺黑" panose="00020600040101010101" charset="-122"/>
      <p:regular r:id="rId48"/>
    </p:embeddedFont>
    <p:embeddedFont>
      <p:font typeface="微软雅黑" panose="020B0503020204020204" pitchFamily="34" charset="-122"/>
      <p:regular r:id="rId49"/>
      <p:bold r:id="rId50"/>
    </p:embeddedFont>
    <p:embeddedFont>
      <p:font typeface="Calibri" panose="020F0502020204030204" charset="0"/>
      <p:regular r:id="rId51"/>
      <p:bold r:id="rId52"/>
      <p:italic r:id="rId53"/>
      <p:boldItalic r:id="rId54"/>
    </p:embeddedFont>
    <p:embeddedFont>
      <p:font typeface="等线" panose="02010600030101010101" charset="-122"/>
      <p:regular r:id="rId55"/>
      <p:bold r:id="rId5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70" userDrawn="1">
          <p15:clr>
            <a:srgbClr val="A4A3A4"/>
          </p15:clr>
        </p15:guide>
        <p15:guide id="2" pos="285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AA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3772" autoAdjust="0"/>
  </p:normalViewPr>
  <p:slideViewPr>
    <p:cSldViewPr showGuides="1">
      <p:cViewPr varScale="1">
        <p:scale>
          <a:sx n="52" d="100"/>
          <a:sy n="52" d="100"/>
        </p:scale>
        <p:origin x="638" y="43"/>
      </p:cViewPr>
      <p:guideLst>
        <p:guide orient="horz" pos="2270"/>
        <p:guide pos="2858"/>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6" Type="http://schemas.openxmlformats.org/officeDocument/2006/relationships/font" Target="fonts/font10.fntdata"/><Relationship Id="rId55" Type="http://schemas.openxmlformats.org/officeDocument/2006/relationships/font" Target="fonts/font9.fntdata"/><Relationship Id="rId54" Type="http://schemas.openxmlformats.org/officeDocument/2006/relationships/font" Target="fonts/font8.fntdata"/><Relationship Id="rId53" Type="http://schemas.openxmlformats.org/officeDocument/2006/relationships/font" Target="fonts/font7.fntdata"/><Relationship Id="rId52" Type="http://schemas.openxmlformats.org/officeDocument/2006/relationships/font" Target="fonts/font6.fntdata"/><Relationship Id="rId51" Type="http://schemas.openxmlformats.org/officeDocument/2006/relationships/font" Target="fonts/font5.fntdata"/><Relationship Id="rId50" Type="http://schemas.openxmlformats.org/officeDocument/2006/relationships/font" Target="fonts/font4.fntdata"/><Relationship Id="rId5" Type="http://schemas.openxmlformats.org/officeDocument/2006/relationships/slide" Target="slides/slide3.xml"/><Relationship Id="rId49" Type="http://schemas.openxmlformats.org/officeDocument/2006/relationships/font" Target="fonts/font3.fntdata"/><Relationship Id="rId48" Type="http://schemas.openxmlformats.org/officeDocument/2006/relationships/font" Target="fonts/font2.fntdata"/><Relationship Id="rId47" Type="http://schemas.openxmlformats.org/officeDocument/2006/relationships/font" Target="fonts/font1.fntdata"/><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35.wmf"/><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EE3807-13F1-414E-9D90-B8B02AA7D69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F29F18-BE30-4173-ABC4-195AE047BC1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2F29F18-BE30-4173-ABC4-195AE047BC1B}"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2F29F18-BE30-4173-ABC4-195AE047BC1B}"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08A9D339-BB5B-4C3A-B2B7-9CBB9C4E47C0}"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81B71CB-29D2-4DBC-AF2A-1FCC5F563C20}"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C9BFDBF-5092-470D-8664-8CBF468710CC}"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382533AF-406D-4B06-BB6E-C528BCCECD7B}" type="datetime1">
              <a:rPr lang="en-US" altLang="zh-C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EE21CCE8-BB93-4A75-96D3-864F731A74B5}" type="datetime1">
              <a:rPr lang="en-US" altLang="zh-CN"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EB7703C6-7AC3-4921-B780-5ADEF8FE5013}" type="datetime1">
              <a:rPr lang="en-US" altLang="zh-CN" smtClean="0"/>
            </a:fld>
            <a:endParaRPr lang="en-US"/>
          </a:p>
        </p:txBody>
      </p:sp>
      <p:sp>
        <p:nvSpPr>
          <p:cNvPr id="4" name="Footer Placeholder 3"/>
          <p:cNvSpPr>
            <a:spLocks noGrp="1"/>
          </p:cNvSpPr>
          <p:nvPr>
            <p:ph type="ftr" sz="quarter" idx="11"/>
          </p:nvPr>
        </p:nvSpPr>
        <p:spPr/>
        <p:txBody>
          <a:bodyPr/>
          <a:lstStyle/>
          <a:p>
            <a:endParaRPr lang="en-US"/>
          </a:p>
        </p:txBody>
      </p:sp>
      <p:sp>
        <p:nvSpPr>
          <p:cNvPr id="6" name="Slide Number Placeholder 3"/>
          <p:cNvSpPr txBox="1"/>
          <p:nvPr userDrawn="1"/>
        </p:nvSpPr>
        <p:spPr>
          <a:xfrm>
            <a:off x="15544800" y="9563100"/>
            <a:ext cx="2133600" cy="441325"/>
          </a:xfrm>
          <a:prstGeom prst="rect">
            <a:avLst/>
          </a:prstGeom>
        </p:spPr>
        <p:txBody>
          <a:bodyPr vert="horz" lIns="91440" tIns="45720" rIns="91440" bIns="45720" rtlCol="0" anchor="ctr"/>
          <a:lstStyle>
            <a:defPPr>
              <a:defRPr lang="en-US"/>
            </a:defPPr>
            <a:lvl1pPr marL="0" algn="r" defTabSz="914400" rtl="0" eaLnBrk="1" latinLnBrk="0" hangingPunct="1">
              <a:defRPr sz="1400" kern="1200" baseline="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B6F15528-21DE-4FAA-801E-634DDDAF4B2B}"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49045E-F8C2-41C8-ADE6-89BE560A61ED}" type="datetime1">
              <a:rPr lang="en-US" altLang="zh-CN"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15544800" y="9410700"/>
            <a:ext cx="2133600" cy="441325"/>
          </a:xfrm>
        </p:spPr>
        <p:txBody>
          <a:bodyPr/>
          <a:lstStyle>
            <a:lvl1pPr algn="r">
              <a:defRPr sz="1400" baseline="0">
                <a:solidFill>
                  <a:srgbClr val="FFC000"/>
                </a:solidFill>
              </a:defRPr>
            </a:lvl1pPr>
          </a:lstStyle>
          <a:p>
            <a:fld id="{B6F15528-21DE-4FAA-801E-634DDDAF4B2B}"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CA39D223-DDBD-403C-82E7-9E2EAEADB10F}" type="datetime1">
              <a:rPr lang="en-US" altLang="zh-C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3BCA9BF3-DE70-496E-B987-2B997E53C5A7}" type="datetime1">
              <a:rPr lang="en-US" altLang="zh-C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A1230D09-9DB0-4520-9696-351536FFCB52}"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DADFA8B1-0659-4802-8546-A40933AC0B00}"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FFFF">
                <a:alpha val="0"/>
              </a:srgbClr>
            </a:gs>
            <a:gs pos="100000">
              <a:srgbClr val="DEE9FF">
                <a:alpha val="100000"/>
              </a:srgbClr>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B057E3-1096-4013-ADF6-9F6D6B2EF579}" type="datetime1">
              <a:rPr lang="en-US" altLang="zh-CN"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2" Type="http://schemas.openxmlformats.org/officeDocument/2006/relationships/slideLayout" Target="../slideLayouts/slideLayout7.xml"/><Relationship Id="rId11" Type="http://schemas.openxmlformats.org/officeDocument/2006/relationships/image" Target="../media/image1.png"/><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tiff"/><Relationship Id="rId2" Type="http://schemas.openxmlformats.org/officeDocument/2006/relationships/image" Target="../media/image1.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slideLayout" Target="../slideLayouts/slideLayout7.xml"/><Relationship Id="rId5" Type="http://schemas.openxmlformats.org/officeDocument/2006/relationships/oleObject" Target="../embeddings/oleObject2.bin"/><Relationship Id="rId4" Type="http://schemas.openxmlformats.org/officeDocument/2006/relationships/image" Target="../media/image7.wmf"/><Relationship Id="rId3" Type="http://schemas.openxmlformats.org/officeDocument/2006/relationships/oleObject" Target="../embeddings/oleObject1.bin"/><Relationship Id="rId2" Type="http://schemas.openxmlformats.org/officeDocument/2006/relationships/image" Target="../media/image1.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7.xml"/><Relationship Id="rId4" Type="http://schemas.openxmlformats.org/officeDocument/2006/relationships/image" Target="../media/image14.png"/><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8.tiff"/><Relationship Id="rId2" Type="http://schemas.openxmlformats.org/officeDocument/2006/relationships/image" Target="../media/image1.pn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19.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20.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21.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22.pn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4.tiff"/><Relationship Id="rId2" Type="http://schemas.openxmlformats.org/officeDocument/2006/relationships/image" Target="../media/image1.png"/><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25.pn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26.pn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27.pn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28.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29.pn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31.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6.bin"/><Relationship Id="rId8" Type="http://schemas.openxmlformats.org/officeDocument/2006/relationships/image" Target="../media/image34.wmf"/><Relationship Id="rId7" Type="http://schemas.openxmlformats.org/officeDocument/2006/relationships/oleObject" Target="../embeddings/oleObject5.bin"/><Relationship Id="rId6" Type="http://schemas.openxmlformats.org/officeDocument/2006/relationships/image" Target="../media/image33.wmf"/><Relationship Id="rId5" Type="http://schemas.openxmlformats.org/officeDocument/2006/relationships/oleObject" Target="../embeddings/oleObject4.bin"/><Relationship Id="rId4" Type="http://schemas.openxmlformats.org/officeDocument/2006/relationships/image" Target="../media/image32.wmf"/><Relationship Id="rId3" Type="http://schemas.openxmlformats.org/officeDocument/2006/relationships/oleObject" Target="../embeddings/oleObject3.bin"/><Relationship Id="rId2" Type="http://schemas.openxmlformats.org/officeDocument/2006/relationships/image" Target="../media/image1.png"/><Relationship Id="rId12" Type="http://schemas.openxmlformats.org/officeDocument/2006/relationships/vmlDrawing" Target="../drawings/vmlDrawing2.vml"/><Relationship Id="rId11" Type="http://schemas.openxmlformats.org/officeDocument/2006/relationships/slideLayout" Target="../slideLayouts/slideLayout7.xml"/><Relationship Id="rId10" Type="http://schemas.openxmlformats.org/officeDocument/2006/relationships/image" Target="../media/image35.wmf"/><Relationship Id="rId1"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36.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5340279" y="765907"/>
            <a:ext cx="7607443" cy="760744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endParaRPr lang="zh-CN" altLang="en-US"/>
            </a:p>
          </p:txBody>
        </p:sp>
        <p:sp>
          <p:nvSpPr>
            <p:cNvPr id="4" name="TextBox 4"/>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sp>
        <p:nvSpPr>
          <p:cNvPr id="12" name="TextBox 12"/>
          <p:cNvSpPr txBox="1"/>
          <p:nvPr/>
        </p:nvSpPr>
        <p:spPr>
          <a:xfrm>
            <a:off x="1925612" y="2707517"/>
            <a:ext cx="14436775" cy="1655966"/>
          </a:xfrm>
          <a:prstGeom prst="rect">
            <a:avLst/>
          </a:prstGeom>
        </p:spPr>
        <p:txBody>
          <a:bodyPr wrap="square" lIns="0" tIns="0" rIns="0" bIns="0" rtlCol="0" anchor="t">
            <a:spAutoFit/>
          </a:bodyPr>
          <a:lstStyle/>
          <a:p>
            <a:pPr algn="ctr">
              <a:lnSpc>
                <a:spcPts val="14935"/>
              </a:lnSpc>
            </a:pPr>
            <a:r>
              <a:rPr lang="zh-CN" altLang="en-US" sz="103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a:t>
            </a:r>
            <a:r>
              <a:rPr lang="en-US" altLang="zh-CN" sz="103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t>
            </a:r>
            <a:r>
              <a:rPr lang="zh-CN" altLang="en-US" sz="103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基础理论与应用</a:t>
            </a:r>
            <a:endParaRPr lang="zh-CN" altLang="en-US" sz="103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13" name="Group 13"/>
          <p:cNvGrpSpPr/>
          <p:nvPr/>
        </p:nvGrpSpPr>
        <p:grpSpPr>
          <a:xfrm>
            <a:off x="780296" y="3604350"/>
            <a:ext cx="16727408" cy="1438536"/>
            <a:chOff x="0" y="0"/>
            <a:chExt cx="22303210" cy="1918048"/>
          </a:xfrm>
        </p:grpSpPr>
        <p:grpSp>
          <p:nvGrpSpPr>
            <p:cNvPr id="14" name="Group 14"/>
            <p:cNvGrpSpPr/>
            <p:nvPr/>
          </p:nvGrpSpPr>
          <p:grpSpPr>
            <a:xfrm>
              <a:off x="0" y="0"/>
              <a:ext cx="237212" cy="23721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6" name="TextBox 16"/>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7" name="Group 17"/>
            <p:cNvGrpSpPr/>
            <p:nvPr/>
          </p:nvGrpSpPr>
          <p:grpSpPr>
            <a:xfrm>
              <a:off x="0" y="560278"/>
              <a:ext cx="237212" cy="23721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9" name="TextBox 19"/>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0" name="Group 20"/>
            <p:cNvGrpSpPr/>
            <p:nvPr/>
          </p:nvGrpSpPr>
          <p:grpSpPr>
            <a:xfrm>
              <a:off x="0" y="1120557"/>
              <a:ext cx="237212" cy="23721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2" name="TextBox 22"/>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3" name="Group 23"/>
            <p:cNvGrpSpPr/>
            <p:nvPr/>
          </p:nvGrpSpPr>
          <p:grpSpPr>
            <a:xfrm>
              <a:off x="0" y="1680835"/>
              <a:ext cx="237212" cy="237212"/>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5" name="TextBox 25"/>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6" name="Group 26"/>
            <p:cNvGrpSpPr/>
            <p:nvPr/>
          </p:nvGrpSpPr>
          <p:grpSpPr>
            <a:xfrm>
              <a:off x="22065998" y="0"/>
              <a:ext cx="237212" cy="237212"/>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8" name="TextBox 28"/>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9" name="Group 29"/>
            <p:cNvGrpSpPr/>
            <p:nvPr/>
          </p:nvGrpSpPr>
          <p:grpSpPr>
            <a:xfrm>
              <a:off x="22065998" y="560278"/>
              <a:ext cx="237212" cy="237212"/>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31" name="TextBox 31"/>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32" name="Group 32"/>
            <p:cNvGrpSpPr/>
            <p:nvPr/>
          </p:nvGrpSpPr>
          <p:grpSpPr>
            <a:xfrm>
              <a:off x="22065998" y="1120557"/>
              <a:ext cx="237212" cy="237212"/>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34" name="TextBox 34"/>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35" name="Group 35"/>
            <p:cNvGrpSpPr/>
            <p:nvPr/>
          </p:nvGrpSpPr>
          <p:grpSpPr>
            <a:xfrm>
              <a:off x="22065998" y="1680835"/>
              <a:ext cx="237212" cy="237212"/>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37" name="TextBox 37"/>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sp>
        <p:nvSpPr>
          <p:cNvPr id="38" name="TextBox 38"/>
          <p:cNvSpPr txBox="1"/>
          <p:nvPr/>
        </p:nvSpPr>
        <p:spPr>
          <a:xfrm>
            <a:off x="2183389" y="5333657"/>
            <a:ext cx="13921220" cy="1230630"/>
          </a:xfrm>
          <a:prstGeom prst="rect">
            <a:avLst/>
          </a:prstGeom>
        </p:spPr>
        <p:txBody>
          <a:bodyPr lIns="0" tIns="0" rIns="0" bIns="0" rtlCol="0" anchor="t">
            <a:spAutoFit/>
          </a:bodyPr>
          <a:lstStyle/>
          <a:p>
            <a:pPr algn="ctr">
              <a:lnSpc>
                <a:spcPts val="9600"/>
              </a:lnSpc>
            </a:pPr>
            <a:r>
              <a:rPr lang="zh-CN" altLang="en-US" sz="80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第六章</a:t>
            </a:r>
            <a:r>
              <a:rPr lang="en-US" altLang="zh-CN" sz="80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 </a:t>
            </a:r>
            <a:r>
              <a:rPr lang="zh-CN" altLang="en-US" sz="80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祖冲之序列密码</a:t>
            </a:r>
            <a:endParaRPr lang="zh-CN" altLang="en-US" sz="80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41" name="Group 41"/>
          <p:cNvGrpSpPr/>
          <p:nvPr/>
        </p:nvGrpSpPr>
        <p:grpSpPr>
          <a:xfrm>
            <a:off x="-1299970" y="8495193"/>
            <a:ext cx="21159211" cy="1929995"/>
            <a:chOff x="0" y="0"/>
            <a:chExt cx="28212281" cy="2573326"/>
          </a:xfrm>
        </p:grpSpPr>
        <p:grpSp>
          <p:nvGrpSpPr>
            <p:cNvPr id="42" name="Group 42"/>
            <p:cNvGrpSpPr/>
            <p:nvPr/>
          </p:nvGrpSpPr>
          <p:grpSpPr>
            <a:xfrm>
              <a:off x="361694" y="0"/>
              <a:ext cx="27850587" cy="2024584"/>
              <a:chOff x="0" y="0"/>
              <a:chExt cx="5501351" cy="399918"/>
            </a:xfrm>
          </p:grpSpPr>
          <p:sp>
            <p:nvSpPr>
              <p:cNvPr id="43" name="Freeform 43"/>
              <p:cNvSpPr/>
              <p:nvPr/>
            </p:nvSpPr>
            <p:spPr>
              <a:xfrm>
                <a:off x="0" y="0"/>
                <a:ext cx="5501351" cy="399918"/>
              </a:xfrm>
              <a:custGeom>
                <a:avLst/>
                <a:gdLst/>
                <a:ahLst/>
                <a:cxnLst/>
                <a:rect l="l" t="t" r="r" b="b"/>
                <a:pathLst>
                  <a:path w="5501351" h="399918">
                    <a:moveTo>
                      <a:pt x="18903" y="0"/>
                    </a:moveTo>
                    <a:lnTo>
                      <a:pt x="5482448" y="0"/>
                    </a:lnTo>
                    <a:cubicBezTo>
                      <a:pt x="5487461" y="0"/>
                      <a:pt x="5492269" y="1992"/>
                      <a:pt x="5495814" y="5536"/>
                    </a:cubicBezTo>
                    <a:cubicBezTo>
                      <a:pt x="5499359" y="9081"/>
                      <a:pt x="5501351" y="13889"/>
                      <a:pt x="5501351" y="18903"/>
                    </a:cubicBezTo>
                    <a:lnTo>
                      <a:pt x="5501351" y="381015"/>
                    </a:lnTo>
                    <a:cubicBezTo>
                      <a:pt x="5501351" y="391455"/>
                      <a:pt x="5492888" y="399918"/>
                      <a:pt x="5482448" y="399918"/>
                    </a:cubicBezTo>
                    <a:lnTo>
                      <a:pt x="18903" y="399918"/>
                    </a:lnTo>
                    <a:cubicBezTo>
                      <a:pt x="8463" y="399918"/>
                      <a:pt x="0" y="391455"/>
                      <a:pt x="0" y="381015"/>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44" name="TextBox 44"/>
              <p:cNvSpPr txBox="1"/>
              <p:nvPr/>
            </p:nvSpPr>
            <p:spPr>
              <a:xfrm>
                <a:off x="0" y="0"/>
                <a:ext cx="5501351" cy="399918"/>
              </a:xfrm>
              <a:prstGeom prst="rect">
                <a:avLst/>
              </a:prstGeom>
            </p:spPr>
            <p:txBody>
              <a:bodyPr lIns="50800" tIns="50800" rIns="50800" bIns="50800" rtlCol="0" anchor="ctr"/>
              <a:lstStyle/>
              <a:p>
                <a:pPr algn="ctr">
                  <a:lnSpc>
                    <a:spcPts val="2880"/>
                  </a:lnSpc>
                </a:pPr>
              </a:p>
            </p:txBody>
          </p:sp>
        </p:grpSp>
        <p:grpSp>
          <p:nvGrpSpPr>
            <p:cNvPr id="45" name="Group 45"/>
            <p:cNvGrpSpPr/>
            <p:nvPr/>
          </p:nvGrpSpPr>
          <p:grpSpPr>
            <a:xfrm>
              <a:off x="0" y="282042"/>
              <a:ext cx="27850587" cy="2291284"/>
              <a:chOff x="0" y="0"/>
              <a:chExt cx="5501351" cy="452599"/>
            </a:xfrm>
          </p:grpSpPr>
          <p:sp>
            <p:nvSpPr>
              <p:cNvPr id="46" name="Freeform 46"/>
              <p:cNvSpPr/>
              <p:nvPr/>
            </p:nvSpPr>
            <p:spPr>
              <a:xfrm>
                <a:off x="0" y="0"/>
                <a:ext cx="5501351" cy="452599"/>
              </a:xfrm>
              <a:custGeom>
                <a:avLst/>
                <a:gdLst/>
                <a:ahLst/>
                <a:cxnLst/>
                <a:rect l="l" t="t" r="r" b="b"/>
                <a:pathLst>
                  <a:path w="5501351" h="452599">
                    <a:moveTo>
                      <a:pt x="18903" y="0"/>
                    </a:moveTo>
                    <a:lnTo>
                      <a:pt x="5482448" y="0"/>
                    </a:lnTo>
                    <a:cubicBezTo>
                      <a:pt x="5487461" y="0"/>
                      <a:pt x="5492269" y="1992"/>
                      <a:pt x="5495814" y="5536"/>
                    </a:cubicBezTo>
                    <a:cubicBezTo>
                      <a:pt x="5499359" y="9081"/>
                      <a:pt x="5501351" y="13889"/>
                      <a:pt x="5501351" y="18903"/>
                    </a:cubicBezTo>
                    <a:lnTo>
                      <a:pt x="5501351" y="433697"/>
                    </a:lnTo>
                    <a:cubicBezTo>
                      <a:pt x="5501351" y="444136"/>
                      <a:pt x="5492888" y="452599"/>
                      <a:pt x="5482448" y="452599"/>
                    </a:cubicBezTo>
                    <a:lnTo>
                      <a:pt x="18903" y="452599"/>
                    </a:lnTo>
                    <a:cubicBezTo>
                      <a:pt x="8463" y="452599"/>
                      <a:pt x="0" y="444136"/>
                      <a:pt x="0" y="433697"/>
                    </a:cubicBezTo>
                    <a:lnTo>
                      <a:pt x="0" y="18903"/>
                    </a:lnTo>
                    <a:cubicBezTo>
                      <a:pt x="0" y="8463"/>
                      <a:pt x="8463" y="0"/>
                      <a:pt x="18903" y="0"/>
                    </a:cubicBezTo>
                    <a:close/>
                  </a:path>
                </a:pathLst>
              </a:custGeom>
              <a:solidFill>
                <a:srgbClr val="013E7C"/>
              </a:solidFill>
            </p:spPr>
            <p:txBody>
              <a:bodyPr/>
              <a:lstStyle/>
              <a:p>
                <a:endParaRPr lang="zh-CN" altLang="en-US" dirty="0"/>
              </a:p>
            </p:txBody>
          </p:sp>
          <p:sp>
            <p:nvSpPr>
              <p:cNvPr id="47" name="TextBox 47"/>
              <p:cNvSpPr txBox="1"/>
              <p:nvPr/>
            </p:nvSpPr>
            <p:spPr>
              <a:xfrm>
                <a:off x="0" y="0"/>
                <a:ext cx="5501351" cy="452599"/>
              </a:xfrm>
              <a:prstGeom prst="rect">
                <a:avLst/>
              </a:prstGeom>
            </p:spPr>
            <p:txBody>
              <a:bodyPr lIns="50800" tIns="50800" rIns="50800" bIns="50800" rtlCol="0" anchor="ctr"/>
              <a:lstStyle/>
              <a:p>
                <a:pPr algn="ctr">
                  <a:lnSpc>
                    <a:spcPts val="2880"/>
                  </a:lnSpc>
                </a:pPr>
              </a:p>
            </p:txBody>
          </p:sp>
        </p:grpSp>
      </p:grpSp>
      <p:sp>
        <p:nvSpPr>
          <p:cNvPr id="7" name="灯片编号占位符 6"/>
          <p:cNvSpPr>
            <a:spLocks noGrp="1"/>
          </p:cNvSpPr>
          <p:nvPr>
            <p:ph type="sldNum" sz="quarter" idx="12"/>
          </p:nvPr>
        </p:nvSpPr>
        <p:spPr>
          <a:xfrm>
            <a:off x="15352206" y="9254412"/>
            <a:ext cx="2133600" cy="365125"/>
          </a:xfrm>
        </p:spPr>
        <p:txBody>
          <a:bodyPr/>
          <a:lstStyle/>
          <a:p>
            <a:fld id="{B6F15528-21DE-4FAA-801E-634DDDAF4B2B}" type="slidenum">
              <a:rPr lang="en-US" smtClean="0"/>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grpSp>
        <p:nvGrpSpPr>
          <p:cNvPr id="27" name="Group 27"/>
          <p:cNvGrpSpPr/>
          <p:nvPr/>
        </p:nvGrpSpPr>
        <p:grpSpPr>
          <a:xfrm>
            <a:off x="2744623" y="3196873"/>
            <a:ext cx="2745105" cy="3175806"/>
            <a:chOff x="-263312" y="-171450"/>
            <a:chExt cx="3660140" cy="4234407"/>
          </a:xfrm>
        </p:grpSpPr>
        <p:sp>
          <p:nvSpPr>
            <p:cNvPr id="28" name="TextBox 28"/>
            <p:cNvSpPr txBox="1"/>
            <p:nvPr/>
          </p:nvSpPr>
          <p:spPr>
            <a:xfrm>
              <a:off x="8311" y="-171450"/>
              <a:ext cx="3115717" cy="4234407"/>
            </a:xfrm>
            <a:prstGeom prst="rect">
              <a:avLst/>
            </a:prstGeom>
          </p:spPr>
          <p:txBody>
            <a:bodyPr lIns="0" tIns="0" rIns="0" bIns="0" rtlCol="0" anchor="t">
              <a:spAutoFit/>
            </a:bodyPr>
            <a:lstStyle/>
            <a:p>
              <a:pPr algn="ctr">
                <a:lnSpc>
                  <a:spcPts val="12880"/>
                </a:lnSpc>
              </a:pPr>
              <a:r>
                <a:rPr lang="en-US" sz="9200" b="1" dirty="0" err="1">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目录</a:t>
              </a:r>
              <a:endParaRPr lang="en-US" sz="92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29" name="TextBox 29"/>
            <p:cNvSpPr txBox="1"/>
            <p:nvPr/>
          </p:nvSpPr>
          <p:spPr>
            <a:xfrm>
              <a:off x="-263312" y="1713230"/>
              <a:ext cx="3660140" cy="658813"/>
            </a:xfrm>
            <a:prstGeom prst="rect">
              <a:avLst/>
            </a:prstGeom>
          </p:spPr>
          <p:txBody>
            <a:bodyPr wrap="square" lIns="0" tIns="0" rIns="0" bIns="0" rtlCol="0" anchor="t">
              <a:spAutoFit/>
            </a:bodyPr>
            <a:lstStyle/>
            <a:p>
              <a:pPr algn="ctr">
                <a:lnSpc>
                  <a:spcPts val="4200"/>
                </a:lnSpc>
              </a:pPr>
              <a:r>
                <a:rPr lang="en-US" sz="3000" dirty="0">
                  <a:solidFill>
                    <a:srgbClr val="004AAD"/>
                  </a:solidFill>
                  <a:latin typeface="Times New Roman" panose="02020603050405020304" pitchFamily="18" charset="0"/>
                  <a:ea typeface="字由文艺黑" panose="00020600040101010101" charset="-122"/>
                  <a:cs typeface="Times New Roman" panose="02020603050405020304" pitchFamily="18" charset="0"/>
                  <a:sym typeface="字由文艺黑" panose="00020600040101010101" charset="-122"/>
                </a:rPr>
                <a:t>CONTENTS</a:t>
              </a:r>
              <a:endParaRPr lang="en-US" sz="3000" dirty="0">
                <a:solidFill>
                  <a:srgbClr val="004AAD"/>
                </a:solidFill>
                <a:latin typeface="Times New Roman" panose="02020603050405020304" pitchFamily="18" charset="0"/>
                <a:ea typeface="字由文艺黑" panose="00020600040101010101" charset="-122"/>
                <a:cs typeface="Times New Roman" panose="02020603050405020304" pitchFamily="18" charset="0"/>
                <a:sym typeface="字由文艺黑" panose="00020600040101010101" charset="-122"/>
              </a:endParaRPr>
            </a:p>
          </p:txBody>
        </p:sp>
      </p:grpSp>
      <p:sp>
        <p:nvSpPr>
          <p:cNvPr id="33" name="TextBox 33"/>
          <p:cNvSpPr txBox="1"/>
          <p:nvPr>
            <p:custDataLst>
              <p:tags r:id="rId1"/>
            </p:custDataLst>
          </p:nvPr>
        </p:nvSpPr>
        <p:spPr>
          <a:xfrm>
            <a:off x="6885192" y="2301206"/>
            <a:ext cx="836133" cy="717550"/>
          </a:xfrm>
          <a:prstGeom prst="rect">
            <a:avLst/>
          </a:prstGeom>
        </p:spPr>
        <p:txBody>
          <a:bodyPr lIns="0" tIns="0" rIns="0" bIns="0" rtlCol="0" anchor="t">
            <a:spAutoFit/>
          </a:bodyPr>
          <a:lstStyle/>
          <a:p>
            <a:pPr algn="ctr">
              <a:lnSpc>
                <a:spcPts val="5600"/>
              </a:lnSpc>
            </a:pPr>
            <a:r>
              <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6.1</a:t>
            </a:r>
            <a:endPar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4" name="TextBox 34"/>
          <p:cNvSpPr txBox="1"/>
          <p:nvPr>
            <p:custDataLst>
              <p:tags r:id="rId2"/>
            </p:custDataLst>
          </p:nvPr>
        </p:nvSpPr>
        <p:spPr>
          <a:xfrm>
            <a:off x="8229600" y="2301249"/>
            <a:ext cx="5664200" cy="658495"/>
          </a:xfrm>
          <a:prstGeom prst="rect">
            <a:avLst/>
          </a:prstGeom>
        </p:spPr>
        <p:txBody>
          <a:bodyPr wrap="square" lIns="0" tIns="0" rIns="0" bIns="0" rtlCol="0" anchor="t">
            <a:noAutofit/>
          </a:bodyPr>
          <a:lstStyle/>
          <a:p>
            <a:pPr algn="l">
              <a:lnSpc>
                <a:spcPts val="5880"/>
              </a:lnSpc>
            </a:pPr>
            <a:r>
              <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祖冲之序列密码算法</a:t>
            </a:r>
            <a:endPar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38" name="TextBox 38"/>
          <p:cNvSpPr txBox="1"/>
          <p:nvPr>
            <p:custDataLst>
              <p:tags r:id="rId3"/>
            </p:custDataLst>
          </p:nvPr>
        </p:nvSpPr>
        <p:spPr>
          <a:xfrm>
            <a:off x="6885192" y="3286091"/>
            <a:ext cx="923721" cy="717550"/>
          </a:xfrm>
          <a:prstGeom prst="rect">
            <a:avLst/>
          </a:prstGeom>
        </p:spPr>
        <p:txBody>
          <a:bodyPr lIns="0" tIns="0" rIns="0" bIns="0" rtlCol="0" anchor="t">
            <a:spAutoFit/>
          </a:bodyPr>
          <a:lstStyle/>
          <a:p>
            <a:pPr algn="ctr">
              <a:lnSpc>
                <a:spcPts val="5600"/>
              </a:lnSpc>
            </a:pPr>
            <a:r>
              <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6.2</a:t>
            </a:r>
            <a:endPar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43" name="TextBox 43"/>
          <p:cNvSpPr txBox="1"/>
          <p:nvPr>
            <p:custDataLst>
              <p:tags r:id="rId4"/>
            </p:custDataLst>
          </p:nvPr>
        </p:nvSpPr>
        <p:spPr>
          <a:xfrm>
            <a:off x="6904857" y="4190966"/>
            <a:ext cx="923721" cy="717550"/>
          </a:xfrm>
          <a:prstGeom prst="rect">
            <a:avLst/>
          </a:prstGeom>
        </p:spPr>
        <p:txBody>
          <a:bodyPr lIns="0" tIns="0" rIns="0" bIns="0" rtlCol="0" anchor="t">
            <a:spAutoFit/>
          </a:bodyPr>
          <a:lstStyle/>
          <a:p>
            <a:pPr algn="ctr">
              <a:lnSpc>
                <a:spcPts val="5600"/>
              </a:lnSpc>
            </a:pPr>
            <a:r>
              <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6.3</a:t>
            </a:r>
            <a:endPar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44" name="TextBox 44"/>
          <p:cNvSpPr txBox="1"/>
          <p:nvPr>
            <p:custDataLst>
              <p:tags r:id="rId5"/>
            </p:custDataLst>
          </p:nvPr>
        </p:nvSpPr>
        <p:spPr>
          <a:xfrm>
            <a:off x="8249265" y="4191009"/>
            <a:ext cx="5539105" cy="753745"/>
          </a:xfrm>
          <a:prstGeom prst="rect">
            <a:avLst/>
          </a:prstGeom>
        </p:spPr>
        <p:txBody>
          <a:bodyPr wrap="square" lIns="0" tIns="0" rIns="0" bIns="0" rtlCol="0" anchor="t">
            <a:spAutoFit/>
          </a:bodyPr>
          <a:lstStyle/>
          <a:p>
            <a:pPr algn="l">
              <a:lnSpc>
                <a:spcPts val="5880"/>
              </a:lnSpc>
            </a:pPr>
            <a:r>
              <a:rPr lang="en-US" altLang="zh-CN"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ZUC</a:t>
            </a:r>
            <a:r>
              <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算法的安全性分析</a:t>
            </a:r>
            <a:endPar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50" name="Group 50"/>
          <p:cNvGrpSpPr/>
          <p:nvPr/>
        </p:nvGrpSpPr>
        <p:grpSpPr>
          <a:xfrm>
            <a:off x="-1299845" y="9109075"/>
            <a:ext cx="21159470" cy="1315720"/>
            <a:chOff x="0" y="0"/>
            <a:chExt cx="28212281" cy="2573326"/>
          </a:xfrm>
        </p:grpSpPr>
        <p:grpSp>
          <p:nvGrpSpPr>
            <p:cNvPr id="51" name="Group 51"/>
            <p:cNvGrpSpPr/>
            <p:nvPr/>
          </p:nvGrpSpPr>
          <p:grpSpPr>
            <a:xfrm>
              <a:off x="361694" y="0"/>
              <a:ext cx="27850587" cy="2024584"/>
              <a:chOff x="0" y="0"/>
              <a:chExt cx="5501351" cy="399918"/>
            </a:xfrm>
          </p:grpSpPr>
          <p:sp>
            <p:nvSpPr>
              <p:cNvPr id="52" name="Freeform 52"/>
              <p:cNvSpPr/>
              <p:nvPr/>
            </p:nvSpPr>
            <p:spPr>
              <a:xfrm>
                <a:off x="0" y="0"/>
                <a:ext cx="5501351" cy="399918"/>
              </a:xfrm>
              <a:custGeom>
                <a:avLst/>
                <a:gdLst/>
                <a:ahLst/>
                <a:cxnLst/>
                <a:rect l="l" t="t" r="r" b="b"/>
                <a:pathLst>
                  <a:path w="5501351" h="399918">
                    <a:moveTo>
                      <a:pt x="18903" y="0"/>
                    </a:moveTo>
                    <a:lnTo>
                      <a:pt x="5482448" y="0"/>
                    </a:lnTo>
                    <a:cubicBezTo>
                      <a:pt x="5487461" y="0"/>
                      <a:pt x="5492269" y="1992"/>
                      <a:pt x="5495814" y="5536"/>
                    </a:cubicBezTo>
                    <a:cubicBezTo>
                      <a:pt x="5499359" y="9081"/>
                      <a:pt x="5501351" y="13889"/>
                      <a:pt x="5501351" y="18903"/>
                    </a:cubicBezTo>
                    <a:lnTo>
                      <a:pt x="5501351" y="381015"/>
                    </a:lnTo>
                    <a:cubicBezTo>
                      <a:pt x="5501351" y="391455"/>
                      <a:pt x="5492888" y="399918"/>
                      <a:pt x="5482448" y="399918"/>
                    </a:cubicBezTo>
                    <a:lnTo>
                      <a:pt x="18903" y="399918"/>
                    </a:lnTo>
                    <a:cubicBezTo>
                      <a:pt x="8463" y="399918"/>
                      <a:pt x="0" y="391455"/>
                      <a:pt x="0" y="381015"/>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53" name="TextBox 53"/>
              <p:cNvSpPr txBox="1"/>
              <p:nvPr/>
            </p:nvSpPr>
            <p:spPr>
              <a:xfrm>
                <a:off x="0" y="0"/>
                <a:ext cx="5501351" cy="399918"/>
              </a:xfrm>
              <a:prstGeom prst="rect">
                <a:avLst/>
              </a:prstGeom>
            </p:spPr>
            <p:txBody>
              <a:bodyPr lIns="50800" tIns="50800" rIns="50800" bIns="50800" rtlCol="0" anchor="ctr"/>
              <a:lstStyle/>
              <a:p>
                <a:pPr algn="ctr">
                  <a:lnSpc>
                    <a:spcPts val="2880"/>
                  </a:lnSpc>
                </a:pPr>
              </a:p>
            </p:txBody>
          </p:sp>
        </p:grpSp>
        <p:grpSp>
          <p:nvGrpSpPr>
            <p:cNvPr id="54" name="Group 54"/>
            <p:cNvGrpSpPr/>
            <p:nvPr/>
          </p:nvGrpSpPr>
          <p:grpSpPr>
            <a:xfrm>
              <a:off x="0" y="282042"/>
              <a:ext cx="27850587" cy="2291284"/>
              <a:chOff x="0" y="0"/>
              <a:chExt cx="5501351" cy="452599"/>
            </a:xfrm>
          </p:grpSpPr>
          <p:sp>
            <p:nvSpPr>
              <p:cNvPr id="55" name="Freeform 55"/>
              <p:cNvSpPr/>
              <p:nvPr/>
            </p:nvSpPr>
            <p:spPr>
              <a:xfrm>
                <a:off x="0" y="0"/>
                <a:ext cx="5501351" cy="452599"/>
              </a:xfrm>
              <a:custGeom>
                <a:avLst/>
                <a:gdLst/>
                <a:ahLst/>
                <a:cxnLst/>
                <a:rect l="l" t="t" r="r" b="b"/>
                <a:pathLst>
                  <a:path w="5501351" h="452599">
                    <a:moveTo>
                      <a:pt x="18903" y="0"/>
                    </a:moveTo>
                    <a:lnTo>
                      <a:pt x="5482448" y="0"/>
                    </a:lnTo>
                    <a:cubicBezTo>
                      <a:pt x="5487461" y="0"/>
                      <a:pt x="5492269" y="1992"/>
                      <a:pt x="5495814" y="5536"/>
                    </a:cubicBezTo>
                    <a:cubicBezTo>
                      <a:pt x="5499359" y="9081"/>
                      <a:pt x="5501351" y="13889"/>
                      <a:pt x="5501351" y="18903"/>
                    </a:cubicBezTo>
                    <a:lnTo>
                      <a:pt x="5501351" y="433697"/>
                    </a:lnTo>
                    <a:cubicBezTo>
                      <a:pt x="5501351" y="444136"/>
                      <a:pt x="5492888" y="452599"/>
                      <a:pt x="5482448" y="452599"/>
                    </a:cubicBezTo>
                    <a:lnTo>
                      <a:pt x="18903" y="452599"/>
                    </a:lnTo>
                    <a:cubicBezTo>
                      <a:pt x="8463" y="452599"/>
                      <a:pt x="0" y="444136"/>
                      <a:pt x="0" y="433697"/>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56" name="TextBox 56"/>
              <p:cNvSpPr txBox="1"/>
              <p:nvPr/>
            </p:nvSpPr>
            <p:spPr>
              <a:xfrm>
                <a:off x="0" y="0"/>
                <a:ext cx="5501351" cy="452599"/>
              </a:xfrm>
              <a:prstGeom prst="rect">
                <a:avLst/>
              </a:prstGeom>
            </p:spPr>
            <p:txBody>
              <a:bodyPr lIns="50800" tIns="50800" rIns="50800" bIns="50800" rtlCol="0" anchor="ctr"/>
              <a:lstStyle/>
              <a:p>
                <a:pPr algn="ctr">
                  <a:lnSpc>
                    <a:spcPts val="2880"/>
                  </a:lnSpc>
                </a:pPr>
              </a:p>
            </p:txBody>
          </p:sp>
        </p:grpSp>
      </p:grpSp>
      <p:sp>
        <p:nvSpPr>
          <p:cNvPr id="66" name="TextBox 44"/>
          <p:cNvSpPr txBox="1"/>
          <p:nvPr>
            <p:custDataLst>
              <p:tags r:id="rId6"/>
            </p:custDataLst>
          </p:nvPr>
        </p:nvSpPr>
        <p:spPr>
          <a:xfrm>
            <a:off x="8249196" y="5175216"/>
            <a:ext cx="4766247" cy="753745"/>
          </a:xfrm>
          <a:prstGeom prst="rect">
            <a:avLst/>
          </a:prstGeom>
        </p:spPr>
        <p:txBody>
          <a:bodyPr wrap="square" lIns="0" tIns="0" rIns="0" bIns="0" rtlCol="0" anchor="t">
            <a:spAutoFit/>
          </a:bodyPr>
          <a:lstStyle/>
          <a:p>
            <a:pPr algn="l">
              <a:lnSpc>
                <a:spcPts val="5880"/>
              </a:lnSpc>
            </a:pPr>
            <a:r>
              <a:rPr lang="en-US" altLang="zh-CN"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ZUC</a:t>
            </a:r>
            <a:r>
              <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算法案例</a:t>
            </a:r>
            <a:endPar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67" name="TextBox 43"/>
          <p:cNvSpPr txBox="1"/>
          <p:nvPr>
            <p:custDataLst>
              <p:tags r:id="rId7"/>
            </p:custDataLst>
          </p:nvPr>
        </p:nvSpPr>
        <p:spPr>
          <a:xfrm>
            <a:off x="6904857" y="5175216"/>
            <a:ext cx="923721" cy="717550"/>
          </a:xfrm>
          <a:prstGeom prst="rect">
            <a:avLst/>
          </a:prstGeom>
        </p:spPr>
        <p:txBody>
          <a:bodyPr lIns="0" tIns="0" rIns="0" bIns="0" rtlCol="0" anchor="t">
            <a:spAutoFit/>
          </a:bodyPr>
          <a:lstStyle/>
          <a:p>
            <a:pPr algn="ctr">
              <a:lnSpc>
                <a:spcPts val="5600"/>
              </a:lnSpc>
            </a:pPr>
            <a:r>
              <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6.4</a:t>
            </a:r>
            <a:endPar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62" name="TextBox 34"/>
          <p:cNvSpPr txBox="1"/>
          <p:nvPr>
            <p:custDataLst>
              <p:tags r:id="rId8"/>
            </p:custDataLst>
          </p:nvPr>
        </p:nvSpPr>
        <p:spPr>
          <a:xfrm>
            <a:off x="8229600" y="3286134"/>
            <a:ext cx="8423910" cy="842293"/>
          </a:xfrm>
          <a:prstGeom prst="rect">
            <a:avLst/>
          </a:prstGeom>
        </p:spPr>
        <p:txBody>
          <a:bodyPr wrap="square" lIns="0" tIns="0" rIns="0" bIns="0" rtlCol="0" anchor="t">
            <a:noAutofit/>
          </a:bodyPr>
          <a:lstStyle/>
          <a:p>
            <a:pPr algn="l">
              <a:lnSpc>
                <a:spcPts val="5880"/>
              </a:lnSpc>
            </a:pPr>
            <a:r>
              <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基于祖冲之算法的机密性和完整性</a:t>
            </a:r>
            <a:endPar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57" name="TextBox 44"/>
          <p:cNvSpPr txBox="1"/>
          <p:nvPr>
            <p:custDataLst>
              <p:tags r:id="rId9"/>
            </p:custDataLst>
          </p:nvPr>
        </p:nvSpPr>
        <p:spPr>
          <a:xfrm>
            <a:off x="8249265" y="6159509"/>
            <a:ext cx="6827520" cy="753745"/>
          </a:xfrm>
          <a:prstGeom prst="rect">
            <a:avLst/>
          </a:prstGeom>
        </p:spPr>
        <p:txBody>
          <a:bodyPr wrap="square" lIns="0" tIns="0" rIns="0" bIns="0" rtlCol="0" anchor="t">
            <a:spAutoFit/>
          </a:bodyPr>
          <a:lstStyle/>
          <a:p>
            <a:pPr algn="l">
              <a:lnSpc>
                <a:spcPts val="5880"/>
              </a:lnSpc>
            </a:pPr>
            <a:r>
              <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本章小结</a:t>
            </a:r>
            <a:endPar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58" name="TextBox 43"/>
          <p:cNvSpPr txBox="1"/>
          <p:nvPr>
            <p:custDataLst>
              <p:tags r:id="rId10"/>
            </p:custDataLst>
          </p:nvPr>
        </p:nvSpPr>
        <p:spPr>
          <a:xfrm>
            <a:off x="6904857" y="6159466"/>
            <a:ext cx="923721" cy="717550"/>
          </a:xfrm>
          <a:prstGeom prst="rect">
            <a:avLst/>
          </a:prstGeom>
        </p:spPr>
        <p:txBody>
          <a:bodyPr lIns="0" tIns="0" rIns="0" bIns="0" rtlCol="0" anchor="t">
            <a:spAutoFit/>
          </a:bodyPr>
          <a:lstStyle/>
          <a:p>
            <a:pPr algn="ctr">
              <a:lnSpc>
                <a:spcPts val="5600"/>
              </a:lnSpc>
            </a:pPr>
            <a:r>
              <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6.5</a:t>
            </a:r>
            <a:endPar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2" name="灯片编号占位符 31"/>
          <p:cNvSpPr>
            <a:spLocks noGrp="1"/>
          </p:cNvSpPr>
          <p:nvPr>
            <p:ph type="sldNum" sz="quarter" idx="12"/>
          </p:nvPr>
        </p:nvSpPr>
        <p:spPr>
          <a:xfrm>
            <a:off x="15378279" y="9581905"/>
            <a:ext cx="2133600" cy="441325"/>
          </a:xfrm>
        </p:spPr>
        <p:txBody>
          <a:bodyPr/>
          <a:lstStyle/>
          <a:p>
            <a:fld id="{B6F15528-21DE-4FAA-801E-634DDDAF4B2B}" type="slidenum">
              <a:rPr lang="en-US" smtClean="0"/>
            </a:fld>
            <a:endParaRPr lang="en-US" dirty="0"/>
          </a:p>
        </p:txBody>
      </p:sp>
      <p:grpSp>
        <p:nvGrpSpPr>
          <p:cNvPr id="35" name="组合 34"/>
          <p:cNvGrpSpPr/>
          <p:nvPr/>
        </p:nvGrpSpPr>
        <p:grpSpPr>
          <a:xfrm>
            <a:off x="796975" y="605801"/>
            <a:ext cx="3700052" cy="416951"/>
            <a:chOff x="13811849" y="507954"/>
            <a:chExt cx="3700052" cy="416951"/>
          </a:xfrm>
        </p:grpSpPr>
        <p:sp>
          <p:nvSpPr>
            <p:cNvPr id="36" name="文本框 35"/>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37" name="图片 36"/>
            <p:cNvPicPr>
              <a:picLocks noChangeAspect="1"/>
            </p:cNvPicPr>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endParaRPr lang="zh-CN" altLang="en-US"/>
            </a:p>
          </p:txBody>
        </p:sp>
        <p:sp>
          <p:nvSpPr>
            <p:cNvPr id="29" name="TextBox 29"/>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sp>
        <p:nvSpPr>
          <p:cNvPr id="30" name="TextBox 30"/>
          <p:cNvSpPr txBox="1"/>
          <p:nvPr/>
        </p:nvSpPr>
        <p:spPr>
          <a:xfrm>
            <a:off x="7781241" y="2834725"/>
            <a:ext cx="2725514" cy="2190115"/>
          </a:xfrm>
          <a:prstGeom prst="rect">
            <a:avLst/>
          </a:prstGeom>
        </p:spPr>
        <p:txBody>
          <a:bodyPr lIns="0" tIns="0" rIns="0" bIns="0" rtlCol="0" anchor="t">
            <a:spAutoFit/>
          </a:bodyPr>
          <a:lstStyle/>
          <a:p>
            <a:pPr algn="ctr">
              <a:lnSpc>
                <a:spcPts val="17080"/>
              </a:lnSpc>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6.1</a:t>
            </a:r>
            <a:endPar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1" name="TextBox 31"/>
          <p:cNvSpPr txBox="1"/>
          <p:nvPr/>
        </p:nvSpPr>
        <p:spPr>
          <a:xfrm>
            <a:off x="3428998" y="5143500"/>
            <a:ext cx="11429999" cy="2872105"/>
          </a:xfrm>
          <a:prstGeom prst="rect">
            <a:avLst/>
          </a:prstGeom>
        </p:spPr>
        <p:txBody>
          <a:bodyPr wrap="square" lIns="0" tIns="0" rIns="0" bIns="0" rtlCol="0" anchor="t">
            <a:spAutoFit/>
          </a:bodyPr>
          <a:lstStyle/>
          <a:p>
            <a:pPr algn="ctr">
              <a:lnSpc>
                <a:spcPts val="11200"/>
              </a:lnSpc>
            </a:pPr>
            <a:r>
              <a:rPr lang="zh-CN" altLang="en-US"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祖冲之序列密码算法</a:t>
            </a:r>
            <a:endParaRPr lang="zh-CN" altLang="en-US"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a:p>
            <a:pPr algn="ctr">
              <a:lnSpc>
                <a:spcPts val="11200"/>
              </a:lnSpc>
            </a:pPr>
            <a:endParaRPr lang="zh-CN" altLang="en-US"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40" name="TextBox 40"/>
              <p:cNvSpPr txBox="1"/>
              <p:nvPr/>
            </p:nvSpPr>
            <p:spPr>
              <a:xfrm>
                <a:off x="0" y="0"/>
                <a:ext cx="5501351" cy="288980"/>
              </a:xfrm>
              <a:prstGeom prst="rect">
                <a:avLst/>
              </a:prstGeom>
            </p:spPr>
            <p:txBody>
              <a:bodyPr lIns="50800" tIns="50800" rIns="50800" bIns="50800" rtlCol="0" anchor="ctr"/>
              <a:lstStyle/>
              <a:p>
                <a:pPr algn="ctr">
                  <a:lnSpc>
                    <a:spcPts val="2880"/>
                  </a:lnSpc>
                </a:p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43" name="TextBox 43"/>
              <p:cNvSpPr txBox="1"/>
              <p:nvPr/>
            </p:nvSpPr>
            <p:spPr>
              <a:xfrm>
                <a:off x="0" y="0"/>
                <a:ext cx="5501351" cy="327048"/>
              </a:xfrm>
              <a:prstGeom prst="rect">
                <a:avLst/>
              </a:prstGeom>
            </p:spPr>
            <p:txBody>
              <a:bodyPr lIns="50800" tIns="50800" rIns="50800" bIns="50800" rtlCol="0" anchor="ctr"/>
              <a:lstStyle/>
              <a:p>
                <a:pPr algn="ctr">
                  <a:lnSpc>
                    <a:spcPts val="2880"/>
                  </a:lnSpc>
                </a:pPr>
              </a:p>
            </p:txBody>
          </p:sp>
        </p:grpSp>
      </p:grpSp>
      <p:sp>
        <p:nvSpPr>
          <p:cNvPr id="33" name="灯片编号占位符 32"/>
          <p:cNvSpPr>
            <a:spLocks noGrp="1"/>
          </p:cNvSpPr>
          <p:nvPr>
            <p:ph type="sldNum" sz="quarter" idx="12"/>
          </p:nvPr>
        </p:nvSpPr>
        <p:spPr>
          <a:xfrm>
            <a:off x="15374104" y="9522714"/>
            <a:ext cx="2133600" cy="441325"/>
          </a:xfrm>
        </p:spPr>
        <p:txBody>
          <a:bodyPr/>
          <a:lstStyle/>
          <a:p>
            <a:fld id="{B6F15528-21DE-4FAA-801E-634DDDAF4B2B}" type="slidenum">
              <a:rPr lang="en-US" smtClean="0"/>
            </a:fld>
            <a:endParaRPr lang="en-US" dirty="0"/>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36" name="图片 35"/>
            <p:cNvPicPr>
              <a:picLocks noChangeAspect="1"/>
            </p:cNvPicPr>
            <p:nvPr/>
          </p:nvPicPr>
          <p:blipFill>
            <a:blip r:embed="rId1"/>
            <a:stretch>
              <a:fillRect/>
            </a:stretch>
          </p:blipFill>
          <p:spPr>
            <a:xfrm>
              <a:off x="13944600" y="877286"/>
              <a:ext cx="2771429" cy="47619"/>
            </a:xfrm>
            <a:prstGeom prst="rect">
              <a:avLst/>
            </a:prstGeom>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4"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29" name="TextBox 29"/>
          <p:cNvSpPr txBox="1"/>
          <p:nvPr/>
        </p:nvSpPr>
        <p:spPr>
          <a:xfrm>
            <a:off x="1600200" y="2171700"/>
            <a:ext cx="8001000" cy="5925148"/>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sym typeface="字由点字典黑 2"/>
              </a:rPr>
              <a:t>ZUC</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算法是一种面向字的序列密码，该算法以一个</a:t>
            </a:r>
            <a:r>
              <a:rPr lang="en-US" altLang="zh-CN" sz="3600" dirty="0">
                <a:solidFill>
                  <a:srgbClr val="000000"/>
                </a:solidFill>
                <a:latin typeface="Times New Roman" panose="02020603050405020304" pitchFamily="18" charset="0"/>
                <a:ea typeface="宋体" panose="02010600030101010101" pitchFamily="2" charset="-122"/>
                <a:sym typeface="字由点字典黑 2"/>
              </a:rPr>
              <a:t>128</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位的密钥和一个</a:t>
            </a:r>
            <a:r>
              <a:rPr lang="en-US" altLang="zh-CN" sz="3600" dirty="0">
                <a:solidFill>
                  <a:srgbClr val="000000"/>
                </a:solidFill>
                <a:latin typeface="Times New Roman" panose="02020603050405020304" pitchFamily="18" charset="0"/>
                <a:ea typeface="宋体" panose="02010600030101010101" pitchFamily="2" charset="-122"/>
                <a:sym typeface="字由点字典黑 2"/>
              </a:rPr>
              <a:t>128</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位的初始变量作为输入，一串</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位字的密钥序列作为输出，输出的密钥序列可以用来进行加密解密或消息完整性认证。</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ZUC</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算法的总体结构是由一个顶层的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级的</a:t>
            </a:r>
            <a:r>
              <a:rPr lang="en-US" altLang="zh-CN" sz="3600" dirty="0">
                <a:solidFill>
                  <a:srgbClr val="000000"/>
                </a:solidFill>
                <a:latin typeface="Times New Roman" panose="02020603050405020304" pitchFamily="18" charset="0"/>
                <a:ea typeface="宋体" panose="02010600030101010101" pitchFamily="2" charset="-122"/>
                <a:sym typeface="字由点字典黑 2"/>
              </a:rPr>
              <a:t>LFSR</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中间层比特重组（简称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BR）</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和底层非线性函数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组成。</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30" name="TextBox 30"/>
          <p:cNvSpPr txBox="1"/>
          <p:nvPr/>
        </p:nvSpPr>
        <p:spPr>
          <a:xfrm>
            <a:off x="2210043" y="509179"/>
            <a:ext cx="9458717" cy="1435735"/>
          </a:xfrm>
          <a:prstGeom prst="rect">
            <a:avLst/>
          </a:prstGeom>
        </p:spPr>
        <p:txBody>
          <a:bodyPr lIns="0" tIns="0" rIns="0" bIns="0" rtlCol="0" anchor="t">
            <a:spAutoFit/>
          </a:bodyPr>
          <a:lstStyle/>
          <a:p>
            <a:pPr algn="l">
              <a:lnSpc>
                <a:spcPts val="5600"/>
              </a:lnSpc>
              <a:buClrTx/>
              <a:buSzTx/>
              <a:buFontTx/>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祖冲之序列密码算法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a:p>
            <a:pPr algn="l">
              <a:lnSpc>
                <a:spcPts val="5600"/>
              </a:lnSpc>
            </a:pP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31"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sp>
        <p:nvSpPr>
          <p:cNvPr id="6" name="灯片编号占位符 5"/>
          <p:cNvSpPr>
            <a:spLocks noGrp="1"/>
          </p:cNvSpPr>
          <p:nvPr>
            <p:ph type="sldNum" sz="quarter" idx="12"/>
          </p:nvPr>
        </p:nvSpPr>
        <p:spPr/>
        <p:txBody>
          <a:bodyPr/>
          <a:lstStyle/>
          <a:p>
            <a:fld id="{B6F15528-21DE-4FAA-801E-634DDDAF4B2B}" type="slidenum">
              <a:rPr lang="en-US" smtClean="0"/>
            </a:fld>
            <a:endParaRPr lang="en-US"/>
          </a:p>
        </p:txBody>
      </p:sp>
      <p:pic>
        <p:nvPicPr>
          <p:cNvPr id="7"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44" name="组合 43"/>
          <p:cNvGrpSpPr/>
          <p:nvPr/>
        </p:nvGrpSpPr>
        <p:grpSpPr>
          <a:xfrm>
            <a:off x="13639786" y="73342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pic>
        <p:nvPicPr>
          <p:cNvPr id="24" name="图片 2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10800" y="2019300"/>
            <a:ext cx="6438265" cy="6694170"/>
          </a:xfrm>
          <a:prstGeom prst="rect">
            <a:avLst/>
          </a:prstGeom>
        </p:spPr>
      </p:pic>
      <p:sp>
        <p:nvSpPr>
          <p:cNvPr id="5" name="文本框 4"/>
          <p:cNvSpPr txBox="1"/>
          <p:nvPr/>
        </p:nvSpPr>
        <p:spPr>
          <a:xfrm>
            <a:off x="8991600" y="8928100"/>
            <a:ext cx="9144000" cy="368300"/>
          </a:xfrm>
          <a:prstGeom prst="rect">
            <a:avLst/>
          </a:prstGeom>
          <a:noFill/>
        </p:spPr>
        <p:txBody>
          <a:bodyPr wrap="square" rtlCol="0" anchor="t">
            <a:spAutoFit/>
          </a:bodyPr>
          <a:lstStyle/>
          <a:p>
            <a:pPr algn="ctr"/>
            <a:r>
              <a:rPr lang="zh-CN" altLang="en-US">
                <a:latin typeface="Times New Roman" panose="02020603050405020304" pitchFamily="18" charset="0"/>
                <a:cs typeface="Times New Roman" panose="02020603050405020304" pitchFamily="18" charset="0"/>
                <a:sym typeface="+mn-ea"/>
              </a:rPr>
              <a:t>图</a:t>
            </a:r>
            <a:r>
              <a:rPr lang="en-US" altLang="zh-CN">
                <a:latin typeface="Times New Roman" panose="02020603050405020304" pitchFamily="18" charset="0"/>
                <a:cs typeface="Times New Roman" panose="02020603050405020304" pitchFamily="18" charset="0"/>
                <a:sym typeface="+mn-ea"/>
              </a:rPr>
              <a:t>6</a:t>
            </a:r>
            <a:r>
              <a:rPr lang="zh-CN" altLang="en-US">
                <a:latin typeface="Times New Roman" panose="02020603050405020304" pitchFamily="18" charset="0"/>
                <a:cs typeface="Times New Roman" panose="02020603050405020304" pitchFamily="18" charset="0"/>
                <a:sym typeface="+mn-ea"/>
              </a:rPr>
              <a:t>.1　</a:t>
            </a:r>
            <a:r>
              <a:rPr lang="en-US" altLang="zh-CN">
                <a:latin typeface="Times New Roman" panose="02020603050405020304" pitchFamily="18" charset="0"/>
                <a:cs typeface="Times New Roman" panose="02020603050405020304" pitchFamily="18" charset="0"/>
                <a:sym typeface="+mn-ea"/>
              </a:rPr>
              <a:t>ZUC</a:t>
            </a:r>
            <a:r>
              <a:rPr lang="zh-CN" altLang="en-US">
                <a:latin typeface="Times New Roman" panose="02020603050405020304" pitchFamily="18" charset="0"/>
                <a:cs typeface="Times New Roman" panose="02020603050405020304" pitchFamily="18" charset="0"/>
                <a:sym typeface="+mn-ea"/>
              </a:rPr>
              <a:t>算法的总体结构</a:t>
            </a:r>
            <a:endParaRPr lang="zh-CN" altLang="en-US">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725107" y="2552700"/>
            <a:ext cx="14818191" cy="3321050"/>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ZUC</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算法以高安全性作为优先目标，同时兼顾高的软硬件实现性能，在整体结构上分为上中下三层：</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LFSR、BR、</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非线性函数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算法执行分为两个阶段：初始化阶段和工作阶段。在第一阶段，将密钥和初始变量初始化，密码算法运行但不产生输出。在第二阶段，每个时钟脉冲均会产生一个32位字的输出。</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6" name="灯片编号占位符 5"/>
          <p:cNvSpPr>
            <a:spLocks noGrp="1"/>
          </p:cNvSpPr>
          <p:nvPr>
            <p:ph type="sldNum" sz="quarter" idx="12"/>
          </p:nvPr>
        </p:nvSpPr>
        <p:spPr/>
        <p:txBody>
          <a:bodyPr/>
          <a:lstStyle/>
          <a:p>
            <a:fld id="{B6F15528-21DE-4FAA-801E-634DDDAF4B2B}" type="slidenum">
              <a:rPr lang="en-US" smtClean="0"/>
            </a:fld>
            <a:endParaRPr lang="en-US"/>
          </a:p>
        </p:txBody>
      </p:sp>
      <p:grpSp>
        <p:nvGrpSpPr>
          <p:cNvPr id="12" name="Group 2"/>
          <p:cNvGrpSpPr/>
          <p:nvPr/>
        </p:nvGrpSpPr>
        <p:grpSpPr>
          <a:xfrm>
            <a:off x="412090" y="1028700"/>
            <a:ext cx="7800783" cy="275915"/>
            <a:chOff x="0" y="0"/>
            <a:chExt cx="2054527" cy="72669"/>
          </a:xfrm>
        </p:grpSpPr>
        <p:sp>
          <p:nvSpPr>
            <p:cNvPr id="1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4"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5"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buClrTx/>
              <a:buSzTx/>
              <a:buFontTx/>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祖冲之序列密码算法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6"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7"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44" name="组合 43"/>
          <p:cNvGrpSpPr/>
          <p:nvPr/>
        </p:nvGrpSpPr>
        <p:grpSpPr>
          <a:xfrm>
            <a:off x="13639786" y="73342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9" name="TextBox 29"/>
              <p:cNvSpPr txBox="1"/>
              <p:nvPr/>
            </p:nvSpPr>
            <p:spPr>
              <a:xfrm>
                <a:off x="1905084" y="2019474"/>
                <a:ext cx="14818191" cy="797115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b="1" dirty="0">
                    <a:solidFill>
                      <a:srgbClr val="000000"/>
                    </a:solidFill>
                    <a:latin typeface="Times New Roman" panose="02020603050405020304" pitchFamily="18" charset="0"/>
                    <a:ea typeface="宋体" panose="02010600030101010101" pitchFamily="2" charset="-122"/>
                    <a:cs typeface="字由点字典黑 2"/>
                    <a:sym typeface="字由点字典黑 2"/>
                  </a:rPr>
                  <a:t>第一阶段：初始化阶段</a:t>
                </a:r>
                <a:endParaRPr lang="zh-CN" altLang="en-US" sz="3600" b="1"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ZUC</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算法的初始化阶段共有32+1=33轮，首先要把128位的密钥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和初始变量</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IV</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加载到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LFSR</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中，两个32位</a:t>
                </a:r>
                <a14:m>
                  <m:oMath xmlns:m="http://schemas.openxmlformats.org/officeDocument/2006/math">
                    <m:r>
                      <a:rPr lang="en-US" altLang="zh-CN" sz="3600" i="1" dirty="0" smtClean="0">
                        <a:solidFill>
                          <a:srgbClr val="000000"/>
                        </a:solidFill>
                        <a:latin typeface="Cambria Math" panose="02040503050406030204" pitchFamily="18" charset="0"/>
                        <a:sym typeface="字由点字典黑 2"/>
                      </a:rPr>
                      <m:t>𝑅</m:t>
                    </m:r>
                    <m:r>
                      <a:rPr lang="en-US" altLang="zh-CN" sz="3600" i="0" baseline="-25000" dirty="0">
                        <a:solidFill>
                          <a:srgbClr val="000000"/>
                        </a:solidFill>
                        <a:latin typeface="Cambria Math" panose="02040503050406030204" pitchFamily="18" charset="0"/>
                        <a:sym typeface="字由点字典黑 2"/>
                      </a:rPr>
                      <m:t>1</m:t>
                    </m:r>
                  </m:oMath>
                </a14:m>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和</a:t>
                </a:r>
                <a14:m>
                  <m:oMath xmlns:m="http://schemas.openxmlformats.org/officeDocument/2006/math">
                    <m:r>
                      <a:rPr lang="en-US" altLang="zh-CN" sz="3600" i="1" dirty="0" smtClean="0">
                        <a:solidFill>
                          <a:srgbClr val="000000"/>
                        </a:solidFill>
                        <a:latin typeface="Cambria Math" panose="02040503050406030204" pitchFamily="18" charset="0"/>
                        <a:sym typeface="字由点字典黑 2"/>
                      </a:rPr>
                      <m:t>𝑅</m:t>
                    </m:r>
                    <m:r>
                      <a:rPr lang="en-US" altLang="zh-CN" sz="3600" i="0" baseline="-25000" dirty="0">
                        <a:solidFill>
                          <a:srgbClr val="000000"/>
                        </a:solidFill>
                        <a:latin typeface="Cambria Math" panose="02040503050406030204" pitchFamily="18" charset="0"/>
                        <a:sym typeface="字由点字典黑 2"/>
                      </a:rPr>
                      <m:t>2</m:t>
                    </m:r>
                  </m:oMath>
                </a14:m>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全部清零，然后执行32轮下列操作。</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（1）按如上所述内容将密钥、初始变量及常数装载到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LFSR</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各单元；</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（2）初始化记忆单位为</a:t>
                </a:r>
                <a14:m>
                  <m:oMath xmlns:m="http://schemas.openxmlformats.org/officeDocument/2006/math">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𝑅</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1</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𝑅</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2</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0</m:t>
                    </m:r>
                  </m:oMath>
                </a14:m>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（3）for i=0 to 31 do</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lvl="2"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Bitreorganization();</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lvl="2"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Z= </a:t>
                </a:r>
                <a14:m>
                  <m:oMath xmlns:m="http://schemas.openxmlformats.org/officeDocument/2006/math">
                    <m:r>
                      <m:rPr>
                        <m:sty m:val="p"/>
                      </m:rP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F</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𝑋</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0</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𝑋</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1</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𝑋</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2</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m:t>
                    </m:r>
                  </m:oMath>
                </a14:m>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lvl="2"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LFSRWithInitialisationMode(Z&gt;&gt;1)。</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lvl="2"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其中，&gt;&gt;代表32比特字右循环移位。</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lvl="2"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mc:Choice>
        <mc:Fallback>
          <p:sp>
            <p:nvSpPr>
              <p:cNvPr id="29" name="TextBox 29"/>
              <p:cNvSpPr txBox="1">
                <a:spLocks noRot="1" noChangeAspect="1" noMove="1" noResize="1" noEditPoints="1" noAdjustHandles="1" noChangeArrowheads="1" noChangeShapeType="1" noTextEdit="1"/>
              </p:cNvSpPr>
              <p:nvPr/>
            </p:nvSpPr>
            <p:spPr>
              <a:xfrm>
                <a:off x="1905084" y="2019474"/>
                <a:ext cx="14818191" cy="7971155"/>
              </a:xfrm>
              <a:prstGeom prst="rect">
                <a:avLst/>
              </a:prstGeom>
              <a:blipFill rotWithShape="1">
                <a:blip r:embed="rId1"/>
                <a:stretch>
                  <a:fillRect l="-1" t="-2" r="4" b="2"/>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p:txBody>
          <a:bodyPr/>
          <a:lstStyle/>
          <a:p>
            <a:fld id="{B6F15528-21DE-4FAA-801E-634DDDAF4B2B}" type="slidenum">
              <a:rPr lang="en-US" smtClean="0"/>
            </a:fld>
            <a:endParaRPr lang="en-US"/>
          </a:p>
        </p:txBody>
      </p:sp>
      <p:grpSp>
        <p:nvGrpSpPr>
          <p:cNvPr id="12" name="Group 2"/>
          <p:cNvGrpSpPr/>
          <p:nvPr/>
        </p:nvGrpSpPr>
        <p:grpSpPr>
          <a:xfrm>
            <a:off x="412090" y="1028700"/>
            <a:ext cx="7800783" cy="275915"/>
            <a:chOff x="0" y="0"/>
            <a:chExt cx="2054527" cy="72669"/>
          </a:xfrm>
        </p:grpSpPr>
        <p:sp>
          <p:nvSpPr>
            <p:cNvPr id="1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4"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5"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buClrTx/>
              <a:buSzTx/>
              <a:buFontTx/>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祖冲之序列密码算法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6"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44" name="组合 43"/>
          <p:cNvGrpSpPr/>
          <p:nvPr/>
        </p:nvGrpSpPr>
        <p:grpSpPr>
          <a:xfrm>
            <a:off x="13639786" y="73342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36" name="图片 35"/>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9" name="TextBox 29"/>
              <p:cNvSpPr txBox="1"/>
              <p:nvPr/>
            </p:nvSpPr>
            <p:spPr>
              <a:xfrm>
                <a:off x="1818123" y="1943100"/>
                <a:ext cx="14818191" cy="8584338"/>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b="1" dirty="0">
                    <a:solidFill>
                      <a:srgbClr val="000000"/>
                    </a:solidFill>
                    <a:latin typeface="Times New Roman" panose="02020603050405020304" pitchFamily="18" charset="0"/>
                    <a:ea typeface="宋体" panose="02010600030101010101" pitchFamily="2" charset="-122"/>
                    <a:cs typeface="字由点字典黑 2"/>
                    <a:sym typeface="字由点字典黑 2"/>
                  </a:rPr>
                  <a:t>第二阶段：工作阶段</a:t>
                </a:r>
                <a:endParaRPr lang="zh-CN" altLang="en-US" sz="3600" b="1"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在初始化阶段之后，算法进入工作阶段。算法执行一次下面的操作，并丢弃函数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的输出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W。</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（1）Bitreorganization();</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14:m>
                  <m:oMath xmlns:m="http://schemas.openxmlformats.org/officeDocument/2006/math">
                    <m:r>
                      <m:rPr>
                        <m:sty m:val="p"/>
                      </m:rP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F</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𝑋</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0</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𝑋</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1</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𝑋</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2</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m:t>
                    </m:r>
                  </m:oMath>
                </a14:m>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本次执行，函数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丢弃输出</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（3）LFSRWithWorkMode()。 </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进入产生密钥流阶段，执行如下操作并输出一个32位的字</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Z：</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KeystreamGeneration()</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（1）Bitreorganization();</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14:m>
                  <m:oMath xmlns:m="http://schemas.openxmlformats.org/officeDocument/2006/math">
                    <m:r>
                      <m:rPr>
                        <m:sty m:val="p"/>
                      </m:rP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Z</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F</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𝑋</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0</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𝑋</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1</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𝑋</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2</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X</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3</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m:t>
                    </m:r>
                  </m:oMath>
                </a14:m>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（3）LFSRWithWorkMode( )。</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输出的32位密钥序列</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Z</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可以用来对信息加密解密和完整性认证。</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mc:Choice>
        <mc:Fallback>
          <p:sp>
            <p:nvSpPr>
              <p:cNvPr id="29" name="TextBox 29"/>
              <p:cNvSpPr txBox="1">
                <a:spLocks noRot="1" noChangeAspect="1" noMove="1" noResize="1" noEditPoints="1" noAdjustHandles="1" noChangeArrowheads="1" noChangeShapeType="1" noTextEdit="1"/>
              </p:cNvSpPr>
              <p:nvPr/>
            </p:nvSpPr>
            <p:spPr>
              <a:xfrm>
                <a:off x="1818123" y="1943100"/>
                <a:ext cx="14818191" cy="8584338"/>
              </a:xfrm>
              <a:prstGeom prst="rect">
                <a:avLst/>
              </a:prstGeom>
              <a:blipFill rotWithShape="1">
                <a:blip r:embed="rId1"/>
                <a:stretch>
                  <a:fillRect l="-1" r="4" b="5"/>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p:txBody>
          <a:bodyPr/>
          <a:lstStyle/>
          <a:p>
            <a:fld id="{B6F15528-21DE-4FAA-801E-634DDDAF4B2B}" type="slidenum">
              <a:rPr lang="en-US" smtClean="0"/>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buClrTx/>
              <a:buSzTx/>
              <a:buFontTx/>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祖冲之序列密码算法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0"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1"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4" name="图片 13"/>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9" name="TextBox 29"/>
              <p:cNvSpPr txBox="1"/>
              <p:nvPr/>
            </p:nvSpPr>
            <p:spPr>
              <a:xfrm>
                <a:off x="1795468" y="1950805"/>
                <a:ext cx="14818191" cy="6584367"/>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ZUC</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算法在初始执行过程中所用到的参数为一个128位的密钥</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k</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和一个128位的初始变量</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IV，</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用于加载到</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LFSR</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里，</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LFSR</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有16个31位的寄存器单元(</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s</a:t>
                </a:r>
                <a:r>
                  <a:rPr lang="en-US" altLang="zh-CN" sz="3600"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0</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，s</a:t>
                </a:r>
                <a:r>
                  <a:rPr lang="en-US" altLang="zh-CN" sz="3600"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1</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，…，s</a:t>
                </a:r>
                <a:r>
                  <a:rPr lang="en-US" altLang="zh-CN" sz="3600"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1</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每个单元</a:t>
                </a:r>
                <a14:m>
                  <m:oMath xmlns:m="http://schemas.openxmlformats.org/officeDocument/2006/math">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𝑠</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𝑖</m:t>
                    </m:r>
                    <m:d>
                      <m:dPr>
                        <m:ctrl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ctrlPr>
                      </m:dPr>
                      <m:e>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0</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𝑖</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15</m:t>
                        </m:r>
                      </m:e>
                    </m:d>
                  </m:oMath>
                </a14:m>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仅在有限域</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GF(2</a:t>
                </a:r>
                <a:r>
                  <a:rPr lang="en-US" altLang="zh-CN" sz="3600" baseline="3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31</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中取值。</a:t>
                </a:r>
                <a:endPar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密钥和初始变量会扩展成16个长度为31位的整数，加载到每个记忆单元</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s</a:t>
                </a:r>
                <a:r>
                  <a:rPr lang="en-US" altLang="zh-CN" sz="3600"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i</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中。在</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LFSR</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里，</a:t>
                </a:r>
                <a14:m>
                  <m:oMath xmlns:m="http://schemas.openxmlformats.org/officeDocument/2006/math">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s</m:t>
                    </m:r>
                    <m:r>
                      <m:rPr>
                        <m:sty m:val="p"/>
                      </m:rP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i</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ki</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 </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di</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IVi</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0</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i</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15</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oMath>
                </a14:m>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其中</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i</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和</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IV</a:t>
                </a:r>
                <a:r>
                  <a:rPr lang="en-US" altLang="zh-CN" sz="3600"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i</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长度为8位一个字节，</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d</a:t>
                </a:r>
                <a:r>
                  <a:rPr lang="en-US" altLang="zh-CN" sz="3600"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i</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长度为15位。128位的密钥</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k</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和初始变量</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IV</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表示成16个字串级联的形式</a:t>
                </a:r>
                <a14:m>
                  <m:oMath xmlns:m="http://schemas.openxmlformats.org/officeDocument/2006/math">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k</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k</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0</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k</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k</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2</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 </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k</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15</m:t>
                    </m:r>
                  </m:oMath>
                </a14:m>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a:t>
                </a:r>
                <a14:m>
                  <m:oMath xmlns:m="http://schemas.openxmlformats.org/officeDocument/2006/math">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IV</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IV</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0</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IV</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IV</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2</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 </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IV</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15</m:t>
                    </m:r>
                  </m:oMath>
                </a14:m>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，16个已知字符串</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d</a:t>
                </a:r>
                <a:r>
                  <a:rPr lang="en-US" altLang="zh-CN" sz="3600"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i</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级联成一个240位的长字符串</a:t>
                </a:r>
                <a14:m>
                  <m:oMath xmlns:m="http://schemas.openxmlformats.org/officeDocument/2006/math">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D</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d</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0</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d</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d</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2</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 </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d</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15</m:t>
                    </m:r>
                  </m:oMath>
                </a14:m>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a:t>
                </a:r>
                <a:endPar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在本节中，符号</a:t>
                </a:r>
                <a14:m>
                  <m:oMath xmlns:m="http://schemas.openxmlformats.org/officeDocument/2006/math">
                    <m:r>
                      <m:rPr>
                        <m:nor/>
                      </m:rPr>
                      <a:rPr lang="en-US" altLang="zh-CN" sz="3600" i="0" dirty="0" smtClean="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a</m:t>
                    </m:r>
                    <m:r>
                      <m:rPr>
                        <m:nor/>
                      </m:rPr>
                      <a:rPr lang="en-US" altLang="zh-CN" sz="3600" i="0" dirty="0" smtClean="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 || </m:t>
                    </m:r>
                    <m:r>
                      <m:rPr>
                        <m:nor/>
                      </m:rPr>
                      <a:rPr lang="en-US" altLang="zh-CN" sz="3600" i="0" dirty="0" smtClean="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b</m:t>
                    </m:r>
                  </m:oMath>
                </a14:m>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表示字符串</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a</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和</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b</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的级联，如</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a=0x1234，b=0x5678，</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则有</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c=a||b=0x12345678</a:t>
                </a:r>
                <a:endPar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endParaRPr>
              </a:p>
            </p:txBody>
          </p:sp>
        </mc:Choice>
        <mc:Fallback>
          <p:sp>
            <p:nvSpPr>
              <p:cNvPr id="29" name="TextBox 29"/>
              <p:cNvSpPr txBox="1">
                <a:spLocks noRot="1" noChangeAspect="1" noMove="1" noResize="1" noEditPoints="1" noAdjustHandles="1" noChangeArrowheads="1" noChangeShapeType="1" noTextEdit="1"/>
              </p:cNvSpPr>
              <p:nvPr/>
            </p:nvSpPr>
            <p:spPr>
              <a:xfrm>
                <a:off x="1795468" y="1950805"/>
                <a:ext cx="14818191" cy="6584367"/>
              </a:xfrm>
              <a:prstGeom prst="rect">
                <a:avLst/>
              </a:prstGeom>
              <a:blipFill rotWithShape="1">
                <a:blip r:embed="rId1"/>
                <a:stretch>
                  <a:fillRect l="-2" t="-1" r="-2210" b="2"/>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p:txBody>
          <a:bodyPr/>
          <a:lstStyle/>
          <a:p>
            <a:fld id="{B6F15528-21DE-4FAA-801E-634DDDAF4B2B}" type="slidenum">
              <a:rPr lang="en-US" smtClean="0"/>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buClrTx/>
              <a:buSzTx/>
              <a:buFontTx/>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祖冲之序列密码算法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0"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1"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4" name="图片 13"/>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752684" y="1943274"/>
            <a:ext cx="14818191" cy="1328420"/>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每个</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i</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均是固定参数，具体如下：</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6" name="灯片编号占位符 5"/>
          <p:cNvSpPr>
            <a:spLocks noGrp="1"/>
          </p:cNvSpPr>
          <p:nvPr>
            <p:ph type="sldNum" sz="quarter" idx="12"/>
          </p:nvPr>
        </p:nvSpPr>
        <p:spPr/>
        <p:txBody>
          <a:bodyPr/>
          <a:lstStyle/>
          <a:p>
            <a:fld id="{B6F15528-21DE-4FAA-801E-634DDDAF4B2B}" type="slidenum">
              <a:rPr lang="en-US" smtClean="0"/>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buClrTx/>
              <a:buSzTx/>
              <a:buFontTx/>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祖冲之序列密码算法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0"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1"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4" name="图片 13"/>
            <p:cNvPicPr>
              <a:picLocks noChangeAspect="1"/>
            </p:cNvPicPr>
            <p:nvPr/>
          </p:nvPicPr>
          <p:blipFill>
            <a:blip r:embed="rId2"/>
            <a:stretch>
              <a:fillRect/>
            </a:stretch>
          </p:blipFill>
          <p:spPr>
            <a:xfrm>
              <a:off x="13944600" y="877286"/>
              <a:ext cx="2771429" cy="47619"/>
            </a:xfrm>
            <a:prstGeom prst="rect">
              <a:avLst/>
            </a:prstGeom>
          </p:spPr>
        </p:pic>
      </p:grpSp>
      <p:graphicFrame>
        <p:nvGraphicFramePr>
          <p:cNvPr id="2" name="对象 -2147481876"/>
          <p:cNvGraphicFramePr>
            <a:graphicFrameLocks noChangeAspect="1"/>
          </p:cNvGraphicFramePr>
          <p:nvPr/>
        </p:nvGraphicFramePr>
        <p:xfrm>
          <a:off x="2590800" y="3086100"/>
          <a:ext cx="4840605" cy="5720715"/>
        </p:xfrm>
        <a:graphic>
          <a:graphicData uri="http://schemas.openxmlformats.org/presentationml/2006/ole">
            <mc:AlternateContent xmlns:mc="http://schemas.openxmlformats.org/markup-compatibility/2006">
              <mc:Choice xmlns:v="urn:schemas-microsoft-com:vml" Requires="v">
                <p:oleObj spid="_x0000_s0" name="" r:id="rId3" imgW="1320800" imgH="3111500" progId="Equation.DSMT4">
                  <p:embed/>
                </p:oleObj>
              </mc:Choice>
              <mc:Fallback>
                <p:oleObj name="" r:id="rId3" imgW="1320800" imgH="3111500" progId="Equation.DSMT4">
                  <p:embed/>
                  <p:pic>
                    <p:nvPicPr>
                      <p:cNvPr id="0" name="图片 14"/>
                      <p:cNvPicPr/>
                      <p:nvPr/>
                    </p:nvPicPr>
                    <p:blipFill>
                      <a:blip r:embed="rId4"/>
                      <a:srcRect r="-2757" b="49786"/>
                      <a:stretch>
                        <a:fillRect/>
                      </a:stretch>
                    </p:blipFill>
                    <p:spPr>
                      <a:xfrm>
                        <a:off x="2590800" y="3086100"/>
                        <a:ext cx="4840605" cy="5720715"/>
                      </a:xfrm>
                      <a:prstGeom prst="rect">
                        <a:avLst/>
                      </a:prstGeom>
                      <a:noFill/>
                      <a:ln w="38100">
                        <a:noFill/>
                        <a:miter/>
                      </a:ln>
                    </p:spPr>
                  </p:pic>
                </p:oleObj>
              </mc:Fallback>
            </mc:AlternateContent>
          </a:graphicData>
        </a:graphic>
      </p:graphicFrame>
      <p:graphicFrame>
        <p:nvGraphicFramePr>
          <p:cNvPr id="16" name="对象 15"/>
          <p:cNvGraphicFramePr>
            <a:graphicFrameLocks noChangeAspect="1"/>
          </p:cNvGraphicFramePr>
          <p:nvPr/>
        </p:nvGraphicFramePr>
        <p:xfrm>
          <a:off x="8001000" y="3075305"/>
          <a:ext cx="5240020" cy="5683250"/>
        </p:xfrm>
        <a:graphic>
          <a:graphicData uri="http://schemas.openxmlformats.org/presentationml/2006/ole">
            <mc:AlternateContent xmlns:mc="http://schemas.openxmlformats.org/markup-compatibility/2006">
              <mc:Choice xmlns:v="urn:schemas-microsoft-com:vml" Requires="v">
                <p:oleObj spid="_x0000_s0" name="" r:id="rId5" imgW="1320800" imgH="3111500" progId="Equation.DSMT4">
                  <p:embed/>
                </p:oleObj>
              </mc:Choice>
              <mc:Fallback>
                <p:oleObj name="" r:id="rId5" imgW="1320800" imgH="3111500" progId="Equation.DSMT4">
                  <p:embed/>
                  <p:pic>
                    <p:nvPicPr>
                      <p:cNvPr id="0" name="图片 16"/>
                      <p:cNvPicPr/>
                      <p:nvPr/>
                    </p:nvPicPr>
                    <p:blipFill>
                      <a:blip r:embed="rId4"/>
                      <a:srcRect t="50948" r="-8961" b="183"/>
                      <a:stretch>
                        <a:fillRect/>
                      </a:stretch>
                    </p:blipFill>
                    <p:spPr>
                      <a:xfrm>
                        <a:off x="8001000" y="3075305"/>
                        <a:ext cx="5240020" cy="5683250"/>
                      </a:xfrm>
                      <a:prstGeom prst="rect">
                        <a:avLst/>
                      </a:prstGeom>
                      <a:noFill/>
                      <a:ln w="38100">
                        <a:noFill/>
                        <a:miter/>
                      </a:ln>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9" name="TextBox 29"/>
              <p:cNvSpPr txBox="1"/>
              <p:nvPr/>
            </p:nvSpPr>
            <p:spPr>
              <a:xfrm>
                <a:off x="1752684" y="1943274"/>
                <a:ext cx="14818191" cy="2656840"/>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在</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ZUC</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算法中还需要用到</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S</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盒和线性变换</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L</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这两种固定的运算工具，它们是密码算法中经常用到的重要组成部分。</a:t>
                </a:r>
                <a:endPar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S</a:t>
                </a:r>
                <a:r>
                  <a:rPr lang="zh-CN" altLang="en-US" sz="36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盒</a:t>
                </a:r>
                <a:r>
                  <a:rPr lang="en-US" altLang="zh-CN" sz="36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S</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盒由4个并列的</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8x8</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的</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S</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盒组成，总共为</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32x32</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，即</a:t>
                </a:r>
                <a14:m>
                  <m:oMath xmlns:m="http://schemas.openxmlformats.org/officeDocument/2006/math">
                    <m:r>
                      <m:rPr>
                        <m:nor/>
                      </m:rPr>
                      <a:rPr lang="en-US" altLang="zh-CN" sz="360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m:t>S</m:t>
                    </m:r>
                    <m:r>
                      <m:rPr>
                        <m:nor/>
                      </m:rPr>
                      <a:rPr lang="en-US" altLang="zh-CN" sz="360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m:t>=(</m:t>
                    </m:r>
                    <m:r>
                      <m:rPr>
                        <m:nor/>
                      </m:rPr>
                      <a:rPr lang="en-US" altLang="zh-CN" sz="360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m:t>S</m:t>
                    </m:r>
                    <m:r>
                      <m:rPr>
                        <m:nor/>
                      </m:rPr>
                      <a:rPr lang="en-US" altLang="zh-CN" sz="3600" i="0"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m:t>0</m:t>
                    </m:r>
                    <m:r>
                      <m:rPr>
                        <m:nor/>
                      </m:rPr>
                      <a:rPr lang="en-US" altLang="zh-CN" sz="360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m:t>，</m:t>
                    </m:r>
                    <m:r>
                      <m:rPr>
                        <m:nor/>
                      </m:rPr>
                      <a:rPr lang="en-US" altLang="zh-CN" sz="360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m:t>S</m:t>
                    </m:r>
                    <m:r>
                      <m:rPr>
                        <m:nor/>
                      </m:rPr>
                      <a:rPr lang="en-US" altLang="zh-CN" sz="3600" i="0"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m:t>1</m:t>
                    </m:r>
                    <m:r>
                      <m:rPr>
                        <m:nor/>
                      </m:rPr>
                      <a:rPr lang="en-US" altLang="zh-CN" sz="360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m:t>，</m:t>
                    </m:r>
                    <m:r>
                      <m:rPr>
                        <m:nor/>
                      </m:rPr>
                      <a:rPr lang="en-US" altLang="zh-CN" sz="360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m:t>S</m:t>
                    </m:r>
                    <m:r>
                      <m:rPr>
                        <m:nor/>
                      </m:rPr>
                      <a:rPr lang="en-US" altLang="zh-CN" sz="3600" i="0"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m:t>2</m:t>
                    </m:r>
                    <m:r>
                      <m:rPr>
                        <m:nor/>
                      </m:rPr>
                      <a:rPr lang="en-US" altLang="zh-CN" sz="360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m:t>，</m:t>
                    </m:r>
                    <m:r>
                      <m:rPr>
                        <m:nor/>
                      </m:rPr>
                      <a:rPr lang="en-US" altLang="zh-CN" sz="360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m:t>S</m:t>
                    </m:r>
                    <m:r>
                      <m:rPr>
                        <m:nor/>
                      </m:rPr>
                      <a:rPr lang="en-US" altLang="zh-CN" sz="3600" i="0"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m:t>3</m:t>
                    </m:r>
                    <m:r>
                      <m:rPr>
                        <m:nor/>
                      </m:rPr>
                      <a:rPr lang="en-US" altLang="zh-CN" sz="360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m:t>)，</m:t>
                    </m:r>
                  </m:oMath>
                </a14:m>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这里</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S</a:t>
                </a:r>
                <a:r>
                  <a:rPr lang="en-US" altLang="zh-CN" sz="3600"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0</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=S</a:t>
                </a:r>
                <a:r>
                  <a:rPr lang="en-US" altLang="zh-CN" sz="3600"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2</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，S</a:t>
                </a:r>
                <a:r>
                  <a:rPr lang="en-US" altLang="zh-CN" sz="3600"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1</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=S</a:t>
                </a:r>
                <a:r>
                  <a:rPr lang="en-US" altLang="zh-CN" sz="3600"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3</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。s</a:t>
                </a:r>
                <a:r>
                  <a:rPr lang="en-US" altLang="zh-CN" sz="3600"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0</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盒、</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s</a:t>
                </a:r>
                <a:r>
                  <a:rPr lang="en-US" altLang="zh-CN" sz="3600"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盒如图所示（十六进制）</a:t>
                </a:r>
                <a:endPar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endParaRPr>
              </a:p>
            </p:txBody>
          </p:sp>
        </mc:Choice>
        <mc:Fallback>
          <p:sp>
            <p:nvSpPr>
              <p:cNvPr id="29" name="TextBox 29"/>
              <p:cNvSpPr txBox="1">
                <a:spLocks noRot="1" noChangeAspect="1" noMove="1" noResize="1" noEditPoints="1" noAdjustHandles="1" noChangeArrowheads="1" noChangeShapeType="1" noTextEdit="1"/>
              </p:cNvSpPr>
              <p:nvPr/>
            </p:nvSpPr>
            <p:spPr>
              <a:xfrm>
                <a:off x="1752684" y="1943274"/>
                <a:ext cx="14818191" cy="2656840"/>
              </a:xfrm>
              <a:prstGeom prst="rect">
                <a:avLst/>
              </a:prstGeom>
              <a:blipFill rotWithShape="1">
                <a:blip r:embed="rId1"/>
                <a:stretch>
                  <a:fillRect l="-1" t="-7" r="4" b="-5180"/>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p:txBody>
          <a:bodyPr/>
          <a:lstStyle/>
          <a:p>
            <a:fld id="{B6F15528-21DE-4FAA-801E-634DDDAF4B2B}" type="slidenum">
              <a:rPr lang="en-US" smtClean="0"/>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buClrTx/>
              <a:buSzTx/>
              <a:buFontTx/>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祖冲之序列密码算法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0"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1"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4" name="图片 13"/>
            <p:cNvPicPr>
              <a:picLocks noChangeAspect="1"/>
            </p:cNvPicPr>
            <p:nvPr/>
          </p:nvPicPr>
          <p:blipFill>
            <a:blip r:embed="rId3"/>
            <a:stretch>
              <a:fillRect/>
            </a:stretch>
          </p:blipFill>
          <p:spPr>
            <a:xfrm>
              <a:off x="13944600" y="877286"/>
              <a:ext cx="2771429" cy="47619"/>
            </a:xfrm>
            <a:prstGeom prst="rect">
              <a:avLst/>
            </a:prstGeom>
          </p:spPr>
        </p:pic>
      </p:grpSp>
      <p:pic>
        <p:nvPicPr>
          <p:cNvPr id="2" name="图片 1"/>
          <p:cNvPicPr>
            <a:picLocks noChangeAspect="1"/>
          </p:cNvPicPr>
          <p:nvPr/>
        </p:nvPicPr>
        <p:blipFill>
          <a:blip r:embed="rId4"/>
          <a:stretch>
            <a:fillRect/>
          </a:stretch>
        </p:blipFill>
        <p:spPr>
          <a:xfrm>
            <a:off x="1600200" y="5372100"/>
            <a:ext cx="7654290" cy="4615180"/>
          </a:xfrm>
          <a:prstGeom prst="rect">
            <a:avLst/>
          </a:prstGeom>
        </p:spPr>
      </p:pic>
      <p:pic>
        <p:nvPicPr>
          <p:cNvPr id="3" name="图片 2"/>
          <p:cNvPicPr>
            <a:picLocks noChangeAspect="1"/>
          </p:cNvPicPr>
          <p:nvPr/>
        </p:nvPicPr>
        <p:blipFill>
          <a:blip r:embed="rId5"/>
          <a:stretch>
            <a:fillRect/>
          </a:stretch>
        </p:blipFill>
        <p:spPr>
          <a:xfrm>
            <a:off x="9403080" y="5312410"/>
            <a:ext cx="7727950" cy="4709160"/>
          </a:xfrm>
          <a:prstGeom prst="rect">
            <a:avLst/>
          </a:prstGeom>
        </p:spPr>
      </p:pic>
      <p:sp>
        <p:nvSpPr>
          <p:cNvPr id="4" name="文本框 3"/>
          <p:cNvSpPr txBox="1"/>
          <p:nvPr/>
        </p:nvSpPr>
        <p:spPr>
          <a:xfrm>
            <a:off x="4537075" y="4914265"/>
            <a:ext cx="1780540" cy="368300"/>
          </a:xfrm>
          <a:prstGeom prst="rect">
            <a:avLst/>
          </a:prstGeom>
          <a:noFill/>
        </p:spPr>
        <p:txBody>
          <a:bodyPr wrap="square" rtlCol="0">
            <a:noAutofit/>
          </a:bodyPr>
          <a:lstStyle/>
          <a:p>
            <a:r>
              <a:rPr lang="zh-CN" altLang="en-US"/>
              <a:t>表</a:t>
            </a:r>
            <a:r>
              <a:rPr lang="zh-CN" altLang="en-US">
                <a:latin typeface="Times New Roman" panose="02020603050405020304" pitchFamily="18" charset="0"/>
                <a:cs typeface="Times New Roman" panose="02020603050405020304" pitchFamily="18" charset="0"/>
              </a:rPr>
              <a:t>6.1　</a:t>
            </a:r>
            <a:r>
              <a:rPr lang="en-US" altLang="zh-CN">
                <a:latin typeface="Times New Roman" panose="02020603050405020304" pitchFamily="18" charset="0"/>
                <a:cs typeface="Times New Roman" panose="02020603050405020304" pitchFamily="18" charset="0"/>
              </a:rPr>
              <a:t>S</a:t>
            </a:r>
            <a:r>
              <a:rPr lang="zh-CN" altLang="en-US">
                <a:latin typeface="Times New Roman" panose="02020603050405020304" pitchFamily="18" charset="0"/>
                <a:cs typeface="Times New Roman" panose="02020603050405020304" pitchFamily="18" charset="0"/>
              </a:rPr>
              <a:t>盒</a:t>
            </a:r>
            <a:r>
              <a:rPr lang="en-US" altLang="zh-CN">
                <a:latin typeface="Times New Roman" panose="02020603050405020304" pitchFamily="18" charset="0"/>
                <a:cs typeface="Times New Roman" panose="02020603050405020304" pitchFamily="18" charset="0"/>
              </a:rPr>
              <a:t>S</a:t>
            </a:r>
            <a:r>
              <a:rPr lang="en-US" altLang="zh-CN" baseline="-25000">
                <a:latin typeface="Times New Roman" panose="02020603050405020304" pitchFamily="18" charset="0"/>
                <a:cs typeface="Times New Roman" panose="02020603050405020304" pitchFamily="18" charset="0"/>
              </a:rPr>
              <a:t>0</a:t>
            </a:r>
            <a:endParaRPr lang="en-US" altLang="zh-CN" baseline="-25000">
              <a:latin typeface="Times New Roman" panose="02020603050405020304" pitchFamily="18" charset="0"/>
              <a:cs typeface="Times New Roman" panose="02020603050405020304" pitchFamily="18" charset="0"/>
            </a:endParaRPr>
          </a:p>
        </p:txBody>
      </p:sp>
      <p:sp>
        <p:nvSpPr>
          <p:cNvPr id="15" name="文本框 14"/>
          <p:cNvSpPr txBox="1"/>
          <p:nvPr/>
        </p:nvSpPr>
        <p:spPr>
          <a:xfrm>
            <a:off x="12192000" y="4914900"/>
            <a:ext cx="2372360" cy="458470"/>
          </a:xfrm>
          <a:prstGeom prst="rect">
            <a:avLst/>
          </a:prstGeom>
          <a:noFill/>
        </p:spPr>
        <p:txBody>
          <a:bodyPr wrap="square" rtlCol="0">
            <a:noAutofit/>
          </a:bodyPr>
          <a:lstStyle/>
          <a:p>
            <a:pPr algn="l">
              <a:buClrTx/>
              <a:buSzTx/>
              <a:buFontTx/>
            </a:pPr>
            <a:r>
              <a:rPr lang="zh-CN" altLang="en-US">
                <a:latin typeface="Times New Roman" panose="02020603050405020304" pitchFamily="18" charset="0"/>
                <a:cs typeface="Times New Roman" panose="02020603050405020304" pitchFamily="18" charset="0"/>
              </a:rPr>
              <a:t>表6.2　S盒S</a:t>
            </a:r>
            <a:r>
              <a:rPr lang="zh-CN" altLang="en-US" baseline="-25000">
                <a:latin typeface="Times New Roman" panose="02020603050405020304" pitchFamily="18" charset="0"/>
                <a:cs typeface="Times New Roman" panose="02020603050405020304" pitchFamily="18" charset="0"/>
              </a:rPr>
              <a:t>1</a:t>
            </a:r>
            <a:endParaRPr lang="zh-CN" altLang="en-US" baseline="-2500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9" name="TextBox 29"/>
              <p:cNvSpPr txBox="1"/>
              <p:nvPr/>
            </p:nvSpPr>
            <p:spPr>
              <a:xfrm>
                <a:off x="393290" y="2094426"/>
                <a:ext cx="17501419" cy="6324600"/>
              </a:xfrm>
              <a:prstGeom prst="rect">
                <a:avLst/>
              </a:prstGeom>
            </p:spPr>
            <p:txBody>
              <a:bodyPr wrap="square" lIns="0" tIns="0" rIns="0" bIns="0" rtlCol="0" anchor="t">
                <a:no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线性变换</a:t>
                </a:r>
                <a:r>
                  <a:rPr lang="en-US" altLang="zh-CN" sz="36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L</a:t>
                </a:r>
                <a:r>
                  <a:rPr lang="en-US" altLang="zh-CN" sz="3600" b="1"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1</a:t>
                </a:r>
                <a:r>
                  <a:rPr lang="zh-CN" altLang="en-US" sz="36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和</a:t>
                </a:r>
                <a:r>
                  <a:rPr lang="en-US" altLang="zh-CN" sz="36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L</a:t>
                </a:r>
                <a:r>
                  <a:rPr lang="en-US" altLang="zh-CN" sz="3600" b="1"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2</a:t>
                </a:r>
                <a:endParaRPr lang="en-US" altLang="zh-CN" sz="3600" b="1"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L</a:t>
                </a:r>
                <a:r>
                  <a:rPr lang="en-US" altLang="zh-CN" sz="3600"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和</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L</a:t>
                </a:r>
                <a:r>
                  <a:rPr lang="en-US" altLang="zh-CN" sz="3600"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都是32位到32位的线性变换，其定义为</a:t>
                </a:r>
                <a:endPar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endParaRPr>
              </a:p>
              <a:p>
                <a:pPr indent="914400" algn="just" fontAlgn="auto" latinLnBrk="1">
                  <a:lnSpc>
                    <a:spcPct val="120000"/>
                  </a:lnSpc>
                  <a:buClrTx/>
                  <a:buSzTx/>
                  <a:buNone/>
                  <a:extLst>
                    <a:ext uri="{35155182-B16C-46BC-9424-99874614C6A1}">
                      <wpsdc:indentchars xmlns:wpsdc="http://www.wps.cn/officeDocument/2017/drawingmlCustomData" val="200" checksum="797548545"/>
                    </a:ext>
                  </a:extLst>
                </a:pPr>
                <a:r>
                  <a:rPr lang="en-US" altLang="zh-CN" sz="3600" dirty="0">
                    <a:solidFill>
                      <a:srgbClr val="000000"/>
                    </a:solidFill>
                    <a:ea typeface="宋体" panose="02010600030101010101" pitchFamily="2" charset="-122"/>
                    <a:cs typeface="字由点字典黑 2"/>
                    <a:sym typeface="字由点字典黑 2"/>
                  </a:rPr>
                  <a:t> </a:t>
                </a:r>
                <a14:m>
                  <m:oMath xmlns:m="http://schemas.openxmlformats.org/officeDocument/2006/math">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𝐿</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m:t>
                    </m:r>
                    <m:d>
                      <m:dPr>
                        <m:ctrl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ctrlPr>
                      </m:dPr>
                      <m:e>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𝑋</m:t>
                        </m:r>
                      </m:e>
                    </m:d>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𝑋</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d>
                      <m:dPr>
                        <m:ctrl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ctrlPr>
                      </m:dPr>
                      <m:e>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𝑋</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&lt;&lt;&lt;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322</m:t>
                        </m:r>
                      </m:e>
                    </m:d>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d>
                      <m:dPr>
                        <m:ctrl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ctrlPr>
                      </m:dPr>
                      <m:e>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𝑋</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&lt;&lt;&lt;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3210</m:t>
                        </m:r>
                      </m:e>
                    </m:d>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d>
                      <m:dPr>
                        <m:ctrl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ctrlPr>
                      </m:dPr>
                      <m:e>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𝑋</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&lt;&lt;&lt;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3218</m:t>
                        </m:r>
                      </m:e>
                    </m:d>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d>
                      <m:dPr>
                        <m:ctrl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ctrlPr>
                      </m:dPr>
                      <m:e>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𝑋</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&lt;&lt;&lt;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3222</m:t>
                        </m:r>
                      </m:e>
                    </m:d>
                  </m:oMath>
                </a14:m>
                <a:endPar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endParaRPr>
              </a:p>
              <a:p>
                <a:pPr indent="914400" algn="just" fontAlgn="auto" latinLnBrk="1">
                  <a:lnSpc>
                    <a:spcPct val="120000"/>
                  </a:lnSpc>
                  <a:buClrTx/>
                  <a:buSzTx/>
                  <a:buNone/>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 </a:t>
                </a:r>
                <a14:m>
                  <m:oMath xmlns:m="http://schemas.openxmlformats.org/officeDocument/2006/math">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𝐿</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2</m:t>
                    </m:r>
                    <m:d>
                      <m:dPr>
                        <m:ctrl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ctrlPr>
                      </m:dPr>
                      <m:e>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𝑋</m:t>
                        </m:r>
                      </m:e>
                    </m:d>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𝑋</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d>
                      <m:dPr>
                        <m:ctrl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ctrlPr>
                      </m:dPr>
                      <m:e>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𝑋</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&lt;&lt;&lt;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328</m:t>
                        </m:r>
                      </m:e>
                    </m:d>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d>
                      <m:dPr>
                        <m:ctrl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ctrlPr>
                      </m:dPr>
                      <m:e>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𝑋</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&lt;&lt;&lt;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3214</m:t>
                        </m:r>
                      </m:e>
                    </m:d>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d>
                      <m:dPr>
                        <m:ctrl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ctrlPr>
                      </m:dPr>
                      <m:e>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𝑋</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&lt;&lt;&lt;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3222</m:t>
                        </m:r>
                      </m:e>
                    </m:d>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d>
                      <m:dPr>
                        <m:ctrl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ctrlPr>
                      </m:dPr>
                      <m:e>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𝑋</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&lt;&lt;&lt;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3232</m:t>
                        </m:r>
                      </m:e>
                    </m:d>
                  </m:oMath>
                </a14:m>
                <a:endPar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endParaRPr>
              </a:p>
              <a:p>
                <a:pPr indent="914400" algn="just" fontAlgn="auto" latinLnBrk="1">
                  <a:lnSpc>
                    <a:spcPct val="120000"/>
                  </a:lnSpc>
                  <a:buClrTx/>
                  <a:buSzTx/>
                  <a:buNone/>
                  <a:extLst>
                    <a:ext uri="{35155182-B16C-46BC-9424-99874614C6A1}">
                      <wpsdc:indentchars xmlns:wpsdc="http://www.wps.cn/officeDocument/2017/drawingmlCustomData" val="200" checksum="797548545"/>
                    </a:ext>
                  </a:extLst>
                </a:pP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mc:Choice>
        <mc:Fallback>
          <p:sp>
            <p:nvSpPr>
              <p:cNvPr id="29" name="TextBox 29"/>
              <p:cNvSpPr txBox="1">
                <a:spLocks noRot="1" noChangeAspect="1" noMove="1" noResize="1" noEditPoints="1" noAdjustHandles="1" noChangeArrowheads="1" noChangeShapeType="1" noTextEdit="1"/>
              </p:cNvSpPr>
              <p:nvPr/>
            </p:nvSpPr>
            <p:spPr>
              <a:xfrm>
                <a:off x="393290" y="2094426"/>
                <a:ext cx="17501419" cy="6324600"/>
              </a:xfrm>
              <a:prstGeom prst="rect">
                <a:avLst/>
              </a:prstGeom>
              <a:blipFill rotWithShape="1">
                <a:blip r:embed="rId1"/>
                <a:stretch>
                  <a:fillRect l="-1" t="-3" r="2" b="3"/>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p:txBody>
          <a:bodyPr/>
          <a:lstStyle/>
          <a:p>
            <a:fld id="{B6F15528-21DE-4FAA-801E-634DDDAF4B2B}" type="slidenum">
              <a:rPr lang="en-US" smtClean="0"/>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buClrTx/>
              <a:buSzTx/>
              <a:buFontTx/>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祖冲之序列密码算法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0"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1"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4" name="图片 13"/>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333805" y="2172099"/>
            <a:ext cx="14818191" cy="664210"/>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ZUC</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算法结构分为上、中、下三层，分别为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LFSR、BR、</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非线性函数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6" name="灯片编号占位符 5"/>
          <p:cNvSpPr>
            <a:spLocks noGrp="1"/>
          </p:cNvSpPr>
          <p:nvPr>
            <p:ph type="sldNum" sz="quarter" idx="12"/>
          </p:nvPr>
        </p:nvSpPr>
        <p:spPr/>
        <p:txBody>
          <a:bodyPr/>
          <a:lstStyle/>
          <a:p>
            <a:fld id="{B6F15528-21DE-4FAA-801E-634DDDAF4B2B}" type="slidenum">
              <a:rPr lang="en-US" smtClean="0"/>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buClrTx/>
              <a:buSzTx/>
              <a:buFontTx/>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祖冲之序列密码算法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0"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1"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4" name="图片 13"/>
            <p:cNvPicPr>
              <a:picLocks noChangeAspect="1"/>
            </p:cNvPicPr>
            <p:nvPr/>
          </p:nvPicPr>
          <p:blipFill>
            <a:blip r:embed="rId2"/>
            <a:stretch>
              <a:fillRect/>
            </a:stretch>
          </p:blipFill>
          <p:spPr>
            <a:xfrm>
              <a:off x="13944600" y="877286"/>
              <a:ext cx="2771429" cy="47619"/>
            </a:xfrm>
            <a:prstGeom prst="rect">
              <a:avLst/>
            </a:prstGeom>
          </p:spPr>
        </p:pic>
      </p:grpSp>
      <mc:AlternateContent xmlns:mc="http://schemas.openxmlformats.org/markup-compatibility/2006">
        <mc:Choice xmlns:a14="http://schemas.microsoft.com/office/drawing/2010/main" Requires="a14">
          <p:sp>
            <p:nvSpPr>
              <p:cNvPr id="2" name="文本框 1"/>
              <p:cNvSpPr txBox="1"/>
              <p:nvPr/>
            </p:nvSpPr>
            <p:spPr>
              <a:xfrm>
                <a:off x="1333805" y="2972117"/>
                <a:ext cx="15287625" cy="6659245"/>
              </a:xfrm>
              <a:prstGeom prst="rect">
                <a:avLst/>
              </a:prstGeom>
              <a:noFill/>
            </p:spPr>
            <p:txBody>
              <a:bodyPr wrap="square" rtlCol="0">
                <a:noAutofit/>
              </a:bodyPr>
              <a:lstStyle/>
              <a:p>
                <a:pPr indent="914400" fontAlgn="auto">
                  <a:extLst>
                    <a:ext uri="{35155182-B16C-46BC-9424-99874614C6A1}">
                      <wpsdc:indentchars xmlns:wpsdc="http://www.wps.cn/officeDocument/2017/drawingmlCustomData" val="200" checksum="797548545"/>
                    </a:ext>
                  </a:extLst>
                </a:pPr>
                <a:r>
                  <a:rPr lang="zh-CN" altLang="en-US" sz="3600" b="1" dirty="0">
                    <a:solidFill>
                      <a:srgbClr val="000000"/>
                    </a:solidFill>
                    <a:latin typeface="Times New Roman" panose="02020603050405020304" pitchFamily="18" charset="0"/>
                    <a:ea typeface="宋体" panose="02010600030101010101" pitchFamily="2" charset="-122"/>
                    <a:cs typeface="字由点字典黑 2"/>
                  </a:rPr>
                  <a:t>1．LFSR模块</a:t>
                </a:r>
                <a:endParaRPr lang="zh-CN" altLang="en-US" sz="3600" b="1" dirty="0">
                  <a:solidFill>
                    <a:srgbClr val="000000"/>
                  </a:solidFill>
                  <a:latin typeface="Times New Roman" panose="02020603050405020304" pitchFamily="18" charset="0"/>
                  <a:ea typeface="宋体" panose="02010600030101010101" pitchFamily="2" charset="-122"/>
                  <a:cs typeface="字由点字典黑 2"/>
                </a:endParaRPr>
              </a:p>
              <a:p>
                <a:pPr indent="914400" algn="just" fontAlgn="auto" latinLnBrk="1">
                  <a:lnSpc>
                    <a:spcPct val="120000"/>
                  </a:lnSpc>
                  <a:buClrTx/>
                  <a:buSzTx/>
                  <a:buNone/>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rPr>
                  <a:t>LFSR包括16个31位寄存器单元变量s</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rPr>
                  <a:t>0</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,s</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rPr>
                  <a:t>1</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,...,s</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rPr>
                  <a:t>15</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，有初始化模式和工作模式</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a:t>
                </a:r>
                <a:endParaRPr lang="en-US" altLang="zh-CN" sz="3600" dirty="0">
                  <a:solidFill>
                    <a:srgbClr val="000000"/>
                  </a:solidFill>
                  <a:latin typeface="Times New Roman" panose="02020603050405020304" pitchFamily="18" charset="0"/>
                  <a:ea typeface="宋体" panose="02010600030101010101" pitchFamily="2" charset="-122"/>
                  <a:cs typeface="字由点字典黑 2"/>
                </a:endParaRPr>
              </a:p>
              <a:p>
                <a:pPr indent="914400" algn="just" fontAlgn="auto" latinLnBrk="1">
                  <a:lnSpc>
                    <a:spcPct val="120000"/>
                  </a:lnSpc>
                  <a:buClrTx/>
                  <a:buSzTx/>
                  <a:buNone/>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rPr>
                  <a:t>在初始化模式下，LFSR接收一个31位的输入字u，而u是通过去掉非线性函数F输出的32位字w的最右边的位获得的。也就是</a:t>
                </a:r>
                <a14:m>
                  <m:oMath xmlns:m="http://schemas.openxmlformats.org/officeDocument/2006/math">
                    <m:r>
                      <a:rPr lang="en-US" altLang="zh-CN" sz="3600" dirty="0">
                        <a:solidFill>
                          <a:srgbClr val="000000"/>
                        </a:solidFill>
                        <a:latin typeface="Cambria Math" panose="02040503050406030204" pitchFamily="18" charset="0"/>
                        <a:ea typeface="宋体" panose="02010600030101010101" pitchFamily="2" charset="-122"/>
                        <a:cs typeface="字由点字典黑 2"/>
                      </a:rPr>
                      <m:t>𝑢</m:t>
                    </m:r>
                    <m:r>
                      <a:rPr lang="en-US" altLang="zh-CN" sz="3600" dirty="0">
                        <a:solidFill>
                          <a:srgbClr val="000000"/>
                        </a:solidFill>
                        <a:latin typeface="Cambria Math" panose="02040503050406030204" pitchFamily="18" charset="0"/>
                        <a:ea typeface="宋体" panose="02010600030101010101" pitchFamily="2" charset="-122"/>
                        <a:cs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字由点字典黑 2"/>
                      </a:rPr>
                      <m:t>𝑤</m:t>
                    </m:r>
                    <m:r>
                      <a:rPr lang="en-US" altLang="zh-CN" sz="3600" dirty="0">
                        <a:solidFill>
                          <a:srgbClr val="000000"/>
                        </a:solidFill>
                        <a:latin typeface="Cambria Math" panose="02040503050406030204" pitchFamily="18" charset="0"/>
                        <a:ea typeface="宋体" panose="02010600030101010101" pitchFamily="2" charset="-122"/>
                        <a:cs typeface="字由点字典黑 2"/>
                      </a:rPr>
                      <m:t>&gt;&gt;</m:t>
                    </m:r>
                    <m:r>
                      <a:rPr lang="en-US" altLang="zh-CN" sz="3600" dirty="0">
                        <a:solidFill>
                          <a:srgbClr val="000000"/>
                        </a:solidFill>
                        <a:latin typeface="Cambria Math" panose="02040503050406030204" pitchFamily="18" charset="0"/>
                        <a:ea typeface="宋体" panose="02010600030101010101" pitchFamily="2" charset="-122"/>
                        <a:cs typeface="字由点字典黑 2"/>
                      </a:rPr>
                      <m:t>1</m:t>
                    </m:r>
                  </m:oMath>
                </a14:m>
                <a:r>
                  <a:rPr lang="en-US" altLang="zh-CN" sz="3600" dirty="0">
                    <a:solidFill>
                      <a:srgbClr val="000000"/>
                    </a:solidFill>
                    <a:latin typeface="Times New Roman" panose="02020603050405020304" pitchFamily="18" charset="0"/>
                    <a:ea typeface="宋体" panose="02010600030101010101" pitchFamily="2" charset="-122"/>
                    <a:cs typeface="字由点字典黑 2"/>
                  </a:rPr>
                  <a:t>，即循环右移1位。</a:t>
                </a:r>
                <a:endParaRPr lang="en-US" altLang="zh-CN" sz="3600" dirty="0">
                  <a:solidFill>
                    <a:srgbClr val="000000"/>
                  </a:solidFill>
                  <a:latin typeface="Times New Roman" panose="02020603050405020304" pitchFamily="18" charset="0"/>
                  <a:ea typeface="宋体" panose="02010600030101010101" pitchFamily="2" charset="-122"/>
                  <a:cs typeface="字由点字典黑 2"/>
                </a:endParaRPr>
              </a:p>
              <a:p>
                <a:pPr indent="914400" algn="just" fontAlgn="auto" latinLnBrk="1">
                  <a:lnSpc>
                    <a:spcPct val="120000"/>
                  </a:lnSpc>
                  <a:buClrTx/>
                  <a:buSzTx/>
                  <a:buNone/>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rPr>
                  <a:t>在工作模式下，</a:t>
                </a:r>
                <a:r>
                  <a:rPr lang="en-US" altLang="zh-CN" sz="3600" dirty="0">
                    <a:solidFill>
                      <a:srgbClr val="000000"/>
                    </a:solidFill>
                    <a:latin typeface="Times New Roman" panose="02020603050405020304" pitchFamily="18" charset="0"/>
                    <a:ea typeface="宋体" panose="02010600030101010101" pitchFamily="2" charset="-122"/>
                    <a:cs typeface="字由点字典黑 2"/>
                  </a:rPr>
                  <a:t>LFSR</a:t>
                </a:r>
                <a:r>
                  <a:rPr lang="zh-CN" altLang="en-US" sz="3600" dirty="0">
                    <a:solidFill>
                      <a:srgbClr val="000000"/>
                    </a:solidFill>
                    <a:latin typeface="Times New Roman" panose="02020603050405020304" pitchFamily="18" charset="0"/>
                    <a:ea typeface="宋体" panose="02010600030101010101" pitchFamily="2" charset="-122"/>
                    <a:cs typeface="字由点字典黑 2"/>
                  </a:rPr>
                  <a:t>不再接收任何输入。</a:t>
                </a:r>
                <a:endParaRPr lang="zh-CN" altLang="en-US" sz="3600" dirty="0">
                  <a:solidFill>
                    <a:srgbClr val="000000"/>
                  </a:solidFill>
                  <a:latin typeface="Times New Roman" panose="02020603050405020304" pitchFamily="18" charset="0"/>
                  <a:ea typeface="宋体" panose="02010600030101010101" pitchFamily="2" charset="-122"/>
                  <a:cs typeface="字由点字典黑 2"/>
                </a:endParaRPr>
              </a:p>
            </p:txBody>
          </p:sp>
        </mc:Choice>
        <mc:Fallback>
          <p:sp>
            <p:nvSpPr>
              <p:cNvPr id="2" name="文本框 1"/>
              <p:cNvSpPr txBox="1">
                <a:spLocks noRot="1" noChangeAspect="1" noMove="1" noResize="1" noEditPoints="1" noAdjustHandles="1" noChangeArrowheads="1" noChangeShapeType="1" noTextEdit="1"/>
              </p:cNvSpPr>
              <p:nvPr/>
            </p:nvSpPr>
            <p:spPr>
              <a:xfrm>
                <a:off x="1333805" y="2972117"/>
                <a:ext cx="15287625" cy="6659245"/>
              </a:xfrm>
              <a:prstGeom prst="rect">
                <a:avLst/>
              </a:prstGeom>
              <a:blipFill rotWithShape="1">
                <a:blip r:embed="rId3"/>
                <a:stretch>
                  <a:fillRect l="-2" t="-5" r="2" b="5"/>
                </a:stretch>
              </a:blipFill>
            </p:spPr>
            <p:txBody>
              <a:bodyPr/>
              <a:lstStyle/>
              <a:p>
                <a:r>
                  <a:rPr lang="zh-CN"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9" name="TextBox 29"/>
              <p:cNvSpPr txBox="1"/>
              <p:nvPr/>
            </p:nvSpPr>
            <p:spPr>
              <a:xfrm>
                <a:off x="1752600" y="1562100"/>
                <a:ext cx="14313535" cy="5067935"/>
              </a:xfrm>
              <a:prstGeom prst="rect">
                <a:avLst/>
              </a:prstGeom>
            </p:spPr>
            <p:txBody>
              <a:bodyPr wrap="square" lIns="0" tIns="0" rIns="0" bIns="0" rtlCol="0" anchor="t">
                <a:no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初始化模式详细步骤如下。</a:t>
                </a:r>
                <a:endParaRPr lang="zh-CN" altLang="en-US" sz="36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endParaRPr>
              </a:p>
              <a:p>
                <a:pPr indent="0" algn="l" fontAlgn="auto" latinLnBrk="1">
                  <a:lnSpc>
                    <a:spcPct val="120000"/>
                  </a:lnSpc>
                </a:pP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LFSRWithInitialisationMode(u){ </a:t>
                </a:r>
                <a:endPar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endParaRPr>
              </a:p>
              <a:p>
                <a:pPr indent="0" algn="l" fontAlgn="auto" latinLnBrk="1">
                  <a:lnSpc>
                    <a:spcPct val="120000"/>
                  </a:lnSpc>
                </a:pP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① </a:t>
                </a:r>
                <a14:m>
                  <m:oMath xmlns:m="http://schemas.openxmlformats.org/officeDocument/2006/math">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v</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215</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s</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15</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2</m:t>
                    </m:r>
                    <m:r>
                      <a:rPr lang="en-US" altLang="zh-CN" sz="3600" baseline="30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17</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s</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13</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2</m:t>
                    </m:r>
                    <m:r>
                      <a:rPr lang="en-US" altLang="zh-CN" sz="3600" baseline="30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21</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s</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10</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 +</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2</m:t>
                    </m:r>
                    <m:r>
                      <a:rPr lang="en-US" altLang="zh-CN" sz="3600" baseline="30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20</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s</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4</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d>
                      <m:dPr>
                        <m:ctrl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ctrlPr>
                      </m:dPr>
                      <m:e>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2</m:t>
                        </m:r>
                        <m:r>
                          <a:rPr lang="en-US" altLang="zh-CN" sz="3600" baseline="30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8</m:t>
                        </m:r>
                      </m:e>
                    </m:d>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s</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0</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mod</m:t>
                    </m:r>
                    <m:d>
                      <m:dPr>
                        <m:ctrl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ctrlPr>
                      </m:dPr>
                      <m:e>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2</m:t>
                        </m:r>
                        <m:r>
                          <a:rPr lang="en-US" altLang="zh-CN" sz="3600" baseline="30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31</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m:t>
                        </m:r>
                      </m:e>
                    </m:d>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oMath>
                </a14:m>
                <a:endPar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endParaRPr>
              </a:p>
              <a:p>
                <a:pPr indent="0" algn="l" fontAlgn="auto" latinLnBrk="1">
                  <a:lnSpc>
                    <a:spcPct val="120000"/>
                  </a:lnSpc>
                </a:pP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② If v=0，then set </a:t>
                </a:r>
                <a14:m>
                  <m:oMath xmlns:m="http://schemas.openxmlformats.org/officeDocument/2006/math">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𝑣</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231</m:t>
                    </m:r>
                    <m:r>
                      <m:rPr>
                        <m:nor/>
                      </m:rPr>
                      <a:rPr lang="en-US" altLang="zh-CN" sz="360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m:t>
                    </m:r>
                  </m:oMath>
                </a14:m>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a:t>
                </a:r>
                <a:endPar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endParaRPr>
              </a:p>
              <a:p>
                <a:pPr indent="0" algn="l" fontAlgn="auto" latinLnBrk="1">
                  <a:lnSpc>
                    <a:spcPct val="120000"/>
                  </a:lnSpc>
                </a:pP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③ </a:t>
                </a:r>
                <a14:m>
                  <m:oMath xmlns:m="http://schemas.openxmlformats.org/officeDocument/2006/math">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s</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16</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v</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u</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mod</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231</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oMath>
                </a14:m>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；其中</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u</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为</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w&gt;&gt;1</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w</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为非线性函数</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F</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的输出；</a:t>
                </a:r>
                <a:endPar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endParaRPr>
              </a:p>
              <a:p>
                <a:pPr indent="0" algn="l" fontAlgn="auto" latinLnBrk="1">
                  <a:lnSpc>
                    <a:spcPct val="120000"/>
                  </a:lnSpc>
                </a:pP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④ If s</a:t>
                </a:r>
                <a:r>
                  <a:rPr lang="en-US" altLang="zh-CN" sz="3600"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16</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=0，then set </a:t>
                </a:r>
                <a14:m>
                  <m:oMath xmlns:m="http://schemas.openxmlformats.org/officeDocument/2006/math">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s</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16</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2</m:t>
                    </m:r>
                    <m:r>
                      <a:rPr lang="en-US" altLang="zh-CN" sz="3600" baseline="30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31</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m:t>
                    </m:r>
                  </m:oMath>
                </a14:m>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a:t>
                </a:r>
                <a:endPar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endParaRPr>
              </a:p>
              <a:p>
                <a:pPr indent="0" algn="l" fontAlgn="auto" latinLnBrk="1">
                  <a:lnSpc>
                    <a:spcPct val="120000"/>
                  </a:lnSpc>
                </a:pP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⑤ </a:t>
                </a:r>
                <a14:m>
                  <m:oMath xmlns:m="http://schemas.openxmlformats.org/officeDocument/2006/math">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s</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s</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2</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s</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15</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s</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16</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)−&gt;(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s</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0</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s</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s</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14</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s</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15</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oMath>
                </a14:m>
                <a:endPar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endParaRPr>
              </a:p>
            </p:txBody>
          </p:sp>
        </mc:Choice>
        <mc:Fallback>
          <p:sp>
            <p:nvSpPr>
              <p:cNvPr id="29" name="TextBox 29"/>
              <p:cNvSpPr txBox="1">
                <a:spLocks noRot="1" noChangeAspect="1" noMove="1" noResize="1" noEditPoints="1" noAdjustHandles="1" noChangeArrowheads="1" noChangeShapeType="1" noTextEdit="1"/>
              </p:cNvSpPr>
              <p:nvPr/>
            </p:nvSpPr>
            <p:spPr>
              <a:xfrm>
                <a:off x="1752600" y="1562100"/>
                <a:ext cx="14313535" cy="5067935"/>
              </a:xfrm>
              <a:prstGeom prst="rect">
                <a:avLst/>
              </a:prstGeom>
              <a:blipFill rotWithShape="1">
                <a:blip r:embed="rId1"/>
                <a:stretch>
                  <a:fillRect r="-2462"/>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p:txBody>
          <a:bodyPr/>
          <a:lstStyle/>
          <a:p>
            <a:fld id="{B6F15528-21DE-4FAA-801E-634DDDAF4B2B}" type="slidenum">
              <a:rPr lang="en-US" smtClean="0"/>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buClrTx/>
              <a:buSzTx/>
              <a:buFontTx/>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祖冲之序列密码算法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0"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1"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4" name="图片 13"/>
            <p:cNvPicPr>
              <a:picLocks noChangeAspect="1"/>
            </p:cNvPicPr>
            <p:nvPr/>
          </p:nvPicPr>
          <p:blipFill>
            <a:blip r:embed="rId3"/>
            <a:stretch>
              <a:fillRect/>
            </a:stretch>
          </p:blipFill>
          <p:spPr>
            <a:xfrm>
              <a:off x="13944600" y="877286"/>
              <a:ext cx="2771429" cy="47619"/>
            </a:xfrm>
            <a:prstGeom prst="rect">
              <a:avLst/>
            </a:prstGeom>
          </p:spPr>
        </p:pic>
      </p:grpSp>
      <mc:AlternateContent xmlns:mc="http://schemas.openxmlformats.org/markup-compatibility/2006">
        <mc:Choice xmlns:a14="http://schemas.microsoft.com/office/drawing/2010/main" Requires="a14">
          <p:sp>
            <p:nvSpPr>
              <p:cNvPr id="3" name="文本框 2"/>
              <p:cNvSpPr txBox="1"/>
              <p:nvPr/>
            </p:nvSpPr>
            <p:spPr>
              <a:xfrm>
                <a:off x="1752600" y="6362700"/>
                <a:ext cx="16075025" cy="3450590"/>
              </a:xfrm>
              <a:prstGeom prst="rect">
                <a:avLst/>
              </a:prstGeom>
              <a:noFill/>
            </p:spPr>
            <p:txBody>
              <a:bodyPr wrap="square" rtlCol="0">
                <a:noAutofit/>
              </a:bodyPr>
              <a:lstStyle/>
              <a:p>
                <a:pPr indent="914400" algn="l" fontAlgn="auto" latinLnBrk="1">
                  <a:lnSpc>
                    <a:spcPct val="120000"/>
                  </a:lnSpc>
                  <a:buClrTx/>
                  <a:buSzTx/>
                  <a:buNone/>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36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工作模式详细步骤如下</a:t>
                </a:r>
                <a:endPar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lgn="l" latinLnBrk="1">
                  <a:lnSpc>
                    <a:spcPct val="120000"/>
                  </a:lnSpc>
                  <a:buClrTx/>
                  <a:buSzTx/>
                  <a:buNone/>
                </a:pP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LFSRWithWorkMode( ){ </a:t>
                </a:r>
                <a:endPar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lgn="l" latinLnBrk="1">
                  <a:lnSpc>
                    <a:spcPct val="120000"/>
                  </a:lnSpc>
                  <a:buClrTx/>
                  <a:buSzTx/>
                  <a:buNone/>
                </a:pP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① </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 </a:t>
                </a:r>
                <a14:m>
                  <m:oMath xmlns:m="http://schemas.openxmlformats.org/officeDocument/2006/math">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𝑠</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16</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2</m:t>
                    </m:r>
                    <m:r>
                      <a:rPr lang="en-US" altLang="zh-CN" sz="3600" baseline="30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15</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𝑠</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15</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2</m:t>
                    </m:r>
                    <m:r>
                      <a:rPr lang="en-US" altLang="zh-CN" sz="3600" baseline="30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17</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𝑠</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13</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2</m:t>
                    </m:r>
                    <m:r>
                      <a:rPr lang="en-US" altLang="zh-CN" sz="3600" baseline="30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21</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𝑠</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10</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 </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2</m:t>
                    </m:r>
                    <m:r>
                      <a:rPr lang="en-US" altLang="zh-CN" sz="3600" baseline="30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20</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𝑠</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4</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2</m:t>
                    </m:r>
                    <m:r>
                      <a:rPr lang="en-US" altLang="zh-CN" sz="3600" baseline="30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8</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𝑠</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0</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𝑚𝑜𝑑</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231</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oMath>
                </a14:m>
                <a:endPar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lgn="l" latinLnBrk="1">
                  <a:lnSpc>
                    <a:spcPct val="120000"/>
                  </a:lnSpc>
                  <a:buClrTx/>
                  <a:buSzTx/>
                  <a:buNone/>
                </a:pP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② If s</a:t>
                </a:r>
                <a:r>
                  <a:rPr lang="en-US" altLang="zh-CN" sz="3600"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16</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=0，then set </a:t>
                </a:r>
                <a14:m>
                  <m:oMath xmlns:m="http://schemas.openxmlformats.org/officeDocument/2006/math">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rPr>
                      <m:t>𝑠</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rPr>
                      <m:t>16</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r>
                      <a:rPr lang="en-US" altLang="zh-CN" sz="3600" baseline="30000" dirty="0">
                        <a:solidFill>
                          <a:srgbClr val="000000"/>
                        </a:solidFill>
                        <a:latin typeface="Cambria Math" panose="02040503050406030204" pitchFamily="18" charset="0"/>
                        <a:ea typeface="宋体" panose="02010600030101010101" pitchFamily="2" charset="-122"/>
                        <a:cs typeface="Times New Roman" panose="02020603050405020304" pitchFamily="18" charset="0"/>
                      </a:rPr>
                      <m:t>31</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rPr>
                      <m:t>1</m:t>
                    </m:r>
                  </m:oMath>
                </a14:m>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latinLnBrk="1">
                  <a:lnSpc>
                    <a:spcPct val="120000"/>
                  </a:lnSpc>
                </a:pP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③ </a:t>
                </a:r>
                <a14:m>
                  <m:oMath xmlns:m="http://schemas.openxmlformats.org/officeDocument/2006/math">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s</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s</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2</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s</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15</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s</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16</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)−&gt;(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s</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0</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s</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s</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14</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r>
                      <m:rPr>
                        <m:sty m:val="p"/>
                      </m:rP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s</m:t>
                    </m:r>
                    <m:r>
                      <a:rPr lang="en-US" altLang="zh-CN" sz="3600" baseline="-250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15</m:t>
                    </m:r>
                    <m:r>
                      <a:rPr lang="en-US" altLang="zh-CN" sz="3600" dirty="0">
                        <a:solidFill>
                          <a:srgbClr val="000000"/>
                        </a:solidFill>
                        <a:latin typeface="Cambria Math" panose="02040503050406030204" pitchFamily="18" charset="0"/>
                        <a:ea typeface="宋体" panose="02010600030101010101" pitchFamily="2" charset="-122"/>
                        <a:cs typeface="Times New Roman" panose="02020603050405020304" pitchFamily="18" charset="0"/>
                        <a:sym typeface="字由点字典黑 2"/>
                      </a:rPr>
                      <m:t>)}</m:t>
                    </m:r>
                  </m:oMath>
                </a14:m>
                <a:endPar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1752600" y="6362700"/>
                <a:ext cx="16075025" cy="3450590"/>
              </a:xfrm>
              <a:prstGeom prst="rect">
                <a:avLst/>
              </a:prstGeom>
              <a:blipFill rotWithShape="1">
                <a:blip r:embed="rId4"/>
                <a:stretch>
                  <a:fillRect/>
                </a:stretch>
              </a:blipFill>
            </p:spPr>
            <p:txBody>
              <a:bodyPr/>
              <a:lstStyle/>
              <a:p>
                <a:r>
                  <a:rPr lang="zh-CN" alt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9" name="TextBox 29"/>
              <p:cNvSpPr txBox="1"/>
              <p:nvPr/>
            </p:nvSpPr>
            <p:spPr>
              <a:xfrm>
                <a:off x="1752684" y="1943274"/>
                <a:ext cx="14818191" cy="797115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b="1" dirty="0">
                    <a:solidFill>
                      <a:srgbClr val="000000"/>
                    </a:solidFill>
                    <a:latin typeface="Times New Roman" panose="02020603050405020304" pitchFamily="18" charset="0"/>
                    <a:ea typeface="宋体" panose="02010600030101010101" pitchFamily="2" charset="-122"/>
                    <a:cs typeface="字由点字典黑 2"/>
                    <a:sym typeface="字由点字典黑 2"/>
                  </a:rPr>
                  <a:t>比特重组模块</a:t>
                </a:r>
                <a:r>
                  <a:rPr lang="en-US" altLang="zh-CN" sz="3600" b="1" dirty="0">
                    <a:solidFill>
                      <a:srgbClr val="000000"/>
                    </a:solidFill>
                    <a:latin typeface="Times New Roman" panose="02020603050405020304" pitchFamily="18" charset="0"/>
                    <a:ea typeface="宋体" panose="02010600030101010101" pitchFamily="2" charset="-122"/>
                    <a:cs typeface="字由点字典黑 2"/>
                    <a:sym typeface="字由点字典黑 2"/>
                  </a:rPr>
                  <a:t>Bitreorganization</a:t>
                </a:r>
                <a:endParaRPr lang="en-US" altLang="zh-CN" sz="3600" b="1"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Bitreorganization</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表示为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BR</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层，该层从</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LFSR</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特定的8个单元中抽取128位，形成4个32位的字，这里的前3个字会在底层的非线性函数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中使用，最后一个字将涉及产生密钥流，以供下层非线性函数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和密钥输出使用。假设</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0</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5</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7</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9</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11</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14</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15</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LFSR</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里的特定8个单元，比特重组模块按如下方式形成4个32位的字</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X</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0</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，X</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，X</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，X</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详细步骤如下。</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Bitreorganization(){ </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① </a:t>
                </a:r>
                <a14:m>
                  <m:oMath xmlns:m="http://schemas.openxmlformats.org/officeDocument/2006/math">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𝑋</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0</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𝑆</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15</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𝐻</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𝑆</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14</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𝐿</m:t>
                    </m:r>
                  </m:oMath>
                </a14:m>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② </a:t>
                </a:r>
                <a14:m>
                  <m:oMath xmlns:m="http://schemas.openxmlformats.org/officeDocument/2006/math">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𝑋</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1</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𝑆</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11</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𝐿</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𝑆</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9</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𝐻</m:t>
                    </m:r>
                  </m:oMath>
                </a14:m>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③ </a:t>
                </a:r>
                <a14:m>
                  <m:oMath xmlns:m="http://schemas.openxmlformats.org/officeDocument/2006/math">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𝑋</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2</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𝑆</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7</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𝐿</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𝑆</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5</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𝐻</m:t>
                    </m:r>
                  </m:oMath>
                </a14:m>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④ </a:t>
                </a:r>
                <a14:m>
                  <m:oMath xmlns:m="http://schemas.openxmlformats.org/officeDocument/2006/math">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𝑋</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3</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𝑆</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2</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𝐿</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𝑆</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0</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𝐻</m:t>
                    </m:r>
                  </m:oMath>
                </a14:m>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其中</a:t>
                </a:r>
                <a14:m>
                  <m:oMath xmlns:m="http://schemas.openxmlformats.org/officeDocument/2006/math">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𝑆</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𝑖𝐻</m:t>
                    </m:r>
                  </m:oMath>
                </a14:m>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表示取字的最高</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2"/>
                  </a:rPr>
                  <a:t>16bit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14:m>
                  <m:oMath xmlns:m="http://schemas.openxmlformats.org/officeDocument/2006/math">
                    <m:r>
                      <a:rPr lang="en-US" altLang="zh-CN" sz="3600" dirty="0">
                        <a:solidFill>
                          <a:srgbClr val="000000"/>
                        </a:solidFill>
                        <a:latin typeface="Cambria Math" panose="02040503050406030204" pitchFamily="18" charset="0"/>
                        <a:ea typeface="宋体" panose="02010600030101010101" pitchFamily="2" charset="-122"/>
                        <a:cs typeface="字由点字典黑 2"/>
                        <a:sym typeface="字由点字典黑 2"/>
                      </a:rPr>
                      <m:t>𝑆</m:t>
                    </m:r>
                    <m:r>
                      <a:rPr lang="en-US" altLang="zh-CN" sz="360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𝑖𝐿</m:t>
                    </m:r>
                  </m:oMath>
                </a14:m>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表示取字的最低</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比特。</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mc:Choice>
        <mc:Fallback>
          <p:sp>
            <p:nvSpPr>
              <p:cNvPr id="29" name="TextBox 29"/>
              <p:cNvSpPr txBox="1">
                <a:spLocks noRot="1" noChangeAspect="1" noMove="1" noResize="1" noEditPoints="1" noAdjustHandles="1" noChangeArrowheads="1" noChangeShapeType="1" noTextEdit="1"/>
              </p:cNvSpPr>
              <p:nvPr/>
            </p:nvSpPr>
            <p:spPr>
              <a:xfrm>
                <a:off x="1752684" y="1943274"/>
                <a:ext cx="14818191" cy="7971155"/>
              </a:xfrm>
              <a:prstGeom prst="rect">
                <a:avLst/>
              </a:prstGeom>
              <a:blipFill rotWithShape="1">
                <a:blip r:embed="rId1"/>
                <a:stretch>
                  <a:fillRect l="-1" t="-2" r="4" b="-181"/>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p:txBody>
          <a:bodyPr/>
          <a:lstStyle/>
          <a:p>
            <a:fld id="{B6F15528-21DE-4FAA-801E-634DDDAF4B2B}" type="slidenum">
              <a:rPr lang="en-US" smtClean="0"/>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266558" y="493939"/>
            <a:ext cx="9458717" cy="717550"/>
          </a:xfrm>
          <a:prstGeom prst="rect">
            <a:avLst/>
          </a:prstGeom>
        </p:spPr>
        <p:txBody>
          <a:bodyPr lIns="0" tIns="0" rIns="0" bIns="0" rtlCol="0" anchor="t">
            <a:spAutoFit/>
          </a:bodyPr>
          <a:lstStyle/>
          <a:p>
            <a:pPr algn="l">
              <a:lnSpc>
                <a:spcPts val="5600"/>
              </a:lnSpc>
              <a:buClrTx/>
              <a:buSzTx/>
              <a:buFontTx/>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祖冲之序列密码算法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0"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1"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4" name="图片 13"/>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9" name="TextBox 29"/>
              <p:cNvSpPr txBox="1"/>
              <p:nvPr/>
            </p:nvSpPr>
            <p:spPr>
              <a:xfrm>
                <a:off x="1752684" y="1943274"/>
                <a:ext cx="14818191" cy="7913961"/>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b="1" dirty="0">
                    <a:solidFill>
                      <a:srgbClr val="000000"/>
                    </a:solidFill>
                    <a:latin typeface="Times New Roman" panose="02020603050405020304" pitchFamily="18" charset="0"/>
                    <a:ea typeface="宋体" panose="02010600030101010101" pitchFamily="2" charset="-122"/>
                    <a:cs typeface="字由点字典黑 2"/>
                    <a:sym typeface="字由点字典黑 2"/>
                  </a:rPr>
                  <a:t>非线性函数</a:t>
                </a:r>
                <a:r>
                  <a:rPr lang="en-US" altLang="zh-CN" sz="3600" b="1" dirty="0">
                    <a:solidFill>
                      <a:srgbClr val="000000"/>
                    </a:solidFill>
                    <a:latin typeface="Times New Roman" panose="02020603050405020304" pitchFamily="18" charset="0"/>
                    <a:ea typeface="宋体" panose="02010600030101010101" pitchFamily="2" charset="-122"/>
                    <a:cs typeface="字由点字典黑 2"/>
                    <a:sym typeface="字由点字典黑 2"/>
                  </a:rPr>
                  <a:t>F</a:t>
                </a:r>
                <a:endParaRPr lang="en-US" altLang="zh-CN" sz="3600" b="1"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fontAlgn="auto" latinLnBrk="1">
                  <a:lnSpc>
                    <a:spcPct val="120000"/>
                  </a:lnSpc>
                  <a:extLst>
                    <a:ext uri="{35155182-B16C-46BC-9424-99874614C6A1}">
                      <wpsdc:indentchars xmlns:wpsdc="http://www.wps.cn/officeDocument/2017/drawingmlCustomData" val="200" checksum="797548545"/>
                    </a:ext>
                  </a:extLst>
                </a:pPr>
                <a14:m>
                  <m:oMath xmlns:m="http://schemas.openxmlformats.org/officeDocument/2006/math">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w</m:t>
                    </m:r>
                    <m: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F</m:t>
                    </m:r>
                    <m: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X</m:t>
                    </m:r>
                    <m: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0</m:t>
                    </m:r>
                    <m: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X</m:t>
                    </m:r>
                    <m: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1</m:t>
                    </m:r>
                    <m: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X</m:t>
                    </m:r>
                    <m: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2</m:t>
                    </m:r>
                    <m: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m:t>
                    </m:r>
                  </m:oMath>
                </a14:m>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为非线性函数，非线性函数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包括两个32位的记忆单元</a:t>
                </a:r>
                <a14:m>
                  <m:oMath xmlns:m="http://schemas.openxmlformats.org/officeDocument/2006/math">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R</m:t>
                    </m:r>
                    <m: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1</m:t>
                    </m:r>
                  </m:oMath>
                </a14:m>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和</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R2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的输入为</a:t>
                </a:r>
                <a14:m>
                  <m:oMath xmlns:m="http://schemas.openxmlformats.org/officeDocument/2006/math">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X</m:t>
                    </m:r>
                    <m: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0</m:t>
                    </m:r>
                    <m:r>
                      <a:rPr lang="zh-CN" altLang="en-US"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X</m:t>
                    </m:r>
                    <m: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1</m:t>
                    </m:r>
                  </m:oMath>
                </a14:m>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和</a:t>
                </a:r>
                <a14:m>
                  <m:oMath xmlns:m="http://schemas.openxmlformats.org/officeDocument/2006/math">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X</m:t>
                    </m:r>
                    <m: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2</m:t>
                    </m:r>
                  </m:oMath>
                </a14:m>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，来自比特重组的输出，然后</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输出一个32位的字</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W，</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函数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的具体过程如下。      </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14:m>
                  <m:oMath xmlns:m="http://schemas.openxmlformats.org/officeDocument/2006/math">
                    <m:r>
                      <a:rPr lang="en-US" altLang="zh-CN" sz="3600" b="0" i="0" dirty="0" smtClean="0">
                        <a:solidFill>
                          <a:srgbClr val="000000"/>
                        </a:solidFill>
                        <a:latin typeface="Cambria Math" panose="02040503050406030204" pitchFamily="18" charset="0"/>
                        <a:ea typeface="宋体" panose="02010600030101010101" pitchFamily="2" charset="-122"/>
                        <a:cs typeface="字由点字典黑 2"/>
                        <a:sym typeface="字由点字典黑 2"/>
                      </a:rPr>
                      <m:t>               </m:t>
                    </m:r>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F</m:t>
                    </m:r>
                    <m: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X</m:t>
                    </m:r>
                    <m: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0</m:t>
                    </m:r>
                    <m: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X</m:t>
                    </m:r>
                    <m: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1</m:t>
                    </m:r>
                    <m: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X</m:t>
                    </m:r>
                    <m: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2</m:t>
                    </m:r>
                    <m: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 </m:t>
                    </m:r>
                  </m:oMath>
                </a14:m>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① </a:t>
                </a:r>
                <a14:m>
                  <m:oMath xmlns:m="http://schemas.openxmlformats.org/officeDocument/2006/math">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W</m:t>
                    </m:r>
                    <m: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X</m:t>
                    </m:r>
                    <m: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0</m:t>
                    </m:r>
                    <m:r>
                      <a:rPr lang="zh-CN" altLang="en-US"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R</m:t>
                    </m:r>
                    <m: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1</m:t>
                    </m:r>
                    <m: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zh-CN" altLang="en-US"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R</m:t>
                    </m:r>
                    <m: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2</m:t>
                    </m:r>
                  </m:oMath>
                </a14:m>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② </a:t>
                </a:r>
                <a14:m>
                  <m:oMath xmlns:m="http://schemas.openxmlformats.org/officeDocument/2006/math">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W</m:t>
                    </m:r>
                    <m: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1</m:t>
                    </m:r>
                    <m: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R</m:t>
                    </m:r>
                    <m: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1</m:t>
                    </m:r>
                    <m:r>
                      <a:rPr lang="zh-CN" altLang="en-US"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X</m:t>
                    </m:r>
                    <m: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1</m:t>
                    </m:r>
                  </m:oMath>
                </a14:m>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③ </a:t>
                </a:r>
                <a14:m>
                  <m:oMath xmlns:m="http://schemas.openxmlformats.org/officeDocument/2006/math">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W</m:t>
                    </m:r>
                    <m: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2</m:t>
                    </m:r>
                    <m: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R</m:t>
                    </m:r>
                    <m: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2</m:t>
                    </m:r>
                    <m:r>
                      <a:rPr lang="zh-CN" altLang="en-US"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X</m:t>
                    </m:r>
                    <m: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2</m:t>
                    </m:r>
                  </m:oMath>
                </a14:m>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④ </a:t>
                </a:r>
                <a14:m>
                  <m:oMath xmlns:m="http://schemas.openxmlformats.org/officeDocument/2006/math">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R</m:t>
                    </m:r>
                    <m: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1</m:t>
                    </m:r>
                    <m: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S</m:t>
                    </m:r>
                    <m: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L</m:t>
                    </m:r>
                    <m: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1</m:t>
                    </m:r>
                    <m: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W</m:t>
                    </m:r>
                    <m: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1</m:t>
                    </m:r>
                    <m:r>
                      <m:rPr>
                        <m:sty m:val="p"/>
                      </m:rP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L</m:t>
                    </m:r>
                    <m: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W</m:t>
                    </m:r>
                    <m: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2</m:t>
                    </m:r>
                    <m:r>
                      <m:rPr>
                        <m:sty m:val="p"/>
                      </m:rP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H</m:t>
                    </m:r>
                    <m: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m:t>
                    </m:r>
                  </m:oMath>
                </a14:m>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fontAlgn="auto" latinLnBrk="1">
                  <a:lnSpc>
                    <a:spcPct val="120000"/>
                  </a:lnSpc>
                  <a:extLst>
                    <a:ext uri="{35155182-B16C-46BC-9424-99874614C6A1}">
                      <wpsdc:indentchar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⑤</a:t>
                </a:r>
                <a14:m>
                  <m:oMath xmlns:m="http://schemas.openxmlformats.org/officeDocument/2006/math">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R</m:t>
                    </m:r>
                    <m: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2</m:t>
                    </m:r>
                    <m: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S</m:t>
                    </m:r>
                    <m: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L</m:t>
                    </m:r>
                    <m: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2</m:t>
                    </m:r>
                    <m: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W</m:t>
                    </m:r>
                    <m: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2</m:t>
                    </m:r>
                    <m:r>
                      <m:rPr>
                        <m:sty m:val="p"/>
                      </m:rP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L</m:t>
                    </m:r>
                    <m: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W</m:t>
                    </m:r>
                    <m: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1</m:t>
                    </m:r>
                    <m:r>
                      <m:rPr>
                        <m:sty m:val="p"/>
                      </m:rP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H</m:t>
                    </m:r>
                    <m: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en-US" altLang="zh-CN" sz="3600" i="0" dirty="0" smtClean="0">
                        <a:solidFill>
                          <a:srgbClr val="000000"/>
                        </a:solidFill>
                        <a:latin typeface="Cambria Math" panose="02040503050406030204" pitchFamily="18" charset="0"/>
                        <a:ea typeface="宋体" panose="02010600030101010101" pitchFamily="2" charset="-122"/>
                        <a:cs typeface="字由点字典黑 2"/>
                        <a:sym typeface="字由点字典黑 2"/>
                      </a:rPr>
                      <m:t> </m:t>
                    </m:r>
                  </m:oMath>
                </a14:m>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其中，</a:t>
                </a:r>
                <a14:m>
                  <m:oMath xmlns:m="http://schemas.openxmlformats.org/officeDocument/2006/math">
                    <m:r>
                      <a:rPr lang="zh-CN" altLang="en-US"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m:t>
                    </m:r>
                  </m:oMath>
                </a14:m>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为整数位的异或运算；</a:t>
                </a:r>
                <a14:m>
                  <m:oMath xmlns:m="http://schemas.openxmlformats.org/officeDocument/2006/math">
                    <m:r>
                      <a:rPr lang="zh-CN" altLang="en-US"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m:t>
                    </m:r>
                  </m:oMath>
                </a14:m>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为模</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en-US" altLang="zh-CN" sz="3600" baseline="30000" dirty="0">
                    <a:solidFill>
                      <a:srgbClr val="000000"/>
                    </a:solidFill>
                    <a:latin typeface="Times New Roman" panose="02020603050405020304" pitchFamily="18" charset="0"/>
                    <a:ea typeface="宋体" panose="02010600030101010101" pitchFamily="2" charset="-122"/>
                    <a:cs typeface="字由点字典黑 2"/>
                    <a:sym typeface="字由点字典黑 2"/>
                  </a:rPr>
                  <a:t>32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的加法；</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代表一个</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32x32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位的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盒；</a:t>
                </a:r>
                <a14:m>
                  <m:oMath xmlns:m="http://schemas.openxmlformats.org/officeDocument/2006/math">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L</m:t>
                    </m:r>
                    <m: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1</m:t>
                    </m:r>
                  </m:oMath>
                </a14:m>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和</a:t>
                </a:r>
                <a14:m>
                  <m:oMath xmlns:m="http://schemas.openxmlformats.org/officeDocument/2006/math">
                    <m:r>
                      <m:rPr>
                        <m:sty m:val="p"/>
                      </m:rPr>
                      <a:rPr lang="en-US" altLang="zh-CN" sz="3600" i="0" dirty="0">
                        <a:solidFill>
                          <a:srgbClr val="000000"/>
                        </a:solidFill>
                        <a:latin typeface="Cambria Math" panose="02040503050406030204" pitchFamily="18" charset="0"/>
                        <a:ea typeface="宋体" panose="02010600030101010101" pitchFamily="2" charset="-122"/>
                        <a:cs typeface="字由点字典黑 2"/>
                        <a:sym typeface="字由点字典黑 2"/>
                      </a:rPr>
                      <m:t>L</m:t>
                    </m:r>
                    <m:r>
                      <a:rPr lang="en-US" altLang="zh-CN" sz="3600" i="0" baseline="-25000" dirty="0">
                        <a:solidFill>
                          <a:srgbClr val="000000"/>
                        </a:solidFill>
                        <a:latin typeface="Cambria Math" panose="02040503050406030204" pitchFamily="18" charset="0"/>
                        <a:ea typeface="宋体" panose="02010600030101010101" pitchFamily="2" charset="-122"/>
                        <a:cs typeface="字由点字典黑 2"/>
                        <a:sym typeface="字由点字典黑 2"/>
                      </a:rPr>
                      <m:t>2</m:t>
                    </m:r>
                  </m:oMath>
                </a14:m>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是定义的线性变换。</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mc:Choice>
        <mc:Fallback>
          <p:sp>
            <p:nvSpPr>
              <p:cNvPr id="29" name="TextBox 29"/>
              <p:cNvSpPr txBox="1">
                <a:spLocks noRot="1" noChangeAspect="1" noMove="1" noResize="1" noEditPoints="1" noAdjustHandles="1" noChangeArrowheads="1" noChangeShapeType="1" noTextEdit="1"/>
              </p:cNvSpPr>
              <p:nvPr/>
            </p:nvSpPr>
            <p:spPr>
              <a:xfrm>
                <a:off x="1752684" y="1943274"/>
                <a:ext cx="14818191" cy="7913961"/>
              </a:xfrm>
              <a:prstGeom prst="rect">
                <a:avLst/>
              </a:prstGeom>
              <a:blipFill rotWithShape="1">
                <a:blip r:embed="rId1"/>
                <a:stretch>
                  <a:fillRect l="-1" t="-2" r="4" b="-921"/>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p:txBody>
          <a:bodyPr/>
          <a:lstStyle/>
          <a:p>
            <a:fld id="{B6F15528-21DE-4FAA-801E-634DDDAF4B2B}" type="slidenum">
              <a:rPr lang="en-US" smtClean="0"/>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祖冲之序列密码算法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0"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1"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4" name="图片 13"/>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endParaRPr lang="zh-CN" altLang="en-US"/>
            </a:p>
          </p:txBody>
        </p:sp>
        <p:sp>
          <p:nvSpPr>
            <p:cNvPr id="29" name="TextBox 29"/>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sp>
        <p:nvSpPr>
          <p:cNvPr id="30" name="TextBox 30"/>
          <p:cNvSpPr txBox="1"/>
          <p:nvPr/>
        </p:nvSpPr>
        <p:spPr>
          <a:xfrm>
            <a:off x="7781241" y="2834725"/>
            <a:ext cx="2725514" cy="2190115"/>
          </a:xfrm>
          <a:prstGeom prst="rect">
            <a:avLst/>
          </a:prstGeom>
        </p:spPr>
        <p:txBody>
          <a:bodyPr lIns="0" tIns="0" rIns="0" bIns="0" rtlCol="0" anchor="t">
            <a:spAutoFit/>
          </a:bodyPr>
          <a:lstStyle/>
          <a:p>
            <a:pPr algn="ctr">
              <a:lnSpc>
                <a:spcPts val="17080"/>
              </a:lnSpc>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6.2</a:t>
            </a:r>
            <a:endPar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1" name="TextBox 31"/>
          <p:cNvSpPr txBox="1"/>
          <p:nvPr/>
        </p:nvSpPr>
        <p:spPr>
          <a:xfrm>
            <a:off x="3428998" y="5143500"/>
            <a:ext cx="11429999" cy="2872105"/>
          </a:xfrm>
          <a:prstGeom prst="rect">
            <a:avLst/>
          </a:prstGeom>
        </p:spPr>
        <p:txBody>
          <a:bodyPr wrap="square" lIns="0" tIns="0" rIns="0" bIns="0" rtlCol="0" anchor="t">
            <a:spAutoFit/>
          </a:bodyPr>
          <a:lstStyle/>
          <a:p>
            <a:pPr algn="ctr">
              <a:lnSpc>
                <a:spcPts val="11200"/>
              </a:lnSpc>
            </a:pPr>
            <a:r>
              <a:rPr lang="zh-CN" altLang="en-US"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基于祖冲之算法的机密性和完整性算法</a:t>
            </a:r>
            <a:endParaRPr lang="zh-CN" altLang="en-US"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40" name="TextBox 40"/>
              <p:cNvSpPr txBox="1"/>
              <p:nvPr/>
            </p:nvSpPr>
            <p:spPr>
              <a:xfrm>
                <a:off x="0" y="0"/>
                <a:ext cx="5501351" cy="288980"/>
              </a:xfrm>
              <a:prstGeom prst="rect">
                <a:avLst/>
              </a:prstGeom>
            </p:spPr>
            <p:txBody>
              <a:bodyPr lIns="50800" tIns="50800" rIns="50800" bIns="50800" rtlCol="0" anchor="ctr"/>
              <a:lstStyle/>
              <a:p>
                <a:pPr algn="ctr">
                  <a:lnSpc>
                    <a:spcPts val="2880"/>
                  </a:lnSpc>
                </a:p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43" name="TextBox 43"/>
              <p:cNvSpPr txBox="1"/>
              <p:nvPr/>
            </p:nvSpPr>
            <p:spPr>
              <a:xfrm>
                <a:off x="0" y="0"/>
                <a:ext cx="5501351" cy="327048"/>
              </a:xfrm>
              <a:prstGeom prst="rect">
                <a:avLst/>
              </a:prstGeom>
            </p:spPr>
            <p:txBody>
              <a:bodyPr lIns="50800" tIns="50800" rIns="50800" bIns="50800" rtlCol="0" anchor="ctr"/>
              <a:lstStyle/>
              <a:p>
                <a:pPr algn="ctr">
                  <a:lnSpc>
                    <a:spcPts val="2880"/>
                  </a:lnSpc>
                </a:pPr>
              </a:p>
            </p:txBody>
          </p:sp>
        </p:grpSp>
      </p:grpSp>
      <p:sp>
        <p:nvSpPr>
          <p:cNvPr id="33" name="灯片编号占位符 32"/>
          <p:cNvSpPr>
            <a:spLocks noGrp="1"/>
          </p:cNvSpPr>
          <p:nvPr>
            <p:ph type="sldNum" sz="quarter" idx="12"/>
          </p:nvPr>
        </p:nvSpPr>
        <p:spPr>
          <a:xfrm>
            <a:off x="15374104" y="9522714"/>
            <a:ext cx="2133600" cy="441325"/>
          </a:xfrm>
        </p:spPr>
        <p:txBody>
          <a:bodyPr/>
          <a:lstStyle/>
          <a:p>
            <a:fld id="{B6F15528-21DE-4FAA-801E-634DDDAF4B2B}" type="slidenum">
              <a:rPr lang="en-US" smtClean="0"/>
            </a:fld>
            <a:endParaRPr lang="en-US" dirty="0"/>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36" name="图片 35"/>
            <p:cNvPicPr>
              <a:picLocks noChangeAspect="1"/>
            </p:cNvPicPr>
            <p:nvPr/>
          </p:nvPicPr>
          <p:blipFill>
            <a:blip r:embed="rId1"/>
            <a:stretch>
              <a:fillRect/>
            </a:stretch>
          </p:blipFill>
          <p:spPr>
            <a:xfrm>
              <a:off x="13944600" y="877286"/>
              <a:ext cx="2771429" cy="47619"/>
            </a:xfrm>
            <a:prstGeom prst="rect">
              <a:avLst/>
            </a:prstGeom>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
          <p:cNvSpPr/>
          <p:nvPr/>
        </p:nvSpPr>
        <p:spPr>
          <a:xfrm>
            <a:off x="1295400" y="2324100"/>
            <a:ext cx="16028035" cy="7258685"/>
          </a:xfrm>
          <a:prstGeom prst="rect">
            <a:avLst/>
          </a:prstGeom>
          <a:noFill/>
          <a:ln w="0" cap="flat">
            <a:noFill/>
            <a:prstDash val="solid"/>
            <a:miter lim="0"/>
          </a:ln>
        </p:spPr>
        <p:txBody>
          <a:bodyPr vert="horz" wrap="square" lIns="0" tIns="88" rIns="0" bIns="0"/>
          <a:lstStyle/>
          <a:p>
            <a:pPr marL="12700" indent="914400" algn="l" rtl="0" eaLnBrk="0" fontAlgn="auto">
              <a:lnSpc>
                <a:spcPct val="123000"/>
              </a:lnSpc>
              <a:spcBef>
                <a:spcPts val="0"/>
              </a:spcBef>
              <a:extLst>
                <a:ext uri="{35155182-B16C-46BC-9424-99874614C6A1}">
                  <wpsdc:indentchars xmlns:wpsdc="http://www.wps.cn/officeDocument/2017/drawingmlCustomData" val="200" checksum="797548545"/>
                </a:ext>
              </a:extLst>
            </a:pP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 ZUC</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算法包括祖冲之算法、加密解密算法</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128</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EEA3</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和完整性算法</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128</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EIA3。</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祖冲之算法为主算法，输出的</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32</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位密钥序列可以用来对信息进行加密解密和完整性认证。</a:t>
            </a:r>
            <a:endParaRPr lang="zh-CN" altLang="en-US" sz="3600" dirty="0">
              <a:latin typeface="Times New Roman" panose="02020603050405020304" pitchFamily="18" charset="0"/>
              <a:ea typeface="宋体" panose="02010600030101010101" pitchFamily="2" charset="-122"/>
              <a:cs typeface="Times New Roman" panose="02020603050405020304" pitchFamily="18" charset="0"/>
            </a:endParaRPr>
          </a:p>
          <a:p>
            <a:pPr marL="12700" indent="914400" algn="l" rtl="0" eaLnBrk="0" fontAlgn="auto">
              <a:lnSpc>
                <a:spcPct val="123000"/>
              </a:lnSpc>
              <a:spcBef>
                <a:spcPts val="0"/>
              </a:spcBef>
              <a:extLst>
                <a:ext uri="{35155182-B16C-46BC-9424-99874614C6A1}">
                  <wpsdc:indentchars xmlns:wpsdc="http://www.wps.cn/officeDocument/2017/drawingmlCustomData" val="200" checksum="797548545"/>
                </a:ext>
              </a:extLst>
            </a:pPr>
            <a:r>
              <a:rPr lang="zh-CN" altLang="en-US" sz="3600" b="1" dirty="0">
                <a:latin typeface="Times New Roman" panose="02020603050405020304" pitchFamily="18" charset="0"/>
                <a:ea typeface="宋体" panose="02010600030101010101" pitchFamily="2" charset="-122"/>
                <a:cs typeface="Times New Roman" panose="02020603050405020304" pitchFamily="18" charset="0"/>
              </a:rPr>
              <a:t>机密性算法</a:t>
            </a:r>
            <a:endParaRPr lang="zh-CN" altLang="en-US" sz="3600" b="1" dirty="0">
              <a:latin typeface="Times New Roman" panose="02020603050405020304" pitchFamily="18" charset="0"/>
              <a:ea typeface="宋体" panose="02010600030101010101" pitchFamily="2" charset="-122"/>
              <a:cs typeface="Times New Roman" panose="02020603050405020304" pitchFamily="18" charset="0"/>
            </a:endParaRPr>
          </a:p>
          <a:p>
            <a:pPr marL="12700" indent="914400" algn="l" rtl="0" eaLnBrk="0" fontAlgn="auto">
              <a:lnSpc>
                <a:spcPct val="123000"/>
              </a:lnSpc>
              <a:spcBef>
                <a:spcPts val="0"/>
              </a:spcBef>
              <a:extLst>
                <a:ext uri="{35155182-B16C-46BC-9424-99874614C6A1}">
                  <wpsdc:indentchars xmlns:wpsdc="http://www.wps.cn/officeDocument/2017/drawingmlCustomData" val="200" checksum="797548545"/>
                </a:ext>
              </a:extLst>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输入输出参数表如图所示</a:t>
            </a:r>
            <a:endParaRPr lang="zh-CN" altLang="en-US" sz="3600" dirty="0">
              <a:latin typeface="Times New Roman" panose="02020603050405020304" pitchFamily="18" charset="0"/>
              <a:ea typeface="宋体" panose="02010600030101010101" pitchFamily="2" charset="-122"/>
              <a:cs typeface="Times New Roman" panose="02020603050405020304" pitchFamily="18" charset="0"/>
            </a:endParaRPr>
          </a:p>
          <a:p>
            <a:pPr marL="12700" indent="914400" algn="l" rtl="0" eaLnBrk="0" fontAlgn="auto">
              <a:lnSpc>
                <a:spcPct val="123000"/>
              </a:lnSpc>
              <a:spcBef>
                <a:spcPts val="0"/>
              </a:spcBef>
              <a:extLst>
                <a:ext uri="{35155182-B16C-46BC-9424-99874614C6A1}">
                  <wpsdc:indentchars xmlns:wpsdc="http://www.wps.cn/officeDocument/2017/drawingmlCustomData" val="200" checksum="797548545"/>
                </a:ext>
              </a:extLst>
            </a:pPr>
            <a:endParaRPr lang="zh-CN" altLang="en-US" sz="36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灯片编号占位符 6"/>
          <p:cNvSpPr>
            <a:spLocks noGrp="1"/>
          </p:cNvSpPr>
          <p:nvPr>
            <p:ph type="sldNum" sz="quarter" idx="12"/>
          </p:nvPr>
        </p:nvSpPr>
        <p:spPr/>
        <p:txBody>
          <a:bodyPr/>
          <a:lstStyle/>
          <a:p>
            <a:fld id="{B6F15528-21DE-4FAA-801E-634DDDAF4B2B}" type="slidenum">
              <a:rPr lang="en-US" smtClean="0"/>
            </a:fld>
            <a:endParaRPr lang="en-US"/>
          </a:p>
        </p:txBody>
      </p:sp>
      <p:grpSp>
        <p:nvGrpSpPr>
          <p:cNvPr id="5"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0"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基于祖冲之算法的机密性和完整性算法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1"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6" name="文本框 15"/>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7" name="图片 16"/>
            <p:cNvPicPr>
              <a:picLocks noChangeAspect="1"/>
            </p:cNvPicPr>
            <p:nvPr/>
          </p:nvPicPr>
          <p:blipFill>
            <a:blip r:embed="rId2"/>
            <a:stretch>
              <a:fillRect/>
            </a:stretch>
          </p:blipFill>
          <p:spPr>
            <a:xfrm>
              <a:off x="13944600" y="877286"/>
              <a:ext cx="2771429" cy="47619"/>
            </a:xfrm>
            <a:prstGeom prst="rect">
              <a:avLst/>
            </a:prstGeom>
          </p:spPr>
        </p:pic>
      </p:grpSp>
      <p:pic>
        <p:nvPicPr>
          <p:cNvPr id="2" name="图片 1"/>
          <p:cNvPicPr>
            <a:picLocks noChangeAspect="1"/>
          </p:cNvPicPr>
          <p:nvPr/>
        </p:nvPicPr>
        <p:blipFill>
          <a:blip r:embed="rId3"/>
          <a:stretch>
            <a:fillRect/>
          </a:stretch>
        </p:blipFill>
        <p:spPr>
          <a:xfrm>
            <a:off x="1905000" y="6057900"/>
            <a:ext cx="12673330" cy="3570605"/>
          </a:xfrm>
          <a:prstGeom prst="rect">
            <a:avLst/>
          </a:prstGeom>
        </p:spPr>
      </p:pic>
      <p:sp>
        <p:nvSpPr>
          <p:cNvPr id="3" name="文本框 2"/>
          <p:cNvSpPr txBox="1"/>
          <p:nvPr/>
        </p:nvSpPr>
        <p:spPr>
          <a:xfrm>
            <a:off x="5715000" y="5676900"/>
            <a:ext cx="6096000" cy="368300"/>
          </a:xfrm>
          <a:prstGeom prst="rect">
            <a:avLst/>
          </a:prstGeom>
          <a:noFill/>
        </p:spPr>
        <p:txBody>
          <a:bodyPr wrap="square" rtlCol="0">
            <a:spAutoFit/>
          </a:bodyPr>
          <a:lstStyle/>
          <a:p>
            <a:pPr algn="ctr" rtl="0" fontAlgn="auto">
              <a:lnSpc>
                <a:spcPct val="100000"/>
              </a:lnSpc>
              <a:spcBef>
                <a:spcPts val="0"/>
              </a:spcBef>
              <a:buClrTx/>
              <a:buSzTx/>
              <a:buFontTx/>
            </a:pPr>
            <a:r>
              <a:rPr lang="zh-CN" altLang="en-US">
                <a:latin typeface="Times New Roman" panose="02020603050405020304" pitchFamily="18" charset="0"/>
                <a:cs typeface="Times New Roman" panose="02020603050405020304" pitchFamily="18" charset="0"/>
                <a:sym typeface="+mn-ea"/>
              </a:rPr>
              <a:t>表6.3　输入/输出参数表</a:t>
            </a:r>
            <a:endParaRPr lang="zh-CN"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
          <p:cNvSpPr/>
          <p:nvPr/>
        </p:nvSpPr>
        <p:spPr>
          <a:xfrm>
            <a:off x="1524000" y="1878330"/>
            <a:ext cx="15588615" cy="2446655"/>
          </a:xfrm>
          <a:prstGeom prst="rect">
            <a:avLst/>
          </a:prstGeom>
          <a:noFill/>
          <a:ln w="0" cap="flat">
            <a:noFill/>
            <a:prstDash val="solid"/>
            <a:miter lim="0"/>
          </a:ln>
        </p:spPr>
        <p:txBody>
          <a:bodyPr vert="horz" wrap="square" lIns="0" tIns="88" rIns="0" bIns="0"/>
          <a:lstStyle/>
          <a:p>
            <a:pPr marL="12700" indent="457200" algn="l" rtl="0" eaLnBrk="0" fontAlgn="auto">
              <a:lnSpc>
                <a:spcPct val="123000"/>
              </a:lnSpc>
              <a:spcBef>
                <a:spcPts val="0"/>
              </a:spcBef>
            </a:pPr>
            <a:r>
              <a:rPr lang="zh-CN" altLang="en-US" sz="3600">
                <a:latin typeface="宋体" panose="02010600030101010101" pitchFamily="2" charset="-122"/>
                <a:ea typeface="宋体" panose="02010600030101010101" pitchFamily="2" charset="-122"/>
                <a:sym typeface="+mn-ea"/>
              </a:rPr>
              <a:t>基于祖冲之的机密性算法的加解密结构如图所示。</a:t>
            </a:r>
            <a:endParaRPr lang="zh-CN" altLang="en-US" sz="36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灯片编号占位符 6"/>
          <p:cNvSpPr>
            <a:spLocks noGrp="1"/>
          </p:cNvSpPr>
          <p:nvPr>
            <p:ph type="sldNum" sz="quarter" idx="12"/>
          </p:nvPr>
        </p:nvSpPr>
        <p:spPr/>
        <p:txBody>
          <a:bodyPr/>
          <a:lstStyle/>
          <a:p>
            <a:fld id="{B6F15528-21DE-4FAA-801E-634DDDAF4B2B}" type="slidenum">
              <a:rPr lang="en-US" smtClean="0"/>
            </a:fld>
            <a:endParaRPr lang="en-US"/>
          </a:p>
        </p:txBody>
      </p:sp>
      <p:grpSp>
        <p:nvGrpSpPr>
          <p:cNvPr id="5"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0"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基于祖冲之算法的机密性和完整性算法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1"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7" name="图片 16"/>
            <p:cNvPicPr>
              <a:picLocks noChangeAspect="1"/>
            </p:cNvPicPr>
            <p:nvPr/>
          </p:nvPicPr>
          <p:blipFill>
            <a:blip r:embed="rId2"/>
            <a:stretch>
              <a:fillRect/>
            </a:stretch>
          </p:blipFill>
          <p:spPr>
            <a:xfrm>
              <a:off x="13944600" y="877286"/>
              <a:ext cx="2771429" cy="47619"/>
            </a:xfrm>
            <a:prstGeom prst="rect">
              <a:avLst/>
            </a:prstGeom>
          </p:spPr>
        </p:pic>
      </p:grpSp>
      <p:pic>
        <p:nvPicPr>
          <p:cNvPr id="21" name="图片 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10200" y="3162300"/>
            <a:ext cx="5902325" cy="4378960"/>
          </a:xfrm>
          <a:prstGeom prst="rect">
            <a:avLst/>
          </a:prstGeom>
        </p:spPr>
      </p:pic>
      <p:sp>
        <p:nvSpPr>
          <p:cNvPr id="3" name="文本框 2"/>
          <p:cNvSpPr txBox="1"/>
          <p:nvPr/>
        </p:nvSpPr>
        <p:spPr>
          <a:xfrm>
            <a:off x="6934200" y="7962900"/>
            <a:ext cx="6096000" cy="368300"/>
          </a:xfrm>
          <a:prstGeom prst="rect">
            <a:avLst/>
          </a:prstGeom>
          <a:noFill/>
        </p:spPr>
        <p:txBody>
          <a:bodyPr wrap="square" rtlCol="0">
            <a:spAutoFit/>
          </a:bodyPr>
          <a:lstStyle/>
          <a:p>
            <a:pPr algn="ctr">
              <a:buClrTx/>
              <a:buSzTx/>
              <a:buFontTx/>
            </a:pPr>
            <a:r>
              <a:rPr lang="zh-CN" altLang="en-US">
                <a:latin typeface="Times New Roman" panose="02020603050405020304" pitchFamily="18" charset="0"/>
                <a:cs typeface="Times New Roman" panose="02020603050405020304" pitchFamily="18" charset="0"/>
              </a:rPr>
              <a:t>图6.2　加密解密结构图</a:t>
            </a:r>
            <a:endParaRPr lang="zh-CN"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textbox 2"/>
              <p:cNvSpPr/>
              <p:nvPr/>
            </p:nvSpPr>
            <p:spPr>
              <a:xfrm>
                <a:off x="1371600" y="1878330"/>
                <a:ext cx="15588615" cy="6697345"/>
              </a:xfrm>
              <a:prstGeom prst="rect">
                <a:avLst/>
              </a:prstGeom>
              <a:noFill/>
              <a:ln w="0" cap="flat">
                <a:noFill/>
                <a:prstDash val="solid"/>
                <a:miter lim="0"/>
              </a:ln>
            </p:spPr>
            <p:txBody>
              <a:bodyPr vert="horz" wrap="square" lIns="0" tIns="88" rIns="0" bIns="0"/>
              <a:lstStyle/>
              <a:p>
                <a:pPr marL="12700" indent="457200" algn="l" rtl="0" eaLnBrk="0" fontAlgn="auto">
                  <a:lnSpc>
                    <a:spcPct val="123000"/>
                  </a:lnSpc>
                  <a:spcBef>
                    <a:spcPts val="0"/>
                  </a:spcBef>
                </a:pPr>
                <a:r>
                  <a:rPr lang="zh-CN" sz="3600" dirty="0">
                    <a:latin typeface="Times New Roman" panose="02020603050405020304" pitchFamily="18" charset="0"/>
                    <a:ea typeface="宋体" panose="02010600030101010101" pitchFamily="2" charset="-122"/>
                    <a:cs typeface="Times New Roman" panose="02020603050405020304" pitchFamily="18" charset="0"/>
                  </a:rPr>
                  <a:t>算法初始化</a:t>
                </a:r>
                <a:endParaRPr lang="zh-CN" sz="3600" dirty="0">
                  <a:latin typeface="Times New Roman" panose="02020603050405020304" pitchFamily="18" charset="0"/>
                  <a:ea typeface="宋体" panose="02010600030101010101" pitchFamily="2" charset="-122"/>
                  <a:cs typeface="Times New Roman" panose="02020603050405020304" pitchFamily="18" charset="0"/>
                </a:endParaRPr>
              </a:p>
              <a:p>
                <a:pPr marL="12700" indent="914400" eaLnBrk="0">
                  <a:lnSpc>
                    <a:spcPct val="123000"/>
                  </a:lnSpc>
                  <a:extLst>
                    <a:ext uri="{35155182-B16C-46BC-9424-99874614C6A1}">
                      <wpsdc:indentchars xmlns:wpsdc="http://www.wps.cn/officeDocument/2017/drawingmlCustomData" val="200" checksum="797548545"/>
                    </a:ext>
                  </a:extLst>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设</a:t>
                </a:r>
                <a14:m>
                  <m:oMath xmlns:m="http://schemas.openxmlformats.org/officeDocument/2006/math">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CK</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CK</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0</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CK</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1</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CK</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2</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CK</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15</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为128位机密性密钥，</a:t>
                </a:r>
                <a14:m>
                  <m:oMath xmlns:m="http://schemas.openxmlformats.org/officeDocument/2006/math">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KEY</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KEY</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0</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KEY</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1</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KEY</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2</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KEY</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15</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为128位初始密钥，其中</a:t>
                </a:r>
                <a14:m>
                  <m:oMath xmlns:m="http://schemas.openxmlformats.org/officeDocument/2006/math">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CK</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i</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KEY</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i</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0</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i</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15</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都是8位的字节，则有</a:t>
                </a:r>
                <a14:m>
                  <m:oMath xmlns:m="http://schemas.openxmlformats.org/officeDocument/2006/math">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KEY</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i</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CK</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i</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i</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0</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1</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2</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15</m:t>
                    </m:r>
                  </m:oMath>
                </a14:m>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3600" dirty="0">
                  <a:latin typeface="Times New Roman" panose="02020603050405020304" pitchFamily="18" charset="0"/>
                  <a:ea typeface="宋体" panose="02010600030101010101" pitchFamily="2" charset="-122"/>
                  <a:cs typeface="Times New Roman" panose="02020603050405020304" pitchFamily="18" charset="0"/>
                </a:endParaRPr>
              </a:p>
              <a:p>
                <a:pPr marL="12700" indent="914400" eaLnBrk="0">
                  <a:lnSpc>
                    <a:spcPct val="123000"/>
                  </a:lnSpc>
                  <a:extLst>
                    <a:ext uri="{35155182-B16C-46BC-9424-99874614C6A1}">
                      <wpsdc:indentchars xmlns:wpsdc="http://www.wps.cn/officeDocument/2017/drawingmlCustomData" val="200" checksum="797548545"/>
                    </a:ext>
                  </a:extLst>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设计数器</a:t>
                </a:r>
                <a14:m>
                  <m:oMath xmlns:m="http://schemas.openxmlformats.org/officeDocument/2006/math">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COUNT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COUNT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0</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COUNT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1</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COUNT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2</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COUNT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3</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oMath>
                </a14:m>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其中</a:t>
                </a:r>
                <a14:m>
                  <m:oMath xmlns:m="http://schemas.openxmlformats.org/officeDocument/2006/math">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COUNT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i</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0</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i</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3</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为8位字节，因此</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COUNT</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为32位计数器。</a:t>
                </a:r>
                <a:endParaRPr lang="zh-CN" altLang="en-US" sz="3600" dirty="0">
                  <a:latin typeface="Times New Roman" panose="02020603050405020304" pitchFamily="18" charset="0"/>
                  <a:ea typeface="宋体" panose="02010600030101010101" pitchFamily="2" charset="-122"/>
                  <a:cs typeface="Times New Roman" panose="02020603050405020304" pitchFamily="18" charset="0"/>
                </a:endParaRPr>
              </a:p>
              <a:p>
                <a:pPr marL="12700" indent="914400" eaLnBrk="0">
                  <a:lnSpc>
                    <a:spcPct val="123000"/>
                  </a:lnSpc>
                  <a:extLst>
                    <a:ext uri="{35155182-B16C-46BC-9424-99874614C6A1}">
                      <wpsdc:indentchars xmlns:wpsdc="http://www.wps.cn/officeDocument/2017/drawingmlCustomData" val="200" checksum="797548545"/>
                    </a:ext>
                  </a:extLst>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同时，设</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ZUC</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算法中的</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128</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位初始变量为</a:t>
                </a:r>
                <a14:m>
                  <m:oMath xmlns:m="http://schemas.openxmlformats.org/officeDocument/2006/math">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IV</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IV</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0</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IV</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1</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IV</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2</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IV</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15</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其中</a:t>
                </a:r>
                <a14:m>
                  <m:oMath xmlns:m="http://schemas.openxmlformats.org/officeDocument/2006/math">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IV</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i</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0</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rPr>
                      <m:t>i</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15</m:t>
                    </m:r>
                    <m:r>
                      <a:rPr lang="en-US" altLang="zh-CN" sz="3600" dirty="0">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为字节</a:t>
                </a:r>
                <a:endParaRPr lang="zh-CN" altLang="en-US" sz="36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6" name="textbox 2"/>
              <p:cNvSpPr>
                <a:spLocks noRot="1" noChangeAspect="1" noMove="1" noResize="1" noEditPoints="1" noAdjustHandles="1" noChangeArrowheads="1" noChangeShapeType="1" noTextEdit="1"/>
              </p:cNvSpPr>
              <p:nvPr/>
            </p:nvSpPr>
            <p:spPr>
              <a:xfrm>
                <a:off x="1371600" y="1878330"/>
                <a:ext cx="15588615" cy="6697345"/>
              </a:xfrm>
              <a:prstGeom prst="rect">
                <a:avLst/>
              </a:prstGeom>
              <a:blipFill rotWithShape="1">
                <a:blip r:embed="rId1"/>
                <a:stretch>
                  <a:fillRect/>
                </a:stretch>
              </a:blipFill>
              <a:ln w="0" cap="flat">
                <a:noFill/>
                <a:prstDash val="solid"/>
                <a:miter lim="0"/>
              </a:ln>
            </p:spPr>
            <p:txBody>
              <a:bodyPr/>
              <a:lstStyle/>
              <a:p>
                <a:r>
                  <a:rPr lang="zh-CN" altLang="en-US">
                    <a:noFill/>
                  </a:rPr>
                  <a:t> </a:t>
                </a:r>
              </a:p>
            </p:txBody>
          </p:sp>
        </mc:Fallback>
      </mc:AlternateContent>
      <p:sp>
        <p:nvSpPr>
          <p:cNvPr id="7" name="灯片编号占位符 6"/>
          <p:cNvSpPr>
            <a:spLocks noGrp="1"/>
          </p:cNvSpPr>
          <p:nvPr>
            <p:ph type="sldNum" sz="quarter" idx="12"/>
          </p:nvPr>
        </p:nvSpPr>
        <p:spPr/>
        <p:txBody>
          <a:bodyPr/>
          <a:lstStyle/>
          <a:p>
            <a:fld id="{B6F15528-21DE-4FAA-801E-634DDDAF4B2B}" type="slidenum">
              <a:rPr lang="en-US" smtClean="0"/>
            </a:fld>
            <a:endParaRPr lang="en-US"/>
          </a:p>
        </p:txBody>
      </p:sp>
      <p:grpSp>
        <p:nvGrpSpPr>
          <p:cNvPr id="5"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0"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基于祖冲之算法的机密性和完整性算法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1"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textbox 2"/>
              <p:cNvSpPr/>
              <p:nvPr/>
            </p:nvSpPr>
            <p:spPr>
              <a:xfrm>
                <a:off x="1371600" y="1878330"/>
                <a:ext cx="15588615" cy="7014845"/>
              </a:xfrm>
              <a:prstGeom prst="rect">
                <a:avLst/>
              </a:prstGeom>
              <a:noFill/>
              <a:ln w="0" cap="flat">
                <a:noFill/>
                <a:prstDash val="solid"/>
                <a:miter lim="0"/>
              </a:ln>
            </p:spPr>
            <p:txBody>
              <a:bodyPr vert="horz" wrap="square" lIns="0" tIns="88" rIns="0" bIns="0"/>
              <a:lstStyle/>
              <a:p>
                <a:pPr indent="351790" algn="l" rtl="0" eaLnBrk="0" fontAlgn="auto">
                  <a:lnSpc>
                    <a:spcPct val="123000"/>
                  </a:lnSpc>
                  <a:spcBef>
                    <a:spcPts val="0"/>
                  </a:spcBef>
                  <a:extLst>
                    <a:ext uri="{35155182-B16C-46BC-9424-99874614C6A1}">
                      <wpsdc:indentchars xmlns:wpsdc="http://www.wps.cn/officeDocument/2017/drawingmlCustomData" val="77" checksum="4158571118"/>
                    </a:ext>
                  </a:extLst>
                </a:pPr>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具体赋值规则如下：</a:t>
                </a:r>
                <a:endParaRPr lang="zh-CN" altLang="en-US" sz="3600" dirty="0">
                  <a:latin typeface="Times New Roman" panose="02020603050405020304" pitchFamily="18" charset="0"/>
                  <a:ea typeface="宋体" panose="02010600030101010101" pitchFamily="2" charset="-122"/>
                  <a:cs typeface="Times New Roman" panose="02020603050405020304" pitchFamily="18" charset="0"/>
                </a:endParaRPr>
              </a:p>
              <a:p>
                <a:pPr indent="351790" rtl="0" eaLnBrk="0" fontAlgn="auto">
                  <a:lnSpc>
                    <a:spcPct val="123000"/>
                  </a:lnSpc>
                  <a:spcBef>
                    <a:spcPts val="0"/>
                  </a:spcBef>
                  <a:extLst>
                    <a:ext uri="{35155182-B16C-46BC-9424-99874614C6A1}">
                      <wpsdc:indentchars xmlns:wpsdc="http://www.wps.cn/officeDocument/2017/drawingmlCustomData" val="77" checksum="4158571118"/>
                    </a:ext>
                  </a:extLst>
                </a:pPr>
                <a14:m>
                  <m:oMathPara xmlns:m="http://schemas.openxmlformats.org/officeDocument/2006/math">
                    <m:oMathParaPr>
                      <m:jc m:val="centerGroup"/>
                    </m:oMathParaPr>
                    <m:oMath xmlns:m="http://schemas.openxmlformats.org/officeDocument/2006/math">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IV</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0</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 = </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COUNT</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0</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IV</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1</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 = </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COUNT</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1</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m:t>
                      </m:r>
                    </m:oMath>
                  </m:oMathPara>
                </a14:m>
                <a:endParaRPr lang="zh-CN" altLang="en-US" sz="3600" dirty="0">
                  <a:latin typeface="Times New Roman" panose="02020603050405020304" pitchFamily="18" charset="0"/>
                  <a:ea typeface="宋体" panose="02010600030101010101" pitchFamily="2" charset="-122"/>
                  <a:cs typeface="Times New Roman" panose="02020603050405020304" pitchFamily="18" charset="0"/>
                </a:endParaRPr>
              </a:p>
              <a:p>
                <a:pPr indent="351790" rtl="0" eaLnBrk="0" fontAlgn="auto">
                  <a:lnSpc>
                    <a:spcPct val="123000"/>
                  </a:lnSpc>
                  <a:spcBef>
                    <a:spcPts val="0"/>
                  </a:spcBef>
                  <a:extLst>
                    <a:ext uri="{35155182-B16C-46BC-9424-99874614C6A1}">
                      <wpsdc:indentchars xmlns:wpsdc="http://www.wps.cn/officeDocument/2017/drawingmlCustomData" val="77" checksum="4158571118"/>
                    </a:ext>
                  </a:extLst>
                </a:pPr>
                <a:endParaRPr lang="zh-CN" altLang="en-US" sz="3600" dirty="0">
                  <a:latin typeface="Times New Roman" panose="02020603050405020304" pitchFamily="18" charset="0"/>
                  <a:ea typeface="宋体" panose="02010600030101010101" pitchFamily="2" charset="-122"/>
                  <a:cs typeface="Times New Roman" panose="02020603050405020304" pitchFamily="18" charset="0"/>
                </a:endParaRPr>
              </a:p>
              <a:p>
                <a:pPr indent="351790" rtl="0" eaLnBrk="0" fontAlgn="auto">
                  <a:lnSpc>
                    <a:spcPct val="123000"/>
                  </a:lnSpc>
                  <a:spcBef>
                    <a:spcPts val="0"/>
                  </a:spcBef>
                  <a:extLst>
                    <a:ext uri="{35155182-B16C-46BC-9424-99874614C6A1}">
                      <wpsdc:indentchars xmlns:wpsdc="http://www.wps.cn/officeDocument/2017/drawingmlCustomData" val="77" checksum="4158571118"/>
                    </a:ext>
                  </a:extLst>
                </a:pPr>
                <a:endParaRPr lang="zh-CN" altLang="en-US" sz="3600" dirty="0">
                  <a:latin typeface="Times New Roman" panose="02020603050405020304" pitchFamily="18" charset="0"/>
                  <a:ea typeface="宋体" panose="02010600030101010101" pitchFamily="2" charset="-122"/>
                  <a:cs typeface="Times New Roman" panose="02020603050405020304" pitchFamily="18" charset="0"/>
                </a:endParaRPr>
              </a:p>
              <a:p>
                <a:pPr indent="351790" rtl="0" eaLnBrk="0" fontAlgn="auto">
                  <a:lnSpc>
                    <a:spcPct val="123000"/>
                  </a:lnSpc>
                  <a:spcBef>
                    <a:spcPts val="0"/>
                  </a:spcBef>
                  <a:extLst>
                    <a:ext uri="{35155182-B16C-46BC-9424-99874614C6A1}">
                      <wpsdc:indentchars xmlns:wpsdc="http://www.wps.cn/officeDocument/2017/drawingmlCustomData" val="77" checksum="4158571118"/>
                    </a:ext>
                  </a:extLst>
                </a:pPr>
                <a:endParaRPr lang="zh-CN" altLang="en-US" sz="3600" dirty="0">
                  <a:latin typeface="Times New Roman" panose="02020603050405020304" pitchFamily="18" charset="0"/>
                  <a:ea typeface="宋体" panose="02010600030101010101" pitchFamily="2" charset="-122"/>
                  <a:cs typeface="Times New Roman" panose="02020603050405020304" pitchFamily="18" charset="0"/>
                </a:endParaRPr>
              </a:p>
              <a:p>
                <a:pPr indent="351790" rtl="0" eaLnBrk="0" fontAlgn="auto">
                  <a:lnSpc>
                    <a:spcPct val="123000"/>
                  </a:lnSpc>
                  <a:spcBef>
                    <a:spcPts val="0"/>
                  </a:spcBef>
                  <a:extLst>
                    <a:ext uri="{35155182-B16C-46BC-9424-99874614C6A1}">
                      <wpsdc:indentchars xmlns:wpsdc="http://www.wps.cn/officeDocument/2017/drawingmlCustomData" val="77" checksum="4158571118"/>
                    </a:ext>
                  </a:extLst>
                </a:pPr>
                <a:endParaRPr lang="zh-CN" altLang="en-US" sz="3600" dirty="0">
                  <a:latin typeface="Times New Roman" panose="02020603050405020304" pitchFamily="18" charset="0"/>
                  <a:ea typeface="宋体" panose="02010600030101010101" pitchFamily="2" charset="-122"/>
                  <a:cs typeface="Times New Roman" panose="02020603050405020304" pitchFamily="18" charset="0"/>
                </a:endParaRPr>
              </a:p>
              <a:p>
                <a:pPr indent="351790" rtl="0" eaLnBrk="0" fontAlgn="auto">
                  <a:lnSpc>
                    <a:spcPct val="123000"/>
                  </a:lnSpc>
                  <a:spcBef>
                    <a:spcPts val="0"/>
                  </a:spcBef>
                  <a:extLst>
                    <a:ext uri="{35155182-B16C-46BC-9424-99874614C6A1}">
                      <wpsdc:indentchars xmlns:wpsdc="http://www.wps.cn/officeDocument/2017/drawingmlCustomData" val="77" checksum="4158571118"/>
                    </a:ext>
                  </a:extLst>
                </a:pPr>
                <a:endParaRPr lang="zh-CN" altLang="en-US" sz="3600" dirty="0">
                  <a:latin typeface="Times New Roman" panose="02020603050405020304" pitchFamily="18" charset="0"/>
                  <a:ea typeface="宋体" panose="02010600030101010101" pitchFamily="2" charset="-122"/>
                  <a:cs typeface="Times New Roman" panose="02020603050405020304" pitchFamily="18" charset="0"/>
                </a:endParaRPr>
              </a:p>
              <a:p>
                <a:pPr indent="351790" rtl="0" eaLnBrk="0" fontAlgn="auto">
                  <a:lnSpc>
                    <a:spcPct val="123000"/>
                  </a:lnSpc>
                  <a:spcBef>
                    <a:spcPts val="0"/>
                  </a:spcBef>
                  <a:extLst>
                    <a:ext uri="{35155182-B16C-46BC-9424-99874614C6A1}">
                      <wpsdc:indentchars xmlns:wpsdc="http://www.wps.cn/officeDocument/2017/drawingmlCustomData" val="77" checksum="4158571118"/>
                    </a:ext>
                  </a:extLst>
                </a:pPr>
                <a:endParaRPr lang="zh-CN" altLang="en-US" sz="3600" dirty="0">
                  <a:latin typeface="Times New Roman" panose="02020603050405020304" pitchFamily="18" charset="0"/>
                  <a:ea typeface="宋体" panose="02010600030101010101" pitchFamily="2" charset="-122"/>
                  <a:cs typeface="Times New Roman" panose="02020603050405020304" pitchFamily="18" charset="0"/>
                </a:endParaRPr>
              </a:p>
              <a:p>
                <a:pPr indent="351790" rtl="0" eaLnBrk="0" fontAlgn="auto">
                  <a:lnSpc>
                    <a:spcPct val="123000"/>
                  </a:lnSpc>
                  <a:spcBef>
                    <a:spcPts val="0"/>
                  </a:spcBef>
                  <a:extLst>
                    <a:ext uri="{35155182-B16C-46BC-9424-99874614C6A1}">
                      <wpsdc:indentchars xmlns:wpsdc="http://www.wps.cn/officeDocument/2017/drawingmlCustomData" val="77" checksum="4158571118"/>
                    </a:ext>
                  </a:extLst>
                </a:pPr>
                <a:endParaRPr lang="zh-CN" altLang="en-US" sz="36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6" name="textbox 2"/>
              <p:cNvSpPr>
                <a:spLocks noRot="1" noChangeAspect="1" noMove="1" noResize="1" noEditPoints="1" noAdjustHandles="1" noChangeArrowheads="1" noChangeShapeType="1" noTextEdit="1"/>
              </p:cNvSpPr>
              <p:nvPr/>
            </p:nvSpPr>
            <p:spPr>
              <a:xfrm>
                <a:off x="1371600" y="1878330"/>
                <a:ext cx="15588615" cy="7014845"/>
              </a:xfrm>
              <a:prstGeom prst="rect">
                <a:avLst/>
              </a:prstGeom>
              <a:blipFill rotWithShape="1">
                <a:blip r:embed="rId1"/>
                <a:stretch>
                  <a:fillRect/>
                </a:stretch>
              </a:blipFill>
              <a:ln w="0" cap="flat">
                <a:noFill/>
                <a:prstDash val="solid"/>
                <a:miter lim="0"/>
              </a:ln>
            </p:spPr>
            <p:txBody>
              <a:bodyPr/>
              <a:lstStyle/>
              <a:p>
                <a:r>
                  <a:rPr lang="zh-CN" altLang="en-US">
                    <a:noFill/>
                  </a:rPr>
                  <a:t> </a:t>
                </a:r>
              </a:p>
            </p:txBody>
          </p:sp>
        </mc:Fallback>
      </mc:AlternateContent>
      <p:sp>
        <p:nvSpPr>
          <p:cNvPr id="7" name="灯片编号占位符 6"/>
          <p:cNvSpPr>
            <a:spLocks noGrp="1"/>
          </p:cNvSpPr>
          <p:nvPr>
            <p:ph type="sldNum" sz="quarter" idx="12"/>
          </p:nvPr>
        </p:nvSpPr>
        <p:spPr/>
        <p:txBody>
          <a:bodyPr/>
          <a:lstStyle/>
          <a:p>
            <a:fld id="{B6F15528-21DE-4FAA-801E-634DDDAF4B2B}" type="slidenum">
              <a:rPr lang="en-US" smtClean="0"/>
            </a:fld>
            <a:endParaRPr lang="en-US"/>
          </a:p>
        </p:txBody>
      </p:sp>
      <p:grpSp>
        <p:nvGrpSpPr>
          <p:cNvPr id="5"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0"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基于祖冲之算法的机密性和完整性算法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1"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textbox 2"/>
              <p:cNvSpPr/>
              <p:nvPr/>
            </p:nvSpPr>
            <p:spPr>
              <a:xfrm>
                <a:off x="1371600" y="1878330"/>
                <a:ext cx="15588615" cy="5492750"/>
              </a:xfrm>
              <a:prstGeom prst="rect">
                <a:avLst/>
              </a:prstGeom>
              <a:noFill/>
              <a:ln w="0" cap="flat">
                <a:noFill/>
                <a:prstDash val="solid"/>
                <a:miter lim="0"/>
              </a:ln>
            </p:spPr>
            <p:txBody>
              <a:bodyPr vert="horz" wrap="square" lIns="0" tIns="88" rIns="0" bIns="0"/>
              <a:lstStyle/>
              <a:p>
                <a:pPr marL="12700" indent="457200" algn="l" rtl="0" eaLnBrk="0" fontAlgn="auto">
                  <a:lnSpc>
                    <a:spcPct val="123000"/>
                  </a:lnSpc>
                  <a:spcBef>
                    <a:spcPts val="0"/>
                  </a:spcBef>
                </a:pPr>
                <a:r>
                  <a:rPr lang="zh-CN" sz="3600" b="1" dirty="0">
                    <a:latin typeface="Times New Roman" panose="02020603050405020304" pitchFamily="18" charset="0"/>
                    <a:ea typeface="宋体" panose="02010600030101010101" pitchFamily="2" charset="-122"/>
                    <a:cs typeface="Times New Roman" panose="02020603050405020304" pitchFamily="18" charset="0"/>
                  </a:rPr>
                  <a:t>密钥流的生成</a:t>
                </a:r>
                <a:endParaRPr lang="zh-CN" sz="3600" b="1" dirty="0">
                  <a:latin typeface="Times New Roman" panose="02020603050405020304" pitchFamily="18" charset="0"/>
                  <a:ea typeface="宋体" panose="02010600030101010101" pitchFamily="2" charset="-122"/>
                  <a:cs typeface="Times New Roman" panose="02020603050405020304" pitchFamily="18" charset="0"/>
                </a:endParaRPr>
              </a:p>
              <a:p>
                <a:pPr marL="12700" indent="457200" algn="l" rtl="0" eaLnBrk="0" fontAlgn="auto">
                  <a:lnSpc>
                    <a:spcPct val="123000"/>
                  </a:lnSpc>
                  <a:spcBef>
                    <a:spcPts val="0"/>
                  </a:spcBef>
                </a:pPr>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利用算法初始化中生成的初始密钥 </a:t>
                </a:r>
                <a:r>
                  <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rPr>
                  <a:t>KEY </a:t>
                </a:r>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和初始变量 </a:t>
                </a:r>
                <a:r>
                  <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rPr>
                  <a:t>IV</a:t>
                </a:r>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rPr>
                  <a:t>ZUC </a:t>
                </a:r>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算法产生 </a:t>
                </a:r>
                <a:r>
                  <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rPr>
                  <a:t>L </a:t>
                </a:r>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个字的密钥流。将生成的密钥流用比特串表示为 </a:t>
                </a:r>
                <a:r>
                  <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rPr>
                  <a:t>k [0]</a:t>
                </a:r>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rPr>
                  <a:t>k [1]</a:t>
                </a:r>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rPr>
                  <a:t>k [32×L-1]</a:t>
                </a:r>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，其中 </a:t>
                </a:r>
                <a:r>
                  <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rPr>
                  <a:t>k [0] </a:t>
                </a:r>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为 </a:t>
                </a:r>
                <a:r>
                  <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rPr>
                  <a:t>ZUC </a:t>
                </a:r>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算法生成的第一个密钥字的最高比特位，</a:t>
                </a:r>
                <a:r>
                  <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rPr>
                  <a:t>k [31] </a:t>
                </a:r>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为最低比特位，其他以此类推。为了处理 </a:t>
                </a:r>
                <a:r>
                  <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rPr>
                  <a:t>LENGTH </a:t>
                </a:r>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比特的输入信息比特流，</a:t>
                </a:r>
                <a:r>
                  <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rPr>
                  <a:t>L </a:t>
                </a:r>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的取值为 </a:t>
                </a:r>
                <a14:m>
                  <m:oMath xmlns:m="http://schemas.openxmlformats.org/officeDocument/2006/math">
                    <m:r>
                      <m:rPr>
                        <m:sty m:val="p"/>
                      </m:rPr>
                      <a:rPr lang="en-US" altLang="zh-CN" sz="3600" i="0" dirty="0">
                        <a:latin typeface="Cambria Math" panose="02040503050406030204" pitchFamily="18" charset="0"/>
                        <a:ea typeface="宋体" panose="02010600030101010101" pitchFamily="2" charset="-122"/>
                        <a:cs typeface="Times New Roman" panose="02020603050405020304" pitchFamily="18" charset="0"/>
                        <a:sym typeface="+mn-ea"/>
                      </a:rPr>
                      <m:t>L</m:t>
                    </m:r>
                    <m:r>
                      <a:rPr lang="en-US" altLang="zh-CN" sz="3600" i="0" dirty="0">
                        <a:latin typeface="Cambria Math" panose="02040503050406030204" pitchFamily="18" charset="0"/>
                        <a:ea typeface="宋体" panose="02010600030101010101" pitchFamily="2" charset="-122"/>
                        <a:cs typeface="Times New Roman" panose="02020603050405020304" pitchFamily="18" charset="0"/>
                        <a:sym typeface="+mn-ea"/>
                      </a:rPr>
                      <m:t>=⌈</m:t>
                    </m:r>
                    <m:r>
                      <m:rPr>
                        <m:sty m:val="p"/>
                      </m:rPr>
                      <a:rPr lang="en-US" altLang="zh-CN" sz="3600" i="0" dirty="0">
                        <a:latin typeface="Cambria Math" panose="02040503050406030204" pitchFamily="18" charset="0"/>
                        <a:ea typeface="宋体" panose="02010600030101010101" pitchFamily="2" charset="-122"/>
                        <a:cs typeface="Times New Roman" panose="02020603050405020304" pitchFamily="18" charset="0"/>
                        <a:sym typeface="+mn-ea"/>
                      </a:rPr>
                      <m:t>LENGTH</m:t>
                    </m:r>
                    <m:r>
                      <a:rPr lang="en-US" altLang="zh-CN" sz="3600" i="0" dirty="0">
                        <a:latin typeface="Cambria Math" panose="02040503050406030204" pitchFamily="18" charset="0"/>
                        <a:ea typeface="宋体" panose="02010600030101010101" pitchFamily="2" charset="-122"/>
                        <a:cs typeface="Times New Roman" panose="02020603050405020304" pitchFamily="18" charset="0"/>
                        <a:sym typeface="+mn-ea"/>
                      </a:rPr>
                      <m:t>/</m:t>
                    </m:r>
                    <m:r>
                      <a:rPr lang="en-US" altLang="zh-CN" sz="3600" i="0" dirty="0">
                        <a:latin typeface="Cambria Math" panose="02040503050406030204" pitchFamily="18" charset="0"/>
                        <a:ea typeface="宋体" panose="02010600030101010101" pitchFamily="2" charset="-122"/>
                        <a:cs typeface="Times New Roman" panose="02020603050405020304" pitchFamily="18" charset="0"/>
                        <a:sym typeface="+mn-ea"/>
                      </a:rPr>
                      <m:t>32</m:t>
                    </m:r>
                    <m:r>
                      <a:rPr lang="en-US" altLang="zh-CN" sz="3600" i="0" dirty="0">
                        <a:latin typeface="Cambria Math" panose="02040503050406030204" pitchFamily="18" charset="0"/>
                        <a:ea typeface="宋体" panose="02010600030101010101" pitchFamily="2" charset="-122"/>
                        <a:cs typeface="Times New Roman" panose="02020603050405020304" pitchFamily="18" charset="0"/>
                        <a:sym typeface="+mn-ea"/>
                      </a:rPr>
                      <m:t>⌉。</m:t>
                    </m:r>
                  </m:oMath>
                </a14:m>
                <a:endPar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12700" indent="457200" algn="l" rtl="0" eaLnBrk="0" fontAlgn="auto">
                  <a:lnSpc>
                    <a:spcPct val="123000"/>
                  </a:lnSpc>
                  <a:spcBef>
                    <a:spcPts val="0"/>
                  </a:spcBef>
                </a:pPr>
                <a:endParaRPr lang="zh-CN" sz="36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6" name="textbox 2"/>
              <p:cNvSpPr>
                <a:spLocks noRot="1" noChangeAspect="1" noMove="1" noResize="1" noEditPoints="1" noAdjustHandles="1" noChangeArrowheads="1" noChangeShapeType="1" noTextEdit="1"/>
              </p:cNvSpPr>
              <p:nvPr/>
            </p:nvSpPr>
            <p:spPr>
              <a:xfrm>
                <a:off x="1371600" y="1878330"/>
                <a:ext cx="15588615" cy="5492750"/>
              </a:xfrm>
              <a:prstGeom prst="rect">
                <a:avLst/>
              </a:prstGeom>
              <a:blipFill rotWithShape="1">
                <a:blip r:embed="rId1"/>
                <a:stretch>
                  <a:fillRect r="-2570"/>
                </a:stretch>
              </a:blipFill>
              <a:ln w="0" cap="flat">
                <a:noFill/>
                <a:prstDash val="solid"/>
                <a:miter lim="0"/>
              </a:ln>
            </p:spPr>
            <p:txBody>
              <a:bodyPr/>
              <a:lstStyle/>
              <a:p>
                <a:r>
                  <a:rPr lang="zh-CN" altLang="en-US">
                    <a:noFill/>
                  </a:rPr>
                  <a:t> </a:t>
                </a:r>
              </a:p>
            </p:txBody>
          </p:sp>
        </mc:Fallback>
      </mc:AlternateContent>
      <p:sp>
        <p:nvSpPr>
          <p:cNvPr id="34" name="灯片编号占位符 33"/>
          <p:cNvSpPr>
            <a:spLocks noGrp="1"/>
          </p:cNvSpPr>
          <p:nvPr>
            <p:ph type="sldNum" sz="quarter" idx="12"/>
          </p:nvPr>
        </p:nvSpPr>
        <p:spPr/>
        <p:txBody>
          <a:bodyPr/>
          <a:lstStyle/>
          <a:p>
            <a:fld id="{B6F15528-21DE-4FAA-801E-634DDDAF4B2B}" type="slidenum">
              <a:rPr lang="en-US" smtClean="0"/>
            </a:fld>
            <a:endParaRPr lang="en-US"/>
          </a:p>
        </p:txBody>
      </p:sp>
      <p:grpSp>
        <p:nvGrpSpPr>
          <p:cNvPr id="8" name="Group 2"/>
          <p:cNvGrpSpPr/>
          <p:nvPr/>
        </p:nvGrpSpPr>
        <p:grpSpPr>
          <a:xfrm>
            <a:off x="412090" y="1028700"/>
            <a:ext cx="7800783" cy="275915"/>
            <a:chOff x="0" y="0"/>
            <a:chExt cx="2054527" cy="72669"/>
          </a:xfrm>
        </p:grpSpPr>
        <p:sp>
          <p:nvSpPr>
            <p:cNvPr id="10"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2"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4"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基于祖冲之算法的机密性和完整性算法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6"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8"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20" name="组合 19"/>
          <p:cNvGrpSpPr/>
          <p:nvPr/>
        </p:nvGrpSpPr>
        <p:grpSpPr>
          <a:xfrm>
            <a:off x="13639786" y="733421"/>
            <a:ext cx="3700052" cy="416951"/>
            <a:chOff x="13811849" y="507954"/>
            <a:chExt cx="3700052" cy="416951"/>
          </a:xfrm>
        </p:grpSpPr>
        <p:sp>
          <p:nvSpPr>
            <p:cNvPr id="22" name="文本框 21"/>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24" name="图片 23"/>
            <p:cNvPicPr>
              <a:picLocks noChangeAspect="1"/>
            </p:cNvPicPr>
            <p:nvPr/>
          </p:nvPicPr>
          <p:blipFill>
            <a:blip r:embed="rId3"/>
            <a:stretch>
              <a:fillRect/>
            </a:stretch>
          </p:blipFill>
          <p:spPr>
            <a:xfrm>
              <a:off x="13944600" y="877286"/>
              <a:ext cx="2771429" cy="47619"/>
            </a:xfrm>
            <a:prstGeom prst="rect">
              <a:avLst/>
            </a:prstGeom>
          </p:spPr>
        </p:pic>
      </p:grpSp>
      <p:sp>
        <p:nvSpPr>
          <p:cNvPr id="3" name="文本框 2"/>
          <p:cNvSpPr txBox="1"/>
          <p:nvPr/>
        </p:nvSpPr>
        <p:spPr>
          <a:xfrm>
            <a:off x="3200400" y="2933700"/>
            <a:ext cx="8835390" cy="4406900"/>
          </a:xfrm>
          <a:prstGeom prst="rect">
            <a:avLst/>
          </a:prstGeom>
        </p:spPr>
        <p:txBody>
          <a:bodyPr>
            <a:noAutofit/>
          </a:bodyPr>
          <a:lstStyle/>
          <a:p>
            <a:endParaRPr lang="en-US" altLang="zh-CN" sz="16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textbox 2"/>
              <p:cNvSpPr/>
              <p:nvPr/>
            </p:nvSpPr>
            <p:spPr>
              <a:xfrm>
                <a:off x="1371600" y="1878330"/>
                <a:ext cx="15588615" cy="5325745"/>
              </a:xfrm>
              <a:prstGeom prst="rect">
                <a:avLst/>
              </a:prstGeom>
              <a:noFill/>
              <a:ln w="0" cap="flat">
                <a:noFill/>
                <a:prstDash val="solid"/>
                <a:miter lim="0"/>
              </a:ln>
            </p:spPr>
            <p:txBody>
              <a:bodyPr vert="horz" wrap="square" lIns="0" tIns="88" rIns="0" bIns="0"/>
              <a:lstStyle/>
              <a:p>
                <a:pPr marL="12700" indent="457200" algn="l" eaLnBrk="0">
                  <a:lnSpc>
                    <a:spcPct val="123000"/>
                  </a:lnSpc>
                  <a:spcBef>
                    <a:spcPts val="0"/>
                  </a:spcBef>
                  <a:buClrTx/>
                  <a:buSzTx/>
                  <a:buNone/>
                </a:pPr>
                <a:r>
                  <a:rPr lang="en-US" altLang="zh-CN" sz="3600" b="1" dirty="0">
                    <a:latin typeface="Times New Roman" panose="02020603050405020304" pitchFamily="18" charset="0"/>
                    <a:cs typeface="Times New Roman" panose="02020603050405020304" pitchFamily="18" charset="0"/>
                    <a:sym typeface="+mn-ea"/>
                  </a:rPr>
                  <a:t>    </a:t>
                </a:r>
                <a:r>
                  <a:rPr lang="en-US" altLang="zh-CN" sz="3600" b="1" dirty="0" err="1">
                    <a:latin typeface="Times New Roman" panose="02020603050405020304" pitchFamily="18" charset="0"/>
                    <a:ea typeface="宋体" panose="02010600030101010101" pitchFamily="2" charset="-122"/>
                    <a:cs typeface="Times New Roman" panose="02020603050405020304" pitchFamily="18" charset="0"/>
                    <a:sym typeface="+mn-ea"/>
                  </a:rPr>
                  <a:t>加密解密过程</a:t>
                </a:r>
                <a:endPar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12700" indent="457200" eaLnBrk="0">
                  <a:lnSpc>
                    <a:spcPct val="123000"/>
                  </a:lnSpc>
                  <a:buClrTx/>
                  <a:buSzTx/>
                  <a:buNone/>
                </a:pPr>
                <a:r>
                  <a:rPr lang="en-US" altLang="zh-CN" sz="3600" dirty="0" err="1">
                    <a:latin typeface="Times New Roman" panose="02020603050405020304" pitchFamily="18" charset="0"/>
                    <a:ea typeface="宋体" panose="02010600030101010101" pitchFamily="2" charset="-122"/>
                    <a:cs typeface="Times New Roman" panose="02020603050405020304" pitchFamily="18" charset="0"/>
                    <a:sym typeface="+mn-ea"/>
                  </a:rPr>
                  <a:t>加密和解密都是相同的操作，设长度为</a:t>
                </a:r>
                <a:r>
                  <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rPr>
                  <a:t> LENGTH </a:t>
                </a:r>
                <a:r>
                  <a:rPr lang="en-US" altLang="zh-CN" sz="3600" dirty="0" err="1">
                    <a:latin typeface="Times New Roman" panose="02020603050405020304" pitchFamily="18" charset="0"/>
                    <a:ea typeface="宋体" panose="02010600030101010101" pitchFamily="2" charset="-122"/>
                    <a:cs typeface="Times New Roman" panose="02020603050405020304" pitchFamily="18" charset="0"/>
                    <a:sym typeface="+mn-ea"/>
                  </a:rPr>
                  <a:t>的明文输入比特流为</a:t>
                </a:r>
                <a:endPar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12700" indent="457200" eaLnBrk="0">
                  <a:lnSpc>
                    <a:spcPct val="123000"/>
                  </a:lnSpc>
                  <a:buClrTx/>
                  <a:buSzTx/>
                  <a:buNone/>
                </a:pPr>
                <a14:m>
                  <m:oMathPara xmlns:m="http://schemas.openxmlformats.org/officeDocument/2006/math">
                    <m:oMathParaPr>
                      <m:jc m:val="centerGroup"/>
                    </m:oMathParaPr>
                    <m:oMath xmlns:m="http://schemas.openxmlformats.org/officeDocument/2006/math">
                      <m:r>
                        <m:rPr>
                          <m:sty m:val="p"/>
                        </m:rPr>
                        <a:rPr lang="en-US" sz="3600" b="0" i="0" dirty="0">
                          <a:latin typeface="Cambria Math" panose="02040503050406030204" pitchFamily="18" charset="0"/>
                          <a:ea typeface="宋体" panose="02010600030101010101" pitchFamily="2" charset="-122"/>
                          <a:cs typeface="Times New Roman" panose="02020603050405020304" pitchFamily="18" charset="0"/>
                        </a:rPr>
                        <m:t>IBS</m:t>
                      </m:r>
                      <m:r>
                        <a:rPr lang="en-US" sz="3600" b="0" i="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sz="3600" b="0" i="0" dirty="0">
                          <a:latin typeface="Cambria Math" panose="02040503050406030204" pitchFamily="18" charset="0"/>
                          <a:ea typeface="宋体" panose="02010600030101010101" pitchFamily="2" charset="-122"/>
                          <a:cs typeface="Times New Roman" panose="02020603050405020304" pitchFamily="18" charset="0"/>
                        </a:rPr>
                        <m:t>IBS</m:t>
                      </m:r>
                      <m:d>
                        <m:dPr>
                          <m:begChr m:val="["/>
                          <m:endChr m:val="]"/>
                          <m:ctrlPr>
                            <a:rPr lang="en-US" sz="3600" b="0" i="0" dirty="0">
                              <a:latin typeface="Cambria Math" panose="02040503050406030204" pitchFamily="18" charset="0"/>
                              <a:ea typeface="宋体" panose="02010600030101010101" pitchFamily="2" charset="-122"/>
                              <a:cs typeface="Times New Roman" panose="02020603050405020304" pitchFamily="18" charset="0"/>
                            </a:rPr>
                          </m:ctrlPr>
                        </m:dPr>
                        <m:e>
                          <m:r>
                            <a:rPr lang="en-US" sz="3600" b="0" i="0" dirty="0">
                              <a:latin typeface="Cambria Math" panose="02040503050406030204" pitchFamily="18" charset="0"/>
                              <a:ea typeface="宋体" panose="02010600030101010101" pitchFamily="2" charset="-122"/>
                              <a:cs typeface="Times New Roman" panose="02020603050405020304" pitchFamily="18" charset="0"/>
                            </a:rPr>
                            <m:t>0</m:t>
                          </m:r>
                        </m:e>
                      </m:d>
                      <m:r>
                        <a:rPr lang="en-US" altLang="zh-CN" sz="3600" i="1" dirty="0"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3600" i="1"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sz="3600" b="0" i="0" dirty="0">
                          <a:latin typeface="Cambria Math" panose="02040503050406030204" pitchFamily="18" charset="0"/>
                          <a:ea typeface="宋体" panose="02010600030101010101" pitchFamily="2" charset="-122"/>
                          <a:cs typeface="Times New Roman" panose="02020603050405020304" pitchFamily="18" charset="0"/>
                        </a:rPr>
                        <m:t>IBS</m:t>
                      </m:r>
                      <m:r>
                        <a:rPr lang="en-US" sz="3600" b="0" i="0" dirty="0">
                          <a:latin typeface="Cambria Math" panose="02040503050406030204" pitchFamily="18" charset="0"/>
                          <a:ea typeface="宋体" panose="02010600030101010101" pitchFamily="2" charset="-122"/>
                          <a:cs typeface="Times New Roman" panose="02020603050405020304" pitchFamily="18" charset="0"/>
                        </a:rPr>
                        <m:t>[</m:t>
                      </m:r>
                      <m:r>
                        <a:rPr lang="en-US" sz="3600" b="0" i="0" dirty="0">
                          <a:latin typeface="Cambria Math" panose="02040503050406030204" pitchFamily="18" charset="0"/>
                          <a:ea typeface="宋体" panose="02010600030101010101" pitchFamily="2" charset="-122"/>
                          <a:cs typeface="Times New Roman" panose="02020603050405020304" pitchFamily="18" charset="0"/>
                        </a:rPr>
                        <m:t>1</m:t>
                      </m:r>
                      <m:r>
                        <a:rPr lang="en-US" sz="3600" b="0" i="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sz="3600" b="0" i="0" dirty="0">
                          <a:latin typeface="Cambria Math" panose="02040503050406030204" pitchFamily="18" charset="0"/>
                          <a:ea typeface="宋体" panose="02010600030101010101" pitchFamily="2" charset="-122"/>
                          <a:cs typeface="Times New Roman" panose="02020603050405020304" pitchFamily="18" charset="0"/>
                        </a:rPr>
                        <m:t>IBS</m:t>
                      </m:r>
                      <m:r>
                        <a:rPr lang="en-US" sz="3600" b="0" i="0" dirty="0">
                          <a:latin typeface="Cambria Math" panose="02040503050406030204" pitchFamily="18" charset="0"/>
                          <a:ea typeface="宋体" panose="02010600030101010101" pitchFamily="2" charset="-122"/>
                          <a:cs typeface="Times New Roman" panose="02020603050405020304" pitchFamily="18" charset="0"/>
                        </a:rPr>
                        <m:t>[</m:t>
                      </m:r>
                      <m:r>
                        <a:rPr lang="en-US" sz="3600" b="0" i="0" dirty="0">
                          <a:latin typeface="Cambria Math" panose="02040503050406030204" pitchFamily="18" charset="0"/>
                          <a:ea typeface="宋体" panose="02010600030101010101" pitchFamily="2" charset="-122"/>
                          <a:cs typeface="Times New Roman" panose="02020603050405020304" pitchFamily="18" charset="0"/>
                        </a:rPr>
                        <m:t>2</m:t>
                      </m:r>
                      <m:r>
                        <a:rPr lang="en-US" sz="3600" b="0" i="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sz="3600" b="0" i="0" dirty="0">
                          <a:latin typeface="Cambria Math" panose="02040503050406030204" pitchFamily="18" charset="0"/>
                          <a:ea typeface="宋体" panose="02010600030101010101" pitchFamily="2" charset="-122"/>
                          <a:cs typeface="Times New Roman" panose="02020603050405020304" pitchFamily="18" charset="0"/>
                        </a:rPr>
                        <m:t>IBS</m:t>
                      </m:r>
                      <m:r>
                        <a:rPr lang="en-US" sz="3600" b="0" i="0" dirty="0">
                          <a:latin typeface="Cambria Math" panose="02040503050406030204" pitchFamily="18" charset="0"/>
                          <a:ea typeface="宋体" panose="02010600030101010101" pitchFamily="2" charset="-122"/>
                          <a:cs typeface="Times New Roman" panose="02020603050405020304" pitchFamily="18" charset="0"/>
                        </a:rPr>
                        <m:t>[</m:t>
                      </m:r>
                      <m:r>
                        <m:rPr>
                          <m:sty m:val="p"/>
                        </m:rPr>
                        <a:rPr lang="en-US" sz="3600" b="0" i="0" dirty="0">
                          <a:latin typeface="Cambria Math" panose="02040503050406030204" pitchFamily="18" charset="0"/>
                          <a:ea typeface="宋体" panose="02010600030101010101" pitchFamily="2" charset="-122"/>
                          <a:cs typeface="Times New Roman" panose="02020603050405020304" pitchFamily="18" charset="0"/>
                        </a:rPr>
                        <m:t>LENGTH</m:t>
                      </m:r>
                      <m:r>
                        <a:rPr lang="en-US" sz="3600" b="0" i="0" dirty="0">
                          <a:latin typeface="Cambria Math" panose="02040503050406030204" pitchFamily="18" charset="0"/>
                          <a:ea typeface="宋体" panose="02010600030101010101" pitchFamily="2" charset="-122"/>
                          <a:cs typeface="Times New Roman" panose="02020603050405020304" pitchFamily="18" charset="0"/>
                        </a:rPr>
                        <m:t>−</m:t>
                      </m:r>
                      <m:r>
                        <a:rPr lang="en-US" sz="3600" b="0" i="0" dirty="0">
                          <a:latin typeface="Cambria Math" panose="02040503050406030204" pitchFamily="18" charset="0"/>
                          <a:ea typeface="宋体" panose="02010600030101010101" pitchFamily="2" charset="-122"/>
                          <a:cs typeface="Times New Roman" panose="02020603050405020304" pitchFamily="18" charset="0"/>
                        </a:rPr>
                        <m:t>1</m:t>
                      </m:r>
                      <m:r>
                        <a:rPr lang="en-US" sz="3600" b="0" i="0" dirty="0">
                          <a:latin typeface="Cambria Math" panose="02040503050406030204" pitchFamily="18" charset="0"/>
                          <a:ea typeface="宋体" panose="02010600030101010101" pitchFamily="2" charset="-122"/>
                          <a:cs typeface="Times New Roman" panose="02020603050405020304" pitchFamily="18" charset="0"/>
                        </a:rPr>
                        <m:t>]</m:t>
                      </m:r>
                    </m:oMath>
                  </m:oMathPara>
                </a14:m>
                <a:endPar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12700" indent="457200" eaLnBrk="0">
                  <a:lnSpc>
                    <a:spcPct val="123000"/>
                  </a:lnSpc>
                  <a:buClrTx/>
                  <a:buSzTx/>
                  <a:buNone/>
                </a:pPr>
                <a:r>
                  <a:rPr lang="en-US" altLang="zh-CN" sz="3600" dirty="0" err="1">
                    <a:latin typeface="Times New Roman" panose="02020603050405020304" pitchFamily="18" charset="0"/>
                    <a:ea typeface="宋体" panose="02010600030101010101" pitchFamily="2" charset="-122"/>
                    <a:cs typeface="Times New Roman" panose="02020603050405020304" pitchFamily="18" charset="0"/>
                    <a:sym typeface="+mn-ea"/>
                  </a:rPr>
                  <a:t>对应的输出密文比特流为</a:t>
                </a:r>
                <a:r>
                  <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rPr>
                  <a:t> </a:t>
                </a:r>
                <a:endPar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12700" indent="457200" eaLnBrk="0">
                  <a:lnSpc>
                    <a:spcPct val="123000"/>
                  </a:lnSpc>
                </a:pPr>
                <a14:m>
                  <m:oMathPara xmlns:m="http://schemas.openxmlformats.org/officeDocument/2006/math">
                    <m:oMathParaPr>
                      <m:jc m:val="centerGroup"/>
                    </m:oMathParaPr>
                    <m:oMath xmlns:m="http://schemas.openxmlformats.org/officeDocument/2006/math">
                      <m:r>
                        <m:rPr>
                          <m:nor/>
                        </m:rPr>
                        <a:rPr lang="en-US" sz="3600" i="0" dirty="0">
                          <a:latin typeface="Times New Roman" panose="02020603050405020304" pitchFamily="18" charset="0"/>
                          <a:ea typeface="宋体" panose="02010600030101010101" pitchFamily="2" charset="-122"/>
                          <a:cs typeface="Times New Roman" panose="02020603050405020304" pitchFamily="18" charset="0"/>
                        </a:rPr>
                        <m:t>OBS</m:t>
                      </m:r>
                      <m:r>
                        <m:rPr>
                          <m:nor/>
                        </m:rPr>
                        <a:rPr lang="en-US" sz="3600" i="0" dirty="0">
                          <a:latin typeface="Times New Roman" panose="02020603050405020304" pitchFamily="18" charset="0"/>
                          <a:ea typeface="宋体" panose="02010600030101010101" pitchFamily="2" charset="-122"/>
                          <a:cs typeface="Times New Roman" panose="02020603050405020304" pitchFamily="18" charset="0"/>
                        </a:rPr>
                        <m:t>=</m:t>
                      </m:r>
                      <m:r>
                        <m:rPr>
                          <m:nor/>
                        </m:rPr>
                        <a:rPr lang="en-US" sz="3600" i="0" dirty="0">
                          <a:latin typeface="Times New Roman" panose="02020603050405020304" pitchFamily="18" charset="0"/>
                          <a:ea typeface="宋体" panose="02010600030101010101" pitchFamily="2" charset="-122"/>
                          <a:cs typeface="Times New Roman" panose="02020603050405020304" pitchFamily="18" charset="0"/>
                        </a:rPr>
                        <m:t>OBS</m:t>
                      </m:r>
                      <m:r>
                        <m:rPr>
                          <m:nor/>
                        </m:rPr>
                        <a:rPr lang="en-US" sz="3600" i="0" dirty="0">
                          <a:latin typeface="Times New Roman" panose="02020603050405020304" pitchFamily="18" charset="0"/>
                          <a:ea typeface="宋体" panose="02010600030101010101" pitchFamily="2" charset="-122"/>
                          <a:cs typeface="Times New Roman" panose="02020603050405020304" pitchFamily="18" charset="0"/>
                        </a:rPr>
                        <m:t>[</m:t>
                      </m:r>
                      <m:r>
                        <m:rPr>
                          <m:nor/>
                        </m:rPr>
                        <a:rPr lang="en-US" sz="3600" i="0" dirty="0">
                          <a:latin typeface="Times New Roman" panose="02020603050405020304" pitchFamily="18" charset="0"/>
                          <a:ea typeface="宋体" panose="02010600030101010101" pitchFamily="2" charset="-122"/>
                          <a:cs typeface="Times New Roman" panose="02020603050405020304" pitchFamily="18" charset="0"/>
                        </a:rPr>
                        <m:t>0</m:t>
                      </m:r>
                      <m:r>
                        <m:rPr>
                          <m:nor/>
                        </m:rPr>
                        <a:rPr lang="en-US" sz="3600" i="0" dirty="0">
                          <a:latin typeface="Times New Roman" panose="02020603050405020304" pitchFamily="18" charset="0"/>
                          <a:ea typeface="宋体" panose="02010600030101010101" pitchFamily="2" charset="-122"/>
                          <a:cs typeface="Times New Roman" panose="02020603050405020304" pitchFamily="18" charset="0"/>
                        </a:rPr>
                        <m:t>]||</m:t>
                      </m:r>
                      <m:r>
                        <m:rPr>
                          <m:nor/>
                        </m:rPr>
                        <a:rPr lang="en-US" sz="3600" i="0" dirty="0">
                          <a:latin typeface="Times New Roman" panose="02020603050405020304" pitchFamily="18" charset="0"/>
                          <a:ea typeface="宋体" panose="02010600030101010101" pitchFamily="2" charset="-122"/>
                          <a:cs typeface="Times New Roman" panose="02020603050405020304" pitchFamily="18" charset="0"/>
                        </a:rPr>
                        <m:t>OBS</m:t>
                      </m:r>
                      <m:r>
                        <m:rPr>
                          <m:nor/>
                        </m:rPr>
                        <a:rPr lang="en-US" sz="3600" i="0" dirty="0">
                          <a:latin typeface="Times New Roman" panose="02020603050405020304" pitchFamily="18" charset="0"/>
                          <a:ea typeface="宋体" panose="02010600030101010101" pitchFamily="2" charset="-122"/>
                          <a:cs typeface="Times New Roman" panose="02020603050405020304" pitchFamily="18" charset="0"/>
                        </a:rPr>
                        <m:t>[</m:t>
                      </m:r>
                      <m:r>
                        <m:rPr>
                          <m:nor/>
                        </m:rPr>
                        <a:rPr lang="en-US" sz="3600" i="0" dirty="0">
                          <a:latin typeface="Times New Roman" panose="02020603050405020304" pitchFamily="18" charset="0"/>
                          <a:ea typeface="宋体" panose="02010600030101010101" pitchFamily="2" charset="-122"/>
                          <a:cs typeface="Times New Roman" panose="02020603050405020304" pitchFamily="18" charset="0"/>
                        </a:rPr>
                        <m:t>1</m:t>
                      </m:r>
                      <m:r>
                        <m:rPr>
                          <m:nor/>
                        </m:rPr>
                        <a:rPr lang="en-US" sz="3600" i="0" dirty="0">
                          <a:latin typeface="Times New Roman" panose="02020603050405020304" pitchFamily="18" charset="0"/>
                          <a:ea typeface="宋体" panose="02010600030101010101" pitchFamily="2" charset="-122"/>
                          <a:cs typeface="Times New Roman" panose="02020603050405020304" pitchFamily="18" charset="0"/>
                        </a:rPr>
                        <m:t>]||</m:t>
                      </m:r>
                      <m:r>
                        <m:rPr>
                          <m:nor/>
                        </m:rPr>
                        <a:rPr lang="en-US" sz="3600" i="0" dirty="0">
                          <a:latin typeface="Times New Roman" panose="02020603050405020304" pitchFamily="18" charset="0"/>
                          <a:ea typeface="宋体" panose="02010600030101010101" pitchFamily="2" charset="-122"/>
                          <a:cs typeface="Times New Roman" panose="02020603050405020304" pitchFamily="18" charset="0"/>
                        </a:rPr>
                        <m:t>OBS</m:t>
                      </m:r>
                      <m:r>
                        <m:rPr>
                          <m:nor/>
                        </m:rPr>
                        <a:rPr lang="en-US" sz="3600" i="0" dirty="0">
                          <a:latin typeface="Times New Roman" panose="02020603050405020304" pitchFamily="18" charset="0"/>
                          <a:ea typeface="宋体" panose="02010600030101010101" pitchFamily="2" charset="-122"/>
                          <a:cs typeface="Times New Roman" panose="02020603050405020304" pitchFamily="18" charset="0"/>
                        </a:rPr>
                        <m:t>[</m:t>
                      </m:r>
                      <m:r>
                        <m:rPr>
                          <m:nor/>
                        </m:rPr>
                        <a:rPr lang="en-US" sz="3600" i="0" dirty="0">
                          <a:latin typeface="Times New Roman" panose="02020603050405020304" pitchFamily="18" charset="0"/>
                          <a:ea typeface="宋体" panose="02010600030101010101" pitchFamily="2" charset="-122"/>
                          <a:cs typeface="Times New Roman" panose="02020603050405020304" pitchFamily="18" charset="0"/>
                        </a:rPr>
                        <m:t>2</m:t>
                      </m:r>
                      <m:r>
                        <m:rPr>
                          <m:nor/>
                        </m:rPr>
                        <a:rPr lang="en-US" sz="3600" i="0" dirty="0">
                          <a:latin typeface="Times New Roman" panose="02020603050405020304" pitchFamily="18" charset="0"/>
                          <a:ea typeface="宋体" panose="02010600030101010101" pitchFamily="2" charset="-122"/>
                          <a:cs typeface="Times New Roman" panose="02020603050405020304" pitchFamily="18" charset="0"/>
                        </a:rPr>
                        <m:t>]…||</m:t>
                      </m:r>
                      <m:r>
                        <m:rPr>
                          <m:nor/>
                        </m:rPr>
                        <a:rPr lang="en-US" sz="3600" i="0" dirty="0">
                          <a:latin typeface="Times New Roman" panose="02020603050405020304" pitchFamily="18" charset="0"/>
                          <a:ea typeface="宋体" panose="02010600030101010101" pitchFamily="2" charset="-122"/>
                          <a:cs typeface="Times New Roman" panose="02020603050405020304" pitchFamily="18" charset="0"/>
                        </a:rPr>
                        <m:t>OBS</m:t>
                      </m:r>
                      <m:r>
                        <m:rPr>
                          <m:nor/>
                        </m:rPr>
                        <a:rPr lang="en-US" sz="3600" i="0" dirty="0">
                          <a:latin typeface="Times New Roman" panose="02020603050405020304" pitchFamily="18" charset="0"/>
                          <a:ea typeface="宋体" panose="02010600030101010101" pitchFamily="2" charset="-122"/>
                          <a:cs typeface="Times New Roman" panose="02020603050405020304" pitchFamily="18" charset="0"/>
                        </a:rPr>
                        <m:t>[</m:t>
                      </m:r>
                      <m:r>
                        <m:rPr>
                          <m:nor/>
                        </m:rPr>
                        <a:rPr lang="en-US" sz="3600" i="0" dirty="0">
                          <a:latin typeface="Times New Roman" panose="02020603050405020304" pitchFamily="18" charset="0"/>
                          <a:ea typeface="宋体" panose="02010600030101010101" pitchFamily="2" charset="-122"/>
                          <a:cs typeface="Times New Roman" panose="02020603050405020304" pitchFamily="18" charset="0"/>
                        </a:rPr>
                        <m:t>LENGTH</m:t>
                      </m:r>
                      <m:r>
                        <m:rPr>
                          <m:nor/>
                        </m:rPr>
                        <a:rPr lang="en-US" sz="3600" i="0" dirty="0">
                          <a:latin typeface="Times New Roman" panose="02020603050405020304" pitchFamily="18" charset="0"/>
                          <a:ea typeface="宋体" panose="02010600030101010101" pitchFamily="2" charset="-122"/>
                          <a:cs typeface="Times New Roman" panose="02020603050405020304" pitchFamily="18" charset="0"/>
                        </a:rPr>
                        <m:t>−</m:t>
                      </m:r>
                      <m:r>
                        <m:rPr>
                          <m:nor/>
                        </m:rPr>
                        <a:rPr lang="en-US" sz="3600" i="0" dirty="0">
                          <a:latin typeface="Times New Roman" panose="02020603050405020304" pitchFamily="18" charset="0"/>
                          <a:ea typeface="宋体" panose="02010600030101010101" pitchFamily="2" charset="-122"/>
                          <a:cs typeface="Times New Roman" panose="02020603050405020304" pitchFamily="18" charset="0"/>
                        </a:rPr>
                        <m:t>1</m:t>
                      </m:r>
                      <m:r>
                        <m:rPr>
                          <m:nor/>
                        </m:rPr>
                        <a:rPr lang="en-US" sz="3600" i="0" dirty="0">
                          <a:latin typeface="Times New Roman" panose="02020603050405020304" pitchFamily="18" charset="0"/>
                          <a:ea typeface="宋体" panose="02010600030101010101" pitchFamily="2" charset="-122"/>
                          <a:cs typeface="Times New Roman" panose="02020603050405020304" pitchFamily="18" charset="0"/>
                        </a:rPr>
                        <m:t>]</m:t>
                      </m:r>
                    </m:oMath>
                  </m:oMathPara>
                </a14:m>
                <a:endPar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12700" indent="457200" eaLnBrk="0">
                  <a:lnSpc>
                    <a:spcPct val="123000"/>
                  </a:lnSpc>
                  <a:buClrTx/>
                  <a:buSzTx/>
                  <a:buNone/>
                </a:pPr>
                <a:r>
                  <a:rPr lang="en-US" altLang="zh-CN" sz="3600" dirty="0" err="1">
                    <a:latin typeface="Times New Roman" panose="02020603050405020304" pitchFamily="18" charset="0"/>
                    <a:ea typeface="宋体" panose="02010600030101010101" pitchFamily="2" charset="-122"/>
                    <a:cs typeface="Times New Roman" panose="02020603050405020304" pitchFamily="18" charset="0"/>
                    <a:sym typeface="+mn-ea"/>
                  </a:rPr>
                  <a:t>其中，</a:t>
                </a:r>
                <a14:m>
                  <m:oMath xmlns:m="http://schemas.openxmlformats.org/officeDocument/2006/math">
                    <m:r>
                      <m:rPr>
                        <m:sty m:val="p"/>
                      </m:rPr>
                      <a:rPr lang="en-US" altLang="zh-CN" sz="3600" dirty="0" smtClean="0">
                        <a:latin typeface="Cambria Math" panose="02040503050406030204" pitchFamily="18" charset="0"/>
                        <a:ea typeface="宋体" panose="02010600030101010101" pitchFamily="2" charset="-122"/>
                        <a:cs typeface="Times New Roman" panose="02020603050405020304" pitchFamily="18" charset="0"/>
                        <a:sym typeface="+mn-ea"/>
                      </a:rPr>
                      <m:t>IBS</m:t>
                    </m:r>
                    <m:r>
                      <a:rPr lang="en-US" altLang="zh-CN" sz="3600" dirty="0" smtClean="0">
                        <a:latin typeface="Cambria Math" panose="02040503050406030204" pitchFamily="18" charset="0"/>
                        <a:ea typeface="宋体" panose="02010600030101010101" pitchFamily="2" charset="-122"/>
                        <a:cs typeface="Times New Roman" panose="02020603050405020304" pitchFamily="18" charset="0"/>
                        <a:sym typeface="+mn-ea"/>
                      </a:rPr>
                      <m:t> [</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i</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 </m:t>
                    </m:r>
                  </m:oMath>
                </a14:m>
                <a:r>
                  <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rPr>
                  <a:t>和 </a:t>
                </a:r>
                <a14:m>
                  <m:oMath xmlns:m="http://schemas.openxmlformats.org/officeDocument/2006/math">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OBS</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 [</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i</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m:t>
                    </m:r>
                  </m:oMath>
                </a14:m>
                <a:r>
                  <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3600" dirty="0" err="1">
                    <a:latin typeface="Times New Roman" panose="02020603050405020304" pitchFamily="18" charset="0"/>
                    <a:ea typeface="宋体" panose="02010600030101010101" pitchFamily="2" charset="-122"/>
                    <a:cs typeface="Times New Roman" panose="02020603050405020304" pitchFamily="18" charset="0"/>
                    <a:sym typeface="+mn-ea"/>
                  </a:rPr>
                  <a:t>均为比特，则有</a:t>
                </a:r>
                <a:r>
                  <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rPr>
                  <a:t> </a:t>
                </a:r>
                <a14:m>
                  <m:oMath xmlns:m="http://schemas.openxmlformats.org/officeDocument/2006/math">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OBS</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 [</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i</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IBS</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 [</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i</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k</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 [</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i</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i</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0</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1</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2</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m:t>
                    </m:r>
                    <m:r>
                      <m:rPr>
                        <m:sty m:val="p"/>
                      </m:rP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LENGTH</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1</m:t>
                    </m:r>
                    <m:r>
                      <a:rPr lang="en-US" altLang="zh-CN" sz="3600" dirty="0">
                        <a:latin typeface="Cambria Math" panose="02040503050406030204" pitchFamily="18" charset="0"/>
                        <a:ea typeface="宋体" panose="02010600030101010101" pitchFamily="2" charset="-122"/>
                        <a:cs typeface="Times New Roman" panose="02020603050405020304" pitchFamily="18" charset="0"/>
                        <a:sym typeface="+mn-ea"/>
                      </a:rPr>
                      <m:t>)。</m:t>
                    </m:r>
                  </m:oMath>
                </a14:m>
                <a:endParaRPr lang="en-US" altLang="zh-CN" sz="3600" dirty="0">
                  <a:latin typeface="Times New Roman" panose="02020603050405020304" pitchFamily="18" charset="0"/>
                  <a:ea typeface="宋体" panose="02010600030101010101" pitchFamily="2" charset="-122"/>
                  <a:cs typeface="Times New Roman" panose="02020603050405020304" pitchFamily="18" charset="0"/>
                </a:endParaRPr>
              </a:p>
              <a:p>
                <a:pPr marL="12700" indent="457200" algn="l" rtl="0" eaLnBrk="0" fontAlgn="auto">
                  <a:lnSpc>
                    <a:spcPct val="123000"/>
                  </a:lnSpc>
                  <a:spcBef>
                    <a:spcPts val="0"/>
                  </a:spcBef>
                </a:pPr>
                <a:endParaRPr lang="zh-CN" altLang="en-US" sz="36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6" name="textbox 2"/>
              <p:cNvSpPr>
                <a:spLocks noRot="1" noChangeAspect="1" noMove="1" noResize="1" noEditPoints="1" noAdjustHandles="1" noChangeArrowheads="1" noChangeShapeType="1" noTextEdit="1"/>
              </p:cNvSpPr>
              <p:nvPr/>
            </p:nvSpPr>
            <p:spPr>
              <a:xfrm>
                <a:off x="1371600" y="1878330"/>
                <a:ext cx="15588615" cy="5325745"/>
              </a:xfrm>
              <a:prstGeom prst="rect">
                <a:avLst/>
              </a:prstGeom>
              <a:blipFill rotWithShape="1">
                <a:blip r:embed="rId1"/>
                <a:stretch>
                  <a:fillRect b="-2718"/>
                </a:stretch>
              </a:blipFill>
              <a:ln w="0" cap="flat">
                <a:noFill/>
                <a:prstDash val="solid"/>
                <a:miter lim="0"/>
              </a:ln>
            </p:spPr>
            <p:txBody>
              <a:bodyPr/>
              <a:lstStyle/>
              <a:p>
                <a:r>
                  <a:rPr lang="zh-CN" altLang="en-US">
                    <a:noFill/>
                  </a:rPr>
                  <a:t> </a:t>
                </a:r>
              </a:p>
            </p:txBody>
          </p:sp>
        </mc:Fallback>
      </mc:AlternateContent>
      <p:sp>
        <p:nvSpPr>
          <p:cNvPr id="9" name="灯片编号占位符 8"/>
          <p:cNvSpPr>
            <a:spLocks noGrp="1"/>
          </p:cNvSpPr>
          <p:nvPr>
            <p:ph type="sldNum" sz="quarter" idx="12"/>
          </p:nvPr>
        </p:nvSpPr>
        <p:spPr/>
        <p:txBody>
          <a:bodyPr/>
          <a:lstStyle/>
          <a:p>
            <a:fld id="{B6F15528-21DE-4FAA-801E-634DDDAF4B2B}" type="slidenum">
              <a:rPr lang="en-US" smtClean="0"/>
            </a:fld>
            <a:endParaRPr lang="en-US"/>
          </a:p>
        </p:txBody>
      </p:sp>
      <p:grpSp>
        <p:nvGrpSpPr>
          <p:cNvPr id="5"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0"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1"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基于祖冲之算法的机密性和完整性算法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
          <p:cNvSpPr/>
          <p:nvPr/>
        </p:nvSpPr>
        <p:spPr>
          <a:xfrm>
            <a:off x="1371600" y="1878330"/>
            <a:ext cx="15588615" cy="5325745"/>
          </a:xfrm>
          <a:prstGeom prst="rect">
            <a:avLst/>
          </a:prstGeom>
          <a:noFill/>
          <a:ln w="0" cap="flat">
            <a:noFill/>
            <a:prstDash val="solid"/>
            <a:miter lim="0"/>
          </a:ln>
        </p:spPr>
        <p:txBody>
          <a:bodyPr vert="horz" wrap="square" lIns="0" tIns="88" rIns="0" bIns="0"/>
          <a:lstStyle/>
          <a:p>
            <a:pPr marL="12700" indent="457200" algn="l" eaLnBrk="0">
              <a:lnSpc>
                <a:spcPct val="123000"/>
              </a:lnSpc>
              <a:spcBef>
                <a:spcPts val="0"/>
              </a:spcBef>
              <a:buClrTx/>
              <a:buSzTx/>
              <a:buNone/>
            </a:pPr>
            <a:r>
              <a:rPr lang="zh-CN" altLang="en-US" sz="3600" b="1">
                <a:latin typeface="Times New Roman" panose="02020603050405020304" pitchFamily="18" charset="0"/>
                <a:ea typeface="宋体" panose="02010600030101010101" pitchFamily="2" charset="-122"/>
                <a:cs typeface="Times New Roman" panose="02020603050405020304" pitchFamily="18" charset="0"/>
                <a:sym typeface="+mn-ea"/>
              </a:rPr>
              <a:t>完整性算法</a:t>
            </a:r>
            <a:endParaRPr lang="zh-CN" altLang="en-US" sz="3600" b="1">
              <a:latin typeface="Times New Roman" panose="02020603050405020304" pitchFamily="18" charset="0"/>
              <a:ea typeface="宋体" panose="02010600030101010101" pitchFamily="2" charset="-122"/>
              <a:cs typeface="Times New Roman" panose="02020603050405020304" pitchFamily="18" charset="0"/>
              <a:sym typeface="+mn-ea"/>
            </a:endParaRPr>
          </a:p>
          <a:p>
            <a:pPr marL="12700" indent="457200" algn="l" rtl="0" eaLnBrk="0" fontAlgn="auto">
              <a:lnSpc>
                <a:spcPct val="123000"/>
              </a:lnSpc>
              <a:spcBef>
                <a:spcPts val="0"/>
              </a:spcBef>
            </a:pPr>
            <a:r>
              <a:rPr lang="zh-CN" altLang="en-US" sz="3600">
                <a:latin typeface="Times New Roman" panose="02020603050405020304" pitchFamily="18" charset="0"/>
                <a:ea typeface="宋体" panose="02010600030101010101" pitchFamily="2" charset="-122"/>
                <a:cs typeface="Times New Roman" panose="02020603050405020304" pitchFamily="18" charset="0"/>
                <a:sym typeface="+mn-ea"/>
              </a:rPr>
              <a:t>输入输出参数表如表所示。</a:t>
            </a:r>
            <a:endParaRPr lang="zh-CN" altLang="en-US" sz="36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灯片编号占位符 8"/>
          <p:cNvSpPr>
            <a:spLocks noGrp="1"/>
          </p:cNvSpPr>
          <p:nvPr>
            <p:ph type="sldNum" sz="quarter" idx="12"/>
          </p:nvPr>
        </p:nvSpPr>
        <p:spPr/>
        <p:txBody>
          <a:bodyPr/>
          <a:lstStyle/>
          <a:p>
            <a:fld id="{B6F15528-21DE-4FAA-801E-634DDDAF4B2B}" type="slidenum">
              <a:rPr lang="en-US" smtClean="0"/>
            </a:fld>
            <a:endParaRPr lang="en-US"/>
          </a:p>
        </p:txBody>
      </p:sp>
      <p:grpSp>
        <p:nvGrpSpPr>
          <p:cNvPr id="5"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0"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1"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基于祖冲之算法的机密性和完整性算法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pic>
        <p:nvPicPr>
          <p:cNvPr id="2" name="图片 1"/>
          <p:cNvPicPr>
            <a:picLocks noChangeAspect="1"/>
          </p:cNvPicPr>
          <p:nvPr/>
        </p:nvPicPr>
        <p:blipFill>
          <a:blip r:embed="rId3"/>
          <a:stretch>
            <a:fillRect/>
          </a:stretch>
        </p:blipFill>
        <p:spPr>
          <a:xfrm>
            <a:off x="914400" y="3619500"/>
            <a:ext cx="16127095" cy="4615180"/>
          </a:xfrm>
          <a:prstGeom prst="rect">
            <a:avLst/>
          </a:prstGeom>
        </p:spPr>
      </p:pic>
      <p:sp>
        <p:nvSpPr>
          <p:cNvPr id="3" name="文本框 2"/>
          <p:cNvSpPr txBox="1"/>
          <p:nvPr/>
        </p:nvSpPr>
        <p:spPr>
          <a:xfrm>
            <a:off x="6934200" y="3162300"/>
            <a:ext cx="6096000" cy="368300"/>
          </a:xfrm>
          <a:prstGeom prst="rect">
            <a:avLst/>
          </a:prstGeom>
          <a:noFill/>
        </p:spPr>
        <p:txBody>
          <a:bodyPr wrap="square" rtlCol="0">
            <a:spAutoFit/>
          </a:bodyPr>
          <a:lstStyle/>
          <a:p>
            <a:pPr algn="ctr">
              <a:buClrTx/>
              <a:buSzTx/>
              <a:buFontTx/>
            </a:pPr>
            <a:r>
              <a:rPr lang="zh-CN" altLang="en-US">
                <a:latin typeface="Times New Roman" panose="02020603050405020304" pitchFamily="18" charset="0"/>
                <a:cs typeface="Times New Roman" panose="02020603050405020304" pitchFamily="18" charset="0"/>
              </a:rPr>
              <a:t>表6.4　输入/输出参数表</a:t>
            </a:r>
            <a:endParaRPr lang="zh-CN"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
          <p:cNvSpPr/>
          <p:nvPr/>
        </p:nvSpPr>
        <p:spPr>
          <a:xfrm>
            <a:off x="1371600" y="1878330"/>
            <a:ext cx="15588615" cy="5325745"/>
          </a:xfrm>
          <a:prstGeom prst="rect">
            <a:avLst/>
          </a:prstGeom>
          <a:noFill/>
          <a:ln w="0" cap="flat">
            <a:noFill/>
            <a:prstDash val="solid"/>
            <a:miter lim="0"/>
          </a:ln>
        </p:spPr>
        <p:txBody>
          <a:bodyPr vert="horz" wrap="square" lIns="0" tIns="88" rIns="0" bIns="0"/>
          <a:lstStyle/>
          <a:p>
            <a:pPr marL="12700" indent="457200" algn="l" eaLnBrk="0">
              <a:lnSpc>
                <a:spcPct val="123000"/>
              </a:lnSpc>
              <a:spcBef>
                <a:spcPts val="0"/>
              </a:spcBef>
              <a:buClrTx/>
              <a:buSzTx/>
              <a:buNone/>
            </a:pPr>
            <a:r>
              <a:rPr lang="en-US" altLang="zh-CN" sz="3600" b="1">
                <a:latin typeface="Times New Roman" panose="02020603050405020304" pitchFamily="18" charset="0"/>
                <a:cs typeface="Times New Roman" panose="02020603050405020304" pitchFamily="18" charset="0"/>
                <a:sym typeface="+mn-ea"/>
              </a:rPr>
              <a:t>    </a:t>
            </a:r>
            <a:r>
              <a:rPr lang="zh-CN" altLang="en-US" sz="3600" b="1">
                <a:latin typeface="Times New Roman" panose="02020603050405020304" pitchFamily="18" charset="0"/>
                <a:cs typeface="Times New Roman" panose="02020603050405020304" pitchFamily="18" charset="0"/>
                <a:sym typeface="+mn-ea"/>
              </a:rPr>
              <a:t>算法结构如图所示</a:t>
            </a:r>
            <a:endParaRPr lang="zh-CN" altLang="en-US" sz="3600" b="1" dirty="0">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9" name="灯片编号占位符 8"/>
          <p:cNvSpPr>
            <a:spLocks noGrp="1"/>
          </p:cNvSpPr>
          <p:nvPr>
            <p:ph type="sldNum" sz="quarter" idx="12"/>
          </p:nvPr>
        </p:nvSpPr>
        <p:spPr/>
        <p:txBody>
          <a:bodyPr/>
          <a:lstStyle/>
          <a:p>
            <a:fld id="{B6F15528-21DE-4FAA-801E-634DDDAF4B2B}" type="slidenum">
              <a:rPr lang="en-US" smtClean="0"/>
            </a:fld>
            <a:endParaRPr lang="en-US"/>
          </a:p>
        </p:txBody>
      </p:sp>
      <p:grpSp>
        <p:nvGrpSpPr>
          <p:cNvPr id="5"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0"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1"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基于祖冲之算法的机密性和完整性算法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pic>
        <p:nvPicPr>
          <p:cNvPr id="22"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4800" y="2781300"/>
            <a:ext cx="6553200" cy="6631940"/>
          </a:xfrm>
          <a:prstGeom prst="rect">
            <a:avLst/>
          </a:prstGeom>
        </p:spPr>
      </p:pic>
      <p:sp>
        <p:nvSpPr>
          <p:cNvPr id="2" name="文本框 1"/>
          <p:cNvSpPr txBox="1"/>
          <p:nvPr/>
        </p:nvSpPr>
        <p:spPr>
          <a:xfrm>
            <a:off x="6477000" y="9563100"/>
            <a:ext cx="6096000" cy="368300"/>
          </a:xfrm>
          <a:prstGeom prst="rect">
            <a:avLst/>
          </a:prstGeom>
          <a:noFill/>
        </p:spPr>
        <p:txBody>
          <a:bodyPr wrap="square" rtlCol="0">
            <a:spAutoFit/>
          </a:bodyPr>
          <a:lstStyle/>
          <a:p>
            <a:pPr algn="ctr">
              <a:buClrTx/>
              <a:buSzTx/>
              <a:buFontTx/>
            </a:pPr>
            <a:r>
              <a:rPr lang="zh-CN" altLang="en-US">
                <a:latin typeface="Times New Roman" panose="02020603050405020304" pitchFamily="18" charset="0"/>
                <a:cs typeface="Times New Roman" panose="02020603050405020304" pitchFamily="18" charset="0"/>
              </a:rPr>
              <a:t>图6.3　128-EIA3结构图</a:t>
            </a:r>
            <a:endParaRPr lang="zh-CN"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textbox 2"/>
              <p:cNvSpPr/>
              <p:nvPr/>
            </p:nvSpPr>
            <p:spPr>
              <a:xfrm>
                <a:off x="1371600" y="1878330"/>
                <a:ext cx="15588615" cy="5325745"/>
              </a:xfrm>
              <a:prstGeom prst="rect">
                <a:avLst/>
              </a:prstGeom>
              <a:noFill/>
              <a:ln w="0" cap="flat">
                <a:noFill/>
                <a:prstDash val="solid"/>
                <a:miter lim="0"/>
              </a:ln>
            </p:spPr>
            <p:txBody>
              <a:bodyPr vert="horz" wrap="square" lIns="0" tIns="88" rIns="0" bIns="0"/>
              <a:lstStyle/>
              <a:p>
                <a:pPr marL="12700" indent="457200" algn="l" eaLnBrk="0">
                  <a:lnSpc>
                    <a:spcPct val="123000"/>
                  </a:lnSpc>
                  <a:spcBef>
                    <a:spcPts val="0"/>
                  </a:spcBef>
                  <a:buClrTx/>
                  <a:buSzTx/>
                  <a:buNone/>
                </a:pPr>
                <a:r>
                  <a:rPr lang="en-US" altLang="zh-CN" sz="3600" b="1" dirty="0">
                    <a:latin typeface="Times New Roman" panose="02020603050405020304" pitchFamily="18" charset="0"/>
                    <a:cs typeface="Times New Roman" panose="02020603050405020304" pitchFamily="18" charset="0"/>
                    <a:sym typeface="+mn-ea"/>
                  </a:rPr>
                  <a:t>  </a:t>
                </a:r>
                <a:r>
                  <a:rPr lang="zh-CN" altLang="en-US" sz="3600" b="1" dirty="0">
                    <a:latin typeface="Times New Roman" panose="02020603050405020304" pitchFamily="18" charset="0"/>
                    <a:cs typeface="Times New Roman" panose="02020603050405020304" pitchFamily="18" charset="0"/>
                    <a:sym typeface="+mn-ea"/>
                  </a:rPr>
                  <a:t>算法初始化</a:t>
                </a:r>
                <a:endPar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12700" indent="914400" algn="l" eaLnBrk="0" fontAlgn="auto">
                  <a:lnSpc>
                    <a:spcPct val="123000"/>
                  </a:lnSpc>
                  <a:spcBef>
                    <a:spcPts val="0"/>
                  </a:spcBef>
                  <a:buClrTx/>
                  <a:buSzTx/>
                  <a:buNone/>
                  <a:extLst>
                    <a:ext uri="{35155182-B16C-46BC-9424-99874614C6A1}">
                      <wpsdc:indentchars xmlns:wpsdc="http://www.wps.cn/officeDocument/2017/drawingmlCustomData" val="200" checksum="797548545"/>
                    </a:ext>
                  </a:extLst>
                </a:pPr>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该算法的初始化主要根据完整性密钥 </a:t>
                </a:r>
                <a:r>
                  <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rPr>
                  <a:t>IK </a:t>
                </a:r>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和其他输入参数构造祖冲之算法的初始密钥 </a:t>
                </a:r>
                <a:r>
                  <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rPr>
                  <a:t>KEY </a:t>
                </a:r>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和初始变量 </a:t>
                </a:r>
                <a:r>
                  <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rPr>
                  <a:t>IV。</a:t>
                </a:r>
                <a:endPar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12700" indent="914400" algn="l" eaLnBrk="0" fontAlgn="auto">
                  <a:lnSpc>
                    <a:spcPct val="123000"/>
                  </a:lnSpc>
                  <a:spcBef>
                    <a:spcPts val="0"/>
                  </a:spcBef>
                  <a:buClrTx/>
                  <a:buSzTx/>
                  <a:buNone/>
                  <a:extLst>
                    <a:ext uri="{35155182-B16C-46BC-9424-99874614C6A1}">
                      <wpsdc:indentchars xmlns:wpsdc="http://www.wps.cn/officeDocument/2017/drawingmlCustomData" val="200" checksum="797548545"/>
                    </a:ext>
                  </a:extLst>
                </a:pPr>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设 </a:t>
                </a:r>
                <a14:m>
                  <m:oMath xmlns:m="http://schemas.openxmlformats.org/officeDocument/2006/math">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IK</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 = </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IK</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 [</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0</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IK</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 [</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1</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IK</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 [</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2</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IK</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 [</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15</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 </m:t>
                    </m:r>
                  </m:oMath>
                </a14:m>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为 128 位完整性密钥，其中 </a:t>
                </a:r>
                <a14:m>
                  <m:oMath xmlns:m="http://schemas.openxmlformats.org/officeDocument/2006/math">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IK</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err="1">
                        <a:latin typeface="Times New Roman" panose="02020603050405020304" pitchFamily="18" charset="0"/>
                        <a:ea typeface="宋体" panose="02010600030101010101" pitchFamily="2" charset="-122"/>
                        <a:cs typeface="Times New Roman" panose="02020603050405020304" pitchFamily="18" charset="0"/>
                        <a:sym typeface="+mn-ea"/>
                      </a:rPr>
                      <m:t>i</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0</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i</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15</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oMath>
                </a14:m>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为字节。</a:t>
                </a:r>
                <a:endPar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12700" indent="914400" algn="l" eaLnBrk="0" fontAlgn="auto">
                  <a:lnSpc>
                    <a:spcPct val="123000"/>
                  </a:lnSpc>
                  <a:spcBef>
                    <a:spcPts val="0"/>
                  </a:spcBef>
                  <a:buClrTx/>
                  <a:buSzTx/>
                  <a:buNone/>
                  <a:extLst>
                    <a:ext uri="{35155182-B16C-46BC-9424-99874614C6A1}">
                      <wpsdc:indentchars xmlns:wpsdc="http://www.wps.cn/officeDocument/2017/drawingmlCustomData" val="200" checksum="797548545"/>
                    </a:ext>
                  </a:extLst>
                </a:pPr>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设 </a:t>
                </a:r>
                <a14:m>
                  <m:oMath xmlns:m="http://schemas.openxmlformats.org/officeDocument/2006/math">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KEY</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 = </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KEY</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 [</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0</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KEY</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 [</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1</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KEY</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 [</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2</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KEY</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 [</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15</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 </m:t>
                    </m:r>
                  </m:oMath>
                </a14:m>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为 128 位初始密钥，其中 </a:t>
                </a:r>
                <a14:m>
                  <m:oMath xmlns:m="http://schemas.openxmlformats.org/officeDocument/2006/math">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KEY</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err="1">
                        <a:latin typeface="Times New Roman" panose="02020603050405020304" pitchFamily="18" charset="0"/>
                        <a:ea typeface="宋体" panose="02010600030101010101" pitchFamily="2" charset="-122"/>
                        <a:cs typeface="Times New Roman" panose="02020603050405020304" pitchFamily="18" charset="0"/>
                        <a:sym typeface="+mn-ea"/>
                      </a:rPr>
                      <m:t>i</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0</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i</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15</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oMath>
                </a14:m>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为字节，则有 </a:t>
                </a:r>
                <a14:m>
                  <m:oMath xmlns:m="http://schemas.openxmlformats.org/officeDocument/2006/math">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KEY</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 [</m:t>
                    </m:r>
                    <m:r>
                      <m:rPr>
                        <m:nor/>
                      </m:rPr>
                      <a:rPr lang="en-US" altLang="zh-CN" sz="3600" i="0" dirty="0" err="1">
                        <a:latin typeface="Times New Roman" panose="02020603050405020304" pitchFamily="18" charset="0"/>
                        <a:ea typeface="宋体" panose="02010600030101010101" pitchFamily="2" charset="-122"/>
                        <a:cs typeface="Times New Roman" panose="02020603050405020304" pitchFamily="18" charset="0"/>
                        <a:sym typeface="+mn-ea"/>
                      </a:rPr>
                      <m:t>i</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IK</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 [</m:t>
                    </m:r>
                    <m:r>
                      <m:rPr>
                        <m:nor/>
                      </m:rPr>
                      <a:rPr lang="en-US" altLang="zh-CN" sz="3600" i="0" dirty="0" err="1">
                        <a:latin typeface="Times New Roman" panose="02020603050405020304" pitchFamily="18" charset="0"/>
                        <a:ea typeface="宋体" panose="02010600030101010101" pitchFamily="2" charset="-122"/>
                        <a:cs typeface="Times New Roman" panose="02020603050405020304" pitchFamily="18" charset="0"/>
                        <a:sym typeface="+mn-ea"/>
                      </a:rPr>
                      <m:t>i</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err="1">
                        <a:latin typeface="Times New Roman" panose="02020603050405020304" pitchFamily="18" charset="0"/>
                        <a:ea typeface="宋体" panose="02010600030101010101" pitchFamily="2" charset="-122"/>
                        <a:cs typeface="Times New Roman" panose="02020603050405020304" pitchFamily="18" charset="0"/>
                        <a:sym typeface="+mn-ea"/>
                      </a:rPr>
                      <m:t>i</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0</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1</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2</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15</m:t>
                    </m:r>
                  </m:oMath>
                </a14:m>
                <a:r>
                  <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rPr>
                  <a:t>。</a:t>
                </a:r>
                <a:endPar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12700" indent="914400" algn="l" eaLnBrk="0" fontAlgn="auto">
                  <a:lnSpc>
                    <a:spcPct val="123000"/>
                  </a:lnSpc>
                  <a:spcBef>
                    <a:spcPts val="0"/>
                  </a:spcBef>
                  <a:buClrTx/>
                  <a:buSzTx/>
                  <a:buNone/>
                  <a:extLst>
                    <a:ext uri="{35155182-B16C-46BC-9424-99874614C6A1}">
                      <wpsdc:indentchars xmlns:wpsdc="http://www.wps.cn/officeDocument/2017/drawingmlCustomData" val="200" checksum="797548545"/>
                    </a:ext>
                  </a:extLst>
                </a:pPr>
                <a:endPar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endParaRPr>
              </a:p>
            </p:txBody>
          </p:sp>
        </mc:Choice>
        <mc:Fallback>
          <p:sp>
            <p:nvSpPr>
              <p:cNvPr id="6" name="textbox 2"/>
              <p:cNvSpPr>
                <a:spLocks noRot="1" noChangeAspect="1" noMove="1" noResize="1" noEditPoints="1" noAdjustHandles="1" noChangeArrowheads="1" noChangeShapeType="1" noTextEdit="1"/>
              </p:cNvSpPr>
              <p:nvPr/>
            </p:nvSpPr>
            <p:spPr>
              <a:xfrm>
                <a:off x="1371600" y="1878330"/>
                <a:ext cx="15588615" cy="5325745"/>
              </a:xfrm>
              <a:prstGeom prst="rect">
                <a:avLst/>
              </a:prstGeom>
              <a:blipFill rotWithShape="1">
                <a:blip r:embed="rId1"/>
                <a:stretch>
                  <a:fillRect b="-6784"/>
                </a:stretch>
              </a:blipFill>
              <a:ln w="0" cap="flat">
                <a:noFill/>
                <a:prstDash val="solid"/>
                <a:miter lim="0"/>
              </a:ln>
            </p:spPr>
            <p:txBody>
              <a:bodyPr/>
              <a:lstStyle/>
              <a:p>
                <a:r>
                  <a:rPr lang="zh-CN" altLang="en-US">
                    <a:noFill/>
                  </a:rPr>
                  <a:t> </a:t>
                </a:r>
              </a:p>
            </p:txBody>
          </p:sp>
        </mc:Fallback>
      </mc:AlternateContent>
      <p:sp>
        <p:nvSpPr>
          <p:cNvPr id="9" name="灯片编号占位符 8"/>
          <p:cNvSpPr>
            <a:spLocks noGrp="1"/>
          </p:cNvSpPr>
          <p:nvPr>
            <p:ph type="sldNum" sz="quarter" idx="12"/>
          </p:nvPr>
        </p:nvSpPr>
        <p:spPr/>
        <p:txBody>
          <a:bodyPr/>
          <a:lstStyle/>
          <a:p>
            <a:fld id="{B6F15528-21DE-4FAA-801E-634DDDAF4B2B}" type="slidenum">
              <a:rPr lang="en-US" smtClean="0"/>
            </a:fld>
            <a:endParaRPr lang="en-US"/>
          </a:p>
        </p:txBody>
      </p:sp>
      <p:grpSp>
        <p:nvGrpSpPr>
          <p:cNvPr id="5"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0"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1"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基于祖冲之算法的机密性和完整性算法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textbox 2"/>
              <p:cNvSpPr/>
              <p:nvPr/>
            </p:nvSpPr>
            <p:spPr>
              <a:xfrm>
                <a:off x="1295400" y="1866900"/>
                <a:ext cx="15588615" cy="8097520"/>
              </a:xfrm>
              <a:prstGeom prst="rect">
                <a:avLst/>
              </a:prstGeom>
              <a:noFill/>
              <a:ln w="0" cap="flat">
                <a:noFill/>
                <a:prstDash val="solid"/>
                <a:miter lim="0"/>
              </a:ln>
            </p:spPr>
            <p:txBody>
              <a:bodyPr vert="horz" wrap="square" lIns="0" tIns="88" rIns="0" bIns="0"/>
              <a:lstStyle/>
              <a:p>
                <a:pPr marL="12700" indent="914400" algn="l" eaLnBrk="0" fontAlgn="auto">
                  <a:lnSpc>
                    <a:spcPct val="123000"/>
                  </a:lnSpc>
                  <a:spcBef>
                    <a:spcPts val="0"/>
                  </a:spcBef>
                  <a:buClrTx/>
                  <a:buSzTx/>
                  <a:buNone/>
                  <a:extLst>
                    <a:ext uri="{35155182-B16C-46BC-9424-99874614C6A1}">
                      <wpsdc:indentchars xmlns:wpsdc="http://www.wps.cn/officeDocument/2017/drawingmlCustomData" val="200" checksum="797548545"/>
                    </a:ext>
                  </a:extLst>
                </a:pPr>
                <a:r>
                  <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记计数</a:t>
                </a:r>
                <a14:m>
                  <m:oMath xmlns:m="http://schemas.openxmlformats.org/officeDocument/2006/math">
                    <m:r>
                      <m:rPr>
                        <m:nor/>
                      </m:rPr>
                      <a:rPr lang="zh-CN" altLang="en-US" sz="3600" i="0" dirty="0">
                        <a:latin typeface="Times New Roman" panose="02020603050405020304" pitchFamily="18" charset="0"/>
                        <a:ea typeface="宋体" panose="02010600030101010101" pitchFamily="2" charset="-122"/>
                        <a:cs typeface="Times New Roman" panose="02020603050405020304" pitchFamily="18" charset="0"/>
                        <a:sym typeface="+mn-ea"/>
                      </a:rPr>
                      <m:t>器 </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COUNT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 = </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COUNT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 [</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0</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COUNT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 [</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1</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COUNT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 [</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2</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COUNT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 [</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3</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oMath>
                </a14:m>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其中 </a:t>
                </a:r>
                <a14:m>
                  <m:oMath xmlns:m="http://schemas.openxmlformats.org/officeDocument/2006/math">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COUNT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 [</m:t>
                    </m:r>
                    <m:r>
                      <m:rPr>
                        <m:nor/>
                      </m:rPr>
                      <a:rPr lang="en-US" altLang="zh-CN" sz="3600" i="0" dirty="0" err="1">
                        <a:latin typeface="Times New Roman" panose="02020603050405020304" pitchFamily="18" charset="0"/>
                        <a:ea typeface="宋体" panose="02010600030101010101" pitchFamily="2" charset="-122"/>
                        <a:cs typeface="Times New Roman" panose="02020603050405020304" pitchFamily="18" charset="0"/>
                        <a:sym typeface="+mn-ea"/>
                      </a:rPr>
                      <m:t>i</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 </m:t>
                    </m:r>
                  </m:oMath>
                </a14:m>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为 8 位的字节，</a:t>
                </a:r>
                <a:r>
                  <a:rPr lang="en-US" altLang="zh-CN" sz="3600" dirty="0" err="1">
                    <a:latin typeface="Times New Roman" panose="02020603050405020304" pitchFamily="18" charset="0"/>
                    <a:ea typeface="宋体" panose="02010600030101010101" pitchFamily="2" charset="-122"/>
                    <a:cs typeface="Times New Roman" panose="02020603050405020304" pitchFamily="18" charset="0"/>
                    <a:sym typeface="+mn-ea"/>
                  </a:rPr>
                  <a:t>i</a:t>
                </a:r>
                <a:r>
                  <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rPr>
                  <a:t>=0，1，2，3。</a:t>
                </a:r>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设祖冲之算法的初始变量 </a:t>
                </a:r>
                <a:r>
                  <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rPr>
                  <a:t>IV </a:t>
                </a:r>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为 </a:t>
                </a:r>
                <a14:m>
                  <m:oMath xmlns:m="http://schemas.openxmlformats.org/officeDocument/2006/math">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IV</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 = </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IV</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 [</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0</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IV</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 [</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1</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IV</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 [</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2</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IV</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 [</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15</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oMath>
                </a14:m>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其中</a:t>
                </a:r>
                <a14:m>
                  <m:oMath xmlns:m="http://schemas.openxmlformats.org/officeDocument/2006/math">
                    <m:r>
                      <m:rPr>
                        <m:nor/>
                      </m:rPr>
                      <a:rPr lang="zh-CN" altLang="en-US" sz="3600" i="0" dirty="0">
                        <a:latin typeface="Times New Roman" panose="02020603050405020304" pitchFamily="18" charset="0"/>
                        <a:ea typeface="宋体" panose="02010600030101010101" pitchFamily="2" charset="-122"/>
                        <a:cs typeface="Times New Roman" panose="02020603050405020304" pitchFamily="18" charset="0"/>
                        <a:sym typeface="+mn-ea"/>
                      </a:rPr>
                      <m:t> </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IV</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err="1">
                        <a:latin typeface="Times New Roman" panose="02020603050405020304" pitchFamily="18" charset="0"/>
                        <a:ea typeface="宋体" panose="02010600030101010101" pitchFamily="2" charset="-122"/>
                        <a:cs typeface="Times New Roman" panose="02020603050405020304" pitchFamily="18" charset="0"/>
                        <a:sym typeface="+mn-ea"/>
                      </a:rPr>
                      <m:t>i</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0</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i</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15</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oMath>
                </a14:m>
                <a:r>
                  <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rPr>
                  <a:t>为 8 位字节。则有</a:t>
                </a:r>
                <a:endPar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12700" indent="914400" algn="l" eaLnBrk="0" fontAlgn="auto">
                  <a:lnSpc>
                    <a:spcPct val="123000"/>
                  </a:lnSpc>
                  <a:spcBef>
                    <a:spcPts val="0"/>
                  </a:spcBef>
                  <a:buClrTx/>
                  <a:buSzTx/>
                  <a:buNone/>
                  <a:extLst>
                    <a:ext uri="{35155182-B16C-46BC-9424-99874614C6A1}">
                      <wpsdc:indentchars xmlns:wpsdc="http://www.wps.cn/officeDocument/2017/drawingmlCustomData" val="200" checksum="797548545"/>
                    </a:ext>
                  </a:extLst>
                </a:pPr>
                <a14:m>
                  <m:oMathPara xmlns:m="http://schemas.openxmlformats.org/officeDocument/2006/math">
                    <m:oMathParaPr>
                      <m:jc m:val="centerGroup"/>
                    </m:oMathParaPr>
                    <m:oMath xmlns:m="http://schemas.openxmlformats.org/officeDocument/2006/math">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IV</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 [</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0</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COUNT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 [</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0</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IV</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 [</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1</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COUNT</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 [</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1</m:t>
                      </m:r>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mn-ea"/>
                        </a:rPr>
                        <m:t>]</m:t>
                      </m:r>
                    </m:oMath>
                  </m:oMathPara>
                </a14:m>
                <a:endPar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12700" indent="914400" algn="l" eaLnBrk="0" fontAlgn="auto">
                  <a:lnSpc>
                    <a:spcPct val="123000"/>
                  </a:lnSpc>
                  <a:spcBef>
                    <a:spcPts val="0"/>
                  </a:spcBef>
                  <a:buClrTx/>
                  <a:buSzTx/>
                  <a:buNone/>
                  <a:extLst>
                    <a:ext uri="{35155182-B16C-46BC-9424-99874614C6A1}">
                      <wpsdc:indentchars xmlns:wpsdc="http://www.wps.cn/officeDocument/2017/drawingmlCustomData" val="200" checksum="797548545"/>
                    </a:ext>
                  </a:extLst>
                </a:pPr>
                <a:endPar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12700" indent="914400" algn="l" eaLnBrk="0" fontAlgn="auto">
                  <a:lnSpc>
                    <a:spcPct val="123000"/>
                  </a:lnSpc>
                  <a:spcBef>
                    <a:spcPts val="0"/>
                  </a:spcBef>
                  <a:buClrTx/>
                  <a:buSzTx/>
                  <a:buNone/>
                  <a:extLst>
                    <a:ext uri="{35155182-B16C-46BC-9424-99874614C6A1}">
                      <wpsdc:indentchars xmlns:wpsdc="http://www.wps.cn/officeDocument/2017/drawingmlCustomData" val="200" checksum="797548545"/>
                    </a:ext>
                  </a:extLst>
                </a:pPr>
                <a:endPar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12700" indent="914400" algn="l" eaLnBrk="0" fontAlgn="auto">
                  <a:lnSpc>
                    <a:spcPct val="123000"/>
                  </a:lnSpc>
                  <a:spcBef>
                    <a:spcPts val="0"/>
                  </a:spcBef>
                  <a:buClrTx/>
                  <a:buSzTx/>
                  <a:buNone/>
                  <a:extLst>
                    <a:ext uri="{35155182-B16C-46BC-9424-99874614C6A1}">
                      <wpsdc:indentchars xmlns:wpsdc="http://www.wps.cn/officeDocument/2017/drawingmlCustomData" val="200" checksum="797548545"/>
                    </a:ext>
                  </a:extLst>
                </a:pPr>
                <a:endPar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12700" indent="914400" algn="l" eaLnBrk="0" fontAlgn="auto">
                  <a:lnSpc>
                    <a:spcPct val="123000"/>
                  </a:lnSpc>
                  <a:spcBef>
                    <a:spcPts val="0"/>
                  </a:spcBef>
                  <a:buClrTx/>
                  <a:buSzTx/>
                  <a:buNone/>
                  <a:extLst>
                    <a:ext uri="{35155182-B16C-46BC-9424-99874614C6A1}">
                      <wpsdc:indentchars xmlns:wpsdc="http://www.wps.cn/officeDocument/2017/drawingmlCustomData" val="200" checksum="797548545"/>
                    </a:ext>
                  </a:extLst>
                </a:pPr>
                <a:endPar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12700" indent="914400" algn="l" eaLnBrk="0" fontAlgn="auto">
                  <a:lnSpc>
                    <a:spcPct val="123000"/>
                  </a:lnSpc>
                  <a:spcBef>
                    <a:spcPts val="0"/>
                  </a:spcBef>
                  <a:buClrTx/>
                  <a:buSzTx/>
                  <a:buNone/>
                  <a:extLst>
                    <a:ext uri="{35155182-B16C-46BC-9424-99874614C6A1}">
                      <wpsdc:indentchars xmlns:wpsdc="http://www.wps.cn/officeDocument/2017/drawingmlCustomData" val="200" checksum="797548545"/>
                    </a:ext>
                  </a:extLst>
                </a:pPr>
                <a:endPar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12700" indent="914400" algn="l" eaLnBrk="0" fontAlgn="auto">
                  <a:lnSpc>
                    <a:spcPct val="123000"/>
                  </a:lnSpc>
                  <a:spcBef>
                    <a:spcPts val="0"/>
                  </a:spcBef>
                  <a:buClrTx/>
                  <a:buSzTx/>
                  <a:buNone/>
                  <a:extLst>
                    <a:ext uri="{35155182-B16C-46BC-9424-99874614C6A1}">
                      <wpsdc:indentchars xmlns:wpsdc="http://www.wps.cn/officeDocument/2017/drawingmlCustomData" val="200" checksum="797548545"/>
                    </a:ext>
                  </a:extLst>
                </a:pPr>
                <a:endPar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12700" indent="914400" algn="l" eaLnBrk="0" fontAlgn="auto">
                  <a:lnSpc>
                    <a:spcPct val="123000"/>
                  </a:lnSpc>
                  <a:spcBef>
                    <a:spcPts val="0"/>
                  </a:spcBef>
                  <a:buClrTx/>
                  <a:buSzTx/>
                  <a:buNone/>
                  <a:extLst>
                    <a:ext uri="{35155182-B16C-46BC-9424-99874614C6A1}">
                      <wpsdc:indentchars xmlns:wpsdc="http://www.wps.cn/officeDocument/2017/drawingmlCustomData" val="200" checksum="797548545"/>
                    </a:ext>
                  </a:extLst>
                </a:pPr>
                <a:endParaRPr lang="zh-CN" altLang="en-US" sz="36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12700" indent="457200" algn="l" eaLnBrk="0">
                  <a:lnSpc>
                    <a:spcPct val="123000"/>
                  </a:lnSpc>
                  <a:spcBef>
                    <a:spcPts val="0"/>
                  </a:spcBef>
                  <a:buClrTx/>
                  <a:buSzTx/>
                  <a:buNone/>
                </a:pPr>
                <a:endParaRPr lang="en-US" altLang="zh-CN" sz="3600" dirty="0">
                  <a:latin typeface="Times New Roman" panose="02020603050405020304" pitchFamily="18" charset="0"/>
                  <a:ea typeface="宋体" panose="02010600030101010101" pitchFamily="2" charset="-122"/>
                  <a:cs typeface="Times New Roman" panose="02020603050405020304" pitchFamily="18" charset="0"/>
                  <a:sym typeface="+mn-ea"/>
                </a:endParaRPr>
              </a:p>
            </p:txBody>
          </p:sp>
        </mc:Choice>
        <mc:Fallback>
          <p:sp>
            <p:nvSpPr>
              <p:cNvPr id="6" name="textbox 2"/>
              <p:cNvSpPr>
                <a:spLocks noRot="1" noChangeAspect="1" noMove="1" noResize="1" noEditPoints="1" noAdjustHandles="1" noChangeArrowheads="1" noChangeShapeType="1" noTextEdit="1"/>
              </p:cNvSpPr>
              <p:nvPr/>
            </p:nvSpPr>
            <p:spPr>
              <a:xfrm>
                <a:off x="1295400" y="1866900"/>
                <a:ext cx="15588615" cy="8097520"/>
              </a:xfrm>
              <a:prstGeom prst="rect">
                <a:avLst/>
              </a:prstGeom>
              <a:blipFill rotWithShape="1">
                <a:blip r:embed="rId1"/>
                <a:stretch>
                  <a:fillRect b="-3129"/>
                </a:stretch>
              </a:blipFill>
              <a:ln w="0" cap="flat">
                <a:noFill/>
                <a:prstDash val="solid"/>
                <a:miter lim="0"/>
              </a:ln>
            </p:spPr>
            <p:txBody>
              <a:bodyPr/>
              <a:lstStyle/>
              <a:p>
                <a:r>
                  <a:rPr lang="zh-CN" altLang="en-US">
                    <a:noFill/>
                  </a:rPr>
                  <a:t> </a:t>
                </a:r>
              </a:p>
            </p:txBody>
          </p:sp>
        </mc:Fallback>
      </mc:AlternateContent>
      <p:sp>
        <p:nvSpPr>
          <p:cNvPr id="9" name="灯片编号占位符 8"/>
          <p:cNvSpPr>
            <a:spLocks noGrp="1"/>
          </p:cNvSpPr>
          <p:nvPr>
            <p:ph type="sldNum" sz="quarter" idx="12"/>
          </p:nvPr>
        </p:nvSpPr>
        <p:spPr/>
        <p:txBody>
          <a:bodyPr/>
          <a:lstStyle/>
          <a:p>
            <a:fld id="{B6F15528-21DE-4FAA-801E-634DDDAF4B2B}" type="slidenum">
              <a:rPr lang="en-US" smtClean="0"/>
            </a:fld>
            <a:endParaRPr lang="en-US"/>
          </a:p>
        </p:txBody>
      </p:sp>
      <p:grpSp>
        <p:nvGrpSpPr>
          <p:cNvPr id="5"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0"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1"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基于祖冲之算法的机密性和完整性算法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textbox 2"/>
              <p:cNvSpPr/>
              <p:nvPr/>
            </p:nvSpPr>
            <p:spPr>
              <a:xfrm>
                <a:off x="1295400" y="1866900"/>
                <a:ext cx="15588615" cy="8097520"/>
              </a:xfrm>
              <a:prstGeom prst="rect">
                <a:avLst/>
              </a:prstGeom>
              <a:noFill/>
              <a:ln w="0" cap="flat">
                <a:noFill/>
                <a:prstDash val="solid"/>
                <a:miter lim="0"/>
              </a:ln>
            </p:spPr>
            <p:txBody>
              <a:bodyPr vert="horz" wrap="square" lIns="0" tIns="88" rIns="0" bIns="0"/>
              <a:lstStyle/>
              <a:p>
                <a:pPr marL="12700" indent="914400" algn="l" eaLnBrk="0" fontAlgn="auto">
                  <a:lnSpc>
                    <a:spcPct val="123000"/>
                  </a:lnSpc>
                  <a:spcBef>
                    <a:spcPts val="0"/>
                  </a:spcBef>
                  <a:buClrTx/>
                  <a:buSzTx/>
                  <a:buNone/>
                  <a:extLst>
                    <a:ext uri="{35155182-B16C-46BC-9424-99874614C6A1}">
                      <wpsdc:indentchars xmlns:wpsdc="http://www.wps.cn/officeDocument/2017/drawingmlCustomData" val="200" checksum="797548545"/>
                    </a:ext>
                  </a:extLst>
                </a:pPr>
                <a:r>
                  <a:rPr lang="zh-CN" altLang="en-US" sz="3600" b="1" dirty="0">
                    <a:latin typeface="Times New Roman" panose="02020603050405020304" pitchFamily="18" charset="0"/>
                    <a:cs typeface="Times New Roman" panose="02020603050405020304" pitchFamily="18" charset="0"/>
                    <a:sym typeface="+mn-ea"/>
                  </a:rPr>
                  <a:t>密钥流的生成</a:t>
                </a:r>
                <a:endParaRPr lang="zh-CN" altLang="en-US" sz="3600" b="1" dirty="0">
                  <a:latin typeface="Times New Roman" panose="02020603050405020304" pitchFamily="18" charset="0"/>
                  <a:cs typeface="Times New Roman" panose="02020603050405020304" pitchFamily="18" charset="0"/>
                  <a:sym typeface="+mn-ea"/>
                </a:endParaRPr>
              </a:p>
              <a:p>
                <a:pPr marL="12700" indent="914400" algn="l" eaLnBrk="0" fontAlgn="auto">
                  <a:lnSpc>
                    <a:spcPct val="123000"/>
                  </a:lnSpc>
                  <a:spcBef>
                    <a:spcPts val="0"/>
                  </a:spcBef>
                  <a:buClrTx/>
                  <a:buSzTx/>
                  <a:buNone/>
                  <a:extLst>
                    <a:ext uri="{35155182-B16C-46BC-9424-99874614C6A1}">
                      <wpsdc:indentchars xmlns:wpsdc="http://www.wps.cn/officeDocument/2017/drawingmlCustomData" val="200" checksum="797548545"/>
                    </a:ext>
                  </a:extLst>
                </a:pPr>
                <a:r>
                  <a:rPr lang="zh-CN" altLang="en-US" sz="3600" dirty="0">
                    <a:latin typeface="Times New Roman" panose="02020603050405020304" pitchFamily="18" charset="0"/>
                    <a:cs typeface="Times New Roman" panose="02020603050405020304" pitchFamily="18" charset="0"/>
                    <a:sym typeface="+mn-ea"/>
                  </a:rPr>
                  <a:t>利用生成的初始密钥</a:t>
                </a:r>
                <a:r>
                  <a:rPr lang="en-US" altLang="zh-CN" sz="3600" dirty="0">
                    <a:latin typeface="Times New Roman" panose="02020603050405020304" pitchFamily="18" charset="0"/>
                    <a:cs typeface="Times New Roman" panose="02020603050405020304" pitchFamily="18" charset="0"/>
                    <a:sym typeface="+mn-ea"/>
                  </a:rPr>
                  <a:t>KEY</a:t>
                </a:r>
                <a:r>
                  <a:rPr lang="zh-CN" altLang="en-US" sz="3600" dirty="0">
                    <a:latin typeface="Times New Roman" panose="02020603050405020304" pitchFamily="18" charset="0"/>
                    <a:cs typeface="Times New Roman" panose="02020603050405020304" pitchFamily="18" charset="0"/>
                    <a:sym typeface="+mn-ea"/>
                  </a:rPr>
                  <a:t>和初始变量</a:t>
                </a:r>
                <a:r>
                  <a:rPr lang="en-US" altLang="zh-CN" sz="3600" dirty="0">
                    <a:latin typeface="Times New Roman" panose="02020603050405020304" pitchFamily="18" charset="0"/>
                    <a:cs typeface="Times New Roman" panose="02020603050405020304" pitchFamily="18" charset="0"/>
                    <a:sym typeface="+mn-ea"/>
                  </a:rPr>
                  <a:t>IV，</a:t>
                </a:r>
                <a:r>
                  <a:rPr lang="zh-CN" altLang="en-US" sz="3600" dirty="0">
                    <a:latin typeface="Times New Roman" panose="02020603050405020304" pitchFamily="18" charset="0"/>
                    <a:cs typeface="Times New Roman" panose="02020603050405020304" pitchFamily="18" charset="0"/>
                    <a:sym typeface="+mn-ea"/>
                  </a:rPr>
                  <a:t>祖冲之算法产生</a:t>
                </a:r>
                <a:r>
                  <a:rPr lang="en-US" altLang="zh-CN" sz="3600" dirty="0">
                    <a:latin typeface="Times New Roman" panose="02020603050405020304" pitchFamily="18" charset="0"/>
                    <a:cs typeface="Times New Roman" panose="02020603050405020304" pitchFamily="18" charset="0"/>
                    <a:sym typeface="+mn-ea"/>
                  </a:rPr>
                  <a:t>L</a:t>
                </a:r>
                <a:r>
                  <a:rPr lang="zh-CN" altLang="en-US" sz="3600" dirty="0">
                    <a:latin typeface="Times New Roman" panose="02020603050405020304" pitchFamily="18" charset="0"/>
                    <a:cs typeface="Times New Roman" panose="02020603050405020304" pitchFamily="18" charset="0"/>
                    <a:sym typeface="+mn-ea"/>
                  </a:rPr>
                  <a:t>个字的密钥流，将生成的密钥流用比特串表示为</a:t>
                </a:r>
                <a:r>
                  <a:rPr lang="en-US" altLang="zh-CN" sz="3600" dirty="0">
                    <a:latin typeface="Times New Roman" panose="02020603050405020304" pitchFamily="18" charset="0"/>
                    <a:cs typeface="Times New Roman" panose="02020603050405020304" pitchFamily="18" charset="0"/>
                    <a:sym typeface="+mn-ea"/>
                  </a:rPr>
                  <a:t>k[0]，k[1]，…，k[32×L−1]，</a:t>
                </a:r>
                <a:r>
                  <a:rPr lang="zh-CN" altLang="en-US" sz="3600" dirty="0">
                    <a:latin typeface="Times New Roman" panose="02020603050405020304" pitchFamily="18" charset="0"/>
                    <a:cs typeface="Times New Roman" panose="02020603050405020304" pitchFamily="18" charset="0"/>
                    <a:sym typeface="+mn-ea"/>
                  </a:rPr>
                  <a:t>其中</a:t>
                </a:r>
                <a:r>
                  <a:rPr lang="en-US" altLang="zh-CN" sz="3600" dirty="0">
                    <a:latin typeface="Times New Roman" panose="02020603050405020304" pitchFamily="18" charset="0"/>
                    <a:cs typeface="Times New Roman" panose="02020603050405020304" pitchFamily="18" charset="0"/>
                    <a:sym typeface="+mn-ea"/>
                  </a:rPr>
                  <a:t>k[0]</a:t>
                </a:r>
                <a:r>
                  <a:rPr lang="zh-CN" altLang="en-US" sz="3600" dirty="0">
                    <a:latin typeface="Times New Roman" panose="02020603050405020304" pitchFamily="18" charset="0"/>
                    <a:cs typeface="Times New Roman" panose="02020603050405020304" pitchFamily="18" charset="0"/>
                    <a:sym typeface="+mn-ea"/>
                  </a:rPr>
                  <a:t>为祖冲之算法生成的第一个密钥字的最高比特位，</a:t>
                </a:r>
                <a:r>
                  <a:rPr lang="en-US" altLang="zh-CN" sz="3600" dirty="0">
                    <a:latin typeface="Times New Roman" panose="02020603050405020304" pitchFamily="18" charset="0"/>
                    <a:cs typeface="Times New Roman" panose="02020603050405020304" pitchFamily="18" charset="0"/>
                    <a:sym typeface="+mn-ea"/>
                  </a:rPr>
                  <a:t>k[31]</a:t>
                </a:r>
                <a:r>
                  <a:rPr lang="zh-CN" altLang="en-US" sz="3600" dirty="0">
                    <a:latin typeface="Times New Roman" panose="02020603050405020304" pitchFamily="18" charset="0"/>
                    <a:cs typeface="Times New Roman" panose="02020603050405020304" pitchFamily="18" charset="0"/>
                    <a:sym typeface="+mn-ea"/>
                  </a:rPr>
                  <a:t>为最低比特位，其他以此类推。</a:t>
                </a:r>
                <a:endParaRPr lang="en-US" altLang="zh-CN" sz="3600" dirty="0">
                  <a:latin typeface="Times New Roman" panose="02020603050405020304" pitchFamily="18" charset="0"/>
                  <a:cs typeface="Times New Roman" panose="02020603050405020304" pitchFamily="18" charset="0"/>
                  <a:sym typeface="+mn-ea"/>
                </a:endParaRPr>
              </a:p>
              <a:p>
                <a:pPr marL="12700" indent="914400" algn="l" eaLnBrk="0" fontAlgn="auto">
                  <a:lnSpc>
                    <a:spcPct val="123000"/>
                  </a:lnSpc>
                  <a:spcBef>
                    <a:spcPts val="0"/>
                  </a:spcBef>
                  <a:buClrTx/>
                  <a:buSzTx/>
                  <a:buNone/>
                  <a:extLst>
                    <a:ext uri="{35155182-B16C-46BC-9424-99874614C6A1}">
                      <wpsdc:indentchars xmlns:wpsdc="http://www.wps.cn/officeDocument/2017/drawingmlCustomData" val="200" checksum="797548545"/>
                    </a:ext>
                  </a:extLst>
                </a:pPr>
                <a:r>
                  <a:rPr lang="zh-CN" altLang="en-US" sz="3600" dirty="0">
                    <a:latin typeface="Times New Roman" panose="02020603050405020304" pitchFamily="18" charset="0"/>
                    <a:cs typeface="Times New Roman" panose="02020603050405020304" pitchFamily="18" charset="0"/>
                    <a:sym typeface="+mn-ea"/>
                  </a:rPr>
                  <a:t>为了计算</a:t>
                </a:r>
                <a:r>
                  <a:rPr lang="en-US" altLang="zh-CN" sz="3600" dirty="0">
                    <a:latin typeface="Times New Roman" panose="02020603050405020304" pitchFamily="18" charset="0"/>
                    <a:cs typeface="Times New Roman" panose="02020603050405020304" pitchFamily="18" charset="0"/>
                    <a:sym typeface="+mn-ea"/>
                  </a:rPr>
                  <a:t>LENGTH</a:t>
                </a:r>
                <a:r>
                  <a:rPr lang="zh-CN" altLang="en-US" sz="3600" dirty="0">
                    <a:latin typeface="Times New Roman" panose="02020603050405020304" pitchFamily="18" charset="0"/>
                    <a:cs typeface="Times New Roman" panose="02020603050405020304" pitchFamily="18" charset="0"/>
                    <a:sym typeface="+mn-ea"/>
                  </a:rPr>
                  <a:t>比特消息的</a:t>
                </a:r>
                <a:r>
                  <a:rPr lang="en-US" altLang="zh-CN" sz="3600" dirty="0">
                    <a:latin typeface="Times New Roman" panose="02020603050405020304" pitchFamily="18" charset="0"/>
                    <a:cs typeface="Times New Roman" panose="02020603050405020304" pitchFamily="18" charset="0"/>
                    <a:sym typeface="+mn-ea"/>
                  </a:rPr>
                  <a:t>MAC，L</a:t>
                </a:r>
                <a:r>
                  <a:rPr lang="zh-CN" altLang="en-US" sz="3600" dirty="0">
                    <a:latin typeface="Times New Roman" panose="02020603050405020304" pitchFamily="18" charset="0"/>
                    <a:cs typeface="Times New Roman" panose="02020603050405020304" pitchFamily="18" charset="0"/>
                    <a:sym typeface="+mn-ea"/>
                  </a:rPr>
                  <a:t>的取值为</a:t>
                </a:r>
                <a14:m>
                  <m:oMath xmlns:m="http://schemas.openxmlformats.org/officeDocument/2006/math">
                    <m:r>
                      <m:rPr>
                        <m:nor/>
                      </m:rPr>
                      <a:rPr lang="en-US" altLang="zh-CN" sz="3600" i="0" dirty="0">
                        <a:latin typeface="Times New Roman" panose="02020603050405020304" pitchFamily="18" charset="0"/>
                        <a:cs typeface="Times New Roman" panose="02020603050405020304" pitchFamily="18" charset="0"/>
                        <a:sym typeface="+mn-ea"/>
                      </a:rPr>
                      <m:t>L</m:t>
                    </m:r>
                    <m:r>
                      <m:rPr>
                        <m:nor/>
                      </m:rPr>
                      <a:rPr lang="en-US" altLang="zh-CN" sz="3600" i="0" dirty="0">
                        <a:latin typeface="Times New Roman" panose="02020603050405020304" pitchFamily="18" charset="0"/>
                        <a:cs typeface="Times New Roman" panose="02020603050405020304" pitchFamily="18" charset="0"/>
                        <a:sym typeface="+mn-ea"/>
                      </a:rPr>
                      <m:t>=⌈</m:t>
                    </m:r>
                    <m:r>
                      <m:rPr>
                        <m:nor/>
                      </m:rPr>
                      <a:rPr lang="en-US" altLang="zh-CN" sz="3600" i="0" dirty="0">
                        <a:latin typeface="Times New Roman" panose="02020603050405020304" pitchFamily="18" charset="0"/>
                        <a:cs typeface="Times New Roman" panose="02020603050405020304" pitchFamily="18" charset="0"/>
                        <a:sym typeface="+mn-ea"/>
                      </a:rPr>
                      <m:t>LENGTH</m:t>
                    </m:r>
                    <m:r>
                      <m:rPr>
                        <m:nor/>
                      </m:rPr>
                      <a:rPr lang="en-US" altLang="zh-CN" sz="3600" i="0" dirty="0">
                        <a:latin typeface="Times New Roman" panose="02020603050405020304" pitchFamily="18" charset="0"/>
                        <a:cs typeface="Times New Roman" panose="02020603050405020304" pitchFamily="18" charset="0"/>
                        <a:sym typeface="+mn-ea"/>
                      </a:rPr>
                      <m:t>/</m:t>
                    </m:r>
                    <m:r>
                      <m:rPr>
                        <m:nor/>
                      </m:rPr>
                      <a:rPr lang="en-US" altLang="zh-CN" sz="3600" i="0" dirty="0">
                        <a:latin typeface="Times New Roman" panose="02020603050405020304" pitchFamily="18" charset="0"/>
                        <a:cs typeface="Times New Roman" panose="02020603050405020304" pitchFamily="18" charset="0"/>
                        <a:sym typeface="+mn-ea"/>
                      </a:rPr>
                      <m:t>32</m:t>
                    </m:r>
                    <m:r>
                      <m:rPr>
                        <m:nor/>
                      </m:rPr>
                      <a:rPr lang="en-US" altLang="zh-CN" sz="3600" i="0" dirty="0">
                        <a:latin typeface="Times New Roman" panose="02020603050405020304" pitchFamily="18" charset="0"/>
                        <a:cs typeface="Times New Roman" panose="02020603050405020304" pitchFamily="18" charset="0"/>
                        <a:sym typeface="+mn-ea"/>
                      </a:rPr>
                      <m:t>⌉+</m:t>
                    </m:r>
                    <m:r>
                      <m:rPr>
                        <m:nor/>
                      </m:rPr>
                      <a:rPr lang="en-US" altLang="zh-CN" sz="3600" i="0" dirty="0">
                        <a:latin typeface="Times New Roman" panose="02020603050405020304" pitchFamily="18" charset="0"/>
                        <a:cs typeface="Times New Roman" panose="02020603050405020304" pitchFamily="18" charset="0"/>
                        <a:sym typeface="+mn-ea"/>
                      </a:rPr>
                      <m:t>2</m:t>
                    </m:r>
                  </m:oMath>
                </a14:m>
                <a:r>
                  <a:rPr lang="en-US" altLang="zh-CN" sz="3600" dirty="0">
                    <a:latin typeface="Times New Roman" panose="02020603050405020304" pitchFamily="18" charset="0"/>
                    <a:cs typeface="Times New Roman" panose="02020603050405020304" pitchFamily="18" charset="0"/>
                    <a:sym typeface="+mn-ea"/>
                  </a:rPr>
                  <a:t>。</a:t>
                </a:r>
                <a:endParaRPr lang="en-US" altLang="zh-CN" sz="3600" dirty="0">
                  <a:latin typeface="Times New Roman" panose="02020603050405020304" pitchFamily="18" charset="0"/>
                  <a:cs typeface="Times New Roman" panose="02020603050405020304" pitchFamily="18" charset="0"/>
                  <a:sym typeface="+mn-ea"/>
                </a:endParaRPr>
              </a:p>
              <a:p>
                <a:pPr marL="12700" indent="914400" algn="l" eaLnBrk="0" fontAlgn="auto">
                  <a:lnSpc>
                    <a:spcPct val="123000"/>
                  </a:lnSpc>
                  <a:spcBef>
                    <a:spcPts val="0"/>
                  </a:spcBef>
                  <a:buClrTx/>
                  <a:buSzTx/>
                  <a:buNone/>
                  <a:extLst>
                    <a:ext uri="{35155182-B16C-46BC-9424-99874614C6A1}">
                      <wpsdc:indentchars xmlns:wpsdc="http://www.wps.cn/officeDocument/2017/drawingmlCustomData" val="200" checksum="797548545"/>
                    </a:ext>
                  </a:extLst>
                </a:pPr>
                <a:r>
                  <a:rPr lang="zh-CN" altLang="en-US" sz="3600" dirty="0">
                    <a:latin typeface="Times New Roman" panose="02020603050405020304" pitchFamily="18" charset="0"/>
                    <a:cs typeface="Times New Roman" panose="02020603050405020304" pitchFamily="18" charset="0"/>
                    <a:sym typeface="+mn-ea"/>
                  </a:rPr>
                  <a:t>对于</a:t>
                </a:r>
                <a:r>
                  <a:rPr lang="en-US" altLang="zh-CN" sz="3600" dirty="0" err="1">
                    <a:latin typeface="Times New Roman" panose="02020603050405020304" pitchFamily="18" charset="0"/>
                    <a:cs typeface="Times New Roman" panose="02020603050405020304" pitchFamily="18" charset="0"/>
                    <a:sym typeface="+mn-ea"/>
                  </a:rPr>
                  <a:t>i</a:t>
                </a:r>
                <a:r>
                  <a:rPr lang="en-US" altLang="zh-CN" sz="3600" dirty="0">
                    <a:latin typeface="Times New Roman" panose="02020603050405020304" pitchFamily="18" charset="0"/>
                    <a:cs typeface="Times New Roman" panose="02020603050405020304" pitchFamily="18" charset="0"/>
                    <a:sym typeface="+mn-ea"/>
                  </a:rPr>
                  <a:t>=0，1，2，…，32×(L−1)，</a:t>
                </a:r>
                <a:r>
                  <a:rPr lang="zh-CN" altLang="en-US" sz="3600" dirty="0">
                    <a:latin typeface="Times New Roman" panose="02020603050405020304" pitchFamily="18" charset="0"/>
                    <a:cs typeface="Times New Roman" panose="02020603050405020304" pitchFamily="18" charset="0"/>
                    <a:sym typeface="+mn-ea"/>
                  </a:rPr>
                  <a:t>令</a:t>
                </a:r>
                <a14:m>
                  <m:oMath xmlns:m="http://schemas.openxmlformats.org/officeDocument/2006/math">
                    <m:r>
                      <m:rPr>
                        <m:nor/>
                      </m:rPr>
                      <a:rPr lang="en-US" altLang="zh-CN" sz="3600" i="0" dirty="0">
                        <a:latin typeface="Times New Roman" panose="02020603050405020304" pitchFamily="18" charset="0"/>
                        <a:cs typeface="Times New Roman" panose="02020603050405020304" pitchFamily="18" charset="0"/>
                        <a:sym typeface="+mn-ea"/>
                      </a:rPr>
                      <m:t>k</m:t>
                    </m:r>
                    <m:r>
                      <m:rPr>
                        <m:nor/>
                      </m:rPr>
                      <a:rPr lang="en-US" altLang="en-US" sz="3600" i="0" dirty="0">
                        <a:latin typeface="Times New Roman" panose="02020603050405020304" pitchFamily="18" charset="0"/>
                        <a:cs typeface="Times New Roman" panose="02020603050405020304" pitchFamily="18" charset="0"/>
                        <a:sym typeface="+mn-ea"/>
                      </a:rPr>
                      <m:t>ᵢ=</m:t>
                    </m:r>
                    <m:r>
                      <m:rPr>
                        <m:nor/>
                      </m:rPr>
                      <a:rPr lang="en-US" altLang="zh-CN" sz="3600" i="0" dirty="0">
                        <a:latin typeface="Times New Roman" panose="02020603050405020304" pitchFamily="18" charset="0"/>
                        <a:cs typeface="Times New Roman" panose="02020603050405020304" pitchFamily="18" charset="0"/>
                        <a:sym typeface="+mn-ea"/>
                      </a:rPr>
                      <m:t>k</m:t>
                    </m:r>
                    <m:r>
                      <m:rPr>
                        <m:nor/>
                      </m:rPr>
                      <a:rPr lang="en-US" altLang="zh-CN" sz="3600" i="0" dirty="0">
                        <a:latin typeface="Times New Roman" panose="02020603050405020304" pitchFamily="18" charset="0"/>
                        <a:cs typeface="Times New Roman" panose="02020603050405020304" pitchFamily="18" charset="0"/>
                        <a:sym typeface="+mn-ea"/>
                      </a:rPr>
                      <m:t>[</m:t>
                    </m:r>
                    <m:r>
                      <m:rPr>
                        <m:nor/>
                      </m:rPr>
                      <a:rPr lang="en-US" altLang="zh-CN" sz="3600" i="0" dirty="0" err="1">
                        <a:latin typeface="Times New Roman" panose="02020603050405020304" pitchFamily="18" charset="0"/>
                        <a:cs typeface="Times New Roman" panose="02020603050405020304" pitchFamily="18" charset="0"/>
                        <a:sym typeface="+mn-ea"/>
                      </a:rPr>
                      <m:t>i</m:t>
                    </m:r>
                    <m:r>
                      <m:rPr>
                        <m:nor/>
                      </m:rPr>
                      <a:rPr lang="en-US" altLang="zh-CN" sz="3600" i="0" dirty="0">
                        <a:latin typeface="Times New Roman" panose="02020603050405020304" pitchFamily="18" charset="0"/>
                        <a:cs typeface="Times New Roman" panose="02020603050405020304" pitchFamily="18" charset="0"/>
                        <a:sym typeface="+mn-ea"/>
                      </a:rPr>
                      <m:t>]∥</m:t>
                    </m:r>
                    <m:r>
                      <m:rPr>
                        <m:nor/>
                      </m:rPr>
                      <a:rPr lang="en-US" altLang="zh-CN" sz="3600" i="0" dirty="0">
                        <a:latin typeface="Times New Roman" panose="02020603050405020304" pitchFamily="18" charset="0"/>
                        <a:cs typeface="Times New Roman" panose="02020603050405020304" pitchFamily="18" charset="0"/>
                        <a:sym typeface="+mn-ea"/>
                      </a:rPr>
                      <m:t>k</m:t>
                    </m:r>
                    <m:r>
                      <m:rPr>
                        <m:nor/>
                      </m:rPr>
                      <a:rPr lang="en-US" altLang="zh-CN" sz="3600" i="0" dirty="0">
                        <a:latin typeface="Times New Roman" panose="02020603050405020304" pitchFamily="18" charset="0"/>
                        <a:cs typeface="Times New Roman" panose="02020603050405020304" pitchFamily="18" charset="0"/>
                        <a:sym typeface="+mn-ea"/>
                      </a:rPr>
                      <m:t>[</m:t>
                    </m:r>
                    <m:r>
                      <m:rPr>
                        <m:nor/>
                      </m:rPr>
                      <a:rPr lang="en-US" altLang="zh-CN" sz="3600" i="0" dirty="0">
                        <a:latin typeface="Times New Roman" panose="02020603050405020304" pitchFamily="18" charset="0"/>
                        <a:cs typeface="Times New Roman" panose="02020603050405020304" pitchFamily="18" charset="0"/>
                        <a:sym typeface="+mn-ea"/>
                      </a:rPr>
                      <m:t>i</m:t>
                    </m:r>
                    <m:r>
                      <m:rPr>
                        <m:nor/>
                      </m:rPr>
                      <a:rPr lang="en-US" altLang="zh-CN" sz="3600" i="0" dirty="0">
                        <a:latin typeface="Times New Roman" panose="02020603050405020304" pitchFamily="18" charset="0"/>
                        <a:cs typeface="Times New Roman" panose="02020603050405020304" pitchFamily="18" charset="0"/>
                        <a:sym typeface="+mn-ea"/>
                      </a:rPr>
                      <m:t>+</m:t>
                    </m:r>
                    <m:r>
                      <m:rPr>
                        <m:nor/>
                      </m:rPr>
                      <a:rPr lang="en-US" altLang="zh-CN" sz="3600" i="0" dirty="0">
                        <a:latin typeface="Times New Roman" panose="02020603050405020304" pitchFamily="18" charset="0"/>
                        <a:cs typeface="Times New Roman" panose="02020603050405020304" pitchFamily="18" charset="0"/>
                        <a:sym typeface="+mn-ea"/>
                      </a:rPr>
                      <m:t>1</m:t>
                    </m:r>
                    <m:r>
                      <m:rPr>
                        <m:nor/>
                      </m:rPr>
                      <a:rPr lang="en-US" altLang="zh-CN" sz="3600" i="0" dirty="0">
                        <a:latin typeface="Times New Roman" panose="02020603050405020304" pitchFamily="18" charset="0"/>
                        <a:cs typeface="Times New Roman" panose="02020603050405020304" pitchFamily="18" charset="0"/>
                        <a:sym typeface="+mn-ea"/>
                      </a:rPr>
                      <m:t>]∥…∥</m:t>
                    </m:r>
                    <m:r>
                      <m:rPr>
                        <m:nor/>
                      </m:rPr>
                      <a:rPr lang="en-US" altLang="zh-CN" sz="3600" i="0" dirty="0">
                        <a:latin typeface="Times New Roman" panose="02020603050405020304" pitchFamily="18" charset="0"/>
                        <a:cs typeface="Times New Roman" panose="02020603050405020304" pitchFamily="18" charset="0"/>
                        <a:sym typeface="+mn-ea"/>
                      </a:rPr>
                      <m:t>k</m:t>
                    </m:r>
                    <m:r>
                      <m:rPr>
                        <m:nor/>
                      </m:rPr>
                      <a:rPr lang="en-US" altLang="zh-CN" sz="3600" i="0" dirty="0">
                        <a:latin typeface="Times New Roman" panose="02020603050405020304" pitchFamily="18" charset="0"/>
                        <a:cs typeface="Times New Roman" panose="02020603050405020304" pitchFamily="18" charset="0"/>
                        <a:sym typeface="+mn-ea"/>
                      </a:rPr>
                      <m:t>[</m:t>
                    </m:r>
                    <m:r>
                      <m:rPr>
                        <m:nor/>
                      </m:rPr>
                      <a:rPr lang="en-US" altLang="zh-CN" sz="3600" i="0" dirty="0">
                        <a:latin typeface="Times New Roman" panose="02020603050405020304" pitchFamily="18" charset="0"/>
                        <a:cs typeface="Times New Roman" panose="02020603050405020304" pitchFamily="18" charset="0"/>
                        <a:sym typeface="+mn-ea"/>
                      </a:rPr>
                      <m:t>i</m:t>
                    </m:r>
                    <m:r>
                      <m:rPr>
                        <m:nor/>
                      </m:rPr>
                      <a:rPr lang="en-US" altLang="zh-CN" sz="3600" i="0" dirty="0">
                        <a:latin typeface="Times New Roman" panose="02020603050405020304" pitchFamily="18" charset="0"/>
                        <a:cs typeface="Times New Roman" panose="02020603050405020304" pitchFamily="18" charset="0"/>
                        <a:sym typeface="+mn-ea"/>
                      </a:rPr>
                      <m:t>+</m:t>
                    </m:r>
                    <m:r>
                      <m:rPr>
                        <m:nor/>
                      </m:rPr>
                      <a:rPr lang="en-US" altLang="zh-CN" sz="3600" i="0" dirty="0">
                        <a:latin typeface="Times New Roman" panose="02020603050405020304" pitchFamily="18" charset="0"/>
                        <a:cs typeface="Times New Roman" panose="02020603050405020304" pitchFamily="18" charset="0"/>
                        <a:sym typeface="+mn-ea"/>
                      </a:rPr>
                      <m:t>31</m:t>
                    </m:r>
                    <m:r>
                      <m:rPr>
                        <m:nor/>
                      </m:rPr>
                      <a:rPr lang="en-US" altLang="zh-CN" sz="3600" i="0" dirty="0">
                        <a:latin typeface="Times New Roman" panose="02020603050405020304" pitchFamily="18" charset="0"/>
                        <a:cs typeface="Times New Roman" panose="02020603050405020304" pitchFamily="18" charset="0"/>
                        <a:sym typeface="+mn-ea"/>
                      </a:rPr>
                      <m:t>]，</m:t>
                    </m:r>
                  </m:oMath>
                </a14:m>
                <a:r>
                  <a:rPr lang="zh-CN" altLang="en-US" sz="3600" dirty="0">
                    <a:latin typeface="Times New Roman" panose="02020603050405020304" pitchFamily="18" charset="0"/>
                    <a:cs typeface="Times New Roman" panose="02020603050405020304" pitchFamily="18" charset="0"/>
                    <a:sym typeface="+mn-ea"/>
                  </a:rPr>
                  <a:t>则</a:t>
                </a:r>
                <a:r>
                  <a:rPr lang="en-US" altLang="zh-CN" sz="3600" dirty="0">
                    <a:latin typeface="Times New Roman" panose="02020603050405020304" pitchFamily="18" charset="0"/>
                    <a:cs typeface="Times New Roman" panose="02020603050405020304" pitchFamily="18" charset="0"/>
                    <a:sym typeface="+mn-ea"/>
                  </a:rPr>
                  <a:t>k</a:t>
                </a:r>
                <a:r>
                  <a:rPr lang="en-US" altLang="en-US" sz="3600" dirty="0">
                    <a:latin typeface="Times New Roman" panose="02020603050405020304" pitchFamily="18" charset="0"/>
                    <a:cs typeface="Times New Roman" panose="02020603050405020304" pitchFamily="18" charset="0"/>
                    <a:sym typeface="+mn-ea"/>
                  </a:rPr>
                  <a:t>ᵢ</a:t>
                </a:r>
                <a:r>
                  <a:rPr lang="zh-CN" altLang="en-US" sz="3600" dirty="0">
                    <a:latin typeface="Times New Roman" panose="02020603050405020304" pitchFamily="18" charset="0"/>
                    <a:cs typeface="Times New Roman" panose="02020603050405020304" pitchFamily="18" charset="0"/>
                    <a:sym typeface="+mn-ea"/>
                  </a:rPr>
                  <a:t>为32位字。</a:t>
                </a:r>
                <a:endParaRPr lang="zh-CN" altLang="en-US" sz="3600" dirty="0">
                  <a:latin typeface="Times New Roman" panose="02020603050405020304" pitchFamily="18" charset="0"/>
                  <a:cs typeface="Times New Roman" panose="02020603050405020304" pitchFamily="18" charset="0"/>
                  <a:sym typeface="+mn-ea"/>
                </a:endParaRPr>
              </a:p>
            </p:txBody>
          </p:sp>
        </mc:Choice>
        <mc:Fallback>
          <p:sp>
            <p:nvSpPr>
              <p:cNvPr id="6" name="textbox 2"/>
              <p:cNvSpPr>
                <a:spLocks noRot="1" noChangeAspect="1" noMove="1" noResize="1" noEditPoints="1" noAdjustHandles="1" noChangeArrowheads="1" noChangeShapeType="1" noTextEdit="1"/>
              </p:cNvSpPr>
              <p:nvPr/>
            </p:nvSpPr>
            <p:spPr>
              <a:xfrm>
                <a:off x="1295400" y="1866900"/>
                <a:ext cx="15588615" cy="8097520"/>
              </a:xfrm>
              <a:prstGeom prst="rect">
                <a:avLst/>
              </a:prstGeom>
              <a:blipFill rotWithShape="1">
                <a:blip r:embed="rId1"/>
                <a:stretch>
                  <a:fillRect r="-1919"/>
                </a:stretch>
              </a:blipFill>
              <a:ln w="0" cap="flat">
                <a:noFill/>
                <a:prstDash val="solid"/>
                <a:miter lim="0"/>
              </a:ln>
            </p:spPr>
            <p:txBody>
              <a:bodyPr/>
              <a:lstStyle/>
              <a:p>
                <a:r>
                  <a:rPr lang="zh-CN" altLang="en-US">
                    <a:noFill/>
                  </a:rPr>
                  <a:t> </a:t>
                </a:r>
              </a:p>
            </p:txBody>
          </p:sp>
        </mc:Fallback>
      </mc:AlternateContent>
      <p:sp>
        <p:nvSpPr>
          <p:cNvPr id="9" name="灯片编号占位符 8"/>
          <p:cNvSpPr>
            <a:spLocks noGrp="1"/>
          </p:cNvSpPr>
          <p:nvPr>
            <p:ph type="sldNum" sz="quarter" idx="12"/>
          </p:nvPr>
        </p:nvSpPr>
        <p:spPr/>
        <p:txBody>
          <a:bodyPr/>
          <a:lstStyle/>
          <a:p>
            <a:fld id="{B6F15528-21DE-4FAA-801E-634DDDAF4B2B}" type="slidenum">
              <a:rPr lang="en-US" smtClean="0"/>
            </a:fld>
            <a:endParaRPr lang="en-US"/>
          </a:p>
        </p:txBody>
      </p:sp>
      <p:grpSp>
        <p:nvGrpSpPr>
          <p:cNvPr id="5"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0"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1"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基于祖冲之算法的机密性和完整性算法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3"/>
            <a:stretch>
              <a:fillRect/>
            </a:stretch>
          </p:blipFill>
          <p:spPr>
            <a:xfrm>
              <a:off x="13944600" y="877286"/>
              <a:ext cx="2771429" cy="47619"/>
            </a:xfrm>
            <a:prstGeom prst="rect">
              <a:avLst/>
            </a:prstGeom>
          </p:spPr>
        </p:pic>
      </p:grpSp>
      <p:sp>
        <p:nvSpPr>
          <p:cNvPr id="2" name="文本框 1"/>
          <p:cNvSpPr txBox="1"/>
          <p:nvPr/>
        </p:nvSpPr>
        <p:spPr>
          <a:xfrm>
            <a:off x="5231130" y="2220595"/>
            <a:ext cx="6096000" cy="368300"/>
          </a:xfrm>
          <a:prstGeom prst="rect">
            <a:avLst/>
          </a:prstGeom>
          <a:noFill/>
        </p:spPr>
        <p:txBody>
          <a:bodyPr wrap="square" rtlCol="0">
            <a:spAutoFit/>
          </a:bodyPr>
          <a:lstStyle/>
          <a:p>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textbox 2"/>
              <p:cNvSpPr/>
              <p:nvPr/>
            </p:nvSpPr>
            <p:spPr>
              <a:xfrm>
                <a:off x="1295400" y="1866900"/>
                <a:ext cx="15588615" cy="8097520"/>
              </a:xfrm>
              <a:prstGeom prst="rect">
                <a:avLst/>
              </a:prstGeom>
              <a:noFill/>
              <a:ln w="0" cap="flat">
                <a:noFill/>
                <a:prstDash val="solid"/>
                <a:miter lim="0"/>
              </a:ln>
            </p:spPr>
            <p:txBody>
              <a:bodyPr vert="horz" wrap="square" lIns="0" tIns="88" rIns="0" bIns="0"/>
              <a:lstStyle/>
              <a:p>
                <a:pPr marL="12700" indent="914400" algn="l" eaLnBrk="0" fontAlgn="auto">
                  <a:lnSpc>
                    <a:spcPct val="123000"/>
                  </a:lnSpc>
                  <a:spcBef>
                    <a:spcPts val="0"/>
                  </a:spcBef>
                  <a:buClrTx/>
                  <a:buSzTx/>
                  <a:buNone/>
                  <a:extLst>
                    <a:ext uri="{35155182-B16C-46BC-9424-99874614C6A1}">
                      <wpsdc:indentchars xmlns:wpsdc="http://www.wps.cn/officeDocument/2017/drawingmlCustomData" val="200" checksum="797548545"/>
                    </a:ext>
                  </a:extLst>
                </a:pPr>
                <a:r>
                  <a:rPr lang="zh-CN" altLang="en-US" sz="3600" b="1" dirty="0">
                    <a:latin typeface="Times New Roman" panose="02020603050405020304" pitchFamily="18" charset="0"/>
                    <a:cs typeface="Times New Roman" panose="02020603050405020304" pitchFamily="18" charset="0"/>
                    <a:sym typeface="+mn-ea"/>
                  </a:rPr>
                  <a:t>计算消息认证码</a:t>
                </a:r>
                <a:r>
                  <a:rPr lang="en-US" altLang="zh-CN" sz="3600" b="1" dirty="0">
                    <a:latin typeface="Times New Roman" panose="02020603050405020304" pitchFamily="18" charset="0"/>
                    <a:cs typeface="Times New Roman" panose="02020603050405020304" pitchFamily="18" charset="0"/>
                    <a:sym typeface="+mn-ea"/>
                  </a:rPr>
                  <a:t>MAC</a:t>
                </a:r>
                <a:endParaRPr lang="en-US" altLang="zh-CN" sz="3600" b="1" dirty="0">
                  <a:latin typeface="Times New Roman" panose="02020603050405020304" pitchFamily="18" charset="0"/>
                  <a:cs typeface="Times New Roman" panose="02020603050405020304" pitchFamily="18" charset="0"/>
                  <a:sym typeface="+mn-ea"/>
                </a:endParaRPr>
              </a:p>
              <a:p>
                <a:pPr marL="12700" indent="914400" algn="l" eaLnBrk="0" fontAlgn="auto">
                  <a:lnSpc>
                    <a:spcPct val="123000"/>
                  </a:lnSpc>
                  <a:spcBef>
                    <a:spcPts val="0"/>
                  </a:spcBef>
                  <a:buClrTx/>
                  <a:buSzTx/>
                  <a:buNone/>
                  <a:extLst>
                    <a:ext uri="{35155182-B16C-46BC-9424-99874614C6A1}">
                      <wpsdc:indentchars xmlns:wpsdc="http://www.wps.cn/officeDocument/2017/drawingmlCustomData" val="200" checksum="797548545"/>
                    </a:ext>
                  </a:extLst>
                </a:pPr>
                <a:r>
                  <a:rPr lang="zh-CN" altLang="en-US" sz="3600" dirty="0">
                    <a:latin typeface="Times New Roman" panose="02020603050405020304" pitchFamily="18" charset="0"/>
                    <a:cs typeface="Times New Roman" panose="02020603050405020304" pitchFamily="18" charset="0"/>
                    <a:sym typeface="+mn-ea"/>
                  </a:rPr>
                  <a:t>设</a:t>
                </a:r>
                <a:r>
                  <a:rPr lang="en-US" altLang="zh-CN" sz="3600" dirty="0">
                    <a:latin typeface="Times New Roman" panose="02020603050405020304" pitchFamily="18" charset="0"/>
                    <a:cs typeface="Times New Roman" panose="02020603050405020304" pitchFamily="18" charset="0"/>
                    <a:sym typeface="+mn-ea"/>
                  </a:rPr>
                  <a:t>T</a:t>
                </a:r>
                <a:r>
                  <a:rPr lang="zh-CN" altLang="en-US" sz="3600" dirty="0">
                    <a:latin typeface="Times New Roman" panose="02020603050405020304" pitchFamily="18" charset="0"/>
                    <a:cs typeface="Times New Roman" panose="02020603050405020304" pitchFamily="18" charset="0"/>
                    <a:sym typeface="+mn-ea"/>
                  </a:rPr>
                  <a:t>为32比特字变量，置</a:t>
                </a:r>
                <a:r>
                  <a:rPr lang="en-US" altLang="zh-CN" sz="3600" dirty="0">
                    <a:latin typeface="Times New Roman" panose="02020603050405020304" pitchFamily="18" charset="0"/>
                    <a:cs typeface="Times New Roman" panose="02020603050405020304" pitchFamily="18" charset="0"/>
                    <a:sym typeface="+mn-ea"/>
                  </a:rPr>
                  <a:t>T=0。</a:t>
                </a:r>
                <a:endParaRPr lang="en-US" altLang="zh-CN" sz="3600" dirty="0">
                  <a:latin typeface="Times New Roman" panose="02020603050405020304" pitchFamily="18" charset="0"/>
                  <a:cs typeface="Times New Roman" panose="02020603050405020304" pitchFamily="18" charset="0"/>
                  <a:sym typeface="+mn-ea"/>
                </a:endParaRPr>
              </a:p>
              <a:p>
                <a:pPr marL="12700" indent="914400" algn="l" eaLnBrk="0" fontAlgn="auto">
                  <a:lnSpc>
                    <a:spcPct val="123000"/>
                  </a:lnSpc>
                  <a:spcBef>
                    <a:spcPts val="0"/>
                  </a:spcBef>
                  <a:buClrTx/>
                  <a:buSzTx/>
                  <a:buNone/>
                  <a:extLst>
                    <a:ext uri="{35155182-B16C-46BC-9424-99874614C6A1}">
                      <wpsdc:indentchars xmlns:wpsdc="http://www.wps.cn/officeDocument/2017/drawingmlCustomData" val="200" checksum="797548545"/>
                    </a:ext>
                  </a:extLst>
                </a:pPr>
                <a:r>
                  <a:rPr lang="zh-CN" altLang="en-US" sz="3600" dirty="0">
                    <a:latin typeface="Times New Roman" panose="02020603050405020304" pitchFamily="18" charset="0"/>
                    <a:cs typeface="Times New Roman" panose="02020603050405020304" pitchFamily="18" charset="0"/>
                    <a:sym typeface="+mn-ea"/>
                  </a:rPr>
                  <a:t>对于每个</a:t>
                </a:r>
                <a:r>
                  <a:rPr lang="en-US" altLang="zh-CN" sz="3600" dirty="0" err="1">
                    <a:latin typeface="Times New Roman" panose="02020603050405020304" pitchFamily="18" charset="0"/>
                    <a:cs typeface="Times New Roman" panose="02020603050405020304" pitchFamily="18" charset="0"/>
                    <a:sym typeface="+mn-ea"/>
                  </a:rPr>
                  <a:t>i</a:t>
                </a:r>
                <a:r>
                  <a:rPr lang="en-US" altLang="zh-CN" sz="3600" dirty="0">
                    <a:latin typeface="Times New Roman" panose="02020603050405020304" pitchFamily="18" charset="0"/>
                    <a:cs typeface="Times New Roman" panose="02020603050405020304" pitchFamily="18" charset="0"/>
                    <a:sym typeface="+mn-ea"/>
                  </a:rPr>
                  <a:t>=0，1，…，LENGTH−1，</a:t>
                </a:r>
                <a:r>
                  <a:rPr lang="zh-CN" altLang="en-US" sz="3600" dirty="0">
                    <a:latin typeface="Times New Roman" panose="02020603050405020304" pitchFamily="18" charset="0"/>
                    <a:cs typeface="Times New Roman" panose="02020603050405020304" pitchFamily="18" charset="0"/>
                    <a:sym typeface="+mn-ea"/>
                  </a:rPr>
                  <a:t>如果</a:t>
                </a:r>
                <a:r>
                  <a:rPr lang="en-US" altLang="zh-CN" sz="3600" dirty="0">
                    <a:latin typeface="Times New Roman" panose="02020603050405020304" pitchFamily="18" charset="0"/>
                    <a:cs typeface="Times New Roman" panose="02020603050405020304" pitchFamily="18" charset="0"/>
                    <a:sym typeface="+mn-ea"/>
                  </a:rPr>
                  <a:t>M[</a:t>
                </a:r>
                <a:r>
                  <a:rPr lang="en-US" altLang="zh-CN" sz="3600" dirty="0" err="1">
                    <a:latin typeface="Times New Roman" panose="02020603050405020304" pitchFamily="18" charset="0"/>
                    <a:cs typeface="Times New Roman" panose="02020603050405020304" pitchFamily="18" charset="0"/>
                    <a:sym typeface="+mn-ea"/>
                  </a:rPr>
                  <a:t>i</a:t>
                </a:r>
                <a:r>
                  <a:rPr lang="en-US" altLang="zh-CN" sz="3600" dirty="0">
                    <a:latin typeface="Times New Roman" panose="02020603050405020304" pitchFamily="18" charset="0"/>
                    <a:cs typeface="Times New Roman" panose="02020603050405020304" pitchFamily="18" charset="0"/>
                    <a:sym typeface="+mn-ea"/>
                  </a:rPr>
                  <a:t>]=1，</a:t>
                </a:r>
                <a:r>
                  <a:rPr lang="zh-CN" altLang="en-US" sz="3600" dirty="0">
                    <a:latin typeface="Times New Roman" panose="02020603050405020304" pitchFamily="18" charset="0"/>
                    <a:cs typeface="Times New Roman" panose="02020603050405020304" pitchFamily="18" charset="0"/>
                    <a:sym typeface="+mn-ea"/>
                  </a:rPr>
                  <a:t>那么</a:t>
                </a:r>
                <a14:m>
                  <m:oMath xmlns:m="http://schemas.openxmlformats.org/officeDocument/2006/math">
                    <m:r>
                      <m:rPr>
                        <m:nor/>
                      </m:rPr>
                      <a:rPr lang="en-US" altLang="zh-CN" sz="3600" i="0" dirty="0" smtClean="0">
                        <a:latin typeface="Times New Roman" panose="02020603050405020304" pitchFamily="18" charset="0"/>
                        <a:cs typeface="Times New Roman" panose="02020603050405020304" pitchFamily="18" charset="0"/>
                        <a:sym typeface="+mn-ea"/>
                      </a:rPr>
                      <m:t>T</m:t>
                    </m:r>
                    <m:r>
                      <m:rPr>
                        <m:nor/>
                      </m:rPr>
                      <a:rPr lang="en-US" altLang="zh-CN" sz="3600" i="0" dirty="0" smtClean="0">
                        <a:latin typeface="Times New Roman" panose="02020603050405020304" pitchFamily="18" charset="0"/>
                        <a:cs typeface="Times New Roman" panose="02020603050405020304" pitchFamily="18" charset="0"/>
                        <a:sym typeface="+mn-ea"/>
                      </a:rPr>
                      <m:t>=</m:t>
                    </m:r>
                    <m:r>
                      <m:rPr>
                        <m:nor/>
                      </m:rPr>
                      <a:rPr lang="en-US" altLang="zh-CN" sz="3600" i="0" dirty="0" smtClean="0">
                        <a:latin typeface="Times New Roman" panose="02020603050405020304" pitchFamily="18" charset="0"/>
                        <a:cs typeface="Times New Roman" panose="02020603050405020304" pitchFamily="18" charset="0"/>
                        <a:sym typeface="+mn-ea"/>
                      </a:rPr>
                      <m:t>T</m:t>
                    </m:r>
                    <m:r>
                      <m:rPr>
                        <m:nor/>
                      </m:rPr>
                      <a:rPr lang="en-US" altLang="zh-CN" sz="3600" i="0" dirty="0" smtClean="0">
                        <a:latin typeface="Times New Roman" panose="02020603050405020304" pitchFamily="18" charset="0"/>
                        <a:cs typeface="Times New Roman" panose="02020603050405020304" pitchFamily="18" charset="0"/>
                        <a:sym typeface="+mn-ea"/>
                      </a:rPr>
                      <m:t>⊕</m:t>
                    </m:r>
                    <m:r>
                      <m:rPr>
                        <m:nor/>
                      </m:rPr>
                      <a:rPr lang="en-US" altLang="zh-CN" sz="3600" i="0" dirty="0" smtClean="0">
                        <a:latin typeface="Times New Roman" panose="02020603050405020304" pitchFamily="18" charset="0"/>
                        <a:cs typeface="Times New Roman" panose="02020603050405020304" pitchFamily="18" charset="0"/>
                        <a:sym typeface="+mn-ea"/>
                      </a:rPr>
                      <m:t>k</m:t>
                    </m:r>
                    <m:r>
                      <m:rPr>
                        <m:nor/>
                      </m:rPr>
                      <a:rPr lang="en-US" altLang="en-US" sz="3600" i="0" dirty="0" smtClean="0">
                        <a:latin typeface="Times New Roman" panose="02020603050405020304" pitchFamily="18" charset="0"/>
                        <a:cs typeface="Times New Roman" panose="02020603050405020304" pitchFamily="18" charset="0"/>
                        <a:sym typeface="+mn-ea"/>
                      </a:rPr>
                      <m:t>ᵢ</m:t>
                    </m:r>
                  </m:oMath>
                </a14:m>
                <a:r>
                  <a:rPr lang="en-US" altLang="en-US" sz="3600" dirty="0">
                    <a:latin typeface="Times New Roman" panose="02020603050405020304" pitchFamily="18" charset="0"/>
                    <a:cs typeface="Times New Roman" panose="02020603050405020304" pitchFamily="18" charset="0"/>
                    <a:sym typeface="+mn-ea"/>
                  </a:rPr>
                  <a:t>。</a:t>
                </a:r>
                <a:endParaRPr lang="en-US" altLang="en-US" sz="3600" dirty="0">
                  <a:latin typeface="Times New Roman" panose="02020603050405020304" pitchFamily="18" charset="0"/>
                  <a:cs typeface="Times New Roman" panose="02020603050405020304" pitchFamily="18" charset="0"/>
                  <a:sym typeface="+mn-ea"/>
                </a:endParaRPr>
              </a:p>
              <a:p>
                <a:pPr marL="12700" indent="914400" eaLnBrk="0">
                  <a:lnSpc>
                    <a:spcPct val="123000"/>
                  </a:lnSpc>
                  <a:extLst>
                    <a:ext uri="{35155182-B16C-46BC-9424-99874614C6A1}">
                      <wpsdc:indentchars xmlns:wpsdc="http://www.wps.cn/officeDocument/2017/drawingmlCustomData" val="200" checksum="797548545"/>
                    </a:ext>
                  </a:extLst>
                </a:pPr>
                <a:r>
                  <a:rPr lang="zh-CN" altLang="en-US" sz="3600" dirty="0">
                    <a:latin typeface="Times New Roman" panose="02020603050405020304" pitchFamily="18" charset="0"/>
                    <a:cs typeface="Times New Roman" panose="02020603050405020304" pitchFamily="18" charset="0"/>
                    <a:sym typeface="+mn-ea"/>
                  </a:rPr>
                  <a:t>计算</a:t>
                </a:r>
                <a14:m>
                  <m:oMath xmlns:m="http://schemas.openxmlformats.org/officeDocument/2006/math">
                    <m:r>
                      <m:rPr>
                        <m:nor/>
                      </m:rPr>
                      <a:rPr lang="en-US" altLang="zh-CN" sz="3600" i="0" dirty="0" smtClean="0">
                        <a:latin typeface="Times New Roman" panose="02020603050405020304" pitchFamily="18" charset="0"/>
                        <a:cs typeface="Times New Roman" panose="02020603050405020304" pitchFamily="18" charset="0"/>
                        <a:sym typeface="+mn-ea"/>
                      </a:rPr>
                      <m:t>T</m:t>
                    </m:r>
                    <m:r>
                      <m:rPr>
                        <m:nor/>
                      </m:rPr>
                      <a:rPr lang="en-US" altLang="zh-CN" sz="3600" i="0" dirty="0" smtClean="0">
                        <a:latin typeface="Times New Roman" panose="02020603050405020304" pitchFamily="18" charset="0"/>
                        <a:cs typeface="Times New Roman" panose="02020603050405020304" pitchFamily="18" charset="0"/>
                        <a:sym typeface="+mn-ea"/>
                      </a:rPr>
                      <m:t>=</m:t>
                    </m:r>
                    <m:r>
                      <m:rPr>
                        <m:nor/>
                      </m:rPr>
                      <a:rPr lang="en-US" altLang="zh-CN" sz="3600" i="0" dirty="0" smtClean="0">
                        <a:latin typeface="Times New Roman" panose="02020603050405020304" pitchFamily="18" charset="0"/>
                        <a:cs typeface="Times New Roman" panose="02020603050405020304" pitchFamily="18" charset="0"/>
                        <a:sym typeface="+mn-ea"/>
                      </a:rPr>
                      <m:t>T</m:t>
                    </m:r>
                    <m:r>
                      <m:rPr>
                        <m:nor/>
                      </m:rPr>
                      <a:rPr lang="en-US" altLang="zh-CN" sz="3600" i="0" dirty="0" smtClean="0">
                        <a:latin typeface="Times New Roman" panose="02020603050405020304" pitchFamily="18" charset="0"/>
                        <a:cs typeface="Times New Roman" panose="02020603050405020304" pitchFamily="18" charset="0"/>
                        <a:sym typeface="+mn-ea"/>
                      </a:rPr>
                      <m:t>⊕</m:t>
                    </m:r>
                    <m:r>
                      <m:rPr>
                        <m:nor/>
                      </m:rPr>
                      <a:rPr lang="en-US" altLang="zh-CN" sz="3600" i="0" dirty="0" smtClean="0">
                        <a:latin typeface="Times New Roman" panose="02020603050405020304" pitchFamily="18" charset="0"/>
                        <a:cs typeface="Times New Roman" panose="02020603050405020304" pitchFamily="18" charset="0"/>
                        <a:sym typeface="+mn-ea"/>
                      </a:rPr>
                      <m:t>k</m:t>
                    </m:r>
                    <m:r>
                      <m:rPr>
                        <m:nor/>
                      </m:rPr>
                      <a:rPr lang="en-US" altLang="zh-CN" sz="3600" i="0" baseline="-25000" dirty="0" smtClean="0">
                        <a:latin typeface="Times New Roman" panose="02020603050405020304" pitchFamily="18" charset="0"/>
                        <a:cs typeface="Times New Roman" panose="02020603050405020304" pitchFamily="18" charset="0"/>
                        <a:sym typeface="+mn-ea"/>
                      </a:rPr>
                      <m:t>LENGTH</m:t>
                    </m:r>
                  </m:oMath>
                </a14:m>
                <a:r>
                  <a:rPr lang="en-US" altLang="zh-CN" sz="3600" dirty="0">
                    <a:latin typeface="Times New Roman" panose="02020603050405020304" pitchFamily="18" charset="0"/>
                    <a:cs typeface="Times New Roman" panose="02020603050405020304" pitchFamily="18" charset="0"/>
                    <a:sym typeface="+mn-ea"/>
                  </a:rPr>
                  <a:t>，</a:t>
                </a:r>
                <a:r>
                  <a:rPr lang="zh-CN" altLang="en-US" sz="3600" dirty="0">
                    <a:latin typeface="Times New Roman" panose="02020603050405020304" pitchFamily="18" charset="0"/>
                    <a:cs typeface="Times New Roman" panose="02020603050405020304" pitchFamily="18" charset="0"/>
                    <a:sym typeface="+mn-ea"/>
                  </a:rPr>
                  <a:t>最后计算</a:t>
                </a:r>
                <a14:m>
                  <m:oMath xmlns:m="http://schemas.openxmlformats.org/officeDocument/2006/math">
                    <m:r>
                      <m:rPr>
                        <m:nor/>
                      </m:rPr>
                      <a:rPr lang="en-US" altLang="zh-CN" sz="3600" i="0" dirty="0" smtClean="0">
                        <a:latin typeface="Times New Roman" panose="02020603050405020304" pitchFamily="18" charset="0"/>
                        <a:cs typeface="Times New Roman" panose="02020603050405020304" pitchFamily="18" charset="0"/>
                        <a:sym typeface="+mn-ea"/>
                      </a:rPr>
                      <m:t>MAC</m:t>
                    </m:r>
                    <m:r>
                      <m:rPr>
                        <m:nor/>
                      </m:rPr>
                      <a:rPr lang="en-US" altLang="zh-CN" sz="3600" i="0" dirty="0" smtClean="0">
                        <a:latin typeface="Times New Roman" panose="02020603050405020304" pitchFamily="18" charset="0"/>
                        <a:cs typeface="Times New Roman" panose="02020603050405020304" pitchFamily="18" charset="0"/>
                        <a:sym typeface="+mn-ea"/>
                      </a:rPr>
                      <m:t>=</m:t>
                    </m:r>
                    <m:r>
                      <m:rPr>
                        <m:nor/>
                      </m:rPr>
                      <a:rPr lang="en-US" altLang="zh-CN" sz="3600" i="0" dirty="0" smtClean="0">
                        <a:latin typeface="Times New Roman" panose="02020603050405020304" pitchFamily="18" charset="0"/>
                        <a:cs typeface="Times New Roman" panose="02020603050405020304" pitchFamily="18" charset="0"/>
                        <a:sym typeface="+mn-ea"/>
                      </a:rPr>
                      <m:t>T</m:t>
                    </m:r>
                    <m:r>
                      <m:rPr>
                        <m:nor/>
                      </m:rPr>
                      <a:rPr lang="en-US" altLang="zh-CN" sz="3600" i="0" dirty="0" smtClean="0">
                        <a:latin typeface="Times New Roman" panose="02020603050405020304" pitchFamily="18" charset="0"/>
                        <a:cs typeface="Times New Roman" panose="02020603050405020304" pitchFamily="18" charset="0"/>
                        <a:sym typeface="+mn-ea"/>
                      </a:rPr>
                      <m:t>⊕</m:t>
                    </m:r>
                    <m:r>
                      <m:rPr>
                        <m:nor/>
                      </m:rPr>
                      <a:rPr lang="en-US" altLang="zh-CN" sz="3600" i="0" dirty="0" smtClean="0">
                        <a:latin typeface="Times New Roman" panose="02020603050405020304" pitchFamily="18" charset="0"/>
                        <a:cs typeface="Times New Roman" panose="02020603050405020304" pitchFamily="18" charset="0"/>
                        <a:sym typeface="+mn-ea"/>
                      </a:rPr>
                      <m:t>Z</m:t>
                    </m:r>
                    <m:r>
                      <m:rPr>
                        <m:nor/>
                      </m:rPr>
                      <a:rPr lang="en-US" altLang="zh-CN" sz="3600" i="0" baseline="-25000" dirty="0" smtClean="0">
                        <a:latin typeface="Times New Roman" panose="02020603050405020304" pitchFamily="18" charset="0"/>
                        <a:cs typeface="Times New Roman" panose="02020603050405020304" pitchFamily="18" charset="0"/>
                        <a:sym typeface="+mn-ea"/>
                      </a:rPr>
                      <m:t>32</m:t>
                    </m:r>
                    <m:r>
                      <m:rPr>
                        <m:nor/>
                      </m:rPr>
                      <a:rPr lang="en-US" altLang="zh-CN" sz="3600" i="0" baseline="-25000" dirty="0" smtClean="0">
                        <a:latin typeface="Times New Roman" panose="02020603050405020304" pitchFamily="18" charset="0"/>
                        <a:cs typeface="Times New Roman" panose="02020603050405020304" pitchFamily="18" charset="0"/>
                        <a:sym typeface="+mn-ea"/>
                      </a:rPr>
                      <m:t>×(</m:t>
                    </m:r>
                    <m:r>
                      <m:rPr>
                        <m:nor/>
                      </m:rPr>
                      <a:rPr lang="en-US" altLang="zh-CN" sz="3600" i="0" baseline="-25000" dirty="0" smtClean="0">
                        <a:latin typeface="Times New Roman" panose="02020603050405020304" pitchFamily="18" charset="0"/>
                        <a:cs typeface="Times New Roman" panose="02020603050405020304" pitchFamily="18" charset="0"/>
                        <a:sym typeface="+mn-ea"/>
                      </a:rPr>
                      <m:t>L</m:t>
                    </m:r>
                    <m:r>
                      <m:rPr>
                        <m:nor/>
                      </m:rPr>
                      <a:rPr lang="en-US" altLang="zh-CN" sz="3600" i="0" baseline="-25000" dirty="0" smtClean="0">
                        <a:latin typeface="Times New Roman" panose="02020603050405020304" pitchFamily="18" charset="0"/>
                        <a:cs typeface="Times New Roman" panose="02020603050405020304" pitchFamily="18" charset="0"/>
                        <a:sym typeface="+mn-ea"/>
                      </a:rPr>
                      <m:t>−</m:t>
                    </m:r>
                    <m:r>
                      <m:rPr>
                        <m:nor/>
                      </m:rPr>
                      <a:rPr lang="en-US" altLang="zh-CN" sz="3600" i="0" baseline="-25000" dirty="0" smtClean="0">
                        <a:latin typeface="Times New Roman" panose="02020603050405020304" pitchFamily="18" charset="0"/>
                        <a:cs typeface="Times New Roman" panose="02020603050405020304" pitchFamily="18" charset="0"/>
                        <a:sym typeface="+mn-ea"/>
                      </a:rPr>
                      <m:t>1</m:t>
                    </m:r>
                    <m:r>
                      <m:rPr>
                        <m:nor/>
                      </m:rPr>
                      <a:rPr lang="en-US" altLang="zh-CN" sz="3600" i="0" baseline="-25000" dirty="0" smtClean="0">
                        <a:latin typeface="Times New Roman" panose="02020603050405020304" pitchFamily="18" charset="0"/>
                        <a:cs typeface="Times New Roman" panose="02020603050405020304" pitchFamily="18" charset="0"/>
                        <a:sym typeface="+mn-ea"/>
                      </a:rPr>
                      <m:t>)</m:t>
                    </m:r>
                  </m:oMath>
                </a14:m>
                <a:r>
                  <a:rPr lang="zh-CN" altLang="en-US" sz="3600" dirty="0">
                    <a:latin typeface="Times New Roman" panose="02020603050405020304" pitchFamily="18" charset="0"/>
                    <a:cs typeface="Times New Roman" panose="02020603050405020304" pitchFamily="18" charset="0"/>
                    <a:sym typeface="+mn-ea"/>
                  </a:rPr>
                  <a:t> 。</a:t>
                </a:r>
                <a:endParaRPr lang="en-US" altLang="zh-CN" sz="3600" baseline="-25000" dirty="0">
                  <a:latin typeface="Times New Roman" panose="02020603050405020304" pitchFamily="18" charset="0"/>
                  <a:cs typeface="Times New Roman" panose="02020603050405020304" pitchFamily="18" charset="0"/>
                  <a:sym typeface="+mn-ea"/>
                </a:endParaRPr>
              </a:p>
            </p:txBody>
          </p:sp>
        </mc:Choice>
        <mc:Fallback>
          <p:sp>
            <p:nvSpPr>
              <p:cNvPr id="6" name="textbox 2"/>
              <p:cNvSpPr>
                <a:spLocks noRot="1" noChangeAspect="1" noMove="1" noResize="1" noEditPoints="1" noAdjustHandles="1" noChangeArrowheads="1" noChangeShapeType="1" noTextEdit="1"/>
              </p:cNvSpPr>
              <p:nvPr/>
            </p:nvSpPr>
            <p:spPr>
              <a:xfrm>
                <a:off x="1295400" y="1866900"/>
                <a:ext cx="15588615" cy="8097520"/>
              </a:xfrm>
              <a:prstGeom prst="rect">
                <a:avLst/>
              </a:prstGeom>
              <a:blipFill rotWithShape="1">
                <a:blip r:embed="rId1"/>
                <a:stretch>
                  <a:fillRect/>
                </a:stretch>
              </a:blipFill>
              <a:ln w="0" cap="flat">
                <a:noFill/>
                <a:prstDash val="solid"/>
                <a:miter lim="0"/>
              </a:ln>
            </p:spPr>
            <p:txBody>
              <a:bodyPr/>
              <a:lstStyle/>
              <a:p>
                <a:r>
                  <a:rPr lang="zh-CN" altLang="en-US">
                    <a:noFill/>
                  </a:rPr>
                  <a:t> </a:t>
                </a:r>
              </a:p>
            </p:txBody>
          </p:sp>
        </mc:Fallback>
      </mc:AlternateContent>
      <p:sp>
        <p:nvSpPr>
          <p:cNvPr id="9" name="灯片编号占位符 8"/>
          <p:cNvSpPr>
            <a:spLocks noGrp="1"/>
          </p:cNvSpPr>
          <p:nvPr>
            <p:ph type="sldNum" sz="quarter" idx="12"/>
          </p:nvPr>
        </p:nvSpPr>
        <p:spPr/>
        <p:txBody>
          <a:bodyPr/>
          <a:lstStyle/>
          <a:p>
            <a:fld id="{B6F15528-21DE-4FAA-801E-634DDDAF4B2B}" type="slidenum">
              <a:rPr lang="en-US" smtClean="0"/>
            </a:fld>
            <a:endParaRPr lang="en-US"/>
          </a:p>
        </p:txBody>
      </p:sp>
      <p:grpSp>
        <p:nvGrpSpPr>
          <p:cNvPr id="5"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0"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1"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基于祖冲之算法的机密性和完整性算法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endParaRPr lang="zh-CN" altLang="en-US"/>
            </a:p>
          </p:txBody>
        </p:sp>
        <p:sp>
          <p:nvSpPr>
            <p:cNvPr id="29" name="TextBox 29"/>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sp>
        <p:nvSpPr>
          <p:cNvPr id="30" name="TextBox 30"/>
          <p:cNvSpPr txBox="1"/>
          <p:nvPr/>
        </p:nvSpPr>
        <p:spPr>
          <a:xfrm>
            <a:off x="7781241" y="2834725"/>
            <a:ext cx="2725514" cy="2190115"/>
          </a:xfrm>
          <a:prstGeom prst="rect">
            <a:avLst/>
          </a:prstGeom>
        </p:spPr>
        <p:txBody>
          <a:bodyPr lIns="0" tIns="0" rIns="0" bIns="0" rtlCol="0" anchor="t">
            <a:spAutoFit/>
          </a:bodyPr>
          <a:lstStyle/>
          <a:p>
            <a:pPr algn="ctr">
              <a:lnSpc>
                <a:spcPts val="17080"/>
              </a:lnSpc>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6.3</a:t>
            </a:r>
            <a:endPar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1" name="TextBox 31"/>
          <p:cNvSpPr txBox="1"/>
          <p:nvPr/>
        </p:nvSpPr>
        <p:spPr>
          <a:xfrm>
            <a:off x="3251835" y="5143500"/>
            <a:ext cx="11783695" cy="1435735"/>
          </a:xfrm>
          <a:prstGeom prst="rect">
            <a:avLst/>
          </a:prstGeom>
        </p:spPr>
        <p:txBody>
          <a:bodyPr wrap="square" lIns="0" tIns="0" rIns="0" bIns="0" rtlCol="0" anchor="t">
            <a:spAutoFit/>
          </a:bodyPr>
          <a:lstStyle/>
          <a:p>
            <a:pPr algn="ctr">
              <a:lnSpc>
                <a:spcPts val="11200"/>
              </a:lnSpc>
            </a:pPr>
            <a:r>
              <a:rPr lang="en-US" altLang="zh-CN"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ZUC</a:t>
            </a:r>
            <a:r>
              <a:rPr lang="zh-CN" altLang="en-US"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算法的安全性分析</a:t>
            </a:r>
            <a:endParaRPr lang="zh-CN" altLang="en-US"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40" name="TextBox 40"/>
              <p:cNvSpPr txBox="1"/>
              <p:nvPr/>
            </p:nvSpPr>
            <p:spPr>
              <a:xfrm>
                <a:off x="0" y="0"/>
                <a:ext cx="5501351" cy="288980"/>
              </a:xfrm>
              <a:prstGeom prst="rect">
                <a:avLst/>
              </a:prstGeom>
            </p:spPr>
            <p:txBody>
              <a:bodyPr lIns="50800" tIns="50800" rIns="50800" bIns="50800" rtlCol="0" anchor="ctr"/>
              <a:lstStyle/>
              <a:p>
                <a:pPr algn="ctr">
                  <a:lnSpc>
                    <a:spcPts val="2880"/>
                  </a:lnSpc>
                </a:p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43" name="TextBox 43"/>
              <p:cNvSpPr txBox="1"/>
              <p:nvPr/>
            </p:nvSpPr>
            <p:spPr>
              <a:xfrm>
                <a:off x="0" y="0"/>
                <a:ext cx="5501351" cy="327048"/>
              </a:xfrm>
              <a:prstGeom prst="rect">
                <a:avLst/>
              </a:prstGeom>
            </p:spPr>
            <p:txBody>
              <a:bodyPr lIns="50800" tIns="50800" rIns="50800" bIns="50800" rtlCol="0" anchor="ctr"/>
              <a:lstStyle/>
              <a:p>
                <a:pPr algn="ctr">
                  <a:lnSpc>
                    <a:spcPts val="2880"/>
                  </a:lnSpc>
                </a:pPr>
              </a:p>
            </p:txBody>
          </p:sp>
        </p:grpSp>
      </p:grpSp>
      <p:sp>
        <p:nvSpPr>
          <p:cNvPr id="33" name="灯片编号占位符 32"/>
          <p:cNvSpPr>
            <a:spLocks noGrp="1"/>
          </p:cNvSpPr>
          <p:nvPr>
            <p:ph type="sldNum" sz="quarter" idx="12"/>
          </p:nvPr>
        </p:nvSpPr>
        <p:spPr>
          <a:xfrm>
            <a:off x="15374104" y="9522714"/>
            <a:ext cx="2133600" cy="441325"/>
          </a:xfrm>
        </p:spPr>
        <p:txBody>
          <a:bodyPr/>
          <a:lstStyle/>
          <a:p>
            <a:r>
              <a:rPr lang="en-US" dirty="0"/>
              <a:t>29</a:t>
            </a:r>
            <a:endParaRPr lang="en-US" dirty="0"/>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36" name="图片 35"/>
            <p:cNvPicPr>
              <a:picLocks noChangeAspect="1"/>
            </p:cNvPicPr>
            <p:nvPr/>
          </p:nvPicPr>
          <p:blipFill>
            <a:blip r:embed="rId1"/>
            <a:stretch>
              <a:fillRect/>
            </a:stretch>
          </p:blipFill>
          <p:spPr>
            <a:xfrm>
              <a:off x="13944600" y="877286"/>
              <a:ext cx="2771429" cy="47619"/>
            </a:xfrm>
            <a:prstGeom prst="rect">
              <a:avLst/>
            </a:prstGeom>
          </p:spPr>
        </p:pic>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 name="文本框 10"/>
              <p:cNvSpPr txBox="1"/>
              <p:nvPr/>
            </p:nvSpPr>
            <p:spPr>
              <a:xfrm>
                <a:off x="997585" y="2019300"/>
                <a:ext cx="16147415" cy="5077460"/>
              </a:xfrm>
              <a:prstGeom prst="rect">
                <a:avLst/>
              </a:prstGeom>
              <a:noFill/>
            </p:spPr>
            <p:txBody>
              <a:bodyPr wrap="square" rtlCol="0">
                <a:spAutoFit/>
              </a:bodyPr>
              <a:lstStyle/>
              <a:p>
                <a:pPr indent="457200" algn="just" fontAlgn="auto"/>
                <a:r>
                  <a:rPr lang="en-US" altLang="zh-CN" sz="3600" b="1" dirty="0">
                    <a:latin typeface="Times New Roman" panose="02020603050405020304" pitchFamily="18" charset="0"/>
                    <a:ea typeface="+mj-ea"/>
                    <a:cs typeface="Times New Roman" panose="02020603050405020304" pitchFamily="18" charset="0"/>
                  </a:rPr>
                  <a:t>ZUC</a:t>
                </a:r>
                <a:r>
                  <a:rPr lang="zh-CN" altLang="en-US" sz="3600" b="1" dirty="0">
                    <a:latin typeface="Times New Roman" panose="02020603050405020304" pitchFamily="18" charset="0"/>
                    <a:ea typeface="+mj-ea"/>
                    <a:cs typeface="Times New Roman" panose="02020603050405020304" pitchFamily="18" charset="0"/>
                  </a:rPr>
                  <a:t>算法的安全</a:t>
                </a:r>
                <a:endParaRPr lang="zh-CN" altLang="en-US" sz="3600" b="1" dirty="0">
                  <a:latin typeface="Times New Roman" panose="02020603050405020304" pitchFamily="18" charset="0"/>
                  <a:ea typeface="+mj-ea"/>
                  <a:cs typeface="Times New Roman" panose="02020603050405020304" pitchFamily="18" charset="0"/>
                </a:endParaRPr>
              </a:p>
              <a:p>
                <a:pPr indent="457200" algn="just" fontAlgn="auto"/>
                <a:r>
                  <a:rPr lang="en-US" altLang="zh-CN" sz="3600" dirty="0">
                    <a:latin typeface="Times New Roman" panose="02020603050405020304" pitchFamily="18" charset="0"/>
                    <a:ea typeface="+mj-ea"/>
                    <a:cs typeface="Times New Roman" panose="02020603050405020304" pitchFamily="18" charset="0"/>
                  </a:rPr>
                  <a:t>ZUC</a:t>
                </a:r>
                <a:r>
                  <a:rPr lang="zh-CN" altLang="en-US" sz="3600" dirty="0">
                    <a:latin typeface="Times New Roman" panose="02020603050405020304" pitchFamily="18" charset="0"/>
                    <a:ea typeface="+mj-ea"/>
                    <a:cs typeface="Times New Roman" panose="02020603050405020304" pitchFamily="18" charset="0"/>
                  </a:rPr>
                  <a:t>算法中各个部分的安全性如下。</a:t>
                </a:r>
                <a:endParaRPr lang="zh-CN" altLang="en-US" sz="3600" dirty="0">
                  <a:latin typeface="Times New Roman" panose="02020603050405020304" pitchFamily="18" charset="0"/>
                  <a:ea typeface="+mj-ea"/>
                  <a:cs typeface="Times New Roman" panose="02020603050405020304" pitchFamily="18" charset="0"/>
                </a:endParaRPr>
              </a:p>
              <a:p>
                <a:pPr indent="457200" algn="just" fontAlgn="auto"/>
                <a:r>
                  <a:rPr lang="en-US" altLang="zh-CN" sz="3600" dirty="0">
                    <a:latin typeface="Times New Roman" panose="02020603050405020304" pitchFamily="18" charset="0"/>
                    <a:ea typeface="+mj-ea"/>
                    <a:cs typeface="Times New Roman" panose="02020603050405020304" pitchFamily="18" charset="0"/>
                  </a:rPr>
                  <a:t>（1） LFSR：</a:t>
                </a:r>
                <a14:m>
                  <m:oMath xmlns:m="http://schemas.openxmlformats.org/officeDocument/2006/math">
                    <m:r>
                      <m:rPr>
                        <m:nor/>
                      </m:rPr>
                      <a:rPr lang="en-US" altLang="zh-CN" sz="3600" i="0" dirty="0">
                        <a:latin typeface="Times New Roman" panose="02020603050405020304" pitchFamily="18" charset="0"/>
                        <a:cs typeface="Times New Roman" panose="02020603050405020304" pitchFamily="18" charset="0"/>
                      </a:rPr>
                      <m:t>GF</m:t>
                    </m:r>
                    <m:r>
                      <m:rPr>
                        <m:nor/>
                      </m:rPr>
                      <a:rPr lang="en-US" altLang="zh-CN" sz="3600" i="0" dirty="0">
                        <a:latin typeface="Times New Roman" panose="02020603050405020304" pitchFamily="18" charset="0"/>
                        <a:cs typeface="Times New Roman" panose="02020603050405020304" pitchFamily="18" charset="0"/>
                      </a:rPr>
                      <m:t>(</m:t>
                    </m:r>
                    <m:r>
                      <m:rPr>
                        <m:nor/>
                      </m:rPr>
                      <a:rPr lang="en-US" altLang="zh-CN" sz="3600" i="0" dirty="0">
                        <a:latin typeface="Times New Roman" panose="02020603050405020304" pitchFamily="18" charset="0"/>
                        <a:cs typeface="Times New Roman" panose="02020603050405020304" pitchFamily="18" charset="0"/>
                      </a:rPr>
                      <m:t>2</m:t>
                    </m:r>
                    <m:r>
                      <m:rPr>
                        <m:nor/>
                      </m:rPr>
                      <a:rPr lang="en-US" altLang="zh-CN" sz="3600" i="0" baseline="30000" dirty="0">
                        <a:latin typeface="Times New Roman" panose="02020603050405020304" pitchFamily="18" charset="0"/>
                        <a:cs typeface="Times New Roman" panose="02020603050405020304" pitchFamily="18" charset="0"/>
                      </a:rPr>
                      <m:t>32</m:t>
                    </m:r>
                    <m:r>
                      <m:rPr>
                        <m:nor/>
                      </m:rPr>
                      <a:rPr lang="en-US" altLang="zh-CN" sz="3600" i="0" dirty="0">
                        <a:latin typeface="Times New Roman" panose="02020603050405020304" pitchFamily="18" charset="0"/>
                        <a:cs typeface="Times New Roman" panose="02020603050405020304" pitchFamily="18" charset="0"/>
                      </a:rPr>
                      <m:t>−</m:t>
                    </m:r>
                    <m:r>
                      <m:rPr>
                        <m:nor/>
                      </m:rPr>
                      <a:rPr lang="en-US" altLang="zh-CN" sz="3600" i="0" dirty="0">
                        <a:latin typeface="Times New Roman" panose="02020603050405020304" pitchFamily="18" charset="0"/>
                        <a:cs typeface="Times New Roman" panose="02020603050405020304" pitchFamily="18" charset="0"/>
                      </a:rPr>
                      <m:t>1</m:t>
                    </m:r>
                    <m:r>
                      <m:rPr>
                        <m:nor/>
                      </m:rPr>
                      <a:rPr lang="en-US" altLang="zh-CN" sz="3600" i="0" dirty="0">
                        <a:latin typeface="Times New Roman" panose="02020603050405020304" pitchFamily="18" charset="0"/>
                        <a:cs typeface="Times New Roman" panose="02020603050405020304" pitchFamily="18" charset="0"/>
                      </a:rPr>
                      <m:t>)</m:t>
                    </m:r>
                  </m:oMath>
                </a14:m>
                <a:r>
                  <a:rPr lang="zh-CN" altLang="en-US" sz="3600" dirty="0">
                    <a:latin typeface="Times New Roman" panose="02020603050405020304" pitchFamily="18" charset="0"/>
                    <a:ea typeface="+mj-ea"/>
                    <a:cs typeface="Times New Roman" panose="02020603050405020304" pitchFamily="18" charset="0"/>
                  </a:rPr>
                  <a:t>上的16次本原多项式，使其输出的</a:t>
                </a:r>
                <a:r>
                  <a:rPr lang="en-US" altLang="zh-CN" sz="3600" dirty="0">
                    <a:latin typeface="Times New Roman" panose="02020603050405020304" pitchFamily="18" charset="0"/>
                    <a:ea typeface="+mj-ea"/>
                    <a:cs typeface="Times New Roman" panose="02020603050405020304" pitchFamily="18" charset="0"/>
                  </a:rPr>
                  <a:t>m</a:t>
                </a:r>
                <a:r>
                  <a:rPr lang="zh-CN" altLang="en-US" sz="3600" dirty="0">
                    <a:latin typeface="Times New Roman" panose="02020603050405020304" pitchFamily="18" charset="0"/>
                    <a:ea typeface="+mj-ea"/>
                    <a:cs typeface="Times New Roman" panose="02020603050405020304" pitchFamily="18" charset="0"/>
                  </a:rPr>
                  <a:t>序列随机性好，周期足够大。</a:t>
                </a:r>
                <a:endParaRPr lang="zh-CN" altLang="en-US" sz="3600" dirty="0">
                  <a:latin typeface="Times New Roman" panose="02020603050405020304" pitchFamily="18" charset="0"/>
                  <a:ea typeface="+mj-ea"/>
                  <a:cs typeface="Times New Roman" panose="02020603050405020304" pitchFamily="18" charset="0"/>
                </a:endParaRPr>
              </a:p>
              <a:p>
                <a:pPr indent="457200" algn="just" fontAlgn="auto"/>
                <a:r>
                  <a:rPr lang="en-US" altLang="zh-CN" sz="3600" dirty="0">
                    <a:latin typeface="Times New Roman" panose="02020603050405020304" pitchFamily="18" charset="0"/>
                    <a:ea typeface="+mj-ea"/>
                    <a:cs typeface="Times New Roman" panose="02020603050405020304" pitchFamily="18" charset="0"/>
                  </a:rPr>
                  <a:t>（2）BR：</a:t>
                </a:r>
                <a:r>
                  <a:rPr lang="zh-CN" altLang="en-US" sz="3600" dirty="0">
                    <a:latin typeface="Times New Roman" panose="02020603050405020304" pitchFamily="18" charset="0"/>
                    <a:ea typeface="+mj-ea"/>
                    <a:cs typeface="Times New Roman" panose="02020603050405020304" pitchFamily="18" charset="0"/>
                  </a:rPr>
                  <a:t>选择数据使得重组的数据具有良好的随机性，并且出现重复的概率足够小。</a:t>
                </a:r>
                <a:endParaRPr lang="zh-CN" altLang="en-US" sz="3600" dirty="0">
                  <a:latin typeface="Times New Roman" panose="02020603050405020304" pitchFamily="18" charset="0"/>
                  <a:ea typeface="+mj-ea"/>
                  <a:cs typeface="Times New Roman" panose="02020603050405020304" pitchFamily="18" charset="0"/>
                </a:endParaRPr>
              </a:p>
              <a:p>
                <a:pPr indent="457200" algn="just" fontAlgn="auto"/>
                <a:r>
                  <a:rPr lang="zh-CN" altLang="en-US" sz="3600" dirty="0">
                    <a:latin typeface="Times New Roman" panose="02020603050405020304" pitchFamily="18" charset="0"/>
                    <a:ea typeface="+mj-ea"/>
                    <a:cs typeface="Times New Roman" panose="02020603050405020304" pitchFamily="18" charset="0"/>
                  </a:rPr>
                  <a:t>（3）非线性函数</a:t>
                </a:r>
                <a:r>
                  <a:rPr lang="en-US" altLang="zh-CN" sz="3600" dirty="0">
                    <a:latin typeface="Times New Roman" panose="02020603050405020304" pitchFamily="18" charset="0"/>
                    <a:ea typeface="+mj-ea"/>
                    <a:cs typeface="Times New Roman" panose="02020603050405020304" pitchFamily="18" charset="0"/>
                  </a:rPr>
                  <a:t>F：</a:t>
                </a:r>
                <a:r>
                  <a:rPr lang="zh-CN" altLang="en-US" sz="3600" dirty="0">
                    <a:latin typeface="Times New Roman" panose="02020603050405020304" pitchFamily="18" charset="0"/>
                    <a:ea typeface="+mj-ea"/>
                    <a:cs typeface="Times New Roman" panose="02020603050405020304" pitchFamily="18" charset="0"/>
                  </a:rPr>
                  <a:t>采用两个存储部件</a:t>
                </a:r>
                <a:r>
                  <a:rPr lang="en-US" altLang="zh-CN" sz="3600" dirty="0">
                    <a:latin typeface="Times New Roman" panose="02020603050405020304" pitchFamily="18" charset="0"/>
                    <a:ea typeface="+mj-ea"/>
                    <a:cs typeface="Times New Roman" panose="02020603050405020304" pitchFamily="18" charset="0"/>
                  </a:rPr>
                  <a:t>R、</a:t>
                </a:r>
                <a:r>
                  <a:rPr lang="zh-CN" altLang="en-US" sz="3600" dirty="0">
                    <a:latin typeface="Times New Roman" panose="02020603050405020304" pitchFamily="18" charset="0"/>
                    <a:ea typeface="+mj-ea"/>
                    <a:cs typeface="Times New Roman" panose="02020603050405020304" pitchFamily="18" charset="0"/>
                  </a:rPr>
                  <a:t>两个线性部件</a:t>
                </a:r>
                <a:r>
                  <a:rPr lang="en-US" altLang="zh-CN" sz="3600" dirty="0">
                    <a:latin typeface="Times New Roman" panose="02020603050405020304" pitchFamily="18" charset="0"/>
                    <a:ea typeface="+mj-ea"/>
                    <a:cs typeface="Times New Roman" panose="02020603050405020304" pitchFamily="18" charset="0"/>
                  </a:rPr>
                  <a:t>L</a:t>
                </a:r>
                <a:r>
                  <a:rPr lang="zh-CN" altLang="en-US" sz="3600" dirty="0">
                    <a:latin typeface="Times New Roman" panose="02020603050405020304" pitchFamily="18" charset="0"/>
                    <a:ea typeface="+mj-ea"/>
                    <a:cs typeface="Times New Roman" panose="02020603050405020304" pitchFamily="18" charset="0"/>
                  </a:rPr>
                  <a:t>和两个非线性</a:t>
                </a:r>
                <a:r>
                  <a:rPr lang="en-US" altLang="zh-CN" sz="3600" dirty="0">
                    <a:latin typeface="Times New Roman" panose="02020603050405020304" pitchFamily="18" charset="0"/>
                    <a:ea typeface="+mj-ea"/>
                    <a:cs typeface="Times New Roman" panose="02020603050405020304" pitchFamily="18" charset="0"/>
                  </a:rPr>
                  <a:t>S</a:t>
                </a:r>
                <a:r>
                  <a:rPr lang="zh-CN" altLang="en-US" sz="3600" dirty="0">
                    <a:latin typeface="Times New Roman" panose="02020603050405020304" pitchFamily="18" charset="0"/>
                    <a:ea typeface="+mj-ea"/>
                    <a:cs typeface="Times New Roman" panose="02020603050405020304" pitchFamily="18" charset="0"/>
                  </a:rPr>
                  <a:t>盒，使得其输出具有良好的非线性、混淆特性和扩散特性。</a:t>
                </a:r>
                <a:endParaRPr lang="zh-CN" altLang="en-US" sz="3600" dirty="0">
                  <a:latin typeface="Times New Roman" panose="02020603050405020304" pitchFamily="18" charset="0"/>
                  <a:ea typeface="+mj-ea"/>
                  <a:cs typeface="Times New Roman" panose="02020603050405020304" pitchFamily="18" charset="0"/>
                </a:endParaRPr>
              </a:p>
              <a:p>
                <a:pPr indent="457200" algn="just" fontAlgn="auto"/>
                <a:endParaRPr lang="zh-CN" sz="3600" dirty="0">
                  <a:latin typeface="Times New Roman" panose="02020603050405020304" pitchFamily="18" charset="0"/>
                  <a:ea typeface="+mj-ea"/>
                  <a:cs typeface="Times New Roman" panose="02020603050405020304" pitchFamily="18" charset="0"/>
                </a:endParaRPr>
              </a:p>
            </p:txBody>
          </p:sp>
        </mc:Choice>
        <mc:Fallback>
          <p:sp>
            <p:nvSpPr>
              <p:cNvPr id="11" name="文本框 10"/>
              <p:cNvSpPr txBox="1">
                <a:spLocks noRot="1" noChangeAspect="1" noMove="1" noResize="1" noEditPoints="1" noAdjustHandles="1" noChangeArrowheads="1" noChangeShapeType="1" noTextEdit="1"/>
              </p:cNvSpPr>
              <p:nvPr/>
            </p:nvSpPr>
            <p:spPr>
              <a:xfrm>
                <a:off x="997585" y="2019300"/>
                <a:ext cx="16147415" cy="5077460"/>
              </a:xfrm>
              <a:prstGeom prst="rect">
                <a:avLst/>
              </a:prstGeom>
              <a:blipFill rotWithShape="1">
                <a:blip r:embed="rId1"/>
                <a:stretch>
                  <a:fillRect/>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p:txBody>
          <a:bodyPr/>
          <a:lstStyle/>
          <a:p>
            <a:fld id="{B6F15528-21DE-4FAA-801E-634DDDAF4B2B}" type="slidenum">
              <a:rPr lang="en-US" smtClean="0"/>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ZUC算法的安全性分析</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0"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 name="文本框 10"/>
              <p:cNvSpPr txBox="1"/>
              <p:nvPr/>
            </p:nvSpPr>
            <p:spPr>
              <a:xfrm>
                <a:off x="1066800" y="2019300"/>
                <a:ext cx="16147415" cy="7737503"/>
              </a:xfrm>
              <a:prstGeom prst="rect">
                <a:avLst/>
              </a:prstGeom>
              <a:noFill/>
            </p:spPr>
            <p:txBody>
              <a:bodyPr wrap="square" rtlCol="0">
                <a:spAutoFit/>
              </a:bodyPr>
              <a:lstStyle/>
              <a:p>
                <a:pPr indent="457200" algn="just" fontAlgn="auto">
                  <a:buClrTx/>
                  <a:buSzTx/>
                  <a:buNone/>
                </a:pPr>
                <a:r>
                  <a:rPr lang="en-US" altLang="zh-CN" sz="3600" b="1" dirty="0" err="1">
                    <a:latin typeface="宋体" panose="02010600030101010101" pitchFamily="2" charset="-122"/>
                    <a:ea typeface="宋体" panose="02010600030101010101" pitchFamily="2" charset="-122"/>
                    <a:cs typeface="Times New Roman" panose="02020603050405020304" pitchFamily="18" charset="0"/>
                  </a:rPr>
                  <a:t>安全性分析</a:t>
                </a:r>
                <a:endParaRPr lang="en-US" altLang="zh-CN" sz="3600" b="1" dirty="0">
                  <a:latin typeface="宋体" panose="02010600030101010101" pitchFamily="2" charset="-122"/>
                  <a:ea typeface="宋体" panose="02010600030101010101" pitchFamily="2" charset="-122"/>
                  <a:cs typeface="Times New Roman" panose="02020603050405020304" pitchFamily="18" charset="0"/>
                </a:endParaRPr>
              </a:p>
              <a:p>
                <a:pPr indent="457200" algn="just" fontAlgn="auto">
                  <a:buClrTx/>
                  <a:buSzTx/>
                  <a:buNone/>
                </a:pP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1．弱密钥分析</a:t>
                </a:r>
                <a:endParaRPr lang="en-US" altLang="zh-CN" sz="3600" dirty="0">
                  <a:latin typeface="Times New Roman" panose="02020603050405020304" pitchFamily="18" charset="0"/>
                  <a:ea typeface="宋体" panose="02010600030101010101" pitchFamily="2" charset="-122"/>
                  <a:cs typeface="Times New Roman" panose="02020603050405020304" pitchFamily="18" charset="0"/>
                </a:endParaRPr>
              </a:p>
              <a:p>
                <a:pPr indent="457200" algn="just" fontAlgn="auto">
                  <a:lnSpc>
                    <a:spcPct val="120000"/>
                  </a:lnSpc>
                  <a:buClrTx/>
                  <a:buSzTx/>
                  <a:buNone/>
                </a:pP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弱密钥分析是一种常见的针对序列密码初始化过程的安全性分析方法。对基于LFSR设计的序列密码算法而言，有两种常见的弱密钥：碰撞型弱密钥和弱状态型弱密钥。前者主要是指两个不同的密钥初始变量对映射到同一个输出密钥流；后者主要是指LFSR在密钥装载并经过初始化后的状态为全0态。</a:t>
                </a:r>
                <a:endParaRPr lang="en-US" altLang="zh-CN" sz="3600" dirty="0">
                  <a:latin typeface="Times New Roman" panose="02020603050405020304" pitchFamily="18" charset="0"/>
                  <a:ea typeface="宋体" panose="02010600030101010101" pitchFamily="2" charset="-122"/>
                  <a:cs typeface="Times New Roman" panose="02020603050405020304" pitchFamily="18" charset="0"/>
                </a:endParaRPr>
              </a:p>
              <a:p>
                <a:pPr indent="457200" algn="just" fontAlgn="auto">
                  <a:lnSpc>
                    <a:spcPct val="120000"/>
                  </a:lnSpc>
                  <a:buClrTx/>
                  <a:buSzTx/>
                  <a:buNone/>
                </a:pP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对ZUC算法而言，在其早期版本中，非线性函数F的输出Ｗ通过异或</a:t>
                </a:r>
                <a14:m>
                  <m:oMath xmlns:m="http://schemas.openxmlformats.org/officeDocument/2006/math">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字由点字典黑 2"/>
                      </a:rPr>
                      <m:t>⊕</m:t>
                    </m:r>
                  </m:oMath>
                </a14:m>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参与LFSR的反馈更新，由于异或</a:t>
                </a:r>
                <a14:m>
                  <m:oMath xmlns:m="http://schemas.openxmlformats.org/officeDocument/2006/math">
                    <m:r>
                      <m:rPr>
                        <m:nor/>
                      </m:rPr>
                      <a:rPr lang="en-US" altLang="zh-CN" sz="3600" i="0" dirty="0">
                        <a:latin typeface="Times New Roman" panose="02020603050405020304" pitchFamily="18" charset="0"/>
                        <a:ea typeface="宋体" panose="02010600030101010101" pitchFamily="2" charset="-122"/>
                        <a:cs typeface="Times New Roman" panose="02020603050405020304" pitchFamily="18" charset="0"/>
                        <a:sym typeface="字由点字典黑 2"/>
                      </a:rPr>
                      <m:t>⊕</m:t>
                    </m:r>
                  </m:oMath>
                </a14:m>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在素域</a:t>
                </a:r>
                <a14:m>
                  <m:oMath xmlns:m="http://schemas.openxmlformats.org/officeDocument/2006/math">
                    <m:r>
                      <m:rPr>
                        <m:nor/>
                      </m:rPr>
                      <a:rPr lang="en-US" altLang="zh-CN" sz="3600" i="0" dirty="0" smtClean="0">
                        <a:latin typeface="Times New Roman" panose="02020603050405020304" pitchFamily="18" charset="0"/>
                        <a:ea typeface="宋体" panose="02010600030101010101" pitchFamily="2" charset="-122"/>
                        <a:cs typeface="Times New Roman" panose="02020603050405020304" pitchFamily="18" charset="0"/>
                      </a:rPr>
                      <m:t>GF</m:t>
                    </m:r>
                    <m:r>
                      <m:rPr>
                        <m:nor/>
                      </m:rPr>
                      <a:rPr lang="en-US" altLang="zh-CN" sz="3600" b="0" i="0" dirty="0" smtClean="0">
                        <a:latin typeface="Times New Roman" panose="02020603050405020304" pitchFamily="18" charset="0"/>
                        <a:ea typeface="宋体" panose="02010600030101010101" pitchFamily="2" charset="-122"/>
                        <a:cs typeface="Times New Roman" panose="02020603050405020304" pitchFamily="18" charset="0"/>
                      </a:rPr>
                      <m:t>(</m:t>
                    </m:r>
                    <m:r>
                      <m:rPr>
                        <m:nor/>
                      </m:rPr>
                      <a:rPr lang="en-US" altLang="zh-CN" sz="3600" i="0" dirty="0" smtClean="0">
                        <a:latin typeface="Times New Roman" panose="02020603050405020304" pitchFamily="18" charset="0"/>
                        <a:ea typeface="宋体" panose="02010600030101010101" pitchFamily="2" charset="-122"/>
                        <a:cs typeface="Times New Roman" panose="02020603050405020304" pitchFamily="18" charset="0"/>
                      </a:rPr>
                      <m:t>P</m:t>
                    </m:r>
                    <m:r>
                      <m:rPr>
                        <m:nor/>
                      </m:rPr>
                      <a:rPr lang="en-US" altLang="zh-CN" sz="3600" b="0" i="0" dirty="0" smtClean="0">
                        <a:latin typeface="Times New Roman" panose="02020603050405020304" pitchFamily="18" charset="0"/>
                        <a:ea typeface="宋体" panose="02010600030101010101" pitchFamily="2" charset="-122"/>
                        <a:cs typeface="Times New Roman" panose="02020603050405020304" pitchFamily="18" charset="0"/>
                      </a:rPr>
                      <m:t>)</m:t>
                    </m:r>
                  </m:oMath>
                </a14:m>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上是非线性的，其破坏了初始化状态更新函数的单向性，从而存在大量的碰撞型弱密钥。ZUC算法最新版本已对此进行了修正，能够确保初始化状态更新是一个置换，从而彻底消除了碰撞型弱密钥。</a:t>
                </a:r>
                <a:endParaRPr lang="en-US" altLang="zh-CN" sz="3600" dirty="0">
                  <a:latin typeface="Times New Roman" panose="02020603050405020304" pitchFamily="18" charset="0"/>
                  <a:ea typeface="宋体" panose="02010600030101010101" pitchFamily="2" charset="-122"/>
                  <a:cs typeface="Times New Roman" panose="02020603050405020304" pitchFamily="18" charset="0"/>
                </a:endParaRPr>
              </a:p>
              <a:p>
                <a:pPr indent="457200" algn="just" fontAlgn="auto"/>
                <a:endParaRPr lang="en-US" altLang="zh-CN" sz="36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11" name="文本框 10"/>
              <p:cNvSpPr txBox="1">
                <a:spLocks noRot="1" noChangeAspect="1" noMove="1" noResize="1" noEditPoints="1" noAdjustHandles="1" noChangeArrowheads="1" noChangeShapeType="1" noTextEdit="1"/>
              </p:cNvSpPr>
              <p:nvPr/>
            </p:nvSpPr>
            <p:spPr>
              <a:xfrm>
                <a:off x="1066800" y="2019300"/>
                <a:ext cx="16147415" cy="7737503"/>
              </a:xfrm>
              <a:prstGeom prst="rect">
                <a:avLst/>
              </a:prstGeom>
              <a:blipFill rotWithShape="1">
                <a:blip r:embed="rId1"/>
                <a:stretch>
                  <a:fillRect/>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p:txBody>
          <a:bodyPr/>
          <a:lstStyle/>
          <a:p>
            <a:fld id="{B6F15528-21DE-4FAA-801E-634DDDAF4B2B}" type="slidenum">
              <a:rPr lang="en-US" smtClean="0"/>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ZUC算法的安全性分析</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0"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997585" y="2019300"/>
            <a:ext cx="16147415" cy="4571508"/>
          </a:xfrm>
          <a:prstGeom prst="rect">
            <a:avLst/>
          </a:prstGeom>
          <a:noFill/>
        </p:spPr>
        <p:txBody>
          <a:bodyPr wrap="square" rtlCol="0">
            <a:spAutoFit/>
          </a:bodyPr>
          <a:lstStyle/>
          <a:p>
            <a:pPr indent="457200" algn="just" fontAlgn="auto"/>
            <a:r>
              <a:rPr lang="zh-CN" altLang="en-US" sz="3600" dirty="0">
                <a:latin typeface="Times New Roman" panose="02020603050405020304" pitchFamily="18" charset="0"/>
                <a:ea typeface="+mj-ea"/>
                <a:cs typeface="Times New Roman" panose="02020603050405020304" pitchFamily="18" charset="0"/>
              </a:rPr>
              <a:t>2．线性区分分析</a:t>
            </a:r>
            <a:endParaRPr lang="zh-CN" altLang="en-US" sz="3600" dirty="0">
              <a:latin typeface="Times New Roman" panose="02020603050405020304" pitchFamily="18" charset="0"/>
              <a:ea typeface="+mj-ea"/>
              <a:cs typeface="Times New Roman" panose="02020603050405020304" pitchFamily="18" charset="0"/>
            </a:endParaRPr>
          </a:p>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线性区分分析也是一种常见的针对</a:t>
            </a:r>
            <a:r>
              <a:rPr lang="en-US" altLang="zh-CN" sz="3600" dirty="0">
                <a:latin typeface="Times New Roman" panose="02020603050405020304" pitchFamily="18" charset="0"/>
                <a:ea typeface="+mj-ea"/>
                <a:cs typeface="Times New Roman" panose="02020603050405020304" pitchFamily="18" charset="0"/>
              </a:rPr>
              <a:t>LFSR</a:t>
            </a:r>
            <a:r>
              <a:rPr lang="zh-CN" altLang="en-US" sz="3600" dirty="0">
                <a:latin typeface="Times New Roman" panose="02020603050405020304" pitchFamily="18" charset="0"/>
                <a:ea typeface="+mj-ea"/>
                <a:cs typeface="Times New Roman" panose="02020603050405020304" pitchFamily="18" charset="0"/>
              </a:rPr>
              <a:t>设计的序列密码的分析方法，其目的是将目标算法生成的伪随机密钥流同真随机序列区分开来。线性区分分析的基本思想：寻找输出密钥流与</a:t>
            </a:r>
            <a:r>
              <a:rPr lang="en-US" altLang="zh-CN" sz="3600" dirty="0">
                <a:latin typeface="Times New Roman" panose="02020603050405020304" pitchFamily="18" charset="0"/>
                <a:ea typeface="+mj-ea"/>
                <a:cs typeface="Times New Roman" panose="02020603050405020304" pitchFamily="18" charset="0"/>
              </a:rPr>
              <a:t>LFSR</a:t>
            </a:r>
            <a:r>
              <a:rPr lang="zh-CN" altLang="en-US" sz="3600" dirty="0">
                <a:latin typeface="Times New Roman" panose="02020603050405020304" pitchFamily="18" charset="0"/>
                <a:ea typeface="+mj-ea"/>
                <a:cs typeface="Times New Roman" panose="02020603050405020304" pitchFamily="18" charset="0"/>
              </a:rPr>
              <a:t>序列源之间的相关性，并利用序列源的线性制约关系获得输出密钥流在不同时刻之间的非平衡线性关系，最后根据这种不平衡性构造区分器将输出密钥流同真随机序列区分开来。对于</a:t>
            </a:r>
            <a:r>
              <a:rPr lang="en-US" altLang="zh-CN" sz="3600" dirty="0">
                <a:latin typeface="Times New Roman" panose="02020603050405020304" pitchFamily="18" charset="0"/>
                <a:ea typeface="+mj-ea"/>
                <a:cs typeface="Times New Roman" panose="02020603050405020304" pitchFamily="18" charset="0"/>
              </a:rPr>
              <a:t>ZUC</a:t>
            </a:r>
            <a:r>
              <a:rPr lang="zh-CN" altLang="en-US" sz="3600" dirty="0">
                <a:latin typeface="Times New Roman" panose="02020603050405020304" pitchFamily="18" charset="0"/>
                <a:ea typeface="+mj-ea"/>
                <a:cs typeface="Times New Roman" panose="02020603050405020304" pitchFamily="18" charset="0"/>
              </a:rPr>
              <a:t>算法，可以首先构造</a:t>
            </a:r>
            <a:r>
              <a:rPr lang="en-US" altLang="zh-CN" sz="3600" dirty="0">
                <a:latin typeface="Times New Roman" panose="02020603050405020304" pitchFamily="18" charset="0"/>
                <a:ea typeface="+mj-ea"/>
                <a:cs typeface="Times New Roman" panose="02020603050405020304" pitchFamily="18" charset="0"/>
              </a:rPr>
              <a:t>LFSR</a:t>
            </a:r>
            <a:r>
              <a:rPr lang="zh-CN" altLang="en-US" sz="3600" dirty="0">
                <a:latin typeface="Times New Roman" panose="02020603050405020304" pitchFamily="18" charset="0"/>
                <a:ea typeface="+mj-ea"/>
                <a:cs typeface="Times New Roman" panose="02020603050405020304" pitchFamily="18" charset="0"/>
              </a:rPr>
              <a:t>的输出序列与算法输出密钥流之间的非平衡线性关系。</a:t>
            </a:r>
            <a:endParaRPr lang="zh-CN" altLang="en-US" sz="3600" dirty="0">
              <a:latin typeface="Times New Roman" panose="02020603050405020304" pitchFamily="18" charset="0"/>
              <a:ea typeface="+mj-ea"/>
              <a:cs typeface="Times New Roman" panose="02020603050405020304" pitchFamily="18" charset="0"/>
            </a:endParaRPr>
          </a:p>
        </p:txBody>
      </p:sp>
      <p:sp>
        <p:nvSpPr>
          <p:cNvPr id="6" name="灯片编号占位符 5"/>
          <p:cNvSpPr>
            <a:spLocks noGrp="1"/>
          </p:cNvSpPr>
          <p:nvPr>
            <p:ph type="sldNum" sz="quarter" idx="12"/>
          </p:nvPr>
        </p:nvSpPr>
        <p:spPr/>
        <p:txBody>
          <a:bodyPr/>
          <a:lstStyle/>
          <a:p>
            <a:fld id="{B6F15528-21DE-4FAA-801E-634DDDAF4B2B}" type="slidenum">
              <a:rPr lang="en-US" smtClean="0"/>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ZUC算法的安全性分析</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0"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997585" y="2019300"/>
            <a:ext cx="16147415" cy="5236305"/>
          </a:xfrm>
          <a:prstGeom prst="rect">
            <a:avLst/>
          </a:prstGeom>
          <a:noFill/>
        </p:spPr>
        <p:txBody>
          <a:bodyPr wrap="square" rtlCol="0">
            <a:spAutoFit/>
          </a:bodyPr>
          <a:lstStyle/>
          <a:p>
            <a:pPr indent="457200" algn="just" fontAlgn="auto"/>
            <a:r>
              <a:rPr lang="zh-CN" altLang="en-US" sz="3600" dirty="0">
                <a:latin typeface="Times New Roman" panose="02020603050405020304" pitchFamily="18" charset="0"/>
                <a:ea typeface="+mj-ea"/>
                <a:cs typeface="Times New Roman" panose="02020603050405020304" pitchFamily="18" charset="0"/>
              </a:rPr>
              <a:t>3．代数分析</a:t>
            </a:r>
            <a:endParaRPr lang="zh-CN" altLang="en-US" sz="3600" dirty="0">
              <a:latin typeface="Times New Roman" panose="02020603050405020304" pitchFamily="18" charset="0"/>
              <a:ea typeface="+mj-ea"/>
              <a:cs typeface="Times New Roman" panose="02020603050405020304" pitchFamily="18" charset="0"/>
            </a:endParaRPr>
          </a:p>
          <a:p>
            <a:pPr indent="457200" algn="just">
              <a:lnSpc>
                <a:spcPct val="120000"/>
              </a:lnSpc>
            </a:pPr>
            <a:r>
              <a:rPr lang="zh-CN" altLang="en-US" sz="3600" dirty="0">
                <a:latin typeface="Times New Roman" panose="02020603050405020304" pitchFamily="18" charset="0"/>
                <a:ea typeface="+mj-ea"/>
                <a:cs typeface="Times New Roman" panose="02020603050405020304" pitchFamily="18" charset="0"/>
              </a:rPr>
              <a:t>代数分析的基本思想：把整个密码算法看作一个超定的代数方程系统，然后利用求解多元多变量方程系统的方法来求解该代数方程系统，从而恢复初始密钥或者某个时刻对应的所有内部状态。</a:t>
            </a:r>
            <a:endParaRPr lang="zh-CN" altLang="en-US" sz="3600" dirty="0">
              <a:latin typeface="Times New Roman" panose="02020603050405020304" pitchFamily="18" charset="0"/>
              <a:ea typeface="+mj-ea"/>
              <a:cs typeface="Times New Roman" panose="02020603050405020304" pitchFamily="18" charset="0"/>
            </a:endParaRPr>
          </a:p>
          <a:p>
            <a:pPr indent="457200" algn="just">
              <a:lnSpc>
                <a:spcPct val="120000"/>
              </a:lnSpc>
            </a:pPr>
            <a:r>
              <a:rPr lang="zh-CN" altLang="en-US" sz="3600" dirty="0">
                <a:latin typeface="Times New Roman" panose="02020603050405020304" pitchFamily="18" charset="0"/>
                <a:ea typeface="+mj-ea"/>
                <a:cs typeface="Times New Roman" panose="02020603050405020304" pitchFamily="18" charset="0"/>
              </a:rPr>
              <a:t>对于</a:t>
            </a:r>
            <a:r>
              <a:rPr lang="en-US" altLang="zh-CN" sz="3600" dirty="0">
                <a:latin typeface="Times New Roman" panose="02020603050405020304" pitchFamily="18" charset="0"/>
                <a:ea typeface="+mj-ea"/>
                <a:cs typeface="Times New Roman" panose="02020603050405020304" pitchFamily="18" charset="0"/>
              </a:rPr>
              <a:t>ZUC</a:t>
            </a:r>
            <a:r>
              <a:rPr lang="zh-CN" altLang="en-US" sz="3600" dirty="0">
                <a:latin typeface="Times New Roman" panose="02020603050405020304" pitchFamily="18" charset="0"/>
                <a:ea typeface="+mj-ea"/>
                <a:cs typeface="Times New Roman" panose="02020603050405020304" pitchFamily="18" charset="0"/>
              </a:rPr>
              <a:t>算法，可以考虑通过引入一系列中间变量来建立其相应的二次方程系统。在非线性函数</a:t>
            </a:r>
            <a:r>
              <a:rPr lang="en-US" altLang="zh-CN" sz="3600" dirty="0">
                <a:latin typeface="Times New Roman" panose="02020603050405020304" pitchFamily="18" charset="0"/>
                <a:ea typeface="+mj-ea"/>
                <a:cs typeface="Times New Roman" panose="02020603050405020304" pitchFamily="18" charset="0"/>
              </a:rPr>
              <a:t>F</a:t>
            </a:r>
            <a:r>
              <a:rPr lang="zh-CN" altLang="en-US" sz="3600" dirty="0">
                <a:latin typeface="Times New Roman" panose="02020603050405020304" pitchFamily="18" charset="0"/>
                <a:ea typeface="+mj-ea"/>
                <a:cs typeface="Times New Roman" panose="02020603050405020304" pitchFamily="18" charset="0"/>
              </a:rPr>
              <a:t>中模2</a:t>
            </a:r>
            <a:r>
              <a:rPr lang="zh-CN" altLang="en-US" sz="3600" baseline="30000" dirty="0">
                <a:latin typeface="Times New Roman" panose="02020603050405020304" pitchFamily="18" charset="0"/>
                <a:ea typeface="+mj-ea"/>
                <a:cs typeface="Times New Roman" panose="02020603050405020304" pitchFamily="18" charset="0"/>
              </a:rPr>
              <a:t>32</a:t>
            </a:r>
            <a:r>
              <a:rPr lang="zh-CN" altLang="en-US" sz="3600" dirty="0">
                <a:latin typeface="Times New Roman" panose="02020603050405020304" pitchFamily="18" charset="0"/>
                <a:ea typeface="+mj-ea"/>
                <a:cs typeface="Times New Roman" panose="02020603050405020304" pitchFamily="18" charset="0"/>
              </a:rPr>
              <a:t>加法和</a:t>
            </a:r>
            <a:r>
              <a:rPr lang="en-US" altLang="zh-CN" sz="3600" dirty="0">
                <a:latin typeface="Times New Roman" panose="02020603050405020304" pitchFamily="18" charset="0"/>
                <a:ea typeface="+mj-ea"/>
                <a:cs typeface="Times New Roman" panose="02020603050405020304" pitchFamily="18" charset="0"/>
              </a:rPr>
              <a:t>S</a:t>
            </a:r>
            <a:r>
              <a:rPr lang="zh-CN" altLang="en-US" sz="3600" dirty="0">
                <a:latin typeface="Times New Roman" panose="02020603050405020304" pitchFamily="18" charset="0"/>
                <a:ea typeface="+mj-ea"/>
                <a:cs typeface="Times New Roman" panose="02020603050405020304" pitchFamily="18" charset="0"/>
              </a:rPr>
              <a:t>盒串联在一起，为了对整个非线性函数</a:t>
            </a:r>
            <a:r>
              <a:rPr lang="en-US" altLang="zh-CN" sz="3600" dirty="0">
                <a:latin typeface="Times New Roman" panose="02020603050405020304" pitchFamily="18" charset="0"/>
                <a:ea typeface="+mj-ea"/>
                <a:cs typeface="Times New Roman" panose="02020603050405020304" pitchFamily="18" charset="0"/>
              </a:rPr>
              <a:t>F</a:t>
            </a:r>
            <a:r>
              <a:rPr lang="zh-CN" altLang="en-US" sz="3600" dirty="0">
                <a:latin typeface="Times New Roman" panose="02020603050405020304" pitchFamily="18" charset="0"/>
                <a:ea typeface="+mj-ea"/>
                <a:cs typeface="Times New Roman" panose="02020603050405020304" pitchFamily="18" charset="0"/>
              </a:rPr>
              <a:t>建立二次代数方程系统，还需要引入其他中间变量。其方程系统具体求解的复杂度未知，但是单独利用现有的方法求解似乎是不可能的。</a:t>
            </a:r>
            <a:endParaRPr lang="zh-CN" altLang="en-US" sz="3600" dirty="0">
              <a:latin typeface="Times New Roman" panose="02020603050405020304" pitchFamily="18" charset="0"/>
              <a:ea typeface="+mj-ea"/>
              <a:cs typeface="Times New Roman" panose="02020603050405020304" pitchFamily="18" charset="0"/>
            </a:endParaRPr>
          </a:p>
        </p:txBody>
      </p:sp>
      <p:sp>
        <p:nvSpPr>
          <p:cNvPr id="6" name="灯片编号占位符 5"/>
          <p:cNvSpPr>
            <a:spLocks noGrp="1"/>
          </p:cNvSpPr>
          <p:nvPr>
            <p:ph type="sldNum" sz="quarter" idx="12"/>
          </p:nvPr>
        </p:nvSpPr>
        <p:spPr/>
        <p:txBody>
          <a:bodyPr/>
          <a:lstStyle/>
          <a:p>
            <a:fld id="{B6F15528-21DE-4FAA-801E-634DDDAF4B2B}" type="slidenum">
              <a:rPr lang="en-US" smtClean="0"/>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ZUC算法的安全性分析</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0"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 name="文本框 10"/>
              <p:cNvSpPr txBox="1"/>
              <p:nvPr/>
            </p:nvSpPr>
            <p:spPr>
              <a:xfrm>
                <a:off x="1066800" y="1333500"/>
                <a:ext cx="16147415" cy="8560292"/>
              </a:xfrm>
              <a:prstGeom prst="rect">
                <a:avLst/>
              </a:prstGeom>
              <a:noFill/>
            </p:spPr>
            <p:txBody>
              <a:bodyPr wrap="square" rtlCol="0">
                <a:spAutoFit/>
              </a:bodyPr>
              <a:lstStyle/>
              <a:p>
                <a:pPr indent="457200" algn="just" fontAlgn="auto"/>
                <a:r>
                  <a:rPr lang="en-US" altLang="zh-CN" sz="3600" dirty="0">
                    <a:latin typeface="Times New Roman" panose="02020603050405020304" pitchFamily="18" charset="0"/>
                    <a:ea typeface="+mj-ea"/>
                    <a:cs typeface="Times New Roman" panose="02020603050405020304" pitchFamily="18" charset="0"/>
                  </a:rPr>
                  <a:t>4.</a:t>
                </a:r>
                <a:r>
                  <a:rPr lang="zh-CN" altLang="en-US" sz="3600" dirty="0">
                    <a:latin typeface="Times New Roman" panose="02020603050405020304" pitchFamily="18" charset="0"/>
                    <a:ea typeface="+mj-ea"/>
                    <a:cs typeface="Times New Roman" panose="02020603050405020304" pitchFamily="18" charset="0"/>
                  </a:rPr>
                  <a:t>时间存储数据折中分析</a:t>
                </a:r>
                <a:endParaRPr lang="zh-CN" altLang="en-US" sz="3600" dirty="0">
                  <a:latin typeface="Times New Roman" panose="02020603050405020304" pitchFamily="18" charset="0"/>
                  <a:ea typeface="+mj-ea"/>
                  <a:cs typeface="Times New Roman" panose="02020603050405020304" pitchFamily="18" charset="0"/>
                </a:endParaRPr>
              </a:p>
              <a:p>
                <a:pPr indent="457200" algn="just">
                  <a:lnSpc>
                    <a:spcPct val="120000"/>
                  </a:lnSpc>
                </a:pPr>
                <a:r>
                  <a:rPr lang="zh-CN" altLang="en-US" sz="3600" dirty="0">
                    <a:latin typeface="Times New Roman" panose="02020603050405020304" pitchFamily="18" charset="0"/>
                    <a:ea typeface="+mj-ea"/>
                    <a:cs typeface="Times New Roman" panose="02020603050405020304" pitchFamily="18" charset="0"/>
                    <a:sym typeface="+mn-ea"/>
                  </a:rPr>
                  <a:t>时间存储数据折中分析</a:t>
                </a:r>
                <a:r>
                  <a:rPr lang="zh-CN" altLang="en-US" sz="3600" dirty="0">
                    <a:latin typeface="Times New Roman" panose="02020603050405020304" pitchFamily="18" charset="0"/>
                    <a:ea typeface="+mj-ea"/>
                    <a:cs typeface="Times New Roman" panose="02020603050405020304" pitchFamily="18" charset="0"/>
                  </a:rPr>
                  <a:t>是计算机科学中的一种基本方法，其基本思想是用增加时间的代价换取空间的减少，或用增加空间的代价换取时间的减少。</a:t>
                </a:r>
                <a:endParaRPr lang="en-US" altLang="zh-CN" sz="3600" dirty="0">
                  <a:latin typeface="Times New Roman" panose="02020603050405020304" pitchFamily="18" charset="0"/>
                  <a:ea typeface="+mj-ea"/>
                  <a:cs typeface="Times New Roman" panose="02020603050405020304" pitchFamily="18" charset="0"/>
                </a:endParaRPr>
              </a:p>
              <a:p>
                <a:pPr indent="457200" algn="just">
                  <a:lnSpc>
                    <a:spcPct val="120000"/>
                  </a:lnSpc>
                </a:pPr>
                <a:r>
                  <a:rPr lang="zh-CN" altLang="en-US" sz="3600" dirty="0">
                    <a:latin typeface="Times New Roman" panose="02020603050405020304" pitchFamily="18" charset="0"/>
                    <a:ea typeface="+mj-ea"/>
                    <a:cs typeface="Times New Roman" panose="02020603050405020304" pitchFamily="18" charset="0"/>
                  </a:rPr>
                  <a:t>常见的时间存储数据折中分析方法有两</a:t>
                </a:r>
                <a:r>
                  <a:rPr lang="zh-CN" altLang="en-US" sz="3600" dirty="0">
                    <a:latin typeface="Times New Roman" panose="02020603050405020304" pitchFamily="18" charset="0"/>
                    <a:cs typeface="Times New Roman" panose="02020603050405020304" pitchFamily="18" charset="0"/>
                  </a:rPr>
                  <a:t>种：</a:t>
                </a:r>
                <a14:m>
                  <m:oMath xmlns:m="http://schemas.openxmlformats.org/officeDocument/2006/math">
                    <m:r>
                      <m:rPr>
                        <m:nor/>
                      </m:rPr>
                      <a:rPr lang="en-US" altLang="zh-CN" sz="3600" i="0" dirty="0">
                        <a:latin typeface="Times New Roman" panose="02020603050405020304" pitchFamily="18" charset="0"/>
                        <a:cs typeface="Times New Roman" panose="02020603050405020304" pitchFamily="18" charset="0"/>
                      </a:rPr>
                      <m:t>BG</m:t>
                    </m:r>
                    <m:r>
                      <m:rPr>
                        <m:nor/>
                      </m:rPr>
                      <a:rPr lang="en-US" altLang="zh-CN" sz="3600" i="0" dirty="0">
                        <a:latin typeface="Times New Roman" panose="02020603050405020304" pitchFamily="18" charset="0"/>
                        <a:cs typeface="Times New Roman" panose="02020603050405020304" pitchFamily="18" charset="0"/>
                      </a:rPr>
                      <m:t> −</m:t>
                    </m:r>
                  </m:oMath>
                </a14:m>
                <a:r>
                  <a:rPr lang="en-US" altLang="zh-CN" sz="3600" dirty="0">
                    <a:latin typeface="Times New Roman" panose="02020603050405020304" pitchFamily="18" charset="0"/>
                    <a:cs typeface="Times New Roman" panose="02020603050405020304" pitchFamily="18" charset="0"/>
                  </a:rPr>
                  <a:t> </a:t>
                </a:r>
                <a:r>
                  <a:rPr lang="zh-CN" altLang="en-US" sz="3600" dirty="0">
                    <a:latin typeface="Times New Roman" panose="02020603050405020304" pitchFamily="18" charset="0"/>
                    <a:cs typeface="Times New Roman" panose="02020603050405020304" pitchFamily="18" charset="0"/>
                  </a:rPr>
                  <a:t>方法和 </a:t>
                </a:r>
                <a14:m>
                  <m:oMath xmlns:m="http://schemas.openxmlformats.org/officeDocument/2006/math">
                    <m:r>
                      <m:rPr>
                        <m:nor/>
                      </m:rPr>
                      <a:rPr lang="en-US" altLang="zh-CN" sz="3600" i="0" dirty="0">
                        <a:latin typeface="Times New Roman" panose="02020603050405020304" pitchFamily="18" charset="0"/>
                        <a:cs typeface="Times New Roman" panose="02020603050405020304" pitchFamily="18" charset="0"/>
                      </a:rPr>
                      <m:t>BS</m:t>
                    </m:r>
                    <m:r>
                      <m:rPr>
                        <m:nor/>
                      </m:rPr>
                      <a:rPr lang="en-US" altLang="zh-CN" sz="3600" i="0" dirty="0">
                        <a:latin typeface="Times New Roman" panose="02020603050405020304" pitchFamily="18" charset="0"/>
                        <a:cs typeface="Times New Roman" panose="02020603050405020304" pitchFamily="18" charset="0"/>
                      </a:rPr>
                      <m:t> −</m:t>
                    </m:r>
                  </m:oMath>
                </a14:m>
                <a:r>
                  <a:rPr lang="en-US" altLang="zh-CN" sz="3600" dirty="0">
                    <a:latin typeface="Times New Roman" panose="02020603050405020304" pitchFamily="18" charset="0"/>
                    <a:cs typeface="Times New Roman" panose="02020603050405020304" pitchFamily="18" charset="0"/>
                  </a:rPr>
                  <a:t> </a:t>
                </a:r>
                <a:r>
                  <a:rPr lang="zh-CN" altLang="en-US" sz="3600" dirty="0">
                    <a:latin typeface="Times New Roman" panose="02020603050405020304" pitchFamily="18" charset="0"/>
                    <a:cs typeface="Times New Roman" panose="02020603050405020304" pitchFamily="18" charset="0"/>
                  </a:rPr>
                  <a:t>方法。</a:t>
                </a:r>
                <a:endParaRPr lang="en-US" altLang="zh-CN" sz="3600" dirty="0">
                  <a:latin typeface="Times New Roman" panose="02020603050405020304" pitchFamily="18" charset="0"/>
                  <a:cs typeface="Times New Roman" panose="02020603050405020304" pitchFamily="18" charset="0"/>
                </a:endParaRPr>
              </a:p>
              <a:p>
                <a:pPr indent="457200" algn="just">
                  <a:lnSpc>
                    <a:spcPct val="120000"/>
                  </a:lnSpc>
                </a:pPr>
                <a:r>
                  <a:rPr lang="zh-CN" altLang="en-US" sz="3600" dirty="0">
                    <a:latin typeface="Times New Roman" panose="02020603050405020304" pitchFamily="18" charset="0"/>
                    <a:cs typeface="Times New Roman" panose="02020603050405020304" pitchFamily="18" charset="0"/>
                  </a:rPr>
                  <a:t>设攻击者预计算造表所用的时间复杂度为 </a:t>
                </a:r>
                <a:r>
                  <a:rPr lang="en-US" altLang="zh-CN" sz="3600" dirty="0">
                    <a:latin typeface="Times New Roman" panose="02020603050405020304" pitchFamily="18" charset="0"/>
                    <a:cs typeface="Times New Roman" panose="02020603050405020304" pitchFamily="18" charset="0"/>
                  </a:rPr>
                  <a:t>P，</a:t>
                </a:r>
                <a:r>
                  <a:rPr lang="zh-CN" altLang="en-US" sz="3600" dirty="0">
                    <a:latin typeface="Times New Roman" panose="02020603050405020304" pitchFamily="18" charset="0"/>
                    <a:cs typeface="Times New Roman" panose="02020603050405020304" pitchFamily="18" charset="0"/>
                  </a:rPr>
                  <a:t>存储表需要的空间大小为 </a:t>
                </a:r>
                <a:r>
                  <a:rPr lang="en-US" altLang="zh-CN" sz="3600" dirty="0">
                    <a:latin typeface="Times New Roman" panose="02020603050405020304" pitchFamily="18" charset="0"/>
                    <a:cs typeface="Times New Roman" panose="02020603050405020304" pitchFamily="18" charset="0"/>
                  </a:rPr>
                  <a:t>M。</a:t>
                </a:r>
                <a:r>
                  <a:rPr lang="zh-CN" altLang="en-US" sz="3600" dirty="0">
                    <a:latin typeface="Times New Roman" panose="02020603050405020304" pitchFamily="18" charset="0"/>
                    <a:cs typeface="Times New Roman" panose="02020603050405020304" pitchFamily="18" charset="0"/>
                  </a:rPr>
                  <a:t>在线攻击时，攻击者能获得的数据量为 </a:t>
                </a:r>
                <a:r>
                  <a:rPr lang="en-US" altLang="zh-CN" sz="3600" dirty="0">
                    <a:latin typeface="Times New Roman" panose="02020603050405020304" pitchFamily="18" charset="0"/>
                    <a:cs typeface="Times New Roman" panose="02020603050405020304" pitchFamily="18" charset="0"/>
                  </a:rPr>
                  <a:t>D，</a:t>
                </a:r>
                <a:r>
                  <a:rPr lang="zh-CN" altLang="en-US" sz="3600" dirty="0">
                    <a:latin typeface="Times New Roman" panose="02020603050405020304" pitchFamily="18" charset="0"/>
                    <a:cs typeface="Times New Roman" panose="02020603050405020304" pitchFamily="18" charset="0"/>
                  </a:rPr>
                  <a:t>利用这些数据进行时间存储数据折中分析时所需要的时间为 </a:t>
                </a:r>
                <a:r>
                  <a:rPr lang="en-US" altLang="zh-CN" sz="3600" dirty="0">
                    <a:latin typeface="Times New Roman" panose="02020603050405020304" pitchFamily="18" charset="0"/>
                    <a:cs typeface="Times New Roman" panose="02020603050405020304" pitchFamily="18" charset="0"/>
                  </a:rPr>
                  <a:t>T，</a:t>
                </a:r>
                <a:r>
                  <a:rPr lang="zh-CN" altLang="en-US" sz="3600" dirty="0">
                    <a:latin typeface="Times New Roman" panose="02020603050405020304" pitchFamily="18" charset="0"/>
                    <a:cs typeface="Times New Roman" panose="02020603050405020304" pitchFamily="18" charset="0"/>
                  </a:rPr>
                  <a:t>下面对这两种分析方法进行分析。</a:t>
                </a:r>
                <a:endParaRPr lang="zh-CN" altLang="en-US" sz="3600" dirty="0">
                  <a:latin typeface="Times New Roman" panose="02020603050405020304" pitchFamily="18" charset="0"/>
                  <a:cs typeface="Times New Roman" panose="02020603050405020304" pitchFamily="18" charset="0"/>
                </a:endParaRPr>
              </a:p>
              <a:p>
                <a:pPr indent="457200" algn="just">
                  <a:lnSpc>
                    <a:spcPct val="120000"/>
                  </a:lnSpc>
                </a:pPr>
                <a:r>
                  <a:rPr lang="en-US" altLang="zh-CN" sz="3600" dirty="0">
                    <a:latin typeface="Times New Roman" panose="02020603050405020304" pitchFamily="18" charset="0"/>
                    <a:cs typeface="Times New Roman" panose="02020603050405020304" pitchFamily="18" charset="0"/>
                  </a:rPr>
                  <a:t>（1）</a:t>
                </a:r>
                <a14:m>
                  <m:oMath xmlns:m="http://schemas.openxmlformats.org/officeDocument/2006/math">
                    <m:r>
                      <m:rPr>
                        <m:nor/>
                      </m:rPr>
                      <a:rPr lang="en-US" altLang="zh-CN" sz="3600" i="0" dirty="0">
                        <a:latin typeface="Times New Roman" panose="02020603050405020304" pitchFamily="18" charset="0"/>
                        <a:cs typeface="Times New Roman" panose="02020603050405020304" pitchFamily="18" charset="0"/>
                      </a:rPr>
                      <m:t>BG</m:t>
                    </m:r>
                    <m:r>
                      <m:rPr>
                        <m:nor/>
                      </m:rPr>
                      <a:rPr lang="en-US" altLang="zh-CN" sz="3600" i="0" dirty="0">
                        <a:latin typeface="Times New Roman" panose="02020603050405020304" pitchFamily="18" charset="0"/>
                        <a:cs typeface="Times New Roman" panose="02020603050405020304" pitchFamily="18" charset="0"/>
                      </a:rPr>
                      <m:t> − </m:t>
                    </m:r>
                  </m:oMath>
                </a14:m>
                <a:r>
                  <a:rPr lang="zh-CN" altLang="en-US" sz="3600" dirty="0">
                    <a:latin typeface="Times New Roman" panose="02020603050405020304" pitchFamily="18" charset="0"/>
                    <a:cs typeface="Times New Roman" panose="02020603050405020304" pitchFamily="18" charset="0"/>
                  </a:rPr>
                  <a:t>方法。折中曲线为 </a:t>
                </a:r>
                <a14:m>
                  <m:oMath xmlns:m="http://schemas.openxmlformats.org/officeDocument/2006/math">
                    <m:r>
                      <m:rPr>
                        <m:nor/>
                      </m:rPr>
                      <a:rPr lang="en-US" altLang="zh-CN" sz="3600" i="0" dirty="0">
                        <a:latin typeface="Times New Roman" panose="02020603050405020304" pitchFamily="18" charset="0"/>
                        <a:cs typeface="Times New Roman" panose="02020603050405020304" pitchFamily="18" charset="0"/>
                      </a:rPr>
                      <m:t>MD</m:t>
                    </m:r>
                    <m:r>
                      <m:rPr>
                        <m:nor/>
                      </m:rPr>
                      <a:rPr lang="en-US" altLang="zh-CN" sz="3600" i="0" dirty="0">
                        <a:latin typeface="Times New Roman" panose="02020603050405020304" pitchFamily="18" charset="0"/>
                        <a:cs typeface="Times New Roman" panose="02020603050405020304" pitchFamily="18" charset="0"/>
                      </a:rPr>
                      <m:t>≥</m:t>
                    </m:r>
                    <m:r>
                      <m:rPr>
                        <m:nor/>
                      </m:rPr>
                      <a:rPr lang="en-US" altLang="zh-CN" sz="3600" i="0" dirty="0">
                        <a:latin typeface="Times New Roman" panose="02020603050405020304" pitchFamily="18" charset="0"/>
                        <a:cs typeface="Times New Roman" panose="02020603050405020304" pitchFamily="18" charset="0"/>
                      </a:rPr>
                      <m:t>N</m:t>
                    </m:r>
                  </m:oMath>
                </a14:m>
                <a:r>
                  <a:rPr lang="en-US" altLang="zh-CN" sz="3600" dirty="0">
                    <a:latin typeface="Times New Roman" panose="02020603050405020304" pitchFamily="18" charset="0"/>
                    <a:cs typeface="Times New Roman" panose="02020603050405020304" pitchFamily="18" charset="0"/>
                  </a:rPr>
                  <a:t> </a:t>
                </a:r>
                <a:r>
                  <a:rPr lang="zh-CN" altLang="en-US" sz="3600" dirty="0">
                    <a:latin typeface="Times New Roman" panose="02020603050405020304" pitchFamily="18" charset="0"/>
                    <a:cs typeface="Times New Roman" panose="02020603050405020304" pitchFamily="18" charset="0"/>
                  </a:rPr>
                  <a:t>且 </a:t>
                </a:r>
                <a14:m>
                  <m:oMath xmlns:m="http://schemas.openxmlformats.org/officeDocument/2006/math">
                    <m:r>
                      <m:rPr>
                        <m:nor/>
                      </m:rPr>
                      <a:rPr lang="en-US" altLang="zh-CN" sz="3600" i="0" dirty="0">
                        <a:latin typeface="Times New Roman" panose="02020603050405020304" pitchFamily="18" charset="0"/>
                        <a:cs typeface="Times New Roman" panose="02020603050405020304" pitchFamily="18" charset="0"/>
                      </a:rPr>
                      <m:t>P</m:t>
                    </m:r>
                    <m:r>
                      <m:rPr>
                        <m:nor/>
                      </m:rPr>
                      <a:rPr lang="en-US" altLang="zh-CN" sz="3600" i="0" dirty="0">
                        <a:latin typeface="Times New Roman" panose="02020603050405020304" pitchFamily="18" charset="0"/>
                        <a:cs typeface="Times New Roman" panose="02020603050405020304" pitchFamily="18" charset="0"/>
                      </a:rPr>
                      <m:t>=</m:t>
                    </m:r>
                    <m:r>
                      <m:rPr>
                        <m:nor/>
                      </m:rPr>
                      <a:rPr lang="en-US" altLang="zh-CN" sz="3600" i="0" dirty="0">
                        <a:latin typeface="Times New Roman" panose="02020603050405020304" pitchFamily="18" charset="0"/>
                        <a:cs typeface="Times New Roman" panose="02020603050405020304" pitchFamily="18" charset="0"/>
                      </a:rPr>
                      <m:t>M</m:t>
                    </m:r>
                  </m:oMath>
                </a14:m>
                <a:r>
                  <a:rPr lang="en-US" altLang="zh-CN" sz="3600" dirty="0">
                    <a:latin typeface="Times New Roman" panose="02020603050405020304" pitchFamily="18" charset="0"/>
                    <a:cs typeface="Times New Roman" panose="02020603050405020304" pitchFamily="18" charset="0"/>
                  </a:rPr>
                  <a:t>，</a:t>
                </a:r>
                <a14:m>
                  <m:oMath xmlns:m="http://schemas.openxmlformats.org/officeDocument/2006/math">
                    <m:r>
                      <m:rPr>
                        <m:nor/>
                      </m:rPr>
                      <a:rPr lang="en-US" altLang="zh-CN" sz="3600" i="0" dirty="0">
                        <a:latin typeface="Times New Roman" panose="02020603050405020304" pitchFamily="18" charset="0"/>
                        <a:cs typeface="Times New Roman" panose="02020603050405020304" pitchFamily="18" charset="0"/>
                      </a:rPr>
                      <m:t>T</m:t>
                    </m:r>
                    <m:r>
                      <m:rPr>
                        <m:nor/>
                      </m:rPr>
                      <a:rPr lang="en-US" altLang="zh-CN" sz="3600" i="0" dirty="0">
                        <a:latin typeface="Times New Roman" panose="02020603050405020304" pitchFamily="18" charset="0"/>
                        <a:cs typeface="Times New Roman" panose="02020603050405020304" pitchFamily="18" charset="0"/>
                      </a:rPr>
                      <m:t>=</m:t>
                    </m:r>
                    <m:r>
                      <m:rPr>
                        <m:nor/>
                      </m:rPr>
                      <a:rPr lang="en-US" altLang="zh-CN" sz="3600" i="0" dirty="0">
                        <a:latin typeface="Times New Roman" panose="02020603050405020304" pitchFamily="18" charset="0"/>
                        <a:cs typeface="Times New Roman" panose="02020603050405020304" pitchFamily="18" charset="0"/>
                      </a:rPr>
                      <m:t>D</m:t>
                    </m:r>
                  </m:oMath>
                </a14:m>
                <a:r>
                  <a:rPr lang="en-US" altLang="zh-CN" sz="3600" dirty="0">
                    <a:latin typeface="Times New Roman" panose="02020603050405020304" pitchFamily="18" charset="0"/>
                    <a:cs typeface="Times New Roman" panose="02020603050405020304" pitchFamily="18" charset="0"/>
                  </a:rPr>
                  <a:t>。</a:t>
                </a:r>
                <a:r>
                  <a:rPr lang="zh-CN" altLang="en-US" sz="3600" dirty="0">
                    <a:latin typeface="Times New Roman" panose="02020603050405020304" pitchFamily="18" charset="0"/>
                    <a:cs typeface="Times New Roman" panose="02020603050405020304" pitchFamily="18" charset="0"/>
                  </a:rPr>
                  <a:t>对 </a:t>
                </a:r>
                <a:r>
                  <a:rPr lang="en-US" altLang="zh-CN" sz="3600" dirty="0">
                    <a:latin typeface="Times New Roman" panose="02020603050405020304" pitchFamily="18" charset="0"/>
                    <a:cs typeface="Times New Roman" panose="02020603050405020304" pitchFamily="18" charset="0"/>
                  </a:rPr>
                  <a:t>ZUC </a:t>
                </a:r>
                <a:r>
                  <a:rPr lang="zh-CN" altLang="en-US" sz="3600" dirty="0">
                    <a:latin typeface="Times New Roman" panose="02020603050405020304" pitchFamily="18" charset="0"/>
                    <a:cs typeface="Times New Roman" panose="02020603050405020304" pitchFamily="18" charset="0"/>
                  </a:rPr>
                  <a:t>算法而言，</a:t>
                </a:r>
                <a:r>
                  <a:rPr lang="en-US" altLang="zh-CN" sz="3600" dirty="0">
                    <a:latin typeface="Times New Roman" panose="02020603050405020304" pitchFamily="18" charset="0"/>
                    <a:cs typeface="Times New Roman" panose="02020603050405020304" pitchFamily="18" charset="0"/>
                  </a:rPr>
                  <a:t>N=2560，</a:t>
                </a:r>
                <a:r>
                  <a:rPr lang="zh-CN" altLang="en-US" sz="3600" dirty="0">
                    <a:latin typeface="Times New Roman" panose="02020603050405020304" pitchFamily="18" charset="0"/>
                    <a:cs typeface="Times New Roman" panose="02020603050405020304" pitchFamily="18" charset="0"/>
                  </a:rPr>
                  <a:t>此时 </a:t>
                </a:r>
                <a:r>
                  <a:rPr lang="en-US" altLang="zh-CN" sz="3600" dirty="0">
                    <a:latin typeface="Times New Roman" panose="02020603050405020304" pitchFamily="18" charset="0"/>
                    <a:cs typeface="Times New Roman" panose="02020603050405020304" pitchFamily="18" charset="0"/>
                  </a:rPr>
                  <a:t>M </a:t>
                </a:r>
                <a:r>
                  <a:rPr lang="zh-CN" altLang="en-US" sz="3600" dirty="0">
                    <a:latin typeface="Times New Roman" panose="02020603050405020304" pitchFamily="18" charset="0"/>
                    <a:cs typeface="Times New Roman" panose="02020603050405020304" pitchFamily="18" charset="0"/>
                  </a:rPr>
                  <a:t>和 </a:t>
                </a:r>
                <a:r>
                  <a:rPr lang="en-US" altLang="zh-CN" sz="3600" dirty="0">
                    <a:latin typeface="Times New Roman" panose="02020603050405020304" pitchFamily="18" charset="0"/>
                    <a:cs typeface="Times New Roman" panose="02020603050405020304" pitchFamily="18" charset="0"/>
                  </a:rPr>
                  <a:t>D </a:t>
                </a:r>
                <a:r>
                  <a:rPr lang="zh-CN" altLang="en-US" sz="3600" dirty="0">
                    <a:latin typeface="Times New Roman" panose="02020603050405020304" pitchFamily="18" charset="0"/>
                    <a:cs typeface="Times New Roman" panose="02020603050405020304" pitchFamily="18" charset="0"/>
                  </a:rPr>
                  <a:t>中至少有一个不低于 2280，预计算的时间复杂度和存储复杂度均太高，攻击不可行。</a:t>
                </a:r>
                <a:endParaRPr lang="en-US" altLang="zh-CN" sz="3600" dirty="0">
                  <a:latin typeface="Times New Roman" panose="02020603050405020304" pitchFamily="18" charset="0"/>
                  <a:cs typeface="Times New Roman" panose="02020603050405020304" pitchFamily="18" charset="0"/>
                </a:endParaRPr>
              </a:p>
              <a:p>
                <a:pPr indent="457200" algn="just">
                  <a:lnSpc>
                    <a:spcPct val="120000"/>
                  </a:lnSpc>
                </a:pPr>
                <a:r>
                  <a:rPr lang="en-US" altLang="zh-CN" sz="3600" dirty="0">
                    <a:latin typeface="Times New Roman" panose="02020603050405020304" pitchFamily="18" charset="0"/>
                    <a:cs typeface="Times New Roman" panose="02020603050405020304" pitchFamily="18" charset="0"/>
                  </a:rPr>
                  <a:t>（2）</a:t>
                </a:r>
                <a14:m>
                  <m:oMath xmlns:m="http://schemas.openxmlformats.org/officeDocument/2006/math">
                    <m:r>
                      <m:rPr>
                        <m:nor/>
                      </m:rPr>
                      <a:rPr lang="en-US" altLang="zh-CN" sz="3600" i="0" dirty="0">
                        <a:latin typeface="Times New Roman" panose="02020603050405020304" pitchFamily="18" charset="0"/>
                        <a:cs typeface="Times New Roman" panose="02020603050405020304" pitchFamily="18" charset="0"/>
                      </a:rPr>
                      <m:t>BS</m:t>
                    </m:r>
                    <m:r>
                      <m:rPr>
                        <m:nor/>
                      </m:rPr>
                      <a:rPr lang="en-US" altLang="zh-CN" sz="3600" i="0" dirty="0">
                        <a:latin typeface="Times New Roman" panose="02020603050405020304" pitchFamily="18" charset="0"/>
                        <a:cs typeface="Times New Roman" panose="02020603050405020304" pitchFamily="18" charset="0"/>
                      </a:rPr>
                      <m:t> − </m:t>
                    </m:r>
                  </m:oMath>
                </a14:m>
                <a:r>
                  <a:rPr lang="zh-CN" altLang="en-US" sz="3600" dirty="0">
                    <a:latin typeface="Times New Roman" panose="02020603050405020304" pitchFamily="18" charset="0"/>
                    <a:cs typeface="Times New Roman" panose="02020603050405020304" pitchFamily="18" charset="0"/>
                  </a:rPr>
                  <a:t>方法。折中曲线为 </a:t>
                </a:r>
                <a14:m>
                  <m:oMath xmlns:m="http://schemas.openxmlformats.org/officeDocument/2006/math">
                    <m:r>
                      <m:rPr>
                        <m:nor/>
                      </m:rPr>
                      <a:rPr lang="en-US" altLang="zh-CN" sz="3600" i="0" dirty="0">
                        <a:latin typeface="Times New Roman" panose="02020603050405020304" pitchFamily="18" charset="0"/>
                        <a:cs typeface="Times New Roman" panose="02020603050405020304" pitchFamily="18" charset="0"/>
                      </a:rPr>
                      <m:t>TM</m:t>
                    </m:r>
                    <m:r>
                      <m:rPr>
                        <m:nor/>
                      </m:rPr>
                      <a:rPr lang="en-US" altLang="zh-CN" sz="3600" i="0" dirty="0">
                        <a:latin typeface="Times New Roman" panose="02020603050405020304" pitchFamily="18" charset="0"/>
                        <a:cs typeface="Times New Roman" panose="02020603050405020304" pitchFamily="18" charset="0"/>
                      </a:rPr>
                      <m:t>²</m:t>
                    </m:r>
                    <m:r>
                      <m:rPr>
                        <m:nor/>
                      </m:rPr>
                      <a:rPr lang="en-US" altLang="zh-CN" sz="3600" i="0" dirty="0">
                        <a:latin typeface="Times New Roman" panose="02020603050405020304" pitchFamily="18" charset="0"/>
                        <a:cs typeface="Times New Roman" panose="02020603050405020304" pitchFamily="18" charset="0"/>
                      </a:rPr>
                      <m:t>D</m:t>
                    </m:r>
                    <m:r>
                      <m:rPr>
                        <m:nor/>
                      </m:rPr>
                      <a:rPr lang="en-US" altLang="zh-CN" sz="3600" i="0" dirty="0">
                        <a:latin typeface="Times New Roman" panose="02020603050405020304" pitchFamily="18" charset="0"/>
                        <a:cs typeface="Times New Roman" panose="02020603050405020304" pitchFamily="18" charset="0"/>
                      </a:rPr>
                      <m:t>²≥</m:t>
                    </m:r>
                    <m:r>
                      <m:rPr>
                        <m:nor/>
                      </m:rPr>
                      <a:rPr lang="en-US" altLang="zh-CN" sz="3600" i="0" dirty="0">
                        <a:latin typeface="Times New Roman" panose="02020603050405020304" pitchFamily="18" charset="0"/>
                        <a:cs typeface="Times New Roman" panose="02020603050405020304" pitchFamily="18" charset="0"/>
                      </a:rPr>
                      <m:t>N</m:t>
                    </m:r>
                    <m:r>
                      <m:rPr>
                        <m:nor/>
                      </m:rPr>
                      <a:rPr lang="en-US" altLang="zh-CN" sz="3600" i="0" dirty="0">
                        <a:latin typeface="Times New Roman" panose="02020603050405020304" pitchFamily="18" charset="0"/>
                        <a:cs typeface="Times New Roman" panose="02020603050405020304" pitchFamily="18" charset="0"/>
                      </a:rPr>
                      <m:t>²</m:t>
                    </m:r>
                  </m:oMath>
                </a14:m>
                <a:r>
                  <a:rPr lang="en-US" altLang="zh-CN" sz="3600" dirty="0">
                    <a:latin typeface="Times New Roman" panose="02020603050405020304" pitchFamily="18" charset="0"/>
                    <a:cs typeface="Times New Roman" panose="02020603050405020304" pitchFamily="18" charset="0"/>
                  </a:rPr>
                  <a:t>，</a:t>
                </a:r>
                <a14:m>
                  <m:oMath xmlns:m="http://schemas.openxmlformats.org/officeDocument/2006/math">
                    <m:r>
                      <m:rPr>
                        <m:nor/>
                      </m:rPr>
                      <a:rPr lang="en-US" altLang="zh-CN" sz="3600" i="0" dirty="0">
                        <a:latin typeface="Times New Roman" panose="02020603050405020304" pitchFamily="18" charset="0"/>
                        <a:cs typeface="Times New Roman" panose="02020603050405020304" pitchFamily="18" charset="0"/>
                      </a:rPr>
                      <m:t>T</m:t>
                    </m:r>
                    <m:r>
                      <m:rPr>
                        <m:nor/>
                      </m:rPr>
                      <a:rPr lang="en-US" altLang="zh-CN" sz="3600" i="0" dirty="0">
                        <a:latin typeface="Times New Roman" panose="02020603050405020304" pitchFamily="18" charset="0"/>
                        <a:cs typeface="Times New Roman" panose="02020603050405020304" pitchFamily="18" charset="0"/>
                      </a:rPr>
                      <m:t>≥</m:t>
                    </m:r>
                    <m:r>
                      <m:rPr>
                        <m:nor/>
                      </m:rPr>
                      <a:rPr lang="en-US" altLang="zh-CN" sz="3600" i="0" dirty="0">
                        <a:latin typeface="Times New Roman" panose="02020603050405020304" pitchFamily="18" charset="0"/>
                        <a:cs typeface="Times New Roman" panose="02020603050405020304" pitchFamily="18" charset="0"/>
                      </a:rPr>
                      <m:t>D</m:t>
                    </m:r>
                    <m:r>
                      <m:rPr>
                        <m:nor/>
                      </m:rPr>
                      <a:rPr lang="en-US" altLang="zh-CN" sz="3600" i="0" dirty="0">
                        <a:latin typeface="Times New Roman" panose="02020603050405020304" pitchFamily="18" charset="0"/>
                        <a:cs typeface="Times New Roman" panose="02020603050405020304" pitchFamily="18" charset="0"/>
                      </a:rPr>
                      <m:t>²</m:t>
                    </m:r>
                  </m:oMath>
                </a14:m>
                <a:r>
                  <a:rPr lang="en-US" altLang="zh-CN" sz="3600" dirty="0">
                    <a:latin typeface="Times New Roman" panose="02020603050405020304" pitchFamily="18" charset="0"/>
                    <a:cs typeface="Times New Roman" panose="02020603050405020304" pitchFamily="18" charset="0"/>
                  </a:rPr>
                  <a:t>，</a:t>
                </a:r>
                <a14:m>
                  <m:oMath xmlns:m="http://schemas.openxmlformats.org/officeDocument/2006/math">
                    <m:r>
                      <m:rPr>
                        <m:nor/>
                      </m:rPr>
                      <a:rPr lang="en-US" altLang="zh-CN" sz="3600" i="0" dirty="0">
                        <a:latin typeface="Times New Roman" panose="02020603050405020304" pitchFamily="18" charset="0"/>
                        <a:cs typeface="Times New Roman" panose="02020603050405020304" pitchFamily="18" charset="0"/>
                      </a:rPr>
                      <m:t>N</m:t>
                    </m:r>
                    <m:r>
                      <m:rPr>
                        <m:nor/>
                      </m:rPr>
                      <a:rPr lang="en-US" altLang="zh-CN" sz="3600" i="0" dirty="0">
                        <a:latin typeface="Times New Roman" panose="02020603050405020304" pitchFamily="18" charset="0"/>
                        <a:cs typeface="Times New Roman" panose="02020603050405020304" pitchFamily="18" charset="0"/>
                      </a:rPr>
                      <m:t>=</m:t>
                    </m:r>
                    <m:r>
                      <m:rPr>
                        <m:nor/>
                      </m:rPr>
                      <a:rPr lang="en-US" altLang="zh-CN" sz="3600" i="0" dirty="0">
                        <a:latin typeface="Times New Roman" panose="02020603050405020304" pitchFamily="18" charset="0"/>
                        <a:cs typeface="Times New Roman" panose="02020603050405020304" pitchFamily="18" charset="0"/>
                      </a:rPr>
                      <m:t>PD</m:t>
                    </m:r>
                  </m:oMath>
                </a14:m>
                <a:r>
                  <a:rPr lang="en-US" altLang="zh-CN" sz="3600" dirty="0">
                    <a:latin typeface="Times New Roman" panose="02020603050405020304" pitchFamily="18" charset="0"/>
                    <a:cs typeface="Times New Roman" panose="02020603050405020304" pitchFamily="18" charset="0"/>
                  </a:rPr>
                  <a:t>。</a:t>
                </a:r>
                <a:r>
                  <a:rPr lang="zh-CN" altLang="en-US" sz="3600" dirty="0">
                    <a:latin typeface="Times New Roman" panose="02020603050405020304" pitchFamily="18" charset="0"/>
                    <a:cs typeface="Times New Roman" panose="02020603050405020304" pitchFamily="18" charset="0"/>
                  </a:rPr>
                  <a:t>对 </a:t>
                </a:r>
                <a:r>
                  <a:rPr lang="en-US" altLang="zh-CN" sz="3600" dirty="0">
                    <a:latin typeface="Times New Roman" panose="02020603050405020304" pitchFamily="18" charset="0"/>
                    <a:cs typeface="Times New Roman" panose="02020603050405020304" pitchFamily="18" charset="0"/>
                  </a:rPr>
                  <a:t>ZUC </a:t>
                </a:r>
                <a:r>
                  <a:rPr lang="zh-CN" altLang="en-US" sz="3600" dirty="0">
                    <a:latin typeface="Times New Roman" panose="02020603050405020304" pitchFamily="18" charset="0"/>
                    <a:cs typeface="Times New Roman" panose="02020603050405020304" pitchFamily="18" charset="0"/>
                  </a:rPr>
                  <a:t>算法而言，</a:t>
                </a:r>
                <a:r>
                  <a:rPr lang="en-US" altLang="zh-CN" sz="3600" dirty="0">
                    <a:latin typeface="Times New Roman" panose="02020603050405020304" pitchFamily="18" charset="0"/>
                    <a:cs typeface="Times New Roman" panose="02020603050405020304" pitchFamily="18" charset="0"/>
                  </a:rPr>
                  <a:t>N=2560，</a:t>
                </a:r>
                <a:r>
                  <a:rPr lang="zh-CN" altLang="en-US" sz="3600" dirty="0">
                    <a:latin typeface="Times New Roman" panose="02020603050405020304" pitchFamily="18" charset="0"/>
                    <a:cs typeface="Times New Roman" panose="02020603050405020304" pitchFamily="18" charset="0"/>
                  </a:rPr>
                  <a:t>取 </a:t>
                </a:r>
                <a14:m>
                  <m:oMath xmlns:m="http://schemas.openxmlformats.org/officeDocument/2006/math">
                    <m:r>
                      <m:rPr>
                        <m:nor/>
                      </m:rPr>
                      <a:rPr lang="en-US" altLang="zh-CN" sz="3600" i="0" dirty="0">
                        <a:latin typeface="Times New Roman" panose="02020603050405020304" pitchFamily="18" charset="0"/>
                        <a:cs typeface="Times New Roman" panose="02020603050405020304" pitchFamily="18" charset="0"/>
                      </a:rPr>
                      <m:t>M</m:t>
                    </m:r>
                    <m:r>
                      <m:rPr>
                        <m:nor/>
                      </m:rPr>
                      <a:rPr lang="en-US" altLang="zh-CN" sz="3600" i="0" dirty="0">
                        <a:latin typeface="Times New Roman" panose="02020603050405020304" pitchFamily="18" charset="0"/>
                        <a:cs typeface="Times New Roman" panose="02020603050405020304" pitchFamily="18" charset="0"/>
                      </a:rPr>
                      <m:t>=</m:t>
                    </m:r>
                    <m:r>
                      <m:rPr>
                        <m:nor/>
                      </m:rPr>
                      <a:rPr lang="en-US" altLang="zh-CN" sz="3600" i="0" dirty="0">
                        <a:latin typeface="Times New Roman" panose="02020603050405020304" pitchFamily="18" charset="0"/>
                        <a:cs typeface="Times New Roman" panose="02020603050405020304" pitchFamily="18" charset="0"/>
                      </a:rPr>
                      <m:t>D</m:t>
                    </m:r>
                    <m:r>
                      <m:rPr>
                        <m:nor/>
                      </m:rPr>
                      <a:rPr lang="en-US" altLang="zh-CN" sz="3600" i="0" dirty="0">
                        <a:latin typeface="Times New Roman" panose="02020603050405020304" pitchFamily="18" charset="0"/>
                        <a:cs typeface="Times New Roman" panose="02020603050405020304" pitchFamily="18" charset="0"/>
                      </a:rPr>
                      <m:t>=</m:t>
                    </m:r>
                    <m:r>
                      <m:rPr>
                        <m:nor/>
                      </m:rPr>
                      <a:rPr lang="en-US" altLang="zh-CN" sz="3600" i="0" dirty="0">
                        <a:latin typeface="Times New Roman" panose="02020603050405020304" pitchFamily="18" charset="0"/>
                        <a:cs typeface="Times New Roman" panose="02020603050405020304" pitchFamily="18" charset="0"/>
                      </a:rPr>
                      <m:t>N</m:t>
                    </m:r>
                    <m:r>
                      <m:rPr>
                        <m:nor/>
                      </m:rPr>
                      <a:rPr lang="en-US" altLang="zh-CN" sz="3600" i="0" dirty="0">
                        <a:latin typeface="Times New Roman" panose="02020603050405020304" pitchFamily="18" charset="0"/>
                        <a:cs typeface="Times New Roman" panose="02020603050405020304" pitchFamily="18" charset="0"/>
                      </a:rPr>
                      <m:t>1</m:t>
                    </m:r>
                    <m:r>
                      <m:rPr>
                        <m:nor/>
                      </m:rPr>
                      <a:rPr lang="en-US" altLang="zh-CN" sz="3600" i="0" dirty="0">
                        <a:latin typeface="Times New Roman" panose="02020603050405020304" pitchFamily="18" charset="0"/>
                        <a:cs typeface="Times New Roman" panose="02020603050405020304" pitchFamily="18" charset="0"/>
                      </a:rPr>
                      <m:t>/</m:t>
                    </m:r>
                    <m:r>
                      <m:rPr>
                        <m:nor/>
                      </m:rPr>
                      <a:rPr lang="en-US" altLang="zh-CN" sz="3600" i="0" dirty="0">
                        <a:latin typeface="Times New Roman" panose="02020603050405020304" pitchFamily="18" charset="0"/>
                        <a:cs typeface="Times New Roman" panose="02020603050405020304" pitchFamily="18" charset="0"/>
                      </a:rPr>
                      <m:t>3</m:t>
                    </m:r>
                    <m:r>
                      <m:rPr>
                        <m:nor/>
                      </m:rPr>
                      <a:rPr lang="en-US" altLang="zh-CN" sz="3600" i="0" dirty="0">
                        <a:latin typeface="Times New Roman" panose="02020603050405020304" pitchFamily="18" charset="0"/>
                        <a:cs typeface="Times New Roman" panose="02020603050405020304" pitchFamily="18" charset="0"/>
                      </a:rPr>
                      <m:t>=</m:t>
                    </m:r>
                    <m:r>
                      <m:rPr>
                        <m:nor/>
                      </m:rPr>
                      <a:rPr lang="en-US" altLang="zh-CN" sz="3600" i="0" dirty="0">
                        <a:latin typeface="Times New Roman" panose="02020603050405020304" pitchFamily="18" charset="0"/>
                        <a:cs typeface="Times New Roman" panose="02020603050405020304" pitchFamily="18" charset="0"/>
                      </a:rPr>
                      <m:t>2187</m:t>
                    </m:r>
                  </m:oMath>
                </a14:m>
                <a:r>
                  <a:rPr lang="en-US" altLang="zh-CN" sz="3600" dirty="0">
                    <a:latin typeface="Times New Roman" panose="02020603050405020304" pitchFamily="18" charset="0"/>
                    <a:cs typeface="Times New Roman" panose="02020603050405020304" pitchFamily="18" charset="0"/>
                  </a:rPr>
                  <a:t>，</a:t>
                </a:r>
                <a14:m>
                  <m:oMath xmlns:m="http://schemas.openxmlformats.org/officeDocument/2006/math">
                    <m:r>
                      <m:rPr>
                        <m:nor/>
                      </m:rPr>
                      <a:rPr lang="en-US" altLang="zh-CN" sz="3600" i="0" dirty="0">
                        <a:latin typeface="Times New Roman" panose="02020603050405020304" pitchFamily="18" charset="0"/>
                        <a:cs typeface="Times New Roman" panose="02020603050405020304" pitchFamily="18" charset="0"/>
                      </a:rPr>
                      <m:t>T</m:t>
                    </m:r>
                    <m:r>
                      <m:rPr>
                        <m:nor/>
                      </m:rPr>
                      <a:rPr lang="en-US" altLang="zh-CN" sz="3600" i="0" dirty="0">
                        <a:latin typeface="Times New Roman" panose="02020603050405020304" pitchFamily="18" charset="0"/>
                        <a:cs typeface="Times New Roman" panose="02020603050405020304" pitchFamily="18" charset="0"/>
                      </a:rPr>
                      <m:t>=</m:t>
                    </m:r>
                    <m:r>
                      <m:rPr>
                        <m:nor/>
                      </m:rPr>
                      <a:rPr lang="en-US" altLang="zh-CN" sz="3600" i="0" dirty="0">
                        <a:latin typeface="Times New Roman" panose="02020603050405020304" pitchFamily="18" charset="0"/>
                        <a:cs typeface="Times New Roman" panose="02020603050405020304" pitchFamily="18" charset="0"/>
                      </a:rPr>
                      <m:t>D</m:t>
                    </m:r>
                    <m:r>
                      <m:rPr>
                        <m:nor/>
                      </m:rPr>
                      <a:rPr lang="en-US" altLang="zh-CN" sz="3600" i="0" dirty="0">
                        <a:latin typeface="Times New Roman" panose="02020603050405020304" pitchFamily="18" charset="0"/>
                        <a:cs typeface="Times New Roman" panose="02020603050405020304" pitchFamily="18" charset="0"/>
                      </a:rPr>
                      <m:t>²=</m:t>
                    </m:r>
                    <m:r>
                      <m:rPr>
                        <m:nor/>
                      </m:rPr>
                      <a:rPr lang="en-US" altLang="zh-CN" sz="3600" i="0" dirty="0">
                        <a:latin typeface="Times New Roman" panose="02020603050405020304" pitchFamily="18" charset="0"/>
                        <a:cs typeface="Times New Roman" panose="02020603050405020304" pitchFamily="18" charset="0"/>
                      </a:rPr>
                      <m:t>2374</m:t>
                    </m:r>
                  </m:oMath>
                </a14:m>
                <a:r>
                  <a:rPr lang="en-US" altLang="zh-CN" sz="3600" dirty="0">
                    <a:latin typeface="Times New Roman" panose="02020603050405020304" pitchFamily="18" charset="0"/>
                    <a:cs typeface="Times New Roman" panose="02020603050405020304" pitchFamily="18" charset="0"/>
                  </a:rPr>
                  <a:t>。</a:t>
                </a:r>
                <a:r>
                  <a:rPr lang="zh-CN" altLang="en-US" sz="3600" dirty="0">
                    <a:latin typeface="Times New Roman" panose="02020603050405020304" pitchFamily="18" charset="0"/>
                    <a:ea typeface="+mj-ea"/>
                    <a:cs typeface="Times New Roman" panose="02020603050405020304" pitchFamily="18" charset="0"/>
                  </a:rPr>
                  <a:t>上述攻击的预计算的时间复杂度、存储复杂度和在线攻击的时间复杂度均太高，攻击同样不可行。</a:t>
                </a:r>
                <a:endParaRPr lang="zh-CN" altLang="en-US" sz="3600" dirty="0">
                  <a:latin typeface="Times New Roman" panose="02020603050405020304" pitchFamily="18" charset="0"/>
                  <a:ea typeface="+mj-ea"/>
                  <a:cs typeface="Times New Roman" panose="02020603050405020304" pitchFamily="18" charset="0"/>
                </a:endParaRPr>
              </a:p>
            </p:txBody>
          </p:sp>
        </mc:Choice>
        <mc:Fallback>
          <p:sp>
            <p:nvSpPr>
              <p:cNvPr id="11" name="文本框 10"/>
              <p:cNvSpPr txBox="1">
                <a:spLocks noRot="1" noChangeAspect="1" noMove="1" noResize="1" noEditPoints="1" noAdjustHandles="1" noChangeArrowheads="1" noChangeShapeType="1" noTextEdit="1"/>
              </p:cNvSpPr>
              <p:nvPr/>
            </p:nvSpPr>
            <p:spPr>
              <a:xfrm>
                <a:off x="1066800" y="1333500"/>
                <a:ext cx="16147415" cy="8560292"/>
              </a:xfrm>
              <a:prstGeom prst="rect">
                <a:avLst/>
              </a:prstGeom>
              <a:blipFill rotWithShape="1">
                <a:blip r:embed="rId1"/>
                <a:stretch>
                  <a:fillRect b="-2516"/>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p:txBody>
          <a:bodyPr/>
          <a:lstStyle/>
          <a:p>
            <a:fld id="{B6F15528-21DE-4FAA-801E-634DDDAF4B2B}" type="slidenum">
              <a:rPr lang="en-US" smtClean="0"/>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ZUC算法的安全性分析</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0"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endParaRPr lang="zh-CN" altLang="en-US"/>
            </a:p>
          </p:txBody>
        </p:sp>
        <p:sp>
          <p:nvSpPr>
            <p:cNvPr id="29" name="TextBox 29"/>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sp>
        <p:nvSpPr>
          <p:cNvPr id="30" name="TextBox 30"/>
          <p:cNvSpPr txBox="1"/>
          <p:nvPr/>
        </p:nvSpPr>
        <p:spPr>
          <a:xfrm>
            <a:off x="7781241" y="2834725"/>
            <a:ext cx="2725514" cy="2190115"/>
          </a:xfrm>
          <a:prstGeom prst="rect">
            <a:avLst/>
          </a:prstGeom>
        </p:spPr>
        <p:txBody>
          <a:bodyPr lIns="0" tIns="0" rIns="0" bIns="0" rtlCol="0" anchor="t">
            <a:spAutoFit/>
          </a:bodyPr>
          <a:lstStyle/>
          <a:p>
            <a:pPr algn="ctr">
              <a:lnSpc>
                <a:spcPts val="17080"/>
              </a:lnSpc>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6.4</a:t>
            </a:r>
            <a:endPar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1" name="TextBox 31"/>
          <p:cNvSpPr txBox="1"/>
          <p:nvPr/>
        </p:nvSpPr>
        <p:spPr>
          <a:xfrm>
            <a:off x="3428998" y="5143500"/>
            <a:ext cx="11429999" cy="1435735"/>
          </a:xfrm>
          <a:prstGeom prst="rect">
            <a:avLst/>
          </a:prstGeom>
        </p:spPr>
        <p:txBody>
          <a:bodyPr wrap="square" lIns="0" tIns="0" rIns="0" bIns="0" rtlCol="0" anchor="t">
            <a:spAutoFit/>
          </a:bodyPr>
          <a:lstStyle/>
          <a:p>
            <a:pPr algn="ctr">
              <a:lnSpc>
                <a:spcPts val="11200"/>
              </a:lnSpc>
            </a:pPr>
            <a:r>
              <a:rPr lang="en-US" altLang="zh-CN"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ZUC</a:t>
            </a:r>
            <a:r>
              <a:rPr lang="zh-CN" altLang="en-US"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算法案例</a:t>
            </a:r>
            <a:endParaRPr lang="zh-CN" altLang="en-US"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40" name="TextBox 40"/>
              <p:cNvSpPr txBox="1"/>
              <p:nvPr/>
            </p:nvSpPr>
            <p:spPr>
              <a:xfrm>
                <a:off x="0" y="0"/>
                <a:ext cx="5501351" cy="288980"/>
              </a:xfrm>
              <a:prstGeom prst="rect">
                <a:avLst/>
              </a:prstGeom>
            </p:spPr>
            <p:txBody>
              <a:bodyPr lIns="50800" tIns="50800" rIns="50800" bIns="50800" rtlCol="0" anchor="ctr"/>
              <a:lstStyle/>
              <a:p>
                <a:pPr algn="ctr">
                  <a:lnSpc>
                    <a:spcPts val="2880"/>
                  </a:lnSpc>
                </a:p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43" name="TextBox 43"/>
              <p:cNvSpPr txBox="1"/>
              <p:nvPr/>
            </p:nvSpPr>
            <p:spPr>
              <a:xfrm>
                <a:off x="0" y="0"/>
                <a:ext cx="5501351" cy="327048"/>
              </a:xfrm>
              <a:prstGeom prst="rect">
                <a:avLst/>
              </a:prstGeom>
            </p:spPr>
            <p:txBody>
              <a:bodyPr lIns="50800" tIns="50800" rIns="50800" bIns="50800" rtlCol="0" anchor="ctr"/>
              <a:lstStyle/>
              <a:p>
                <a:pPr algn="ctr">
                  <a:lnSpc>
                    <a:spcPts val="2880"/>
                  </a:lnSpc>
                </a:pPr>
              </a:p>
            </p:txBody>
          </p:sp>
        </p:grpSp>
      </p:grpSp>
      <p:sp>
        <p:nvSpPr>
          <p:cNvPr id="33" name="灯片编号占位符 32"/>
          <p:cNvSpPr>
            <a:spLocks noGrp="1"/>
          </p:cNvSpPr>
          <p:nvPr>
            <p:ph type="sldNum" sz="quarter" idx="12"/>
          </p:nvPr>
        </p:nvSpPr>
        <p:spPr>
          <a:xfrm>
            <a:off x="15374104" y="9522714"/>
            <a:ext cx="2133600" cy="441325"/>
          </a:xfrm>
        </p:spPr>
        <p:txBody>
          <a:bodyPr/>
          <a:lstStyle/>
          <a:p>
            <a:r>
              <a:rPr lang="en-US" dirty="0"/>
              <a:t>35</a:t>
            </a:r>
            <a:endParaRPr lang="en-US" dirty="0"/>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36" name="图片 35"/>
            <p:cNvPicPr>
              <a:picLocks noChangeAspect="1"/>
            </p:cNvPicPr>
            <p:nvPr/>
          </p:nvPicPr>
          <p:blipFill>
            <a:blip r:embed="rId1"/>
            <a:stretch>
              <a:fillRect/>
            </a:stretch>
          </p:blipFill>
          <p:spPr>
            <a:xfrm>
              <a:off x="13944600" y="877286"/>
              <a:ext cx="2771429" cy="47619"/>
            </a:xfrm>
            <a:prstGeom prst="rect">
              <a:avLst/>
            </a:prstGeom>
          </p:spPr>
        </p:pic>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997585" y="2019300"/>
            <a:ext cx="16147415" cy="4076700"/>
          </a:xfrm>
          <a:prstGeom prst="rect">
            <a:avLst/>
          </a:prstGeom>
          <a:noFill/>
        </p:spPr>
        <p:txBody>
          <a:bodyPr wrap="square" rtlCol="0">
            <a:spAutoFit/>
          </a:bodyPr>
          <a:lstStyle/>
          <a:p>
            <a:pPr indent="914400" algn="just" fontAlgn="auto">
              <a:lnSpc>
                <a:spcPct val="120000"/>
              </a:lnSpc>
              <a:extLst>
                <a:ext uri="{35155182-B16C-46BC-9424-99874614C6A1}">
                  <wpsdc:indentchars xmlns:wpsdc="http://www.wps.cn/officeDocument/2017/drawingmlCustomData" val="200" checksum="797548545"/>
                </a:ext>
              </a:extLst>
            </a:pP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 ZUC-256</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3GPP</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机密性128-</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EEA3</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与完整性算法</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128</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EIA3</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中采用的</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ZUC-128</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256bit</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密钥升级版本。</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ZUC-256</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的设计目标是在5</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G</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的应用环境下提供</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256bit</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的安全性。随着通信与技术的发展，未来</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5G</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应用环境对</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256bit</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安全性的新型流密码算法的需求越发迫切。</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ZUC-256</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序列密码总体结构与</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ZUC</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算法的总体结构相同。</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ZUC-256</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的密钥/初始变量装载算法如下。其中，符号||代表比特级的连接，符号|代表比特级的或运算，是填充常数。</a:t>
            </a:r>
            <a:endParaRPr lang="en-US" altLang="zh-CN" sz="36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灯片编号占位符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ea typeface="宋体" panose="02010600030101010101" pitchFamily="2" charset="-122"/>
                <a:cs typeface="Times New Roman" panose="02020603050405020304" pitchFamily="18" charset="0"/>
              </a:rPr>
            </a:fld>
            <a:endParaRPr lang="en-US">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6" name="Group 2"/>
          <p:cNvGrpSpPr/>
          <p:nvPr/>
        </p:nvGrpSpPr>
        <p:grpSpPr>
          <a:xfrm>
            <a:off x="412090" y="1028700"/>
            <a:ext cx="7800783" cy="275915"/>
            <a:chOff x="0" y="0"/>
            <a:chExt cx="2054527" cy="72669"/>
          </a:xfrm>
        </p:grpSpPr>
        <p:sp>
          <p:nvSpPr>
            <p:cNvPr id="1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19" name="TextBox 30"/>
          <p:cNvSpPr txBox="1"/>
          <p:nvPr/>
        </p:nvSpPr>
        <p:spPr>
          <a:xfrm>
            <a:off x="2210043" y="509179"/>
            <a:ext cx="9458717" cy="717550"/>
          </a:xfrm>
          <a:prstGeom prst="rect">
            <a:avLst/>
          </a:prstGeom>
        </p:spPr>
        <p:txBody>
          <a:bodyPr lIns="0" tIns="0" rIns="0" bIns="0" rtlCol="0" anchor="t">
            <a:spAutoFit/>
          </a:bodyPr>
          <a:lstStyle/>
          <a:p>
            <a:pPr>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ZUC</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算法案例</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endParaRPr>
          </a:p>
        </p:txBody>
      </p:sp>
      <p:sp>
        <p:nvSpPr>
          <p:cNvPr id="20"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6.4</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endParaRPr>
          </a:p>
        </p:txBody>
      </p:sp>
      <p:pic>
        <p:nvPicPr>
          <p:cNvPr id="21"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22" name="组合 21"/>
          <p:cNvGrpSpPr/>
          <p:nvPr/>
        </p:nvGrpSpPr>
        <p:grpSpPr>
          <a:xfrm>
            <a:off x="13639786" y="733421"/>
            <a:ext cx="3700052" cy="416951"/>
            <a:chOff x="13811849" y="507954"/>
            <a:chExt cx="3700052" cy="416951"/>
          </a:xfrm>
        </p:grpSpPr>
        <p:sp>
          <p:nvSpPr>
            <p:cNvPr id="23" name="文本框 2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zh-CN" b="1"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密码学——基础理论与应用</a:t>
              </a:r>
              <a:endParaRPr lang="zh-CN" altLang="zh-CN" b="1" dirty="0">
                <a:solidFill>
                  <a:schemeClr val="tx2"/>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24" name="图片 23"/>
            <p:cNvPicPr>
              <a:picLocks noChangeAspect="1"/>
            </p:cNvPicPr>
            <p:nvPr/>
          </p:nvPicPr>
          <p:blipFill>
            <a:blip r:embed="rId2"/>
            <a:stretch>
              <a:fillRect/>
            </a:stretch>
          </p:blipFill>
          <p:spPr>
            <a:xfrm>
              <a:off x="13944600" y="877286"/>
              <a:ext cx="2771429" cy="47619"/>
            </a:xfrm>
            <a:prstGeom prst="rect">
              <a:avLst/>
            </a:prstGeom>
          </p:spPr>
        </p:pic>
      </p:grpSp>
      <p:graphicFrame>
        <p:nvGraphicFramePr>
          <p:cNvPr id="2" name="对象 -2147481897"/>
          <p:cNvGraphicFramePr>
            <a:graphicFrameLocks noChangeAspect="1"/>
          </p:cNvGraphicFramePr>
          <p:nvPr/>
        </p:nvGraphicFramePr>
        <p:xfrm>
          <a:off x="11582400" y="6057900"/>
          <a:ext cx="4773930" cy="2689860"/>
        </p:xfrm>
        <a:graphic>
          <a:graphicData uri="http://schemas.openxmlformats.org/presentationml/2006/ole">
            <mc:AlternateContent xmlns:mc="http://schemas.openxmlformats.org/markup-compatibility/2006">
              <mc:Choice xmlns:v="urn:schemas-microsoft-com:vml" Requires="v">
                <p:oleObj spid="_x0000_s0" name="" r:id="rId3" imgW="1714500" imgH="977900" progId="Equation.DSMT4">
                  <p:embed/>
                </p:oleObj>
              </mc:Choice>
              <mc:Fallback>
                <p:oleObj name="" r:id="rId3" imgW="1714500" imgH="977900" progId="Equation.DSMT4">
                  <p:embed/>
                  <p:pic>
                    <p:nvPicPr>
                      <p:cNvPr id="0" name="图片 3075"/>
                      <p:cNvPicPr/>
                      <p:nvPr/>
                    </p:nvPicPr>
                    <p:blipFill>
                      <a:blip r:embed="rId4"/>
                      <a:stretch>
                        <a:fillRect/>
                      </a:stretch>
                    </p:blipFill>
                    <p:spPr>
                      <a:xfrm>
                        <a:off x="11582400" y="6057900"/>
                        <a:ext cx="4773930" cy="2689860"/>
                      </a:xfrm>
                      <a:prstGeom prst="rect">
                        <a:avLst/>
                      </a:prstGeom>
                      <a:noFill/>
                      <a:ln w="38100">
                        <a:noFill/>
                        <a:miter/>
                      </a:ln>
                    </p:spPr>
                  </p:pic>
                </p:oleObj>
              </mc:Fallback>
            </mc:AlternateContent>
          </a:graphicData>
        </a:graphic>
      </p:graphicFrame>
      <p:graphicFrame>
        <p:nvGraphicFramePr>
          <p:cNvPr id="3" name="对象 -2147481899"/>
          <p:cNvGraphicFramePr>
            <a:graphicFrameLocks noChangeAspect="1"/>
          </p:cNvGraphicFramePr>
          <p:nvPr/>
        </p:nvGraphicFramePr>
        <p:xfrm>
          <a:off x="2349500" y="7962900"/>
          <a:ext cx="3938270" cy="1686560"/>
        </p:xfrm>
        <a:graphic>
          <a:graphicData uri="http://schemas.openxmlformats.org/presentationml/2006/ole">
            <mc:AlternateContent xmlns:mc="http://schemas.openxmlformats.org/markup-compatibility/2006">
              <mc:Choice xmlns:v="urn:schemas-microsoft-com:vml" Requires="v">
                <p:oleObj spid="_x0000_s0" name="" r:id="rId5" imgW="1435100" imgH="622300" progId="Equation.DSMT4">
                  <p:embed/>
                </p:oleObj>
              </mc:Choice>
              <mc:Fallback>
                <p:oleObj name="" r:id="rId5" imgW="1435100" imgH="622300" progId="Equation.DSMT4">
                  <p:embed/>
                  <p:pic>
                    <p:nvPicPr>
                      <p:cNvPr id="0" name="图片 1"/>
                      <p:cNvPicPr/>
                      <p:nvPr/>
                    </p:nvPicPr>
                    <p:blipFill>
                      <a:blip r:embed="rId6"/>
                      <a:stretch>
                        <a:fillRect/>
                      </a:stretch>
                    </p:blipFill>
                    <p:spPr>
                      <a:xfrm>
                        <a:off x="2349500" y="7962900"/>
                        <a:ext cx="3938270" cy="1686560"/>
                      </a:xfrm>
                      <a:prstGeom prst="rect">
                        <a:avLst/>
                      </a:prstGeom>
                      <a:noFill/>
                      <a:ln w="38100">
                        <a:noFill/>
                        <a:miter/>
                      </a:ln>
                    </p:spPr>
                  </p:pic>
                </p:oleObj>
              </mc:Fallback>
            </mc:AlternateContent>
          </a:graphicData>
        </a:graphic>
      </p:graphicFrame>
      <p:graphicFrame>
        <p:nvGraphicFramePr>
          <p:cNvPr id="5" name="对象 -2147481871"/>
          <p:cNvGraphicFramePr>
            <a:graphicFrameLocks noChangeAspect="1"/>
          </p:cNvGraphicFramePr>
          <p:nvPr/>
        </p:nvGraphicFramePr>
        <p:xfrm>
          <a:off x="2362200" y="5905500"/>
          <a:ext cx="2784475" cy="2004695"/>
        </p:xfrm>
        <a:graphic>
          <a:graphicData uri="http://schemas.openxmlformats.org/presentationml/2006/ole">
            <mc:AlternateContent xmlns:mc="http://schemas.openxmlformats.org/markup-compatibility/2006">
              <mc:Choice xmlns:v="urn:schemas-microsoft-com:vml" Requires="v">
                <p:oleObj spid="_x0000_s0" name="" r:id="rId7" imgW="1040765" imgH="774065" progId="Equation.DSMT4">
                  <p:embed/>
                </p:oleObj>
              </mc:Choice>
              <mc:Fallback>
                <p:oleObj name="" r:id="rId7" imgW="1040765" imgH="774065" progId="Equation.DSMT4">
                  <p:embed/>
                  <p:pic>
                    <p:nvPicPr>
                      <p:cNvPr id="0" name="图片 2"/>
                      <p:cNvPicPr/>
                      <p:nvPr/>
                    </p:nvPicPr>
                    <p:blipFill>
                      <a:blip r:embed="rId8"/>
                      <a:stretch>
                        <a:fillRect/>
                      </a:stretch>
                    </p:blipFill>
                    <p:spPr>
                      <a:xfrm>
                        <a:off x="2362200" y="5905500"/>
                        <a:ext cx="2784475" cy="2004695"/>
                      </a:xfrm>
                      <a:prstGeom prst="rect">
                        <a:avLst/>
                      </a:prstGeom>
                      <a:noFill/>
                      <a:ln w="38100">
                        <a:noFill/>
                        <a:miter/>
                      </a:ln>
                    </p:spPr>
                  </p:pic>
                </p:oleObj>
              </mc:Fallback>
            </mc:AlternateContent>
          </a:graphicData>
        </a:graphic>
      </p:graphicFrame>
      <p:graphicFrame>
        <p:nvGraphicFramePr>
          <p:cNvPr id="8" name="对象 -2147481898"/>
          <p:cNvGraphicFramePr>
            <a:graphicFrameLocks noChangeAspect="1"/>
          </p:cNvGraphicFramePr>
          <p:nvPr/>
        </p:nvGraphicFramePr>
        <p:xfrm>
          <a:off x="6934200" y="6210300"/>
          <a:ext cx="3904615" cy="2694940"/>
        </p:xfrm>
        <a:graphic>
          <a:graphicData uri="http://schemas.openxmlformats.org/presentationml/2006/ole">
            <mc:AlternateContent xmlns:mc="http://schemas.openxmlformats.org/markup-compatibility/2006">
              <mc:Choice xmlns:v="urn:schemas-microsoft-com:vml" Requires="v">
                <p:oleObj spid="_x0000_s0" name="" r:id="rId9" imgW="1536700" imgH="1054100" progId="Equation.DSMT4">
                  <p:embed/>
                </p:oleObj>
              </mc:Choice>
              <mc:Fallback>
                <p:oleObj name="" r:id="rId9" imgW="1536700" imgH="1054100" progId="Equation.DSMT4">
                  <p:embed/>
                  <p:pic>
                    <p:nvPicPr>
                      <p:cNvPr id="0" name="图片 3"/>
                      <p:cNvPicPr/>
                      <p:nvPr/>
                    </p:nvPicPr>
                    <p:blipFill>
                      <a:blip r:embed="rId10"/>
                      <a:stretch>
                        <a:fillRect/>
                      </a:stretch>
                    </p:blipFill>
                    <p:spPr>
                      <a:xfrm>
                        <a:off x="6934200" y="6210300"/>
                        <a:ext cx="3904615" cy="2694940"/>
                      </a:xfrm>
                      <a:prstGeom prst="rect">
                        <a:avLst/>
                      </a:prstGeom>
                      <a:noFill/>
                      <a:ln w="38100">
                        <a:noFill/>
                        <a:miter/>
                      </a:ln>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997585" y="2019300"/>
            <a:ext cx="16147415" cy="3970318"/>
          </a:xfrm>
          <a:prstGeom prst="rect">
            <a:avLst/>
          </a:prstGeom>
          <a:noFill/>
        </p:spPr>
        <p:txBody>
          <a:bodyPr wrap="square" rtlCol="0">
            <a:spAutoFit/>
          </a:bodyPr>
          <a:lstStyle/>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对于生成不同长度的</a:t>
            </a:r>
            <a:r>
              <a:rPr lang="en-US" altLang="zh-CN" sz="3600" dirty="0">
                <a:latin typeface="Times New Roman" panose="02020603050405020304" pitchFamily="18" charset="0"/>
                <a:ea typeface="+mj-ea"/>
                <a:cs typeface="Times New Roman" panose="02020603050405020304" pitchFamily="18" charset="0"/>
              </a:rPr>
              <a:t>MAC</a:t>
            </a:r>
            <a:r>
              <a:rPr lang="zh-CN" altLang="en-US" sz="3600" dirty="0">
                <a:latin typeface="Times New Roman" panose="02020603050405020304" pitchFamily="18" charset="0"/>
                <a:ea typeface="+mj-ea"/>
                <a:cs typeface="Times New Roman" panose="02020603050405020304" pitchFamily="18" charset="0"/>
              </a:rPr>
              <a:t>标签，为了防止伪造攻击，所采用的填充常数会不同。</a:t>
            </a:r>
            <a:endParaRPr lang="en-US" altLang="zh-CN" sz="3600" dirty="0">
              <a:latin typeface="Times New Roman" panose="02020603050405020304" pitchFamily="18" charset="0"/>
              <a:ea typeface="+mj-ea"/>
              <a:cs typeface="Times New Roman" panose="02020603050405020304" pitchFamily="18" charset="0"/>
            </a:endParaRPr>
          </a:p>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在应用中，</a:t>
            </a:r>
            <a:r>
              <a:rPr lang="en-US" altLang="zh-CN" sz="3600" dirty="0">
                <a:latin typeface="Times New Roman" panose="02020603050405020304" pitchFamily="18" charset="0"/>
                <a:ea typeface="+mj-ea"/>
                <a:cs typeface="Times New Roman" panose="02020603050405020304" pitchFamily="18" charset="0"/>
              </a:rPr>
              <a:t>ZUC-256</a:t>
            </a:r>
            <a:r>
              <a:rPr lang="zh-CN" altLang="en-US" sz="3600" dirty="0">
                <a:latin typeface="Times New Roman" panose="02020603050405020304" pitchFamily="18" charset="0"/>
                <a:ea typeface="+mj-ea"/>
                <a:cs typeface="Times New Roman" panose="02020603050405020304" pitchFamily="18" charset="0"/>
              </a:rPr>
              <a:t>每帧产生</a:t>
            </a:r>
            <a:r>
              <a:rPr lang="en-US" altLang="zh-CN" sz="3600" dirty="0">
                <a:latin typeface="Times New Roman" panose="02020603050405020304" pitchFamily="18" charset="0"/>
                <a:ea typeface="+mj-ea"/>
                <a:cs typeface="Times New Roman" panose="02020603050405020304" pitchFamily="18" charset="0"/>
              </a:rPr>
              <a:t>20000bit</a:t>
            </a:r>
            <a:r>
              <a:rPr lang="zh-CN" altLang="en-US" sz="3600" dirty="0">
                <a:latin typeface="Times New Roman" panose="02020603050405020304" pitchFamily="18" charset="0"/>
                <a:ea typeface="+mj-ea"/>
                <a:cs typeface="Times New Roman" panose="02020603050405020304" pitchFamily="18" charset="0"/>
              </a:rPr>
              <a:t>的密钥流，即每帧产生</a:t>
            </a:r>
            <a:r>
              <a:rPr lang="en-US" altLang="zh-CN" sz="3600" dirty="0">
                <a:latin typeface="Times New Roman" panose="02020603050405020304" pitchFamily="18" charset="0"/>
                <a:ea typeface="+mj-ea"/>
                <a:cs typeface="Times New Roman" panose="02020603050405020304" pitchFamily="18" charset="0"/>
              </a:rPr>
              <a:t>625</a:t>
            </a:r>
            <a:r>
              <a:rPr lang="zh-CN" altLang="en-US" sz="3600" dirty="0">
                <a:latin typeface="Times New Roman" panose="02020603050405020304" pitchFamily="18" charset="0"/>
                <a:ea typeface="+mj-ea"/>
                <a:cs typeface="Times New Roman" panose="02020603050405020304" pitchFamily="18" charset="0"/>
              </a:rPr>
              <a:t>个密钥流字；随后进行一次密钥/初始变量的再同步过程，在这一过程中保持密钥/常数不变，而初始变量演变为一个新值。</a:t>
            </a:r>
            <a:endParaRPr lang="en-US" altLang="zh-CN" sz="3600" dirty="0">
              <a:latin typeface="Times New Roman" panose="02020603050405020304" pitchFamily="18" charset="0"/>
              <a:ea typeface="+mj-ea"/>
              <a:cs typeface="Times New Roman" panose="02020603050405020304" pitchFamily="18" charset="0"/>
            </a:endParaRPr>
          </a:p>
          <a:p>
            <a:pPr indent="457200" algn="just" fontAlgn="auto"/>
            <a:endParaRPr lang="zh-CN" altLang="en-US" sz="3600" dirty="0">
              <a:latin typeface="Times New Roman" panose="02020603050405020304" pitchFamily="18" charset="0"/>
              <a:ea typeface="+mj-ea"/>
              <a:cs typeface="Times New Roman" panose="02020603050405020304" pitchFamily="18" charset="0"/>
            </a:endParaRPr>
          </a:p>
        </p:txBody>
      </p:sp>
      <p:sp>
        <p:nvSpPr>
          <p:cNvPr id="6" name="灯片编号占位符 5"/>
          <p:cNvSpPr>
            <a:spLocks noGrp="1"/>
          </p:cNvSpPr>
          <p:nvPr>
            <p:ph type="sldNum" sz="quarter" idx="12"/>
          </p:nvPr>
        </p:nvSpPr>
        <p:spPr/>
        <p:txBody>
          <a:bodyPr/>
          <a:lstStyle/>
          <a:p>
            <a:fld id="{B6F15528-21DE-4FAA-801E-634DDDAF4B2B}" type="slidenum">
              <a:rPr lang="en-US" smtClean="0"/>
            </a:fld>
            <a:endParaRPr lang="en-US"/>
          </a:p>
        </p:txBody>
      </p:sp>
      <p:grpSp>
        <p:nvGrpSpPr>
          <p:cNvPr id="16" name="Group 2"/>
          <p:cNvGrpSpPr/>
          <p:nvPr/>
        </p:nvGrpSpPr>
        <p:grpSpPr>
          <a:xfrm>
            <a:off x="412090" y="1028700"/>
            <a:ext cx="7800783" cy="275915"/>
            <a:chOff x="0" y="0"/>
            <a:chExt cx="2054527" cy="72669"/>
          </a:xfrm>
        </p:grpSpPr>
        <p:sp>
          <p:nvSpPr>
            <p:cNvPr id="1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9"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ZUC</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算法案例</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20"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6.4</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21"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22" name="组合 21"/>
          <p:cNvGrpSpPr/>
          <p:nvPr/>
        </p:nvGrpSpPr>
        <p:grpSpPr>
          <a:xfrm>
            <a:off x="13639786" y="733421"/>
            <a:ext cx="3700052" cy="416951"/>
            <a:chOff x="13811849" y="507954"/>
            <a:chExt cx="3700052" cy="416951"/>
          </a:xfrm>
        </p:grpSpPr>
        <p:sp>
          <p:nvSpPr>
            <p:cNvPr id="23" name="文本框 2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24" name="图片 23"/>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 name="文本框 10"/>
              <p:cNvSpPr txBox="1"/>
              <p:nvPr/>
            </p:nvSpPr>
            <p:spPr>
              <a:xfrm>
                <a:off x="914400" y="1562100"/>
                <a:ext cx="16147415" cy="8599805"/>
              </a:xfrm>
              <a:prstGeom prst="rect">
                <a:avLst/>
              </a:prstGeom>
              <a:noFill/>
            </p:spPr>
            <p:txBody>
              <a:bodyPr wrap="square" rtlCol="0">
                <a:noAutofit/>
              </a:bodyPr>
              <a:lstStyle/>
              <a:p>
                <a:pPr indent="457200" algn="just" fontAlgn="auto">
                  <a:lnSpc>
                    <a:spcPct val="120000"/>
                  </a:lnSpc>
                </a:pPr>
                <a:r>
                  <a:rPr lang="en-US" altLang="zh-CN" sz="3600" dirty="0">
                    <a:latin typeface="Times New Roman" panose="02020603050405020304" pitchFamily="18" charset="0"/>
                    <a:ea typeface="+mj-ea"/>
                    <a:cs typeface="Times New Roman" panose="02020603050405020304" pitchFamily="18" charset="0"/>
                    <a:sym typeface="+mn-ea"/>
                  </a:rPr>
                  <a:t>ZUC-256</a:t>
                </a:r>
                <a:r>
                  <a:rPr lang="zh-CN" altLang="en-US" sz="3600" dirty="0">
                    <a:latin typeface="Times New Roman" panose="02020603050405020304" pitchFamily="18" charset="0"/>
                    <a:ea typeface="+mj-ea"/>
                    <a:cs typeface="Times New Roman" panose="02020603050405020304" pitchFamily="18" charset="0"/>
                    <a:sym typeface="+mn-ea"/>
                  </a:rPr>
                  <a:t>的消息认证码生成算法如下。令</a:t>
                </a:r>
                <a14:m>
                  <m:oMath xmlns:m="http://schemas.openxmlformats.org/officeDocument/2006/math">
                    <m:r>
                      <m:rPr>
                        <m:nor/>
                      </m:rPr>
                      <a:rPr lang="en-US" altLang="zh-CN" sz="3600" i="0" dirty="0">
                        <a:latin typeface="Times New Roman" panose="02020603050405020304" pitchFamily="18" charset="0"/>
                        <a:ea typeface="+mj-ea"/>
                        <a:cs typeface="Times New Roman" panose="02020603050405020304" pitchFamily="18" charset="0"/>
                        <a:sym typeface="+mn-ea"/>
                      </a:rPr>
                      <m:t>M</m:t>
                    </m:r>
                    <m:r>
                      <m:rPr>
                        <m:nor/>
                      </m:rPr>
                      <a:rPr lang="en-US" altLang="zh-CN" sz="3600" i="0" dirty="0">
                        <a:latin typeface="Times New Roman" panose="02020603050405020304" pitchFamily="18" charset="0"/>
                        <a:ea typeface="+mj-ea"/>
                        <a:cs typeface="Times New Roman" panose="02020603050405020304" pitchFamily="18" charset="0"/>
                        <a:sym typeface="+mn-ea"/>
                      </a:rPr>
                      <m:t>=(</m:t>
                    </m:r>
                    <m:r>
                      <m:rPr>
                        <m:nor/>
                      </m:rPr>
                      <a:rPr lang="en-US" altLang="zh-CN" sz="3600" i="0" dirty="0">
                        <a:latin typeface="Times New Roman" panose="02020603050405020304" pitchFamily="18" charset="0"/>
                        <a:ea typeface="+mj-ea"/>
                        <a:cs typeface="Times New Roman" panose="02020603050405020304" pitchFamily="18" charset="0"/>
                        <a:sym typeface="+mn-ea"/>
                      </a:rPr>
                      <m:t>m</m:t>
                    </m:r>
                    <m:r>
                      <m:rPr>
                        <m:nor/>
                      </m:rPr>
                      <a:rPr lang="en-US" altLang="zh-CN" sz="3600" i="0" baseline="-25000" dirty="0">
                        <a:latin typeface="Times New Roman" panose="02020603050405020304" pitchFamily="18" charset="0"/>
                        <a:ea typeface="+mj-ea"/>
                        <a:cs typeface="Times New Roman" panose="02020603050405020304" pitchFamily="18" charset="0"/>
                        <a:sym typeface="+mn-ea"/>
                      </a:rPr>
                      <m:t>0</m:t>
                    </m:r>
                    <m:r>
                      <m:rPr>
                        <m:nor/>
                      </m:rPr>
                      <a:rPr lang="en-US" altLang="zh-CN" sz="3600" i="0" dirty="0">
                        <a:latin typeface="Times New Roman" panose="02020603050405020304" pitchFamily="18" charset="0"/>
                        <a:ea typeface="+mj-ea"/>
                        <a:cs typeface="Times New Roman" panose="02020603050405020304" pitchFamily="18" charset="0"/>
                        <a:sym typeface="+mn-ea"/>
                      </a:rPr>
                      <m:t>, </m:t>
                    </m:r>
                    <m:r>
                      <m:rPr>
                        <m:nor/>
                      </m:rPr>
                      <a:rPr lang="en-US" altLang="zh-CN" sz="3600" i="0" dirty="0">
                        <a:latin typeface="Times New Roman" panose="02020603050405020304" pitchFamily="18" charset="0"/>
                        <a:ea typeface="+mj-ea"/>
                        <a:cs typeface="Times New Roman" panose="02020603050405020304" pitchFamily="18" charset="0"/>
                        <a:sym typeface="+mn-ea"/>
                      </a:rPr>
                      <m:t>m</m:t>
                    </m:r>
                    <m:r>
                      <m:rPr>
                        <m:nor/>
                      </m:rPr>
                      <a:rPr lang="en-US" altLang="zh-CN" sz="3600" i="0" baseline="-25000" dirty="0">
                        <a:latin typeface="Times New Roman" panose="02020603050405020304" pitchFamily="18" charset="0"/>
                        <a:ea typeface="+mj-ea"/>
                        <a:cs typeface="Times New Roman" panose="02020603050405020304" pitchFamily="18" charset="0"/>
                        <a:sym typeface="+mn-ea"/>
                      </a:rPr>
                      <m:t>1</m:t>
                    </m:r>
                    <m:r>
                      <m:rPr>
                        <m:nor/>
                      </m:rPr>
                      <a:rPr lang="en-US" altLang="zh-CN" sz="3600" i="0" dirty="0">
                        <a:latin typeface="Times New Roman" panose="02020603050405020304" pitchFamily="18" charset="0"/>
                        <a:ea typeface="+mj-ea"/>
                        <a:cs typeface="Times New Roman" panose="02020603050405020304" pitchFamily="18" charset="0"/>
                        <a:sym typeface="+mn-ea"/>
                      </a:rPr>
                      <m:t>, …, </m:t>
                    </m:r>
                    <m:r>
                      <m:rPr>
                        <m:nor/>
                      </m:rPr>
                      <a:rPr lang="en-US" altLang="zh-CN" sz="3600" i="0" dirty="0">
                        <a:latin typeface="Times New Roman" panose="02020603050405020304" pitchFamily="18" charset="0"/>
                        <a:ea typeface="+mj-ea"/>
                        <a:cs typeface="Times New Roman" panose="02020603050405020304" pitchFamily="18" charset="0"/>
                        <a:sym typeface="+mn-ea"/>
                      </a:rPr>
                      <m:t>m</m:t>
                    </m:r>
                    <m:r>
                      <m:rPr>
                        <m:nor/>
                      </m:rPr>
                      <a:rPr lang="en-US" altLang="zh-CN" sz="3600" i="0" baseline="-25000" dirty="0">
                        <a:latin typeface="Times New Roman" panose="02020603050405020304" pitchFamily="18" charset="0"/>
                        <a:ea typeface="+mj-ea"/>
                        <a:cs typeface="Times New Roman" panose="02020603050405020304" pitchFamily="18" charset="0"/>
                        <a:sym typeface="+mn-ea"/>
                      </a:rPr>
                      <m:t>l</m:t>
                    </m:r>
                    <m:r>
                      <m:rPr>
                        <m:nor/>
                      </m:rPr>
                      <a:rPr lang="en-US" altLang="zh-CN" sz="3600" i="0" baseline="-25000" dirty="0">
                        <a:latin typeface="Times New Roman" panose="02020603050405020304" pitchFamily="18" charset="0"/>
                        <a:ea typeface="+mj-ea"/>
                        <a:cs typeface="Times New Roman" panose="02020603050405020304" pitchFamily="18" charset="0"/>
                        <a:sym typeface="+mn-ea"/>
                      </a:rPr>
                      <m:t>−</m:t>
                    </m:r>
                    <m:r>
                      <m:rPr>
                        <m:nor/>
                      </m:rPr>
                      <a:rPr lang="en-US" altLang="zh-CN" sz="3600" i="0" baseline="-25000" dirty="0">
                        <a:latin typeface="Times New Roman" panose="02020603050405020304" pitchFamily="18" charset="0"/>
                        <a:ea typeface="+mj-ea"/>
                        <a:cs typeface="Times New Roman" panose="02020603050405020304" pitchFamily="18" charset="0"/>
                        <a:sym typeface="+mn-ea"/>
                      </a:rPr>
                      <m:t>1</m:t>
                    </m:r>
                    <m:r>
                      <m:rPr>
                        <m:nor/>
                      </m:rPr>
                      <a:rPr lang="en-US" altLang="zh-CN" sz="3600" i="0" dirty="0">
                        <a:latin typeface="Times New Roman" panose="02020603050405020304" pitchFamily="18" charset="0"/>
                        <a:ea typeface="+mj-ea"/>
                        <a:cs typeface="Times New Roman" panose="02020603050405020304" pitchFamily="18" charset="0"/>
                        <a:sym typeface="+mn-ea"/>
                      </a:rPr>
                      <m:t>)</m:t>
                    </m:r>
                  </m:oMath>
                </a14:m>
                <a:r>
                  <a:rPr lang="zh-CN" altLang="en-US" sz="3600" dirty="0">
                    <a:latin typeface="Times New Roman" panose="02020603050405020304" pitchFamily="18" charset="0"/>
                    <a:ea typeface="+mj-ea"/>
                    <a:cs typeface="Times New Roman" panose="02020603050405020304" pitchFamily="18" charset="0"/>
                    <a:sym typeface="+mn-ea"/>
                  </a:rPr>
                  <a:t>为</a:t>
                </a:r>
                <a:r>
                  <a:rPr lang="en-US" altLang="zh-CN" sz="3600" dirty="0">
                    <a:latin typeface="Times New Roman" panose="02020603050405020304" pitchFamily="18" charset="0"/>
                    <a:ea typeface="+mj-ea"/>
                    <a:cs typeface="Times New Roman" panose="02020603050405020304" pitchFamily="18" charset="0"/>
                    <a:sym typeface="+mn-ea"/>
                  </a:rPr>
                  <a:t>l bit</a:t>
                </a:r>
                <a:r>
                  <a:rPr lang="zh-CN" altLang="en-US" sz="3600" dirty="0">
                    <a:latin typeface="Times New Roman" panose="02020603050405020304" pitchFamily="18" charset="0"/>
                    <a:ea typeface="+mj-ea"/>
                    <a:cs typeface="Times New Roman" panose="02020603050405020304" pitchFamily="18" charset="0"/>
                    <a:sym typeface="+mn-ea"/>
                  </a:rPr>
                  <a:t>的明文消息，认证标签长度</a:t>
                </a:r>
                <a:r>
                  <a:rPr lang="en-US" altLang="zh-CN" sz="3600" dirty="0">
                    <a:latin typeface="Times New Roman" panose="02020603050405020304" pitchFamily="18" charset="0"/>
                    <a:ea typeface="+mj-ea"/>
                    <a:cs typeface="Times New Roman" panose="02020603050405020304" pitchFamily="18" charset="0"/>
                    <a:sym typeface="+mn-ea"/>
                  </a:rPr>
                  <a:t>t</a:t>
                </a:r>
                <a:r>
                  <a:rPr lang="zh-CN" altLang="en-US" sz="3600" dirty="0">
                    <a:latin typeface="Times New Roman" panose="02020603050405020304" pitchFamily="18" charset="0"/>
                    <a:ea typeface="+mj-ea"/>
                    <a:cs typeface="Times New Roman" panose="02020603050405020304" pitchFamily="18" charset="0"/>
                    <a:sym typeface="+mn-ea"/>
                  </a:rPr>
                  <a:t>可取为</a:t>
                </a:r>
                <a:r>
                  <a:rPr lang="en-US" altLang="zh-CN" sz="3600" dirty="0">
                    <a:latin typeface="Times New Roman" panose="02020603050405020304" pitchFamily="18" charset="0"/>
                    <a:ea typeface="+mj-ea"/>
                    <a:cs typeface="Times New Roman" panose="02020603050405020304" pitchFamily="18" charset="0"/>
                    <a:sym typeface="+mn-ea"/>
                  </a:rPr>
                  <a:t>32bit、64bit</a:t>
                </a:r>
                <a:r>
                  <a:rPr lang="zh-CN" altLang="en-US" sz="3600" dirty="0">
                    <a:latin typeface="Times New Roman" panose="02020603050405020304" pitchFamily="18" charset="0"/>
                    <a:ea typeface="+mj-ea"/>
                    <a:cs typeface="Times New Roman" panose="02020603050405020304" pitchFamily="18" charset="0"/>
                    <a:sym typeface="+mn-ea"/>
                  </a:rPr>
                  <a:t>及</a:t>
                </a:r>
                <a:r>
                  <a:rPr lang="en-US" altLang="zh-CN" sz="3600" dirty="0">
                    <a:latin typeface="Times New Roman" panose="02020603050405020304" pitchFamily="18" charset="0"/>
                    <a:ea typeface="+mj-ea"/>
                    <a:cs typeface="Times New Roman" panose="02020603050405020304" pitchFamily="18" charset="0"/>
                    <a:sym typeface="+mn-ea"/>
                  </a:rPr>
                  <a:t>128bit。</a:t>
                </a:r>
                <a:endParaRPr lang="en-US" altLang="zh-CN" sz="3600" dirty="0">
                  <a:latin typeface="Times New Roman" panose="02020603050405020304" pitchFamily="18" charset="0"/>
                  <a:ea typeface="+mj-ea"/>
                  <a:cs typeface="Times New Roman" panose="02020603050405020304" pitchFamily="18" charset="0"/>
                  <a:sym typeface="+mn-ea"/>
                </a:endParaRPr>
              </a:p>
              <a:p>
                <a:pPr indent="457200" algn="just" fontAlgn="auto">
                  <a:lnSpc>
                    <a:spcPct val="120000"/>
                  </a:lnSpc>
                </a:pPr>
                <a:r>
                  <a:rPr lang="en-US" altLang="zh-CN" sz="3600" dirty="0">
                    <a:latin typeface="Times New Roman" panose="02020603050405020304" pitchFamily="18" charset="0"/>
                    <a:ea typeface="+mj-ea"/>
                    <a:cs typeface="Times New Roman" panose="02020603050405020304" pitchFamily="18" charset="0"/>
                    <a:sym typeface="+mn-ea"/>
                  </a:rPr>
                  <a:t>MAC_Generation(M)</a:t>
                </a:r>
                <a:endParaRPr lang="en-US" altLang="zh-CN" sz="3600" dirty="0">
                  <a:latin typeface="Times New Roman" panose="02020603050405020304" pitchFamily="18" charset="0"/>
                  <a:ea typeface="+mj-ea"/>
                  <a:cs typeface="Times New Roman" panose="02020603050405020304" pitchFamily="18" charset="0"/>
                </a:endParaRPr>
              </a:p>
              <a:p>
                <a:pPr indent="457200" algn="just" fontAlgn="auto">
                  <a:lnSpc>
                    <a:spcPct val="120000"/>
                  </a:lnSpc>
                </a:pPr>
                <a:r>
                  <a:rPr lang="zh-CN" altLang="en-US" sz="2800" dirty="0">
                    <a:latin typeface="Times New Roman" panose="02020603050405020304" pitchFamily="18" charset="0"/>
                    <a:ea typeface="+mj-ea"/>
                    <a:cs typeface="Times New Roman" panose="02020603050405020304" pitchFamily="18" charset="0"/>
                    <a:sym typeface="+mn-ea"/>
                  </a:rPr>
                  <a:t>（1）假设</a:t>
                </a:r>
                <a:r>
                  <a:rPr lang="en-US" altLang="zh-CN" sz="2800" dirty="0">
                    <a:latin typeface="Times New Roman" panose="02020603050405020304" pitchFamily="18" charset="0"/>
                    <a:ea typeface="+mj-ea"/>
                    <a:cs typeface="Times New Roman" panose="02020603050405020304" pitchFamily="18" charset="0"/>
                    <a:sym typeface="+mn-ea"/>
                  </a:rPr>
                  <a:t>ZUC-256</a:t>
                </a:r>
                <a:r>
                  <a:rPr lang="zh-CN" altLang="en-US" sz="2800" dirty="0">
                    <a:latin typeface="Times New Roman" panose="02020603050405020304" pitchFamily="18" charset="0"/>
                    <a:ea typeface="+mj-ea"/>
                    <a:cs typeface="Times New Roman" panose="02020603050405020304" pitchFamily="18" charset="0"/>
                    <a:sym typeface="+mn-ea"/>
                  </a:rPr>
                  <a:t>已经生成了一个密钥流，长度</a:t>
                </a:r>
                <a14:m>
                  <m:oMath xmlns:m="http://schemas.openxmlformats.org/officeDocument/2006/math">
                    <m:r>
                      <m:rPr>
                        <m:nor/>
                      </m:rPr>
                      <a:rPr lang="zh-CN" altLang="en-US" sz="2800" i="0" dirty="0">
                        <a:latin typeface="Times New Roman" panose="02020603050405020304" pitchFamily="18" charset="0"/>
                        <a:ea typeface="+mj-ea"/>
                        <a:cs typeface="Times New Roman" panose="02020603050405020304" pitchFamily="18" charset="0"/>
                        <a:sym typeface="+mn-ea"/>
                      </a:rPr>
                      <m:t>为 </m:t>
                    </m:r>
                    <m:r>
                      <m:rPr>
                        <m:nor/>
                      </m:rPr>
                      <a:rPr lang="en-US" altLang="zh-CN" sz="2800" i="0" dirty="0">
                        <a:latin typeface="Times New Roman" panose="02020603050405020304" pitchFamily="18" charset="0"/>
                        <a:ea typeface="+mj-ea"/>
                        <a:cs typeface="Times New Roman" panose="02020603050405020304" pitchFamily="18" charset="0"/>
                        <a:sym typeface="+mn-ea"/>
                      </a:rPr>
                      <m:t>L</m:t>
                    </m:r>
                    <m:r>
                      <m:rPr>
                        <m:nor/>
                      </m:rPr>
                      <a:rPr lang="en-US" altLang="zh-CN" sz="2800" i="0" dirty="0">
                        <a:latin typeface="Times New Roman" panose="02020603050405020304" pitchFamily="18" charset="0"/>
                        <a:ea typeface="+mj-ea"/>
                        <a:cs typeface="Times New Roman" panose="02020603050405020304" pitchFamily="18" charset="0"/>
                        <a:sym typeface="+mn-ea"/>
                      </a:rPr>
                      <m:t>=⌈</m:t>
                    </m:r>
                    <m:f>
                      <m:fPr>
                        <m:ctrlPr>
                          <a:rPr lang="en-US" altLang="zh-CN" sz="2800" i="0" dirty="0">
                            <a:latin typeface="Times New Roman" panose="02020603050405020304" pitchFamily="18" charset="0"/>
                            <a:ea typeface="+mj-ea"/>
                            <a:cs typeface="Times New Roman" panose="02020603050405020304" pitchFamily="18" charset="0"/>
                            <a:sym typeface="+mn-ea"/>
                          </a:rPr>
                        </m:ctrlPr>
                      </m:fPr>
                      <m:num>
                        <m:r>
                          <m:rPr>
                            <m:nor/>
                          </m:rPr>
                          <a:rPr lang="en-US" altLang="zh-CN" sz="2800" i="0" dirty="0">
                            <a:latin typeface="Times New Roman" panose="02020603050405020304" pitchFamily="18" charset="0"/>
                            <a:ea typeface="+mj-ea"/>
                            <a:cs typeface="Times New Roman" panose="02020603050405020304" pitchFamily="18" charset="0"/>
                            <a:sym typeface="+mn-ea"/>
                          </a:rPr>
                          <m:t>l</m:t>
                        </m:r>
                      </m:num>
                      <m:den>
                        <m:r>
                          <m:rPr>
                            <m:nor/>
                          </m:rPr>
                          <a:rPr lang="en-US" altLang="zh-CN" sz="2800" i="0" dirty="0">
                            <a:latin typeface="Times New Roman" panose="02020603050405020304" pitchFamily="18" charset="0"/>
                            <a:ea typeface="+mj-ea"/>
                            <a:cs typeface="Times New Roman" panose="02020603050405020304" pitchFamily="18" charset="0"/>
                            <a:sym typeface="+mn-ea"/>
                          </a:rPr>
                          <m:t>32</m:t>
                        </m:r>
                      </m:den>
                    </m:f>
                    <m:r>
                      <m:rPr>
                        <m:nor/>
                      </m:rPr>
                      <a:rPr lang="en-US" altLang="zh-CN" sz="2800" i="0" dirty="0">
                        <a:latin typeface="Times New Roman" panose="02020603050405020304" pitchFamily="18" charset="0"/>
                        <a:ea typeface="+mj-ea"/>
                        <a:cs typeface="Times New Roman" panose="02020603050405020304" pitchFamily="18" charset="0"/>
                        <a:sym typeface="+mn-ea"/>
                      </a:rPr>
                      <m:t>⌉+</m:t>
                    </m:r>
                    <m:r>
                      <m:rPr>
                        <m:nor/>
                      </m:rPr>
                      <a:rPr lang="en-US" altLang="zh-CN" sz="2800" b="0" i="0" dirty="0" smtClean="0">
                        <a:latin typeface="Times New Roman" panose="02020603050405020304" pitchFamily="18" charset="0"/>
                        <a:ea typeface="+mj-ea"/>
                        <a:cs typeface="Times New Roman" panose="02020603050405020304" pitchFamily="18" charset="0"/>
                        <a:sym typeface="+mn-ea"/>
                      </a:rPr>
                      <m:t>2</m:t>
                    </m:r>
                    <m:f>
                      <m:fPr>
                        <m:ctrlPr>
                          <a:rPr lang="en-US" altLang="zh-CN" sz="2800" i="0" dirty="0">
                            <a:latin typeface="Times New Roman" panose="02020603050405020304" pitchFamily="18" charset="0"/>
                            <a:ea typeface="+mj-ea"/>
                            <a:cs typeface="Times New Roman" panose="02020603050405020304" pitchFamily="18" charset="0"/>
                            <a:sym typeface="+mn-ea"/>
                          </a:rPr>
                        </m:ctrlPr>
                      </m:fPr>
                      <m:num>
                        <m:r>
                          <m:rPr>
                            <m:nor/>
                          </m:rPr>
                          <a:rPr lang="en-US" altLang="zh-CN" sz="2800" i="0" dirty="0">
                            <a:latin typeface="Times New Roman" panose="02020603050405020304" pitchFamily="18" charset="0"/>
                            <a:ea typeface="+mj-ea"/>
                            <a:cs typeface="Times New Roman" panose="02020603050405020304" pitchFamily="18" charset="0"/>
                            <a:sym typeface="+mn-ea"/>
                          </a:rPr>
                          <m:t>t</m:t>
                        </m:r>
                      </m:num>
                      <m:den>
                        <m:r>
                          <m:rPr>
                            <m:nor/>
                          </m:rPr>
                          <a:rPr lang="en-US" altLang="zh-CN" sz="2800" i="0" dirty="0">
                            <a:latin typeface="Times New Roman" panose="02020603050405020304" pitchFamily="18" charset="0"/>
                            <a:ea typeface="+mj-ea"/>
                            <a:cs typeface="Times New Roman" panose="02020603050405020304" pitchFamily="18" charset="0"/>
                            <a:sym typeface="+mn-ea"/>
                          </a:rPr>
                          <m:t>32</m:t>
                        </m:r>
                      </m:den>
                    </m:f>
                    <m:r>
                      <m:rPr>
                        <m:nor/>
                      </m:rPr>
                      <a:rPr lang="en-US" altLang="zh-CN" sz="2800" i="0" dirty="0">
                        <a:latin typeface="Times New Roman" panose="02020603050405020304" pitchFamily="18" charset="0"/>
                        <a:ea typeface="+mj-ea"/>
                        <a:cs typeface="Times New Roman" panose="02020603050405020304" pitchFamily="18" charset="0"/>
                        <a:sym typeface="+mn-ea"/>
                      </a:rPr>
                      <m:t> </m:t>
                    </m:r>
                  </m:oMath>
                </a14:m>
                <a:r>
                  <a:rPr lang="zh-CN" altLang="en-US" sz="2800" dirty="0">
                    <a:latin typeface="Times New Roman" panose="02020603050405020304" pitchFamily="18" charset="0"/>
                    <a:ea typeface="+mj-ea"/>
                    <a:cs typeface="Times New Roman" panose="02020603050405020304" pitchFamily="18" charset="0"/>
                    <a:sym typeface="+mn-ea"/>
                  </a:rPr>
                  <a:t>的32</a:t>
                </a:r>
                <a:r>
                  <a:rPr lang="en-US" altLang="zh-CN" sz="2800" dirty="0">
                    <a:latin typeface="Times New Roman" panose="02020603050405020304" pitchFamily="18" charset="0"/>
                    <a:ea typeface="+mj-ea"/>
                    <a:cs typeface="Times New Roman" panose="02020603050405020304" pitchFamily="18" charset="0"/>
                    <a:sym typeface="+mn-ea"/>
                  </a:rPr>
                  <a:t>bit</a:t>
                </a:r>
                <a:r>
                  <a:rPr lang="zh-CN" altLang="en-US" sz="2800" dirty="0">
                    <a:latin typeface="Times New Roman" panose="02020603050405020304" pitchFamily="18" charset="0"/>
                    <a:ea typeface="+mj-ea"/>
                    <a:cs typeface="Times New Roman" panose="02020603050405020304" pitchFamily="18" charset="0"/>
                    <a:sym typeface="+mn-ea"/>
                  </a:rPr>
                  <a:t>的字，用</a:t>
                </a:r>
                <a:r>
                  <a:rPr lang="en-US" altLang="zh-CN" sz="2800" dirty="0">
                    <a:latin typeface="Times New Roman" panose="02020603050405020304" pitchFamily="18" charset="0"/>
                    <a:ea typeface="+mj-ea"/>
                    <a:cs typeface="Times New Roman" panose="02020603050405020304" pitchFamily="18" charset="0"/>
                    <a:sym typeface="+mn-ea"/>
                  </a:rPr>
                  <a:t> z</a:t>
                </a:r>
                <a:r>
                  <a:rPr lang="en-US" altLang="zh-CN" sz="2800" baseline="-25000" dirty="0">
                    <a:latin typeface="Times New Roman" panose="02020603050405020304" pitchFamily="18" charset="0"/>
                    <a:ea typeface="+mj-ea"/>
                    <a:cs typeface="Times New Roman" panose="02020603050405020304" pitchFamily="18" charset="0"/>
                    <a:sym typeface="+mn-ea"/>
                  </a:rPr>
                  <a:t>0</a:t>
                </a:r>
                <a:r>
                  <a:rPr lang="en-US" altLang="zh-CN" sz="2800" dirty="0">
                    <a:latin typeface="Times New Roman" panose="02020603050405020304" pitchFamily="18" charset="0"/>
                    <a:ea typeface="+mj-ea"/>
                    <a:cs typeface="Times New Roman" panose="02020603050405020304" pitchFamily="18" charset="0"/>
                    <a:sym typeface="+mn-ea"/>
                  </a:rPr>
                  <a:t>,z</a:t>
                </a:r>
                <a:r>
                  <a:rPr lang="en-US" altLang="zh-CN" sz="2800" baseline="-25000" dirty="0">
                    <a:latin typeface="Times New Roman" panose="02020603050405020304" pitchFamily="18" charset="0"/>
                    <a:ea typeface="+mj-ea"/>
                    <a:cs typeface="Times New Roman" panose="02020603050405020304" pitchFamily="18" charset="0"/>
                    <a:sym typeface="+mn-ea"/>
                  </a:rPr>
                  <a:t>1</a:t>
                </a:r>
                <a:r>
                  <a:rPr lang="en-US" altLang="zh-CN" sz="2800" dirty="0">
                    <a:latin typeface="Times New Roman" panose="02020603050405020304" pitchFamily="18" charset="0"/>
                    <a:ea typeface="+mj-ea"/>
                    <a:cs typeface="Times New Roman" panose="02020603050405020304" pitchFamily="18" charset="0"/>
                    <a:sym typeface="+mn-ea"/>
                  </a:rPr>
                  <a:t>,…,z</a:t>
                </a:r>
                <a:r>
                  <a:rPr lang="en-US" altLang="zh-CN" sz="2800" baseline="-25000" dirty="0">
                    <a:latin typeface="Times New Roman" panose="02020603050405020304" pitchFamily="18" charset="0"/>
                    <a:ea typeface="+mj-ea"/>
                    <a:cs typeface="Times New Roman" panose="02020603050405020304" pitchFamily="18" charset="0"/>
                    <a:sym typeface="+mn-ea"/>
                  </a:rPr>
                  <a:t>32L-1</a:t>
                </a:r>
                <a:r>
                  <a:rPr lang="zh-CN" altLang="en-US" sz="2800" dirty="0">
                    <a:latin typeface="Times New Roman" panose="02020603050405020304" pitchFamily="18" charset="0"/>
                    <a:ea typeface="+mj-ea"/>
                    <a:cs typeface="Times New Roman" panose="02020603050405020304" pitchFamily="18" charset="0"/>
                    <a:sym typeface="+mn-ea"/>
                  </a:rPr>
                  <a:t>来表示，其中，</a:t>
                </a:r>
                <a:r>
                  <a:rPr lang="en-US" altLang="zh-CN" sz="2800" dirty="0">
                    <a:latin typeface="Times New Roman" panose="02020603050405020304" pitchFamily="18" charset="0"/>
                    <a:ea typeface="+mj-ea"/>
                    <a:cs typeface="Times New Roman" panose="02020603050405020304" pitchFamily="18" charset="0"/>
                    <a:sym typeface="+mn-ea"/>
                  </a:rPr>
                  <a:t>z</a:t>
                </a:r>
                <a:r>
                  <a:rPr lang="en-US" altLang="zh-CN" sz="2800" baseline="-25000" dirty="0">
                    <a:latin typeface="Times New Roman" panose="02020603050405020304" pitchFamily="18" charset="0"/>
                    <a:ea typeface="+mj-ea"/>
                    <a:cs typeface="Times New Roman" panose="02020603050405020304" pitchFamily="18" charset="0"/>
                    <a:sym typeface="+mn-ea"/>
                  </a:rPr>
                  <a:t>0</a:t>
                </a:r>
                <a:r>
                  <a:rPr lang="zh-CN" altLang="en-US" sz="2800" dirty="0">
                    <a:latin typeface="Times New Roman" panose="02020603050405020304" pitchFamily="18" charset="0"/>
                    <a:ea typeface="+mj-ea"/>
                    <a:cs typeface="Times New Roman" panose="02020603050405020304" pitchFamily="18" charset="0"/>
                    <a:sym typeface="+mn-ea"/>
                  </a:rPr>
                  <a:t>是第一个输出密钥流字的第一位，</a:t>
                </a:r>
                <a:r>
                  <a:rPr lang="en-US" altLang="zh-CN" sz="2800" dirty="0">
                    <a:latin typeface="Times New Roman" panose="02020603050405020304" pitchFamily="18" charset="0"/>
                    <a:ea typeface="+mj-ea"/>
                    <a:cs typeface="Times New Roman" panose="02020603050405020304" pitchFamily="18" charset="0"/>
                    <a:sym typeface="+mn-ea"/>
                  </a:rPr>
                  <a:t>z</a:t>
                </a:r>
                <a:r>
                  <a:rPr lang="en-US" altLang="zh-CN" sz="2800" baseline="-25000" dirty="0">
                    <a:latin typeface="Times New Roman" panose="02020603050405020304" pitchFamily="18" charset="0"/>
                    <a:ea typeface="+mj-ea"/>
                    <a:cs typeface="Times New Roman" panose="02020603050405020304" pitchFamily="18" charset="0"/>
                    <a:sym typeface="+mn-ea"/>
                  </a:rPr>
                  <a:t>31</a:t>
                </a:r>
                <a:r>
                  <a:rPr lang="zh-CN" altLang="en-US" sz="2800" dirty="0">
                    <a:latin typeface="Times New Roman" panose="02020603050405020304" pitchFamily="18" charset="0"/>
                    <a:ea typeface="+mj-ea"/>
                    <a:cs typeface="Times New Roman" panose="02020603050405020304" pitchFamily="18" charset="0"/>
                    <a:sym typeface="+mn-ea"/>
                  </a:rPr>
                  <a:t>是第一个输出密钥流字的最后一位。</a:t>
                </a:r>
                <a:endParaRPr lang="zh-CN" altLang="en-US" sz="2800" dirty="0">
                  <a:latin typeface="Times New Roman" panose="02020603050405020304" pitchFamily="18" charset="0"/>
                  <a:ea typeface="+mj-ea"/>
                  <a:cs typeface="Times New Roman" panose="02020603050405020304" pitchFamily="18" charset="0"/>
                </a:endParaRPr>
              </a:p>
              <a:p>
                <a:pPr indent="457200" algn="just" fontAlgn="auto">
                  <a:lnSpc>
                    <a:spcPct val="120000"/>
                  </a:lnSpc>
                </a:pPr>
                <a:r>
                  <a:rPr lang="zh-CN" altLang="en-US" sz="2800" dirty="0">
                    <a:latin typeface="Times New Roman" panose="02020603050405020304" pitchFamily="18" charset="0"/>
                    <a:ea typeface="+mj-ea"/>
                    <a:cs typeface="Times New Roman" panose="02020603050405020304" pitchFamily="18" charset="0"/>
                    <a:sym typeface="+mn-ea"/>
                  </a:rPr>
                  <a:t>（2）初始设置</a:t>
                </a:r>
                <a14:m>
                  <m:oMath xmlns:m="http://schemas.openxmlformats.org/officeDocument/2006/math">
                    <m:r>
                      <m:rPr>
                        <m:nor/>
                      </m:rPr>
                      <a:rPr lang="en-US" altLang="zh-CN" sz="2800" i="0" dirty="0">
                        <a:latin typeface="Times New Roman" panose="02020603050405020304" pitchFamily="18" charset="0"/>
                        <a:ea typeface="+mj-ea"/>
                        <a:cs typeface="Times New Roman" panose="02020603050405020304" pitchFamily="18" charset="0"/>
                        <a:sym typeface="+mn-ea"/>
                      </a:rPr>
                      <m:t>Tag</m:t>
                    </m:r>
                    <m:r>
                      <m:rPr>
                        <m:nor/>
                      </m:rPr>
                      <a:rPr lang="en-US" altLang="zh-CN" sz="2800" i="0" dirty="0">
                        <a:latin typeface="Times New Roman" panose="02020603050405020304" pitchFamily="18" charset="0"/>
                        <a:ea typeface="+mj-ea"/>
                        <a:cs typeface="Times New Roman" panose="02020603050405020304" pitchFamily="18" charset="0"/>
                        <a:sym typeface="+mn-ea"/>
                      </a:rPr>
                      <m:t> = (</m:t>
                    </m:r>
                    <m:r>
                      <m:rPr>
                        <m:nor/>
                      </m:rPr>
                      <a:rPr lang="en-US" altLang="zh-CN" sz="2800" i="0" dirty="0">
                        <a:latin typeface="Times New Roman" panose="02020603050405020304" pitchFamily="18" charset="0"/>
                        <a:ea typeface="+mj-ea"/>
                        <a:cs typeface="Times New Roman" panose="02020603050405020304" pitchFamily="18" charset="0"/>
                        <a:sym typeface="+mn-ea"/>
                      </a:rPr>
                      <m:t>z</m:t>
                    </m:r>
                    <m:r>
                      <m:rPr>
                        <m:nor/>
                      </m:rPr>
                      <a:rPr lang="en-US" altLang="zh-CN" sz="2800" i="0" baseline="-25000" dirty="0">
                        <a:latin typeface="Times New Roman" panose="02020603050405020304" pitchFamily="18" charset="0"/>
                        <a:ea typeface="+mj-ea"/>
                        <a:cs typeface="Times New Roman" panose="02020603050405020304" pitchFamily="18" charset="0"/>
                        <a:sym typeface="+mn-ea"/>
                      </a:rPr>
                      <m:t>0</m:t>
                    </m:r>
                    <m:r>
                      <m:rPr>
                        <m:nor/>
                      </m:rPr>
                      <a:rPr lang="en-US" altLang="zh-CN" sz="2800" i="0" dirty="0">
                        <a:latin typeface="Times New Roman" panose="02020603050405020304" pitchFamily="18" charset="0"/>
                        <a:ea typeface="+mj-ea"/>
                        <a:cs typeface="Times New Roman" panose="02020603050405020304" pitchFamily="18" charset="0"/>
                        <a:sym typeface="+mn-ea"/>
                      </a:rPr>
                      <m:t>, </m:t>
                    </m:r>
                    <m:r>
                      <m:rPr>
                        <m:nor/>
                      </m:rPr>
                      <a:rPr lang="en-US" altLang="zh-CN" sz="2800" i="0" dirty="0">
                        <a:latin typeface="Times New Roman" panose="02020603050405020304" pitchFamily="18" charset="0"/>
                        <a:ea typeface="+mj-ea"/>
                        <a:cs typeface="Times New Roman" panose="02020603050405020304" pitchFamily="18" charset="0"/>
                        <a:sym typeface="+mn-ea"/>
                      </a:rPr>
                      <m:t>z</m:t>
                    </m:r>
                    <m:r>
                      <m:rPr>
                        <m:nor/>
                      </m:rPr>
                      <a:rPr lang="en-US" altLang="zh-CN" sz="2800" i="0" baseline="-25000" dirty="0">
                        <a:latin typeface="Times New Roman" panose="02020603050405020304" pitchFamily="18" charset="0"/>
                        <a:ea typeface="+mj-ea"/>
                        <a:cs typeface="Times New Roman" panose="02020603050405020304" pitchFamily="18" charset="0"/>
                        <a:sym typeface="+mn-ea"/>
                      </a:rPr>
                      <m:t>1</m:t>
                    </m:r>
                    <m:r>
                      <m:rPr>
                        <m:nor/>
                      </m:rPr>
                      <a:rPr lang="en-US" altLang="zh-CN" sz="2800" i="0" dirty="0">
                        <a:latin typeface="Times New Roman" panose="02020603050405020304" pitchFamily="18" charset="0"/>
                        <a:ea typeface="+mj-ea"/>
                        <a:cs typeface="Times New Roman" panose="02020603050405020304" pitchFamily="18" charset="0"/>
                        <a:sym typeface="+mn-ea"/>
                      </a:rPr>
                      <m:t>, …, </m:t>
                    </m:r>
                    <m:r>
                      <m:rPr>
                        <m:nor/>
                      </m:rPr>
                      <a:rPr lang="en-US" altLang="zh-CN" sz="2800" i="0" dirty="0">
                        <a:latin typeface="Times New Roman" panose="02020603050405020304" pitchFamily="18" charset="0"/>
                        <a:ea typeface="+mj-ea"/>
                        <a:cs typeface="Times New Roman" panose="02020603050405020304" pitchFamily="18" charset="0"/>
                        <a:sym typeface="+mn-ea"/>
                      </a:rPr>
                      <m:t>z</m:t>
                    </m:r>
                    <m:r>
                      <m:rPr>
                        <m:nor/>
                      </m:rPr>
                      <a:rPr lang="en-US" altLang="zh-CN" sz="2800" i="0" baseline="-25000" dirty="0">
                        <a:latin typeface="Times New Roman" panose="02020603050405020304" pitchFamily="18" charset="0"/>
                        <a:ea typeface="+mj-ea"/>
                        <a:cs typeface="Times New Roman" panose="02020603050405020304" pitchFamily="18" charset="0"/>
                        <a:sym typeface="+mn-ea"/>
                      </a:rPr>
                      <m:t>t</m:t>
                    </m:r>
                    <m:r>
                      <m:rPr>
                        <m:nor/>
                      </m:rPr>
                      <a:rPr lang="en-US" altLang="zh-CN" sz="2800" i="0" baseline="-25000" dirty="0">
                        <a:latin typeface="Times New Roman" panose="02020603050405020304" pitchFamily="18" charset="0"/>
                        <a:ea typeface="+mj-ea"/>
                        <a:cs typeface="Times New Roman" panose="02020603050405020304" pitchFamily="18" charset="0"/>
                        <a:sym typeface="+mn-ea"/>
                      </a:rPr>
                      <m:t>−</m:t>
                    </m:r>
                    <m:r>
                      <m:rPr>
                        <m:nor/>
                      </m:rPr>
                      <a:rPr lang="en-US" altLang="zh-CN" sz="2800" i="0" baseline="-25000" dirty="0">
                        <a:latin typeface="Times New Roman" panose="02020603050405020304" pitchFamily="18" charset="0"/>
                        <a:ea typeface="+mj-ea"/>
                        <a:cs typeface="Times New Roman" panose="02020603050405020304" pitchFamily="18" charset="0"/>
                        <a:sym typeface="+mn-ea"/>
                      </a:rPr>
                      <m:t>1</m:t>
                    </m:r>
                    <m:r>
                      <m:rPr>
                        <m:nor/>
                      </m:rPr>
                      <a:rPr lang="en-US" altLang="zh-CN" sz="2800" i="0" dirty="0">
                        <a:latin typeface="Times New Roman" panose="02020603050405020304" pitchFamily="18" charset="0"/>
                        <a:ea typeface="+mj-ea"/>
                        <a:cs typeface="Times New Roman" panose="02020603050405020304" pitchFamily="18" charset="0"/>
                        <a:sym typeface="+mn-ea"/>
                      </a:rPr>
                      <m:t>)。</m:t>
                    </m:r>
                  </m:oMath>
                </a14:m>
                <a:endParaRPr lang="en-US" altLang="zh-CN" sz="2800" dirty="0">
                  <a:latin typeface="Times New Roman" panose="02020603050405020304" pitchFamily="18" charset="0"/>
                  <a:ea typeface="+mj-ea"/>
                  <a:cs typeface="Times New Roman" panose="02020603050405020304" pitchFamily="18" charset="0"/>
                </a:endParaRPr>
              </a:p>
              <a:p>
                <a:pPr indent="457200" algn="just" fontAlgn="auto">
                  <a:lnSpc>
                    <a:spcPct val="120000"/>
                  </a:lnSpc>
                </a:pPr>
                <a:r>
                  <a:rPr lang="en-US" altLang="zh-CN" sz="2800" dirty="0">
                    <a:latin typeface="Times New Roman" panose="02020603050405020304" pitchFamily="18" charset="0"/>
                    <a:ea typeface="+mj-ea"/>
                    <a:cs typeface="Times New Roman" panose="02020603050405020304" pitchFamily="18" charset="0"/>
                    <a:sym typeface="+mn-ea"/>
                  </a:rPr>
                  <a:t>（3）for i=0 to l-1 do</a:t>
                </a:r>
                <a:endParaRPr lang="en-US" altLang="zh-CN" sz="2800" dirty="0">
                  <a:latin typeface="Times New Roman" panose="02020603050405020304" pitchFamily="18" charset="0"/>
                  <a:ea typeface="+mj-ea"/>
                  <a:cs typeface="Times New Roman" panose="02020603050405020304" pitchFamily="18" charset="0"/>
                </a:endParaRPr>
              </a:p>
              <a:p>
                <a:pPr indent="457200" algn="just" fontAlgn="auto">
                  <a:lnSpc>
                    <a:spcPct val="120000"/>
                  </a:lnSpc>
                </a:pPr>
                <a:r>
                  <a:rPr lang="en-US" altLang="zh-CN" sz="2800" dirty="0">
                    <a:latin typeface="Times New Roman" panose="02020603050405020304" pitchFamily="18" charset="0"/>
                    <a:ea typeface="+mj-ea"/>
                    <a:cs typeface="Times New Roman" panose="02020603050405020304" pitchFamily="18" charset="0"/>
                    <a:sym typeface="+mn-ea"/>
                  </a:rPr>
                  <a:t>　　let </a:t>
                </a:r>
                <a14:m>
                  <m:oMath xmlns:m="http://schemas.openxmlformats.org/officeDocument/2006/math">
                    <m:r>
                      <m:rPr>
                        <m:nor/>
                      </m:rPr>
                      <a:rPr lang="en-US" altLang="zh-CN" sz="2800" i="0" dirty="0">
                        <a:latin typeface="Times New Roman" panose="02020603050405020304" pitchFamily="18" charset="0"/>
                        <a:ea typeface="+mj-ea"/>
                        <a:cs typeface="Times New Roman" panose="02020603050405020304" pitchFamily="18" charset="0"/>
                        <a:sym typeface="+mn-ea"/>
                      </a:rPr>
                      <m:t>W</m:t>
                    </m:r>
                    <m:r>
                      <m:rPr>
                        <m:nor/>
                      </m:rPr>
                      <a:rPr lang="en-US" altLang="zh-CN" sz="2800" i="0" baseline="-25000" dirty="0">
                        <a:latin typeface="Times New Roman" panose="02020603050405020304" pitchFamily="18" charset="0"/>
                        <a:ea typeface="+mj-ea"/>
                        <a:cs typeface="Times New Roman" panose="02020603050405020304" pitchFamily="18" charset="0"/>
                        <a:sym typeface="+mn-ea"/>
                      </a:rPr>
                      <m:t>i</m:t>
                    </m:r>
                    <m:r>
                      <m:rPr>
                        <m:nor/>
                      </m:rPr>
                      <a:rPr lang="en-US" altLang="zh-CN" sz="2800" i="0" dirty="0">
                        <a:latin typeface="Times New Roman" panose="02020603050405020304" pitchFamily="18" charset="0"/>
                        <a:ea typeface="+mj-ea"/>
                        <a:cs typeface="Times New Roman" panose="02020603050405020304" pitchFamily="18" charset="0"/>
                        <a:sym typeface="+mn-ea"/>
                      </a:rPr>
                      <m:t> = (</m:t>
                    </m:r>
                    <m:r>
                      <m:rPr>
                        <m:nor/>
                      </m:rPr>
                      <a:rPr lang="en-US" altLang="zh-CN" sz="2800" i="0" dirty="0">
                        <a:latin typeface="Times New Roman" panose="02020603050405020304" pitchFamily="18" charset="0"/>
                        <a:ea typeface="+mj-ea"/>
                        <a:cs typeface="Times New Roman" panose="02020603050405020304" pitchFamily="18" charset="0"/>
                        <a:sym typeface="+mn-ea"/>
                      </a:rPr>
                      <m:t>z</m:t>
                    </m:r>
                    <m:r>
                      <m:rPr>
                        <m:nor/>
                      </m:rPr>
                      <a:rPr lang="en-US" altLang="zh-CN" sz="2800" i="0" baseline="-25000" dirty="0">
                        <a:latin typeface="Times New Roman" panose="02020603050405020304" pitchFamily="18" charset="0"/>
                        <a:ea typeface="+mj-ea"/>
                        <a:cs typeface="Times New Roman" panose="02020603050405020304" pitchFamily="18" charset="0"/>
                        <a:sym typeface="+mn-ea"/>
                      </a:rPr>
                      <m:t>t</m:t>
                    </m:r>
                    <m:r>
                      <m:rPr>
                        <m:nor/>
                      </m:rPr>
                      <a:rPr lang="en-US" altLang="zh-CN" sz="2800" i="0" baseline="-25000" dirty="0">
                        <a:latin typeface="Times New Roman" panose="02020603050405020304" pitchFamily="18" charset="0"/>
                        <a:ea typeface="+mj-ea"/>
                        <a:cs typeface="Times New Roman" panose="02020603050405020304" pitchFamily="18" charset="0"/>
                        <a:sym typeface="+mn-ea"/>
                      </a:rPr>
                      <m:t>+</m:t>
                    </m:r>
                    <m:r>
                      <m:rPr>
                        <m:nor/>
                      </m:rPr>
                      <a:rPr lang="en-US" altLang="zh-CN" sz="2800" i="0" baseline="-25000" dirty="0">
                        <a:latin typeface="Times New Roman" panose="02020603050405020304" pitchFamily="18" charset="0"/>
                        <a:ea typeface="+mj-ea"/>
                        <a:cs typeface="Times New Roman" panose="02020603050405020304" pitchFamily="18" charset="0"/>
                        <a:sym typeface="+mn-ea"/>
                      </a:rPr>
                      <m:t>i</m:t>
                    </m:r>
                    <m:r>
                      <m:rPr>
                        <m:nor/>
                      </m:rPr>
                      <a:rPr lang="en-US" altLang="zh-CN" sz="2800" i="0" dirty="0">
                        <a:latin typeface="Times New Roman" panose="02020603050405020304" pitchFamily="18" charset="0"/>
                        <a:ea typeface="+mj-ea"/>
                        <a:cs typeface="Times New Roman" panose="02020603050405020304" pitchFamily="18" charset="0"/>
                        <a:sym typeface="+mn-ea"/>
                      </a:rPr>
                      <m:t>, …, </m:t>
                    </m:r>
                    <m:r>
                      <m:rPr>
                        <m:nor/>
                      </m:rPr>
                      <a:rPr lang="en-US" altLang="zh-CN" sz="2800" i="0" dirty="0">
                        <a:latin typeface="Times New Roman" panose="02020603050405020304" pitchFamily="18" charset="0"/>
                        <a:ea typeface="+mj-ea"/>
                        <a:cs typeface="Times New Roman" panose="02020603050405020304" pitchFamily="18" charset="0"/>
                        <a:sym typeface="+mn-ea"/>
                      </a:rPr>
                      <m:t>z</m:t>
                    </m:r>
                    <m:r>
                      <m:rPr>
                        <m:nor/>
                      </m:rPr>
                      <a:rPr lang="en-US" altLang="zh-CN" sz="2800" i="0" baseline="-25000" dirty="0">
                        <a:latin typeface="Times New Roman" panose="02020603050405020304" pitchFamily="18" charset="0"/>
                        <a:ea typeface="+mj-ea"/>
                        <a:cs typeface="Times New Roman" panose="02020603050405020304" pitchFamily="18" charset="0"/>
                        <a:sym typeface="+mn-ea"/>
                      </a:rPr>
                      <m:t>i</m:t>
                    </m:r>
                    <m:r>
                      <m:rPr>
                        <m:nor/>
                      </m:rPr>
                      <a:rPr lang="en-US" altLang="zh-CN" sz="2800" i="0" baseline="-25000" dirty="0">
                        <a:latin typeface="Times New Roman" panose="02020603050405020304" pitchFamily="18" charset="0"/>
                        <a:ea typeface="+mj-ea"/>
                        <a:cs typeface="Times New Roman" panose="02020603050405020304" pitchFamily="18" charset="0"/>
                        <a:sym typeface="+mn-ea"/>
                      </a:rPr>
                      <m:t>+</m:t>
                    </m:r>
                    <m:r>
                      <m:rPr>
                        <m:nor/>
                      </m:rPr>
                      <a:rPr lang="en-US" altLang="zh-CN" sz="2800" i="0" baseline="-25000" dirty="0">
                        <a:latin typeface="Times New Roman" panose="02020603050405020304" pitchFamily="18" charset="0"/>
                        <a:ea typeface="+mj-ea"/>
                        <a:cs typeface="Times New Roman" panose="02020603050405020304" pitchFamily="18" charset="0"/>
                        <a:sym typeface="+mn-ea"/>
                      </a:rPr>
                      <m:t>2</m:t>
                    </m:r>
                    <m:r>
                      <m:rPr>
                        <m:nor/>
                      </m:rPr>
                      <a:rPr lang="en-US" altLang="zh-CN" sz="2800" i="0" baseline="-25000" dirty="0">
                        <a:latin typeface="Times New Roman" panose="02020603050405020304" pitchFamily="18" charset="0"/>
                        <a:ea typeface="+mj-ea"/>
                        <a:cs typeface="Times New Roman" panose="02020603050405020304" pitchFamily="18" charset="0"/>
                        <a:sym typeface="+mn-ea"/>
                      </a:rPr>
                      <m:t>t</m:t>
                    </m:r>
                    <m:r>
                      <m:rPr>
                        <m:nor/>
                      </m:rPr>
                      <a:rPr lang="en-US" altLang="zh-CN" sz="2800" i="0" baseline="-25000" dirty="0">
                        <a:latin typeface="Times New Roman" panose="02020603050405020304" pitchFamily="18" charset="0"/>
                        <a:ea typeface="+mj-ea"/>
                        <a:cs typeface="Times New Roman" panose="02020603050405020304" pitchFamily="18" charset="0"/>
                        <a:sym typeface="+mn-ea"/>
                      </a:rPr>
                      <m:t>−</m:t>
                    </m:r>
                    <m:r>
                      <m:rPr>
                        <m:nor/>
                      </m:rPr>
                      <a:rPr lang="en-US" altLang="zh-CN" sz="2800" i="0" baseline="-25000" dirty="0">
                        <a:latin typeface="Times New Roman" panose="02020603050405020304" pitchFamily="18" charset="0"/>
                        <a:ea typeface="+mj-ea"/>
                        <a:cs typeface="Times New Roman" panose="02020603050405020304" pitchFamily="18" charset="0"/>
                        <a:sym typeface="+mn-ea"/>
                      </a:rPr>
                      <m:t>1</m:t>
                    </m:r>
                    <m:r>
                      <m:rPr>
                        <m:nor/>
                      </m:rPr>
                      <a:rPr lang="en-US" altLang="zh-CN" sz="2800" i="0" dirty="0">
                        <a:latin typeface="Times New Roman" panose="02020603050405020304" pitchFamily="18" charset="0"/>
                        <a:ea typeface="+mj-ea"/>
                        <a:cs typeface="Times New Roman" panose="02020603050405020304" pitchFamily="18" charset="0"/>
                        <a:sym typeface="+mn-ea"/>
                      </a:rPr>
                      <m:t>)</m:t>
                    </m:r>
                  </m:oMath>
                </a14:m>
                <a:endParaRPr lang="en-US" altLang="zh-CN" sz="2800" dirty="0">
                  <a:latin typeface="Times New Roman" panose="02020603050405020304" pitchFamily="18" charset="0"/>
                  <a:ea typeface="+mj-ea"/>
                  <a:cs typeface="Times New Roman" panose="02020603050405020304" pitchFamily="18" charset="0"/>
                  <a:sym typeface="+mn-ea"/>
                </a:endParaRPr>
              </a:p>
              <a:p>
                <a:pPr indent="457200" algn="just" fontAlgn="auto">
                  <a:lnSpc>
                    <a:spcPct val="120000"/>
                  </a:lnSpc>
                </a:pPr>
                <a:r>
                  <a:rPr lang="en-US" altLang="zh-CN" sz="2800" dirty="0">
                    <a:latin typeface="Times New Roman" panose="02020603050405020304" pitchFamily="18" charset="0"/>
                    <a:ea typeface="+mj-ea"/>
                    <a:cs typeface="Times New Roman" panose="02020603050405020304" pitchFamily="18" charset="0"/>
                    <a:sym typeface="+mn-ea"/>
                  </a:rPr>
                  <a:t>　　if m</a:t>
                </a:r>
                <a:r>
                  <a:rPr lang="en-US" altLang="zh-CN" sz="2800" baseline="-25000" dirty="0">
                    <a:latin typeface="Times New Roman" panose="02020603050405020304" pitchFamily="18" charset="0"/>
                    <a:ea typeface="+mj-ea"/>
                    <a:cs typeface="Times New Roman" panose="02020603050405020304" pitchFamily="18" charset="0"/>
                    <a:sym typeface="+mn-ea"/>
                  </a:rPr>
                  <a:t>i</a:t>
                </a:r>
                <a:r>
                  <a:rPr lang="en-US" altLang="zh-CN" sz="2800" dirty="0">
                    <a:latin typeface="Times New Roman" panose="02020603050405020304" pitchFamily="18" charset="0"/>
                    <a:ea typeface="+mj-ea"/>
                    <a:cs typeface="Times New Roman" panose="02020603050405020304" pitchFamily="18" charset="0"/>
                    <a:sym typeface="+mn-ea"/>
                  </a:rPr>
                  <a:t>=1 then </a:t>
                </a:r>
                <a14:m>
                  <m:oMath xmlns:m="http://schemas.openxmlformats.org/officeDocument/2006/math">
                    <m:r>
                      <m:rPr>
                        <m:nor/>
                      </m:rPr>
                      <a:rPr lang="en-US" altLang="zh-CN" sz="2800" i="0" dirty="0">
                        <a:latin typeface="Times New Roman" panose="02020603050405020304" pitchFamily="18" charset="0"/>
                        <a:ea typeface="+mj-ea"/>
                        <a:cs typeface="Times New Roman" panose="02020603050405020304" pitchFamily="18" charset="0"/>
                        <a:sym typeface="+mn-ea"/>
                      </a:rPr>
                      <m:t>Tag</m:t>
                    </m:r>
                    <m:r>
                      <m:rPr>
                        <m:nor/>
                      </m:rPr>
                      <a:rPr lang="en-US" altLang="zh-CN" sz="2800" i="0" dirty="0">
                        <a:latin typeface="Times New Roman" panose="02020603050405020304" pitchFamily="18" charset="0"/>
                        <a:ea typeface="+mj-ea"/>
                        <a:cs typeface="Times New Roman" panose="02020603050405020304" pitchFamily="18" charset="0"/>
                        <a:sym typeface="+mn-ea"/>
                      </a:rPr>
                      <m:t> = </m:t>
                    </m:r>
                    <m:r>
                      <m:rPr>
                        <m:nor/>
                      </m:rPr>
                      <a:rPr lang="en-US" altLang="zh-CN" sz="2800" i="0" dirty="0">
                        <a:latin typeface="Times New Roman" panose="02020603050405020304" pitchFamily="18" charset="0"/>
                        <a:ea typeface="+mj-ea"/>
                        <a:cs typeface="Times New Roman" panose="02020603050405020304" pitchFamily="18" charset="0"/>
                        <a:sym typeface="+mn-ea"/>
                      </a:rPr>
                      <m:t>Tag</m:t>
                    </m:r>
                    <m:r>
                      <m:rPr>
                        <m:nor/>
                      </m:rPr>
                      <a:rPr lang="en-US" altLang="zh-CN" sz="2800" i="0" dirty="0">
                        <a:latin typeface="Times New Roman" panose="02020603050405020304" pitchFamily="18" charset="0"/>
                        <a:ea typeface="+mj-ea"/>
                        <a:cs typeface="Times New Roman" panose="02020603050405020304" pitchFamily="18" charset="0"/>
                        <a:sym typeface="+mn-ea"/>
                      </a:rPr>
                      <m:t> ⊕ </m:t>
                    </m:r>
                    <m:r>
                      <m:rPr>
                        <m:nor/>
                      </m:rPr>
                      <a:rPr lang="en-US" altLang="zh-CN" sz="2800" i="0" dirty="0">
                        <a:latin typeface="Times New Roman" panose="02020603050405020304" pitchFamily="18" charset="0"/>
                        <a:ea typeface="+mj-ea"/>
                        <a:cs typeface="Times New Roman" panose="02020603050405020304" pitchFamily="18" charset="0"/>
                        <a:sym typeface="+mn-ea"/>
                      </a:rPr>
                      <m:t>W</m:t>
                    </m:r>
                    <m:r>
                      <m:rPr>
                        <m:nor/>
                      </m:rPr>
                      <a:rPr lang="en-US" altLang="zh-CN" sz="2800" i="0" baseline="-25000" dirty="0">
                        <a:latin typeface="Times New Roman" panose="02020603050405020304" pitchFamily="18" charset="0"/>
                        <a:ea typeface="+mj-ea"/>
                        <a:cs typeface="Times New Roman" panose="02020603050405020304" pitchFamily="18" charset="0"/>
                        <a:sym typeface="+mn-ea"/>
                      </a:rPr>
                      <m:t>i</m:t>
                    </m:r>
                  </m:oMath>
                </a14:m>
                <a:endParaRPr lang="en-US" altLang="zh-CN" sz="2800" baseline="-25000" dirty="0">
                  <a:latin typeface="Times New Roman" panose="02020603050405020304" pitchFamily="18" charset="0"/>
                  <a:ea typeface="+mj-ea"/>
                  <a:cs typeface="Times New Roman" panose="02020603050405020304" pitchFamily="18" charset="0"/>
                </a:endParaRPr>
              </a:p>
              <a:p>
                <a:pPr indent="457200" algn="just" fontAlgn="auto">
                  <a:lnSpc>
                    <a:spcPct val="120000"/>
                  </a:lnSpc>
                </a:pPr>
                <a:r>
                  <a:rPr lang="en-US" altLang="zh-CN" sz="2800" dirty="0">
                    <a:latin typeface="Times New Roman" panose="02020603050405020304" pitchFamily="18" charset="0"/>
                    <a:ea typeface="+mj-ea"/>
                    <a:cs typeface="Times New Roman" panose="02020603050405020304" pitchFamily="18" charset="0"/>
                    <a:sym typeface="+mn-ea"/>
                  </a:rPr>
                  <a:t>（4）</a:t>
                </a:r>
                <a14:m>
                  <m:oMath xmlns:m="http://schemas.openxmlformats.org/officeDocument/2006/math">
                    <m:r>
                      <m:rPr>
                        <m:nor/>
                      </m:rPr>
                      <a:rPr lang="en-US" altLang="zh-CN" sz="2800" i="0" dirty="0">
                        <a:latin typeface="Times New Roman" panose="02020603050405020304" pitchFamily="18" charset="0"/>
                        <a:ea typeface="+mj-ea"/>
                        <a:cs typeface="Times New Roman" panose="02020603050405020304" pitchFamily="18" charset="0"/>
                        <a:sym typeface="+mn-ea"/>
                      </a:rPr>
                      <m:t>W</m:t>
                    </m:r>
                    <m:r>
                      <m:rPr>
                        <m:nor/>
                      </m:rPr>
                      <a:rPr lang="en-US" altLang="zh-CN" sz="2800" i="0" baseline="-25000" dirty="0">
                        <a:latin typeface="Times New Roman" panose="02020603050405020304" pitchFamily="18" charset="0"/>
                        <a:ea typeface="+mj-ea"/>
                        <a:cs typeface="Times New Roman" panose="02020603050405020304" pitchFamily="18" charset="0"/>
                        <a:sym typeface="+mn-ea"/>
                      </a:rPr>
                      <m:t>l</m:t>
                    </m:r>
                    <m:r>
                      <m:rPr>
                        <m:nor/>
                      </m:rPr>
                      <a:rPr lang="en-US" altLang="zh-CN" sz="2800" i="0" baseline="-25000" dirty="0">
                        <a:latin typeface="Times New Roman" panose="02020603050405020304" pitchFamily="18" charset="0"/>
                        <a:ea typeface="+mj-ea"/>
                        <a:cs typeface="Times New Roman" panose="02020603050405020304" pitchFamily="18" charset="0"/>
                        <a:sym typeface="+mn-ea"/>
                      </a:rPr>
                      <m:t> </m:t>
                    </m:r>
                    <m:r>
                      <m:rPr>
                        <m:nor/>
                      </m:rPr>
                      <a:rPr lang="en-US" altLang="zh-CN" sz="2800" i="0" dirty="0">
                        <a:latin typeface="Times New Roman" panose="02020603050405020304" pitchFamily="18" charset="0"/>
                        <a:ea typeface="+mj-ea"/>
                        <a:cs typeface="Times New Roman" panose="02020603050405020304" pitchFamily="18" charset="0"/>
                        <a:sym typeface="+mn-ea"/>
                      </a:rPr>
                      <m:t>= (</m:t>
                    </m:r>
                    <m:r>
                      <m:rPr>
                        <m:nor/>
                      </m:rPr>
                      <a:rPr lang="en-US" altLang="zh-CN" sz="2800" i="0" dirty="0">
                        <a:latin typeface="Times New Roman" panose="02020603050405020304" pitchFamily="18" charset="0"/>
                        <a:ea typeface="+mj-ea"/>
                        <a:cs typeface="Times New Roman" panose="02020603050405020304" pitchFamily="18" charset="0"/>
                        <a:sym typeface="+mn-ea"/>
                      </a:rPr>
                      <m:t>z</m:t>
                    </m:r>
                    <m:r>
                      <m:rPr>
                        <m:nor/>
                      </m:rPr>
                      <a:rPr lang="en-US" altLang="zh-CN" sz="2800" i="0" baseline="-25000" dirty="0">
                        <a:latin typeface="Times New Roman" panose="02020603050405020304" pitchFamily="18" charset="0"/>
                        <a:ea typeface="+mj-ea"/>
                        <a:cs typeface="Times New Roman" panose="02020603050405020304" pitchFamily="18" charset="0"/>
                        <a:sym typeface="+mn-ea"/>
                      </a:rPr>
                      <m:t>t</m:t>
                    </m:r>
                    <m:r>
                      <m:rPr>
                        <m:nor/>
                      </m:rPr>
                      <a:rPr lang="en-US" altLang="zh-CN" sz="2800" i="0" baseline="-25000" dirty="0">
                        <a:latin typeface="Times New Roman" panose="02020603050405020304" pitchFamily="18" charset="0"/>
                        <a:ea typeface="+mj-ea"/>
                        <a:cs typeface="Times New Roman" panose="02020603050405020304" pitchFamily="18" charset="0"/>
                        <a:sym typeface="+mn-ea"/>
                      </a:rPr>
                      <m:t>+</m:t>
                    </m:r>
                    <m:r>
                      <m:rPr>
                        <m:nor/>
                      </m:rPr>
                      <a:rPr lang="en-US" altLang="zh-CN" sz="2800" i="0" baseline="-25000" dirty="0">
                        <a:latin typeface="Times New Roman" panose="02020603050405020304" pitchFamily="18" charset="0"/>
                        <a:ea typeface="+mj-ea"/>
                        <a:cs typeface="Times New Roman" panose="02020603050405020304" pitchFamily="18" charset="0"/>
                        <a:sym typeface="+mn-ea"/>
                      </a:rPr>
                      <m:t>l</m:t>
                    </m:r>
                    <m:r>
                      <m:rPr>
                        <m:nor/>
                      </m:rPr>
                      <a:rPr lang="en-US" altLang="zh-CN" sz="2800" i="0" dirty="0">
                        <a:latin typeface="Times New Roman" panose="02020603050405020304" pitchFamily="18" charset="0"/>
                        <a:ea typeface="+mj-ea"/>
                        <a:cs typeface="Times New Roman" panose="02020603050405020304" pitchFamily="18" charset="0"/>
                        <a:sym typeface="+mn-ea"/>
                      </a:rPr>
                      <m:t>, …, </m:t>
                    </m:r>
                    <m:r>
                      <m:rPr>
                        <m:nor/>
                      </m:rPr>
                      <a:rPr lang="en-US" altLang="zh-CN" sz="2800" i="0" dirty="0">
                        <a:latin typeface="Times New Roman" panose="02020603050405020304" pitchFamily="18" charset="0"/>
                        <a:ea typeface="+mj-ea"/>
                        <a:cs typeface="Times New Roman" panose="02020603050405020304" pitchFamily="18" charset="0"/>
                        <a:sym typeface="+mn-ea"/>
                      </a:rPr>
                      <m:t>z</m:t>
                    </m:r>
                    <m:r>
                      <m:rPr>
                        <m:nor/>
                      </m:rPr>
                      <a:rPr lang="en-US" altLang="zh-CN" sz="2800" i="0" baseline="-25000" dirty="0">
                        <a:latin typeface="Times New Roman" panose="02020603050405020304" pitchFamily="18" charset="0"/>
                        <a:ea typeface="+mj-ea"/>
                        <a:cs typeface="Times New Roman" panose="02020603050405020304" pitchFamily="18" charset="0"/>
                        <a:sym typeface="+mn-ea"/>
                      </a:rPr>
                      <m:t>l</m:t>
                    </m:r>
                    <m:r>
                      <m:rPr>
                        <m:nor/>
                      </m:rPr>
                      <a:rPr lang="en-US" altLang="zh-CN" sz="2800" i="0" baseline="-25000" dirty="0">
                        <a:latin typeface="Times New Roman" panose="02020603050405020304" pitchFamily="18" charset="0"/>
                        <a:ea typeface="+mj-ea"/>
                        <a:cs typeface="Times New Roman" panose="02020603050405020304" pitchFamily="18" charset="0"/>
                        <a:sym typeface="+mn-ea"/>
                      </a:rPr>
                      <m:t>+</m:t>
                    </m:r>
                    <m:r>
                      <m:rPr>
                        <m:nor/>
                      </m:rPr>
                      <a:rPr lang="en-US" altLang="zh-CN" sz="2800" i="0" baseline="-25000" dirty="0">
                        <a:latin typeface="Times New Roman" panose="02020603050405020304" pitchFamily="18" charset="0"/>
                        <a:ea typeface="+mj-ea"/>
                        <a:cs typeface="Times New Roman" panose="02020603050405020304" pitchFamily="18" charset="0"/>
                        <a:sym typeface="+mn-ea"/>
                      </a:rPr>
                      <m:t>2</m:t>
                    </m:r>
                    <m:r>
                      <m:rPr>
                        <m:nor/>
                      </m:rPr>
                      <a:rPr lang="en-US" altLang="zh-CN" sz="2800" i="0" baseline="-25000" dirty="0">
                        <a:latin typeface="Times New Roman" panose="02020603050405020304" pitchFamily="18" charset="0"/>
                        <a:ea typeface="+mj-ea"/>
                        <a:cs typeface="Times New Roman" panose="02020603050405020304" pitchFamily="18" charset="0"/>
                        <a:sym typeface="+mn-ea"/>
                      </a:rPr>
                      <m:t>t</m:t>
                    </m:r>
                    <m:r>
                      <m:rPr>
                        <m:nor/>
                      </m:rPr>
                      <a:rPr lang="en-US" altLang="zh-CN" sz="2800" i="0" baseline="-25000" dirty="0">
                        <a:latin typeface="Times New Roman" panose="02020603050405020304" pitchFamily="18" charset="0"/>
                        <a:ea typeface="+mj-ea"/>
                        <a:cs typeface="Times New Roman" panose="02020603050405020304" pitchFamily="18" charset="0"/>
                        <a:sym typeface="+mn-ea"/>
                      </a:rPr>
                      <m:t>−</m:t>
                    </m:r>
                    <m:r>
                      <m:rPr>
                        <m:nor/>
                      </m:rPr>
                      <a:rPr lang="en-US" altLang="zh-CN" sz="2800" i="0" baseline="-25000" dirty="0">
                        <a:latin typeface="Times New Roman" panose="02020603050405020304" pitchFamily="18" charset="0"/>
                        <a:ea typeface="+mj-ea"/>
                        <a:cs typeface="Times New Roman" panose="02020603050405020304" pitchFamily="18" charset="0"/>
                        <a:sym typeface="+mn-ea"/>
                      </a:rPr>
                      <m:t>1</m:t>
                    </m:r>
                    <m:r>
                      <m:rPr>
                        <m:nor/>
                      </m:rPr>
                      <a:rPr lang="en-US" altLang="zh-CN" sz="2800" i="0" dirty="0">
                        <a:latin typeface="Times New Roman" panose="02020603050405020304" pitchFamily="18" charset="0"/>
                        <a:ea typeface="+mj-ea"/>
                        <a:cs typeface="Times New Roman" panose="02020603050405020304" pitchFamily="18" charset="0"/>
                        <a:sym typeface="+mn-ea"/>
                      </a:rPr>
                      <m:t>)</m:t>
                    </m:r>
                  </m:oMath>
                </a14:m>
                <a:r>
                  <a:rPr lang="en-US" altLang="zh-CN" sz="2800" dirty="0">
                    <a:latin typeface="Times New Roman" panose="02020603050405020304" pitchFamily="18" charset="0"/>
                    <a:ea typeface="+mj-ea"/>
                    <a:cs typeface="Times New Roman" panose="02020603050405020304" pitchFamily="18" charset="0"/>
                    <a:sym typeface="+mn-ea"/>
                  </a:rPr>
                  <a:t>。</a:t>
                </a:r>
                <a:endParaRPr lang="en-US" altLang="zh-CN" sz="2800" dirty="0">
                  <a:latin typeface="Times New Roman" panose="02020603050405020304" pitchFamily="18" charset="0"/>
                  <a:ea typeface="+mj-ea"/>
                  <a:cs typeface="Times New Roman" panose="02020603050405020304" pitchFamily="18" charset="0"/>
                </a:endParaRPr>
              </a:p>
              <a:p>
                <a:pPr indent="457200" algn="just" fontAlgn="auto">
                  <a:lnSpc>
                    <a:spcPct val="120000"/>
                  </a:lnSpc>
                </a:pPr>
                <a:r>
                  <a:rPr lang="en-US" altLang="zh-CN" sz="2800" dirty="0">
                    <a:latin typeface="Times New Roman" panose="02020603050405020304" pitchFamily="18" charset="0"/>
                    <a:ea typeface="+mj-ea"/>
                    <a:cs typeface="Times New Roman" panose="02020603050405020304" pitchFamily="18" charset="0"/>
                    <a:sym typeface="+mn-ea"/>
                  </a:rPr>
                  <a:t>（5）</a:t>
                </a:r>
                <a14:m>
                  <m:oMath xmlns:m="http://schemas.openxmlformats.org/officeDocument/2006/math">
                    <m:r>
                      <m:rPr>
                        <m:nor/>
                      </m:rPr>
                      <a:rPr lang="en-US" altLang="zh-CN" sz="2800" i="0" dirty="0">
                        <a:latin typeface="Times New Roman" panose="02020603050405020304" pitchFamily="18" charset="0"/>
                        <a:ea typeface="+mj-ea"/>
                        <a:cs typeface="Times New Roman" panose="02020603050405020304" pitchFamily="18" charset="0"/>
                        <a:sym typeface="+mn-ea"/>
                      </a:rPr>
                      <m:t>Tag</m:t>
                    </m:r>
                    <m:r>
                      <m:rPr>
                        <m:nor/>
                      </m:rPr>
                      <a:rPr lang="en-US" altLang="zh-CN" sz="2800" i="0" dirty="0">
                        <a:latin typeface="Times New Roman" panose="02020603050405020304" pitchFamily="18" charset="0"/>
                        <a:ea typeface="+mj-ea"/>
                        <a:cs typeface="Times New Roman" panose="02020603050405020304" pitchFamily="18" charset="0"/>
                        <a:sym typeface="+mn-ea"/>
                      </a:rPr>
                      <m:t> = </m:t>
                    </m:r>
                    <m:r>
                      <m:rPr>
                        <m:nor/>
                      </m:rPr>
                      <a:rPr lang="en-US" altLang="zh-CN" sz="2800" i="0" dirty="0">
                        <a:latin typeface="Times New Roman" panose="02020603050405020304" pitchFamily="18" charset="0"/>
                        <a:ea typeface="+mj-ea"/>
                        <a:cs typeface="Times New Roman" panose="02020603050405020304" pitchFamily="18" charset="0"/>
                        <a:sym typeface="+mn-ea"/>
                      </a:rPr>
                      <m:t>Tag</m:t>
                    </m:r>
                    <m:r>
                      <m:rPr>
                        <m:nor/>
                      </m:rPr>
                      <a:rPr lang="en-US" altLang="zh-CN" sz="2800" i="0" dirty="0">
                        <a:latin typeface="Times New Roman" panose="02020603050405020304" pitchFamily="18" charset="0"/>
                        <a:ea typeface="+mj-ea"/>
                        <a:cs typeface="Times New Roman" panose="02020603050405020304" pitchFamily="18" charset="0"/>
                        <a:sym typeface="+mn-ea"/>
                      </a:rPr>
                      <m:t> ⊕ </m:t>
                    </m:r>
                    <m:r>
                      <m:rPr>
                        <m:nor/>
                      </m:rPr>
                      <a:rPr lang="en-US" altLang="zh-CN" sz="2800" i="0" dirty="0">
                        <a:latin typeface="Times New Roman" panose="02020603050405020304" pitchFamily="18" charset="0"/>
                        <a:ea typeface="+mj-ea"/>
                        <a:cs typeface="Times New Roman" panose="02020603050405020304" pitchFamily="18" charset="0"/>
                        <a:sym typeface="+mn-ea"/>
                      </a:rPr>
                      <m:t>W</m:t>
                    </m:r>
                    <m:r>
                      <m:rPr>
                        <m:nor/>
                      </m:rPr>
                      <a:rPr lang="en-US" altLang="zh-CN" sz="2800" i="0" baseline="-25000" dirty="0">
                        <a:latin typeface="Times New Roman" panose="02020603050405020304" pitchFamily="18" charset="0"/>
                        <a:ea typeface="+mj-ea"/>
                        <a:cs typeface="Times New Roman" panose="02020603050405020304" pitchFamily="18" charset="0"/>
                        <a:sym typeface="+mn-ea"/>
                      </a:rPr>
                      <m:t>l</m:t>
                    </m:r>
                  </m:oMath>
                </a14:m>
                <a:r>
                  <a:rPr lang="en-US" altLang="zh-CN" sz="2800" dirty="0">
                    <a:latin typeface="Times New Roman" panose="02020603050405020304" pitchFamily="18" charset="0"/>
                    <a:ea typeface="+mj-ea"/>
                    <a:cs typeface="Times New Roman" panose="02020603050405020304" pitchFamily="18" charset="0"/>
                    <a:sym typeface="+mn-ea"/>
                  </a:rPr>
                  <a:t>。</a:t>
                </a:r>
                <a:endParaRPr lang="en-US" altLang="zh-CN" sz="2800" dirty="0">
                  <a:latin typeface="Times New Roman" panose="02020603050405020304" pitchFamily="18" charset="0"/>
                  <a:ea typeface="+mj-ea"/>
                  <a:cs typeface="Times New Roman" panose="02020603050405020304" pitchFamily="18" charset="0"/>
                </a:endParaRPr>
              </a:p>
              <a:p>
                <a:pPr indent="457200" algn="just" fontAlgn="auto">
                  <a:lnSpc>
                    <a:spcPct val="120000"/>
                  </a:lnSpc>
                </a:pPr>
                <a:r>
                  <a:rPr lang="zh-CN" altLang="en-US" sz="2800" dirty="0">
                    <a:latin typeface="Times New Roman" panose="02020603050405020304" pitchFamily="18" charset="0"/>
                    <a:ea typeface="+mj-ea"/>
                    <a:cs typeface="Times New Roman" panose="02020603050405020304" pitchFamily="18" charset="0"/>
                    <a:sym typeface="+mn-ea"/>
                  </a:rPr>
                  <a:t>（6）返回</a:t>
                </a:r>
                <a:r>
                  <a:rPr lang="en-US" altLang="zh-CN" sz="2800" dirty="0">
                    <a:latin typeface="Times New Roman" panose="02020603050405020304" pitchFamily="18" charset="0"/>
                    <a:ea typeface="+mj-ea"/>
                    <a:cs typeface="Times New Roman" panose="02020603050405020304" pitchFamily="18" charset="0"/>
                    <a:sym typeface="+mn-ea"/>
                  </a:rPr>
                  <a:t>Tag。</a:t>
                </a:r>
                <a:endParaRPr lang="en-US" altLang="zh-CN" sz="2800" dirty="0">
                  <a:latin typeface="Times New Roman" panose="02020603050405020304" pitchFamily="18" charset="0"/>
                  <a:ea typeface="+mj-ea"/>
                  <a:cs typeface="Times New Roman" panose="02020603050405020304" pitchFamily="18" charset="0"/>
                  <a:sym typeface="+mn-ea"/>
                </a:endParaRPr>
              </a:p>
            </p:txBody>
          </p:sp>
        </mc:Choice>
        <mc:Fallback>
          <p:sp>
            <p:nvSpPr>
              <p:cNvPr id="11" name="文本框 10"/>
              <p:cNvSpPr txBox="1">
                <a:spLocks noRot="1" noChangeAspect="1" noMove="1" noResize="1" noEditPoints="1" noAdjustHandles="1" noChangeArrowheads="1" noChangeShapeType="1" noTextEdit="1"/>
              </p:cNvSpPr>
              <p:nvPr/>
            </p:nvSpPr>
            <p:spPr>
              <a:xfrm>
                <a:off x="914400" y="1562100"/>
                <a:ext cx="16147415" cy="8599805"/>
              </a:xfrm>
              <a:prstGeom prst="rect">
                <a:avLst/>
              </a:prstGeom>
              <a:blipFill rotWithShape="1">
                <a:blip r:embed="rId1"/>
                <a:stretch>
                  <a:fillRect r="-2190"/>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p:txBody>
          <a:bodyPr/>
          <a:lstStyle/>
          <a:p>
            <a:fld id="{B6F15528-21DE-4FAA-801E-634DDDAF4B2B}" type="slidenum">
              <a:rPr lang="en-US" smtClean="0"/>
            </a:fld>
            <a:endParaRPr lang="en-US"/>
          </a:p>
        </p:txBody>
      </p:sp>
      <p:grpSp>
        <p:nvGrpSpPr>
          <p:cNvPr id="16" name="Group 2"/>
          <p:cNvGrpSpPr/>
          <p:nvPr/>
        </p:nvGrpSpPr>
        <p:grpSpPr>
          <a:xfrm>
            <a:off x="412090" y="1028700"/>
            <a:ext cx="7800783" cy="275915"/>
            <a:chOff x="0" y="0"/>
            <a:chExt cx="2054527" cy="72669"/>
          </a:xfrm>
        </p:grpSpPr>
        <p:sp>
          <p:nvSpPr>
            <p:cNvPr id="1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9" name="TextBox 30"/>
          <p:cNvSpPr txBox="1"/>
          <p:nvPr/>
        </p:nvSpPr>
        <p:spPr>
          <a:xfrm>
            <a:off x="2210043" y="509179"/>
            <a:ext cx="9458717" cy="717550"/>
          </a:xfrm>
          <a:prstGeom prst="rect">
            <a:avLst/>
          </a:prstGeom>
        </p:spPr>
        <p:txBody>
          <a:bodyPr lIns="0" tIns="0" rIns="0" bIns="0" rtlCol="0" anchor="t">
            <a:spAutoFit/>
          </a:bodyPr>
          <a:lstStyle/>
          <a:p>
            <a:pPr>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ZUC</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算法案例</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20"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6.4</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21"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22" name="组合 21"/>
          <p:cNvGrpSpPr/>
          <p:nvPr/>
        </p:nvGrpSpPr>
        <p:grpSpPr>
          <a:xfrm>
            <a:off x="13639786" y="733421"/>
            <a:ext cx="3700052" cy="416951"/>
            <a:chOff x="13811849" y="507954"/>
            <a:chExt cx="3700052" cy="416951"/>
          </a:xfrm>
        </p:grpSpPr>
        <p:sp>
          <p:nvSpPr>
            <p:cNvPr id="23" name="文本框 2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24" name="图片 23"/>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endParaRPr lang="zh-CN" altLang="en-US"/>
            </a:p>
          </p:txBody>
        </p:sp>
        <p:sp>
          <p:nvSpPr>
            <p:cNvPr id="29" name="TextBox 29"/>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sp>
        <p:nvSpPr>
          <p:cNvPr id="30" name="TextBox 30"/>
          <p:cNvSpPr txBox="1"/>
          <p:nvPr/>
        </p:nvSpPr>
        <p:spPr>
          <a:xfrm>
            <a:off x="7781241" y="2834725"/>
            <a:ext cx="2725514" cy="2190115"/>
          </a:xfrm>
          <a:prstGeom prst="rect">
            <a:avLst/>
          </a:prstGeom>
        </p:spPr>
        <p:txBody>
          <a:bodyPr lIns="0" tIns="0" rIns="0" bIns="0" rtlCol="0" anchor="t">
            <a:spAutoFit/>
          </a:bodyPr>
          <a:lstStyle/>
          <a:p>
            <a:pPr algn="ctr">
              <a:lnSpc>
                <a:spcPts val="17080"/>
              </a:lnSpc>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6.5</a:t>
            </a:r>
            <a:endPar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1" name="TextBox 31"/>
          <p:cNvSpPr txBox="1"/>
          <p:nvPr/>
        </p:nvSpPr>
        <p:spPr>
          <a:xfrm>
            <a:off x="3428998" y="5143500"/>
            <a:ext cx="11429999" cy="1436291"/>
          </a:xfrm>
          <a:prstGeom prst="rect">
            <a:avLst/>
          </a:prstGeom>
        </p:spPr>
        <p:txBody>
          <a:bodyPr wrap="square" lIns="0" tIns="0" rIns="0" bIns="0" rtlCol="0" anchor="t">
            <a:spAutoFit/>
          </a:bodyPr>
          <a:lstStyle/>
          <a:p>
            <a:pPr algn="ctr">
              <a:lnSpc>
                <a:spcPts val="11200"/>
              </a:lnSpc>
            </a:pPr>
            <a:r>
              <a:rPr lang="zh-CN" altLang="en-US"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本章小结</a:t>
            </a:r>
            <a:endParaRPr lang="zh-CN" altLang="en-US"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40" name="TextBox 40"/>
              <p:cNvSpPr txBox="1"/>
              <p:nvPr/>
            </p:nvSpPr>
            <p:spPr>
              <a:xfrm>
                <a:off x="0" y="0"/>
                <a:ext cx="5501351" cy="288980"/>
              </a:xfrm>
              <a:prstGeom prst="rect">
                <a:avLst/>
              </a:prstGeom>
            </p:spPr>
            <p:txBody>
              <a:bodyPr lIns="50800" tIns="50800" rIns="50800" bIns="50800" rtlCol="0" anchor="ctr"/>
              <a:lstStyle/>
              <a:p>
                <a:pPr algn="ctr">
                  <a:lnSpc>
                    <a:spcPts val="2880"/>
                  </a:lnSpc>
                </a:p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43" name="TextBox 43"/>
              <p:cNvSpPr txBox="1"/>
              <p:nvPr/>
            </p:nvSpPr>
            <p:spPr>
              <a:xfrm>
                <a:off x="0" y="0"/>
                <a:ext cx="5501351" cy="327048"/>
              </a:xfrm>
              <a:prstGeom prst="rect">
                <a:avLst/>
              </a:prstGeom>
            </p:spPr>
            <p:txBody>
              <a:bodyPr lIns="50800" tIns="50800" rIns="50800" bIns="50800" rtlCol="0" anchor="ctr"/>
              <a:lstStyle/>
              <a:p>
                <a:pPr algn="ctr">
                  <a:lnSpc>
                    <a:spcPts val="2880"/>
                  </a:lnSpc>
                </a:pPr>
              </a:p>
            </p:txBody>
          </p:sp>
        </p:grpSp>
      </p:grpSp>
      <p:sp>
        <p:nvSpPr>
          <p:cNvPr id="33" name="灯片编号占位符 32"/>
          <p:cNvSpPr>
            <a:spLocks noGrp="1"/>
          </p:cNvSpPr>
          <p:nvPr>
            <p:ph type="sldNum" sz="quarter" idx="12"/>
          </p:nvPr>
        </p:nvSpPr>
        <p:spPr>
          <a:xfrm>
            <a:off x="15374104" y="9522714"/>
            <a:ext cx="2133600" cy="441325"/>
          </a:xfrm>
        </p:spPr>
        <p:txBody>
          <a:bodyPr/>
          <a:lstStyle/>
          <a:p>
            <a:r>
              <a:rPr lang="en-US" dirty="0"/>
              <a:t>39</a:t>
            </a:r>
            <a:endParaRPr lang="en-US" dirty="0"/>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36" name="图片 35"/>
            <p:cNvPicPr>
              <a:picLocks noChangeAspect="1"/>
            </p:cNvPicPr>
            <p:nvPr/>
          </p:nvPicPr>
          <p:blipFill>
            <a:blip r:embed="rId1"/>
            <a:stretch>
              <a:fillRect/>
            </a:stretch>
          </p:blipFill>
          <p:spPr>
            <a:xfrm>
              <a:off x="13944600" y="877286"/>
              <a:ext cx="2771429" cy="47619"/>
            </a:xfrm>
            <a:prstGeom prst="rect">
              <a:avLst/>
            </a:prstGeom>
          </p:spPr>
        </p:pic>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9"/>
          <p:cNvSpPr txBox="1"/>
          <p:nvPr/>
        </p:nvSpPr>
        <p:spPr>
          <a:xfrm>
            <a:off x="1734904" y="2095450"/>
            <a:ext cx="14818191" cy="1992630"/>
          </a:xfrm>
          <a:prstGeom prst="rect">
            <a:avLst/>
          </a:prstGeom>
        </p:spPr>
        <p:txBody>
          <a:bodyPr wrap="square" lIns="0" tIns="0" rIns="0" bIns="0" rtlCol="0" anchor="t">
            <a:spAutoFit/>
          </a:bodyPr>
          <a:lstStyle/>
          <a:p>
            <a:pPr indent="914400" fontAlgn="auto" latinLnBrk="1">
              <a:lnSpc>
                <a:spcPct val="120000"/>
              </a:lnSpc>
              <a:extLst>
                <a:ext uri="{35155182-B16C-46BC-9424-99874614C6A1}">
                  <wpsdc:indentchar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本章首先介绍了</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ZUC</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算法的基本概念，包括算法结构、算法原理、算法参数和算法描述。在此基础上，介绍了</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ZUC</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算法的安全性及分析技术，最后介绍了</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ZUC-256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完整性认证的案例。</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7" name="灯片编号占位符 6"/>
          <p:cNvSpPr>
            <a:spLocks noGrp="1"/>
          </p:cNvSpPr>
          <p:nvPr>
            <p:ph type="sldNum" sz="quarter" idx="12"/>
          </p:nvPr>
        </p:nvSpPr>
        <p:spPr/>
        <p:txBody>
          <a:bodyPr/>
          <a:lstStyle/>
          <a:p>
            <a:fld id="{B6F15528-21DE-4FAA-801E-634DDDAF4B2B}" type="slidenum">
              <a:rPr lang="en-US" smtClean="0"/>
            </a:fld>
            <a:endParaRPr lang="en-US"/>
          </a:p>
        </p:txBody>
      </p:sp>
      <p:grpSp>
        <p:nvGrpSpPr>
          <p:cNvPr id="16" name="Group 2"/>
          <p:cNvGrpSpPr/>
          <p:nvPr/>
        </p:nvGrpSpPr>
        <p:grpSpPr>
          <a:xfrm>
            <a:off x="412090" y="1028700"/>
            <a:ext cx="7800783" cy="275915"/>
            <a:chOff x="0" y="0"/>
            <a:chExt cx="2054527" cy="72669"/>
          </a:xfrm>
        </p:grpSpPr>
        <p:sp>
          <p:nvSpPr>
            <p:cNvPr id="1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9" name="TextBox 30"/>
          <p:cNvSpPr txBox="1"/>
          <p:nvPr/>
        </p:nvSpPr>
        <p:spPr>
          <a:xfrm>
            <a:off x="2210043" y="509179"/>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本章小结</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20"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6.5</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21"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22" name="组合 21"/>
          <p:cNvGrpSpPr/>
          <p:nvPr/>
        </p:nvGrpSpPr>
        <p:grpSpPr>
          <a:xfrm>
            <a:off x="13639786" y="733421"/>
            <a:ext cx="3700052" cy="416951"/>
            <a:chOff x="13811849" y="507954"/>
            <a:chExt cx="3700052" cy="416951"/>
          </a:xfrm>
        </p:grpSpPr>
        <p:sp>
          <p:nvSpPr>
            <p:cNvPr id="23" name="文本框 2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24" name="图片 23"/>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tags/tag1.xml><?xml version="1.0" encoding="utf-8"?>
<p:tagLst xmlns:p="http://schemas.openxmlformats.org/presentationml/2006/main">
  <p:tag name="KSO_WM_DIAGRAM_VIRTUALLY_FRAME" val="{&quot;height&quot;:517.2767716535434,&quot;left&quot;:526.7677952755906,&quot;top&quot;:107.84661417322835,&quot;width&quot;:890.3322047244094}"/>
</p:tagLst>
</file>

<file path=ppt/tags/tag2.xml><?xml version="1.0" encoding="utf-8"?>
<p:tagLst xmlns:p="http://schemas.openxmlformats.org/presentationml/2006/main">
  <p:tag name="KSO_WM_DIAGRAM_VIRTUALLY_FRAME" val="{&quot;height&quot;:517.2767716535434,&quot;left&quot;:526.7677952755906,&quot;top&quot;:107.84661417322835,&quot;width&quot;:890.3322047244094}"/>
</p:tagLst>
</file>

<file path=ppt/tags/tag3.xml><?xml version="1.0" encoding="utf-8"?>
<p:tagLst xmlns:p="http://schemas.openxmlformats.org/presentationml/2006/main">
  <p:tag name="KSO_WM_DIAGRAM_VIRTUALLY_FRAME" val="{&quot;height&quot;:517.2767716535434,&quot;left&quot;:526.7677952755906,&quot;top&quot;:107.84661417322835,&quot;width&quot;:890.3322047244094}"/>
</p:tagLst>
</file>

<file path=ppt/tags/tag4.xml><?xml version="1.0" encoding="utf-8"?>
<p:tagLst xmlns:p="http://schemas.openxmlformats.org/presentationml/2006/main">
  <p:tag name="KSO_WM_DIAGRAM_VIRTUALLY_FRAME" val="{&quot;height&quot;:517.2767716535434,&quot;left&quot;:526.7677952755906,&quot;top&quot;:107.84661417322835,&quot;width&quot;:890.3322047244094}"/>
</p:tagLst>
</file>

<file path=ppt/tags/tag5.xml><?xml version="1.0" encoding="utf-8"?>
<p:tagLst xmlns:p="http://schemas.openxmlformats.org/presentationml/2006/main">
  <p:tag name="KSO_WM_DIAGRAM_VIRTUALLY_FRAME" val="{&quot;height&quot;:517.2767716535434,&quot;left&quot;:526.7677952755906,&quot;top&quot;:107.84661417322835,&quot;width&quot;:890.3322047244094}"/>
</p:tagLst>
</file>

<file path=ppt/tags/tag6.xml><?xml version="1.0" encoding="utf-8"?>
<p:tagLst xmlns:p="http://schemas.openxmlformats.org/presentationml/2006/main">
  <p:tag name="KSO_WM_DIAGRAM_VIRTUALLY_FRAME" val="{&quot;height&quot;:517.2767716535434,&quot;left&quot;:526.7677952755906,&quot;top&quot;:107.84661417322835,&quot;width&quot;:890.3322047244094}"/>
</p:tagLst>
</file>

<file path=ppt/tags/tag7.xml><?xml version="1.0" encoding="utf-8"?>
<p:tagLst xmlns:p="http://schemas.openxmlformats.org/presentationml/2006/main">
  <p:tag name="KSO_WM_DIAGRAM_VIRTUALLY_FRAME" val="{&quot;height&quot;:517.2767716535434,&quot;left&quot;:526.7677952755906,&quot;top&quot;:107.84661417322835,&quot;width&quot;:890.3322047244094}"/>
</p:tagLst>
</file>

<file path=ppt/tags/tag8.xml><?xml version="1.0" encoding="utf-8"?>
<p:tagLst xmlns:p="http://schemas.openxmlformats.org/presentationml/2006/main">
  <p:tag name="KSO_WM_DIAGRAM_VIRTUALLY_FRAME" val="{&quot;height&quot;:517.2767716535434,&quot;left&quot;:526.7677952755906,&quot;top&quot;:107.84661417322835,&quot;width&quot;:890.3322047244094}"/>
</p:tagLst>
</file>

<file path=ppt/tags/tag9.xml><?xml version="1.0" encoding="utf-8"?>
<p:tagLst xmlns:p="http://schemas.openxmlformats.org/presentationml/2006/main">
  <p:tag name="KSO_WM_DIAGRAM_VIRTUALLY_FRAME" val="{&quot;height&quot;:517.2767716535434,&quot;left&quot;:526.7677952755906,&quot;top&quot;:107.84661417322835,&quot;width&quot;:890.3322047244094}"/>
</p:tagLst>
</file>

<file path=ppt/tags/tag10.xml><?xml version="1.0" encoding="utf-8"?>
<p:tagLst xmlns:p="http://schemas.openxmlformats.org/presentationml/2006/main">
  <p:tag name="KSO_WM_DIAGRAM_VIRTUALLY_FRAME" val="{&quot;height&quot;:517.2767716535434,&quot;left&quot;:526.7677952755906,&quot;top&quot;:107.84661417322835,&quot;width&quot;:890.332204724409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8002</Words>
  <Application>WPS 演示</Application>
  <PresentationFormat>自定义</PresentationFormat>
  <Paragraphs>551</Paragraphs>
  <Slides>40</Slides>
  <Notes>2</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6</vt:i4>
      </vt:variant>
      <vt:variant>
        <vt:lpstr>幻灯片标题</vt:lpstr>
      </vt:variant>
      <vt:variant>
        <vt:i4>40</vt:i4>
      </vt:variant>
    </vt:vector>
  </HeadingPairs>
  <TitlesOfParts>
    <vt:vector size="61" baseType="lpstr">
      <vt:lpstr>Arial</vt:lpstr>
      <vt:lpstr>宋体</vt:lpstr>
      <vt:lpstr>Wingdings</vt:lpstr>
      <vt:lpstr>仿宋</vt:lpstr>
      <vt:lpstr>字由文艺黑</vt:lpstr>
      <vt:lpstr>Times New Roman</vt:lpstr>
      <vt:lpstr>微软雅黑</vt:lpstr>
      <vt:lpstr>字由点字典黑 2</vt:lpstr>
      <vt:lpstr>黑体</vt:lpstr>
      <vt:lpstr>Cambria Math</vt:lpstr>
      <vt:lpstr>Calibri</vt:lpstr>
      <vt:lpstr>Arial Unicode MS</vt:lpstr>
      <vt:lpstr>等线</vt:lpstr>
      <vt:lpstr>字由点字典黑 2</vt:lpstr>
      <vt:lpstr>Office Theme</vt:lpstr>
      <vt:lpstr>Equation.DSMT4</vt:lpstr>
      <vt:lpstr>Equation.DSMT4</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蓝色简约毕业论文答辩演示文稿</dc:title>
  <dc:creator>snow jiang</dc:creator>
  <cp:lastModifiedBy>杨妮</cp:lastModifiedBy>
  <cp:revision>214</cp:revision>
  <dcterms:created xsi:type="dcterms:W3CDTF">2006-08-16T00:00:00Z</dcterms:created>
  <dcterms:modified xsi:type="dcterms:W3CDTF">2026-10-06T12:57:35Z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96AC7FF99B6147F6A6F7B88D2EBA20F7_13</vt:lpwstr>
  </property>
  <property fmtid="{D5CDD505-2E9C-101B-9397-08002B2CF9AE}" pid="3" name="KSOProductBuildVer">
    <vt:lpwstr>2052-12.1.0.28505</vt:lpwstr>
  </property>
</Properties>
</file>