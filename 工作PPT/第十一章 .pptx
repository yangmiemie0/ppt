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315" r:id="rId8"/>
    <p:sldId id="260" r:id="rId9"/>
    <p:sldId id="261" r:id="rId10"/>
    <p:sldId id="262" r:id="rId11"/>
    <p:sldId id="316" r:id="rId12"/>
    <p:sldId id="263" r:id="rId13"/>
    <p:sldId id="264" r:id="rId14"/>
    <p:sldId id="265" r:id="rId15"/>
    <p:sldId id="266" r:id="rId16"/>
    <p:sldId id="317" r:id="rId17"/>
    <p:sldId id="267" r:id="rId18"/>
    <p:sldId id="268" r:id="rId19"/>
    <p:sldId id="269" r:id="rId20"/>
    <p:sldId id="318" r:id="rId21"/>
    <p:sldId id="270" r:id="rId22"/>
    <p:sldId id="271" r:id="rId23"/>
    <p:sldId id="272" r:id="rId24"/>
    <p:sldId id="319" r:id="rId25"/>
    <p:sldId id="273" r:id="rId26"/>
    <p:sldId id="274" r:id="rId27"/>
    <p:sldId id="275" r:id="rId28"/>
    <p:sldId id="276" r:id="rId29"/>
    <p:sldId id="277" r:id="rId30"/>
    <p:sldId id="278" r:id="rId31"/>
    <p:sldId id="279" r:id="rId32"/>
    <p:sldId id="280" r:id="rId33"/>
    <p:sldId id="281" r:id="rId34"/>
    <p:sldId id="282" r:id="rId35"/>
    <p:sldId id="321" r:id="rId36"/>
    <p:sldId id="283" r:id="rId37"/>
    <p:sldId id="284" r:id="rId38"/>
    <p:sldId id="285" r:id="rId39"/>
    <p:sldId id="322" r:id="rId40"/>
    <p:sldId id="286" r:id="rId41"/>
    <p:sldId id="287" r:id="rId42"/>
    <p:sldId id="323" r:id="rId43"/>
    <p:sldId id="288" r:id="rId44"/>
    <p:sldId id="289" r:id="rId45"/>
    <p:sldId id="290" r:id="rId46"/>
    <p:sldId id="291" r:id="rId47"/>
    <p:sldId id="292" r:id="rId48"/>
    <p:sldId id="293" r:id="rId49"/>
    <p:sldId id="324" r:id="rId50"/>
    <p:sldId id="332" r:id="rId51"/>
    <p:sldId id="294" r:id="rId52"/>
    <p:sldId id="295" r:id="rId53"/>
    <p:sldId id="296" r:id="rId54"/>
    <p:sldId id="326" r:id="rId55"/>
    <p:sldId id="297" r:id="rId56"/>
    <p:sldId id="327" r:id="rId57"/>
    <p:sldId id="298" r:id="rId58"/>
    <p:sldId id="299" r:id="rId59"/>
    <p:sldId id="300" r:id="rId60"/>
    <p:sldId id="301" r:id="rId61"/>
    <p:sldId id="329" r:id="rId62"/>
    <p:sldId id="334" r:id="rId63"/>
    <p:sldId id="302" r:id="rId64"/>
    <p:sldId id="303" r:id="rId65"/>
    <p:sldId id="304" r:id="rId66"/>
    <p:sldId id="305" r:id="rId67"/>
    <p:sldId id="306" r:id="rId68"/>
    <p:sldId id="307" r:id="rId69"/>
    <p:sldId id="308" r:id="rId70"/>
    <p:sldId id="309" r:id="rId71"/>
    <p:sldId id="310" r:id="rId72"/>
    <p:sldId id="330" r:id="rId73"/>
    <p:sldId id="311" r:id="rId74"/>
  </p:sldIdLst>
  <p:sldSz cx="18288000" cy="10287000"/>
  <p:notesSz cx="18288000" cy="10287000"/>
  <p:custDataLst>
    <p:tags r:id="rId7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563.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065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27623915" y="0"/>
            <a:ext cx="21132800" cy="58065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0912138" y="1446609"/>
            <a:ext cx="6943725" cy="390584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876800" y="5569446"/>
            <a:ext cx="39014400" cy="455682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992223"/>
            <a:ext cx="21132800" cy="58065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27623915" y="10992223"/>
            <a:ext cx="21132800" cy="580652"/>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alpha val="0"/>
              </a:srgbClr>
            </a:gs>
            <a:gs pos="100000">
              <a:srgbClr val="DEE9FF"/>
            </a:gs>
          </a:gsLst>
          <a:lin ang="5400000" scaled="0"/>
        </a:grad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2" Type="http://schemas.openxmlformats.org/officeDocument/2006/relationships/notesSlide" Target="../notesSlides/notesSlide2.xml"/><Relationship Id="rId21" Type="http://schemas.openxmlformats.org/officeDocument/2006/relationships/slideLayout" Target="../slideLayouts/slideLayout1.xml"/><Relationship Id="rId20" Type="http://schemas.openxmlformats.org/officeDocument/2006/relationships/image" Target="../media/image1.png"/><Relationship Id="rId2" Type="http://schemas.openxmlformats.org/officeDocument/2006/relationships/tags" Target="../tags/tag9.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image" Target="../media/image3.png"/><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image" Target="../media/image3.png"/><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1" Type="http://schemas.openxmlformats.org/officeDocument/2006/relationships/slideLayout" Target="../slideLayouts/slideLayout1.xml"/><Relationship Id="rId10" Type="http://schemas.openxmlformats.org/officeDocument/2006/relationships/tags" Target="../tags/tag46.xml"/><Relationship Id="rId1" Type="http://schemas.openxmlformats.org/officeDocument/2006/relationships/tags" Target="../tags/tag39.xml"/></Relationships>
</file>

<file path=ppt/slides/_rels/slide6.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image" Target="../media/image3.png"/><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2" Type="http://schemas.openxmlformats.org/officeDocument/2006/relationships/slideLayout" Target="../slideLayouts/slideLayout1.xml"/><Relationship Id="rId11" Type="http://schemas.openxmlformats.org/officeDocument/2006/relationships/tags" Target="../tags/tag54.xml"/><Relationship Id="rId10" Type="http://schemas.openxmlformats.org/officeDocument/2006/relationships/image" Target="../media/image1.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image" Target="../media/image3.png"/><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2" Type="http://schemas.openxmlformats.org/officeDocument/2006/relationships/slideLayout" Target="../slideLayouts/slideLayout1.xml"/><Relationship Id="rId11" Type="http://schemas.openxmlformats.org/officeDocument/2006/relationships/tags" Target="../tags/tag62.xml"/><Relationship Id="rId10" Type="http://schemas.openxmlformats.org/officeDocument/2006/relationships/image" Target="../media/image1.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image" Target="../media/image3.png"/><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6" Type="http://schemas.openxmlformats.org/officeDocument/2006/relationships/notesSlide" Target="../notesSlides/notesSlide3.xml"/><Relationship Id="rId15" Type="http://schemas.openxmlformats.org/officeDocument/2006/relationships/slideLayout" Target="../slideLayouts/slideLayout1.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image" Target="../media/image7.png"/><Relationship Id="rId11" Type="http://schemas.openxmlformats.org/officeDocument/2006/relationships/tags" Target="../tags/tag70.xml"/><Relationship Id="rId10" Type="http://schemas.openxmlformats.org/officeDocument/2006/relationships/image" Target="../media/image1.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image" Target="../media/image3.png"/><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1" Type="http://schemas.openxmlformats.org/officeDocument/2006/relationships/slideLayout" Target="../slideLayouts/slideLayout1.xml"/><Relationship Id="rId10" Type="http://schemas.openxmlformats.org/officeDocument/2006/relationships/tags" Target="../tags/tag80.xml"/><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image" Target="../media/image3.png"/><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2" Type="http://schemas.openxmlformats.org/officeDocument/2006/relationships/slideLayout" Target="../slideLayouts/slideLayout1.xml"/><Relationship Id="rId11" Type="http://schemas.openxmlformats.org/officeDocument/2006/relationships/tags" Target="../tags/tag88.xml"/><Relationship Id="rId10" Type="http://schemas.openxmlformats.org/officeDocument/2006/relationships/image" Target="../media/image1.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image" Target="../media/image3.png"/><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2" Type="http://schemas.openxmlformats.org/officeDocument/2006/relationships/slideLayout" Target="../slideLayouts/slideLayout1.xml"/><Relationship Id="rId11" Type="http://schemas.openxmlformats.org/officeDocument/2006/relationships/tags" Target="../tags/tag96.xml"/><Relationship Id="rId10" Type="http://schemas.openxmlformats.org/officeDocument/2006/relationships/image" Target="../media/image1.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image" Target="../media/image1.png"/><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1" Type="http://schemas.openxmlformats.org/officeDocument/2006/relationships/slideLayout" Target="../slideLayouts/slideLayout1.xml"/><Relationship Id="rId10" Type="http://schemas.openxmlformats.org/officeDocument/2006/relationships/tags" Target="../tags/tag105.xml"/><Relationship Id="rId1" Type="http://schemas.openxmlformats.org/officeDocument/2006/relationships/tags" Target="../tags/tag97.xml"/></Relationships>
</file>

<file path=ppt/slides/_rels/slide13.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image" Target="../media/image3.png"/><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1" Type="http://schemas.openxmlformats.org/officeDocument/2006/relationships/slideLayout" Target="../slideLayouts/slideLayout1.xml"/><Relationship Id="rId10" Type="http://schemas.openxmlformats.org/officeDocument/2006/relationships/tags" Target="../tags/tag113.xml"/><Relationship Id="rId1" Type="http://schemas.openxmlformats.org/officeDocument/2006/relationships/tags" Target="../tags/tag106.xml"/></Relationships>
</file>

<file path=ppt/slides/_rels/slide14.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image" Target="../media/image3.png"/><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image" Target="../media/image11.png"/><Relationship Id="rId13" Type="http://schemas.openxmlformats.org/officeDocument/2006/relationships/slideLayout" Target="../slideLayouts/slideLayout1.xml"/><Relationship Id="rId12" Type="http://schemas.openxmlformats.org/officeDocument/2006/relationships/tags" Target="../tags/tag121.xml"/><Relationship Id="rId11" Type="http://schemas.openxmlformats.org/officeDocument/2006/relationships/image" Target="../media/image1.png"/><Relationship Id="rId10" Type="http://schemas.openxmlformats.org/officeDocument/2006/relationships/tags" Target="../tags/tag120.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image" Target="../media/image3.png"/><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122.xml"/></Relationships>
</file>

<file path=ppt/slides/_rels/slide16.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image" Target="../media/image3.png"/><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137.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image" Target="../media/image3.png"/><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138.xml"/></Relationships>
</file>

<file path=ppt/slides/_rels/slide18.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image" Target="../media/image3.png"/><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image" Target="../media/image14.png"/><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image" Target="../media/image3.png"/><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161.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image" Target="../media/image3.png"/><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169.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image" Target="../media/image3.png"/><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image" Target="../media/image18.png"/><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177.xml"/><Relationship Id="rId10" Type="http://schemas.openxmlformats.org/officeDocument/2006/relationships/tags" Target="../tags/tag176.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image" Target="../media/image3.png"/><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185.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image" Target="../media/image3.png"/><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193.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image" Target="../media/image3.png"/><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01.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image" Target="../media/image3.png"/><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09.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image" Target="../media/image3.png"/><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17.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tags" Target="../tags/tag223.xml"/><Relationship Id="rId7" Type="http://schemas.openxmlformats.org/officeDocument/2006/relationships/tags" Target="../tags/tag222.xml"/><Relationship Id="rId6" Type="http://schemas.openxmlformats.org/officeDocument/2006/relationships/image" Target="../media/image3.png"/><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25.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image" Target="../media/image3.png"/><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33.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image" Target="../media/image3.png"/><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234.xml"/></Relationships>
</file>

<file path=ppt/slides/_rels/slide30.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image" Target="../media/image3.png"/><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49.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9" Type="http://schemas.openxmlformats.org/officeDocument/2006/relationships/tags" Target="../tags/tag258.xml"/><Relationship Id="rId8" Type="http://schemas.openxmlformats.org/officeDocument/2006/relationships/tags" Target="../tags/tag257.xml"/><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2" Type="http://schemas.openxmlformats.org/officeDocument/2006/relationships/notesSlide" Target="../notesSlides/notesSlide4.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250.xml"/></Relationships>
</file>

<file path=ppt/slides/_rels/slide32.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image" Target="../media/image3.png"/><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259.xml"/></Relationships>
</file>

<file path=ppt/slides/_rels/slide33.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image" Target="../media/image3.png"/><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image" Target="../media/image28.png"/><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9" Type="http://schemas.openxmlformats.org/officeDocument/2006/relationships/tags" Target="../tags/tag281.xml"/><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image" Target="../media/image3.png"/><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8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image" Target="../media/image3.png"/><Relationship Id="rId5" Type="http://schemas.openxmlformats.org/officeDocument/2006/relationships/tags" Target="../tags/tag286.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90.xml"/><Relationship Id="rId1" Type="http://schemas.openxmlformats.org/officeDocument/2006/relationships/image" Target="../media/image30.png"/></Relationships>
</file>

<file path=ppt/slides/_rels/slide36.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image" Target="../media/image3.png"/><Relationship Id="rId5" Type="http://schemas.openxmlformats.org/officeDocument/2006/relationships/tags" Target="../tags/tag294.xml"/><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298.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9" Type="http://schemas.openxmlformats.org/officeDocument/2006/relationships/tags" Target="../tags/tag305.xml"/><Relationship Id="rId8" Type="http://schemas.openxmlformats.org/officeDocument/2006/relationships/tags" Target="../tags/tag304.xml"/><Relationship Id="rId7" Type="http://schemas.openxmlformats.org/officeDocument/2006/relationships/tags" Target="../tags/tag303.xml"/><Relationship Id="rId6" Type="http://schemas.openxmlformats.org/officeDocument/2006/relationships/image" Target="../media/image3.png"/><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image" Target="../media/image32.png"/><Relationship Id="rId2" Type="http://schemas.openxmlformats.org/officeDocument/2006/relationships/tags" Target="../tags/tag300.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06.xml"/><Relationship Id="rId1" Type="http://schemas.openxmlformats.org/officeDocument/2006/relationships/tags" Target="../tags/tag299.xml"/></Relationships>
</file>

<file path=ppt/slides/_rels/slide38.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image" Target="../media/image3.png"/><Relationship Id="rId6" Type="http://schemas.openxmlformats.org/officeDocument/2006/relationships/tags" Target="../tags/tag310.xml"/><Relationship Id="rId5" Type="http://schemas.openxmlformats.org/officeDocument/2006/relationships/tags" Target="../tags/tag309.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tags" Target="../tags/tag308.xml"/><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314.xml"/><Relationship Id="rId10" Type="http://schemas.openxmlformats.org/officeDocument/2006/relationships/tags" Target="../tags/tag313.xml"/><Relationship Id="rId1" Type="http://schemas.openxmlformats.org/officeDocument/2006/relationships/tags" Target="../tags/tag307.xml"/></Relationships>
</file>

<file path=ppt/slides/_rels/slide39.xml.rels><?xml version="1.0" encoding="UTF-8" standalone="yes"?>
<Relationships xmlns="http://schemas.openxmlformats.org/package/2006/relationships"><Relationship Id="rId9" Type="http://schemas.openxmlformats.org/officeDocument/2006/relationships/tags" Target="../tags/tag319.xml"/><Relationship Id="rId8" Type="http://schemas.openxmlformats.org/officeDocument/2006/relationships/image" Target="../media/image3.png"/><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tags" Target="../tags/tag316.xml"/><Relationship Id="rId14" Type="http://schemas.openxmlformats.org/officeDocument/2006/relationships/slideLayout" Target="../slideLayouts/slideLayout1.xml"/><Relationship Id="rId13" Type="http://schemas.openxmlformats.org/officeDocument/2006/relationships/image" Target="../media/image1.png"/><Relationship Id="rId12" Type="http://schemas.openxmlformats.org/officeDocument/2006/relationships/tags" Target="../tags/tag322.xml"/><Relationship Id="rId11" Type="http://schemas.openxmlformats.org/officeDocument/2006/relationships/tags" Target="../tags/tag321.xml"/><Relationship Id="rId10" Type="http://schemas.openxmlformats.org/officeDocument/2006/relationships/tags" Target="../tags/tag320.xml"/><Relationship Id="rId1" Type="http://schemas.openxmlformats.org/officeDocument/2006/relationships/tags" Target="../tags/tag315.xml"/></Relationships>
</file>

<file path=ppt/slides/_rels/slide40.xml.rels><?xml version="1.0" encoding="UTF-8" standalone="yes"?>
<Relationships xmlns="http://schemas.openxmlformats.org/package/2006/relationships"><Relationship Id="rId9" Type="http://schemas.openxmlformats.org/officeDocument/2006/relationships/tags" Target="../tags/tag329.xml"/><Relationship Id="rId8" Type="http://schemas.openxmlformats.org/officeDocument/2006/relationships/tags" Target="../tags/tag328.xml"/><Relationship Id="rId7" Type="http://schemas.openxmlformats.org/officeDocument/2006/relationships/tags" Target="../tags/tag327.xml"/><Relationship Id="rId6" Type="http://schemas.openxmlformats.org/officeDocument/2006/relationships/image" Target="../media/image3.png"/><Relationship Id="rId5" Type="http://schemas.openxmlformats.org/officeDocument/2006/relationships/tags" Target="../tags/tag326.xml"/><Relationship Id="rId4" Type="http://schemas.openxmlformats.org/officeDocument/2006/relationships/tags" Target="../tags/tag325.xml"/><Relationship Id="rId3" Type="http://schemas.openxmlformats.org/officeDocument/2006/relationships/image" Target="../media/image38.png"/><Relationship Id="rId2" Type="http://schemas.openxmlformats.org/officeDocument/2006/relationships/tags" Target="../tags/tag324.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30.xml"/><Relationship Id="rId1" Type="http://schemas.openxmlformats.org/officeDocument/2006/relationships/tags" Target="../tags/tag323.xml"/></Relationships>
</file>

<file path=ppt/slides/_rels/slide41.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tags" Target="../tags/tag336.xml"/><Relationship Id="rId7" Type="http://schemas.openxmlformats.org/officeDocument/2006/relationships/tags" Target="../tags/tag335.xml"/><Relationship Id="rId6" Type="http://schemas.openxmlformats.org/officeDocument/2006/relationships/image" Target="../media/image3.png"/><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image" Target="../media/image39.png"/><Relationship Id="rId2" Type="http://schemas.openxmlformats.org/officeDocument/2006/relationships/tags" Target="../tags/tag332.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38.xml"/><Relationship Id="rId1" Type="http://schemas.openxmlformats.org/officeDocument/2006/relationships/tags" Target="../tags/tag331.xml"/></Relationships>
</file>

<file path=ppt/slides/_rels/slide42.xml.rels><?xml version="1.0" encoding="UTF-8" standalone="yes"?>
<Relationships xmlns="http://schemas.openxmlformats.org/package/2006/relationships"><Relationship Id="rId9" Type="http://schemas.openxmlformats.org/officeDocument/2006/relationships/tags" Target="../tags/tag345.xml"/><Relationship Id="rId8" Type="http://schemas.openxmlformats.org/officeDocument/2006/relationships/tags" Target="../tags/tag344.xml"/><Relationship Id="rId7" Type="http://schemas.openxmlformats.org/officeDocument/2006/relationships/tags" Target="../tags/tag343.xml"/><Relationship Id="rId6" Type="http://schemas.openxmlformats.org/officeDocument/2006/relationships/image" Target="../media/image3.png"/><Relationship Id="rId5" Type="http://schemas.openxmlformats.org/officeDocument/2006/relationships/tags" Target="../tags/tag342.xml"/><Relationship Id="rId4" Type="http://schemas.openxmlformats.org/officeDocument/2006/relationships/tags" Target="../tags/tag341.xml"/><Relationship Id="rId3" Type="http://schemas.openxmlformats.org/officeDocument/2006/relationships/image" Target="../media/image40.png"/><Relationship Id="rId2" Type="http://schemas.openxmlformats.org/officeDocument/2006/relationships/tags" Target="../tags/tag340.xml"/><Relationship Id="rId13" Type="http://schemas.openxmlformats.org/officeDocument/2006/relationships/notesSlide" Target="../notesSlides/notesSlide5.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46.xml"/><Relationship Id="rId1" Type="http://schemas.openxmlformats.org/officeDocument/2006/relationships/tags" Target="../tags/tag339.xml"/></Relationships>
</file>

<file path=ppt/slides/_rels/slide43.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image" Target="../media/image3.png"/><Relationship Id="rId5" Type="http://schemas.openxmlformats.org/officeDocument/2006/relationships/tags" Target="../tags/tag350.xml"/><Relationship Id="rId4" Type="http://schemas.openxmlformats.org/officeDocument/2006/relationships/tags" Target="../tags/tag349.xml"/><Relationship Id="rId3" Type="http://schemas.openxmlformats.org/officeDocument/2006/relationships/image" Target="../media/image41.png"/><Relationship Id="rId2" Type="http://schemas.openxmlformats.org/officeDocument/2006/relationships/tags" Target="../tags/tag348.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54.xml"/><Relationship Id="rId1" Type="http://schemas.openxmlformats.org/officeDocument/2006/relationships/tags" Target="../tags/tag347.xml"/></Relationships>
</file>

<file path=ppt/slides/_rels/slide44.xml.rels><?xml version="1.0" encoding="UTF-8" standalone="yes"?>
<Relationships xmlns="http://schemas.openxmlformats.org/package/2006/relationships"><Relationship Id="rId9" Type="http://schemas.openxmlformats.org/officeDocument/2006/relationships/tags" Target="../tags/tag361.xml"/><Relationship Id="rId8" Type="http://schemas.openxmlformats.org/officeDocument/2006/relationships/tags" Target="../tags/tag360.xml"/><Relationship Id="rId7" Type="http://schemas.openxmlformats.org/officeDocument/2006/relationships/tags" Target="../tags/tag359.xml"/><Relationship Id="rId6" Type="http://schemas.openxmlformats.org/officeDocument/2006/relationships/image" Target="../media/image3.png"/><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image" Target="../media/image42.png"/><Relationship Id="rId2" Type="http://schemas.openxmlformats.org/officeDocument/2006/relationships/tags" Target="../tags/tag356.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62.xml"/><Relationship Id="rId1" Type="http://schemas.openxmlformats.org/officeDocument/2006/relationships/tags" Target="../tags/tag355.xml"/></Relationships>
</file>

<file path=ppt/slides/_rels/slide45.xml.rels><?xml version="1.0" encoding="UTF-8" standalone="yes"?>
<Relationships xmlns="http://schemas.openxmlformats.org/package/2006/relationships"><Relationship Id="rId9" Type="http://schemas.openxmlformats.org/officeDocument/2006/relationships/tags" Target="../tags/tag369.xml"/><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image" Target="../media/image3.png"/><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image" Target="../media/image43.png"/><Relationship Id="rId2" Type="http://schemas.openxmlformats.org/officeDocument/2006/relationships/tags" Target="../tags/tag364.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70.xml"/><Relationship Id="rId1" Type="http://schemas.openxmlformats.org/officeDocument/2006/relationships/tags" Target="../tags/tag363.xml"/></Relationships>
</file>

<file path=ppt/slides/_rels/slide46.xml.rels><?xml version="1.0" encoding="UTF-8" standalone="yes"?>
<Relationships xmlns="http://schemas.openxmlformats.org/package/2006/relationships"><Relationship Id="rId9" Type="http://schemas.openxmlformats.org/officeDocument/2006/relationships/tags" Target="../tags/tag377.xml"/><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image" Target="../media/image3.png"/><Relationship Id="rId5" Type="http://schemas.openxmlformats.org/officeDocument/2006/relationships/tags" Target="../tags/tag374.xml"/><Relationship Id="rId4" Type="http://schemas.openxmlformats.org/officeDocument/2006/relationships/tags" Target="../tags/tag373.xml"/><Relationship Id="rId3" Type="http://schemas.openxmlformats.org/officeDocument/2006/relationships/image" Target="../media/image44.png"/><Relationship Id="rId2" Type="http://schemas.openxmlformats.org/officeDocument/2006/relationships/tags" Target="../tags/tag372.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78.xml"/><Relationship Id="rId1" Type="http://schemas.openxmlformats.org/officeDocument/2006/relationships/tags" Target="../tags/tag371.xml"/></Relationships>
</file>

<file path=ppt/slides/_rels/slide47.xml.rels><?xml version="1.0" encoding="UTF-8" standalone="yes"?>
<Relationships xmlns="http://schemas.openxmlformats.org/package/2006/relationships"><Relationship Id="rId9" Type="http://schemas.openxmlformats.org/officeDocument/2006/relationships/tags" Target="../tags/tag385.xml"/><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image" Target="../media/image3.png"/><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image" Target="../media/image45.png"/><Relationship Id="rId2" Type="http://schemas.openxmlformats.org/officeDocument/2006/relationships/tags" Target="../tags/tag380.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386.xml"/><Relationship Id="rId1" Type="http://schemas.openxmlformats.org/officeDocument/2006/relationships/tags" Target="../tags/tag379.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image" Target="../media/image3.png"/><Relationship Id="rId4" Type="http://schemas.openxmlformats.org/officeDocument/2006/relationships/tags" Target="../tags/tag390.xml"/><Relationship Id="rId3" Type="http://schemas.openxmlformats.org/officeDocument/2006/relationships/tags" Target="../tags/tag389.xml"/><Relationship Id="rId2" Type="http://schemas.openxmlformats.org/officeDocument/2006/relationships/tags" Target="../tags/tag388.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387.xml"/></Relationships>
</file>

<file path=ppt/slides/_rels/slide50.xml.rels><?xml version="1.0" encoding="UTF-8" standalone="yes"?>
<Relationships xmlns="http://schemas.openxmlformats.org/package/2006/relationships"><Relationship Id="rId9" Type="http://schemas.openxmlformats.org/officeDocument/2006/relationships/tags" Target="../tags/tag400.xml"/><Relationship Id="rId8" Type="http://schemas.openxmlformats.org/officeDocument/2006/relationships/tags" Target="../tags/tag399.xml"/><Relationship Id="rId7" Type="http://schemas.openxmlformats.org/officeDocument/2006/relationships/image" Target="../media/image3.png"/><Relationship Id="rId6" Type="http://schemas.openxmlformats.org/officeDocument/2006/relationships/tags" Target="../tags/tag398.xml"/><Relationship Id="rId5" Type="http://schemas.openxmlformats.org/officeDocument/2006/relationships/tags" Target="../tags/tag397.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tags" Target="../tags/tag396.xml"/><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402.xml"/><Relationship Id="rId10" Type="http://schemas.openxmlformats.org/officeDocument/2006/relationships/tags" Target="../tags/tag401.xml"/><Relationship Id="rId1" Type="http://schemas.openxmlformats.org/officeDocument/2006/relationships/tags" Target="../tags/tag395.xml"/></Relationships>
</file>

<file path=ppt/slides/_rels/slide51.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image" Target="../media/image3.png"/><Relationship Id="rId5" Type="http://schemas.openxmlformats.org/officeDocument/2006/relationships/tags" Target="../tags/tag406.xml"/><Relationship Id="rId4" Type="http://schemas.openxmlformats.org/officeDocument/2006/relationships/tags" Target="../tags/tag405.xml"/><Relationship Id="rId3" Type="http://schemas.openxmlformats.org/officeDocument/2006/relationships/image" Target="../media/image48.png"/><Relationship Id="rId2" Type="http://schemas.openxmlformats.org/officeDocument/2006/relationships/tags" Target="../tags/tag404.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10.xml"/><Relationship Id="rId1" Type="http://schemas.openxmlformats.org/officeDocument/2006/relationships/tags" Target="../tags/tag403.xml"/></Relationships>
</file>

<file path=ppt/slides/_rels/slide52.xml.rels><?xml version="1.0" encoding="UTF-8" standalone="yes"?>
<Relationships xmlns="http://schemas.openxmlformats.org/package/2006/relationships"><Relationship Id="rId9" Type="http://schemas.openxmlformats.org/officeDocument/2006/relationships/tags" Target="../tags/tag417.xml"/><Relationship Id="rId8" Type="http://schemas.openxmlformats.org/officeDocument/2006/relationships/tags" Target="../tags/tag416.xml"/><Relationship Id="rId7" Type="http://schemas.openxmlformats.org/officeDocument/2006/relationships/tags" Target="../tags/tag415.xml"/><Relationship Id="rId6" Type="http://schemas.openxmlformats.org/officeDocument/2006/relationships/image" Target="../media/image3.png"/><Relationship Id="rId5" Type="http://schemas.openxmlformats.org/officeDocument/2006/relationships/tags" Target="../tags/tag414.xml"/><Relationship Id="rId4" Type="http://schemas.openxmlformats.org/officeDocument/2006/relationships/tags" Target="../tags/tag413.xml"/><Relationship Id="rId3" Type="http://schemas.openxmlformats.org/officeDocument/2006/relationships/image" Target="../media/image49.png"/><Relationship Id="rId2" Type="http://schemas.openxmlformats.org/officeDocument/2006/relationships/tags" Target="../tags/tag412.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18.xml"/><Relationship Id="rId1" Type="http://schemas.openxmlformats.org/officeDocument/2006/relationships/tags" Target="../tags/tag411.xml"/></Relationships>
</file>

<file path=ppt/slides/_rels/slide53.xml.rels><?xml version="1.0" encoding="UTF-8" standalone="yes"?>
<Relationships xmlns="http://schemas.openxmlformats.org/package/2006/relationships"><Relationship Id="rId9" Type="http://schemas.openxmlformats.org/officeDocument/2006/relationships/tags" Target="../tags/tag426.xml"/><Relationship Id="rId8" Type="http://schemas.openxmlformats.org/officeDocument/2006/relationships/tags" Target="../tags/tag425.xml"/><Relationship Id="rId7" Type="http://schemas.openxmlformats.org/officeDocument/2006/relationships/tags" Target="../tags/tag424.xml"/><Relationship Id="rId6" Type="http://schemas.openxmlformats.org/officeDocument/2006/relationships/tags" Target="../tags/tag423.xml"/><Relationship Id="rId5" Type="http://schemas.openxmlformats.org/officeDocument/2006/relationships/image" Target="../media/image3.png"/><Relationship Id="rId4" Type="http://schemas.openxmlformats.org/officeDocument/2006/relationships/tags" Target="../tags/tag422.xml"/><Relationship Id="rId3" Type="http://schemas.openxmlformats.org/officeDocument/2006/relationships/tags" Target="../tags/tag421.xml"/><Relationship Id="rId2" Type="http://schemas.openxmlformats.org/officeDocument/2006/relationships/tags" Target="../tags/tag420.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419.xml"/></Relationships>
</file>

<file path=ppt/slides/_rels/slide54.xml.rels><?xml version="1.0" encoding="UTF-8" standalone="yes"?>
<Relationships xmlns="http://schemas.openxmlformats.org/package/2006/relationships"><Relationship Id="rId9" Type="http://schemas.openxmlformats.org/officeDocument/2006/relationships/tags" Target="../tags/tag434.xml"/><Relationship Id="rId8" Type="http://schemas.openxmlformats.org/officeDocument/2006/relationships/tags" Target="../tags/tag433.xml"/><Relationship Id="rId7" Type="http://schemas.openxmlformats.org/officeDocument/2006/relationships/tags" Target="../tags/tag432.xml"/><Relationship Id="rId6" Type="http://schemas.openxmlformats.org/officeDocument/2006/relationships/tags" Target="../tags/tag431.xml"/><Relationship Id="rId5" Type="http://schemas.openxmlformats.org/officeDocument/2006/relationships/image" Target="../media/image3.png"/><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427.xml"/></Relationships>
</file>

<file path=ppt/slides/_rels/slide55.xml.rels><?xml version="1.0" encoding="UTF-8" standalone="yes"?>
<Relationships xmlns="http://schemas.openxmlformats.org/package/2006/relationships"><Relationship Id="rId9" Type="http://schemas.openxmlformats.org/officeDocument/2006/relationships/tags" Target="../tags/tag442.xml"/><Relationship Id="rId8" Type="http://schemas.openxmlformats.org/officeDocument/2006/relationships/tags" Target="../tags/tag441.xml"/><Relationship Id="rId7" Type="http://schemas.openxmlformats.org/officeDocument/2006/relationships/tags" Target="../tags/tag440.xml"/><Relationship Id="rId6" Type="http://schemas.openxmlformats.org/officeDocument/2006/relationships/tags" Target="../tags/tag439.xml"/><Relationship Id="rId5" Type="http://schemas.openxmlformats.org/officeDocument/2006/relationships/image" Target="../media/image3.png"/><Relationship Id="rId4" Type="http://schemas.openxmlformats.org/officeDocument/2006/relationships/tags" Target="../tags/tag438.xml"/><Relationship Id="rId3" Type="http://schemas.openxmlformats.org/officeDocument/2006/relationships/tags" Target="../tags/tag437.xml"/><Relationship Id="rId2" Type="http://schemas.openxmlformats.org/officeDocument/2006/relationships/tags" Target="../tags/tag436.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435.xml"/></Relationships>
</file>

<file path=ppt/slides/_rels/slide56.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image" Target="../media/image3.png"/><Relationship Id="rId6" Type="http://schemas.openxmlformats.org/officeDocument/2006/relationships/tags" Target="../tags/tag446.xml"/><Relationship Id="rId5" Type="http://schemas.openxmlformats.org/officeDocument/2006/relationships/tags" Target="../tags/tag445.xml"/><Relationship Id="rId4" Type="http://schemas.openxmlformats.org/officeDocument/2006/relationships/tags" Target="../tags/tag444.xml"/><Relationship Id="rId3" Type="http://schemas.openxmlformats.org/officeDocument/2006/relationships/tags" Target="../tags/tag443.xml"/><Relationship Id="rId2" Type="http://schemas.openxmlformats.org/officeDocument/2006/relationships/image" Target="../media/image51.png"/><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450.xml"/><Relationship Id="rId10" Type="http://schemas.openxmlformats.org/officeDocument/2006/relationships/tags" Target="../tags/tag449.xml"/><Relationship Id="rId1" Type="http://schemas.openxmlformats.org/officeDocument/2006/relationships/image" Target="../media/image50.png"/></Relationships>
</file>

<file path=ppt/slides/_rels/slide57.xml.rels><?xml version="1.0" encoding="UTF-8" standalone="yes"?>
<Relationships xmlns="http://schemas.openxmlformats.org/package/2006/relationships"><Relationship Id="rId9" Type="http://schemas.openxmlformats.org/officeDocument/2006/relationships/tags" Target="../tags/tag457.xml"/><Relationship Id="rId8" Type="http://schemas.openxmlformats.org/officeDocument/2006/relationships/tags" Target="../tags/tag456.xml"/><Relationship Id="rId7" Type="http://schemas.openxmlformats.org/officeDocument/2006/relationships/tags" Target="../tags/tag455.xml"/><Relationship Id="rId6" Type="http://schemas.openxmlformats.org/officeDocument/2006/relationships/image" Target="../media/image3.png"/><Relationship Id="rId5" Type="http://schemas.openxmlformats.org/officeDocument/2006/relationships/tags" Target="../tags/tag454.xml"/><Relationship Id="rId4" Type="http://schemas.openxmlformats.org/officeDocument/2006/relationships/tags" Target="../tags/tag453.xml"/><Relationship Id="rId3" Type="http://schemas.openxmlformats.org/officeDocument/2006/relationships/tags" Target="../tags/tag452.xml"/><Relationship Id="rId2" Type="http://schemas.openxmlformats.org/officeDocument/2006/relationships/tags" Target="../tags/tag451.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58.xml"/><Relationship Id="rId1" Type="http://schemas.openxmlformats.org/officeDocument/2006/relationships/image" Target="../media/image52.png"/></Relationships>
</file>

<file path=ppt/slides/_rels/slide58.xml.rels><?xml version="1.0" encoding="UTF-8" standalone="yes"?>
<Relationships xmlns="http://schemas.openxmlformats.org/package/2006/relationships"><Relationship Id="rId9" Type="http://schemas.openxmlformats.org/officeDocument/2006/relationships/tags" Target="../tags/tag465.xml"/><Relationship Id="rId8" Type="http://schemas.openxmlformats.org/officeDocument/2006/relationships/tags" Target="../tags/tag464.xml"/><Relationship Id="rId7" Type="http://schemas.openxmlformats.org/officeDocument/2006/relationships/tags" Target="../tags/tag463.xml"/><Relationship Id="rId6" Type="http://schemas.openxmlformats.org/officeDocument/2006/relationships/image" Target="../media/image3.png"/><Relationship Id="rId5" Type="http://schemas.openxmlformats.org/officeDocument/2006/relationships/tags" Target="../tags/tag462.xml"/><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66.xml"/><Relationship Id="rId1" Type="http://schemas.openxmlformats.org/officeDocument/2006/relationships/image" Target="../media/image53.png"/></Relationships>
</file>

<file path=ppt/slides/_rels/slide59.xml.rels><?xml version="1.0" encoding="UTF-8" standalone="yes"?>
<Relationships xmlns="http://schemas.openxmlformats.org/package/2006/relationships"><Relationship Id="rId9" Type="http://schemas.openxmlformats.org/officeDocument/2006/relationships/tags" Target="../tags/tag472.xml"/><Relationship Id="rId8" Type="http://schemas.openxmlformats.org/officeDocument/2006/relationships/tags" Target="../tags/tag471.xml"/><Relationship Id="rId7" Type="http://schemas.openxmlformats.org/officeDocument/2006/relationships/image" Target="../media/image3.png"/><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tags" Target="../tags/tag468.xml"/><Relationship Id="rId3" Type="http://schemas.openxmlformats.org/officeDocument/2006/relationships/tags" Target="../tags/tag467.xml"/><Relationship Id="rId2" Type="http://schemas.openxmlformats.org/officeDocument/2006/relationships/image" Target="../media/image55.png"/><Relationship Id="rId13" Type="http://schemas.openxmlformats.org/officeDocument/2006/relationships/slideLayout" Target="../slideLayouts/slideLayout1.xml"/><Relationship Id="rId12" Type="http://schemas.openxmlformats.org/officeDocument/2006/relationships/image" Target="../media/image1.png"/><Relationship Id="rId11" Type="http://schemas.openxmlformats.org/officeDocument/2006/relationships/tags" Target="../tags/tag474.xml"/><Relationship Id="rId10" Type="http://schemas.openxmlformats.org/officeDocument/2006/relationships/tags" Target="../tags/tag473.xml"/><Relationship Id="rId1" Type="http://schemas.openxmlformats.org/officeDocument/2006/relationships/image" Target="../media/image5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9" Type="http://schemas.openxmlformats.org/officeDocument/2006/relationships/tags" Target="../tags/tag481.xml"/><Relationship Id="rId8" Type="http://schemas.openxmlformats.org/officeDocument/2006/relationships/tags" Target="../tags/tag480.xml"/><Relationship Id="rId7" Type="http://schemas.openxmlformats.org/officeDocument/2006/relationships/tags" Target="../tags/tag479.xml"/><Relationship Id="rId6" Type="http://schemas.openxmlformats.org/officeDocument/2006/relationships/image" Target="../media/image3.png"/><Relationship Id="rId5" Type="http://schemas.openxmlformats.org/officeDocument/2006/relationships/tags" Target="../tags/tag478.xml"/><Relationship Id="rId4" Type="http://schemas.openxmlformats.org/officeDocument/2006/relationships/tags" Target="../tags/tag477.xml"/><Relationship Id="rId3" Type="http://schemas.openxmlformats.org/officeDocument/2006/relationships/tags" Target="../tags/tag476.xml"/><Relationship Id="rId2" Type="http://schemas.openxmlformats.org/officeDocument/2006/relationships/tags" Target="../tags/tag475.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82.xml"/><Relationship Id="rId1" Type="http://schemas.openxmlformats.org/officeDocument/2006/relationships/image" Target="../media/image56.png"/></Relationships>
</file>

<file path=ppt/slides/_rels/slide62.xml.rels><?xml version="1.0" encoding="UTF-8" standalone="yes"?>
<Relationships xmlns="http://schemas.openxmlformats.org/package/2006/relationships"><Relationship Id="rId9" Type="http://schemas.openxmlformats.org/officeDocument/2006/relationships/tags" Target="../tags/tag489.xml"/><Relationship Id="rId8" Type="http://schemas.openxmlformats.org/officeDocument/2006/relationships/tags" Target="../tags/tag488.xml"/><Relationship Id="rId7" Type="http://schemas.openxmlformats.org/officeDocument/2006/relationships/tags" Target="../tags/tag487.xml"/><Relationship Id="rId6" Type="http://schemas.openxmlformats.org/officeDocument/2006/relationships/image" Target="../media/image3.png"/><Relationship Id="rId5" Type="http://schemas.openxmlformats.org/officeDocument/2006/relationships/tags" Target="../tags/tag486.xml"/><Relationship Id="rId4" Type="http://schemas.openxmlformats.org/officeDocument/2006/relationships/tags" Target="../tags/tag485.xml"/><Relationship Id="rId3" Type="http://schemas.openxmlformats.org/officeDocument/2006/relationships/tags" Target="../tags/tag484.xml"/><Relationship Id="rId2" Type="http://schemas.openxmlformats.org/officeDocument/2006/relationships/tags" Target="../tags/tag483.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90.xml"/><Relationship Id="rId1" Type="http://schemas.openxmlformats.org/officeDocument/2006/relationships/image" Target="../media/image57.png"/></Relationships>
</file>

<file path=ppt/slides/_rels/slide63.xml.rels><?xml version="1.0" encoding="UTF-8" standalone="yes"?>
<Relationships xmlns="http://schemas.openxmlformats.org/package/2006/relationships"><Relationship Id="rId9" Type="http://schemas.openxmlformats.org/officeDocument/2006/relationships/tags" Target="../tags/tag497.xml"/><Relationship Id="rId8" Type="http://schemas.openxmlformats.org/officeDocument/2006/relationships/tags" Target="../tags/tag496.xml"/><Relationship Id="rId7" Type="http://schemas.openxmlformats.org/officeDocument/2006/relationships/tags" Target="../tags/tag495.xml"/><Relationship Id="rId6" Type="http://schemas.openxmlformats.org/officeDocument/2006/relationships/image" Target="../media/image3.png"/><Relationship Id="rId5" Type="http://schemas.openxmlformats.org/officeDocument/2006/relationships/tags" Target="../tags/tag494.xml"/><Relationship Id="rId4" Type="http://schemas.openxmlformats.org/officeDocument/2006/relationships/tags" Target="../tags/tag493.xml"/><Relationship Id="rId3" Type="http://schemas.openxmlformats.org/officeDocument/2006/relationships/tags" Target="../tags/tag492.xml"/><Relationship Id="rId2" Type="http://schemas.openxmlformats.org/officeDocument/2006/relationships/tags" Target="../tags/tag491.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498.xml"/><Relationship Id="rId1" Type="http://schemas.openxmlformats.org/officeDocument/2006/relationships/image" Target="../media/image58.png"/></Relationships>
</file>

<file path=ppt/slides/_rels/slide64.xml.rels><?xml version="1.0" encoding="UTF-8" standalone="yes"?>
<Relationships xmlns="http://schemas.openxmlformats.org/package/2006/relationships"><Relationship Id="rId9" Type="http://schemas.openxmlformats.org/officeDocument/2006/relationships/tags" Target="../tags/tag505.xml"/><Relationship Id="rId8" Type="http://schemas.openxmlformats.org/officeDocument/2006/relationships/tags" Target="../tags/tag504.xml"/><Relationship Id="rId7" Type="http://schemas.openxmlformats.org/officeDocument/2006/relationships/tags" Target="../tags/tag503.xml"/><Relationship Id="rId6" Type="http://schemas.openxmlformats.org/officeDocument/2006/relationships/image" Target="../media/image3.png"/><Relationship Id="rId5" Type="http://schemas.openxmlformats.org/officeDocument/2006/relationships/tags" Target="../tags/tag502.xml"/><Relationship Id="rId4" Type="http://schemas.openxmlformats.org/officeDocument/2006/relationships/tags" Target="../tags/tag501.xml"/><Relationship Id="rId3" Type="http://schemas.openxmlformats.org/officeDocument/2006/relationships/tags" Target="../tags/tag500.xml"/><Relationship Id="rId2" Type="http://schemas.openxmlformats.org/officeDocument/2006/relationships/tags" Target="../tags/tag499.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506.xml"/><Relationship Id="rId1" Type="http://schemas.openxmlformats.org/officeDocument/2006/relationships/image" Target="../media/image59.png"/></Relationships>
</file>

<file path=ppt/slides/_rels/slide65.xml.rels><?xml version="1.0" encoding="UTF-8" standalone="yes"?>
<Relationships xmlns="http://schemas.openxmlformats.org/package/2006/relationships"><Relationship Id="rId9" Type="http://schemas.openxmlformats.org/officeDocument/2006/relationships/tags" Target="../tags/tag514.xml"/><Relationship Id="rId8" Type="http://schemas.openxmlformats.org/officeDocument/2006/relationships/tags" Target="../tags/tag513.xml"/><Relationship Id="rId7" Type="http://schemas.openxmlformats.org/officeDocument/2006/relationships/tags" Target="../tags/tag512.xml"/><Relationship Id="rId6" Type="http://schemas.openxmlformats.org/officeDocument/2006/relationships/tags" Target="../tags/tag511.xml"/><Relationship Id="rId5" Type="http://schemas.openxmlformats.org/officeDocument/2006/relationships/image" Target="../media/image3.png"/><Relationship Id="rId4" Type="http://schemas.openxmlformats.org/officeDocument/2006/relationships/tags" Target="../tags/tag510.xml"/><Relationship Id="rId3" Type="http://schemas.openxmlformats.org/officeDocument/2006/relationships/tags" Target="../tags/tag509.xml"/><Relationship Id="rId2" Type="http://schemas.openxmlformats.org/officeDocument/2006/relationships/tags" Target="../tags/tag508.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507.xml"/></Relationships>
</file>

<file path=ppt/slides/_rels/slide66.xml.rels><?xml version="1.0" encoding="UTF-8" standalone="yes"?>
<Relationships xmlns="http://schemas.openxmlformats.org/package/2006/relationships"><Relationship Id="rId9" Type="http://schemas.openxmlformats.org/officeDocument/2006/relationships/tags" Target="../tags/tag521.xml"/><Relationship Id="rId8" Type="http://schemas.openxmlformats.org/officeDocument/2006/relationships/tags" Target="../tags/tag520.xml"/><Relationship Id="rId7" Type="http://schemas.openxmlformats.org/officeDocument/2006/relationships/tags" Target="../tags/tag519.xml"/><Relationship Id="rId6" Type="http://schemas.openxmlformats.org/officeDocument/2006/relationships/image" Target="../media/image3.png"/><Relationship Id="rId5" Type="http://schemas.openxmlformats.org/officeDocument/2006/relationships/tags" Target="../tags/tag518.xml"/><Relationship Id="rId4" Type="http://schemas.openxmlformats.org/officeDocument/2006/relationships/tags" Target="../tags/tag517.xml"/><Relationship Id="rId3" Type="http://schemas.openxmlformats.org/officeDocument/2006/relationships/tags" Target="../tags/tag516.xml"/><Relationship Id="rId2" Type="http://schemas.openxmlformats.org/officeDocument/2006/relationships/tags" Target="../tags/tag515.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522.xml"/><Relationship Id="rId1" Type="http://schemas.openxmlformats.org/officeDocument/2006/relationships/image" Target="../media/image60.png"/></Relationships>
</file>

<file path=ppt/slides/_rels/slide67.xml.rels><?xml version="1.0" encoding="UTF-8" standalone="yes"?>
<Relationships xmlns="http://schemas.openxmlformats.org/package/2006/relationships"><Relationship Id="rId9" Type="http://schemas.openxmlformats.org/officeDocument/2006/relationships/tags" Target="../tags/tag529.xml"/><Relationship Id="rId8" Type="http://schemas.openxmlformats.org/officeDocument/2006/relationships/tags" Target="../tags/tag528.xml"/><Relationship Id="rId7" Type="http://schemas.openxmlformats.org/officeDocument/2006/relationships/tags" Target="../tags/tag527.xml"/><Relationship Id="rId6" Type="http://schemas.openxmlformats.org/officeDocument/2006/relationships/image" Target="../media/image3.png"/><Relationship Id="rId5" Type="http://schemas.openxmlformats.org/officeDocument/2006/relationships/tags" Target="../tags/tag526.xml"/><Relationship Id="rId4" Type="http://schemas.openxmlformats.org/officeDocument/2006/relationships/tags" Target="../tags/tag525.xml"/><Relationship Id="rId3" Type="http://schemas.openxmlformats.org/officeDocument/2006/relationships/tags" Target="../tags/tag524.xml"/><Relationship Id="rId2" Type="http://schemas.openxmlformats.org/officeDocument/2006/relationships/tags" Target="../tags/tag523.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530.xml"/><Relationship Id="rId1" Type="http://schemas.openxmlformats.org/officeDocument/2006/relationships/image" Target="../media/image61.png"/></Relationships>
</file>

<file path=ppt/slides/_rels/slide68.xml.rels><?xml version="1.0" encoding="UTF-8" standalone="yes"?>
<Relationships xmlns="http://schemas.openxmlformats.org/package/2006/relationships"><Relationship Id="rId9" Type="http://schemas.openxmlformats.org/officeDocument/2006/relationships/tags" Target="../tags/tag537.xml"/><Relationship Id="rId8" Type="http://schemas.openxmlformats.org/officeDocument/2006/relationships/tags" Target="../tags/tag536.xml"/><Relationship Id="rId7" Type="http://schemas.openxmlformats.org/officeDocument/2006/relationships/tags" Target="../tags/tag535.xml"/><Relationship Id="rId6" Type="http://schemas.openxmlformats.org/officeDocument/2006/relationships/image" Target="../media/image3.png"/><Relationship Id="rId5" Type="http://schemas.openxmlformats.org/officeDocument/2006/relationships/tags" Target="../tags/tag534.xml"/><Relationship Id="rId4" Type="http://schemas.openxmlformats.org/officeDocument/2006/relationships/tags" Target="../tags/tag533.xml"/><Relationship Id="rId3" Type="http://schemas.openxmlformats.org/officeDocument/2006/relationships/tags" Target="../tags/tag532.xml"/><Relationship Id="rId2" Type="http://schemas.openxmlformats.org/officeDocument/2006/relationships/tags" Target="../tags/tag531.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538.xml"/><Relationship Id="rId1" Type="http://schemas.openxmlformats.org/officeDocument/2006/relationships/image" Target="../media/image62.png"/></Relationships>
</file>

<file path=ppt/slides/_rels/slide69.xml.rels><?xml version="1.0" encoding="UTF-8" standalone="yes"?>
<Relationships xmlns="http://schemas.openxmlformats.org/package/2006/relationships"><Relationship Id="rId9" Type="http://schemas.openxmlformats.org/officeDocument/2006/relationships/tags" Target="../tags/tag546.xml"/><Relationship Id="rId8" Type="http://schemas.openxmlformats.org/officeDocument/2006/relationships/tags" Target="../tags/tag545.xml"/><Relationship Id="rId7" Type="http://schemas.openxmlformats.org/officeDocument/2006/relationships/tags" Target="../tags/tag544.xml"/><Relationship Id="rId6" Type="http://schemas.openxmlformats.org/officeDocument/2006/relationships/tags" Target="../tags/tag543.xml"/><Relationship Id="rId5" Type="http://schemas.openxmlformats.org/officeDocument/2006/relationships/image" Target="../media/image3.png"/><Relationship Id="rId4" Type="http://schemas.openxmlformats.org/officeDocument/2006/relationships/tags" Target="../tags/tag542.xml"/><Relationship Id="rId3" Type="http://schemas.openxmlformats.org/officeDocument/2006/relationships/tags" Target="../tags/tag541.xml"/><Relationship Id="rId2" Type="http://schemas.openxmlformats.org/officeDocument/2006/relationships/tags" Target="../tags/tag540.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539.xml"/></Relationships>
</file>

<file path=ppt/slides/_rels/slide70.xml.rels><?xml version="1.0" encoding="UTF-8" standalone="yes"?>
<Relationships xmlns="http://schemas.openxmlformats.org/package/2006/relationships"><Relationship Id="rId9" Type="http://schemas.openxmlformats.org/officeDocument/2006/relationships/tags" Target="../tags/tag554.xml"/><Relationship Id="rId8" Type="http://schemas.openxmlformats.org/officeDocument/2006/relationships/tags" Target="../tags/tag553.xml"/><Relationship Id="rId7" Type="http://schemas.openxmlformats.org/officeDocument/2006/relationships/tags" Target="../tags/tag552.xml"/><Relationship Id="rId6" Type="http://schemas.openxmlformats.org/officeDocument/2006/relationships/tags" Target="../tags/tag551.xml"/><Relationship Id="rId5" Type="http://schemas.openxmlformats.org/officeDocument/2006/relationships/image" Target="../media/image3.png"/><Relationship Id="rId4" Type="http://schemas.openxmlformats.org/officeDocument/2006/relationships/tags" Target="../tags/tag550.xml"/><Relationship Id="rId3" Type="http://schemas.openxmlformats.org/officeDocument/2006/relationships/tags" Target="../tags/tag549.xml"/><Relationship Id="rId2" Type="http://schemas.openxmlformats.org/officeDocument/2006/relationships/tags" Target="../tags/tag548.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547.xml"/></Relationships>
</file>

<file path=ppt/slides/_rels/slide71.xml.rels><?xml version="1.0" encoding="UTF-8" standalone="yes"?>
<Relationships xmlns="http://schemas.openxmlformats.org/package/2006/relationships"><Relationship Id="rId9" Type="http://schemas.openxmlformats.org/officeDocument/2006/relationships/tags" Target="../tags/tag562.xml"/><Relationship Id="rId8" Type="http://schemas.openxmlformats.org/officeDocument/2006/relationships/tags" Target="../tags/tag561.xml"/><Relationship Id="rId7" Type="http://schemas.openxmlformats.org/officeDocument/2006/relationships/tags" Target="../tags/tag560.xml"/><Relationship Id="rId6" Type="http://schemas.openxmlformats.org/officeDocument/2006/relationships/tags" Target="../tags/tag559.xml"/><Relationship Id="rId5" Type="http://schemas.openxmlformats.org/officeDocument/2006/relationships/image" Target="../media/image3.png"/><Relationship Id="rId4" Type="http://schemas.openxmlformats.org/officeDocument/2006/relationships/tags" Target="../tags/tag558.xml"/><Relationship Id="rId3" Type="http://schemas.openxmlformats.org/officeDocument/2006/relationships/tags" Target="../tags/tag557.xml"/><Relationship Id="rId2" Type="http://schemas.openxmlformats.org/officeDocument/2006/relationships/tags" Target="../tags/tag556.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5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7"/>
          <p:cNvGrpSpPr/>
          <p:nvPr/>
        </p:nvGrpSpPr>
        <p:grpSpPr>
          <a:xfrm rot="-10800000">
            <a:off x="5340277" y="802276"/>
            <a:ext cx="7607443" cy="7607443"/>
            <a:chOff x="0" y="0"/>
            <a:chExt cx="812800" cy="812800"/>
          </a:xfrm>
        </p:grpSpPr>
        <p:sp>
          <p:nvSpPr>
            <p:cNvPr id="28" name="Freeform 28"/>
            <p:cNvSpPr/>
            <p:nvPr>
              <p:custDataLst>
                <p:tags r:id="rId1"/>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custDataLst>
                <p:tags r:id="rId2"/>
              </p:custDataLst>
            </p:nvPr>
          </p:nvSpPr>
          <p:spPr>
            <a:xfrm>
              <a:off x="76200" y="76200"/>
              <a:ext cx="660400" cy="660400"/>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cover-title"/>
          <p:cNvSpPr txBox="1"/>
          <p:nvPr/>
        </p:nvSpPr>
        <p:spPr>
          <a:xfrm>
            <a:off x="1925320" y="2707640"/>
            <a:ext cx="14437360" cy="1656080"/>
          </a:xfrm>
          <a:prstGeom prst="rect">
            <a:avLst/>
          </a:prstGeom>
          <a:noFill/>
          <a:ln>
            <a:noFill/>
          </a:ln>
        </p:spPr>
        <p:txBody>
          <a:bodyPr wrap="square" lIns="0" tIns="0" rIns="0" bIns="0" rtlCol="0" anchor="t"/>
          <a:lstStyle/>
          <a:p>
            <a:pPr algn="ctr">
              <a:lnSpc>
                <a:spcPts val="14935"/>
              </a:lnSpc>
            </a:pPr>
            <a:r>
              <a:rPr lang="en-US" sz="10300" b="1" noProof="1">
                <a:solidFill>
                  <a:srgbClr val="004AAD"/>
                </a:solidFill>
                <a:latin typeface="仿宋" panose="02010609060101010101" charset="-122"/>
                <a:ea typeface="仿宋" panose="02010609060101010101" charset="-122"/>
              </a:rPr>
              <a:t>密码学-基础理论与应用</a:t>
            </a:r>
            <a:endParaRPr lang="en-US" sz="10300" noProof="1"/>
          </a:p>
        </p:txBody>
      </p:sp>
      <p:sp>
        <p:nvSpPr>
          <p:cNvPr id="3" name="dot-cv-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4" name="dot-cv-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5" name="dot-cv-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6" name="dot-cv-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7" name="dot-cv-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8" name="dot-cv-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9" name="dot-cv-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10" name="dot-cv-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1" name="cover-ch"/>
          <p:cNvSpPr txBox="1"/>
          <p:nvPr/>
        </p:nvSpPr>
        <p:spPr>
          <a:xfrm>
            <a:off x="2183130" y="5334000"/>
            <a:ext cx="13921740" cy="1230630"/>
          </a:xfrm>
          <a:prstGeom prst="rect">
            <a:avLst/>
          </a:prstGeom>
          <a:noFill/>
          <a:ln>
            <a:noFill/>
          </a:ln>
        </p:spPr>
        <p:txBody>
          <a:bodyPr wrap="square" lIns="0" tIns="0" rIns="0" bIns="0" rtlCol="0" anchor="t"/>
          <a:lstStyle/>
          <a:p>
            <a:pPr algn="ctr">
              <a:lnSpc>
                <a:spcPts val="9600"/>
              </a:lnSpc>
            </a:pPr>
            <a:r>
              <a:rPr lang="en-US" sz="8000" b="1" noProof="1">
                <a:solidFill>
                  <a:srgbClr val="004AAD"/>
                </a:solidFill>
                <a:latin typeface="仿宋" panose="02010609060101010101" charset="-122"/>
                <a:ea typeface="仿宋" panose="02010609060101010101" charset="-122"/>
              </a:rPr>
              <a:t>第十一章 密码杂凑函数</a:t>
            </a:r>
            <a:endParaRPr lang="en-US" sz="8000" noProof="1"/>
          </a:p>
        </p:txBody>
      </p:sp>
      <p:sp>
        <p:nvSpPr>
          <p:cNvPr id="12" name="pagenum-cv"/>
          <p:cNvSpPr txBox="1"/>
          <p:nvPr/>
        </p:nvSpPr>
        <p:spPr>
          <a:xfrm>
            <a:off x="15443200" y="9300210"/>
            <a:ext cx="1950720" cy="2743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a:t>
            </a:r>
            <a:endParaRPr lang="en-US" sz="1400" noProof="1"/>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custDataLst>
                  <p:tags r:id="rId3"/>
                </p:custDataLst>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custDataLst>
                  <p:tags r:id="rId4"/>
                </p:custDataLst>
              </p:nvPr>
            </p:nvSpPr>
            <p:spPr>
              <a:xfrm>
                <a:off x="0" y="0"/>
                <a:ext cx="5501351" cy="288980"/>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custDataLst>
                  <p:tags r:id="rId5"/>
                </p:custDataLst>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custDataLst>
                  <p:tags r:id="rId6"/>
                </p:custDataLst>
              </p:nvPr>
            </p:nvSpPr>
            <p:spPr>
              <a:xfrm>
                <a:off x="0" y="0"/>
                <a:ext cx="5501351" cy="327048"/>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toc-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toc-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toc-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toc-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toc-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toc-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toc-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toc-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toc-word"/>
          <p:cNvSpPr txBox="1"/>
          <p:nvPr/>
        </p:nvSpPr>
        <p:spPr>
          <a:xfrm>
            <a:off x="2948940" y="3196590"/>
            <a:ext cx="2336800" cy="3176270"/>
          </a:xfrm>
          <a:prstGeom prst="rect">
            <a:avLst/>
          </a:prstGeom>
          <a:noFill/>
          <a:ln>
            <a:noFill/>
          </a:ln>
        </p:spPr>
        <p:txBody>
          <a:bodyPr wrap="square" lIns="0" tIns="0" rIns="0" bIns="0" rtlCol="0" anchor="t"/>
          <a:lstStyle/>
          <a:p>
            <a:pPr algn="ctr">
              <a:lnSpc>
                <a:spcPts val="12880"/>
              </a:lnSpc>
            </a:pPr>
            <a:r>
              <a:rPr lang="en-US" sz="9200" b="1" noProof="1">
                <a:solidFill>
                  <a:srgbClr val="004AAD"/>
                </a:solidFill>
                <a:latin typeface="仿宋" panose="02010609060101010101" charset="-122"/>
                <a:ea typeface="仿宋" panose="02010609060101010101" charset="-122"/>
              </a:rPr>
              <a:t>目录</a:t>
            </a:r>
            <a:endParaRPr lang="en-US" sz="9200" noProof="1"/>
          </a:p>
        </p:txBody>
      </p:sp>
      <p:sp>
        <p:nvSpPr>
          <p:cNvPr id="11" name="toc-en"/>
          <p:cNvSpPr txBox="1"/>
          <p:nvPr/>
        </p:nvSpPr>
        <p:spPr>
          <a:xfrm>
            <a:off x="2744470" y="4610100"/>
            <a:ext cx="2745740" cy="494030"/>
          </a:xfrm>
          <a:prstGeom prst="rect">
            <a:avLst/>
          </a:prstGeom>
          <a:noFill/>
          <a:ln>
            <a:noFill/>
          </a:ln>
        </p:spPr>
        <p:txBody>
          <a:bodyPr wrap="square" lIns="0" tIns="0" rIns="0" bIns="0" rtlCol="0" anchor="t"/>
          <a:lstStyle/>
          <a:p>
            <a:pPr algn="ctr">
              <a:lnSpc>
                <a:spcPts val="4200"/>
              </a:lnSpc>
            </a:pPr>
            <a:r>
              <a:rPr lang="en-US" sz="3000" noProof="1">
                <a:solidFill>
                  <a:srgbClr val="004AAD"/>
                </a:solidFill>
                <a:latin typeface="Times New Roman" panose="02020603050405020304"/>
                <a:ea typeface="字由文艺黑" panose="00020600040101010101" charset="-122"/>
              </a:rPr>
              <a:t>CONTENTS</a:t>
            </a:r>
            <a:endParaRPr lang="en-US" sz="3000" noProof="1"/>
          </a:p>
        </p:txBody>
      </p:sp>
      <p:sp>
        <p:nvSpPr>
          <p:cNvPr id="12" name="toc-num-0"/>
          <p:cNvSpPr txBox="1"/>
          <p:nvPr>
            <p:custDataLst>
              <p:tags r:id="rId1"/>
            </p:custDataLst>
          </p:nvPr>
        </p:nvSpPr>
        <p:spPr>
          <a:xfrm>
            <a:off x="7800340" y="189928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11.1</a:t>
            </a:r>
            <a:endParaRPr lang="en-US" sz="4000" noProof="1"/>
          </a:p>
        </p:txBody>
      </p:sp>
      <p:sp>
        <p:nvSpPr>
          <p:cNvPr id="13" name="toc-title-0"/>
          <p:cNvSpPr txBox="1"/>
          <p:nvPr>
            <p:custDataLst>
              <p:tags r:id="rId2"/>
            </p:custDataLst>
          </p:nvPr>
        </p:nvSpPr>
        <p:spPr>
          <a:xfrm>
            <a:off x="9145270" y="188023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密码杂凑函数概述</a:t>
            </a:r>
            <a:endParaRPr lang="en-US" sz="4200" noProof="1"/>
          </a:p>
        </p:txBody>
      </p:sp>
      <p:sp>
        <p:nvSpPr>
          <p:cNvPr id="14" name="toc-num-1"/>
          <p:cNvSpPr txBox="1"/>
          <p:nvPr>
            <p:custDataLst>
              <p:tags r:id="rId3"/>
            </p:custDataLst>
          </p:nvPr>
        </p:nvSpPr>
        <p:spPr>
          <a:xfrm>
            <a:off x="7800340" y="288480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11.2</a:t>
            </a:r>
            <a:endParaRPr lang="en-US" sz="4000" noProof="1"/>
          </a:p>
        </p:txBody>
      </p:sp>
      <p:sp>
        <p:nvSpPr>
          <p:cNvPr id="15" name="toc-title-1"/>
          <p:cNvSpPr txBox="1"/>
          <p:nvPr>
            <p:custDataLst>
              <p:tags r:id="rId4"/>
            </p:custDataLst>
          </p:nvPr>
        </p:nvSpPr>
        <p:spPr>
          <a:xfrm>
            <a:off x="9145270" y="286575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MD5杂凑算法</a:t>
            </a:r>
            <a:endParaRPr lang="en-US" sz="4200" noProof="1"/>
          </a:p>
        </p:txBody>
      </p:sp>
      <p:sp>
        <p:nvSpPr>
          <p:cNvPr id="16" name="toc-num-2"/>
          <p:cNvSpPr txBox="1"/>
          <p:nvPr>
            <p:custDataLst>
              <p:tags r:id="rId5"/>
            </p:custDataLst>
          </p:nvPr>
        </p:nvSpPr>
        <p:spPr>
          <a:xfrm>
            <a:off x="7800340" y="387032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11.3</a:t>
            </a:r>
            <a:endParaRPr lang="en-US" sz="4000" noProof="1"/>
          </a:p>
        </p:txBody>
      </p:sp>
      <p:sp>
        <p:nvSpPr>
          <p:cNvPr id="17" name="toc-title-2"/>
          <p:cNvSpPr txBox="1"/>
          <p:nvPr>
            <p:custDataLst>
              <p:tags r:id="rId6"/>
            </p:custDataLst>
          </p:nvPr>
        </p:nvSpPr>
        <p:spPr>
          <a:xfrm>
            <a:off x="9145270" y="385127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SHA-3杂凑算法</a:t>
            </a:r>
            <a:endParaRPr lang="en-US" sz="4200" noProof="1"/>
          </a:p>
        </p:txBody>
      </p:sp>
      <p:sp>
        <p:nvSpPr>
          <p:cNvPr id="18" name="toc-num-3"/>
          <p:cNvSpPr txBox="1"/>
          <p:nvPr>
            <p:custDataLst>
              <p:tags r:id="rId7"/>
            </p:custDataLst>
          </p:nvPr>
        </p:nvSpPr>
        <p:spPr>
          <a:xfrm>
            <a:off x="7800340" y="485584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11.4</a:t>
            </a:r>
            <a:endParaRPr lang="en-US" sz="4000" noProof="1"/>
          </a:p>
        </p:txBody>
      </p:sp>
      <p:sp>
        <p:nvSpPr>
          <p:cNvPr id="19" name="toc-title-3"/>
          <p:cNvSpPr txBox="1"/>
          <p:nvPr>
            <p:custDataLst>
              <p:tags r:id="rId8"/>
            </p:custDataLst>
          </p:nvPr>
        </p:nvSpPr>
        <p:spPr>
          <a:xfrm>
            <a:off x="9145270" y="483679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消息认证码与HMAC算法</a:t>
            </a:r>
            <a:endParaRPr lang="en-US" sz="4200" noProof="1"/>
          </a:p>
        </p:txBody>
      </p:sp>
      <p:sp>
        <p:nvSpPr>
          <p:cNvPr id="20" name="toc-num-4"/>
          <p:cNvSpPr txBox="1"/>
          <p:nvPr>
            <p:custDataLst>
              <p:tags r:id="rId9"/>
            </p:custDataLst>
          </p:nvPr>
        </p:nvSpPr>
        <p:spPr>
          <a:xfrm>
            <a:off x="7800340" y="584136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11.5</a:t>
            </a:r>
            <a:endParaRPr lang="en-US" sz="4000" noProof="1"/>
          </a:p>
        </p:txBody>
      </p:sp>
      <p:sp>
        <p:nvSpPr>
          <p:cNvPr id="21" name="toc-title-4"/>
          <p:cNvSpPr txBox="1"/>
          <p:nvPr>
            <p:custDataLst>
              <p:tags r:id="rId10"/>
            </p:custDataLst>
          </p:nvPr>
        </p:nvSpPr>
        <p:spPr>
          <a:xfrm>
            <a:off x="9145270" y="582231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杂凑函数安全性分析</a:t>
            </a:r>
            <a:endParaRPr lang="en-US" sz="4200" noProof="1"/>
          </a:p>
        </p:txBody>
      </p:sp>
      <p:sp>
        <p:nvSpPr>
          <p:cNvPr id="22" name="toc-num-5"/>
          <p:cNvSpPr txBox="1"/>
          <p:nvPr>
            <p:custDataLst>
              <p:tags r:id="rId11"/>
            </p:custDataLst>
          </p:nvPr>
        </p:nvSpPr>
        <p:spPr>
          <a:xfrm>
            <a:off x="7800340" y="682688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11.6</a:t>
            </a:r>
            <a:endParaRPr lang="en-US" sz="4000" noProof="1"/>
          </a:p>
        </p:txBody>
      </p:sp>
      <p:sp>
        <p:nvSpPr>
          <p:cNvPr id="23" name="toc-title-5"/>
          <p:cNvSpPr txBox="1"/>
          <p:nvPr>
            <p:custDataLst>
              <p:tags r:id="rId12"/>
            </p:custDataLst>
          </p:nvPr>
        </p:nvSpPr>
        <p:spPr>
          <a:xfrm>
            <a:off x="9145270" y="680783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本章小结</a:t>
            </a:r>
            <a:endParaRPr lang="en-US" sz="4200" noProof="1"/>
          </a:p>
        </p:txBody>
      </p:sp>
      <p:sp>
        <p:nvSpPr>
          <p:cNvPr id="25" name="toc-title-6"/>
          <p:cNvSpPr txBox="1"/>
          <p:nvPr/>
        </p:nvSpPr>
        <p:spPr>
          <a:xfrm>
            <a:off x="9145270" y="7793355"/>
            <a:ext cx="8423910" cy="754380"/>
          </a:xfrm>
          <a:prstGeom prst="rect">
            <a:avLst/>
          </a:prstGeom>
          <a:noFill/>
          <a:ln>
            <a:noFill/>
          </a:ln>
        </p:spPr>
        <p:txBody>
          <a:bodyPr wrap="square" lIns="0" tIns="0" rIns="0" bIns="0" rtlCol="0" anchor="t"/>
          <a:lstStyle/>
          <a:p>
            <a:pPr algn="l">
              <a:lnSpc>
                <a:spcPts val="5880"/>
              </a:lnSpc>
            </a:pPr>
            <a:endParaRPr lang="en-US" sz="4200" noProof="1"/>
          </a:p>
        </p:txBody>
      </p:sp>
      <p:sp>
        <p:nvSpPr>
          <p:cNvPr id="26" name="pagenum-to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a:t>
            </a:r>
            <a:endParaRPr lang="en-US" sz="1400" noProof="1"/>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custDataLst>
                  <p:tags r:id="rId13"/>
                </p:custDataLst>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custDataLst>
                  <p:tags r:id="rId14"/>
                </p:custDataLst>
              </p:nvPr>
            </p:nvSpPr>
            <p:spPr>
              <a:xfrm>
                <a:off x="0" y="0"/>
                <a:ext cx="5501351" cy="288980"/>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custDataLst>
                  <p:tags r:id="rId15"/>
                </p:custDataLst>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0" name="TextBox 43"/>
              <p:cNvSpPr txBox="1"/>
              <p:nvPr>
                <p:custDataLst>
                  <p:tags r:id="rId16"/>
                </p:custDataLst>
              </p:nvPr>
            </p:nvSpPr>
            <p:spPr>
              <a:xfrm>
                <a:off x="0" y="0"/>
                <a:ext cx="5501351" cy="327048"/>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5" name="灯片编号占位符 34"/>
          <p:cNvSpPr>
            <a:spLocks noGrp="1"/>
          </p:cNvSpPr>
          <p:nvPr>
            <p:custDataLst>
              <p:tags r:id="rId1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custDataLst>
                <p:tags r:id="rId1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36" name="图片 35"/>
            <p:cNvPicPr>
              <a:picLocks noChangeAspect="1"/>
            </p:cNvPicPr>
            <p:nvPr>
              <p:custDataLst>
                <p:tags r:id="rId19"/>
              </p:custDataLst>
            </p:nvPr>
          </p:nvPicPr>
          <p:blipFill>
            <a:blip r:embed="rId20"/>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7"/>
          <p:cNvGrpSpPr/>
          <p:nvPr/>
        </p:nvGrpSpPr>
        <p:grpSpPr>
          <a:xfrm rot="-10800000">
            <a:off x="5340277" y="802276"/>
            <a:ext cx="7607443" cy="7607443"/>
            <a:chOff x="0" y="0"/>
            <a:chExt cx="812800" cy="812800"/>
          </a:xfrm>
        </p:grpSpPr>
        <p:sp>
          <p:nvSpPr>
            <p:cNvPr id="28" name="Freeform 28"/>
            <p:cNvSpPr/>
            <p:nvPr>
              <p:custDataLst>
                <p:tags r:id="rId1"/>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custDataLst>
                <p:tags r:id="rId2"/>
              </p:custDataLst>
            </p:nvPr>
          </p:nvSpPr>
          <p:spPr>
            <a:xfrm>
              <a:off x="76200" y="76200"/>
              <a:ext cx="660400" cy="660400"/>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dot-d111-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111-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111-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111-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111-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111-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111-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111-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divnum-d111"/>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11.1</a:t>
            </a:r>
            <a:endParaRPr lang="en-US" sz="12200" noProof="1"/>
          </a:p>
        </p:txBody>
      </p:sp>
      <p:sp>
        <p:nvSpPr>
          <p:cNvPr id="11" name="divtitle-d111"/>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密码杂凑函数概述</a:t>
            </a:r>
            <a:endParaRPr lang="en-US" sz="9600" noProof="1"/>
          </a:p>
        </p:txBody>
      </p:sp>
      <p:sp>
        <p:nvSpPr>
          <p:cNvPr id="15" name="灯片编号占位符 34"/>
          <p:cNvSpPr>
            <a:spLocks noGrp="1"/>
          </p:cNvSpPr>
          <p:nvPr>
            <p:custDataLst>
              <p:tags r:id="rId3"/>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custDataLst>
                <p:tags r:id="rId4"/>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36" name="图片 35"/>
            <p:cNvPicPr>
              <a:picLocks noChangeAspect="1"/>
            </p:cNvPicPr>
            <p:nvPr>
              <p:custDataLst>
                <p:tags r:id="rId5"/>
              </p:custDataLst>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密码杂凑函数又称密码散列函数或Hash函数，该函数将一个任意长的比特串映射到一个固定长的比特串。密码杂凑函数是密码学的一个重要分支，在数字签名和消息完整性检测等方面有广泛的应用。</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人们通常将杂凑函数的函数值</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M</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称为杂凑码，它是基于消息中所有比特的函数，因此提供了一种错误检测能力，即改变消息中任何一个比特或几个比特都会使杂凑码发生改变。</a:t>
                </a:r>
                <a:endParaRPr lang="en-US" sz="3600" noProof="1"/>
              </a:p>
              <a:p>
                <a:pPr indent="457200" algn="just" fontAlgn="auto">
                  <a:lnSpc>
                    <a:spcPct val="120000"/>
                  </a:lnSpc>
                </a:pPr>
                <a:endParaRPr lang="en-US" sz="3600" noProof="1"/>
              </a:p>
            </p:txBody>
          </p:sp>
        </mc:Choice>
        <mc:Fallback>
          <p:sp>
            <p:nvSpPr>
              <p:cNvPr id="2" name="body-p4"/>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1817"/>
                </a:stretch>
              </a:blipFill>
              <a:ln>
                <a:noFill/>
              </a:ln>
            </p:spPr>
            <p:txBody>
              <a:bodyPr/>
              <a:lstStyle/>
              <a:p>
                <a:r>
                  <a:rPr lang="zh-CN" altLang="en-US">
                    <a:noFill/>
                  </a:rPr>
                  <a:t> </a:t>
                </a:r>
              </a:p>
            </p:txBody>
          </p:sp>
        </mc:Fallback>
      </mc:AlternateContent>
      <p:sp>
        <p:nvSpPr>
          <p:cNvPr id="3" name="pagenum-p4"/>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a:t>
            </a:r>
            <a:endParaRPr lang="en-US" sz="1400" noProof="1"/>
          </a:p>
        </p:txBody>
      </p:sp>
      <p:grpSp>
        <p:nvGrpSpPr>
          <p:cNvPr id="10" name="Group 2"/>
          <p:cNvGrpSpPr/>
          <p:nvPr/>
        </p:nvGrpSpPr>
        <p:grpSpPr>
          <a:xfrm>
            <a:off x="412115" y="1028700"/>
            <a:ext cx="6329680" cy="27622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4"/>
            </p:custDataLst>
          </p:nvPr>
        </p:nvSpPr>
        <p:spPr>
          <a:xfrm>
            <a:off x="2209800" y="509270"/>
            <a:ext cx="440817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密码杂凑函数</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概述</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5"/>
            </p:custDataLst>
          </p:nvPr>
        </p:nvSpPr>
        <p:spPr>
          <a:xfrm>
            <a:off x="1216848" y="429424"/>
            <a:ext cx="1049507" cy="842645"/>
          </a:xfrm>
          <a:prstGeom prst="rect">
            <a:avLst/>
          </a:prstGeom>
        </p:spPr>
        <p:txBody>
          <a:bodyPr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杂凑函数的目的是为需要认证的数据产生一个"指纹"。为了实现对数据的认证，杂凑函数应满足下列3个性质。</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（1）为一个给定的输出找出能映射到该输出的一个输入在计算上是困难的。</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（2）为一个给定的输入找出能映射到同一输出的另一个输入在计算上是困难的。</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（3）要发现不同的输入映射到同一输出在计算上是困难的。</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（1）给出了杂凑函数单向性的概念，（2）和（3）给出了杂凑函数无碰撞性的概念。</a:t>
            </a:r>
            <a:endParaRPr lang="en-US" sz="3600" noProof="1"/>
          </a:p>
        </p:txBody>
      </p:sp>
      <p:grpSp>
        <p:nvGrpSpPr>
          <p:cNvPr id="10" name="Group 2"/>
          <p:cNvGrpSpPr/>
          <p:nvPr/>
        </p:nvGrpSpPr>
        <p:grpSpPr>
          <a:xfrm>
            <a:off x="412115" y="1028700"/>
            <a:ext cx="6329680" cy="27622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3"/>
            </p:custDataLst>
          </p:nvPr>
        </p:nvSpPr>
        <p:spPr>
          <a:xfrm>
            <a:off x="2209800" y="509270"/>
            <a:ext cx="440817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密码杂凑函数</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概述</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4"/>
            </p:custDataLst>
          </p:nvPr>
        </p:nvSpPr>
        <p:spPr>
          <a:xfrm>
            <a:off x="1216848" y="429424"/>
            <a:ext cx="1049507" cy="842645"/>
          </a:xfrm>
          <a:prstGeom prst="rect">
            <a:avLst/>
          </a:prstGeom>
        </p:spPr>
        <p:txBody>
          <a:bodyPr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7"/>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8"/>
              </p:custDataLst>
            </p:nvPr>
          </p:nvPicPr>
          <p:blipFill>
            <a:blip r:embed="rId9"/>
            <a:stretch>
              <a:fillRect/>
            </a:stretch>
          </p:blipFill>
          <p:spPr>
            <a:xfrm>
              <a:off x="13944600" y="877286"/>
              <a:ext cx="2771429" cy="47619"/>
            </a:xfrm>
            <a:prstGeom prst="rect">
              <a:avLst/>
            </a:prstGeom>
          </p:spPr>
        </p:pic>
      </p:grpSp>
      <p:sp>
        <p:nvSpPr>
          <p:cNvPr id="35" name="灯片编号占位符 34"/>
          <p:cNvSpPr>
            <a:spLocks noGrp="1"/>
          </p:cNvSpPr>
          <p:nvPr>
            <p:custDataLst>
              <p:tags r:id="rId10"/>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5"/>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定义11.1（单向性）</a:t>
                </a:r>
                <a:r>
                  <a:rPr lang="en-US" sz="3600" noProof="1">
                    <a:solidFill>
                      <a:srgbClr val="000000"/>
                    </a:solidFill>
                    <a:latin typeface="Times New Roman" panose="02020603050405020304"/>
                    <a:ea typeface="宋体" panose="02010600030101010101" pitchFamily="2" charset="-122"/>
                  </a:rPr>
                  <a:t>　设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是一个杂凑函数，如果对于任意给定的 </a:t>
                </a:r>
                <a14:m>
                  <m:oMath xmlns:m="http://schemas.openxmlformats.org/officeDocument/2006/math">
                    <m:r>
                      <m:rPr>
                        <m:sty m:val="p"/>
                      </m:rPr>
                      <a:rPr lang="en-US" sz="3600" noProof="1">
                        <a:solidFill>
                          <a:srgbClr val="000000"/>
                        </a:solidFill>
                        <a:latin typeface="Times New Roman" panose="02020603050405020304"/>
                      </a:rPr>
                      <m:t>z</m:t>
                    </m:r>
                  </m:oMath>
                </a14:m>
                <a:r>
                  <a:rPr lang="en-US" sz="3600" noProof="1">
                    <a:solidFill>
                      <a:srgbClr val="000000"/>
                    </a:solidFill>
                    <a:latin typeface="Times New Roman" panose="02020603050405020304"/>
                    <a:ea typeface="宋体" panose="02010600030101010101" pitchFamily="2" charset="-122"/>
                  </a:rPr>
                  <a:t>，寻找满足</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oMath>
                </a14:m>
                <a:r>
                  <a:rPr lang="en-US" sz="3600" noProof="1">
                    <a:solidFill>
                      <a:srgbClr val="000000"/>
                    </a:solidFill>
                    <a:latin typeface="Times New Roman" panose="02020603050405020304"/>
                    <a:ea typeface="宋体" panose="02010600030101010101" pitchFamily="2" charset="-122"/>
                  </a:rPr>
                  <a:t>的消息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在计算上是不可行的，那么称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是单向的（One-Way）。</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定义11.2（弱无碰撞）</a:t>
                </a:r>
                <a:r>
                  <a:rPr lang="en-US" sz="3600" noProof="1">
                    <a:solidFill>
                      <a:srgbClr val="000000"/>
                    </a:solidFill>
                    <a:latin typeface="Times New Roman" panose="02020603050405020304"/>
                    <a:ea typeface="宋体" panose="02010600030101010101" pitchFamily="2" charset="-122"/>
                  </a:rPr>
                  <a:t>　设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是一个杂凑函数，给定一个消息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，如果寻找另外一个与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不同的消息</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在计算上是不可行的，那么称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关于消息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是弱无碰撞的（Weakly Collision-Free）。</a:t>
                </a:r>
                <a:endParaRPr lang="en-US" sz="3600" noProof="1"/>
              </a:p>
            </p:txBody>
          </p:sp>
        </mc:Choice>
        <mc:Fallback>
          <p:sp>
            <p:nvSpPr>
              <p:cNvPr id="2" name="body-p5"/>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8" name="Group 2"/>
          <p:cNvGrpSpPr/>
          <p:nvPr/>
        </p:nvGrpSpPr>
        <p:grpSpPr>
          <a:xfrm>
            <a:off x="412115" y="1028700"/>
            <a:ext cx="6329680" cy="276225"/>
            <a:chOff x="0" y="0"/>
            <a:chExt cx="2054527" cy="72669"/>
          </a:xfrm>
        </p:grpSpPr>
        <p:sp>
          <p:nvSpPr>
            <p:cNvPr id="9"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6"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 name="TextBox 30"/>
          <p:cNvSpPr txBox="1"/>
          <p:nvPr>
            <p:custDataLst>
              <p:tags r:id="rId4"/>
            </p:custDataLst>
          </p:nvPr>
        </p:nvSpPr>
        <p:spPr>
          <a:xfrm>
            <a:off x="2209800" y="509270"/>
            <a:ext cx="440817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密码杂凑函数</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概述</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8" name="TextBox 31"/>
          <p:cNvSpPr txBox="1"/>
          <p:nvPr>
            <p:custDataLst>
              <p:tags r:id="rId5"/>
            </p:custDataLst>
          </p:nvPr>
        </p:nvSpPr>
        <p:spPr>
          <a:xfrm>
            <a:off x="1216848" y="429424"/>
            <a:ext cx="1049507" cy="842645"/>
          </a:xfrm>
          <a:prstGeom prst="rect">
            <a:avLst/>
          </a:prstGeom>
        </p:spPr>
        <p:txBody>
          <a:bodyPr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9" name="图片 2"/>
          <p:cNvPicPr>
            <a:picLocks noChangeAspect="1"/>
          </p:cNvPicPr>
          <p:nvPr>
            <p:custDataLst>
              <p:tags r:id="rId6"/>
            </p:custDataLst>
          </p:nvPr>
        </p:nvPicPr>
        <p:blipFill>
          <a:blip r:embed="rId7">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0" name="组合 19"/>
          <p:cNvGrpSpPr/>
          <p:nvPr/>
        </p:nvGrpSpPr>
        <p:grpSpPr>
          <a:xfrm>
            <a:off x="13639786" y="733421"/>
            <a:ext cx="3700052" cy="416951"/>
            <a:chOff x="13811849" y="507954"/>
            <a:chExt cx="3700052" cy="416951"/>
          </a:xfrm>
        </p:grpSpPr>
        <p:sp>
          <p:nvSpPr>
            <p:cNvPr id="21" name="文本框 20"/>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22" name="图片 21"/>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
        <p:nvSpPr>
          <p:cNvPr id="35" name="灯片编号占位符 34"/>
          <p:cNvSpPr>
            <a:spLocks noGrp="1"/>
          </p:cNvSpPr>
          <p:nvPr>
            <p:custDataLst>
              <p:tags r:id="rId11"/>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5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定义11.3（强无碰撞）</a:t>
                </a:r>
                <a:r>
                  <a:rPr lang="en-US" sz="3600" noProof="1">
                    <a:solidFill>
                      <a:srgbClr val="000000"/>
                    </a:solidFill>
                    <a:latin typeface="Times New Roman" panose="02020603050405020304"/>
                    <a:ea typeface="宋体" panose="02010600030101010101" pitchFamily="2" charset="-122"/>
                  </a:rPr>
                  <a:t>　设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是一个杂凑函数，如果寻找两个不同的消息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和</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在计算上是不可行的，那么称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是强无碰撞的（Strongly Collision-Free）。</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如果杂凑函数对不同的输入可产生相同的输出，那么称该函数具有碰撞性。可以证明，如果一个杂凑函数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不是单向的，那么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一定不是强无碰撞的；如果一个杂凑函数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是强无碰撞的，那么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一定是单向的。</a:t>
                </a:r>
                <a:endParaRPr lang="en-US" sz="3600" noProof="1"/>
              </a:p>
            </p:txBody>
          </p:sp>
        </mc:Choice>
        <mc:Fallback>
          <p:sp>
            <p:nvSpPr>
              <p:cNvPr id="2" name="body-p5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115" y="1028700"/>
            <a:ext cx="6329680" cy="27622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4"/>
            </p:custDataLst>
          </p:nvPr>
        </p:nvSpPr>
        <p:spPr>
          <a:xfrm>
            <a:off x="2209800" y="509270"/>
            <a:ext cx="440817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密码杂凑函数</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概述</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5"/>
            </p:custDataLst>
          </p:nvPr>
        </p:nvSpPr>
        <p:spPr>
          <a:xfrm>
            <a:off x="1216848" y="429424"/>
            <a:ext cx="1049507" cy="842645"/>
          </a:xfrm>
          <a:prstGeom prst="rect">
            <a:avLst/>
          </a:prstGeom>
        </p:spPr>
        <p:txBody>
          <a:bodyPr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
        <p:nvSpPr>
          <p:cNvPr id="35" name="灯片编号占位符 34"/>
          <p:cNvSpPr>
            <a:spLocks noGrp="1"/>
          </p:cNvSpPr>
          <p:nvPr>
            <p:custDataLst>
              <p:tags r:id="rId11"/>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6"/>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大多数杂凑函数，如MD5、SHA1、SM3的结构都是迭代型的，迭代型杂凑函数的结构如图11.1所示。其中函数的输入 </a:t>
                </a:r>
                <a14:m>
                  <m:oMath xmlns:m="http://schemas.openxmlformats.org/officeDocument/2006/math">
                    <m:r>
                      <m:rPr>
                        <m:sty m:val="p"/>
                      </m:rPr>
                      <a:rPr lang="en-US" sz="3600" noProof="1">
                        <a:solidFill>
                          <a:srgbClr val="000000"/>
                        </a:solidFill>
                        <a:latin typeface="Times New Roman" panose="02020603050405020304"/>
                      </a:rPr>
                      <m:t>M</m:t>
                    </m:r>
                  </m:oMath>
                </a14:m>
                <a:r>
                  <a:rPr lang="en-US" sz="3600" noProof="1">
                    <a:solidFill>
                      <a:srgbClr val="000000"/>
                    </a:solidFill>
                    <a:latin typeface="Times New Roman" panose="02020603050405020304"/>
                    <a:ea typeface="宋体" panose="02010600030101010101" pitchFamily="2" charset="-122"/>
                  </a:rPr>
                  <a:t> 被分为 </a:t>
                </a:r>
                <a14:m>
                  <m:oMath xmlns:m="http://schemas.openxmlformats.org/officeDocument/2006/math">
                    <m:r>
                      <m:rPr>
                        <m:sty m:val="p"/>
                      </m:rPr>
                      <a:rPr lang="en-US" sz="3600" noProof="1">
                        <a:solidFill>
                          <a:srgbClr val="000000"/>
                        </a:solidFill>
                        <a:latin typeface="Times New Roman" panose="02020603050405020304"/>
                      </a:rPr>
                      <m:t>L</m:t>
                    </m:r>
                  </m:oMath>
                </a14:m>
                <a:r>
                  <a:rPr lang="en-US" sz="3600" noProof="1">
                    <a:solidFill>
                      <a:srgbClr val="000000"/>
                    </a:solidFill>
                    <a:latin typeface="Times New Roman" panose="02020603050405020304"/>
                    <a:ea typeface="宋体" panose="02010600030101010101" pitchFamily="2" charset="-122"/>
                  </a:rPr>
                  <a:t> 组，即</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a:rPr lang="en-US" sz="3600" noProof="1">
                            <a:solidFill>
                              <a:srgbClr val="000000"/>
                            </a:solidFill>
                            <a:latin typeface="Times New Roman" panose="02020603050405020304"/>
                          </a:rPr>
                          <m:t>0</m:t>
                        </m:r>
                      </m:sub>
                    </m:sSub>
                    <m:r>
                      <a:rPr lang="en-US" sz="3600" noProof="1">
                        <a:solidFill>
                          <a:srgbClr val="000000"/>
                        </a:solidFill>
                        <a:latin typeface="Times New Roman" panose="02020603050405020304"/>
                      </a:rPr>
                      <m:t> , </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a:rPr lang="en-US" sz="3600" noProof="1">
                            <a:solidFill>
                              <a:srgbClr val="000000"/>
                            </a:solidFill>
                            <a:latin typeface="Times New Roman" panose="02020603050405020304"/>
                          </a:rPr>
                          <m:t>1</m:t>
                        </m:r>
                      </m:sub>
                    </m:sSub>
                    <m:r>
                      <a:rPr lang="en-US" sz="3600" noProof="1">
                        <a:solidFill>
                          <a:srgbClr val="000000"/>
                        </a:solidFill>
                        <a:latin typeface="Times New Roman" panose="02020603050405020304"/>
                      </a:rPr>
                      <m:t> ,⋯, </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L</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，每组的长度为 </a:t>
                </a:r>
                <a14:m>
                  <m:oMath xmlns:m="http://schemas.openxmlformats.org/officeDocument/2006/math">
                    <m:r>
                      <m:rPr>
                        <m:sty m:val="p"/>
                      </m:rPr>
                      <a:rPr lang="en-US" sz="3600" noProof="1">
                        <a:solidFill>
                          <a:srgbClr val="000000"/>
                        </a:solidFill>
                        <a:latin typeface="Times New Roman" panose="02020603050405020304"/>
                      </a:rPr>
                      <m:t>b</m:t>
                    </m:r>
                  </m:oMath>
                </a14:m>
                <a:r>
                  <a:rPr lang="en-US" sz="3600" noProof="1">
                    <a:solidFill>
                      <a:srgbClr val="000000"/>
                    </a:solidFill>
                    <a:latin typeface="Times New Roman" panose="02020603050405020304"/>
                    <a:ea typeface="宋体" panose="02010600030101010101" pitchFamily="2" charset="-122"/>
                  </a:rPr>
                  <a:t> bit，如果最后一个分组的长度不够，则需要对其进行填充。</a:t>
                </a:r>
                <a:endParaRPr lang="en-US" sz="3600" noProof="1"/>
              </a:p>
            </p:txBody>
          </p:sp>
        </mc:Choice>
        <mc:Fallback>
          <p:sp>
            <p:nvSpPr>
              <p:cNvPr id="2" name="body-p6"/>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115" y="1028700"/>
            <a:ext cx="6329680" cy="27622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4"/>
            </p:custDataLst>
          </p:nvPr>
        </p:nvSpPr>
        <p:spPr>
          <a:xfrm>
            <a:off x="2907030" y="494030"/>
            <a:ext cx="539623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迭代型杂凑函数的结构</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5"/>
            </p:custDataLst>
          </p:nvPr>
        </p:nvSpPr>
        <p:spPr>
          <a:xfrm>
            <a:off x="665480" y="429260"/>
            <a:ext cx="2677160"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pic>
        <p:nvPicPr>
          <p:cNvPr id="19" name="img-p6"/>
          <p:cNvPicPr/>
          <p:nvPr>
            <p:custDataLst>
              <p:tags r:id="rId11"/>
            </p:custDataLst>
          </p:nvPr>
        </p:nvPicPr>
        <p:blipFill>
          <a:blip r:embed="rId12"/>
          <a:stretch>
            <a:fillRect/>
          </a:stretch>
        </p:blipFill>
        <p:spPr>
          <a:xfrm>
            <a:off x="2907030" y="5046980"/>
            <a:ext cx="12700000" cy="3276600"/>
          </a:xfrm>
          <a:prstGeom prst="rect">
            <a:avLst/>
          </a:prstGeom>
          <a:ln>
            <a:noFill/>
          </a:ln>
        </p:spPr>
      </p:pic>
      <p:sp>
        <p:nvSpPr>
          <p:cNvPr id="20" name="imgcap-p6"/>
          <p:cNvSpPr txBox="1"/>
          <p:nvPr>
            <p:custDataLst>
              <p:tags r:id="rId13"/>
            </p:custDataLst>
          </p:nvPr>
        </p:nvSpPr>
        <p:spPr>
          <a:xfrm>
            <a:off x="1734820" y="8445500"/>
            <a:ext cx="14818360" cy="508000"/>
          </a:xfrm>
          <a:prstGeom prst="rect">
            <a:avLst/>
          </a:prstGeom>
          <a:noFill/>
          <a:ln>
            <a:noFill/>
          </a:ln>
        </p:spPr>
        <p:txBody>
          <a:bodyPr wrap="square" lIns="0" tIns="0" rIns="0" bIns="0" rtlCol="0" anchor="t"/>
          <a:p>
            <a:pPr algn="ctr">
              <a:lnSpc>
                <a:spcPct val="120000"/>
              </a:lnSpc>
            </a:pPr>
            <a:r>
              <a:rPr lang="en-US" sz="1600" noProof="1">
                <a:solidFill>
                  <a:srgbClr val="000000"/>
                </a:solidFill>
                <a:latin typeface="Times New Roman" panose="02020603050405020304"/>
                <a:ea typeface="Times New Roman" panose="02020603050405020304"/>
              </a:rPr>
              <a:t>图11.1　迭代型杂凑函数的结构</a:t>
            </a:r>
            <a:endParaRPr lang="en-US" sz="1600" noProof="1"/>
          </a:p>
        </p:txBody>
      </p:sp>
      <p:sp>
        <p:nvSpPr>
          <p:cNvPr id="35" name="灯片编号占位符 34"/>
          <p:cNvSpPr>
            <a:spLocks noGrp="1"/>
          </p:cNvSpPr>
          <p:nvPr>
            <p:custDataLst>
              <p:tags r:id="rId14"/>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6"/>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a:solidFill>
                  <a:srgbClr val="000000"/>
                </a:solidFill>
                <a:latin typeface="Times New Roman" panose="02020603050405020304"/>
                <a:ea typeface="宋体" panose="02010600030101010101" pitchFamily="2" charset="-122"/>
                <a:sym typeface="+mn-ea"/>
              </a:rPr>
              <a:t>最后一个分组中还包括整个函数输入的长度值，这将使得攻击者的攻击更为困难，即攻击者若想成功地产生假冒的消息，就必须保证假冒消息的杂凑值与原消息的杂凑值相同，而且假冒消息的长度也要与原消息的长度相等。</a:t>
            </a:r>
            <a:endParaRPr lang="en-US" sz="3600" noProof="1"/>
          </a:p>
        </p:txBody>
      </p:sp>
      <p:grpSp>
        <p:nvGrpSpPr>
          <p:cNvPr id="10" name="Group 2"/>
          <p:cNvGrpSpPr/>
          <p:nvPr/>
        </p:nvGrpSpPr>
        <p:grpSpPr>
          <a:xfrm>
            <a:off x="412115" y="1028700"/>
            <a:ext cx="6329680" cy="27622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3"/>
            </p:custDataLst>
          </p:nvPr>
        </p:nvSpPr>
        <p:spPr>
          <a:xfrm>
            <a:off x="2907030" y="494030"/>
            <a:ext cx="539623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迭代型杂凑函数的结构</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4"/>
            </p:custDataLst>
          </p:nvPr>
        </p:nvSpPr>
        <p:spPr>
          <a:xfrm>
            <a:off x="665480" y="429260"/>
            <a:ext cx="2677160"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7"/>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8"/>
              </p:custDataLst>
            </p:nvPr>
          </p:nvPicPr>
          <p:blipFill>
            <a:blip r:embed="rId9"/>
            <a:stretch>
              <a:fillRect/>
            </a:stretch>
          </p:blipFill>
          <p:spPr>
            <a:xfrm>
              <a:off x="13944600" y="877286"/>
              <a:ext cx="2771429" cy="47619"/>
            </a:xfrm>
            <a:prstGeom prst="rect">
              <a:avLst/>
            </a:prstGeom>
          </p:spPr>
        </p:pic>
      </p:grpSp>
      <p:sp>
        <p:nvSpPr>
          <p:cNvPr id="35" name="灯片编号占位符 34"/>
          <p:cNvSpPr>
            <a:spLocks noGrp="1"/>
          </p:cNvSpPr>
          <p:nvPr>
            <p:custDataLst>
              <p:tags r:id="rId10"/>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7"/>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图11.1中，IV为初始变量；CV为链接变量；</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Y</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为第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个输入数据块；</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f</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为压缩算法；</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为杂凑码的长度；</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b</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为输入消息块的长度；</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a:rPr lang="en-US" sz="3600" noProof="1">
                            <a:solidFill>
                              <a:srgbClr val="000000"/>
                            </a:solidFill>
                            <a:latin typeface="Cambria Math" panose="02040503050406030204" charset="0"/>
                            <a:ea typeface="MS Mincho" charset="0"/>
                            <a:cs typeface="Cambria Math" panose="02040503050406030204" charset="0"/>
                          </a:rPr>
                          <m:t>0</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，IV为初始变量；</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sub>
                    </m:sSub>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f</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1</m:t>
                        </m:r>
                      </m:sub>
                    </m:sSub>
                    <m:r>
                      <a:rPr lang="en-US" sz="3600" noProof="1">
                        <a:solidFill>
                          <a:srgbClr val="000000"/>
                        </a:solidFill>
                        <a:latin typeface="Cambria Math" panose="02040503050406030204" charset="0"/>
                        <a:ea typeface="MS Mincho" charset="0"/>
                        <a:cs typeface="Cambria Math" panose="02040503050406030204" charset="0"/>
                      </a:rPr>
                      <m:t>, </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Y</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1</m:t>
                        </m:r>
                      </m:sub>
                    </m:sSub>
                    <m:r>
                      <a:rPr lang="en-US" sz="3600" noProof="1">
                        <a:solidFill>
                          <a:srgbClr val="000000"/>
                        </a:solidFill>
                        <a:latin typeface="Cambria Math" panose="02040503050406030204" charset="0"/>
                        <a:ea typeface="MS Mincho" charset="0"/>
                        <a:cs typeface="Cambria Math" panose="02040503050406030204" charset="0"/>
                      </a:rPr>
                      <m:t>), </m:t>
                    </m:r>
                    <m:r>
                      <a:rPr lang="en-US" sz="3600" noProof="1">
                        <a:solidFill>
                          <a:srgbClr val="000000"/>
                        </a:solidFill>
                        <a:latin typeface="Cambria Math" panose="02040503050406030204" charset="0"/>
                        <a:ea typeface="MS Mincho" charset="0"/>
                        <a:cs typeface="Cambria Math" panose="02040503050406030204" charset="0"/>
                      </a:rPr>
                      <m:t>1</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L</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H</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M</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L</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算法中的压缩函数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f</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的输入有两项，一项是上一轮（第</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1</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轮）输出的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bit值</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，称为链接变量，另一项是算法在本轮（第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轮）的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b</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bit输入分组</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Y</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。本轮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f</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的输出为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bit值</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又作为下一轮的输入。</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7"/>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115" y="1028700"/>
            <a:ext cx="6329680" cy="27622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4"/>
            </p:custDataLst>
          </p:nvPr>
        </p:nvSpPr>
        <p:spPr>
          <a:xfrm>
            <a:off x="2907030" y="494030"/>
            <a:ext cx="539623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迭代型杂凑函数的结构</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5"/>
            </p:custDataLst>
          </p:nvPr>
        </p:nvSpPr>
        <p:spPr>
          <a:xfrm>
            <a:off x="665480" y="429260"/>
            <a:ext cx="2677160"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
        <p:nvSpPr>
          <p:cNvPr id="35" name="灯片编号占位符 34"/>
          <p:cNvSpPr>
            <a:spLocks noGrp="1"/>
          </p:cNvSpPr>
          <p:nvPr>
            <p:custDataLst>
              <p:tags r:id="rId11"/>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7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算法开始时还需要对链接变量指定一个初始变量IV，最后一轮输出的链接变量</a:t>
                </a:r>
                <a14:m>
                  <m:oMath xmlns:m="http://schemas.openxmlformats.org/officeDocument/2006/math">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m:rPr>
                            <m:sty m:val="p"/>
                          </m:rPr>
                          <a:rPr lang="en-US" sz="3600" noProof="1">
                            <a:solidFill>
                              <a:srgbClr val="000000"/>
                            </a:solidFill>
                            <a:latin typeface="Times New Roman" panose="02020603050405020304"/>
                          </a:rPr>
                          <m:t>L</m:t>
                        </m:r>
                      </m:sub>
                    </m:sSub>
                  </m:oMath>
                </a14:m>
                <a:r>
                  <a:rPr lang="en-US" sz="3600" noProof="1">
                    <a:solidFill>
                      <a:srgbClr val="000000"/>
                    </a:solidFill>
                    <a:latin typeface="Times New Roman" panose="02020603050405020304"/>
                    <a:ea typeface="宋体" panose="02010600030101010101" pitchFamily="2" charset="-122"/>
                  </a:rPr>
                  <a:t>即最终产生的杂凑值。</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算法的核心技术是设计无碰撞的压缩函数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，而攻击者对算法攻击的重点是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的内部结构。因为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和分组密码都是由若干轮处理过程组成的，所以对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的攻击需要通过对各轮之间的位模式的分析来进行，分析过程通常需要先找出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的碰撞。</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是压缩函数，其碰撞是不可避免的，因此在设计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时就应保证找出其碰撞在计算上是不可行的。</a:t>
                </a:r>
                <a:endParaRPr lang="en-US" sz="3600" noProof="1"/>
              </a:p>
            </p:txBody>
          </p:sp>
        </mc:Choice>
        <mc:Fallback>
          <p:sp>
            <p:nvSpPr>
              <p:cNvPr id="2" name="body-p7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115" y="1028700"/>
            <a:ext cx="6329680" cy="27622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custDataLst>
              <p:tags r:id="rId4"/>
            </p:custDataLst>
          </p:nvPr>
        </p:nvSpPr>
        <p:spPr>
          <a:xfrm>
            <a:off x="2907030" y="494030"/>
            <a:ext cx="539623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迭代型杂凑函数的结构</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14" name="TextBox 31"/>
          <p:cNvSpPr txBox="1"/>
          <p:nvPr>
            <p:custDataLst>
              <p:tags r:id="rId5"/>
            </p:custDataLst>
          </p:nvPr>
        </p:nvSpPr>
        <p:spPr>
          <a:xfrm>
            <a:off x="665480" y="429260"/>
            <a:ext cx="2677160"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11.1.2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969010"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
        <p:nvSpPr>
          <p:cNvPr id="35" name="灯片编号占位符 34"/>
          <p:cNvSpPr>
            <a:spLocks noGrp="1"/>
          </p:cNvSpPr>
          <p:nvPr>
            <p:custDataLst>
              <p:tags r:id="rId11"/>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7"/>
          <p:cNvGrpSpPr/>
          <p:nvPr/>
        </p:nvGrpSpPr>
        <p:grpSpPr>
          <a:xfrm rot="-10800000">
            <a:off x="5340277" y="802276"/>
            <a:ext cx="7607443" cy="7607443"/>
            <a:chOff x="0" y="0"/>
            <a:chExt cx="812800" cy="812800"/>
          </a:xfrm>
        </p:grpSpPr>
        <p:sp>
          <p:nvSpPr>
            <p:cNvPr id="28" name="Freeform 28"/>
            <p:cNvSpPr/>
            <p:nvPr>
              <p:custDataLst>
                <p:tags r:id="rId1"/>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custDataLst>
                <p:tags r:id="rId2"/>
              </p:custDataLst>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dot-d112-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112-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112-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112-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112-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112-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112-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112-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divnum-d112"/>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11.2</a:t>
            </a:r>
            <a:endParaRPr lang="en-US" sz="12200" noProof="1"/>
          </a:p>
        </p:txBody>
      </p:sp>
      <p:sp>
        <p:nvSpPr>
          <p:cNvPr id="11" name="divtitle-d112"/>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MD5杂凑算法</a:t>
            </a:r>
            <a:endParaRPr lang="en-US" sz="9600" noProof="1"/>
          </a:p>
        </p:txBody>
      </p:sp>
      <p:grpSp>
        <p:nvGrpSpPr>
          <p:cNvPr id="30" name="组合 29"/>
          <p:cNvGrpSpPr/>
          <p:nvPr/>
        </p:nvGrpSpPr>
        <p:grpSpPr>
          <a:xfrm>
            <a:off x="796975" y="605801"/>
            <a:ext cx="3700052" cy="416951"/>
            <a:chOff x="13811849" y="507954"/>
            <a:chExt cx="3700052" cy="416951"/>
          </a:xfrm>
        </p:grpSpPr>
        <p:sp>
          <p:nvSpPr>
            <p:cNvPr id="31" name="文本框 30"/>
            <p:cNvSpPr txBox="1"/>
            <p:nvPr>
              <p:custDataLst>
                <p:tags r:id="rId3"/>
              </p:custDataLst>
            </p:nvPr>
          </p:nvSpPr>
          <p:spPr>
            <a:xfrm>
              <a:off x="13811849" y="507954"/>
              <a:ext cx="3700052" cy="369332"/>
            </a:xfrm>
            <a:prstGeom prst="rect">
              <a:avLst/>
            </a:prstGeom>
            <a:noFill/>
          </p:spPr>
          <p:txBody>
            <a:bodyPr wrap="none" rtlCol="0">
              <a:spAutoFit/>
            </a:bodyPr>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2" name="图片 31"/>
            <p:cNvPicPr>
              <a:picLocks noChangeAspect="1"/>
            </p:cNvPicPr>
            <p:nvPr>
              <p:custDataLst>
                <p:tags r:id="rId4"/>
              </p:custDataLst>
            </p:nvPr>
          </p:nvPicPr>
          <p:blipFill>
            <a:blip r:embed="rId5"/>
            <a:stretch>
              <a:fillRect/>
            </a:stretch>
          </p:blipFill>
          <p:spPr>
            <a:xfrm>
              <a:off x="13944600" y="877286"/>
              <a:ext cx="2771429" cy="47619"/>
            </a:xfrm>
            <a:prstGeom prst="rect">
              <a:avLst/>
            </a:prstGeom>
          </p:spPr>
        </p:pic>
      </p:grpSp>
      <p:grpSp>
        <p:nvGrpSpPr>
          <p:cNvPr id="16" name="Group 50"/>
          <p:cNvGrpSpPr/>
          <p:nvPr/>
        </p:nvGrpSpPr>
        <p:grpSpPr>
          <a:xfrm>
            <a:off x="-1299845" y="8692124"/>
            <a:ext cx="21159470" cy="1632976"/>
            <a:chOff x="0" y="0"/>
            <a:chExt cx="28212281" cy="2573326"/>
          </a:xfrm>
        </p:grpSpPr>
        <p:grpSp>
          <p:nvGrpSpPr>
            <p:cNvPr id="17" name="Group 51"/>
            <p:cNvGrpSpPr/>
            <p:nvPr/>
          </p:nvGrpSpPr>
          <p:grpSpPr>
            <a:xfrm>
              <a:off x="361694" y="0"/>
              <a:ext cx="27850587" cy="2024584"/>
              <a:chOff x="0" y="0"/>
              <a:chExt cx="5501351" cy="399918"/>
            </a:xfrm>
          </p:grpSpPr>
          <p:sp>
            <p:nvSpPr>
              <p:cNvPr id="18" name="Freeform 52"/>
              <p:cNvSpPr/>
              <p:nvPr>
                <p:custDataLst>
                  <p:tags r:id="rId6"/>
                </p:custDataLst>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19" name="TextBox 53"/>
              <p:cNvSpPr txBox="1"/>
              <p:nvPr>
                <p:custDataLst>
                  <p:tags r:id="rId7"/>
                </p:custDataLst>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20" name="Group 54"/>
            <p:cNvGrpSpPr/>
            <p:nvPr/>
          </p:nvGrpSpPr>
          <p:grpSpPr>
            <a:xfrm>
              <a:off x="0" y="282042"/>
              <a:ext cx="27850587" cy="2291284"/>
              <a:chOff x="0" y="0"/>
              <a:chExt cx="5501351" cy="452599"/>
            </a:xfrm>
          </p:grpSpPr>
          <p:sp>
            <p:nvSpPr>
              <p:cNvPr id="21" name="Freeform 55"/>
              <p:cNvSpPr/>
              <p:nvPr>
                <p:custDataLst>
                  <p:tags r:id="rId8"/>
                </p:custDataLst>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22" name="TextBox 56"/>
              <p:cNvSpPr txBox="1"/>
              <p:nvPr>
                <p:custDataLst>
                  <p:tags r:id="rId9"/>
                </p:custDataLst>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23" name="灯片编号占位符 34"/>
          <p:cNvSpPr>
            <a:spLocks noGrp="1"/>
          </p:cNvSpPr>
          <p:nvPr>
            <p:custDataLst>
              <p:tags r:id="rId10"/>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9"/>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MD5杂凑算法是由Ron Rivest于1992年10月作为RFC提出的，是1990年4月公布的MD4的改进版本。</a:t>
            </a: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3"/>
            </p:custDataLst>
          </p:nvPr>
        </p:nvSpPr>
        <p:spPr>
          <a:xfrm>
            <a:off x="1320353" y="429424"/>
            <a:ext cx="1049507" cy="842645"/>
          </a:xfrm>
          <a:prstGeom prst="rect">
            <a:avLst/>
          </a:prstGeom>
        </p:spPr>
        <p:txBody>
          <a:bodyPr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6"/>
            </p:custDataLst>
          </p:nvPr>
        </p:nvSpPr>
        <p:spPr>
          <a:xfrm>
            <a:off x="2486268" y="493939"/>
            <a:ext cx="9458717" cy="717550"/>
          </a:xfrm>
          <a:prstGeom prst="rect">
            <a:avLst/>
          </a:prstGeom>
        </p:spPr>
        <p:txBody>
          <a:bodyPr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grpSp>
        <p:nvGrpSpPr>
          <p:cNvPr id="21" name="组合 20"/>
          <p:cNvGrpSpPr/>
          <p:nvPr/>
        </p:nvGrpSpPr>
        <p:grpSpPr>
          <a:xfrm>
            <a:off x="13639786" y="733421"/>
            <a:ext cx="3700052" cy="416951"/>
            <a:chOff x="13811849" y="507954"/>
            <a:chExt cx="3700052" cy="416951"/>
          </a:xfrm>
        </p:grpSpPr>
        <p:sp>
          <p:nvSpPr>
            <p:cNvPr id="22" name="文本框 21"/>
            <p:cNvSpPr txBox="1"/>
            <p:nvPr>
              <p:custDataLst>
                <p:tags r:id="rId7"/>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23" name="图片 22"/>
            <p:cNvPicPr>
              <a:picLocks noChangeAspect="1"/>
            </p:cNvPicPr>
            <p:nvPr>
              <p:custDataLst>
                <p:tags r:id="rId8"/>
              </p:custDataLst>
            </p:nvPr>
          </p:nvPicPr>
          <p:blipFill>
            <a:blip r:embed="rId9"/>
            <a:stretch>
              <a:fillRect/>
            </a:stretch>
          </p:blipFill>
          <p:spPr>
            <a:xfrm>
              <a:off x="13944600" y="877286"/>
              <a:ext cx="2771429" cy="47619"/>
            </a:xfrm>
            <a:prstGeom prst="rect">
              <a:avLst/>
            </a:prstGeom>
          </p:spPr>
        </p:pic>
      </p:grpSp>
      <p:sp>
        <p:nvSpPr>
          <p:cNvPr id="35" name="灯片编号占位符 34"/>
          <p:cNvSpPr>
            <a:spLocks noGrp="1"/>
          </p:cNvSpPr>
          <p:nvPr>
            <p:custDataLst>
              <p:tags r:id="rId10"/>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9"/>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MD5杂凑算法框图如图11.2所示。算法的输入为任意长的消息（图11.2中为 </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 bit），分为512bit的分组，输出为128bit的消息摘要。</a:t>
                </a:r>
                <a:endParaRPr lang="en-US" sz="3600" noProof="1"/>
              </a:p>
            </p:txBody>
          </p:sp>
        </mc:Choice>
        <mc:Fallback>
          <p:sp>
            <p:nvSpPr>
              <p:cNvPr id="2" name="body-p9"/>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pic>
        <p:nvPicPr>
          <p:cNvPr id="3" name="img-p9"/>
          <p:cNvPicPr/>
          <p:nvPr/>
        </p:nvPicPr>
        <p:blipFill>
          <a:blip r:embed="rId2"/>
          <a:stretch>
            <a:fillRect/>
          </a:stretch>
        </p:blipFill>
        <p:spPr>
          <a:xfrm>
            <a:off x="4851400" y="3557905"/>
            <a:ext cx="8585200" cy="5080000"/>
          </a:xfrm>
          <a:prstGeom prst="rect">
            <a:avLst/>
          </a:prstGeom>
          <a:ln>
            <a:noFill/>
          </a:ln>
        </p:spPr>
      </p:pic>
      <p:sp>
        <p:nvSpPr>
          <p:cNvPr id="4" name="imgcap-p9"/>
          <p:cNvSpPr txBox="1"/>
          <p:nvPr/>
        </p:nvSpPr>
        <p:spPr>
          <a:xfrm>
            <a:off x="1734820" y="887857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图11.2　MD5杂凑算法框图</a:t>
            </a:r>
            <a:endParaRPr lang="en-US" sz="1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3"/>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4"/>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5"/>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8"/>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grpSp>
        <p:nvGrpSpPr>
          <p:cNvPr id="21" name="组合 20"/>
          <p:cNvGrpSpPr/>
          <p:nvPr/>
        </p:nvGrpSpPr>
        <p:grpSpPr>
          <a:xfrm>
            <a:off x="13639786" y="733421"/>
            <a:ext cx="3700052" cy="416951"/>
            <a:chOff x="13811849" y="507954"/>
            <a:chExt cx="3700052" cy="416951"/>
          </a:xfrm>
        </p:grpSpPr>
        <p:sp>
          <p:nvSpPr>
            <p:cNvPr id="22" name="文本框 21"/>
            <p:cNvSpPr txBox="1"/>
            <p:nvPr>
              <p:custDataLst>
                <p:tags r:id="rId9"/>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23" name="图片 22"/>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
        <p:nvSpPr>
          <p:cNvPr id="35" name="灯片编号占位符 34"/>
          <p:cNvSpPr>
            <a:spLocks noGrp="1"/>
          </p:cNvSpPr>
          <p:nvPr>
            <p:custDataLst>
              <p:tags r:id="rId12"/>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10"/>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MD5杂凑算法具体介绍如下。</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消息填充。对消息填充，使得其比特长在模512下为448bit，即填充后消息的长度为512bit的某一倍数减64bit，留出的64bit在（2）中使用。消息填充是必须的，即使消息的长度已经满足需求，仍需要填充。例如，消息长为448bit，则需要填充512bit，使其长度变为960bit，因此填充的比特数大于或等于1bit而小于或等于512bit。填充方式是固定的，即第1位为1，其后各位皆为0。</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3"/>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6"/>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0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2800" noProof="1">
                    <a:solidFill>
                      <a:srgbClr val="000000"/>
                    </a:solidFill>
                    <a:latin typeface="Times New Roman" panose="02020603050405020304"/>
                    <a:ea typeface="宋体" panose="02010600030101010101" pitchFamily="2" charset="-122"/>
                  </a:rPr>
                  <a:t>（</a:t>
                </a:r>
                <a:r>
                  <a:rPr lang="en-US" sz="3600" noProof="1">
                    <a:solidFill>
                      <a:srgbClr val="000000"/>
                    </a:solidFill>
                    <a:latin typeface="Times New Roman" panose="02020603050405020304"/>
                    <a:ea typeface="宋体" panose="02010600030101010101" pitchFamily="2" charset="-122"/>
                  </a:rPr>
                  <a:t>2）附加消息的长度。用（1）留出的64bit以Little-Endian方式来表示消息被填充前的长度。若消息长度大于</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64</m:t>
                        </m:r>
                      </m:sup>
                    </m:sSup>
                  </m:oMath>
                </a14:m>
                <a:r>
                  <a:rPr lang="en-US" sz="3600" noProof="1">
                    <a:solidFill>
                      <a:srgbClr val="000000"/>
                    </a:solidFill>
                    <a:latin typeface="Times New Roman" panose="02020603050405020304"/>
                    <a:ea typeface="宋体" panose="02010600030101010101" pitchFamily="2" charset="-122"/>
                  </a:rPr>
                  <a:t>，则以</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64</m:t>
                        </m:r>
                      </m:sup>
                    </m:sSup>
                  </m:oMath>
                </a14:m>
                <a:r>
                  <a:rPr lang="en-US" sz="3600" noProof="1">
                    <a:solidFill>
                      <a:srgbClr val="000000"/>
                    </a:solidFill>
                    <a:latin typeface="Times New Roman" panose="02020603050405020304"/>
                    <a:ea typeface="宋体" panose="02010600030101010101" pitchFamily="2" charset="-122"/>
                  </a:rPr>
                  <a:t>为模数取模。Little-Endian方式是指按数据的最低有效字节（或最低有效位）优先的顺序存储数据，即将最低有效字节（或最低有效位）存于低地址字节（或位）。与Little-Endian方式相反的存储方式称为Big-Endian方式。</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前两步执行完后，消息的长度为512bit的倍数（设为 </a:t>
                </a:r>
                <a14:m>
                  <m:oMath xmlns:m="http://schemas.openxmlformats.org/officeDocument/2006/math">
                    <m:r>
                      <a:rPr lang="en-US" sz="3600" i="1" noProof="1">
                        <a:solidFill>
                          <a:srgbClr val="000000"/>
                        </a:solidFill>
                        <a:latin typeface="Times New Roman" panose="02020603050405020304"/>
                      </a:rPr>
                      <m:t>𝐿</m:t>
                    </m:r>
                  </m:oMath>
                </a14:m>
                <a:r>
                  <a:rPr lang="en-US" sz="3600" noProof="1">
                    <a:solidFill>
                      <a:srgbClr val="000000"/>
                    </a:solidFill>
                    <a:latin typeface="Times New Roman" panose="02020603050405020304"/>
                    <a:ea typeface="宋体" panose="02010600030101010101" pitchFamily="2" charset="-122"/>
                  </a:rPr>
                  <a:t> 倍），则可将消息表示为分组长为512bit的一系列分组</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𝑌</m:t>
                        </m:r>
                      </m:e>
                      <m:sub>
                        <m:r>
                          <a:rPr lang="en-US" sz="3600" i="0" noProof="1">
                            <a:solidFill>
                              <a:srgbClr val="000000"/>
                            </a:solidFill>
                            <a:latin typeface="Times New Roman" panose="02020603050405020304"/>
                          </a:rPr>
                          <m:t>0</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𝑌</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𝑌</m:t>
                        </m:r>
                      </m:e>
                      <m:sub>
                        <m:r>
                          <a:rPr lang="en-US" sz="3600" i="1" noProof="1">
                            <a:solidFill>
                              <a:srgbClr val="000000"/>
                            </a:solidFill>
                            <a:latin typeface="Times New Roman" panose="02020603050405020304"/>
                          </a:rPr>
                          <m:t>𝐿</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，而每一组又可以表示为16个32bit长的字，这样消息中的总字数为</a:t>
                </a:r>
                <a14:m>
                  <m:oMath xmlns:m="http://schemas.openxmlformats.org/officeDocument/2006/math">
                    <m:r>
                      <a:rPr lang="en-US" sz="3600" i="1" noProof="1">
                        <a:solidFill>
                          <a:srgbClr val="000000"/>
                        </a:solidFill>
                        <a:latin typeface="Times New Roman" panose="02020603050405020304"/>
                      </a:rPr>
                      <m:t>𝑁</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𝐿</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16</m:t>
                    </m:r>
                  </m:oMath>
                </a14:m>
                <a:r>
                  <a:rPr lang="en-US" sz="3600" noProof="1">
                    <a:solidFill>
                      <a:srgbClr val="000000"/>
                    </a:solidFill>
                    <a:latin typeface="Times New Roman" panose="02020603050405020304"/>
                    <a:ea typeface="宋体" panose="02010600030101010101" pitchFamily="2" charset="-122"/>
                  </a:rPr>
                  <a:t>，因此消息又可按字表示为</a:t>
                </a:r>
                <a14:m>
                  <m:oMath xmlns:m="http://schemas.openxmlformats.org/officeDocument/2006/math">
                    <m:r>
                      <a:rPr lang="en-US" sz="3600" i="1" noProof="1">
                        <a:solidFill>
                          <a:srgbClr val="000000"/>
                        </a:solidFill>
                        <a:latin typeface="Times New Roman" panose="02020603050405020304"/>
                      </a:rPr>
                      <m:t>𝑀</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𝑁</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2" name="body-p10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8" name="Group 2"/>
          <p:cNvGrpSpPr/>
          <p:nvPr/>
        </p:nvGrpSpPr>
        <p:grpSpPr>
          <a:xfrm>
            <a:off x="412090" y="1028700"/>
            <a:ext cx="7800783" cy="275915"/>
            <a:chOff x="0" y="0"/>
            <a:chExt cx="2054527" cy="72669"/>
          </a:xfrm>
        </p:grpSpPr>
        <p:sp>
          <p:nvSpPr>
            <p:cNvPr id="9"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7"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8" name="TextBox 30"/>
          <p:cNvSpPr txBox="1"/>
          <p:nvPr>
            <p:custDataLst>
              <p:tags r:id="rId7"/>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9" name="组合 18"/>
          <p:cNvGrpSpPr/>
          <p:nvPr/>
        </p:nvGrpSpPr>
        <p:grpSpPr>
          <a:xfrm>
            <a:off x="13639786" y="733421"/>
            <a:ext cx="3700052" cy="416951"/>
            <a:chOff x="13811849" y="507954"/>
            <a:chExt cx="3700052" cy="416951"/>
          </a:xfrm>
        </p:grpSpPr>
        <p:sp>
          <p:nvSpPr>
            <p:cNvPr id="21" name="文本框 20"/>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22" name="图片 21"/>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1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对MD缓冲区初始化。算法使用128bit的缓冲区以存储中间结果和最终杂凑值，缓冲区可表示为4个32bit的寄存器（A，B，C，D），每个寄存器都以Little-Endian方式存储数据，其初值为（以存储方式）A=01234567，B=89ABCDEF，C=FEDCBA98，D=76543210，实际为67452301，EFCDAB89，98BADCFE，10325476。</a:t>
            </a: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3"/>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6"/>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（4）以分组为单位对消息进行处理。每一分组</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q</m:t>
                        </m:r>
                      </m:sub>
                    </m:sSub>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q</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L</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都经过压缩函数</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H</m:t>
                        </m:r>
                      </m:e>
                      <m:sub>
                        <m:r>
                          <m:rPr>
                            <m:sty m:val="p"/>
                          </m:rPr>
                          <a:rPr lang="en-US" sz="3600" noProof="1">
                            <a:solidFill>
                              <a:srgbClr val="000000"/>
                            </a:solidFill>
                            <a:latin typeface="Times New Roman" panose="02020603050405020304"/>
                          </a:rPr>
                          <m:t>MD</m:t>
                        </m:r>
                        <m:r>
                          <a:rPr lang="en-US" sz="3600" noProof="1">
                            <a:solidFill>
                              <a:srgbClr val="000000"/>
                            </a:solidFill>
                            <a:latin typeface="Times New Roman" panose="02020603050405020304"/>
                          </a:rPr>
                          <m:t>5</m:t>
                        </m:r>
                      </m:sub>
                    </m:sSub>
                  </m:oMath>
                </a14:m>
                <a:r>
                  <a:rPr lang="en-US" sz="3600" noProof="1">
                    <a:solidFill>
                      <a:srgbClr val="000000"/>
                    </a:solidFill>
                    <a:latin typeface="Times New Roman" panose="02020603050405020304"/>
                    <a:ea typeface="宋体" panose="02010600030101010101" pitchFamily="2" charset="-122"/>
                  </a:rPr>
                  <a:t>处理。</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H</m:t>
                        </m:r>
                      </m:e>
                      <m:sub>
                        <m:r>
                          <m:rPr>
                            <m:sty m:val="p"/>
                          </m:rPr>
                          <a:rPr lang="en-US" sz="3600" noProof="1">
                            <a:solidFill>
                              <a:srgbClr val="000000"/>
                            </a:solidFill>
                            <a:latin typeface="Times New Roman" panose="02020603050405020304"/>
                          </a:rPr>
                          <m:t>MD</m:t>
                        </m:r>
                        <m:r>
                          <a:rPr lang="en-US" sz="3600" noProof="1">
                            <a:solidFill>
                              <a:srgbClr val="000000"/>
                            </a:solidFill>
                            <a:latin typeface="Times New Roman" panose="02020603050405020304"/>
                          </a:rPr>
                          <m:t>5</m:t>
                        </m:r>
                      </m:sub>
                    </m:sSub>
                  </m:oMath>
                </a14:m>
                <a:r>
                  <a:rPr lang="en-US" sz="3600" noProof="1">
                    <a:solidFill>
                      <a:srgbClr val="000000"/>
                    </a:solidFill>
                    <a:latin typeface="Times New Roman" panose="02020603050405020304"/>
                    <a:ea typeface="宋体" panose="02010600030101010101" pitchFamily="2" charset="-122"/>
                  </a:rPr>
                  <a:t>是算法的核心，其中又有4轮处理过程，MD5杂凑算法分组处理过程如图11.3所示。</a:t>
                </a:r>
                <a:endParaRPr lang="en-US" sz="3600" noProof="1"/>
              </a:p>
            </p:txBody>
          </p:sp>
        </mc:Choice>
        <mc:Fallback>
          <p:sp>
            <p:nvSpPr>
              <p:cNvPr id="2" name="body-p11"/>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pic>
        <p:nvPicPr>
          <p:cNvPr id="3" name="img-p11"/>
          <p:cNvPicPr/>
          <p:nvPr/>
        </p:nvPicPr>
        <p:blipFill>
          <a:blip r:embed="rId2"/>
          <a:stretch>
            <a:fillRect/>
          </a:stretch>
        </p:blipFill>
        <p:spPr>
          <a:xfrm>
            <a:off x="6666230" y="4306570"/>
            <a:ext cx="4935220" cy="4646930"/>
          </a:xfrm>
          <a:prstGeom prst="rect">
            <a:avLst/>
          </a:prstGeom>
          <a:ln>
            <a:noFill/>
          </a:ln>
        </p:spPr>
      </p:pic>
      <p:sp>
        <p:nvSpPr>
          <p:cNvPr id="4" name="imgcap-p11"/>
          <p:cNvSpPr txBox="1"/>
          <p:nvPr/>
        </p:nvSpPr>
        <p:spPr>
          <a:xfrm>
            <a:off x="1724660" y="9194165"/>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图11.3　MD5杂凑算法分组处理过程</a:t>
            </a:r>
            <a:endParaRPr lang="en-US" sz="1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3"/>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4"/>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5"/>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8"/>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2"/>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H</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MD</m:t>
                        </m:r>
                        <m:r>
                          <a:rPr lang="en-US" sz="3600" noProof="1">
                            <a:solidFill>
                              <a:srgbClr val="000000"/>
                            </a:solidFill>
                            <a:latin typeface="Cambria Math" panose="02040503050406030204" charset="0"/>
                            <a:ea typeface="MS Mincho" charset="0"/>
                            <a:cs typeface="Cambria Math" panose="02040503050406030204" charset="0"/>
                          </a:rPr>
                          <m:t>5</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的4轮处理过程结构相同，但所用的逻辑函数不同，分别表示为F、G、H、I。每轮输入为当前处理的消息分组</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Y</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q</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和缓冲区的当前值A、B、C、D，输出仍放在缓冲区中以产生新的A、B、C、D。每轮处理过程还需要加上常数表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中四分之一个元素，分别为</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d>
                      <m:dPr>
                        <m:begChr m:val="["/>
                        <m:endChr m:val="]"/>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dPr>
                      <m:e>
                        <m:r>
                          <a:rPr lang="en-US" sz="3600" noProof="1">
                            <a:solidFill>
                              <a:srgbClr val="000000"/>
                            </a:solidFill>
                            <a:latin typeface="Cambria Math" panose="02040503050406030204" charset="0"/>
                            <a:ea typeface="MS Mincho" charset="0"/>
                            <a:cs typeface="Cambria Math" panose="02040503050406030204" charset="0"/>
                          </a:rPr>
                          <m:t>1</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16</m:t>
                        </m:r>
                      </m:e>
                    </m:d>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，T［17，...，32］，T［33，...，48］，T［49，...，64］。表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中有64个元素，第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个元素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为</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noProof="1">
                            <a:solidFill>
                              <a:srgbClr val="000000"/>
                            </a:solidFill>
                            <a:latin typeface="Cambria Math" panose="02040503050406030204" charset="0"/>
                            <a:ea typeface="MS Mincho" charset="0"/>
                            <a:cs typeface="Cambria Math" panose="02040503050406030204" charset="0"/>
                          </a:rPr>
                          <m:t>2</m:t>
                        </m:r>
                      </m:e>
                      <m:sup>
                        <m:r>
                          <a:rPr lang="en-US" sz="3600" noProof="1">
                            <a:solidFill>
                              <a:srgbClr val="000000"/>
                            </a:solidFill>
                            <a:latin typeface="Cambria Math" panose="02040503050406030204" charset="0"/>
                            <a:ea typeface="MS Mincho" charset="0"/>
                            <a:cs typeface="Cambria Math" panose="02040503050406030204" charset="0"/>
                          </a:rPr>
                          <m:t>32</m:t>
                        </m:r>
                      </m:sup>
                    </m:sSup>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abs</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sin</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的整数部分，其中sin为正弦函数，</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以弧度为单位，abs(sin(</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）大于0小于1，因此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可以由32bit的字表示。</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第4轮的输出再与第1轮的输入</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q</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相加，相加时将</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V</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q</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看作4个32bit的字，每个字与第4轮输出的对应的字按模</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noProof="1">
                            <a:solidFill>
                              <a:srgbClr val="000000"/>
                            </a:solidFill>
                            <a:latin typeface="Cambria Math" panose="02040503050406030204" charset="0"/>
                            <a:ea typeface="MS Mincho" charset="0"/>
                            <a:cs typeface="Cambria Math" panose="02040503050406030204" charset="0"/>
                          </a:rPr>
                          <m:t>2</m:t>
                        </m:r>
                      </m:e>
                      <m:sup>
                        <m:r>
                          <a:rPr lang="en-US" sz="3600" noProof="1">
                            <a:solidFill>
                              <a:srgbClr val="000000"/>
                            </a:solidFill>
                            <a:latin typeface="Cambria Math" panose="02040503050406030204" charset="0"/>
                            <a:ea typeface="MS Mincho" charset="0"/>
                            <a:cs typeface="Cambria Math" panose="02040503050406030204" charset="0"/>
                          </a:rPr>
                          <m:t>32</m:t>
                        </m:r>
                      </m:sup>
                    </m:sSup>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相加，相加的结果即</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H</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MD</m:t>
                        </m:r>
                        <m:r>
                          <a:rPr lang="en-US" sz="3600" noProof="1">
                            <a:solidFill>
                              <a:srgbClr val="000000"/>
                            </a:solidFill>
                            <a:latin typeface="Cambria Math" panose="02040503050406030204" charset="0"/>
                            <a:ea typeface="MS Mincho" charset="0"/>
                            <a:cs typeface="Cambria Math" panose="02040503050406030204" charset="0"/>
                          </a:rPr>
                          <m:t>5</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的输出。</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（5）输出。消息的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L</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个分组都被处理完后，最后一个</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H</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MD</m:t>
                        </m:r>
                        <m:r>
                          <a:rPr lang="en-US" sz="3600" noProof="1">
                            <a:solidFill>
                              <a:srgbClr val="000000"/>
                            </a:solidFill>
                            <a:latin typeface="Cambria Math" panose="02040503050406030204" charset="0"/>
                            <a:ea typeface="MS Mincho" charset="0"/>
                            <a:cs typeface="Cambria Math" panose="02040503050406030204" charset="0"/>
                          </a:rPr>
                          <m:t>5</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的输出即产生的消息摘要。</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12"/>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1474" b="-6815"/>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3"/>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步骤（3）～（5）的处理过程可总结为式（11.1）。</a:t>
                </a:r>
                <a:endParaRPr lang="en-US" sz="3600" noProof="1"/>
              </a:p>
              <a:p>
                <a:pPr indent="457200" algn="ctr" fontAlgn="auto">
                  <a:lnSpc>
                    <a:spcPct val="120000"/>
                  </a:lnSpc>
                </a:pPr>
                <a14:m>
                  <m:oMath xmlns:m="http://schemas.openxmlformats.org/officeDocument/2006/math">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a:rPr lang="en-US" sz="3600" noProof="1">
                            <a:solidFill>
                              <a:srgbClr val="000000"/>
                            </a:solidFill>
                            <a:latin typeface="Times New Roman" panose="02020603050405020304"/>
                          </a:rPr>
                          <m:t>0</m:t>
                        </m:r>
                      </m:sub>
                    </m:sSub>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IV</m:t>
                    </m:r>
                  </m:oMath>
                </a14:m>
                <a:r>
                  <a:rPr lang="en-US" sz="3600" noProof="1">
                    <a:solidFill>
                      <a:srgbClr val="000000"/>
                    </a:solidFill>
                    <a:latin typeface="Times New Roman" panose="02020603050405020304"/>
                    <a:ea typeface="宋体" panose="02010600030101010101" pitchFamily="2" charset="-122"/>
                  </a:rPr>
                  <a:t>　　</a:t>
                </a:r>
                <a14:m>
                  <m:oMath xmlns:m="http://schemas.openxmlformats.org/officeDocument/2006/math">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m:rPr>
                            <m:sty m:val="p"/>
                          </m:rPr>
                          <a:rPr lang="en-US" sz="3600" noProof="1">
                            <a:solidFill>
                              <a:srgbClr val="000000"/>
                            </a:solidFill>
                            <a:latin typeface="Times New Roman" panose="02020603050405020304"/>
                          </a:rPr>
                          <m:t>q</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sub>
                    </m:sSub>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m:rPr>
                            <m:sty m:val="p"/>
                          </m:rPr>
                          <a:rPr lang="en-US" sz="3600" noProof="1">
                            <a:solidFill>
                              <a:srgbClr val="000000"/>
                            </a:solidFill>
                            <a:latin typeface="Times New Roman" panose="02020603050405020304"/>
                          </a:rPr>
                          <m:t>q</m:t>
                        </m:r>
                      </m:sub>
                    </m:sSub>
                    <m:r>
                      <a:rPr lang="en-US" sz="360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RF</m:t>
                        </m:r>
                      </m:e>
                      <m:sub>
                        <m:r>
                          <m:rPr>
                            <m:sty m:val="p"/>
                          </m:rPr>
                          <a:rPr lang="en-US" sz="3600" noProof="1">
                            <a:solidFill>
                              <a:srgbClr val="000000"/>
                            </a:solidFill>
                            <a:latin typeface="Times New Roman" panose="02020603050405020304"/>
                          </a:rPr>
                          <m:t>I</m:t>
                        </m:r>
                      </m:sub>
                    </m:sSub>
                    <m:d>
                      <m:dPr>
                        <m:begChr m:val="["/>
                        <m:endChr m:val="]"/>
                        <m:ctrlPr>
                          <a:rPr lang="en-US" sz="3600" noProof="1">
                            <a:solidFill>
                              <a:srgbClr val="000000"/>
                            </a:solidFill>
                            <a:latin typeface="Times New Roman" panose="02020603050405020304"/>
                          </a:rPr>
                        </m:ctrlPr>
                      </m:dPr>
                      <m:e>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q</m:t>
                            </m:r>
                          </m:sub>
                        </m:sSub>
                        <m:r>
                          <a:rPr lang="en-US" sz="3600" noProof="1">
                            <a:solidFill>
                              <a:srgbClr val="000000"/>
                            </a:solidFill>
                            <a:latin typeface="Times New Roman" panose="02020603050405020304"/>
                          </a:rPr>
                          <m:t> , </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RF</m:t>
                            </m:r>
                          </m:e>
                          <m:sub>
                            <m:r>
                              <m:rPr>
                                <m:sty m:val="p"/>
                              </m:rPr>
                              <a:rPr lang="en-US" sz="3600" noProof="1">
                                <a:solidFill>
                                  <a:srgbClr val="000000"/>
                                </a:solidFill>
                                <a:latin typeface="Times New Roman" panose="02020603050405020304"/>
                              </a:rPr>
                              <m:t>H</m:t>
                            </m:r>
                          </m:sub>
                        </m:sSub>
                        <m:d>
                          <m:dPr>
                            <m:begChr m:val="["/>
                            <m:endChr m:val="]"/>
                            <m:ctrlPr>
                              <a:rPr lang="en-US" sz="3600" noProof="1">
                                <a:solidFill>
                                  <a:srgbClr val="000000"/>
                                </a:solidFill>
                                <a:latin typeface="Times New Roman" panose="02020603050405020304"/>
                              </a:rPr>
                            </m:ctrlPr>
                          </m:dPr>
                          <m:e>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q</m:t>
                                </m:r>
                              </m:sub>
                            </m:sSub>
                            <m:r>
                              <a:rPr lang="en-US" sz="3600" noProof="1">
                                <a:solidFill>
                                  <a:srgbClr val="000000"/>
                                </a:solidFill>
                                <a:latin typeface="Times New Roman" panose="02020603050405020304"/>
                              </a:rPr>
                              <m:t> , </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RF</m:t>
                                </m:r>
                              </m:e>
                              <m:sub>
                                <m:r>
                                  <m:rPr>
                                    <m:sty m:val="p"/>
                                  </m:rPr>
                                  <a:rPr lang="en-US" sz="3600" noProof="1">
                                    <a:solidFill>
                                      <a:srgbClr val="000000"/>
                                    </a:solidFill>
                                    <a:latin typeface="Times New Roman" panose="02020603050405020304"/>
                                  </a:rPr>
                                  <m:t>G</m:t>
                                </m:r>
                              </m:sub>
                            </m:sSub>
                            <m:d>
                              <m:dPr>
                                <m:begChr m:val="["/>
                                <m:endChr m:val="]"/>
                                <m:ctrlPr>
                                  <a:rPr lang="en-US" sz="3600" noProof="1">
                                    <a:solidFill>
                                      <a:srgbClr val="000000"/>
                                    </a:solidFill>
                                    <a:latin typeface="Times New Roman" panose="02020603050405020304"/>
                                  </a:rPr>
                                </m:ctrlPr>
                              </m:dPr>
                              <m:e>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q</m:t>
                                    </m:r>
                                  </m:sub>
                                </m:sSub>
                                <m:r>
                                  <a:rPr lang="en-US" sz="3600" noProof="1">
                                    <a:solidFill>
                                      <a:srgbClr val="000000"/>
                                    </a:solidFill>
                                    <a:latin typeface="Times New Roman" panose="02020603050405020304"/>
                                  </a:rPr>
                                  <m:t> , </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RF</m:t>
                                    </m:r>
                                  </m:e>
                                  <m:sub>
                                    <m:r>
                                      <m:rPr>
                                        <m:sty m:val="p"/>
                                      </m:rPr>
                                      <a:rPr lang="en-US" sz="3600" noProof="1">
                                        <a:solidFill>
                                          <a:srgbClr val="000000"/>
                                        </a:solidFill>
                                        <a:latin typeface="Times New Roman" panose="02020603050405020304"/>
                                      </a:rPr>
                                      <m:t>F</m:t>
                                    </m:r>
                                  </m:sub>
                                </m:sSub>
                                <m:d>
                                  <m:dPr>
                                    <m:begChr m:val="["/>
                                    <m:endChr m:val="]"/>
                                    <m:ctrlPr>
                                      <a:rPr lang="en-US" sz="3600" noProof="1">
                                        <a:solidFill>
                                          <a:srgbClr val="000000"/>
                                        </a:solidFill>
                                        <a:latin typeface="Times New Roman" panose="02020603050405020304"/>
                                      </a:rPr>
                                    </m:ctrlPr>
                                  </m:dPr>
                                  <m:e>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q</m:t>
                                        </m:r>
                                      </m:sub>
                                    </m:sSub>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m:rPr>
                                            <m:sty m:val="p"/>
                                          </m:rPr>
                                          <a:rPr lang="en-US" sz="3600" noProof="1">
                                            <a:solidFill>
                                              <a:srgbClr val="000000"/>
                                            </a:solidFill>
                                            <a:latin typeface="Times New Roman" panose="02020603050405020304"/>
                                          </a:rPr>
                                          <m:t>q</m:t>
                                        </m:r>
                                      </m:sub>
                                    </m:sSub>
                                  </m:e>
                                </m:d>
                              </m:e>
                            </m:d>
                          </m:e>
                        </m:d>
                      </m:e>
                    </m:d>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（11.1）　</a:t>
                </a:r>
                <a14:m>
                  <m:oMath xmlns:m="http://schemas.openxmlformats.org/officeDocument/2006/math">
                    <m:r>
                      <m:rPr>
                        <m:sty m:val="p"/>
                      </m:rPr>
                      <a:rPr lang="en-US" sz="3600" noProof="1">
                        <a:solidFill>
                          <a:srgbClr val="000000"/>
                        </a:solidFill>
                        <a:latin typeface="Times New Roman" panose="02020603050405020304"/>
                      </a:rPr>
                      <m:t>MD</m:t>
                    </m:r>
                    <m:r>
                      <a:rPr lang="en-US" sz="3600" noProof="1">
                        <a:solidFill>
                          <a:srgbClr val="000000"/>
                        </a:solidFill>
                        <a:latin typeface="Times New Roman" panose="02020603050405020304"/>
                      </a:rPr>
                      <m:t>5</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m:rPr>
                            <m:sty m:val="p"/>
                          </m:rPr>
                          <a:rPr lang="en-US" sz="3600" noProof="1">
                            <a:solidFill>
                              <a:srgbClr val="000000"/>
                            </a:solidFill>
                            <a:latin typeface="Times New Roman" panose="02020603050405020304"/>
                          </a:rPr>
                          <m:t>L</m:t>
                        </m:r>
                      </m:sub>
                    </m:sSub>
                  </m:oMath>
                </a14:m>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其中，IV为步骤（3）所取的缓冲区A、B、C、D的初始变量；</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Y</m:t>
                        </m:r>
                      </m:e>
                      <m:sub>
                        <m:r>
                          <m:rPr>
                            <m:sty m:val="p"/>
                          </m:rPr>
                          <a:rPr lang="en-US" sz="3600" noProof="1">
                            <a:solidFill>
                              <a:srgbClr val="000000"/>
                            </a:solidFill>
                            <a:latin typeface="Times New Roman" panose="02020603050405020304"/>
                          </a:rPr>
                          <m:t>q</m:t>
                        </m:r>
                      </m:sub>
                    </m:sSub>
                  </m:oMath>
                </a14:m>
                <a:r>
                  <a:rPr lang="en-US" sz="3600" noProof="1">
                    <a:solidFill>
                      <a:srgbClr val="000000"/>
                    </a:solidFill>
                    <a:latin typeface="Times New Roman" panose="02020603050405020304"/>
                    <a:ea typeface="宋体" panose="02010600030101010101" pitchFamily="2" charset="-122"/>
                  </a:rPr>
                  <a:t>为消息的第 </a:t>
                </a:r>
                <a14:m>
                  <m:oMath xmlns:m="http://schemas.openxmlformats.org/officeDocument/2006/math">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 个512bit的分组；</a:t>
                </a:r>
                <a14:m>
                  <m:oMath xmlns:m="http://schemas.openxmlformats.org/officeDocument/2006/math">
                    <m:r>
                      <m:rPr>
                        <m:sty m:val="p"/>
                      </m:rPr>
                      <a:rPr lang="en-US" sz="3600" noProof="1">
                        <a:solidFill>
                          <a:srgbClr val="000000"/>
                        </a:solidFill>
                        <a:latin typeface="Times New Roman" panose="02020603050405020304"/>
                      </a:rPr>
                      <m:t>L</m:t>
                    </m:r>
                  </m:oMath>
                </a14:m>
                <a:r>
                  <a:rPr lang="en-US" sz="3600" noProof="1">
                    <a:solidFill>
                      <a:srgbClr val="000000"/>
                    </a:solidFill>
                    <a:latin typeface="Times New Roman" panose="02020603050405020304"/>
                    <a:ea typeface="宋体" panose="02010600030101010101" pitchFamily="2" charset="-122"/>
                  </a:rPr>
                  <a:t> 为消息经过步骤（1）和步骤（2）处理后的分组数；</a:t>
                </a:r>
                <a14:m>
                  <m:oMath xmlns:m="http://schemas.openxmlformats.org/officeDocument/2006/math">
                    <m:r>
                      <m:rPr>
                        <m:sty m:val="p"/>
                      </m:rPr>
                      <a:rPr lang="en-US" sz="3600" noProof="1">
                        <a:solidFill>
                          <a:srgbClr val="000000"/>
                        </a:solidFill>
                        <a:latin typeface="Times New Roman" panose="02020603050405020304"/>
                      </a:rPr>
                      <m:t>C</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V</m:t>
                        </m:r>
                      </m:e>
                      <m:sub>
                        <m:r>
                          <m:rPr>
                            <m:sty m:val="p"/>
                          </m:rPr>
                          <a:rPr lang="en-US" sz="3600" noProof="1">
                            <a:solidFill>
                              <a:srgbClr val="000000"/>
                            </a:solidFill>
                            <a:latin typeface="Times New Roman" panose="02020603050405020304"/>
                          </a:rPr>
                          <m:t>q</m:t>
                        </m:r>
                      </m:sub>
                    </m:sSub>
                  </m:oMath>
                </a14:m>
                <a:r>
                  <a:rPr lang="en-US" sz="3600" noProof="1">
                    <a:solidFill>
                      <a:srgbClr val="000000"/>
                    </a:solidFill>
                    <a:latin typeface="Times New Roman" panose="02020603050405020304"/>
                    <a:ea typeface="宋体" panose="02010600030101010101" pitchFamily="2" charset="-122"/>
                  </a:rPr>
                  <a:t>为处理消息的第 </a:t>
                </a:r>
                <a14:m>
                  <m:oMath xmlns:m="http://schemas.openxmlformats.org/officeDocument/2006/math">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 个分组时输入的链接变量（前一个压缩函数的输出）；</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RF</m:t>
                        </m:r>
                      </m:e>
                      <m:sub>
                        <m:r>
                          <m:rPr>
                            <m:sty m:val="p"/>
                          </m:rPr>
                          <a:rPr lang="en-US" sz="3600" noProof="1">
                            <a:solidFill>
                              <a:srgbClr val="000000"/>
                            </a:solidFill>
                            <a:latin typeface="Times New Roman" panose="02020603050405020304"/>
                          </a:rPr>
                          <m:t>X</m:t>
                        </m:r>
                      </m:sub>
                    </m:sSub>
                  </m:oMath>
                </a14:m>
                <a:r>
                  <a:rPr lang="en-US" sz="3600" noProof="1">
                    <a:solidFill>
                      <a:srgbClr val="000000"/>
                    </a:solidFill>
                    <a:latin typeface="Times New Roman" panose="02020603050405020304"/>
                    <a:ea typeface="宋体" panose="02010600030101010101" pitchFamily="2" charset="-122"/>
                  </a:rPr>
                  <a:t>为使用基本逻辑函数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的轮函数；+为对应字的模</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a:rPr lang="en-US" sz="3600" noProof="1">
                            <a:solidFill>
                              <a:srgbClr val="000000"/>
                            </a:solidFill>
                            <a:latin typeface="Times New Roman" panose="02020603050405020304"/>
                          </a:rPr>
                          <m:t>32</m:t>
                        </m:r>
                      </m:sup>
                    </m:sSup>
                  </m:oMath>
                </a14:m>
                <a:r>
                  <a:rPr lang="en-US" sz="3600" noProof="1">
                    <a:solidFill>
                      <a:srgbClr val="000000"/>
                    </a:solidFill>
                    <a:latin typeface="Times New Roman" panose="02020603050405020304"/>
                    <a:ea typeface="宋体" panose="02010600030101010101" pitchFamily="2" charset="-122"/>
                  </a:rPr>
                  <a:t>加法；MD5为最终杂凑值。</a:t>
                </a:r>
                <a:endParaRPr lang="en-US" sz="3600" noProof="1"/>
              </a:p>
            </p:txBody>
          </p:sp>
        </mc:Choice>
        <mc:Fallback>
          <p:sp>
            <p:nvSpPr>
              <p:cNvPr id="2" name="body-p13"/>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261366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算法</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压缩函数</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H</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MD</m:t>
                        </m:r>
                        <m:r>
                          <a:rPr lang="en-US" sz="3600" noProof="1">
                            <a:solidFill>
                              <a:srgbClr val="000000"/>
                            </a:solidFill>
                            <a:latin typeface="Cambria Math" panose="02040503050406030204" charset="0"/>
                            <a:ea typeface="MS Mincho" charset="0"/>
                            <a:cs typeface="Cambria Math" panose="02040503050406030204" charset="0"/>
                          </a:rPr>
                          <m:t>5</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中有4轮处理过程，每轮又对缓冲区A、B、C、D进行16步迭代运算。MD5杂凑算法的压缩函数一步迭代如图11.4所示，其迭代公式如式（11.2）所示。</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ctr" fontAlgn="auto">
                  <a:lnSpc>
                    <a:spcPct val="120000"/>
                  </a:lnSpc>
                </a:pP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a</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b</m:t>
                    </m:r>
                    <m:r>
                      <a:rPr lang="en-US" sz="360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CLS</m:t>
                        </m:r>
                      </m:e>
                      <m:sub>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s</m:t>
                        </m:r>
                      </m:sub>
                    </m:sSub>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a</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g</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b</m:t>
                    </m:r>
                    <m:r>
                      <a:rPr lang="en-US" sz="3600" noProof="1">
                        <a:solidFill>
                          <a:srgbClr val="000000"/>
                        </a:solidFill>
                        <a:latin typeface="Cambria Math" panose="02040503050406030204" charset="0"/>
                        <a:ea typeface="MS Mincho" charset="0"/>
                        <a:cs typeface="Cambria Math" panose="02040503050406030204" charset="0"/>
                      </a:rPr>
                      <m:t> , </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r>
                      <a:rPr lang="en-US" sz="3600" noProof="1">
                        <a:solidFill>
                          <a:srgbClr val="000000"/>
                        </a:solidFill>
                        <a:latin typeface="Cambria Math" panose="02040503050406030204" charset="0"/>
                        <a:ea typeface="MS Mincho" charset="0"/>
                        <a:cs typeface="Cambria Math" panose="02040503050406030204" charset="0"/>
                      </a:rPr>
                      <m:t> , </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d</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x</m:t>
                    </m:r>
                    <m:d>
                      <m:dPr>
                        <m:begChr m:val="["/>
                        <m:endChr m:val="]"/>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d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k</m:t>
                        </m:r>
                      </m:e>
                    </m:d>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d>
                      <m:dPr>
                        <m:begChr m:val="["/>
                        <m:endChr m:val="]"/>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d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i</m:t>
                        </m:r>
                      </m:e>
                    </m:d>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（11.2）</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14"/>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pic>
        <p:nvPicPr>
          <p:cNvPr id="3" name="img-p14"/>
          <p:cNvPicPr/>
          <p:nvPr/>
        </p:nvPicPr>
        <p:blipFill>
          <a:blip r:embed="rId2"/>
          <a:stretch>
            <a:fillRect/>
          </a:stretch>
        </p:blipFill>
        <p:spPr>
          <a:xfrm>
            <a:off x="6516370" y="4878705"/>
            <a:ext cx="4798695" cy="4257675"/>
          </a:xfrm>
          <a:prstGeom prst="rect">
            <a:avLst/>
          </a:prstGeom>
          <a:ln>
            <a:noFill/>
          </a:ln>
        </p:spPr>
      </p:pic>
      <p:sp>
        <p:nvSpPr>
          <p:cNvPr id="4" name="imgcap-p14"/>
          <p:cNvSpPr txBox="1"/>
          <p:nvPr/>
        </p:nvSpPr>
        <p:spPr>
          <a:xfrm>
            <a:off x="1724660" y="945642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图11.4　MD5杂凑算法的压缩函数一步迭代</a:t>
            </a:r>
            <a:endParaRPr lang="en-US" sz="1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3"/>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4"/>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5"/>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8"/>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4"/>
              <p:cNvSpPr txBox="1"/>
              <p:nvPr/>
            </p:nvSpPr>
            <p:spPr>
              <a:xfrm>
                <a:off x="172593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a</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b</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c</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d</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为缓冲区的4个字，运算完成后再循环右移1个字，即得这一步迭代的输出；</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g</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是逻辑函数F、G、H、I之一；</a:t>
                </a:r>
                <a14:m>
                  <m:oMath xmlns:m="http://schemas.openxmlformats.org/officeDocument/2006/math">
                    <m:r>
                      <m:rPr>
                        <m:sty m:val="p"/>
                      </m:rPr>
                      <a:rPr lang="en-US" altLang="zh-CN" sz="3600" i="1" noProof="1">
                        <a:solidFill>
                          <a:srgbClr val="000000"/>
                        </a:solidFill>
                        <a:latin typeface="Cambria Math" panose="02040503050406030204" charset="0"/>
                        <a:ea typeface="宋体" panose="02010600030101010101" pitchFamily="2" charset="-122"/>
                        <a:cs typeface="Cambria Math" panose="02040503050406030204" charset="0"/>
                      </a:rPr>
                      <m:t>𝐶𝐿</m:t>
                    </m:r>
                    <m:sSub>
                      <m:sSubPr>
                        <m:ctrlPr>
                          <a:rPr lang="en-US" altLang="zh-CN" sz="3600" i="1" noProof="1">
                            <a:solidFill>
                              <a:srgbClr val="000000"/>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3600" i="1" noProof="1">
                            <a:solidFill>
                              <a:srgbClr val="000000"/>
                            </a:solidFill>
                            <a:latin typeface="Cambria Math" panose="02040503050406030204" charset="0"/>
                            <a:ea typeface="宋体" panose="02010600030101010101" pitchFamily="2" charset="-122"/>
                            <a:cs typeface="Cambria Math" panose="02040503050406030204" charset="0"/>
                          </a:rPr>
                          <m:t>𝑆</m:t>
                        </m:r>
                      </m:e>
                      <m:sub>
                        <m:r>
                          <m:rPr>
                            <m:sty m:val="p"/>
                          </m:rPr>
                          <a:rPr lang="en-US" altLang="zh-CN" sz="3600" i="1" noProof="1">
                            <a:solidFill>
                              <a:srgbClr val="000000"/>
                            </a:solidFill>
                            <a:latin typeface="Cambria Math" panose="02040503050406030204" charset="0"/>
                            <a:ea typeface="宋体" panose="02010600030101010101" pitchFamily="2" charset="-122"/>
                            <a:cs typeface="Cambria Math" panose="02040503050406030204" charset="0"/>
                          </a:rPr>
                          <m:t>𝑠</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是循环左移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s</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位。</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14"/>
              <p:cNvSpPr txBox="1">
                <a:spLocks noRot="1" noChangeAspect="1" noMove="1" noResize="1" noEditPoints="1" noAdjustHandles="1" noChangeArrowheads="1" noChangeShapeType="1" noTextEdit="1"/>
              </p:cNvSpPr>
              <p:nvPr/>
            </p:nvSpPr>
            <p:spPr>
              <a:xfrm>
                <a:off x="172593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5"/>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14:m>
                  <m:oMath xmlns:m="http://schemas.openxmlformats.org/officeDocument/2006/math">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与 </a:t>
                </a:r>
                <a14:m>
                  <m:oMath xmlns:m="http://schemas.openxmlformats.org/officeDocument/2006/math">
                    <m:r>
                      <m:rPr>
                        <m:sty m:val="p"/>
                      </m:rPr>
                      <a:rPr lang="en-US" sz="3600" noProof="1">
                        <a:solidFill>
                          <a:srgbClr val="000000"/>
                        </a:solidFill>
                        <a:latin typeface="Times New Roman" panose="02020603050405020304"/>
                      </a:rPr>
                      <m:t>s</m:t>
                    </m:r>
                  </m:oMath>
                </a14:m>
                <a:r>
                  <a:rPr lang="en-US" sz="3600" noProof="1">
                    <a:solidFill>
                      <a:srgbClr val="000000"/>
                    </a:solidFill>
                    <a:latin typeface="Times New Roman" panose="02020603050405020304"/>
                    <a:ea typeface="宋体" panose="02010600030101010101" pitchFamily="2" charset="-122"/>
                  </a:rPr>
                  <a:t> 的值参照表11.1～表11.4，+为模</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a:rPr lang="en-US" sz="3600" noProof="1">
                            <a:solidFill>
                              <a:srgbClr val="000000"/>
                            </a:solidFill>
                            <a:latin typeface="Times New Roman" panose="02020603050405020304"/>
                          </a:rPr>
                          <m:t>32</m:t>
                        </m:r>
                      </m:sup>
                    </m:sSup>
                  </m:oMath>
                </a14:m>
                <a:r>
                  <a:rPr lang="en-US" sz="3600" noProof="1">
                    <a:solidFill>
                      <a:srgbClr val="000000"/>
                    </a:solidFill>
                    <a:latin typeface="Times New Roman" panose="02020603050405020304"/>
                    <a:ea typeface="宋体" panose="02010600030101010101" pitchFamily="2" charset="-122"/>
                  </a:rPr>
                  <a:t>加法。</a:t>
                </a:r>
                <a14:m>
                  <m:oMath xmlns:m="http://schemas.openxmlformats.org/officeDocument/2006/math">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M</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q</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16</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k</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，即消息第 </a:t>
                </a:r>
                <a14:m>
                  <m:oMath xmlns:m="http://schemas.openxmlformats.org/officeDocument/2006/math">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 个分组中的第 </a:t>
                </a:r>
                <a14:m>
                  <m:oMath xmlns:m="http://schemas.openxmlformats.org/officeDocument/2006/math">
                    <m:r>
                      <m:rPr>
                        <m:sty m:val="p"/>
                      </m:rPr>
                      <a:rPr lang="en-US" sz="3600" noProof="1">
                        <a:solidFill>
                          <a:srgbClr val="000000"/>
                        </a:solidFill>
                        <a:latin typeface="Times New Roman" panose="02020603050405020304"/>
                      </a:rPr>
                      <m:t>k</m:t>
                    </m:r>
                  </m:oMath>
                </a14:m>
                <a:r>
                  <a:rPr lang="en-US" sz="3600" noProof="1">
                    <a:solidFill>
                      <a:srgbClr val="000000"/>
                    </a:solidFill>
                    <a:latin typeface="Times New Roman" panose="02020603050405020304"/>
                    <a:ea typeface="宋体" panose="02010600030101010101" pitchFamily="2" charset="-122"/>
                  </a:rPr>
                  <a:t> 个字（</a:t>
                </a:r>
                <a14:m>
                  <m:oMath xmlns:m="http://schemas.openxmlformats.org/officeDocument/2006/math">
                    <m:r>
                      <m:rPr>
                        <m:sty m:val="p"/>
                      </m:rPr>
                      <a:rPr lang="en-US" sz="3600" noProof="1">
                        <a:solidFill>
                          <a:srgbClr val="000000"/>
                        </a:solidFill>
                        <a:latin typeface="Times New Roman" panose="02020603050405020304"/>
                      </a:rPr>
                      <m:t>k</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16</m:t>
                    </m:r>
                  </m:oMath>
                </a14:m>
                <a:r>
                  <a:rPr lang="en-US" sz="3600" noProof="1">
                    <a:solidFill>
                      <a:srgbClr val="000000"/>
                    </a:solidFill>
                    <a:latin typeface="Times New Roman" panose="02020603050405020304"/>
                    <a:ea typeface="宋体" panose="02010600030101010101" pitchFamily="2" charset="-122"/>
                  </a:rPr>
                  <a:t>）。4轮处理过程中，每轮以不同的次序使用16个字，其中在第1轮以字的初始次序使用，第2轮至第4轮分别对字的次序 </a:t>
                </a:r>
                <a14:m>
                  <m:oMath xmlns:m="http://schemas.openxmlformats.org/officeDocument/2006/math">
                    <m:r>
                      <m:rPr>
                        <m:sty m:val="p"/>
                      </m:rPr>
                      <a:rPr lang="en-US" sz="3600" noProof="1">
                        <a:solidFill>
                          <a:srgbClr val="000000"/>
                        </a:solidFill>
                        <a:latin typeface="Times New Roman" panose="02020603050405020304"/>
                      </a:rPr>
                      <m:t>i</m:t>
                    </m:r>
                  </m:oMath>
                </a14:m>
                <a:r>
                  <a:rPr lang="en-US" sz="3600" noProof="1">
                    <a:solidFill>
                      <a:srgbClr val="000000"/>
                    </a:solidFill>
                    <a:latin typeface="Times New Roman" panose="02020603050405020304"/>
                    <a:ea typeface="宋体" panose="02010600030101010101" pitchFamily="2" charset="-122"/>
                  </a:rPr>
                  <a:t> 进行置换后得到一个新次序，然后以新次序使用16个字。3个置换如式（11.3）所示。</a:t>
                </a:r>
                <a:endParaRPr lang="en-US" sz="3600" noProof="1"/>
              </a:p>
              <a:p>
                <a:pPr indent="457200" algn="ctr" fontAlgn="auto">
                  <a:lnSpc>
                    <a:spcPct val="120000"/>
                  </a:lnSpc>
                </a:pPr>
                <a14:m>
                  <m:oMath xmlns:m="http://schemas.openxmlformats.org/officeDocument/2006/math">
                    <m:sSub>
                      <m:sSubPr>
                        <m:ctrlPr>
                          <a:rPr lang="en-US" sz="3600" noProof="1">
                            <a:solidFill>
                              <a:srgbClr val="000000"/>
                            </a:solidFill>
                            <a:latin typeface="Times New Roman" panose="02020603050405020304"/>
                          </a:rPr>
                        </m:ctrlPr>
                      </m:sSubPr>
                      <m:e>
                        <m:r>
                          <a:rPr lang="en-US" sz="3600" noProof="1">
                            <a:solidFill>
                              <a:srgbClr val="000000"/>
                            </a:solidFill>
                            <a:latin typeface="Times New Roman" panose="02020603050405020304"/>
                          </a:rPr>
                          <m:t>𝜌</m:t>
                        </m:r>
                      </m:e>
                      <m:sub>
                        <m:r>
                          <a:rPr lang="en-US" sz="3600" noProof="1">
                            <a:solidFill>
                              <a:srgbClr val="000000"/>
                            </a:solidFill>
                            <a:latin typeface="Times New Roman" panose="02020603050405020304"/>
                          </a:rPr>
                          <m:t>2</m:t>
                        </m:r>
                      </m:sub>
                    </m:sSub>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5</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a:rPr lang="en-US" sz="3600" noProof="1">
                        <a:solidFill>
                          <a:srgbClr val="000000"/>
                        </a:solidFill>
                        <a:latin typeface="Times New Roman" panose="02020603050405020304"/>
                      </a:rPr>
                      <m:t>16</m:t>
                    </m:r>
                    <m:r>
                      <a:rPr lang="en-US" sz="360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noProof="1">
                            <a:solidFill>
                              <a:srgbClr val="000000"/>
                            </a:solidFill>
                            <a:latin typeface="Times New Roman" panose="02020603050405020304"/>
                          </a:rPr>
                          <m:t>𝜌</m:t>
                        </m:r>
                      </m:e>
                      <m:sub>
                        <m:r>
                          <a:rPr lang="en-US" sz="3600" noProof="1">
                            <a:solidFill>
                              <a:srgbClr val="000000"/>
                            </a:solidFill>
                            <a:latin typeface="Times New Roman" panose="02020603050405020304"/>
                          </a:rPr>
                          <m:t>3</m:t>
                        </m:r>
                      </m:sub>
                    </m:sSub>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5</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3</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a:rPr lang="en-US" sz="3600" noProof="1">
                        <a:solidFill>
                          <a:srgbClr val="000000"/>
                        </a:solidFill>
                        <a:latin typeface="Times New Roman" panose="02020603050405020304"/>
                      </a:rPr>
                      <m:t>16</m:t>
                    </m:r>
                    <m:r>
                      <a:rPr lang="en-US" sz="360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noProof="1">
                            <a:solidFill>
                              <a:srgbClr val="000000"/>
                            </a:solidFill>
                            <a:latin typeface="Times New Roman" panose="02020603050405020304"/>
                          </a:rPr>
                          <m:t>𝜌</m:t>
                        </m:r>
                      </m:e>
                      <m:sub>
                        <m:r>
                          <a:rPr lang="en-US" sz="3600" noProof="1">
                            <a:solidFill>
                              <a:srgbClr val="000000"/>
                            </a:solidFill>
                            <a:latin typeface="Times New Roman" panose="02020603050405020304"/>
                          </a:rPr>
                          <m:t>4</m:t>
                        </m:r>
                      </m:sub>
                    </m:sSub>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7</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a:rPr lang="en-US" sz="3600" noProof="1">
                        <a:solidFill>
                          <a:srgbClr val="000000"/>
                        </a:solidFill>
                        <a:latin typeface="Times New Roman" panose="02020603050405020304"/>
                      </a:rPr>
                      <m:t>16</m:t>
                    </m:r>
                  </m:oMath>
                </a14:m>
                <a:r>
                  <a:rPr lang="en-US" sz="3600" noProof="1">
                    <a:solidFill>
                      <a:srgbClr val="000000"/>
                    </a:solidFill>
                    <a:latin typeface="Times New Roman" panose="02020603050405020304"/>
                    <a:ea typeface="宋体" panose="02010600030101010101" pitchFamily="2" charset="-122"/>
                  </a:rPr>
                  <a:t>　（11.3）</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4轮处理过程分别使用不同的逻辑函数F、G、H、I，每个逻辑函数的输入为3个32bit的字，输出是一个32bit的字，其中运算为逐比特的逻辑运算，即输出的第</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个比特是3个输入的第</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个比特的函数。设X、Y和Z是3个32bit的输入变量，输出是一个32bit的变量，则这4个逻辑函数定义为式（11.4）。</a:t>
                </a:r>
                <a:endParaRPr lang="en-US" sz="3600" noProof="1"/>
              </a:p>
            </p:txBody>
          </p:sp>
        </mc:Choice>
        <mc:Fallback>
          <p:sp>
            <p:nvSpPr>
              <p:cNvPr id="2" name="body-p15"/>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2644" b="-1157"/>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16"/>
              <p:cNvSpPr txBox="1"/>
              <p:nvPr/>
            </p:nvSpPr>
            <p:spPr>
              <a:xfrm>
                <a:off x="1724660" y="2095500"/>
                <a:ext cx="14818360" cy="6858000"/>
              </a:xfrm>
              <a:prstGeom prst="rect">
                <a:avLst/>
              </a:prstGeom>
              <a:noFill/>
              <a:ln>
                <a:noFill/>
              </a:ln>
            </p:spPr>
            <p:txBody>
              <a:bodyPr wrap="square" lIns="0" tIns="0" rIns="0" bIns="0" rtlCol="0" anchor="t"/>
              <a:lstStyle/>
              <a:p>
                <a:pPr indent="457200" algn="ctr" fontAlgn="auto">
                  <a:lnSpc>
                    <a:spcPct val="120000"/>
                  </a:lnSpc>
                </a:pP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G</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（11.4）</a:t>
                </a:r>
                <a:endParaRPr lang="en-US" sz="3600" noProof="1"/>
              </a:p>
              <a:p>
                <a:pPr indent="457200" algn="ctr" fontAlgn="auto">
                  <a:lnSpc>
                    <a:spcPct val="120000"/>
                  </a:lnSpc>
                </a:pP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oMath>
                </a14:m>
                <a:r>
                  <a:rPr lang="en-US" sz="3600" noProof="1"/>
                  <a:t> </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600" noProof="1">
                        <a:solidFill>
                          <a:srgbClr val="000000"/>
                        </a:solidFill>
                        <a:latin typeface="Times New Roman" panose="02020603050405020304"/>
                      </a:rPr>
                      <m:t>∧ ∨ ¬ ⊕</m:t>
                    </m:r>
                  </m:oMath>
                </a14:m>
                <a:r>
                  <a:rPr lang="en-US" sz="3600" noProof="1">
                    <a:solidFill>
                      <a:srgbClr val="000000"/>
                    </a:solidFill>
                    <a:latin typeface="Times New Roman" panose="02020603050405020304"/>
                    <a:ea typeface="宋体" panose="02010600030101010101" pitchFamily="2" charset="-122"/>
                  </a:rPr>
                  <a:t>分别表示与、或、非和异或逻辑运算。</a:t>
                </a:r>
                <a:endParaRPr lang="en-US" sz="3600" noProof="1"/>
              </a:p>
            </p:txBody>
          </p:sp>
        </mc:Choice>
        <mc:Fallback>
          <p:sp>
            <p:nvSpPr>
              <p:cNvPr id="2" name="body-p16"/>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l="-1543" r="-1538"/>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bcap-p17"/>
          <p:cNvSpPr txBox="1"/>
          <p:nvPr/>
        </p:nvSpPr>
        <p:spPr>
          <a:xfrm>
            <a:off x="1734820" y="2133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表11.1　F-轮参数表</a:t>
            </a:r>
            <a:endParaRPr lang="en-US" sz="1600" noProof="1"/>
          </a:p>
        </p:txBody>
      </p:sp>
      <mc:AlternateContent xmlns:mc="http://schemas.openxmlformats.org/markup-compatibility/2006">
        <mc:Choice xmlns:a14="http://schemas.microsoft.com/office/drawing/2010/main" Requires="a14">
          <p:graphicFrame>
            <p:nvGraphicFramePr>
              <p:cNvPr id="3" name="p17"/>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𝐹</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𝐹</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0xD76AA478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0x698098D8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0xE8C7B756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0x8B44F7AF</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0x242070DB</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0xFFFF5BB1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0xC1BDCEEE</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0x895CD7BE</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0xF57C0FAF</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0x6B901122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0x4787C62A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0xFD987193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7</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0xA8304613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0xA679438E</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8</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0xFD469501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0x49B40821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Choice>
        <mc:Fallback>
          <p:graphicFrame>
            <p:nvGraphicFramePr>
              <p:cNvPr id="3" name="p17"/>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2000">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0xD76AA478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0x698098D8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0xE8C7B756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0x8B44F7AF</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0x242070DB</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0xFFFF5BB1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0xC1BDCEEE</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0x895CD7BE</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0xF57C0FAF</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0x6B901122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0x4787C62A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0xFD987193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7</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0xA8304613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0xA679438E</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8</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0xFD469501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0x49B40821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bcap-p18"/>
          <p:cNvSpPr txBox="1"/>
          <p:nvPr/>
        </p:nvSpPr>
        <p:spPr>
          <a:xfrm>
            <a:off x="1734820" y="2133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表11.2　G-轮参数表</a:t>
            </a:r>
            <a:endParaRPr lang="en-US" sz="1600" noProof="1"/>
          </a:p>
        </p:txBody>
      </p:sp>
      <mc:AlternateContent xmlns:mc="http://schemas.openxmlformats.org/markup-compatibility/2006">
        <mc:Choice xmlns:a14="http://schemas.microsoft.com/office/drawing/2010/main" Requires="a14">
          <p:graphicFrame>
            <p:nvGraphicFramePr>
              <p:cNvPr id="3" name="p18"/>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𝐺</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𝐺</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0xF61E2562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0x21E1CDE6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0xC040B340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0xC33707d6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0x265E5A51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0xF4D50D87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0xE9B6C7AA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0x455A14ED</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0xD62F105D</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0xA9E3E905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0x02441453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0xFCEFA3F8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7</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0xD8A1E681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0x676F02D9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8</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0xE7D3FBC8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0x8D2A4C8A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Choice>
        <mc:Fallback>
          <p:graphicFrame>
            <p:nvGraphicFramePr>
              <p:cNvPr id="3" name="p18"/>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2000">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0xF61E2562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0x21E1CDE6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0xC040B340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0xC33707d6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0x265E5A51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0xF4D50D87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0xE9B6C7AA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0x455A14ED</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0xD62F105D</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0xA9E3E905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0x02441453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0xFCEFA3F8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7</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0xD8A1E681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0x676F02D9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8</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0xE7D3FBC8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0x8D2A4C8A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bcap-p19"/>
          <p:cNvSpPr txBox="1"/>
          <p:nvPr/>
        </p:nvSpPr>
        <p:spPr>
          <a:xfrm>
            <a:off x="1734820" y="2133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表11.3　H-轮参数表</a:t>
            </a:r>
            <a:endParaRPr lang="en-US" sz="1600" noProof="1"/>
          </a:p>
        </p:txBody>
      </p:sp>
      <mc:AlternateContent xmlns:mc="http://schemas.openxmlformats.org/markup-compatibility/2006">
        <mc:Choice xmlns:a14="http://schemas.microsoft.com/office/drawing/2010/main" Requires="a14">
          <p:graphicFrame>
            <p:nvGraphicFramePr>
              <p:cNvPr id="3" name="p19"/>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𝐻</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𝐻</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0xFFFA3942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0x289B7EC6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0x8771F681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0xEAA127FA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0x6D9D6122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0xD4EF3085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0xFDE5380C</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0x04881D05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0xA4BEEA44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0xD9D4D039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0x4BDECFA9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0xE6DB99E5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7</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0xF6BB4B60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0x1FA27CF8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8</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0xBEBFBC70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0xC4AC5665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Choice>
        <mc:Fallback>
          <p:graphicFrame>
            <p:nvGraphicFramePr>
              <p:cNvPr id="3" name="p19"/>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2000">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0xFFFA3942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0x289B7EC6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0x8771F681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0xEAA127FA</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0x6D9D6122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0xD4EF3085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0xFDE5380C</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0x04881D05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0xA4BEEA44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0xD9D4D039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0x4BDECFA9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0xE6DB99E5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7</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0xF6BB4B60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0x1FA27CF8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8</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0xBEBFBC70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0xC4AC5665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bcap-p20"/>
          <p:cNvSpPr txBox="1"/>
          <p:nvPr/>
        </p:nvSpPr>
        <p:spPr>
          <a:xfrm>
            <a:off x="1734820" y="2133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表11.4　I-轮参数表</a:t>
            </a:r>
            <a:endParaRPr lang="en-US" sz="1600" noProof="1"/>
          </a:p>
        </p:txBody>
      </p:sp>
      <mc:AlternateContent xmlns:mc="http://schemas.openxmlformats.org/markup-compatibility/2006">
        <mc:Choice xmlns:a14="http://schemas.microsoft.com/office/drawing/2010/main" Requires="a14">
          <p:graphicFrame>
            <p:nvGraphicFramePr>
              <p:cNvPr id="3" name="p20"/>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𝐼</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14:m>
                            <m:oMathPara xmlns:m="http://schemas.openxmlformats.org/officeDocument/2006/math">
                              <m:oMathParaPr>
                                <m:jc m:val="centerGroup"/>
                              </m:oMathParaPr>
                              <m:oMath xmlns:m="http://schemas.openxmlformats.org/officeDocument/2006/math">
                                <m:sSub>
                                  <m:sSubPr>
                                    <m:ctrl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ctrlPr>
                                  </m:sSubPr>
                                  <m:e>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𝑇</m:t>
                                    </m:r>
                                  </m:e>
                                  <m:sub>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𝐼</m:t>
                                    </m:r>
                                  </m:sub>
                                </m:sSub>
                                <m:r>
                                  <a:rPr lang="en-US" altLang="zh-CN" sz="2600" i="1" noProof="1">
                                    <a:solidFill>
                                      <a:srgbClr val="333333"/>
                                    </a:solidFill>
                                    <a:latin typeface="Cambria Math" panose="02040503050406030204" charset="0"/>
                                    <a:ea typeface="MS Mincho" charset="0"/>
                                    <a:cs typeface="Cambria Math" panose="02040503050406030204" charset="0"/>
                                  </a:rPr>
                                  <m:t>[</m:t>
                                </m:r>
                                <m:r>
                                  <m:rPr>
                                    <m:sty m:val="p"/>
                                  </m:rPr>
                                  <a:rPr lang="en-US" altLang="zh-CN" sz="2600" i="1" noProof="1">
                                    <a:solidFill>
                                      <a:srgbClr val="333333"/>
                                    </a:solidFill>
                                    <a:latin typeface="Cambria Math" panose="02040503050406030204" charset="0"/>
                                    <a:ea typeface="宋体" panose="02010600030101010101" pitchFamily="2" charset="-122"/>
                                    <a:cs typeface="Cambria Math" panose="02040503050406030204" charset="0"/>
                                  </a:rPr>
                                  <m:t>𝑖</m:t>
                                </m:r>
                                <m:r>
                                  <a:rPr lang="en-US" altLang="zh-CN" sz="2600" i="1" noProof="1">
                                    <a:solidFill>
                                      <a:srgbClr val="333333"/>
                                    </a:solidFill>
                                    <a:latin typeface="Cambria Math" panose="02040503050406030204" charset="0"/>
                                    <a:ea typeface="MS Mincho" charset="0"/>
                                    <a:cs typeface="Cambria Math" panose="02040503050406030204" charset="0"/>
                                  </a:rPr>
                                  <m:t>]</m:t>
                                </m:r>
                              </m:oMath>
                            </m:oMathPara>
                          </a14:m>
                          <a:endParaRPr lang="en-US" sz="2600" noProof="1">
                            <a:solidFill>
                              <a:srgbClr val="333333"/>
                            </a:solidFill>
                            <a:latin typeface="Cambria Math" panose="02040503050406030204" charset="0"/>
                            <a:ea typeface="宋体" panose="02010600030101010101" pitchFamily="2" charset="-122"/>
                            <a:cs typeface="Cambria Math" panose="02040503050406030204" charset="0"/>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0xF4292244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0xFFEFF47D</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0x411AFF97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0x85845DD1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0xAB9423A7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0x6FA87E4F</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0xFC93A039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0xFE2CE6E0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0x655B59C3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0xA3014314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0x8F0CCC92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0x4E0811A1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0xF7537E82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0x2AD7D2BB</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14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0xBD3AF235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0xEB86D391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Choice>
        <mc:Fallback>
          <p:graphicFrame>
            <p:nvGraphicFramePr>
              <p:cNvPr id="3" name="p20"/>
              <p:cNvGraphicFramePr>
                <a:graphicFrameLocks noGrp="1"/>
              </p:cNvGraphicFramePr>
              <p:nvPr/>
            </p:nvGraphicFramePr>
            <p:xfrm>
              <a:off x="2286000" y="2730500"/>
              <a:ext cx="13716000" cy="6858002"/>
            </p:xfrm>
            <a:graphic>
              <a:graphicData uri="http://schemas.openxmlformats.org/drawingml/2006/table">
                <a:tbl>
                  <a:tblPr/>
                  <a:tblGrid>
                    <a:gridCol w="1097280"/>
                    <a:gridCol w="1097280"/>
                    <a:gridCol w="1097280"/>
                    <a:gridCol w="3840480"/>
                    <a:gridCol w="1097280"/>
                    <a:gridCol w="1097280"/>
                    <a:gridCol w="1097280"/>
                    <a:gridCol w="3291840"/>
                  </a:tblGrid>
                  <a:tr h="762000">
                    <a:tc>
                      <a:txBody>
                        <a:bodyPr wrap="square" rtlCol="0"/>
                        <a:lstStyle/>
                        <a:p>
                          <a:pPr algn="ctr"/>
                          <a:r>
                            <a:rPr lang="en-US" sz="2600" b="1" noProof="1">
                              <a:solidFill>
                                <a:srgbClr val="333333"/>
                              </a:solidFill>
                              <a:latin typeface="Times New Roman" panose="02020603050405020304"/>
                              <a:ea typeface="宋体" panose="02010600030101010101" pitchFamily="2" charset="-122"/>
                            </a:rPr>
                            <a:t>i</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i</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k</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s</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endParaRPr lang="zh-CN"/>
                        </a:p>
                      </a:txBody>
                      <a:tcPr anchor="ctr">
                        <a:lnL w="12700">
                          <a:solidFill>
                            <a:srgbClr val="000000"/>
                          </a:solidFill>
                        </a:lnL>
                        <a:lnR w="12700">
                          <a:solidFill>
                            <a:srgbClr val="000000"/>
                          </a:solidFill>
                        </a:lnR>
                        <a:lnT w="12700">
                          <a:solidFill>
                            <a:srgbClr val="000000"/>
                          </a:solidFill>
                        </a:lnT>
                        <a:lnB w="12700">
                          <a:solidFill>
                            <a:srgbClr val="000000"/>
                          </a:solidFill>
                        </a:lnB>
                        <a:blipFill>
                          <a:blip r:embed="rId1"/>
                        </a:blip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0xF4292244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0xFFEFF47D</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2</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0x411AFF97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0x85845DD1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0xAB9423A7</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8</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0x6FA87E4F</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0xFC93A039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0xFE2CE6E0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5</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0x655B59C3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0xA3014314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6</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0x8F0CCC92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13</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0x4E0811A1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924">
                    <a:tc>
                      <a:txBody>
                        <a:bodyPr wrap="square" rtlCol="0"/>
                        <a:lstStyle/>
                        <a:p>
                          <a:pPr algn="ctr"/>
                          <a:r>
                            <a:rPr lang="en-US" sz="2600" b="1" noProof="1">
                              <a:solidFill>
                                <a:srgbClr val="333333"/>
                              </a:solidFill>
                              <a:latin typeface="Times New Roman" panose="02020603050405020304"/>
                              <a:ea typeface="宋体" panose="02010600030101010101" pitchFamily="2" charset="-122"/>
                            </a:rPr>
                            <a:t>13</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4</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0xF7537E82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0x2AD7D2BB</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610">
                    <a:tc>
                      <a:txBody>
                        <a:bodyPr wrap="square" rtlCol="0"/>
                        <a:lstStyle/>
                        <a:p>
                          <a:pPr algn="ctr"/>
                          <a:r>
                            <a:rPr lang="en-US" sz="2600" b="1" noProof="1">
                              <a:solidFill>
                                <a:srgbClr val="333333"/>
                              </a:solidFill>
                              <a:latin typeface="Times New Roman" panose="02020603050405020304"/>
                              <a:ea typeface="宋体" panose="02010600030101010101" pitchFamily="2" charset="-122"/>
                            </a:rPr>
                            <a:t>14</a:t>
                          </a:r>
                          <a:endParaRPr lang="en-US" sz="26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10</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0xBD3AF235</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16</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9</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21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600" noProof="1">
                              <a:solidFill>
                                <a:srgbClr val="333333"/>
                              </a:solidFill>
                              <a:latin typeface="Times New Roman" panose="02020603050405020304"/>
                              <a:ea typeface="宋体" panose="02010600030101010101" pitchFamily="2" charset="-122"/>
                            </a:rPr>
                            <a:t>0xEB86D391</a:t>
                          </a:r>
                          <a:endParaRPr lang="en-US" sz="26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MD5杂凑算法的压缩函数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21"/>
          <p:cNvSpPr txBox="1"/>
          <p:nvPr/>
        </p:nvSpPr>
        <p:spPr>
          <a:xfrm>
            <a:off x="1725930" y="213614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MD5杂凑算法的性质即杂凑码中的每个比特是所有输入比特的函数，因此获得了很好的混淆效果，从而避免随机选择两个具有相同杂凑值消息的情况出现。目前对MD5杂凑算法的攻击已取得以下结果。</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（1）对单轮MD5杂凑算法使用差分密码分析，可在合理的时间内找出具有相同杂凑值的两个消息，但这种攻击还未成功推广到4轮MD5杂凑算法。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（2）可找出一个消息分组和两个相关的链接变量（缓冲区变量A、B、C、D），使得算法产生相同的输出，目前这种攻击还未成功推广到整个算法。</a:t>
            </a: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3"/>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11.2.3</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6"/>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MD5杂凑算法的安全性</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21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3）已成功地对单个长度为512bit的消息分组找出了碰撞，即可找出另一个消息分组，使得算法对两个消息分组的长度为128bit的输出相同。目前这种攻击还未成功推广到在有初始变量IV时对整个消息运行该算法的情况。</a:t>
                </a:r>
                <a:endPar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因此，从密码分析的角度来看，MD5杂凑算法被认为是易受攻击的。而从穷举搜索的角度来看，第Ⅱ类生日攻击需要进行</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𝑂</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2</m:t>
                        </m:r>
                      </m:e>
                      <m:sup>
                        <m:r>
                          <a:rPr lang="en-US" sz="3600" i="0" noProof="1">
                            <a:solidFill>
                              <a:srgbClr val="000000"/>
                            </a:solidFill>
                            <a:latin typeface="Cambria Math" panose="02040503050406030204" charset="0"/>
                            <a:ea typeface="MS Mincho" charset="0"/>
                            <a:cs typeface="Cambria Math" panose="02040503050406030204" charset="0"/>
                          </a:rPr>
                          <m:t>64</m:t>
                        </m:r>
                      </m:sup>
                    </m:sSup>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次运算，因此认为MD5杂凑算法易受第Ⅱ类生日攻击的威胁。综上所述，必须寻找新的杂凑算法，以使其产生的杂凑值更长，且抵抗已知密码分析攻击的能力更强。下面要介绍的SHA-3就是这样的一个算法。</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21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1817"/>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11.2.3</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MD5杂凑算法的安全性</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7"/>
          <p:cNvGrpSpPr/>
          <p:nvPr/>
        </p:nvGrpSpPr>
        <p:grpSpPr>
          <a:xfrm rot="-10800000">
            <a:off x="5340277" y="802276"/>
            <a:ext cx="7607443" cy="7607443"/>
            <a:chOff x="0" y="0"/>
            <a:chExt cx="812800" cy="812800"/>
          </a:xfrm>
        </p:grpSpPr>
        <p:sp>
          <p:nvSpPr>
            <p:cNvPr id="28" name="Freeform 28"/>
            <p:cNvSpPr/>
            <p:nvPr>
              <p:custDataLst>
                <p:tags r:id="rId1"/>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custDataLst>
                <p:tags r:id="rId2"/>
              </p:custDataLst>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dot-d113-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113-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113-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113-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113-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113-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113-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113-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divnum-d113"/>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11.3</a:t>
            </a:r>
            <a:endParaRPr lang="en-US" sz="12200" noProof="1"/>
          </a:p>
        </p:txBody>
      </p:sp>
      <p:sp>
        <p:nvSpPr>
          <p:cNvPr id="11" name="divtitle-d113"/>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SHA-3杂凑算法</a:t>
            </a:r>
            <a:endParaRPr lang="en-US" sz="9600" noProof="1"/>
          </a:p>
        </p:txBody>
      </p:sp>
      <p:grpSp>
        <p:nvGrpSpPr>
          <p:cNvPr id="50" name="Group 50"/>
          <p:cNvGrpSpPr/>
          <p:nvPr/>
        </p:nvGrpSpPr>
        <p:grpSpPr>
          <a:xfrm>
            <a:off x="-1299845" y="8692124"/>
            <a:ext cx="21159470" cy="1632976"/>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custDataLst>
                  <p:tags r:id="rId3"/>
                </p:custDataLst>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p>
                <a:endParaRPr lang="zh-CN" altLang="en-US"/>
              </a:p>
            </p:txBody>
          </p:sp>
          <p:sp>
            <p:nvSpPr>
              <p:cNvPr id="53" name="TextBox 53"/>
              <p:cNvSpPr txBox="1"/>
              <p:nvPr>
                <p:custDataLst>
                  <p:tags r:id="rId4"/>
                </p:custDataLst>
              </p:nvPr>
            </p:nvSpPr>
            <p:spPr>
              <a:xfrm>
                <a:off x="0" y="0"/>
                <a:ext cx="5501351" cy="399918"/>
              </a:xfrm>
              <a:prstGeom prst="rect">
                <a:avLst/>
              </a:prstGeom>
            </p:spPr>
            <p:txBody>
              <a:bodyPr lIns="50800" tIns="50800" rIns="50800" bIns="50800" rtlCol="0" anchor="ctr"/>
              <a:p>
                <a:pPr algn="ctr">
                  <a:lnSpc>
                    <a:spcPts val="2880"/>
                  </a:lnSpc>
                </a:pPr>
              </a:p>
            </p:txBody>
          </p:sp>
        </p:grpSp>
        <p:grpSp>
          <p:nvGrpSpPr>
            <p:cNvPr id="54" name="Group 54"/>
            <p:cNvGrpSpPr/>
            <p:nvPr/>
          </p:nvGrpSpPr>
          <p:grpSpPr>
            <a:xfrm>
              <a:off x="0" y="282042"/>
              <a:ext cx="27850587" cy="2291284"/>
              <a:chOff x="0" y="0"/>
              <a:chExt cx="5501351" cy="452599"/>
            </a:xfrm>
          </p:grpSpPr>
          <p:sp>
            <p:nvSpPr>
              <p:cNvPr id="55" name="Freeform 55"/>
              <p:cNvSpPr/>
              <p:nvPr>
                <p:custDataLst>
                  <p:tags r:id="rId5"/>
                </p:custDataLst>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p>
                <a:endParaRPr lang="zh-CN" altLang="en-US"/>
              </a:p>
            </p:txBody>
          </p:sp>
          <p:sp>
            <p:nvSpPr>
              <p:cNvPr id="56" name="TextBox 56"/>
              <p:cNvSpPr txBox="1"/>
              <p:nvPr>
                <p:custDataLst>
                  <p:tags r:id="rId6"/>
                </p:custDataLst>
              </p:nvPr>
            </p:nvSpPr>
            <p:spPr>
              <a:xfrm>
                <a:off x="0" y="0"/>
                <a:ext cx="5501351" cy="452599"/>
              </a:xfrm>
              <a:prstGeom prst="rect">
                <a:avLst/>
              </a:prstGeom>
            </p:spPr>
            <p:txBody>
              <a:bodyPr lIns="50800" tIns="50800" rIns="50800" bIns="50800" rtlCol="0" anchor="ctr"/>
              <a:p>
                <a:pPr algn="ctr">
                  <a:lnSpc>
                    <a:spcPts val="2880"/>
                  </a:lnSpc>
                </a:pPr>
              </a:p>
            </p:txBody>
          </p:sp>
        </p:grpSp>
      </p:gr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custDataLst>
                <p:tags r:id="rId8"/>
              </p:custDataLst>
            </p:nvPr>
          </p:nvSpPr>
          <p:spPr>
            <a:xfrm>
              <a:off x="13811849" y="507954"/>
              <a:ext cx="3700052" cy="369332"/>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36" name="图片 35"/>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23"/>
          <p:cNvSpPr txBox="1"/>
          <p:nvPr/>
        </p:nvSpPr>
        <p:spPr>
          <a:xfrm>
            <a:off x="1724660" y="1993900"/>
            <a:ext cx="14818360" cy="736155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近年来，传统常用的杂凑函数，如MD4、MD5、SHA-0、SHA-1、RIPENMD等已被成功攻击。NIST分别在2005年、2006年举行了两届杂凑函数研讨会，并于2007年正式宣布在全球范围内征集新的下一代杂凑函数。新一代的杂凑函数被称为SHA-3杂凑算法，作为新的安全杂凑函数，其用以增强现有的FIPS 180-2标准。算法的提交于2008年10月结束，NIST分别于2009年和2010年举行两轮会议，筛选出5个算法（BLAKE、Grφstl、JH、Keccak、Skein）进入终轮。2012年10月，NIST宣布Keccak算法为新一代的杂凑函数，称为SHA-3杂凑算法。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SHA-3杂凑算法是由ST微电子公司的Bertoni、Daemen、Assche和NXP半导体公司的Peeters共同设计提交的杂凑函数，它使用了基于海绵（Sponge）构造的Sponge函数。</a:t>
            </a:r>
            <a:endParaRPr lang="en-US" sz="3600" noProof="1"/>
          </a:p>
          <a:p>
            <a:pPr indent="457200" algn="just" fontAlgn="auto">
              <a:lnSpc>
                <a:spcPct val="120000"/>
              </a:lnSpc>
            </a:pP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3"/>
            </p:custDataLst>
          </p:nvPr>
        </p:nvSpPr>
        <p:spPr>
          <a:xfrm>
            <a:off x="132016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6"/>
            </p:custDataLst>
          </p:nvPr>
        </p:nvSpPr>
        <p:spPr>
          <a:xfrm>
            <a:off x="300672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SHA-3</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23"/>
              <p:cNvSpPr txBox="1"/>
              <p:nvPr/>
            </p:nvSpPr>
            <p:spPr>
              <a:xfrm>
                <a:off x="1724660" y="2095500"/>
                <a:ext cx="14818360" cy="4826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SHA-3杂凑算法是一种采用密封海绵结构（Hermetic Sponge Strategy，HSS）的安全杂凑算法，与多数杂凑算法所采用的经典的Merkle-Damgard结构不同。它由特定的填充函数和置换函数（轮函数）Keccak-</a:t>
                </a:r>
                <a14:m>
                  <m:oMath xmlns:m="http://schemas.openxmlformats.org/officeDocument/2006/math">
                    <m:r>
                      <a:rPr lang="en-US" sz="3600" i="1" noProof="1">
                        <a:solidFill>
                          <a:srgbClr val="000000"/>
                        </a:solidFill>
                        <a:latin typeface="Times New Roman" panose="02020603050405020304"/>
                      </a:rPr>
                      <m:t>𝑓</m:t>
                    </m:r>
                  </m:oMath>
                </a14:m>
                <a:r>
                  <a:rPr lang="en-US" sz="3600" noProof="1">
                    <a:solidFill>
                      <a:srgbClr val="000000"/>
                    </a:solidFill>
                    <a:latin typeface="Times New Roman" panose="02020603050405020304"/>
                    <a:ea typeface="宋体" panose="02010600030101010101" pitchFamily="2" charset="-122"/>
                  </a:rPr>
                  <a:t> 组成，海绵结构如图11.5所示。</a:t>
                </a:r>
                <a:endParaRPr lang="en-US" sz="3600" noProof="1"/>
              </a:p>
            </p:txBody>
          </p:sp>
        </mc:Choice>
        <mc:Fallback>
          <p:sp>
            <p:nvSpPr>
              <p:cNvPr id="2" name="body-p23"/>
              <p:cNvSpPr txBox="1">
                <a:spLocks noRot="1" noChangeAspect="1" noMove="1" noResize="1" noEditPoints="1" noAdjustHandles="1" noChangeArrowheads="1" noChangeShapeType="1" noTextEdit="1"/>
              </p:cNvSpPr>
              <p:nvPr/>
            </p:nvSpPr>
            <p:spPr>
              <a:xfrm>
                <a:off x="1724660" y="2095500"/>
                <a:ext cx="14818360" cy="4826000"/>
              </a:xfrm>
              <a:prstGeom prst="rect">
                <a:avLst/>
              </a:prstGeom>
              <a:blipFill rotWithShape="1">
                <a:blip r:embed="rId1"/>
                <a:stretch>
                  <a:fillRect/>
                </a:stretch>
              </a:blipFill>
              <a:ln>
                <a:noFill/>
              </a:ln>
            </p:spPr>
            <p:txBody>
              <a:bodyPr/>
              <a:lstStyle/>
              <a:p>
                <a:r>
                  <a:rPr lang="zh-CN" altLang="en-US">
                    <a:noFill/>
                  </a:rPr>
                  <a:t> </a:t>
                </a:r>
              </a:p>
            </p:txBody>
          </p:sp>
        </mc:Fallback>
      </mc:AlternateContent>
      <p:pic>
        <p:nvPicPr>
          <p:cNvPr id="3" name="img-p23"/>
          <p:cNvPicPr/>
          <p:nvPr/>
        </p:nvPicPr>
        <p:blipFill>
          <a:blip r:embed="rId2"/>
          <a:stretch>
            <a:fillRect/>
          </a:stretch>
        </p:blipFill>
        <p:spPr>
          <a:xfrm>
            <a:off x="3519170" y="4862830"/>
            <a:ext cx="11045190" cy="3171825"/>
          </a:xfrm>
          <a:prstGeom prst="rect">
            <a:avLst/>
          </a:prstGeom>
          <a:ln>
            <a:noFill/>
          </a:ln>
        </p:spPr>
      </p:pic>
      <p:sp>
        <p:nvSpPr>
          <p:cNvPr id="4" name="imgcap-p23"/>
          <p:cNvSpPr txBox="1"/>
          <p:nvPr/>
        </p:nvSpPr>
        <p:spPr>
          <a:xfrm>
            <a:off x="1831975" y="849122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图11.5　海绵结构</a:t>
            </a:r>
            <a:endParaRPr lang="en-US" sz="1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3"/>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4"/>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5"/>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8"/>
            </p:custDataLst>
          </p:nvPr>
        </p:nvSpPr>
        <p:spPr>
          <a:xfrm>
            <a:off x="276098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SHA-3</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2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图11.5中，</a:t>
                </a:r>
                <a14:m>
                  <m:oMath xmlns:m="http://schemas.openxmlformats.org/officeDocument/2006/math">
                    <m:r>
                      <m:rPr>
                        <m:sty m:val="p"/>
                      </m:rPr>
                      <a:rPr lang="en-US" sz="3600" noProof="1">
                        <a:solidFill>
                          <a:srgbClr val="000000"/>
                        </a:solidFill>
                        <a:latin typeface="Times New Roman" panose="02020603050405020304"/>
                      </a:rPr>
                      <m:t>P</m:t>
                    </m:r>
                  </m:oMath>
                </a14:m>
                <a:r>
                  <a:rPr lang="en-US" sz="3600" noProof="1">
                    <a:solidFill>
                      <a:srgbClr val="000000"/>
                    </a:solidFill>
                    <a:latin typeface="Times New Roman" panose="02020603050405020304"/>
                    <a:ea typeface="宋体" panose="02010600030101010101" pitchFamily="2" charset="-122"/>
                  </a:rPr>
                  <a:t> 为输入，</a:t>
                </a:r>
                <a14:m>
                  <m:oMath xmlns:m="http://schemas.openxmlformats.org/officeDocument/2006/math">
                    <m:r>
                      <m:rPr>
                        <m:sty m:val="p"/>
                      </m:rPr>
                      <a:rPr lang="en-US" sz="3600" noProof="1">
                        <a:solidFill>
                          <a:srgbClr val="000000"/>
                        </a:solidFill>
                        <a:latin typeface="Times New Roman" panose="02020603050405020304"/>
                      </a:rPr>
                      <m:t>Z</m:t>
                    </m:r>
                  </m:oMath>
                </a14:m>
                <a:r>
                  <a:rPr lang="en-US" sz="3600" noProof="1">
                    <a:solidFill>
                      <a:srgbClr val="000000"/>
                    </a:solidFill>
                    <a:latin typeface="Times New Roman" panose="02020603050405020304"/>
                    <a:ea typeface="宋体" panose="02010600030101010101" pitchFamily="2" charset="-122"/>
                  </a:rPr>
                  <a:t> 为输出，</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为置换函数，</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为分组长度，</a:t>
                </a:r>
                <a14:m>
                  <m:oMath xmlns:m="http://schemas.openxmlformats.org/officeDocument/2006/math">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 为容量。海绵结构是针对一个固定置换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的迭代过程。置换输入/输出的二进制串为状态，其长度 </a:t>
                </a:r>
                <a14:m>
                  <m:oMath xmlns:m="http://schemas.openxmlformats.org/officeDocument/2006/math">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r</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b</m:t>
                    </m:r>
                  </m:oMath>
                </a14:m>
                <a:r>
                  <a:rPr lang="en-US" sz="3600" noProof="1">
                    <a:solidFill>
                      <a:srgbClr val="000000"/>
                    </a:solidFill>
                    <a:latin typeface="Times New Roman" panose="02020603050405020304"/>
                    <a:ea typeface="宋体" panose="02010600030101010101" pitchFamily="2" charset="-122"/>
                  </a:rPr>
                  <a:t> 为轮函数的宽度，其中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为比特率，又称外部状态；</a:t>
                </a:r>
                <a14:m>
                  <m:oMath xmlns:m="http://schemas.openxmlformats.org/officeDocument/2006/math">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 为容量，称内部状态。算法的初始状态为全零。Keccak规定</a:t>
                </a:r>
                <a14:m>
                  <m:oMath xmlns:m="http://schemas.openxmlformats.org/officeDocument/2006/math">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25</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l</m:t>
                        </m:r>
                      </m:sup>
                    </m:sSup>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l</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6</m:t>
                    </m:r>
                  </m:oMath>
                </a14:m>
                <a:r>
                  <a:rPr lang="en-US" sz="3600" noProof="1">
                    <a:solidFill>
                      <a:srgbClr val="000000"/>
                    </a:solidFill>
                    <a:latin typeface="Times New Roman" panose="02020603050405020304"/>
                    <a:ea typeface="宋体" panose="02010600030101010101" pitchFamily="2" charset="-122"/>
                  </a:rPr>
                  <a:t>，因此 </a:t>
                </a:r>
                <a14:m>
                  <m:oMath xmlns:m="http://schemas.openxmlformats.org/officeDocument/2006/math">
                    <m:r>
                      <m:rPr>
                        <m:sty m:val="p"/>
                      </m:rPr>
                      <a:rPr lang="en-US" sz="3600" noProof="1">
                        <a:solidFill>
                          <a:srgbClr val="000000"/>
                        </a:solidFill>
                        <a:latin typeface="Times New Roman" panose="02020603050405020304"/>
                      </a:rPr>
                      <m:t>b</m:t>
                    </m:r>
                  </m:oMath>
                </a14:m>
                <a:r>
                  <a:rPr lang="en-US" sz="3600" noProof="1">
                    <a:solidFill>
                      <a:srgbClr val="000000"/>
                    </a:solidFill>
                    <a:latin typeface="Times New Roman" panose="02020603050405020304"/>
                    <a:ea typeface="宋体" panose="02010600030101010101" pitchFamily="2" charset="-122"/>
                  </a:rPr>
                  <a:t> 有</a:t>
                </a:r>
                <a14:m>
                  <m:oMath xmlns:m="http://schemas.openxmlformats.org/officeDocument/2006/math">
                    <m:d>
                      <m:dPr>
                        <m:begChr m:val="["/>
                        <m:endChr m:val="]"/>
                        <m:ctrlPr>
                          <a:rPr lang="en-US" sz="3600" noProof="1">
                            <a:solidFill>
                              <a:srgbClr val="000000"/>
                            </a:solidFill>
                            <a:latin typeface="Times New Roman" panose="02020603050405020304"/>
                          </a:rPr>
                        </m:ctrlPr>
                      </m:dPr>
                      <m:e>
                        <m:r>
                          <a:rPr lang="en-US" sz="3600" noProof="1">
                            <a:solidFill>
                              <a:srgbClr val="000000"/>
                            </a:solidFill>
                            <a:latin typeface="Times New Roman" panose="02020603050405020304"/>
                          </a:rPr>
                          <m:t>25</m:t>
                        </m:r>
                        <m:r>
                          <a:rPr lang="en-US" sz="3600" noProof="1">
                            <a:solidFill>
                              <a:srgbClr val="000000"/>
                            </a:solidFill>
                            <a:latin typeface="Times New Roman" panose="02020603050405020304"/>
                          </a:rPr>
                          <m:t> , </m:t>
                        </m:r>
                        <m:r>
                          <a:rPr lang="en-US" sz="3600" noProof="1">
                            <a:solidFill>
                              <a:srgbClr val="000000"/>
                            </a:solidFill>
                            <a:latin typeface="Times New Roman" panose="02020603050405020304"/>
                          </a:rPr>
                          <m:t>50</m:t>
                        </m:r>
                        <m:r>
                          <a:rPr lang="en-US" sz="3600" noProof="1">
                            <a:solidFill>
                              <a:srgbClr val="000000"/>
                            </a:solidFill>
                            <a:latin typeface="Times New Roman" panose="02020603050405020304"/>
                          </a:rPr>
                          <m:t> , </m:t>
                        </m:r>
                        <m:r>
                          <a:rPr lang="en-US" sz="3600" noProof="1">
                            <a:solidFill>
                              <a:srgbClr val="000000"/>
                            </a:solidFill>
                            <a:latin typeface="Times New Roman" panose="02020603050405020304"/>
                          </a:rPr>
                          <m:t>100</m:t>
                        </m:r>
                        <m:r>
                          <a:rPr lang="en-US" sz="3600" noProof="1">
                            <a:solidFill>
                              <a:srgbClr val="000000"/>
                            </a:solidFill>
                            <a:latin typeface="Times New Roman" panose="02020603050405020304"/>
                          </a:rPr>
                          <m:t> , </m:t>
                        </m:r>
                        <m:r>
                          <a:rPr lang="en-US" sz="3600" noProof="1">
                            <a:solidFill>
                              <a:srgbClr val="000000"/>
                            </a:solidFill>
                            <a:latin typeface="Times New Roman" panose="02020603050405020304"/>
                          </a:rPr>
                          <m:t>200</m:t>
                        </m:r>
                        <m:r>
                          <a:rPr lang="en-US" sz="3600" noProof="1">
                            <a:solidFill>
                              <a:srgbClr val="000000"/>
                            </a:solidFill>
                            <a:latin typeface="Times New Roman" panose="02020603050405020304"/>
                          </a:rPr>
                          <m:t> , </m:t>
                        </m:r>
                        <m:r>
                          <a:rPr lang="en-US" sz="3600" noProof="1">
                            <a:solidFill>
                              <a:srgbClr val="000000"/>
                            </a:solidFill>
                            <a:latin typeface="Times New Roman" panose="02020603050405020304"/>
                          </a:rPr>
                          <m:t>400</m:t>
                        </m:r>
                        <m:r>
                          <a:rPr lang="en-US" sz="3600" noProof="1">
                            <a:solidFill>
                              <a:srgbClr val="000000"/>
                            </a:solidFill>
                            <a:latin typeface="Times New Roman" panose="02020603050405020304"/>
                          </a:rPr>
                          <m:t> , </m:t>
                        </m:r>
                        <m:r>
                          <a:rPr lang="en-US" sz="3600" noProof="1">
                            <a:solidFill>
                              <a:srgbClr val="000000"/>
                            </a:solidFill>
                            <a:latin typeface="Times New Roman" panose="02020603050405020304"/>
                          </a:rPr>
                          <m:t>800</m:t>
                        </m:r>
                        <m:r>
                          <a:rPr lang="en-US" sz="3600" noProof="1">
                            <a:solidFill>
                              <a:srgbClr val="000000"/>
                            </a:solidFill>
                            <a:latin typeface="Times New Roman" panose="02020603050405020304"/>
                          </a:rPr>
                          <m:t> , </m:t>
                        </m:r>
                        <m:r>
                          <a:rPr lang="en-US" sz="3600" noProof="1">
                            <a:solidFill>
                              <a:srgbClr val="000000"/>
                            </a:solidFill>
                            <a:latin typeface="Times New Roman" panose="02020603050405020304"/>
                          </a:rPr>
                          <m:t>1600</m:t>
                        </m:r>
                      </m:e>
                    </m:d>
                  </m:oMath>
                </a14:m>
                <a:r>
                  <a:rPr lang="en-US" sz="3600" noProof="1">
                    <a:solidFill>
                      <a:srgbClr val="000000"/>
                    </a:solidFill>
                    <a:latin typeface="Times New Roman" panose="02020603050405020304"/>
                    <a:ea typeface="宋体" panose="02010600030101010101" pitchFamily="2" charset="-122"/>
                  </a:rPr>
                  <a:t>共7种规模，在提交SHA-3的Keccak算法中 </a:t>
                </a:r>
                <a14:m>
                  <m:oMath xmlns:m="http://schemas.openxmlformats.org/officeDocument/2006/math">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1600bit，即 </a:t>
                </a:r>
                <a14:m>
                  <m:oMath xmlns:m="http://schemas.openxmlformats.org/officeDocument/2006/math">
                    <m:r>
                      <m:rPr>
                        <m:sty m:val="p"/>
                      </m:rPr>
                      <a:rPr lang="en-US" sz="3600" noProof="1">
                        <a:solidFill>
                          <a:srgbClr val="000000"/>
                        </a:solidFill>
                        <a:latin typeface="Times New Roman" panose="02020603050405020304"/>
                      </a:rPr>
                      <m:t>l</m:t>
                    </m:r>
                  </m:oMath>
                </a14:m>
                <a:r>
                  <a:rPr lang="en-US" sz="3600" noProof="1">
                    <a:solidFill>
                      <a:srgbClr val="000000"/>
                    </a:solidFill>
                    <a:latin typeface="Times New Roman" panose="02020603050405020304"/>
                    <a:ea typeface="宋体" panose="02010600030101010101" pitchFamily="2" charset="-122"/>
                  </a:rPr>
                  <a:t> 取6。</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海绵结构分为吸收（Abstracting）和挤压（Squeezing）两个阶段。第一阶段为吸收阶段，各消息块依次进入轮函数，此阶段不产生任何输出。当所有消息块吸收完毕后进入第二阶段，即挤压阶段，在此阶段根据需求可输出任意长度的摘要。</a:t>
                </a:r>
                <a:endParaRPr lang="en-US" sz="3600" noProof="1"/>
              </a:p>
            </p:txBody>
          </p:sp>
        </mc:Choice>
        <mc:Fallback>
          <p:sp>
            <p:nvSpPr>
              <p:cNvPr id="2" name="body-p24"/>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2558" b="-2204"/>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76098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SHA-3</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24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（1）吸收阶段。输入消息经过填充，分为长度为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的各块</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p</m:t>
                        </m:r>
                      </m:e>
                      <m:sub>
                        <m:r>
                          <a:rPr lang="en-US" sz="3600" noProof="1">
                            <a:solidFill>
                              <a:srgbClr val="000000"/>
                            </a:solidFill>
                            <a:latin typeface="Times New Roman" panose="02020603050405020304"/>
                          </a:rPr>
                          <m:t>1</m:t>
                        </m:r>
                      </m:sub>
                    </m:sSub>
                    <m:r>
                      <a:rPr lang="en-US" sz="360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p</m:t>
                        </m:r>
                      </m:e>
                      <m:sub>
                        <m:r>
                          <m:rPr>
                            <m:sty m:val="p"/>
                          </m:rPr>
                          <a:rPr lang="en-US" sz="3600" noProof="1">
                            <a:solidFill>
                              <a:srgbClr val="000000"/>
                            </a:solidFill>
                            <a:latin typeface="Times New Roman" panose="02020603050405020304"/>
                          </a:rPr>
                          <m:t>r</m:t>
                        </m:r>
                      </m:sub>
                    </m:sSub>
                    <m:r>
                      <a:rPr lang="en-US" sz="360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p</m:t>
                        </m:r>
                      </m:e>
                      <m:sub>
                        <m:r>
                          <m:rPr>
                            <m:sty m:val="p"/>
                          </m:rPr>
                          <a:rPr lang="en-US" sz="3600" noProof="1">
                            <a:solidFill>
                              <a:srgbClr val="000000"/>
                            </a:solidFill>
                            <a:latin typeface="Times New Roman" panose="02020603050405020304"/>
                          </a:rPr>
                          <m:t>m</m:t>
                        </m:r>
                      </m:sub>
                    </m:sSub>
                  </m:oMath>
                </a14:m>
                <a:r>
                  <a:rPr lang="en-US" sz="3600" noProof="1">
                    <a:solidFill>
                      <a:srgbClr val="000000"/>
                    </a:solidFill>
                    <a:latin typeface="Times New Roman" panose="02020603050405020304"/>
                    <a:ea typeface="宋体" panose="02010600030101010101" pitchFamily="2" charset="-122"/>
                  </a:rPr>
                  <a:t>，每块分别与各次置换的输入状态的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长外部状态异或，而 </a:t>
                </a:r>
                <a14:m>
                  <m:oMath xmlns:m="http://schemas.openxmlformats.org/officeDocument/2006/math">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 长内部状态保持不变，形成作为本次置换 </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的输入。Keccak的填充方式为：首先添加一个1，之后添加数个0，最后添加一个1，即填充方式为</a:t>
                </a:r>
                <a14:m>
                  <m:oMath xmlns:m="http://schemas.openxmlformats.org/officeDocument/2006/math">
                    <m:r>
                      <a:rPr lang="en-US" sz="3600" noProof="1">
                        <a:solidFill>
                          <a:srgbClr val="000000"/>
                        </a:solidFill>
                        <a:latin typeface="Times New Roman" panose="02020603050405020304"/>
                      </a:rPr>
                      <m:t>10</m:t>
                    </m:r>
                    <m:r>
                      <m:rPr>
                        <m:sty m:val="p"/>
                      </m:rPr>
                      <a:rPr lang="en-US" sz="3600" noProof="1">
                        <a:solidFill>
                          <a:srgbClr val="000000"/>
                        </a:solidFill>
                        <a:latin typeface="Times New Roman" panose="02020603050405020304"/>
                      </a:rPr>
                      <m:t>L</m:t>
                    </m:r>
                    <m:r>
                      <a:rPr lang="en-US" sz="3600" noProof="1">
                        <a:solidFill>
                          <a:srgbClr val="000000"/>
                        </a:solidFill>
                        <a:latin typeface="Times New Roman" panose="02020603050405020304"/>
                      </a:rPr>
                      <m:t> </m:t>
                    </m:r>
                    <m:r>
                      <a:rPr lang="en-US" sz="3600" noProof="1">
                        <a:solidFill>
                          <a:srgbClr val="000000"/>
                        </a:solidFill>
                        <a:latin typeface="Times New Roman" panose="02020603050405020304"/>
                      </a:rPr>
                      <m:t>01</m:t>
                    </m:r>
                  </m:oMath>
                </a14:m>
                <a:r>
                  <a:rPr lang="en-US" sz="3600" noProof="1">
                    <a:solidFill>
                      <a:srgbClr val="000000"/>
                    </a:solidFill>
                    <a:latin typeface="Times New Roman" panose="02020603050405020304"/>
                    <a:ea typeface="宋体" panose="02010600030101010101" pitchFamily="2" charset="-122"/>
                  </a:rPr>
                  <a:t>，其中0的个数应使填充后的长度是消息分组长度的最小整数倍。</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（2）挤压阶段。根据需要的输出长度，从各次置换的输出中分别提取</a:t>
                </a:r>
                <a14:m>
                  <m:oMath xmlns:m="http://schemas.openxmlformats.org/officeDocument/2006/math">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Z</m:t>
                        </m:r>
                      </m:e>
                      <m:sub>
                        <m:r>
                          <a:rPr lang="en-US" sz="3600" noProof="1">
                            <a:solidFill>
                              <a:srgbClr val="000000"/>
                            </a:solidFill>
                            <a:latin typeface="Times New Roman" panose="02020603050405020304"/>
                          </a:rPr>
                          <m:t>1</m:t>
                        </m:r>
                      </m:sub>
                    </m:sSub>
                    <m:r>
                      <a:rPr lang="en-US" sz="360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m:rPr>
                            <m:sty m:val="p"/>
                          </m:rPr>
                          <a:rPr lang="en-US" sz="3600" noProof="1">
                            <a:solidFill>
                              <a:srgbClr val="000000"/>
                            </a:solidFill>
                            <a:latin typeface="Times New Roman" panose="02020603050405020304"/>
                          </a:rPr>
                          <m:t>Z</m:t>
                        </m:r>
                      </m:e>
                      <m:sub>
                        <m:r>
                          <m:rPr>
                            <m:sty m:val="p"/>
                          </m:rPr>
                          <a:rPr lang="en-US" sz="3600" noProof="1">
                            <a:solidFill>
                              <a:srgbClr val="000000"/>
                            </a:solidFill>
                            <a:latin typeface="Times New Roman" panose="02020603050405020304"/>
                          </a:rPr>
                          <m:t>i</m:t>
                        </m:r>
                      </m:sub>
                    </m:sSub>
                  </m:oMath>
                </a14:m>
                <a:r>
                  <a:rPr lang="en-US" sz="3600" noProof="1">
                    <a:solidFill>
                      <a:srgbClr val="000000"/>
                    </a:solidFill>
                    <a:latin typeface="Times New Roman" panose="02020603050405020304"/>
                    <a:ea typeface="宋体" panose="02010600030101010101" pitchFamily="2" charset="-122"/>
                  </a:rPr>
                  <a:t>各子串，连接后形成算法输出。实际上海绵结构可以产生任意长度的输出。</a:t>
                </a:r>
                <a:endParaRPr lang="en-US" sz="3600" noProof="1"/>
              </a:p>
            </p:txBody>
          </p:sp>
        </mc:Choice>
        <mc:Fallback>
          <p:sp>
            <p:nvSpPr>
              <p:cNvPr id="2" name="body-p24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76098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SHA-3</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25"/>
              <p:cNvSpPr txBox="1"/>
              <p:nvPr/>
            </p:nvSpPr>
            <p:spPr>
              <a:xfrm>
                <a:off x="1724660" y="2095500"/>
                <a:ext cx="14818360" cy="421322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按照NIST要求，算法输出长度分为224bit、256bit、384bit和512bit，Keccak算法的消息块长度 </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 是根据输出长度变化的，即当输出长度为512bit时 </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 为576bit；当输出长度为384bit时 </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 为832bit；当输出长度为256bit时 </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 为1088bit；当输出长度为224bit时 </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 为1152bit。</a:t>
                </a:r>
                <a:endParaRPr lang="en-US" sz="3600" noProof="1"/>
              </a:p>
            </p:txBody>
          </p:sp>
        </mc:Choice>
        <mc:Fallback>
          <p:sp>
            <p:nvSpPr>
              <p:cNvPr id="2" name="body-p25"/>
              <p:cNvSpPr txBox="1">
                <a:spLocks noRot="1" noChangeAspect="1" noMove="1" noResize="1" noEditPoints="1" noAdjustHandles="1" noChangeArrowheads="1" noChangeShapeType="1" noTextEdit="1"/>
              </p:cNvSpPr>
              <p:nvPr/>
            </p:nvSpPr>
            <p:spPr>
              <a:xfrm>
                <a:off x="1724660" y="2095500"/>
                <a:ext cx="14818360" cy="4213225"/>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76098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SHA-3</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25"/>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Keccak-</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 置换共有7种，用Keccak-</a:t>
                </a: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表示，其中置换宽度 </a:t>
                </a:r>
                <a14:m>
                  <m:oMath xmlns:m="http://schemas.openxmlformats.org/officeDocument/2006/math">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25</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50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100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200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400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800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1600</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25</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l</m:t>
                        </m:r>
                      </m:sup>
                    </m:sSup>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l</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6</m:t>
                    </m:r>
                  </m:oMath>
                </a14:m>
                <a:r>
                  <a:rPr lang="en-US" sz="3600" noProof="1">
                    <a:solidFill>
                      <a:srgbClr val="000000"/>
                    </a:solidFill>
                    <a:latin typeface="Times New Roman" panose="02020603050405020304"/>
                    <a:ea typeface="宋体" panose="02010600030101010101" pitchFamily="2" charset="-122"/>
                  </a:rPr>
                  <a:t>。参加SHA-3杂凑算法竞赛的Keccak算法统一采用Keccak-</a:t>
                </a: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1600</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置换。</a:t>
                </a:r>
                <a:endParaRPr lang="en-US" sz="3600" noProof="1"/>
              </a:p>
            </p:txBody>
          </p:sp>
        </mc:Choice>
        <mc:Fallback>
          <p:sp>
            <p:nvSpPr>
              <p:cNvPr id="2" name="body-p25"/>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25b"/>
              <p:cNvSpPr txBox="1"/>
              <p:nvPr/>
            </p:nvSpPr>
            <p:spPr>
              <a:xfrm>
                <a:off x="1724660" y="2095500"/>
                <a:ext cx="14820265" cy="7112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Keccak算法中置换 </a:t>
                </a:r>
                <a14:m>
                  <m:oMath xmlns:m="http://schemas.openxmlformats.org/officeDocument/2006/math">
                    <m:r>
                      <a:rPr lang="en-US" sz="3600" i="1" noProof="1">
                        <a:solidFill>
                          <a:srgbClr val="000000"/>
                        </a:solidFill>
                        <a:latin typeface="Times New Roman" panose="02020603050405020304"/>
                      </a:rPr>
                      <m:t>𝑓</m:t>
                    </m:r>
                  </m:oMath>
                </a14:m>
                <a:r>
                  <a:rPr lang="en-US" sz="3600" noProof="1">
                    <a:solidFill>
                      <a:srgbClr val="000000"/>
                    </a:solidFill>
                    <a:latin typeface="Times New Roman" panose="02020603050405020304"/>
                    <a:ea typeface="宋体" panose="02010600030101010101" pitchFamily="2" charset="-122"/>
                  </a:rPr>
                  <a:t> 的输入表示为</a:t>
                </a:r>
                <a14:m>
                  <m:oMath xmlns:m="http://schemas.openxmlformats.org/officeDocument/2006/math">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1" noProof="1">
                            <a:solidFill>
                              <a:srgbClr val="000000"/>
                            </a:solidFill>
                            <a:latin typeface="Times New Roman" panose="02020603050405020304"/>
                          </a:rPr>
                          <m:t>𝑙</m:t>
                        </m:r>
                      </m:sup>
                    </m:sSup>
                  </m:oMath>
                </a14:m>
                <a:r>
                  <a:rPr lang="en-US" sz="3600" noProof="1">
                    <a:solidFill>
                      <a:srgbClr val="000000"/>
                    </a:solidFill>
                    <a:latin typeface="Times New Roman" panose="02020603050405020304"/>
                    <a:ea typeface="宋体" panose="02010600030101010101" pitchFamily="2" charset="-122"/>
                  </a:rPr>
                  <a:t>的3位比特数组</a:t>
                </a:r>
                <a14:m>
                  <m:oMath xmlns:m="http://schemas.openxmlformats.org/officeDocument/2006/math">
                    <m:r>
                      <a:rPr lang="en-US" sz="3600" i="1" noProof="1">
                        <a:solidFill>
                          <a:srgbClr val="000000"/>
                        </a:solidFill>
                        <a:latin typeface="Times New Roman" panose="02020603050405020304"/>
                      </a:rPr>
                      <m:t>𝑎</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𝑧</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，称为状态数组。当 </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 为1600时，数组大小为</a:t>
                </a:r>
                <a14:m>
                  <m:oMath xmlns:m="http://schemas.openxmlformats.org/officeDocument/2006/math">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64</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𝑙</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。置换就是分别对片（slice）、面（plane）、板（sheet）、道（lane）、行（row）和列（column）这些单元的各比特进行</a:t>
                </a:r>
                <a14:m>
                  <m:oMath xmlns:m="http://schemas.openxmlformats.org/officeDocument/2006/math">
                    <m:r>
                      <a:rPr lang="en-US" sz="3600" i="0" noProof="1">
                        <a:solidFill>
                          <a:srgbClr val="000000"/>
                        </a:solidFill>
                        <a:latin typeface="Times New Roman" panose="02020603050405020304"/>
                      </a:rPr>
                      <m:t>12</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1" noProof="1">
                        <a:solidFill>
                          <a:srgbClr val="000000"/>
                        </a:solidFill>
                        <a:latin typeface="Times New Roman" panose="02020603050405020304"/>
                      </a:rPr>
                      <m:t>𝑙</m:t>
                    </m:r>
                  </m:oMath>
                </a14:m>
                <a:r>
                  <a:rPr lang="en-US" sz="3600" noProof="1">
                    <a:solidFill>
                      <a:srgbClr val="000000"/>
                    </a:solidFill>
                    <a:latin typeface="Times New Roman" panose="02020603050405020304"/>
                    <a:ea typeface="宋体" panose="02010600030101010101" pitchFamily="2" charset="-122"/>
                  </a:rPr>
                  <a:t>轮迭代运算，Keccak算法的state结构如图11.6所示。</a:t>
                </a:r>
                <a:endParaRPr lang="en-US" sz="3600" noProof="1"/>
              </a:p>
            </p:txBody>
          </p:sp>
        </mc:Choice>
        <mc:Fallback>
          <p:sp>
            <p:nvSpPr>
              <p:cNvPr id="2" name="body-p25b"/>
              <p:cNvSpPr txBox="1">
                <a:spLocks noRot="1" noChangeAspect="1" noMove="1" noResize="1" noEditPoints="1" noAdjustHandles="1" noChangeArrowheads="1" noChangeShapeType="1" noTextEdit="1"/>
              </p:cNvSpPr>
              <p:nvPr/>
            </p:nvSpPr>
            <p:spPr>
              <a:xfrm>
                <a:off x="1724660" y="2095500"/>
                <a:ext cx="14820265" cy="7112000"/>
              </a:xfrm>
              <a:prstGeom prst="rect">
                <a:avLst/>
              </a:prstGeom>
              <a:blipFill rotWithShape="1">
                <a:blip r:embed="rId3"/>
                <a:stretch>
                  <a:fillRect/>
                </a:stretch>
              </a:blipFill>
              <a:ln>
                <a:noFill/>
              </a:ln>
            </p:spPr>
            <p:txBody>
              <a:bodyPr/>
              <a:lstStyle/>
              <a:p>
                <a:r>
                  <a:rPr lang="zh-CN" altLang="en-US">
                    <a:noFill/>
                  </a:rPr>
                  <a:t> </a:t>
                </a:r>
              </a:p>
            </p:txBody>
          </p:sp>
        </mc:Fallback>
      </mc:AlternateContent>
      <p:pic>
        <p:nvPicPr>
          <p:cNvPr id="3" name="img-p25b"/>
          <p:cNvPicPr/>
          <p:nvPr/>
        </p:nvPicPr>
        <p:blipFill>
          <a:blip r:embed="rId4"/>
          <a:stretch>
            <a:fillRect/>
          </a:stretch>
        </p:blipFill>
        <p:spPr>
          <a:xfrm>
            <a:off x="6837680" y="5113020"/>
            <a:ext cx="4318000" cy="4343400"/>
          </a:xfrm>
          <a:prstGeom prst="rect">
            <a:avLst/>
          </a:prstGeom>
          <a:ln>
            <a:noFill/>
          </a:ln>
        </p:spPr>
      </p:pic>
      <p:sp>
        <p:nvSpPr>
          <p:cNvPr id="4" name="imgcap-p25b"/>
          <p:cNvSpPr txBox="1"/>
          <p:nvPr/>
        </p:nvSpPr>
        <p:spPr>
          <a:xfrm>
            <a:off x="1587500" y="945642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图11.6　Keccak算法的state结构</a:t>
            </a:r>
            <a:endParaRPr lang="en-US" sz="1600" noProof="1"/>
          </a:p>
        </p:txBody>
      </p:sp>
      <p:sp>
        <p:nvSpPr>
          <p:cNvPr id="14" name="TextBox 31"/>
          <p:cNvSpPr txBox="1"/>
          <p:nvPr>
            <p:custDataLst>
              <p:tags r:id="rId5"/>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8"/>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26"/>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Keccak-</a:t>
                </a:r>
                <a14:m>
                  <m:oMath xmlns:m="http://schemas.openxmlformats.org/officeDocument/2006/math">
                    <m:r>
                      <a:rPr lang="en-US" sz="3600" i="1" noProof="1">
                        <a:solidFill>
                          <a:srgbClr val="000000"/>
                        </a:solidFill>
                        <a:latin typeface="Times New Roman" panose="02020603050405020304"/>
                      </a:rPr>
                      <m:t>𝑓</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16</m:t>
                    </m:r>
                    <m:r>
                      <a:rPr lang="en-US" sz="3600" i="0" noProof="1">
                        <a:solidFill>
                          <a:srgbClr val="000000"/>
                        </a:solidFill>
                        <a:latin typeface="Times New Roman" panose="02020603050405020304"/>
                      </a:rPr>
                      <m:t>00</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的结构如图11.7所示，通过不同的 </a:t>
                </a:r>
                <a14:m>
                  <m:oMath xmlns:m="http://schemas.openxmlformats.org/officeDocument/2006/math">
                    <m:r>
                      <a:rPr lang="en-US" sz="3600" i="1" noProof="1">
                        <a:solidFill>
                          <a:srgbClr val="000000"/>
                        </a:solidFill>
                        <a:latin typeface="Times New Roman" panose="02020603050405020304"/>
                      </a:rPr>
                      <m:t>𝑟</m:t>
                    </m:r>
                    <m:r>
                      <a:rPr lang="en-US" sz="3600" i="1" noProof="1">
                        <a:solidFill>
                          <a:srgbClr val="000000"/>
                        </a:solidFill>
                        <a:latin typeface="Times New Roman" panose="02020603050405020304"/>
                      </a:rPr>
                      <m:t>,</m:t>
                    </m:r>
                    <m:r>
                      <a:rPr lang="en-US" sz="3600" i="1" noProof="1">
                        <a:solidFill>
                          <a:srgbClr val="000000"/>
                        </a:solidFill>
                        <a:latin typeface="Times New Roman" panose="02020603050405020304"/>
                      </a:rPr>
                      <m:t>𝑐</m:t>
                    </m:r>
                  </m:oMath>
                </a14:m>
                <a:r>
                  <a:rPr lang="en-US" sz="3600" noProof="1">
                    <a:solidFill>
                      <a:srgbClr val="000000"/>
                    </a:solidFill>
                    <a:latin typeface="Times New Roman" panose="02020603050405020304"/>
                    <a:ea typeface="宋体" panose="02010600030101010101" pitchFamily="2" charset="-122"/>
                  </a:rPr>
                  <a:t> 组合实现不同版本参数的Keccak算法，它们的不同组合会对安全和性能产生影响。</a:t>
                </a:r>
                <a14:m>
                  <m:oMath xmlns:m="http://schemas.openxmlformats.org/officeDocument/2006/math">
                    <m:r>
                      <a:rPr lang="en-US" sz="3600" i="1" noProof="1">
                        <a:solidFill>
                          <a:srgbClr val="000000"/>
                        </a:solidFill>
                        <a:latin typeface="Times New Roman" panose="02020603050405020304"/>
                      </a:rPr>
                      <m:t>𝑐</m:t>
                    </m:r>
                  </m:oMath>
                </a14:m>
                <a:r>
                  <a:rPr lang="en-US" sz="3600" noProof="1">
                    <a:solidFill>
                      <a:srgbClr val="000000"/>
                    </a:solidFill>
                    <a:latin typeface="Times New Roman" panose="02020603050405020304"/>
                    <a:ea typeface="宋体" panose="02010600030101010101" pitchFamily="2" charset="-122"/>
                  </a:rPr>
                  <a:t> 和 </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 的组合不同，生成的杂凑值也不同，而不是简单地减小了输出的长度，这是Keccak算法最终能够胜出的很重要的一个原因。</a:t>
                </a:r>
                <a:endParaRPr lang="en-US" sz="3600" noProof="1"/>
              </a:p>
              <a:p>
                <a:pPr indent="457200" algn="just" fontAlgn="auto">
                  <a:lnSpc>
                    <a:spcPct val="120000"/>
                  </a:lnSpc>
                </a:pPr>
                <a:endParaRPr lang="en-US" sz="3600" noProof="1"/>
              </a:p>
            </p:txBody>
          </p:sp>
        </mc:Choice>
        <mc:Fallback>
          <p:sp>
            <p:nvSpPr>
              <p:cNvPr id="2" name="body-p26"/>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pic>
        <p:nvPicPr>
          <p:cNvPr id="3" name="img-p26"/>
          <p:cNvPicPr/>
          <p:nvPr/>
        </p:nvPicPr>
        <p:blipFill>
          <a:blip r:embed="rId4"/>
          <a:stretch>
            <a:fillRect/>
          </a:stretch>
        </p:blipFill>
        <p:spPr>
          <a:xfrm>
            <a:off x="5319395" y="5143500"/>
            <a:ext cx="7620000" cy="3530600"/>
          </a:xfrm>
          <a:prstGeom prst="rect">
            <a:avLst/>
          </a:prstGeom>
          <a:ln>
            <a:noFill/>
          </a:ln>
        </p:spPr>
      </p:pic>
      <mc:AlternateContent xmlns:mc="http://schemas.openxmlformats.org/markup-compatibility/2006">
        <mc:Choice xmlns:a14="http://schemas.microsoft.com/office/drawing/2010/main" Requires="a14">
          <p:sp>
            <p:nvSpPr>
              <p:cNvPr id="4" name="imgcap-p26"/>
              <p:cNvSpPr txBox="1"/>
              <p:nvPr/>
            </p:nvSpPr>
            <p:spPr>
              <a:xfrm>
                <a:off x="1734820" y="8737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图11.7　Keccak-</a:t>
                </a:r>
                <a14:m>
                  <m:oMath xmlns:m="http://schemas.openxmlformats.org/officeDocument/2006/math">
                    <m:r>
                      <a:rPr lang="en-US" i="1" noProof="1">
                        <a:solidFill>
                          <a:srgbClr val="000000"/>
                        </a:solidFill>
                        <a:latin typeface="Times New Roman" panose="02020603050405020304"/>
                      </a:rPr>
                      <m:t>𝑓</m:t>
                    </m:r>
                    <m:r>
                      <a:rPr lang="en-US" i="0" noProof="1">
                        <a:solidFill>
                          <a:srgbClr val="000000"/>
                        </a:solidFill>
                        <a:latin typeface="Times New Roman" panose="02020603050405020304"/>
                      </a:rPr>
                      <m:t>[</m:t>
                    </m:r>
                    <m:r>
                      <a:rPr lang="en-US" i="0" noProof="1">
                        <a:solidFill>
                          <a:srgbClr val="000000"/>
                        </a:solidFill>
                        <a:latin typeface="Times New Roman" panose="02020603050405020304"/>
                      </a:rPr>
                      <m:t>1</m:t>
                    </m:r>
                    <m:r>
                      <a:rPr lang="en-US" i="0" noProof="1">
                        <a:solidFill>
                          <a:srgbClr val="000000"/>
                        </a:solidFill>
                        <a:latin typeface="Times New Roman" panose="02020603050405020304"/>
                      </a:rPr>
                      <m:t>6</m:t>
                    </m:r>
                    <m:r>
                      <a:rPr lang="en-US" i="0" noProof="1">
                        <a:solidFill>
                          <a:srgbClr val="000000"/>
                        </a:solidFill>
                        <a:latin typeface="Times New Roman" panose="02020603050405020304"/>
                      </a:rPr>
                      <m:t>0</m:t>
                    </m:r>
                    <m:r>
                      <a:rPr lang="en-US" i="0" noProof="1">
                        <a:solidFill>
                          <a:srgbClr val="000000"/>
                        </a:solidFill>
                        <a:latin typeface="Times New Roman" panose="02020603050405020304"/>
                      </a:rPr>
                      <m:t>0</m:t>
                    </m:r>
                    <m:r>
                      <a:rPr lang="en-US" i="0" noProof="1">
                        <a:solidFill>
                          <a:srgbClr val="000000"/>
                        </a:solidFill>
                        <a:latin typeface="Times New Roman" panose="02020603050405020304"/>
                      </a:rPr>
                      <m:t>]</m:t>
                    </m:r>
                  </m:oMath>
                </a14:m>
                <a:r>
                  <a:rPr lang="en-US" sz="1600" noProof="1">
                    <a:solidFill>
                      <a:srgbClr val="000000"/>
                    </a:solidFill>
                    <a:latin typeface="Times New Roman" panose="02020603050405020304"/>
                    <a:ea typeface="Times New Roman" panose="02020603050405020304"/>
                  </a:rPr>
                  <a:t> 的结构</a:t>
                </a:r>
                <a:endParaRPr lang="en-US" sz="1600" noProof="1"/>
              </a:p>
            </p:txBody>
          </p:sp>
        </mc:Choice>
        <mc:Fallback>
          <p:sp>
            <p:nvSpPr>
              <p:cNvPr id="4" name="imgcap-p26"/>
              <p:cNvSpPr txBox="1">
                <a:spLocks noRot="1" noChangeAspect="1" noMove="1" noResize="1" noEditPoints="1" noAdjustHandles="1" noChangeArrowheads="1" noChangeShapeType="1" noTextEdit="1"/>
              </p:cNvSpPr>
              <p:nvPr/>
            </p:nvSpPr>
            <p:spPr>
              <a:xfrm>
                <a:off x="1734820" y="8737600"/>
                <a:ext cx="14818360" cy="508000"/>
              </a:xfrm>
              <a:prstGeom prst="rect">
                <a:avLst/>
              </a:prstGeom>
              <a:blipFill rotWithShape="1">
                <a:blip r:embed="rId5"/>
                <a:stretch>
                  <a:fillRect/>
                </a:stretch>
              </a:blipFill>
              <a:ln>
                <a:noFill/>
              </a:ln>
            </p:spPr>
            <p:txBody>
              <a:bodyPr/>
              <a:lstStyle/>
              <a:p>
                <a:r>
                  <a:rPr lang="zh-CN" altLang="en-US">
                    <a:noFill/>
                  </a:rPr>
                  <a:t> </a:t>
                </a:r>
              </a:p>
            </p:txBody>
          </p:sp>
        </mc:Fallback>
      </mc:AlternateContent>
      <p:sp>
        <p:nvSpPr>
          <p:cNvPr id="14" name="TextBox 31"/>
          <p:cNvSpPr txBox="1"/>
          <p:nvPr>
            <p:custDataLst>
              <p:tags r:id="rId6"/>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7"/>
            </p:custDataLst>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9"/>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10"/>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1"/>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2"/>
              </p:custDataLst>
            </p:nvPr>
          </p:nvPicPr>
          <p:blipFill>
            <a:blip r:embed="rId13"/>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p:nvPr/>
        </p:nvGrpSpPr>
        <p:grpSpPr>
          <a:xfrm>
            <a:off x="412090" y="1028700"/>
            <a:ext cx="7800783" cy="275915"/>
            <a:chOff x="0" y="0"/>
            <a:chExt cx="2054527" cy="72669"/>
          </a:xfrm>
        </p:grpSpPr>
        <p:sp>
          <p:nvSpPr>
            <p:cNvPr id="7"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26"/>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置换 </a:t>
                </a:r>
                <a14:m>
                  <m:oMath xmlns:m="http://schemas.openxmlformats.org/officeDocument/2006/math">
                    <m:r>
                      <a:rPr lang="en-US" sz="3600" i="1" noProof="1">
                        <a:solidFill>
                          <a:srgbClr val="000000"/>
                        </a:solidFill>
                        <a:latin typeface="Times New Roman" panose="02020603050405020304"/>
                      </a:rPr>
                      <m:t>𝑓</m:t>
                    </m:r>
                  </m:oMath>
                </a14:m>
                <a:r>
                  <a:rPr lang="en-US" sz="3600" noProof="1">
                    <a:solidFill>
                      <a:srgbClr val="000000"/>
                    </a:solidFill>
                    <a:latin typeface="Times New Roman" panose="02020603050405020304"/>
                    <a:ea typeface="宋体" panose="02010600030101010101" pitchFamily="2" charset="-122"/>
                  </a:rPr>
                  <a:t> 可视为SP结构，每一迭代的轮函数为5个变换的复合：</a:t>
                </a:r>
                <a14:m>
                  <m:oMath xmlns:m="http://schemas.openxmlformats.org/officeDocument/2006/math">
                    <m:r>
                      <a:rPr lang="en-US" sz="3600" i="1" noProof="1">
                        <a:solidFill>
                          <a:srgbClr val="000000"/>
                        </a:solidFill>
                        <a:latin typeface="Times New Roman" panose="02020603050405020304"/>
                      </a:rPr>
                      <m:t>𝑅</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𝜏</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𝜋</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𝜌</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𝜃</m:t>
                    </m:r>
                  </m:oMath>
                </a14:m>
                <a:r>
                  <a:rPr lang="en-US" sz="3600" noProof="1">
                    <a:solidFill>
                      <a:srgbClr val="000000"/>
                    </a:solidFill>
                    <a:latin typeface="Times New Roman" panose="02020603050405020304"/>
                    <a:ea typeface="宋体" panose="02010600030101010101" pitchFamily="2" charset="-122"/>
                  </a:rPr>
                  <a:t>，它们分别对三维数组的不同方向进行变换，以达到混淆和扩散的目的。这5个变换如下所示。</a:t>
                </a:r>
                <a:endParaRPr lang="en-US" sz="3600" noProof="1"/>
              </a:p>
            </p:txBody>
          </p:sp>
        </mc:Choice>
        <mc:Fallback>
          <p:sp>
            <p:nvSpPr>
              <p:cNvPr id="2" name="body-p26"/>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
          <p:cNvGrpSpPr/>
          <p:nvPr/>
        </p:nvGrpSpPr>
        <p:grpSpPr>
          <a:xfrm>
            <a:off x="412090" y="1028700"/>
            <a:ext cx="7800783" cy="275915"/>
            <a:chOff x="0" y="0"/>
            <a:chExt cx="2054527" cy="72669"/>
          </a:xfrm>
        </p:grpSpPr>
        <p:sp>
          <p:nvSpPr>
            <p:cNvPr id="10"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27"/>
              <p:cNvSpPr txBox="1"/>
              <p:nvPr/>
            </p:nvSpPr>
            <p:spPr>
              <a:xfrm>
                <a:off x="940435" y="2051685"/>
                <a:ext cx="16299180" cy="6858000"/>
              </a:xfrm>
              <a:prstGeom prst="rect">
                <a:avLst/>
              </a:prstGeom>
              <a:noFill/>
              <a:ln>
                <a:noFill/>
              </a:ln>
            </p:spPr>
            <p:txBody>
              <a:bodyPr wrap="square" lIns="0" tIns="0" rIns="0" bIns="0" rtlCol="0" anchor="t"/>
              <a:lstStyle/>
              <a:p>
                <a:pPr indent="457200" algn="just" fontAlgn="auto" latinLnBrk="1">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𝜃</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𝑧</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𝑧</m:t>
                    </m:r>
                    <m:r>
                      <a:rPr lang="en-US" sz="3600" i="0" noProof="1">
                        <a:solidFill>
                          <a:srgbClr val="000000"/>
                        </a:solidFill>
                        <a:latin typeface="Cambria Math" panose="02040503050406030204" charset="0"/>
                        <a:ea typeface="MS Mincho" charset="0"/>
                        <a:cs typeface="Cambria Math" panose="02040503050406030204" charset="0"/>
                      </a:rPr>
                      <m:t>]⊕</m:t>
                    </m:r>
                    <m:nary>
                      <m:naryPr>
                        <m:chr m:val="∑"/>
                        <m:limLoc m:val="undOv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naryPr>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0</m:t>
                        </m:r>
                      </m:sub>
                      <m:sup>
                        <m:r>
                          <a:rPr lang="en-US" sz="3600" i="0" noProof="1">
                            <a:solidFill>
                              <a:srgbClr val="000000"/>
                            </a:solidFill>
                            <a:latin typeface="Cambria Math" panose="02040503050406030204" charset="0"/>
                            <a:ea typeface="MS Mincho" charset="0"/>
                            <a:cs typeface="Cambria Math" panose="02040503050406030204" charset="0"/>
                          </a:rPr>
                          <m:t>4</m:t>
                        </m:r>
                      </m:sup>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𝑧</m:t>
                        </m:r>
                        <m:r>
                          <a:rPr lang="en-US" sz="3600" i="0" noProof="1">
                            <a:solidFill>
                              <a:srgbClr val="000000"/>
                            </a:solidFill>
                            <a:latin typeface="Cambria Math" panose="02040503050406030204" charset="0"/>
                            <a:ea typeface="MS Mincho" charset="0"/>
                            <a:cs typeface="Cambria Math" panose="02040503050406030204" charset="0"/>
                          </a:rPr>
                          <m:t>]</m:t>
                        </m:r>
                      </m:e>
                    </m:nary>
                    <m:r>
                      <a:rPr lang="en-US" sz="3600" i="0" noProof="1">
                        <a:solidFill>
                          <a:srgbClr val="000000"/>
                        </a:solidFill>
                        <a:latin typeface="Cambria Math" panose="02040503050406030204" charset="0"/>
                        <a:ea typeface="MS Mincho" charset="0"/>
                        <a:cs typeface="Cambria Math" panose="02040503050406030204" charset="0"/>
                      </a:rPr>
                      <m:t>⊕</m:t>
                    </m:r>
                    <m:nary>
                      <m:naryPr>
                        <m:chr m:val="∑"/>
                        <m:limLoc m:val="undOv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naryPr>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0</m:t>
                        </m:r>
                      </m:sub>
                      <m:sup>
                        <m:r>
                          <a:rPr lang="en-US" sz="3600" i="0" noProof="1">
                            <a:solidFill>
                              <a:srgbClr val="000000"/>
                            </a:solidFill>
                            <a:latin typeface="Cambria Math" panose="02040503050406030204" charset="0"/>
                            <a:ea typeface="MS Mincho" charset="0"/>
                            <a:cs typeface="Cambria Math" panose="02040503050406030204" charset="0"/>
                          </a:rPr>
                          <m:t>4</m:t>
                        </m:r>
                      </m:sup>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𝑧</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r>
                          <a:rPr lang="en-US" sz="3600" i="0" noProof="1">
                            <a:solidFill>
                              <a:srgbClr val="000000"/>
                            </a:solidFill>
                            <a:latin typeface="Cambria Math" panose="02040503050406030204" charset="0"/>
                            <a:ea typeface="MS Mincho" charset="0"/>
                            <a:cs typeface="Cambria Math" panose="02040503050406030204" charset="0"/>
                          </a:rPr>
                          <m:t>]</m:t>
                        </m:r>
                      </m:e>
                    </m:nary>
                  </m:oMath>
                </a14:m>
                <a:endParaRPr sz="3600" i="1">
                  <a:latin typeface="Cambria Math" panose="02040503050406030204" charset="0"/>
                  <a:ea typeface="宋体" panose="02010600030101010101" pitchFamily="2" charset="-122"/>
                  <a:cs typeface="Cambria Math" panose="02040503050406030204" charset="0"/>
                </a:endParaRPr>
              </a:p>
              <a:p>
                <a:pPr indent="457200" algn="just" fontAlgn="auto" latinLnBrk="1">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这一变换是将每比特附近的两column比特之和迭加到该比特上，即</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𝜃</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变换将状态中的每一比特更新为其本身和其左边和右后方两列共11bit的异或值（</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的坐标都是模5的）。</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27"/>
              <p:cNvSpPr txBox="1">
                <a:spLocks noRot="1" noChangeAspect="1" noMove="1" noResize="1" noEditPoints="1" noAdjustHandles="1" noChangeArrowheads="1" noChangeShapeType="1" noTextEdit="1"/>
              </p:cNvSpPr>
              <p:nvPr/>
            </p:nvSpPr>
            <p:spPr>
              <a:xfrm>
                <a:off x="940435" y="2051685"/>
                <a:ext cx="1629918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28"/>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000" noProof="1">
                    <a:solidFill>
                      <a:srgbClr val="000000"/>
                    </a:solidFill>
                    <a:latin typeface="Times New Roman" panose="02020603050405020304"/>
                    <a:ea typeface="宋体" panose="02010600030101010101" pitchFamily="2" charset="-122"/>
                  </a:rPr>
                  <a:t>（</a:t>
                </a:r>
                <a:r>
                  <a:rPr lang="en-US" sz="3600" noProof="1">
                    <a:solidFill>
                      <a:srgbClr val="000000"/>
                    </a:solidFill>
                    <a:latin typeface="Times New Roman" panose="02020603050405020304"/>
                    <a:ea typeface="宋体" panose="02010600030101010101" pitchFamily="2" charset="-122"/>
                  </a:rPr>
                  <a:t>2）</a:t>
                </a:r>
                <a14:m>
                  <m:oMath xmlns:m="http://schemas.openxmlformats.org/officeDocument/2006/math">
                    <m:r>
                      <a:rPr lang="en-US" sz="3600" noProof="1">
                        <a:solidFill>
                          <a:srgbClr val="000000"/>
                        </a:solidFill>
                        <a:latin typeface="Times New Roman" panose="02020603050405020304"/>
                      </a:rPr>
                      <m:t>𝜌</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f>
                      <m:fPr>
                        <m:ctrlPr>
                          <a:rPr sz="3600"/>
                        </m:ctrlPr>
                      </m:fPr>
                      <m:num>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m:t>
                        </m:r>
                        <m:r>
                          <a:rPr lang="en-US" sz="3600" noProof="1">
                            <a:solidFill>
                              <a:srgbClr val="000000"/>
                            </a:solidFill>
                            <a:latin typeface="Times New Roman" panose="02020603050405020304"/>
                          </a:rPr>
                          <m:t>)</m:t>
                        </m:r>
                      </m:num>
                      <m:den>
                        <m:r>
                          <a:rPr lang="en-US" sz="3600" noProof="1">
                            <a:solidFill>
                              <a:srgbClr val="000000"/>
                            </a:solidFill>
                            <a:latin typeface="Times New Roman" panose="02020603050405020304"/>
                          </a:rPr>
                          <m:t>2</m:t>
                        </m:r>
                      </m:den>
                    </m:f>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&lt;</m:t>
                    </m:r>
                    <m:r>
                      <a:rPr lang="en-US" sz="3600" noProof="1">
                        <a:solidFill>
                          <a:srgbClr val="000000"/>
                        </a:solidFill>
                        <a:latin typeface="Times New Roman" panose="02020603050405020304"/>
                      </a:rPr>
                      <m:t>24</m:t>
                    </m:r>
                  </m:oMath>
                </a14:m>
                <a:r>
                  <a:rPr lang="en-US" sz="3600" noProof="1">
                    <a:solidFill>
                      <a:srgbClr val="000000"/>
                    </a:solidFill>
                    <a:latin typeface="Times New Roman" panose="02020603050405020304"/>
                    <a:ea typeface="宋体" panose="02010600030101010101" pitchFamily="2" charset="-122"/>
                  </a:rPr>
                  <a:t>，满足</a:t>
                </a:r>
                <a14:m>
                  <m:oMath xmlns:m="http://schemas.openxmlformats.org/officeDocument/2006/math">
                    <m:d>
                      <m:dPr>
                        <m:ctrlPr>
                          <a:rPr lang="en-US" sz="3600" noProof="1">
                            <a:solidFill>
                              <a:srgbClr val="000000"/>
                            </a:solidFill>
                            <a:latin typeface="Times New Roman" panose="02020603050405020304"/>
                          </a:rPr>
                        </m:ctrlPr>
                      </m:dPr>
                      <m:e>
                        <m:m>
                          <m:mPr>
                            <m:mcs>
                              <m:mc>
                                <m:mcPr>
                                  <m:count m:val="1"/>
                                  <m:mcJc m:val="center"/>
                                </m:mcPr>
                              </m:mc>
                            </m:mcs>
                            <m:ctrlPr>
                              <a:rPr lang="en-US" sz="3600" noProof="1">
                                <a:solidFill>
                                  <a:srgbClr val="000000"/>
                                </a:solidFill>
                                <a:latin typeface="Times New Roman" panose="02020603050405020304"/>
                              </a:rPr>
                            </m:ctrlPr>
                          </m:mPr>
                          <m:mr>
                            <m:e>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e>
                          </m:mr>
                          <m:mr>
                            <m:e>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y</m:t>
                                  </m:r>
                                </m:e>
                                <m:sup>
                                  <m:r>
                                    <a:rPr lang="en-US" sz="3600" noProof="1">
                                      <a:solidFill>
                                        <a:srgbClr val="000000"/>
                                      </a:solidFill>
                                      <a:latin typeface="Times New Roman" panose="02020603050405020304"/>
                                    </a:rPr>
                                    <m:t>′</m:t>
                                  </m:r>
                                </m:sup>
                              </m:sSup>
                            </m:e>
                          </m:mr>
                        </m:m>
                      </m:e>
                    </m:d>
                    <m:r>
                      <a:rPr lang="en-US" sz="3600" noProof="1">
                        <a:solidFill>
                          <a:srgbClr val="000000"/>
                        </a:solidFill>
                        <a:latin typeface="Times New Roman" panose="02020603050405020304"/>
                      </a:rPr>
                      <m:t>=</m:t>
                    </m:r>
                    <m:d>
                      <m:dPr>
                        <m:ctrlPr>
                          <a:rPr lang="en-US" sz="3600" noProof="1">
                            <a:solidFill>
                              <a:srgbClr val="000000"/>
                            </a:solidFill>
                            <a:latin typeface="Times New Roman" panose="02020603050405020304"/>
                          </a:rPr>
                        </m:ctrlPr>
                      </m:dPr>
                      <m:e>
                        <m:m>
                          <m:mPr>
                            <m:mcs>
                              <m:mc>
                                <m:mcPr>
                                  <m:count m:val="2"/>
                                  <m:mcJc m:val="center"/>
                                </m:mcPr>
                              </m:mc>
                            </m:mcs>
                            <m:ctrlPr>
                              <a:rPr lang="en-US" sz="3600" i="1" noProof="1">
                                <a:solidFill>
                                  <a:srgbClr val="000000"/>
                                </a:solidFill>
                                <a:latin typeface="Cambria Math" panose="02040503050406030204" charset="0"/>
                                <a:cs typeface="Cambria Math" panose="02040503050406030204" charset="0"/>
                              </a:rPr>
                            </m:ctrlPr>
                          </m:mPr>
                          <m:mr>
                            <m:e>
                              <m:r>
                                <a:rPr lang="en-US" sz="3600" i="1" noProof="1">
                                  <a:solidFill>
                                    <a:srgbClr val="000000"/>
                                  </a:solidFill>
                                  <a:latin typeface="Cambria Math" panose="02040503050406030204" charset="0"/>
                                  <a:cs typeface="Cambria Math" panose="02040503050406030204" charset="0"/>
                                </a:rPr>
                                <m:t>0</m:t>
                              </m:r>
                            </m:e>
                            <m:e>
                              <m:r>
                                <a:rPr lang="en-US" sz="3600" i="1" noProof="1">
                                  <a:solidFill>
                                    <a:srgbClr val="000000"/>
                                  </a:solidFill>
                                  <a:latin typeface="Cambria Math" panose="02040503050406030204" charset="0"/>
                                  <a:cs typeface="Cambria Math" panose="02040503050406030204" charset="0"/>
                                </a:rPr>
                                <m:t>1</m:t>
                              </m:r>
                            </m:e>
                          </m:mr>
                          <m:mr>
                            <m:e>
                              <m:r>
                                <a:rPr lang="en-US" sz="3600" i="1" noProof="1">
                                  <a:solidFill>
                                    <a:srgbClr val="000000"/>
                                  </a:solidFill>
                                  <a:latin typeface="Cambria Math" panose="02040503050406030204" charset="0"/>
                                  <a:cs typeface="Cambria Math" panose="02040503050406030204" charset="0"/>
                                </a:rPr>
                                <m:t>2</m:t>
                              </m:r>
                            </m:e>
                            <m:e>
                              <m:r>
                                <a:rPr lang="en-US" sz="3600" i="1" noProof="1">
                                  <a:solidFill>
                                    <a:srgbClr val="000000"/>
                                  </a:solidFill>
                                  <a:latin typeface="Cambria Math" panose="02040503050406030204" charset="0"/>
                                  <a:cs typeface="Cambria Math" panose="02040503050406030204" charset="0"/>
                                </a:rPr>
                                <m:t>3</m:t>
                              </m:r>
                            </m:e>
                          </m:mr>
                        </m:m>
                      </m:e>
                    </m:d>
                    <m:d>
                      <m:dPr>
                        <m:ctrlPr>
                          <a:rPr lang="en-US" sz="3600" noProof="1">
                            <a:solidFill>
                              <a:srgbClr val="000000"/>
                            </a:solidFill>
                            <a:latin typeface="Times New Roman" panose="02020603050405020304"/>
                          </a:rPr>
                        </m:ctrlPr>
                      </m:dPr>
                      <m:e>
                        <m:m>
                          <m:mPr>
                            <m:mcs>
                              <m:mc>
                                <m:mcPr>
                                  <m:count m:val="1"/>
                                  <m:mcJc m:val="center"/>
                                </m:mcPr>
                              </m:mc>
                            </m:mcs>
                            <m:ctrlPr>
                              <a:rPr lang="en-US" sz="3600" noProof="1">
                                <a:solidFill>
                                  <a:srgbClr val="000000"/>
                                </a:solidFill>
                                <a:latin typeface="Times New Roman" panose="02020603050405020304"/>
                              </a:rPr>
                            </m:ctrlPr>
                          </m:mPr>
                          <m:mr>
                            <m:e>
                              <m:r>
                                <m:rPr>
                                  <m:sty m:val="p"/>
                                </m:rPr>
                                <a:rPr lang="en-US" sz="3600" noProof="1">
                                  <a:solidFill>
                                    <a:srgbClr val="000000"/>
                                  </a:solidFill>
                                  <a:latin typeface="Times New Roman" panose="02020603050405020304"/>
                                </a:rPr>
                                <m:t>x</m:t>
                              </m:r>
                            </m:e>
                          </m:mr>
                          <m:mr>
                            <m:e>
                              <m:r>
                                <m:rPr>
                                  <m:sty m:val="p"/>
                                </m:rPr>
                                <a:rPr lang="en-US" sz="3600" noProof="1">
                                  <a:solidFill>
                                    <a:srgbClr val="000000"/>
                                  </a:solidFill>
                                  <a:latin typeface="Times New Roman" panose="02020603050405020304"/>
                                </a:rPr>
                                <m:t>y</m:t>
                              </m:r>
                            </m:e>
                          </m:mr>
                        </m:m>
                      </m:e>
                    </m:d>
                  </m:oMath>
                </a14:m>
                <a:r>
                  <a:rPr lang="en-US" sz="3600" noProof="1">
                    <a:solidFill>
                      <a:srgbClr val="000000"/>
                    </a:solidFill>
                    <a:latin typeface="Times New Roman" panose="02020603050405020304"/>
                    <a:ea typeface="宋体" panose="02010600030101010101" pitchFamily="2" charset="-122"/>
                  </a:rPr>
                  <a:t>，矩阵元素为GF(5)中元素，且</a:t>
                </a:r>
                <a14:m>
                  <m:oMath xmlns:m="http://schemas.openxmlformats.org/officeDocument/2006/math">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oMath>
                </a14:m>
                <a:r>
                  <a:rPr lang="en-US" sz="3600" noProof="1">
                    <a:solidFill>
                      <a:srgbClr val="000000"/>
                    </a:solidFill>
                    <a:latin typeface="Times New Roman" panose="02020603050405020304"/>
                    <a:ea typeface="宋体" panose="02010600030101010101" pitchFamily="2" charset="-122"/>
                  </a:rPr>
                  <a:t>时</a:t>
                </a:r>
                <a14:m>
                  <m:oMath xmlns:m="http://schemas.openxmlformats.org/officeDocument/2006/math">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这一变换是针对每个</a:t>
                </a:r>
                <a14:m>
                  <m:oMath xmlns:m="http://schemas.openxmlformats.org/officeDocument/2006/math">
                    <m:r>
                      <m:rPr>
                        <m:sty m:val="p"/>
                      </m:rPr>
                      <a:rPr lang="en-US" sz="3600" noProof="1">
                        <a:solidFill>
                          <a:srgbClr val="000000"/>
                        </a:solidFill>
                        <a:latin typeface="Times New Roman" panose="02020603050405020304"/>
                      </a:rPr>
                      <m:t>Z</m:t>
                    </m:r>
                  </m:oMath>
                </a14:m>
                <a:r>
                  <a:rPr lang="en-US" sz="3600" noProof="1">
                    <a:solidFill>
                      <a:srgbClr val="000000"/>
                    </a:solidFill>
                    <a:latin typeface="Times New Roman" panose="02020603050405020304"/>
                    <a:ea typeface="宋体" panose="02010600030101010101" pitchFamily="2" charset="-122"/>
                  </a:rPr>
                  <a:t>方向lane的比特循环移位，即使每一lane沿 </a:t>
                </a:r>
                <a14:m>
                  <m:oMath xmlns:m="http://schemas.openxmlformats.org/officeDocument/2006/math">
                    <m:r>
                      <m:rPr>
                        <m:sty m:val="p"/>
                      </m:rPr>
                      <a:rPr lang="en-US" sz="3600" noProof="1">
                        <a:solidFill>
                          <a:srgbClr val="000000"/>
                        </a:solidFill>
                        <a:latin typeface="Times New Roman" panose="02020603050405020304"/>
                      </a:rPr>
                      <m:t>z</m:t>
                    </m:r>
                  </m:oMath>
                </a14:m>
                <a:r>
                  <a:rPr lang="en-US" sz="3600" noProof="1">
                    <a:solidFill>
                      <a:srgbClr val="000000"/>
                    </a:solidFill>
                    <a:latin typeface="Times New Roman" panose="02020603050405020304"/>
                    <a:ea typeface="宋体" panose="02010600030101010101" pitchFamily="2" charset="-122"/>
                  </a:rPr>
                  <a:t> 轴方向移动，移动的距离为</a:t>
                </a:r>
                <a14:m>
                  <m:oMath xmlns:m="http://schemas.openxmlformats.org/officeDocument/2006/math">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f>
                      <m:fPr>
                        <m:ctrlPr>
                          <a:rPr sz="3600"/>
                        </m:ctrlPr>
                      </m:fPr>
                      <m:num>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t</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m:t>
                        </m:r>
                        <m:r>
                          <a:rPr lang="en-US" sz="3600" noProof="1">
                            <a:solidFill>
                              <a:srgbClr val="000000"/>
                            </a:solidFill>
                            <a:latin typeface="Times New Roman" panose="02020603050405020304"/>
                          </a:rPr>
                          <m:t>)</m:t>
                        </m:r>
                      </m:num>
                      <m:den>
                        <m:r>
                          <a:rPr lang="en-US" sz="3600" noProof="1">
                            <a:solidFill>
                              <a:srgbClr val="000000"/>
                            </a:solidFill>
                            <a:latin typeface="Times New Roman" panose="02020603050405020304"/>
                          </a:rPr>
                          <m:t>2</m:t>
                        </m:r>
                      </m:den>
                    </m:f>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noProof="1">
                        <a:solidFill>
                          <a:srgbClr val="000000"/>
                        </a:solidFill>
                        <a:latin typeface="Times New Roman" panose="02020603050405020304"/>
                      </a:rPr>
                      <m:t>𝜌</m:t>
                    </m:r>
                  </m:oMath>
                </a14:m>
                <a:r>
                  <a:rPr lang="en-US" sz="3600" noProof="1">
                    <a:solidFill>
                      <a:srgbClr val="000000"/>
                    </a:solidFill>
                    <a:latin typeface="Times New Roman" panose="02020603050405020304"/>
                    <a:ea typeface="宋体" panose="02010600030101010101" pitchFamily="2" charset="-122"/>
                  </a:rPr>
                  <a:t>的移位距离表如表11.5所示。</a:t>
                </a:r>
                <a:endParaRPr lang="en-US" sz="3600" noProof="1"/>
              </a:p>
            </p:txBody>
          </p:sp>
        </mc:Choice>
        <mc:Fallback>
          <p:sp>
            <p:nvSpPr>
              <p:cNvPr id="2" name="body-p28"/>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
          <p:cNvGrpSpPr/>
          <p:nvPr/>
        </p:nvGrpSpPr>
        <p:grpSpPr>
          <a:xfrm>
            <a:off x="412090" y="1028700"/>
            <a:ext cx="7800783" cy="275915"/>
            <a:chOff x="0" y="0"/>
            <a:chExt cx="2054527" cy="72669"/>
          </a:xfrm>
        </p:grpSpPr>
        <p:sp>
          <p:nvSpPr>
            <p:cNvPr id="10"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tabcap-p29"/>
              <p:cNvSpPr txBox="1"/>
              <p:nvPr/>
            </p:nvSpPr>
            <p:spPr>
              <a:xfrm>
                <a:off x="1734820" y="23114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表11.5　</a:t>
                </a:r>
                <a14:m>
                  <m:oMath xmlns:m="http://schemas.openxmlformats.org/officeDocument/2006/math">
                    <m:r>
                      <a:rPr lang="en-US" i="0" noProof="1">
                        <a:solidFill>
                          <a:srgbClr val="000000"/>
                        </a:solidFill>
                        <a:latin typeface="Times New Roman" panose="02020603050405020304"/>
                      </a:rPr>
                      <m:t>𝜌</m:t>
                    </m:r>
                  </m:oMath>
                </a14:m>
                <a:r>
                  <a:rPr lang="en-US" sz="1600" noProof="1">
                    <a:solidFill>
                      <a:srgbClr val="000000"/>
                    </a:solidFill>
                    <a:latin typeface="Times New Roman" panose="02020603050405020304"/>
                    <a:ea typeface="Times New Roman" panose="02020603050405020304"/>
                  </a:rPr>
                  <a:t>的移位距离表</a:t>
                </a:r>
                <a:endParaRPr lang="en-US" sz="1600" noProof="1"/>
              </a:p>
            </p:txBody>
          </p:sp>
        </mc:Choice>
        <mc:Fallback>
          <p:sp>
            <p:nvSpPr>
              <p:cNvPr id="2" name="tabcap-p29"/>
              <p:cNvSpPr txBox="1">
                <a:spLocks noRot="1" noChangeAspect="1" noMove="1" noResize="1" noEditPoints="1" noAdjustHandles="1" noChangeArrowheads="1" noChangeShapeType="1" noTextEdit="1"/>
              </p:cNvSpPr>
              <p:nvPr/>
            </p:nvSpPr>
            <p:spPr>
              <a:xfrm>
                <a:off x="1734820" y="2311400"/>
                <a:ext cx="14818360" cy="508000"/>
              </a:xfrm>
              <a:prstGeom prst="rect">
                <a:avLst/>
              </a:prstGeom>
              <a:blipFill rotWithShape="1">
                <a:blip r:embed="rId3"/>
                <a:stretch>
                  <a:fillRect/>
                </a:stretch>
              </a:blipFill>
              <a:ln>
                <a:noFill/>
              </a:ln>
            </p:spPr>
            <p:txBody>
              <a:bodyPr/>
              <a:lstStyle/>
              <a:p>
                <a:r>
                  <a:rPr lang="zh-CN" altLang="en-US">
                    <a:noFill/>
                  </a:rPr>
                  <a:t> </a:t>
                </a:r>
              </a:p>
            </p:txBody>
          </p:sp>
        </mc:Fallback>
      </mc:AlternateContent>
      <p:graphicFrame>
        <p:nvGraphicFramePr>
          <p:cNvPr id="3" name="p29t"/>
          <p:cNvGraphicFramePr>
            <a:graphicFrameLocks noGrp="1"/>
          </p:cNvGraphicFramePr>
          <p:nvPr/>
        </p:nvGraphicFramePr>
        <p:xfrm>
          <a:off x="3429000" y="2984500"/>
          <a:ext cx="11430000" cy="5207001"/>
        </p:xfrm>
        <a:graphic>
          <a:graphicData uri="http://schemas.openxmlformats.org/drawingml/2006/table">
            <a:tbl>
              <a:tblPr/>
              <a:tblGrid>
                <a:gridCol w="2286000"/>
                <a:gridCol w="1828800"/>
                <a:gridCol w="1828800"/>
                <a:gridCol w="1828800"/>
                <a:gridCol w="1828800"/>
                <a:gridCol w="1828800"/>
              </a:tblGrid>
              <a:tr h="868007">
                <a:tc>
                  <a:txBody>
                    <a:bodyPr wrap="square" rtlCol="0"/>
                    <a:lstStyle/>
                    <a:p>
                      <a:pPr algn="ct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x=0</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x=1</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x=2</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x=3</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x=4</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868007">
                <a:tc>
                  <a:txBody>
                    <a:bodyPr wrap="square" rtlCol="0"/>
                    <a:lstStyle/>
                    <a:p>
                      <a:pPr algn="ctr"/>
                      <a:r>
                        <a:rPr lang="en-US" sz="2800" b="1" noProof="1">
                          <a:solidFill>
                            <a:srgbClr val="333333"/>
                          </a:solidFill>
                          <a:latin typeface="Times New Roman" panose="02020603050405020304"/>
                          <a:ea typeface="宋体" panose="02010600030101010101" pitchFamily="2" charset="-122"/>
                        </a:rPr>
                        <a:t>y=0</a:t>
                      </a:r>
                      <a:endParaRPr lang="en-US" sz="28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0</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1</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62</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28</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27</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868007">
                <a:tc>
                  <a:txBody>
                    <a:bodyPr wrap="square" rtlCol="0"/>
                    <a:lstStyle/>
                    <a:p>
                      <a:pPr algn="ctr"/>
                      <a:r>
                        <a:rPr lang="en-US" sz="2800" b="1" noProof="1">
                          <a:solidFill>
                            <a:srgbClr val="333333"/>
                          </a:solidFill>
                          <a:latin typeface="Times New Roman" panose="02020603050405020304"/>
                          <a:ea typeface="宋体" panose="02010600030101010101" pitchFamily="2" charset="-122"/>
                        </a:rPr>
                        <a:t>y=1</a:t>
                      </a:r>
                      <a:endParaRPr lang="en-US" sz="28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36</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44</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6</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55</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20</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868007">
                <a:tc>
                  <a:txBody>
                    <a:bodyPr wrap="square" rtlCol="0"/>
                    <a:lstStyle/>
                    <a:p>
                      <a:pPr algn="ctr"/>
                      <a:r>
                        <a:rPr lang="en-US" sz="2800" b="1" noProof="1">
                          <a:solidFill>
                            <a:srgbClr val="333333"/>
                          </a:solidFill>
                          <a:latin typeface="Times New Roman" panose="02020603050405020304"/>
                          <a:ea typeface="宋体" panose="02010600030101010101" pitchFamily="2" charset="-122"/>
                        </a:rPr>
                        <a:t>y=2</a:t>
                      </a:r>
                      <a:endParaRPr lang="en-US" sz="28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3</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10</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43</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25</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39</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868007">
                <a:tc>
                  <a:txBody>
                    <a:bodyPr wrap="square" rtlCol="0"/>
                    <a:lstStyle/>
                    <a:p>
                      <a:pPr algn="ctr"/>
                      <a:r>
                        <a:rPr lang="en-US" sz="2800" b="1" noProof="1">
                          <a:solidFill>
                            <a:srgbClr val="333333"/>
                          </a:solidFill>
                          <a:latin typeface="Times New Roman" panose="02020603050405020304"/>
                          <a:ea typeface="宋体" panose="02010600030101010101" pitchFamily="2" charset="-122"/>
                        </a:rPr>
                        <a:t>y=3</a:t>
                      </a:r>
                      <a:endParaRPr lang="en-US" sz="28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41</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45</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15</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21</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8</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866966">
                <a:tc>
                  <a:txBody>
                    <a:bodyPr wrap="square" rtlCol="0"/>
                    <a:lstStyle/>
                    <a:p>
                      <a:pPr algn="ctr"/>
                      <a:r>
                        <a:rPr lang="en-US" sz="2800" b="1" noProof="1">
                          <a:solidFill>
                            <a:srgbClr val="333333"/>
                          </a:solidFill>
                          <a:latin typeface="Times New Roman" panose="02020603050405020304"/>
                          <a:ea typeface="宋体" panose="02010600030101010101" pitchFamily="2" charset="-122"/>
                        </a:rPr>
                        <a:t>y=4</a:t>
                      </a:r>
                      <a:endParaRPr lang="en-US" sz="28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18</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2</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61</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56</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800" noProof="1">
                          <a:solidFill>
                            <a:srgbClr val="333333"/>
                          </a:solidFill>
                          <a:latin typeface="Times New Roman" panose="02020603050405020304"/>
                          <a:ea typeface="宋体" panose="02010600030101010101" pitchFamily="2" charset="-122"/>
                        </a:rPr>
                        <a:t>14</a:t>
                      </a:r>
                      <a:endParaRPr lang="en-US" sz="28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0"/>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a:t>
                </a:r>
                <a14:m>
                  <m:oMath xmlns:m="http://schemas.openxmlformats.org/officeDocument/2006/math">
                    <m:r>
                      <a:rPr lang="en-US" sz="3600" noProof="1">
                        <a:solidFill>
                          <a:srgbClr val="000000"/>
                        </a:solidFill>
                        <a:latin typeface="Times New Roman" panose="02020603050405020304"/>
                      </a:rPr>
                      <m:t>𝜋</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y</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 , </m:t>
                    </m:r>
                    <m:d>
                      <m:dPr>
                        <m:ctrlPr>
                          <a:rPr lang="en-US" sz="3600" noProof="1">
                            <a:solidFill>
                              <a:srgbClr val="000000"/>
                            </a:solidFill>
                            <a:latin typeface="Times New Roman" panose="02020603050405020304"/>
                          </a:rPr>
                        </m:ctrlPr>
                      </m:dPr>
                      <m:e>
                        <m:m>
                          <m:mPr>
                            <m:mcs>
                              <m:mc>
                                <m:mcPr>
                                  <m:count m:val="1"/>
                                  <m:mcJc m:val="center"/>
                                </m:mcPr>
                              </m:mc>
                            </m:mcs>
                            <m:ctrlPr>
                              <a:rPr lang="en-US" sz="3600" noProof="1">
                                <a:solidFill>
                                  <a:srgbClr val="000000"/>
                                </a:solidFill>
                                <a:latin typeface="Times New Roman" panose="02020603050405020304"/>
                              </a:rPr>
                            </m:ctrlPr>
                          </m:mPr>
                          <m:mr>
                            <m:e>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e>
                          </m:mr>
                          <m:mr>
                            <m:e>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y</m:t>
                                  </m:r>
                                </m:e>
                                <m:sup>
                                  <m:r>
                                    <a:rPr lang="en-US" sz="3600" noProof="1">
                                      <a:solidFill>
                                        <a:srgbClr val="000000"/>
                                      </a:solidFill>
                                      <a:latin typeface="Times New Roman" panose="02020603050405020304"/>
                                    </a:rPr>
                                    <m:t>′</m:t>
                                  </m:r>
                                </m:sup>
                              </m:sSup>
                            </m:e>
                          </m:mr>
                        </m:m>
                      </m:e>
                    </m:d>
                    <m:r>
                      <a:rPr lang="en-US" sz="3600" noProof="1">
                        <a:solidFill>
                          <a:srgbClr val="000000"/>
                        </a:solidFill>
                        <a:latin typeface="Times New Roman" panose="02020603050405020304"/>
                      </a:rPr>
                      <m:t>=</m:t>
                    </m:r>
                    <m:d>
                      <m:dPr>
                        <m:ctrlPr>
                          <a:rPr lang="en-US" sz="3600" noProof="1">
                            <a:solidFill>
                              <a:srgbClr val="000000"/>
                            </a:solidFill>
                            <a:latin typeface="Times New Roman" panose="02020603050405020304"/>
                          </a:rPr>
                        </m:ctrlPr>
                      </m:dPr>
                      <m:e>
                        <m:m>
                          <m:mPr>
                            <m:mcs>
                              <m:mc>
                                <m:mcPr>
                                  <m:count m:val="2"/>
                                  <m:mcJc m:val="center"/>
                                </m:mcPr>
                              </m:mc>
                            </m:mcs>
                            <m:ctrlPr>
                              <a:rPr lang="en-US" sz="3600" noProof="1">
                                <a:solidFill>
                                  <a:srgbClr val="000000"/>
                                </a:solidFill>
                                <a:latin typeface="Cambria Math" panose="02040503050406030204" charset="0"/>
                                <a:cs typeface="Cambria Math" panose="02040503050406030204" charset="0"/>
                              </a:rPr>
                            </m:ctrlPr>
                          </m:mPr>
                          <m:mr>
                            <m:e>
                              <m:r>
                                <a:rPr lang="en-US" sz="3600" noProof="1">
                                  <a:solidFill>
                                    <a:srgbClr val="000000"/>
                                  </a:solidFill>
                                  <a:latin typeface="Cambria Math" panose="02040503050406030204" charset="0"/>
                                  <a:cs typeface="Cambria Math" panose="02040503050406030204" charset="0"/>
                                </a:rPr>
                                <m:t>0</m:t>
                              </m:r>
                            </m:e>
                            <m:e>
                              <m:r>
                                <a:rPr lang="en-US" sz="3600" noProof="1">
                                  <a:solidFill>
                                    <a:srgbClr val="000000"/>
                                  </a:solidFill>
                                  <a:latin typeface="Cambria Math" panose="02040503050406030204" charset="0"/>
                                  <a:cs typeface="Cambria Math" panose="02040503050406030204" charset="0"/>
                                </a:rPr>
                                <m:t>1</m:t>
                              </m:r>
                            </m:e>
                          </m:mr>
                          <m:mr>
                            <m:e>
                              <m:r>
                                <a:rPr lang="en-US" sz="3600" noProof="1">
                                  <a:solidFill>
                                    <a:srgbClr val="000000"/>
                                  </a:solidFill>
                                  <a:latin typeface="Cambria Math" panose="02040503050406030204" charset="0"/>
                                  <a:cs typeface="Cambria Math" panose="02040503050406030204" charset="0"/>
                                </a:rPr>
                                <m:t>2</m:t>
                              </m:r>
                            </m:e>
                            <m:e>
                              <m:r>
                                <a:rPr lang="en-US" sz="3600" noProof="1">
                                  <a:solidFill>
                                    <a:srgbClr val="000000"/>
                                  </a:solidFill>
                                  <a:latin typeface="Cambria Math" panose="02040503050406030204" charset="0"/>
                                  <a:cs typeface="Cambria Math" panose="02040503050406030204" charset="0"/>
                                </a:rPr>
                                <m:t>3</m:t>
                              </m:r>
                            </m:e>
                          </m:mr>
                        </m:m>
                      </m:e>
                    </m:d>
                    <m:d>
                      <m:dPr>
                        <m:ctrlPr>
                          <a:rPr lang="en-US" sz="3600" noProof="1">
                            <a:solidFill>
                              <a:srgbClr val="000000"/>
                            </a:solidFill>
                            <a:latin typeface="Times New Roman" panose="02020603050405020304"/>
                          </a:rPr>
                        </m:ctrlPr>
                      </m:dPr>
                      <m:e>
                        <m:m>
                          <m:mPr>
                            <m:mcs>
                              <m:mc>
                                <m:mcPr>
                                  <m:count m:val="1"/>
                                  <m:mcJc m:val="center"/>
                                </m:mcPr>
                              </m:mc>
                            </m:mcs>
                            <m:ctrlPr>
                              <a:rPr lang="en-US" sz="3600" noProof="1">
                                <a:solidFill>
                                  <a:srgbClr val="000000"/>
                                </a:solidFill>
                                <a:latin typeface="Times New Roman" panose="02020603050405020304"/>
                              </a:rPr>
                            </m:ctrlPr>
                          </m:mPr>
                          <m:mr>
                            <m:e>
                              <m:r>
                                <m:rPr>
                                  <m:sty m:val="p"/>
                                </m:rPr>
                                <a:rPr lang="en-US" sz="3600" noProof="1">
                                  <a:solidFill>
                                    <a:srgbClr val="000000"/>
                                  </a:solidFill>
                                  <a:latin typeface="Times New Roman" panose="02020603050405020304"/>
                                </a:rPr>
                                <m:t>x</m:t>
                              </m:r>
                            </m:e>
                          </m:mr>
                          <m:mr>
                            <m:e>
                              <m:r>
                                <m:rPr>
                                  <m:sty m:val="p"/>
                                </m:rPr>
                                <a:rPr lang="en-US" sz="3600" noProof="1">
                                  <a:solidFill>
                                    <a:srgbClr val="000000"/>
                                  </a:solidFill>
                                  <a:latin typeface="Times New Roman" panose="02020603050405020304"/>
                                </a:rPr>
                                <m:t>y</m:t>
                              </m:r>
                            </m:e>
                          </m:mr>
                        </m:m>
                      </m:e>
                    </m:d>
                  </m:oMath>
                </a14:m>
                <a:r>
                  <a:rPr lang="en-US" sz="3600" noProof="1">
                    <a:solidFill>
                      <a:srgbClr val="000000"/>
                    </a:solidFill>
                    <a:latin typeface="Times New Roman" panose="02020603050405020304"/>
                    <a:ea typeface="宋体" panose="02010600030101010101" pitchFamily="2" charset="-122"/>
                  </a:rPr>
                  <a:t>，其中，矩阵元素为GF(5)中的元素。</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这一变换是针对每个</a:t>
                </a:r>
                <a14:m>
                  <m:oMath xmlns:m="http://schemas.openxmlformats.org/officeDocument/2006/math">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平面的slice的比特移位，</a:t>
                </a:r>
                <a14:m>
                  <m:oMath xmlns:m="http://schemas.openxmlformats.org/officeDocument/2006/math">
                    <m:r>
                      <a:rPr lang="en-US" sz="3600" noProof="1">
                        <a:solidFill>
                          <a:srgbClr val="000000"/>
                        </a:solidFill>
                        <a:latin typeface="Times New Roman" panose="02020603050405020304"/>
                      </a:rPr>
                      <m:t>𝜋</m:t>
                    </m:r>
                  </m:oMath>
                </a14:m>
                <a:r>
                  <a:rPr lang="en-US" sz="3600" noProof="1">
                    <a:solidFill>
                      <a:srgbClr val="000000"/>
                    </a:solidFill>
                    <a:latin typeface="Times New Roman" panose="02020603050405020304"/>
                    <a:ea typeface="宋体" panose="02010600030101010101" pitchFamily="2" charset="-122"/>
                  </a:rPr>
                  <a:t>对 </a:t>
                </a:r>
                <a14:m>
                  <m:oMath xmlns:m="http://schemas.openxmlformats.org/officeDocument/2006/math">
                    <m:r>
                      <m:rPr>
                        <m:sty m:val="p"/>
                      </m:rPr>
                      <a:rPr lang="en-US" sz="3600" noProof="1">
                        <a:solidFill>
                          <a:srgbClr val="000000"/>
                        </a:solidFill>
                        <a:latin typeface="Times New Roman" panose="02020603050405020304"/>
                      </a:rPr>
                      <m:t>xOy</m:t>
                    </m:r>
                  </m:oMath>
                </a14:m>
                <a:r>
                  <a:rPr lang="en-US" sz="3600" noProof="1">
                    <a:solidFill>
                      <a:srgbClr val="000000"/>
                    </a:solidFill>
                    <a:latin typeface="Times New Roman" panose="02020603050405020304"/>
                    <a:ea typeface="宋体" panose="02010600030101010101" pitchFamily="2" charset="-122"/>
                  </a:rPr>
                  <a:t> 平面上的坐标位置为</a:t>
                </a:r>
                <a14:m>
                  <m:oMath xmlns:m="http://schemas.openxmlformats.org/officeDocument/2006/math">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 , </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y</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的比特进行位置变换，新位置由（</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y</m:t>
                    </m:r>
                  </m:oMath>
                </a14:m>
                <a:r>
                  <a:rPr lang="en-US" sz="3600" noProof="1">
                    <a:solidFill>
                      <a:srgbClr val="000000"/>
                    </a:solidFill>
                    <a:latin typeface="Times New Roman" panose="02020603050405020304"/>
                    <a:ea typeface="宋体" panose="02010600030101010101" pitchFamily="2" charset="-122"/>
                  </a:rPr>
                  <a:t>）指定。</a:t>
                </a:r>
                <a:endParaRPr lang="en-US" sz="3600" noProof="1"/>
              </a:p>
            </p:txBody>
          </p:sp>
        </mc:Choice>
        <mc:Fallback>
          <p:sp>
            <p:nvSpPr>
              <p:cNvPr id="2" name="body-p30"/>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000" noProof="1">
                    <a:solidFill>
                      <a:srgbClr val="000000"/>
                    </a:solidFill>
                    <a:latin typeface="Times New Roman" panose="02020603050405020304"/>
                    <a:ea typeface="宋体" panose="02010600030101010101" pitchFamily="2" charset="-122"/>
                  </a:rPr>
                  <a:t>（</a:t>
                </a:r>
                <a:r>
                  <a:rPr lang="en-US" sz="3600" noProof="1">
                    <a:solidFill>
                      <a:srgbClr val="000000"/>
                    </a:solidFill>
                    <a:latin typeface="Times New Roman" panose="02020603050405020304"/>
                    <a:ea typeface="宋体" panose="02010600030101010101" pitchFamily="2" charset="-122"/>
                  </a:rPr>
                  <a:t>4）</a:t>
                </a:r>
                <a14:m>
                  <m:oMath xmlns:m="http://schemas.openxmlformats.org/officeDocument/2006/math">
                    <m:r>
                      <a:rPr lang="en-US" sz="3600" noProof="1">
                        <a:solidFill>
                          <a:srgbClr val="000000"/>
                        </a:solidFill>
                        <a:latin typeface="Times New Roman" panose="02020603050405020304"/>
                      </a:rPr>
                      <m:t>𝜒</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oMath>
                </a14:m>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这是针对每个</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方向的row的非线性运算，等效为5×5的S盒。</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（5）</a:t>
                </a:r>
                <a14:m>
                  <m:oMath xmlns:m="http://schemas.openxmlformats.org/officeDocument/2006/math">
                    <m:r>
                      <a:rPr lang="en-US" sz="3600" noProof="1">
                        <a:solidFill>
                          <a:srgbClr val="000000"/>
                        </a:solidFill>
                        <a:latin typeface="Times New Roman" panose="02020603050405020304"/>
                      </a:rPr>
                      <m:t>𝜏</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z</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RC</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oMath>
                </a14:m>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这一变换是加轮常数RC逐比特进行，且每轮 </a:t>
                </a:r>
                <a14:m>
                  <m:oMath xmlns:m="http://schemas.openxmlformats.org/officeDocument/2006/math">
                    <m:r>
                      <m:rPr>
                        <m:sty m:val="p"/>
                      </m:rPr>
                      <a:rPr lang="en-US" sz="3600" noProof="1">
                        <a:solidFill>
                          <a:srgbClr val="000000"/>
                        </a:solidFill>
                        <a:latin typeface="Times New Roman" panose="02020603050405020304"/>
                      </a:rPr>
                      <m:t>i</m:t>
                    </m:r>
                  </m:oMath>
                </a14:m>
                <a:r>
                  <a:rPr lang="en-US" sz="3600" noProof="1">
                    <a:solidFill>
                      <a:srgbClr val="000000"/>
                    </a:solidFill>
                    <a:latin typeface="Times New Roman" panose="02020603050405020304"/>
                    <a:ea typeface="宋体" panose="02010600030101010101" pitchFamily="2" charset="-122"/>
                  </a:rPr>
                  <a:t> 的轮常数不同。</a:t>
                </a:r>
                <a:endParaRPr lang="en-US" sz="3600" noProof="1"/>
              </a:p>
            </p:txBody>
          </p:sp>
        </mc:Choice>
        <mc:Fallback>
          <p:sp>
            <p:nvSpPr>
              <p:cNvPr id="2" name="body-p31"/>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2"/>
              <p:cNvSpPr txBox="1"/>
              <p:nvPr/>
            </p:nvSpPr>
            <p:spPr>
              <a:xfrm>
                <a:off x="1724660" y="2095500"/>
                <a:ext cx="14818360" cy="512889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输入数据经过填充处理封装成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bit的数据，与state的初值（默认为0）进行异或后封装成1600位的消息进入Keccak-</a:t>
                </a: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1600</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，再经过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循环迭代执行后输出杂凑值，其中迭代次数nr由置换宽度 </a:t>
                </a:r>
                <a14:m>
                  <m:oMath xmlns:m="http://schemas.openxmlformats.org/officeDocument/2006/math">
                    <m:r>
                      <m:rPr>
                        <m:sty m:val="p"/>
                      </m:rPr>
                      <a:rPr lang="en-US" sz="3600" noProof="1">
                        <a:solidFill>
                          <a:srgbClr val="000000"/>
                        </a:solidFill>
                        <a:latin typeface="Times New Roman" panose="02020603050405020304"/>
                      </a:rPr>
                      <m:t>b</m:t>
                    </m:r>
                  </m:oMath>
                </a14:m>
                <a:r>
                  <a:rPr lang="en-US" sz="3600" noProof="1">
                    <a:solidFill>
                      <a:srgbClr val="000000"/>
                    </a:solidFill>
                    <a:latin typeface="Times New Roman" panose="02020603050405020304"/>
                    <a:ea typeface="宋体" panose="02010600030101010101" pitchFamily="2" charset="-122"/>
                  </a:rPr>
                  <a:t> 决定，它们之间的约束关系为nr=12+2</a:t>
                </a:r>
                <a14:m>
                  <m:oMath xmlns:m="http://schemas.openxmlformats.org/officeDocument/2006/math">
                    <m:r>
                      <m:rPr>
                        <m:sty m:val="p"/>
                      </m:rPr>
                      <a:rPr lang="en-US" sz="3600" noProof="1">
                        <a:solidFill>
                          <a:srgbClr val="000000"/>
                        </a:solidFill>
                        <a:latin typeface="Times New Roman" panose="02020603050405020304"/>
                      </a:rPr>
                      <m:t>l</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l</m:t>
                        </m:r>
                      </m:sup>
                    </m:sSup>
                  </m:oMath>
                </a14:m>
                <a:r>
                  <a:rPr lang="en-US" sz="3600" noProof="1">
                    <a:solidFill>
                      <a:srgbClr val="000000"/>
                    </a:solidFill>
                    <a:latin typeface="Times New Roman" panose="02020603050405020304"/>
                    <a:ea typeface="宋体" panose="02010600030101010101" pitchFamily="2" charset="-122"/>
                  </a:rPr>
                  <a:t>。Keccak-</a:t>
                </a: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1600</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的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循环将执行24次，每个 </a:t>
                </a:r>
                <a14:m>
                  <m:oMath xmlns:m="http://schemas.openxmlformats.org/officeDocument/2006/math">
                    <m:r>
                      <m:rPr>
                        <m:sty m:val="p"/>
                      </m:rPr>
                      <a:rPr lang="en-US" sz="3600" noProof="1">
                        <a:solidFill>
                          <a:srgbClr val="000000"/>
                        </a:solidFill>
                        <a:latin typeface="Times New Roman" panose="02020603050405020304"/>
                      </a:rPr>
                      <m:t>R</m:t>
                    </m:r>
                  </m:oMath>
                </a14:m>
                <a:r>
                  <a:rPr lang="en-US" sz="3600" noProof="1">
                    <a:solidFill>
                      <a:srgbClr val="000000"/>
                    </a:solidFill>
                    <a:latin typeface="Times New Roman" panose="02020603050405020304"/>
                    <a:ea typeface="宋体" panose="02010600030101010101" pitchFamily="2" charset="-122"/>
                  </a:rPr>
                  <a:t> 循环只有最后一步的循环常数值不同。根据版本要求，从经过迭代置换后的state值中取出相应长度的信息摘要即杂凑值。</a:t>
                </a:r>
                <a:endParaRPr lang="en-US" sz="3600" noProof="1"/>
              </a:p>
            </p:txBody>
          </p:sp>
        </mc:Choice>
        <mc:Fallback>
          <p:sp>
            <p:nvSpPr>
              <p:cNvPr id="2" name="body-p32"/>
              <p:cNvSpPr txBox="1">
                <a:spLocks noRot="1" noChangeAspect="1" noMove="1" noResize="1" noEditPoints="1" noAdjustHandles="1" noChangeArrowheads="1" noChangeShapeType="1" noTextEdit="1"/>
              </p:cNvSpPr>
              <p:nvPr/>
            </p:nvSpPr>
            <p:spPr>
              <a:xfrm>
                <a:off x="1724660" y="2095500"/>
                <a:ext cx="14818360" cy="5128895"/>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Keccak-f 置换</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2"/>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迭代结构。Keccak算法采用的海绵结构具有可证明安全性和良好的适应性，与多数具有明显压缩函数结构的算法不同，海绵结构采用了大状态的固定置换。在假设置换是理想的情况下，可证明该结构与随机谕言模型是不可区分的，区分复杂度的下界为</a:t>
                </a:r>
                <a14:m>
                  <m:oMath xmlns:m="http://schemas.openxmlformats.org/officeDocument/2006/math">
                    <m:f>
                      <m:fPr>
                        <m:ctrlPr>
                          <a:rPr sz="3600"/>
                        </m:ctrlPr>
                      </m:fPr>
                      <m:num>
                        <m:r>
                          <m:rPr>
                            <m:sty m:val="p"/>
                          </m:rPr>
                          <a:rPr lang="en-US" sz="3600" noProof="1">
                            <a:solidFill>
                              <a:srgbClr val="000000"/>
                            </a:solidFill>
                            <a:latin typeface="Times New Roman" panose="02020603050405020304"/>
                          </a:rPr>
                          <m:t>c</m:t>
                        </m:r>
                      </m:num>
                      <m:den>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a:rPr lang="en-US" sz="3600" noProof="1">
                                <a:solidFill>
                                  <a:srgbClr val="000000"/>
                                </a:solidFill>
                                <a:latin typeface="Times New Roman" panose="02020603050405020304"/>
                              </a:rPr>
                              <m:t>2</m:t>
                            </m:r>
                          </m:sup>
                        </m:sSup>
                      </m:den>
                    </m:f>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 为容量，也称安全参数)。这就保证了算法具有抵抗一般性攻击（结构上的攻击）的能力。与此同时，海绵结构可以输出任意长度，适用能力较强。</a:t>
                </a:r>
                <a:endParaRPr lang="en-US" sz="3600" noProof="1"/>
              </a:p>
            </p:txBody>
          </p:sp>
        </mc:Choice>
        <mc:Fallback>
          <p:sp>
            <p:nvSpPr>
              <p:cNvPr id="2" name="body-p32"/>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4" name="TextBox 31"/>
          <p:cNvSpPr txBox="1"/>
          <p:nvPr>
            <p:custDataLst>
              <p:tags r:id="rId4"/>
            </p:custDataLst>
          </p:nvPr>
        </p:nvSpPr>
        <p:spPr>
          <a:xfrm>
            <a:off x="11899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11.3.3</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5"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20" name="TextBox 30"/>
          <p:cNvSpPr txBox="1"/>
          <p:nvPr>
            <p:custDataLst>
              <p:tags r:id="rId7"/>
            </p:custDataLst>
          </p:nvPr>
        </p:nvSpPr>
        <p:spPr>
          <a:xfrm>
            <a:off x="28632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Keccak算法的性能分析</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charset="-122"/>
                <a:cs typeface="Times New Roman" panose="02020603050405020304" pitchFamily="18" charset="0"/>
                <a:sym typeface="字由文艺黑" panose="00020600040101010101" charset="-122"/>
              </a:rPr>
              <a:t>11.4</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charset="-122"/>
              <a:cs typeface="Times New Roman" panose="02020603050405020304" pitchFamily="18" charset="0"/>
              <a:sym typeface="字由文艺黑" panose="00020600040101010101" charset="-122"/>
            </a:endParaRPr>
          </a:p>
        </p:txBody>
      </p:sp>
      <p:sp>
        <p:nvSpPr>
          <p:cNvPr id="31" name="TextBox 31"/>
          <p:cNvSpPr txBox="1"/>
          <p:nvPr/>
        </p:nvSpPr>
        <p:spPr>
          <a:xfrm>
            <a:off x="3051175" y="5143500"/>
            <a:ext cx="12294870"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消息认证码与HMAC算法</a:t>
            </a:r>
            <a:endParaRPr kumimoji="0" lang="zh-CN" altLang="en-US" sz="9600" b="1" i="0" u="none" strike="noStrike" kern="1200" cap="none" spc="0" normalizeH="0" baseline="0" noProof="0" dirty="0">
              <a:ln>
                <a:noFill/>
              </a:ln>
              <a:solidFill>
                <a:srgbClr val="004AAD"/>
              </a:solidFill>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2"/>
          <p:cNvGrpSpPr/>
          <p:nvPr/>
        </p:nvGrpSpPr>
        <p:grpSpPr>
          <a:xfrm>
            <a:off x="412090" y="1028700"/>
            <a:ext cx="7800783" cy="275915"/>
            <a:chOff x="0" y="0"/>
            <a:chExt cx="2054527" cy="72669"/>
          </a:xfrm>
        </p:grpSpPr>
        <p:sp>
          <p:nvSpPr>
            <p:cNvPr id="12"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body-p33"/>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信息安全一方面要实现消息的保密传送，使其可以抵抗被动攻击，如窃听攻击等；另一方面要防止攻击者对系统进行主动攻击，如伪造或篡改消息内容等。认证是对抗主动攻击的主要方法，它对于开放网络中各种信息系统的安全性发挥着重要的作用。认证可分为实体认证（Entity Authentication）和消息认证两种。实体认证用来验证实体的身份，消息认证用来验证消息的真实性。消息认证的作用主要有两个：一个是验证消息来源的真实性，一般称为信息源认证；另一个是验证消息在传输和存储过程中是否被伪造、篡改等。</a:t>
            </a:r>
            <a:endParaRPr lang="en-US" sz="3600" noProof="1"/>
          </a:p>
        </p:txBody>
      </p:sp>
      <p:sp>
        <p:nvSpPr>
          <p:cNvPr id="8" name="TextBox 31"/>
          <p:cNvSpPr txBox="1"/>
          <p:nvPr>
            <p:custDataLst>
              <p:tags r:id="rId3"/>
            </p:custDataLst>
          </p:nvPr>
        </p:nvSpPr>
        <p:spPr>
          <a:xfrm>
            <a:off x="1088390"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9"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0" name="TextBox 30"/>
          <p:cNvSpPr txBox="1"/>
          <p:nvPr>
            <p:custDataLst>
              <p:tags r:id="rId6"/>
            </p:custDataLst>
          </p:nvPr>
        </p:nvSpPr>
        <p:spPr>
          <a:xfrm>
            <a:off x="265938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消息认证码与HMAC算法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2"/>
          <p:cNvGrpSpPr/>
          <p:nvPr/>
        </p:nvGrpSpPr>
        <p:grpSpPr>
          <a:xfrm>
            <a:off x="412090" y="1028700"/>
            <a:ext cx="7800783" cy="275915"/>
            <a:chOff x="0" y="0"/>
            <a:chExt cx="2054527" cy="72669"/>
          </a:xfrm>
        </p:grpSpPr>
        <p:sp>
          <p:nvSpPr>
            <p:cNvPr id="14"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5"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3b"/>
              <p:cNvSpPr txBox="1"/>
              <p:nvPr/>
            </p:nvSpPr>
            <p:spPr>
              <a:xfrm>
                <a:off x="1643380" y="1989455"/>
                <a:ext cx="15001240" cy="7112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消息认证码是指消息被一密钥控制的公开函数作用后产生的用作认证符的固定长度的数值，也称为密码校验和，此时需要通信双方A和B共享密钥 </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。设A欲发送给B的消息是 </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，A首先计算</a:t>
                </a:r>
                <a14:m>
                  <m:oMath xmlns:m="http://schemas.openxmlformats.org/officeDocument/2006/math">
                    <m:r>
                      <a:rPr lang="en-US" sz="3600" i="0" noProof="1">
                        <a:solidFill>
                          <a:srgbClr val="000000"/>
                        </a:solidFill>
                        <a:latin typeface="Times New Roman" panose="02020603050405020304"/>
                      </a:rPr>
                      <m:t>𝑀</m:t>
                    </m:r>
                    <m:r>
                      <a:rPr lang="en-US" sz="3600" i="0" noProof="1">
                        <a:solidFill>
                          <a:srgbClr val="000000"/>
                        </a:solidFill>
                        <a:latin typeface="Times New Roman" panose="02020603050405020304"/>
                      </a:rPr>
                      <m:t>𝐴𝐶</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𝐶</m:t>
                        </m:r>
                      </m:e>
                      <m:sub>
                        <m:r>
                          <a:rPr lang="en-US" sz="3600" i="1" noProof="1">
                            <a:solidFill>
                              <a:srgbClr val="000000"/>
                            </a:solidFill>
                            <a:latin typeface="Times New Roman" panose="02020603050405020304"/>
                          </a:rPr>
                          <m:t>𝑘</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𝑀</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𝐶</m:t>
                        </m:r>
                      </m:e>
                      <m:sub>
                        <m:r>
                          <a:rPr lang="en-US" sz="3600" i="1" noProof="1">
                            <a:solidFill>
                              <a:srgbClr val="000000"/>
                            </a:solidFill>
                            <a:latin typeface="Times New Roman" panose="02020603050405020304"/>
                          </a:rPr>
                          <m:t>𝑘</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𝑀</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是密钥控制的公开函数，然后向B发送 </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、MAC，B收到消息后进行与A相同的计算，求得一个新的MAC，并与收到的MAC比较。MAC的基本使用方式如图11.8所示。</a:t>
                </a:r>
                <a:endParaRPr lang="en-US" sz="3600" noProof="1"/>
              </a:p>
            </p:txBody>
          </p:sp>
        </mc:Choice>
        <mc:Fallback>
          <p:sp>
            <p:nvSpPr>
              <p:cNvPr id="2" name="body-p33b"/>
              <p:cNvSpPr txBox="1">
                <a:spLocks noRot="1" noChangeAspect="1" noMove="1" noResize="1" noEditPoints="1" noAdjustHandles="1" noChangeArrowheads="1" noChangeShapeType="1" noTextEdit="1"/>
              </p:cNvSpPr>
              <p:nvPr/>
            </p:nvSpPr>
            <p:spPr>
              <a:xfrm>
                <a:off x="1643380" y="1989455"/>
                <a:ext cx="15001240" cy="7112000"/>
              </a:xfrm>
              <a:prstGeom prst="rect">
                <a:avLst/>
              </a:prstGeom>
              <a:blipFill rotWithShape="1">
                <a:blip r:embed="rId3"/>
                <a:stretch>
                  <a:fillRect/>
                </a:stretch>
              </a:blipFill>
              <a:ln>
                <a:noFill/>
              </a:ln>
            </p:spPr>
            <p:txBody>
              <a:bodyPr/>
              <a:lstStyle/>
              <a:p>
                <a:r>
                  <a:rPr lang="zh-CN" altLang="en-US">
                    <a:noFill/>
                  </a:rPr>
                  <a:t> </a:t>
                </a:r>
              </a:p>
            </p:txBody>
          </p:sp>
        </mc:Fallback>
      </mc:AlternateContent>
      <p:pic>
        <p:nvPicPr>
          <p:cNvPr id="3" name="img-p33b"/>
          <p:cNvPicPr/>
          <p:nvPr/>
        </p:nvPicPr>
        <p:blipFill>
          <a:blip r:embed="rId4"/>
          <a:stretch>
            <a:fillRect/>
          </a:stretch>
        </p:blipFill>
        <p:spPr>
          <a:xfrm>
            <a:off x="6109970" y="5577205"/>
            <a:ext cx="5825490" cy="4055110"/>
          </a:xfrm>
          <a:prstGeom prst="rect">
            <a:avLst/>
          </a:prstGeom>
          <a:ln>
            <a:noFill/>
          </a:ln>
        </p:spPr>
      </p:pic>
      <p:sp>
        <p:nvSpPr>
          <p:cNvPr id="4" name="imgcap-p33b"/>
          <p:cNvSpPr txBox="1"/>
          <p:nvPr/>
        </p:nvSpPr>
        <p:spPr>
          <a:xfrm>
            <a:off x="6482715" y="9632315"/>
            <a:ext cx="508000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图11.8　MAC的基本使用方式</a:t>
            </a:r>
            <a:endParaRPr lang="en-US" sz="1600" noProof="1"/>
          </a:p>
        </p:txBody>
      </p:sp>
      <p:sp>
        <p:nvSpPr>
          <p:cNvPr id="10" name="TextBox 31"/>
          <p:cNvSpPr txBox="1"/>
          <p:nvPr>
            <p:custDataLst>
              <p:tags r:id="rId5"/>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8"/>
            </p:custDataLst>
          </p:nvPr>
        </p:nvSpPr>
        <p:spPr>
          <a:xfrm>
            <a:off x="27616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消息认证码</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如果仅收发双方知道 </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，且B计算得到的MAC与收到的MAC一致，那么这一系统就实现了以下功能。</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（1）接收方相信发送方发来的消息未被篡改，这是因为攻击者不知道密钥，所以不能在篡改消息后相应地篡改MAC，而如果仅篡改消息，那么接收方计算的新MAC将与收到的MAC不同。</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（2）接收方相信发送方不是冒充的，这是因为除收发双方外再无其他人知道密钥，因此其他人不可能计算出自己发送的消息的正确的MAC。</a:t>
                </a:r>
                <a:endParaRPr lang="en-US" sz="3600" noProof="1"/>
              </a:p>
              <a:p>
                <a:pPr algn="just">
                  <a:lnSpc>
                    <a:spcPct val="120000"/>
                  </a:lnSpc>
                </a:pPr>
                <a:endParaRPr lang="en-US" sz="3600" noProof="1"/>
              </a:p>
            </p:txBody>
          </p:sp>
        </mc:Choice>
        <mc:Fallback>
          <p:sp>
            <p:nvSpPr>
              <p:cNvPr id="2" name="body-p34"/>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0"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7"/>
            </p:custDataLst>
          </p:nvPr>
        </p:nvSpPr>
        <p:spPr>
          <a:xfrm>
            <a:off x="27616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消息认证码</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a14="http://schemas.microsoft.com/office/drawing/2010/main" Requires="a14">
          <p:sp>
            <p:nvSpPr>
              <p:cNvPr id="2" name="body-p3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上述过程中，因为消息本身在发送过程中是明文形式，所以这一过程只提供了认证性，未提供保密性。为提供保密性可在MAC函数以后（见图11.8（b））或以前（见图11.8（c））进行一次加密，而且加密密钥也需要被收发双方共享。图11.8（b）所示的使用方式为</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与MAC链接后再被整体加密，图11.8（c）所示的使用方式为</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先被加密再与MAC链接后发送。通常希望直接对明文进行认证，图11.8（b）所示的使用方式更为普遍。</a:t>
                </a:r>
                <a:endParaRPr lang="en-US" sz="3600" noProof="1"/>
              </a:p>
            </p:txBody>
          </p:sp>
        </mc:Choice>
        <mc:Fallback>
          <p:sp>
            <p:nvSpPr>
              <p:cNvPr id="2" name="body-p34"/>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10"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7"/>
            </p:custDataLst>
          </p:nvPr>
        </p:nvSpPr>
        <p:spPr>
          <a:xfrm>
            <a:off x="2761615"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消息认证码</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body-p35"/>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近年来，人们越来越多地使用杂凑函数来设计MAC，因为密码杂凑函数的软件执行速度通常比对称分组密码算法要快。目前已经提出了许多基于杂凑函数的消息认证算法，其中HMAC算法（RFC2104）是实际中使用最多的方案。RFC2104列举了HMAC算法的设计目标如下。</a:t>
            </a:r>
            <a:endParaRPr lang="en-US" sz="3600" noProof="1"/>
          </a:p>
        </p:txBody>
      </p:sp>
      <p:sp>
        <p:nvSpPr>
          <p:cNvPr id="10"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6"/>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body-p35"/>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（1）可不经修改而使用现有的杂凑函数，特别是那些易于软件实现的、源代码可方便获取且免费使用的杂凑函数。</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（2）其中镶嵌的杂凑函数可易于替换为更快或更安全的杂凑函数。</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（3）保持镶嵌的杂凑函数的最初性能，不因用于HMAC算法而使其性能降低。</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（4）以简单的方式使用和处理密钥。</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（5）在对镶嵌的杂凑函数合理假设的基础上，易于分析HMAC算法用于认证时的密码强度。</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6"/>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36"/>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前两个目标是HMAC算法被人们普遍接受的主要原因，这两个目标是将杂凑函数当作一个黑盒使用，这种方式有以下两个优点。</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（1）杂凑函数的实现可作为实现HMAC算法的一个模块，这样一来，HMAC算法代码中很大一块就可事先准备好，无须修改就可使用。</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（2）如果HMAC要求使用更快或更安全的杂凑函数，那么只需要用新模块代替旧模块，如用实现SHA-3的模块代替MD5的模块。</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最后一条设计目标则是HMAC算法优于其他基于杂凑函数的MAC的一个主要方面，HMAC算法在其镶嵌的杂凑函数具有合理密码强度的假设下，可证明是安全的。</a:t>
            </a:r>
            <a:endParaRPr lang="en-US" sz="3600" noProof="1"/>
          </a:p>
        </p:txBody>
      </p:sp>
      <p:grpSp>
        <p:nvGrpSpPr>
          <p:cNvPr id="8" name="Group 2"/>
          <p:cNvGrpSpPr/>
          <p:nvPr/>
        </p:nvGrpSpPr>
        <p:grpSpPr>
          <a:xfrm>
            <a:off x="412090" y="1028700"/>
            <a:ext cx="7800783" cy="275915"/>
            <a:chOff x="0" y="0"/>
            <a:chExt cx="2054527" cy="72669"/>
          </a:xfrm>
        </p:grpSpPr>
        <p:sp>
          <p:nvSpPr>
            <p:cNvPr id="9"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6"/>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37"/>
              <p:cNvSpPr txBox="1"/>
              <p:nvPr/>
            </p:nvSpPr>
            <p:spPr>
              <a:xfrm>
                <a:off x="1725930" y="1804670"/>
                <a:ext cx="14818360" cy="40005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HMAC算法框图如图11.9所示，其中</a:t>
                </a:r>
                <a14:m>
                  <m:oMath xmlns:m="http://schemas.openxmlformats.org/officeDocument/2006/math">
                    <m:r>
                      <a:rPr lang="en-US" sz="3600" i="1" noProof="1">
                        <a:solidFill>
                          <a:srgbClr val="000000"/>
                        </a:solidFill>
                        <a:latin typeface="Times New Roman" panose="02020603050405020304"/>
                      </a:rPr>
                      <m:t>𝐻</m:t>
                    </m:r>
                  </m:oMath>
                </a14:m>
                <a:r>
                  <a:rPr lang="en-US" sz="3600" noProof="1">
                    <a:solidFill>
                      <a:srgbClr val="000000"/>
                    </a:solidFill>
                    <a:latin typeface="Times New Roman" panose="02020603050405020304"/>
                    <a:ea typeface="宋体" panose="02010600030101010101" pitchFamily="2" charset="-122"/>
                  </a:rPr>
                  <a:t>为嵌入的杂凑函数（如MD5、SHA-3）；</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为HMAC算法的输入消息（包括杂凑函数所要求的填充位）；</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𝑌</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𝐿</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为</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的第</a:t>
                </a:r>
                <a14:m>
                  <m:oMath xmlns:m="http://schemas.openxmlformats.org/officeDocument/2006/math">
                    <m:r>
                      <a:rPr lang="en-US" sz="3600" i="1" noProof="1">
                        <a:solidFill>
                          <a:srgbClr val="000000"/>
                        </a:solidFill>
                        <a:latin typeface="Times New Roman" panose="02020603050405020304"/>
                      </a:rPr>
                      <m:t>𝑖</m:t>
                    </m:r>
                  </m:oMath>
                </a14:m>
                <a:r>
                  <a:rPr lang="en-US" sz="3600" noProof="1">
                    <a:solidFill>
                      <a:srgbClr val="000000"/>
                    </a:solidFill>
                    <a:latin typeface="Times New Roman" panose="02020603050405020304"/>
                    <a:ea typeface="宋体" panose="02010600030101010101" pitchFamily="2" charset="-122"/>
                  </a:rPr>
                  <a:t>个分组；</a:t>
                </a:r>
                <a14:m>
                  <m:oMath xmlns:m="http://schemas.openxmlformats.org/officeDocument/2006/math">
                    <m:r>
                      <a:rPr lang="en-US" sz="3600" i="1" noProof="1">
                        <a:solidFill>
                          <a:srgbClr val="000000"/>
                        </a:solidFill>
                        <a:latin typeface="Times New Roman" panose="02020603050405020304"/>
                      </a:rPr>
                      <m:t>𝐿</m:t>
                    </m:r>
                  </m:oMath>
                </a14:m>
                <a:r>
                  <a:rPr lang="en-US" sz="3600" noProof="1">
                    <a:solidFill>
                      <a:srgbClr val="000000"/>
                    </a:solidFill>
                    <a:latin typeface="Times New Roman" panose="02020603050405020304"/>
                    <a:ea typeface="宋体" panose="02010600030101010101" pitchFamily="2" charset="-122"/>
                  </a:rPr>
                  <a:t> 为</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的分组数；</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是一个分组中的比特数；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为由嵌入的杂凑函数所产生的杂凑值的长度；</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为密钥，若密钥长度大于</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，则将密钥输入杂凑函数中产生一个长度为</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bit的密钥；</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为左边经填充0后的</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的长度为</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bit；ipad为 </a:t>
                </a:r>
                <a14:m>
                  <m:oMath xmlns:m="http://schemas.openxmlformats.org/officeDocument/2006/math">
                    <m:r>
                      <a:rPr lang="en-US" sz="3600" i="1" noProof="1">
                        <a:solidFill>
                          <a:srgbClr val="000000"/>
                        </a:solidFill>
                        <a:latin typeface="Times New Roman" panose="02020603050405020304"/>
                      </a:rPr>
                      <m:t>𝑏</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8</m:t>
                    </m:r>
                  </m:oMath>
                </a14:m>
                <a:r>
                  <a:rPr lang="en-US" sz="3600" noProof="1">
                    <a:solidFill>
                      <a:srgbClr val="000000"/>
                    </a:solidFill>
                    <a:latin typeface="Times New Roman" panose="02020603050405020304"/>
                    <a:ea typeface="宋体" panose="02010600030101010101" pitchFamily="2" charset="-122"/>
                  </a:rPr>
                  <a:t> 个00110110；opad为 </a:t>
                </a:r>
                <a14:m>
                  <m:oMath xmlns:m="http://schemas.openxmlformats.org/officeDocument/2006/math">
                    <m:r>
                      <a:rPr lang="en-US" sz="3600" i="1" noProof="1">
                        <a:solidFill>
                          <a:srgbClr val="000000"/>
                        </a:solidFill>
                        <a:latin typeface="Times New Roman" panose="02020603050405020304"/>
                      </a:rPr>
                      <m:t>𝑏</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8</m:t>
                    </m:r>
                  </m:oMath>
                </a14:m>
                <a:r>
                  <a:rPr lang="en-US" sz="3600" noProof="1">
                    <a:solidFill>
                      <a:srgbClr val="000000"/>
                    </a:solidFill>
                    <a:latin typeface="Times New Roman" panose="02020603050405020304"/>
                    <a:ea typeface="宋体" panose="02010600030101010101" pitchFamily="2" charset="-122"/>
                  </a:rPr>
                  <a:t> 个01011010。</a:t>
                </a:r>
                <a:endParaRPr lang="en-US" sz="3600" noProof="1"/>
              </a:p>
            </p:txBody>
          </p:sp>
        </mc:Choice>
        <mc:Fallback>
          <p:sp>
            <p:nvSpPr>
              <p:cNvPr id="2" name="body-p37"/>
              <p:cNvSpPr txBox="1">
                <a:spLocks noRot="1" noChangeAspect="1" noMove="1" noResize="1" noEditPoints="1" noAdjustHandles="1" noChangeArrowheads="1" noChangeShapeType="1" noTextEdit="1"/>
              </p:cNvSpPr>
              <p:nvPr/>
            </p:nvSpPr>
            <p:spPr>
              <a:xfrm>
                <a:off x="1725930" y="1804670"/>
                <a:ext cx="14818360" cy="4000500"/>
              </a:xfrm>
              <a:prstGeom prst="rect">
                <a:avLst/>
              </a:prstGeom>
              <a:blipFill rotWithShape="1">
                <a:blip r:embed="rId1"/>
                <a:stretch>
                  <a:fillRect r="-844" b="-20492"/>
                </a:stretch>
              </a:blipFill>
              <a:ln>
                <a:noFill/>
              </a:ln>
            </p:spPr>
            <p:txBody>
              <a:bodyPr/>
              <a:lstStyle/>
              <a:p>
                <a:r>
                  <a:rPr lang="zh-CN" altLang="en-US">
                    <a:noFill/>
                  </a:rPr>
                  <a:t> </a:t>
                </a:r>
              </a:p>
            </p:txBody>
          </p:sp>
        </mc:Fallback>
      </mc:AlternateContent>
      <p:pic>
        <p:nvPicPr>
          <p:cNvPr id="3" name="img-p37"/>
          <p:cNvPicPr/>
          <p:nvPr/>
        </p:nvPicPr>
        <p:blipFill>
          <a:blip r:embed="rId2"/>
          <a:stretch>
            <a:fillRect/>
          </a:stretch>
        </p:blipFill>
        <p:spPr>
          <a:xfrm>
            <a:off x="6727190" y="6096000"/>
            <a:ext cx="4521835" cy="3429000"/>
          </a:xfrm>
          <a:prstGeom prst="rect">
            <a:avLst/>
          </a:prstGeom>
          <a:ln>
            <a:noFill/>
          </a:ln>
        </p:spPr>
      </p:pic>
      <p:sp>
        <p:nvSpPr>
          <p:cNvPr id="4" name="imgcap-p37"/>
          <p:cNvSpPr txBox="1"/>
          <p:nvPr/>
        </p:nvSpPr>
        <p:spPr>
          <a:xfrm>
            <a:off x="1579245" y="9626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图11.9　HMAC算法框图</a:t>
            </a:r>
            <a:endParaRPr lang="en-US" sz="1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3"/>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4"/>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5"/>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8"/>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38"/>
              <p:cNvSpPr txBox="1"/>
              <p:nvPr/>
            </p:nvSpPr>
            <p:spPr>
              <a:xfrm>
                <a:off x="1725930" y="187452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算法的输出可表示为式（11.5）。</a:t>
                </a:r>
                <a:endParaRPr lang="en-US" sz="3600" noProof="1"/>
              </a:p>
              <a:p>
                <a:pPr indent="457200" algn="ctr" fontAlgn="auto">
                  <a:lnSpc>
                    <a:spcPct val="120000"/>
                  </a:lnSpc>
                </a:pP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𝐻𝑀</m:t>
                        </m:r>
                        <m:r>
                          <a:rPr lang="en-US" sz="3600" i="0" noProof="1">
                            <a:solidFill>
                              <a:srgbClr val="000000"/>
                            </a:solidFill>
                            <a:latin typeface="Times New Roman" panose="02020603050405020304"/>
                          </a:rPr>
                          <m:t>𝐴𝐶</m:t>
                        </m:r>
                      </m:e>
                      <m:sub>
                        <m:r>
                          <a:rPr lang="en-US" sz="3600" i="1" noProof="1">
                            <a:solidFill>
                              <a:srgbClr val="000000"/>
                            </a:solidFill>
                            <a:latin typeface="Times New Roman" panose="02020603050405020304"/>
                          </a:rPr>
                          <m:t>𝑘</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𝐻</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𝑜𝑝</m:t>
                    </m:r>
                    <m:r>
                      <a:rPr lang="en-US" sz="3600" i="0" noProof="1">
                        <a:solidFill>
                          <a:srgbClr val="000000"/>
                        </a:solidFill>
                        <a:latin typeface="Times New Roman" panose="02020603050405020304"/>
                      </a:rPr>
                      <m:t>𝑎𝑑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𝐻</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𝑖𝑝</m:t>
                    </m:r>
                    <m:r>
                      <a:rPr lang="en-US" sz="3600" i="0" noProof="1">
                        <a:solidFill>
                          <a:srgbClr val="000000"/>
                        </a:solidFill>
                        <a:latin typeface="Times New Roman" panose="02020603050405020304"/>
                      </a:rPr>
                      <m:t>𝑎𝑑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𝑀</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oMath>
                </a14:m>
                <a:r>
                  <a:rPr lang="en-US" sz="3600" noProof="1">
                    <a:solidFill>
                      <a:srgbClr val="000000"/>
                    </a:solidFill>
                    <a:latin typeface="Times New Roman" panose="02020603050405020304"/>
                    <a:ea typeface="宋体" panose="02010600030101010101" pitchFamily="2" charset="-122"/>
                  </a:rPr>
                  <a:t>　（11.5）</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算法的运行过程可描述如下。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的左边填充0以产生一个</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bit长的</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（例如，</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的长度为160bit，</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=512，则需要填充44个零字节0x00）。</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与ipad逐比特异或以产生</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bit的分组</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𝑆</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（3）将</a:t>
                </a:r>
                <a14:m>
                  <m:oMath xmlns:m="http://schemas.openxmlformats.org/officeDocument/2006/math">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链接到</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𝑆</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后。</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（4）将</a:t>
                </a:r>
                <a14:m>
                  <m:oMath xmlns:m="http://schemas.openxmlformats.org/officeDocument/2006/math">
                    <m:r>
                      <a:rPr lang="en-US" sz="3600" i="1" noProof="1">
                        <a:solidFill>
                          <a:srgbClr val="000000"/>
                        </a:solidFill>
                        <a:latin typeface="Times New Roman" panose="02020603050405020304"/>
                      </a:rPr>
                      <m:t>𝐻</m:t>
                    </m:r>
                  </m:oMath>
                </a14:m>
                <a:r>
                  <a:rPr lang="en-US" sz="3600" noProof="1">
                    <a:solidFill>
                      <a:srgbClr val="000000"/>
                    </a:solidFill>
                    <a:latin typeface="Times New Roman" panose="02020603050405020304"/>
                    <a:ea typeface="宋体" panose="02010600030101010101" pitchFamily="2" charset="-122"/>
                  </a:rPr>
                  <a:t>作用于步骤（3）产生的数据流。</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（5）</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与opad逐比特异或，以产生</a:t>
                </a:r>
                <a14:m>
                  <m:oMath xmlns:m="http://schemas.openxmlformats.org/officeDocument/2006/math">
                    <m:r>
                      <a:rPr lang="en-US" sz="3600" i="1" noProof="1">
                        <a:solidFill>
                          <a:srgbClr val="000000"/>
                        </a:solidFill>
                        <a:latin typeface="Times New Roman" panose="02020603050405020304"/>
                      </a:rPr>
                      <m:t>𝑏</m:t>
                    </m:r>
                  </m:oMath>
                </a14:m>
                <a:r>
                  <a:rPr lang="en-US" sz="3600" noProof="1">
                    <a:solidFill>
                      <a:srgbClr val="000000"/>
                    </a:solidFill>
                    <a:latin typeface="Times New Roman" panose="02020603050405020304"/>
                    <a:ea typeface="宋体" panose="02010600030101010101" pitchFamily="2" charset="-122"/>
                  </a:rPr>
                  <a:t>bit长的分组</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𝑆</m:t>
                        </m:r>
                      </m:e>
                      <m:sub>
                        <m:r>
                          <a:rPr lang="en-US" sz="3600" i="0" noProof="1">
                            <a:solidFill>
                              <a:srgbClr val="000000"/>
                            </a:solidFill>
                            <a:latin typeface="Times New Roman" panose="02020603050405020304"/>
                          </a:rPr>
                          <m:t>0</m:t>
                        </m:r>
                      </m:sub>
                    </m:sSub>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（6）将步骤（4）得到的杂凑值链接在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𝑆</m:t>
                        </m:r>
                      </m:e>
                      <m:sub>
                        <m:r>
                          <a:rPr lang="en-US" sz="3600" i="0" noProof="1">
                            <a:solidFill>
                              <a:srgbClr val="000000"/>
                            </a:solidFill>
                            <a:latin typeface="Times New Roman" panose="02020603050405020304"/>
                          </a:rPr>
                          <m:t>0</m:t>
                        </m:r>
                      </m:sub>
                    </m:sSub>
                  </m:oMath>
                </a14:m>
                <a:r>
                  <a:rPr lang="en-US" sz="3600" noProof="1">
                    <a:solidFill>
                      <a:srgbClr val="000000"/>
                    </a:solidFill>
                    <a:latin typeface="Times New Roman" panose="02020603050405020304"/>
                    <a:ea typeface="宋体" panose="02010600030101010101" pitchFamily="2" charset="-122"/>
                  </a:rPr>
                  <a:t>之后。</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（7）将</a:t>
                </a:r>
                <a14:m>
                  <m:oMath xmlns:m="http://schemas.openxmlformats.org/officeDocument/2006/math">
                    <m:r>
                      <a:rPr lang="en-US" sz="3600" i="1" noProof="1">
                        <a:solidFill>
                          <a:srgbClr val="000000"/>
                        </a:solidFill>
                        <a:latin typeface="Times New Roman" panose="02020603050405020304"/>
                      </a:rPr>
                      <m:t>𝐻</m:t>
                    </m:r>
                  </m:oMath>
                </a14:m>
                <a:r>
                  <a:rPr lang="en-US" sz="3600" noProof="1">
                    <a:solidFill>
                      <a:srgbClr val="000000"/>
                    </a:solidFill>
                    <a:latin typeface="Times New Roman" panose="02020603050405020304"/>
                    <a:ea typeface="宋体" panose="02010600030101010101" pitchFamily="2" charset="-122"/>
                  </a:rPr>
                  <a:t>作用于步骤（6）产生的数据流并输出最终结果。</a:t>
                </a:r>
                <a:endParaRPr lang="en-US" sz="3600" noProof="1"/>
              </a:p>
            </p:txBody>
          </p:sp>
        </mc:Choice>
        <mc:Fallback>
          <p:sp>
            <p:nvSpPr>
              <p:cNvPr id="2" name="body-p38"/>
              <p:cNvSpPr txBox="1">
                <a:spLocks noRot="1" noChangeAspect="1" noMove="1" noResize="1" noEditPoints="1" noAdjustHandles="1" noChangeArrowheads="1" noChangeShapeType="1" noTextEdit="1"/>
              </p:cNvSpPr>
              <p:nvPr/>
            </p:nvSpPr>
            <p:spPr>
              <a:xfrm>
                <a:off x="1725930" y="1874520"/>
                <a:ext cx="14818360" cy="6858000"/>
              </a:xfrm>
              <a:prstGeom prst="rect">
                <a:avLst/>
              </a:prstGeom>
              <a:blipFill rotWithShape="1">
                <a:blip r:embed="rId1"/>
                <a:stretch>
                  <a:fillRect b="-11796"/>
                </a:stretch>
              </a:blipFill>
              <a:ln>
                <a:noFill/>
              </a:ln>
            </p:spPr>
            <p:txBody>
              <a:bodyPr/>
              <a:lstStyle/>
              <a:p>
                <a:r>
                  <a:rPr lang="zh-CN" altLang="en-US">
                    <a:noFill/>
                  </a:rPr>
                  <a:t> </a:t>
                </a:r>
              </a:p>
            </p:txBody>
          </p:sp>
        </mc:Fallback>
      </mc:AlternateContent>
      <p:grpSp>
        <p:nvGrpSpPr>
          <p:cNvPr id="8" name="Group 2"/>
          <p:cNvGrpSpPr/>
          <p:nvPr/>
        </p:nvGrpSpPr>
        <p:grpSpPr>
          <a:xfrm>
            <a:off x="412090" y="1028700"/>
            <a:ext cx="7800783" cy="275915"/>
            <a:chOff x="0" y="0"/>
            <a:chExt cx="2054527" cy="72669"/>
          </a:xfrm>
        </p:grpSpPr>
        <p:sp>
          <p:nvSpPr>
            <p:cNvPr id="9"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1"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2" name="TextBox 30"/>
          <p:cNvSpPr txBox="1"/>
          <p:nvPr>
            <p:custDataLst>
              <p:tags r:id="rId7"/>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39"/>
              <p:cNvSpPr txBox="1"/>
              <p:nvPr/>
            </p:nvSpPr>
            <p:spPr>
              <a:xfrm>
                <a:off x="1724660" y="2095500"/>
                <a:ext cx="14818360" cy="3810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注：</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与ipad逐比特异或及</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与opad逐比特异或的结果是将</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中的一半比特取反，但两次取反的比特的位置不同。而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𝑆</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𝑆</m:t>
                        </m:r>
                      </m:e>
                      <m:sub>
                        <m:r>
                          <a:rPr lang="en-US" sz="3600" i="0" noProof="1">
                            <a:solidFill>
                              <a:srgbClr val="000000"/>
                            </a:solidFill>
                            <a:latin typeface="Times New Roman" panose="02020603050405020304"/>
                          </a:rPr>
                          <m:t>0</m:t>
                        </m:r>
                      </m:sub>
                    </m:sSub>
                  </m:oMath>
                </a14:m>
                <a:r>
                  <a:rPr lang="en-US" sz="3600" noProof="1">
                    <a:solidFill>
                      <a:srgbClr val="000000"/>
                    </a:solidFill>
                    <a:latin typeface="Times New Roman" panose="02020603050405020304"/>
                    <a:ea typeface="宋体" panose="02010600030101010101" pitchFamily="2" charset="-122"/>
                  </a:rPr>
                  <a:t>通过杂凑函数中压缩函数的处理，相当于以伪随机方式从</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产生两个密钥。</a:t>
                </a:r>
                <a:endParaRPr lang="en-US" sz="3600" noProof="1"/>
              </a:p>
              <a:p>
                <a:pPr indent="457200" algn="just" fontAlgn="auto">
                  <a:lnSpc>
                    <a:spcPct val="120000"/>
                  </a:lnSpc>
                </a:pPr>
                <a:endParaRPr lang="en-US" sz="3600" noProof="1"/>
              </a:p>
            </p:txBody>
          </p:sp>
        </mc:Choice>
        <mc:Fallback>
          <p:sp>
            <p:nvSpPr>
              <p:cNvPr id="2" name="body-p39"/>
              <p:cNvSpPr txBox="1">
                <a:spLocks noRot="1" noChangeAspect="1" noMove="1" noResize="1" noEditPoints="1" noAdjustHandles="1" noChangeArrowheads="1" noChangeShapeType="1" noTextEdit="1"/>
              </p:cNvSpPr>
              <p:nvPr/>
            </p:nvSpPr>
            <p:spPr>
              <a:xfrm>
                <a:off x="1724660" y="2095500"/>
                <a:ext cx="14818360" cy="3810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39"/>
              <p:cNvSpPr txBox="1"/>
              <p:nvPr/>
            </p:nvSpPr>
            <p:spPr>
              <a:xfrm>
                <a:off x="1724660" y="2095500"/>
                <a:ext cx="14818360" cy="3810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在实现HMAC时，可预先求出下面两个量（HMAC算法的有效实现如图11.10所示，虚线以左为预计算）：</a:t>
                </a: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IV</m:t>
                    </m:r>
                    <m:r>
                      <a:rPr lang="en-US" sz="3600" noProof="1">
                        <a:solidFill>
                          <a:srgbClr val="000000"/>
                        </a:solidFill>
                        <a:latin typeface="Times New Roman" panose="02020603050405020304"/>
                      </a:rPr>
                      <m:t> , (</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k</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ipad</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IV</m:t>
                    </m:r>
                    <m:r>
                      <a:rPr lang="en-US" sz="3600" noProof="1">
                        <a:solidFill>
                          <a:srgbClr val="000000"/>
                        </a:solidFill>
                        <a:latin typeface="Times New Roman" panose="02020603050405020304"/>
                      </a:rPr>
                      <m:t> , (</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k</m:t>
                        </m:r>
                      </m:e>
                      <m:sup>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opad</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m:rPr>
                        <m:sty m:val="p"/>
                      </m:rPr>
                      <a:rPr lang="en-US" sz="3600" noProof="1">
                        <a:solidFill>
                          <a:srgbClr val="000000"/>
                        </a:solidFill>
                        <a:latin typeface="Times New Roman" panose="02020603050405020304"/>
                      </a:rPr>
                      <m:t>f</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cv</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block</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，在图11.10中</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表示杂凑函数中的压缩函数，其输入是</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bit的链接变量和</a:t>
                </a:r>
                <a14:m>
                  <m:oMath xmlns:m="http://schemas.openxmlformats.org/officeDocument/2006/math">
                    <m:r>
                      <m:rPr>
                        <m:sty m:val="p"/>
                      </m:rPr>
                      <a:rPr lang="en-US" sz="3600" noProof="1">
                        <a:solidFill>
                          <a:srgbClr val="000000"/>
                        </a:solidFill>
                        <a:latin typeface="Times New Roman" panose="02020603050405020304"/>
                      </a:rPr>
                      <m:t>b</m:t>
                    </m:r>
                  </m:oMath>
                </a14:m>
                <a:r>
                  <a:rPr lang="en-US" sz="3600" noProof="1">
                    <a:solidFill>
                      <a:srgbClr val="000000"/>
                    </a:solidFill>
                    <a:latin typeface="Times New Roman" panose="02020603050405020304"/>
                    <a:ea typeface="宋体" panose="02010600030101010101" pitchFamily="2" charset="-122"/>
                  </a:rPr>
                  <a:t>bit的分组，输出是</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bit的链接变量。这两个量的预先计算只在每次更改密钥时才需要进行，预先计算的值用于作为杂凑函数的初始变量IV。</a:t>
                </a:r>
                <a:endParaRPr lang="en-US" sz="3600" noProof="1"/>
              </a:p>
            </p:txBody>
          </p:sp>
        </mc:Choice>
        <mc:Fallback>
          <p:sp>
            <p:nvSpPr>
              <p:cNvPr id="2" name="body-p39"/>
              <p:cNvSpPr txBox="1">
                <a:spLocks noRot="1" noChangeAspect="1" noMove="1" noResize="1" noEditPoints="1" noAdjustHandles="1" noChangeArrowheads="1" noChangeShapeType="1" noTextEdit="1"/>
              </p:cNvSpPr>
              <p:nvPr/>
            </p:nvSpPr>
            <p:spPr>
              <a:xfrm>
                <a:off x="1724660" y="2095500"/>
                <a:ext cx="14818360" cy="3810000"/>
              </a:xfrm>
              <a:prstGeom prst="rect">
                <a:avLst/>
              </a:prstGeom>
              <a:blipFill rotWithShape="1">
                <a:blip r:embed="rId1"/>
                <a:stretch>
                  <a:fillRect r="-437" b="-9250"/>
                </a:stretch>
              </a:blipFill>
              <a:ln>
                <a:noFill/>
              </a:ln>
            </p:spPr>
            <p:txBody>
              <a:bodyPr/>
              <a:lstStyle/>
              <a:p>
                <a:r>
                  <a:rPr lang="zh-CN" altLang="en-US">
                    <a:noFill/>
                  </a:rPr>
                  <a:t> </a:t>
                </a:r>
              </a:p>
            </p:txBody>
          </p:sp>
        </mc:Fallback>
      </mc:AlternateContent>
      <p:pic>
        <p:nvPicPr>
          <p:cNvPr id="3" name="img-p39"/>
          <p:cNvPicPr/>
          <p:nvPr/>
        </p:nvPicPr>
        <p:blipFill>
          <a:blip r:embed="rId2"/>
          <a:stretch>
            <a:fillRect/>
          </a:stretch>
        </p:blipFill>
        <p:spPr>
          <a:xfrm>
            <a:off x="5207000" y="5981700"/>
            <a:ext cx="7874000" cy="3187700"/>
          </a:xfrm>
          <a:prstGeom prst="rect">
            <a:avLst/>
          </a:prstGeom>
          <a:ln>
            <a:noFill/>
          </a:ln>
        </p:spPr>
      </p:pic>
      <p:sp>
        <p:nvSpPr>
          <p:cNvPr id="4" name="imgcap-p39"/>
          <p:cNvSpPr txBox="1"/>
          <p:nvPr/>
        </p:nvSpPr>
        <p:spPr>
          <a:xfrm>
            <a:off x="1734820" y="9245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图11.10　HMAC算法有效实现</a:t>
            </a:r>
            <a:endParaRPr lang="en-US" sz="1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3"/>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4"/>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5"/>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11.4.2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6"/>
            </p:custDataLst>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8"/>
            </p:custDataLst>
          </p:nvPr>
        </p:nvSpPr>
        <p:spPr>
          <a:xfrm>
            <a:off x="287782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HMAC算法</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9"/>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10"/>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1"/>
              </p:custDataLst>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charset="-122"/>
                <a:cs typeface="Times New Roman" panose="02020603050405020304" pitchFamily="18" charset="0"/>
                <a:sym typeface="字由文艺黑" panose="00020600040101010101" charset="-122"/>
              </a:rPr>
              <a:t>11.5</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charset="-122"/>
                <a:ea typeface="仿宋" panose="02010609060101010101" charset="-122"/>
                <a:cs typeface="字由文艺黑" panose="00020600040101010101" charset="-122"/>
                <a:sym typeface="字由文艺黑" panose="00020600040101010101" charset="-122"/>
              </a:rPr>
              <a:t>杂凑函数安全性分析</a:t>
            </a:r>
            <a:endParaRPr kumimoji="0" lang="zh-CN" altLang="en-US" sz="9600" b="1" i="0" u="none" strike="noStrike" kern="1200" cap="none" spc="0" normalizeH="0" baseline="0" noProof="0" dirty="0">
              <a:ln>
                <a:noFill/>
              </a:ln>
              <a:solidFill>
                <a:srgbClr val="004AAD"/>
              </a:solidFill>
              <a:effectLst/>
              <a:uLnTx/>
              <a:uFillTx/>
              <a:latin typeface="仿宋" panose="02010609060101010101" charset="-122"/>
              <a:ea typeface="仿宋" panose="02010609060101010101"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0"/>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一个杂凑函数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𝐻</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需要满足下面3条基本的安全性原则。</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（1）抗原像性（单向性）：给定杂凑值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ℎ</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，找到消息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使得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𝐻</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在计算上是不可行的。</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（2）抗第二原像性（抗弱碰撞性）：给定杂凑值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𝐻</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，找到消息</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p>
                        <m:r>
                          <a:rPr lang="en-US" sz="3600" i="0" noProof="1">
                            <a:solidFill>
                              <a:srgbClr val="000000"/>
                            </a:solidFill>
                            <a:latin typeface="Cambria Math" panose="02040503050406030204" charset="0"/>
                            <a:ea typeface="MS Mincho" charset="0"/>
                            <a:cs typeface="Cambria Math" panose="02040503050406030204" charset="0"/>
                          </a:rPr>
                          <m:t>′</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𝐻</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p>
                        <m:r>
                          <a:rPr lang="en-US" sz="3600" i="0" noProof="1">
                            <a:solidFill>
                              <a:srgbClr val="000000"/>
                            </a:solidFill>
                            <a:latin typeface="Cambria Math" panose="02040503050406030204" charset="0"/>
                            <a:ea typeface="MS Mincho" charset="0"/>
                            <a:cs typeface="Cambria Math" panose="02040503050406030204" charset="0"/>
                          </a:rPr>
                          <m:t>′</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ℎ</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在计算上是不可行的。</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（3）抗碰撞性（抗强碰撞性）：找到两个不同的消息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p>
                        <m:r>
                          <a:rPr lang="en-US" sz="3600" i="0" noProof="1">
                            <a:solidFill>
                              <a:srgbClr val="000000"/>
                            </a:solidFill>
                            <a:latin typeface="Cambria Math" panose="02040503050406030204" charset="0"/>
                            <a:ea typeface="MS Mincho" charset="0"/>
                            <a:cs typeface="Cambria Math" panose="02040503050406030204" charset="0"/>
                          </a:rPr>
                          <m:t>′</m:t>
                        </m:r>
                      </m:sup>
                    </m:sSup>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𝐻</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p>
                        <m:r>
                          <a:rPr lang="en-US" sz="3600" i="0" noProof="1">
                            <a:solidFill>
                              <a:srgbClr val="000000"/>
                            </a:solidFill>
                            <a:latin typeface="Cambria Math" panose="02040503050406030204" charset="0"/>
                            <a:ea typeface="MS Mincho" charset="0"/>
                            <a:cs typeface="Cambria Math" panose="02040503050406030204" charset="0"/>
                          </a:rPr>
                          <m:t>′</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𝐻</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在计算上是不可行的。</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40"/>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杂凑函数安全性分析</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针对上述3条原则可以提出3种攻击方法，即原像攻击、第二原像攻击和碰撞攻击。一个杂凑函数抵抗原像攻击、第二原像攻击或碰撞攻击的能力主要取决于杂凑值的比特数 </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。不管杂凑函数是如何设计的，攻击者都可以通过尝试</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n</m:t>
                        </m:r>
                      </m:sup>
                    </m:sSup>
                  </m:oMath>
                </a14:m>
                <a:r>
                  <a:rPr lang="en-US" sz="3600" noProof="1">
                    <a:solidFill>
                      <a:srgbClr val="000000"/>
                    </a:solidFill>
                    <a:latin typeface="Times New Roman" panose="02020603050405020304"/>
                    <a:ea typeface="宋体" panose="02010600030101010101" pitchFamily="2" charset="-122"/>
                  </a:rPr>
                  <a:t>个不同的消息找到给定杂凑值的原像或第二原像，或依据生日攻击通过尝试</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个不同的消息找到一对碰撞消息。因此，若找到原像或第二原像的计算复杂度低于</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n</m:t>
                        </m:r>
                      </m:sup>
                    </m:sSup>
                  </m:oMath>
                </a14:m>
                <a:r>
                  <a:rPr lang="en-US" sz="3600" noProof="1">
                    <a:solidFill>
                      <a:srgbClr val="000000"/>
                    </a:solidFill>
                    <a:latin typeface="Times New Roman" panose="02020603050405020304"/>
                    <a:ea typeface="宋体" panose="02010600030101010101" pitchFamily="2" charset="-122"/>
                  </a:rPr>
                  <a:t>，或者找到碰撞对的计算复杂度低于</a:t>
                </a:r>
                <a14:m>
                  <m:oMath xmlns:m="http://schemas.openxmlformats.org/officeDocument/2006/math">
                    <m:sSup>
                      <m:sSupPr>
                        <m:ctrlPr>
                          <a:rPr lang="en-US" sz="3600" noProof="1">
                            <a:solidFill>
                              <a:srgbClr val="000000"/>
                            </a:solidFill>
                            <a:latin typeface="Times New Roman" panose="02020603050405020304"/>
                          </a:rPr>
                        </m:ctrlPr>
                      </m:sSupPr>
                      <m:e>
                        <m:r>
                          <a:rPr lang="en-US" sz="3600" noProof="1">
                            <a:solidFill>
                              <a:srgbClr val="000000"/>
                            </a:solidFill>
                            <a:latin typeface="Times New Roman" panose="02020603050405020304"/>
                          </a:rPr>
                          <m:t>2</m:t>
                        </m:r>
                      </m:e>
                      <m:sup>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，则认为该杂凑算法是可破的。</a:t>
                </a:r>
                <a:endParaRPr lang="en-US" sz="3600" noProof="1"/>
              </a:p>
            </p:txBody>
          </p:sp>
        </mc:Choice>
        <mc:Fallback>
          <p:sp>
            <p:nvSpPr>
              <p:cNvPr id="2" name="body-p41"/>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杂凑函数安全性分析</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2"/>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寻找杂凑函数 </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T</m:t>
                    </m:r>
                  </m:oMath>
                </a14:m>
                <a:r>
                  <a:rPr lang="en-US" sz="3600" noProof="1">
                    <a:solidFill>
                      <a:srgbClr val="000000"/>
                    </a:solidFill>
                    <a:latin typeface="Times New Roman" panose="02020603050405020304"/>
                    <a:ea typeface="宋体" panose="02010600030101010101" pitchFamily="2" charset="-122"/>
                  </a:rPr>
                  <a:t> 的碰撞对的基本方法是生日攻击，即找到两个不同的消息</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M</m:t>
                        </m:r>
                      </m:e>
                      <m: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 , </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M</m:t>
                        </m:r>
                      </m:e>
                      <m: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j</m:t>
                        </m:r>
                        <m:r>
                          <a:rPr lang="en-US" sz="360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M</m:t>
                        </m:r>
                      </m:e>
                      <m: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i</m:t>
                        </m:r>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M</m:t>
                        </m:r>
                      </m:e>
                      <m: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j</m:t>
                        </m:r>
                        <m:r>
                          <a:rPr lang="en-US" sz="3600" noProof="1">
                            <a:solidFill>
                              <a:srgbClr val="000000"/>
                            </a:solidFill>
                            <a:latin typeface="Times New Roman" panose="02020603050405020304"/>
                          </a:rPr>
                          <m:t>)</m:t>
                        </m:r>
                      </m:sup>
                    </m:sSup>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，具体的算法描述如下。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（1）随机选取集合 </a:t>
                </a:r>
                <a14:m>
                  <m:oMath xmlns:m="http://schemas.openxmlformats.org/officeDocument/2006/math">
                    <m:r>
                      <m:rPr>
                        <m:sty m:val="p"/>
                      </m:rPr>
                      <a:rPr lang="en-US" sz="3600" noProof="1">
                        <a:solidFill>
                          <a:srgbClr val="000000"/>
                        </a:solidFill>
                        <a:latin typeface="Times New Roman" panose="02020603050405020304"/>
                      </a:rPr>
                      <m:t>M</m:t>
                    </m:r>
                  </m:oMath>
                </a14:m>
                <a:r>
                  <a:rPr lang="en-US" sz="3600" noProof="1">
                    <a:solidFill>
                      <a:srgbClr val="000000"/>
                    </a:solidFill>
                    <a:latin typeface="Times New Roman" panose="02020603050405020304"/>
                    <a:ea typeface="宋体" panose="02010600030101010101" pitchFamily="2" charset="-122"/>
                  </a:rPr>
                  <a:t> 的一个子集</a:t>
                </a:r>
                <a14:m>
                  <m:oMath xmlns:m="http://schemas.openxmlformats.org/officeDocument/2006/math">
                    <m:r>
                      <a:rPr lang="en-US" sz="3600" noProof="1">
                        <a:solidFill>
                          <a:srgbClr val="000000"/>
                        </a:solidFill>
                        <a:latin typeface="Times New Roman" panose="02020603050405020304"/>
                      </a:rPr>
                      <m:t>𝛺</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（2）以</a:t>
                </a:r>
                <a14:m>
                  <m:oMath xmlns:m="http://schemas.openxmlformats.org/officeDocument/2006/math">
                    <m:r>
                      <a:rPr lang="en-US" sz="3600" noProof="1">
                        <a:solidFill>
                          <a:srgbClr val="000000"/>
                        </a:solidFill>
                        <a:latin typeface="Times New Roman" panose="02020603050405020304"/>
                      </a:rPr>
                      <m:t>𝛺</m:t>
                    </m:r>
                  </m:oMath>
                </a14:m>
                <a:r>
                  <a:rPr lang="en-US" sz="3600" noProof="1">
                    <a:solidFill>
                      <a:srgbClr val="000000"/>
                    </a:solidFill>
                    <a:latin typeface="Times New Roman" panose="02020603050405020304"/>
                    <a:ea typeface="宋体" panose="02010600030101010101" pitchFamily="2" charset="-122"/>
                  </a:rPr>
                  <a:t>中的每个元素作为杂凑函数 </a:t>
                </a:r>
                <a14:m>
                  <m:oMath xmlns:m="http://schemas.openxmlformats.org/officeDocument/2006/math">
                    <m:r>
                      <m:rPr>
                        <m:sty m:val="p"/>
                      </m:rPr>
                      <a:rPr lang="en-US" sz="3600" noProof="1">
                        <a:solidFill>
                          <a:srgbClr val="000000"/>
                        </a:solidFill>
                        <a:latin typeface="Times New Roman" panose="02020603050405020304"/>
                      </a:rPr>
                      <m:t>H</m:t>
                    </m:r>
                  </m:oMath>
                </a14:m>
                <a:r>
                  <a:rPr lang="en-US" sz="3600" noProof="1">
                    <a:solidFill>
                      <a:srgbClr val="000000"/>
                    </a:solidFill>
                    <a:latin typeface="Times New Roman" panose="02020603050405020304"/>
                    <a:ea typeface="宋体" panose="02010600030101010101" pitchFamily="2" charset="-122"/>
                  </a:rPr>
                  <a:t> 的输入，得到集合</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𝛺</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 : </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𝛺</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（3）对集合</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𝛺</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中的元素 </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，根据其大小进行快速排序，寻找</a:t>
                </a:r>
                <a14:m>
                  <m:oMath xmlns:m="http://schemas.openxmlformats.org/officeDocument/2006/math">
                    <m:r>
                      <a:rPr lang="en-US" sz="3600" noProof="1">
                        <a:solidFill>
                          <a:srgbClr val="000000"/>
                        </a:solidFill>
                        <a:latin typeface="Times New Roman" panose="02020603050405020304"/>
                      </a:rPr>
                      <m:t>𝛺</m:t>
                    </m:r>
                  </m:oMath>
                </a14:m>
                <a:r>
                  <a:rPr lang="en-US" sz="3600" noProof="1">
                    <a:solidFill>
                      <a:srgbClr val="000000"/>
                    </a:solidFill>
                    <a:latin typeface="Times New Roman" panose="02020603050405020304"/>
                    <a:ea typeface="宋体" panose="02010600030101010101" pitchFamily="2" charset="-122"/>
                  </a:rPr>
                  <a:t>中使得 </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成立的不同元素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和 </a:t>
                </a:r>
                <a14:m>
                  <m:oMath xmlns:m="http://schemas.openxmlformats.org/officeDocument/2006/math">
                    <m:r>
                      <m:rPr>
                        <m:sty m:val="p"/>
                      </m:rPr>
                      <a:rPr lang="en-US" sz="3600" noProof="1">
                        <a:solidFill>
                          <a:srgbClr val="000000"/>
                        </a:solidFill>
                        <a:latin typeface="Times New Roman" panose="02020603050405020304"/>
                      </a:rPr>
                      <m:t>y</m:t>
                    </m:r>
                  </m:oMath>
                </a14:m>
                <a:r>
                  <a:rPr lang="en-US" sz="3600" noProof="1">
                    <a:solidFill>
                      <a:srgbClr val="000000"/>
                    </a:solidFill>
                    <a:latin typeface="Times New Roman" panose="02020603050405020304"/>
                    <a:ea typeface="宋体" panose="02010600030101010101" pitchFamily="2" charset="-122"/>
                  </a:rPr>
                  <a:t>。若存在 </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 和 </a:t>
                </a:r>
                <a14:m>
                  <m:oMath xmlns:m="http://schemas.openxmlformats.org/officeDocument/2006/math">
                    <m:r>
                      <m:rPr>
                        <m:sty m:val="p"/>
                      </m:rPr>
                      <a:rPr lang="en-US" sz="3600" noProof="1">
                        <a:solidFill>
                          <a:srgbClr val="000000"/>
                        </a:solidFill>
                        <a:latin typeface="Times New Roman" panose="02020603050405020304"/>
                      </a:rPr>
                      <m:t>y</m:t>
                    </m:r>
                  </m:oMath>
                </a14:m>
                <a:r>
                  <a:rPr lang="en-US" sz="3600" noProof="1">
                    <a:solidFill>
                      <a:srgbClr val="000000"/>
                    </a:solidFill>
                    <a:latin typeface="Times New Roman" panose="02020603050405020304"/>
                    <a:ea typeface="宋体" panose="02010600030101010101" pitchFamily="2" charset="-122"/>
                  </a:rPr>
                  <a:t>，且</a:t>
                </a:r>
                <a14:m>
                  <m:oMath xmlns:m="http://schemas.openxmlformats.org/officeDocument/2006/math">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oMath>
                </a14:m>
                <a:r>
                  <a:rPr lang="en-US" sz="3600" noProof="1">
                    <a:solidFill>
                      <a:srgbClr val="000000"/>
                    </a:solidFill>
                    <a:latin typeface="Times New Roman" panose="02020603050405020304"/>
                    <a:ea typeface="宋体" panose="02010600030101010101" pitchFamily="2" charset="-122"/>
                  </a:rPr>
                  <a:t>，使得 </a:t>
                </a:r>
                <a14:m>
                  <m:oMath xmlns:m="http://schemas.openxmlformats.org/officeDocument/2006/math">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H</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，则输出（</a:t>
                </a:r>
                <a14:m>
                  <m:oMath xmlns:m="http://schemas.openxmlformats.org/officeDocument/2006/math">
                    <m:r>
                      <m:rPr>
                        <m:sty m:val="p"/>
                      </m:rPr>
                      <a:rPr lang="en-US" sz="3600" noProof="1">
                        <a:solidFill>
                          <a:srgbClr val="000000"/>
                        </a:solidFill>
                        <a:latin typeface="Times New Roman" panose="02020603050405020304"/>
                      </a:rPr>
                      <m:t>x</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y</m:t>
                    </m:r>
                  </m:oMath>
                </a14:m>
                <a:r>
                  <a:rPr lang="en-US" sz="3600" noProof="1">
                    <a:solidFill>
                      <a:srgbClr val="000000"/>
                    </a:solidFill>
                    <a:latin typeface="Times New Roman" panose="02020603050405020304"/>
                    <a:ea typeface="宋体" panose="02010600030101010101" pitchFamily="2" charset="-122"/>
                  </a:rPr>
                  <a:t>），算法终止；否则，攻击失败。</a:t>
                </a:r>
                <a:endParaRPr lang="en-US" sz="3600" noProof="1"/>
              </a:p>
            </p:txBody>
          </p:sp>
        </mc:Choice>
        <mc:Fallback>
          <p:sp>
            <p:nvSpPr>
              <p:cNvPr id="2" name="body-p42"/>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生日攻击</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3"/>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由上述算法的描述可知，生日攻击的计算量为</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log</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为集合</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𝛺</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的元素个数），存储量为</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，且至少找到一个碰撞对的成功率为</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ctr" fontAlgn="auto">
                  <a:lnSpc>
                    <a:spcPct val="120000"/>
                  </a:lnSpc>
                </a:pP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1</m:t>
                    </m:r>
                    <m:r>
                      <a:rPr lang="en-US" sz="360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e</m:t>
                        </m:r>
                      </m:e>
                      <m:sup>
                        <m:r>
                          <a:rPr lang="en-US" sz="3600" noProof="1">
                            <a:solidFill>
                              <a:srgbClr val="000000"/>
                            </a:solidFill>
                            <a:latin typeface="Cambria Math" panose="02040503050406030204" charset="0"/>
                            <a:ea typeface="MS Mincho" charset="0"/>
                            <a:cs typeface="Cambria Math" panose="02040503050406030204" charset="0"/>
                          </a:rPr>
                          <m:t>−</m:t>
                        </m:r>
                        <m:f>
                          <m:fPr>
                            <m:ctrlPr>
                              <a:rPr sz="3600">
                                <a:latin typeface="Cambria Math" panose="02040503050406030204" charset="0"/>
                                <a:ea typeface="宋体" panose="02010600030101010101" pitchFamily="2" charset="-122"/>
                                <a:cs typeface="Cambria Math" panose="02040503050406030204" charset="0"/>
                              </a:rPr>
                            </m:ctrlPr>
                          </m:fPr>
                          <m:num>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noProof="1">
                                    <a:solidFill>
                                      <a:srgbClr val="000000"/>
                                    </a:solidFill>
                                    <a:latin typeface="Cambria Math" panose="02040503050406030204" charset="0"/>
                                    <a:ea typeface="MS Mincho" charset="0"/>
                                    <a:cs typeface="Cambria Math" panose="02040503050406030204" charset="0"/>
                                  </a:rPr>
                                  <m:t>|</m:t>
                                </m:r>
                              </m:e>
                              <m:sup>
                                <m:r>
                                  <a:rPr lang="en-US" sz="3600" noProof="1">
                                    <a:solidFill>
                                      <a:srgbClr val="000000"/>
                                    </a:solidFill>
                                    <a:latin typeface="Cambria Math" panose="02040503050406030204" charset="0"/>
                                    <a:ea typeface="MS Mincho" charset="0"/>
                                    <a:cs typeface="Cambria Math" panose="02040503050406030204" charset="0"/>
                                  </a:rPr>
                                  <m:t>2</m:t>
                                </m:r>
                              </m:sup>
                            </m:sSup>
                          </m:num>
                          <m:den>
                            <m:r>
                              <a:rPr lang="en-US" sz="3600" noProof="1">
                                <a:solidFill>
                                  <a:srgbClr val="000000"/>
                                </a:solidFill>
                                <a:latin typeface="Cambria Math" panose="02040503050406030204" charset="0"/>
                                <a:ea typeface="MS Mincho" charset="0"/>
                                <a:cs typeface="Cambria Math" panose="02040503050406030204" charset="0"/>
                              </a:rPr>
                              <m:t>2</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r>
                              <a:rPr lang="en-US" sz="3600" noProof="1">
                                <a:solidFill>
                                  <a:srgbClr val="000000"/>
                                </a:solidFill>
                                <a:latin typeface="Cambria Math" panose="02040503050406030204" charset="0"/>
                                <a:ea typeface="MS Mincho" charset="0"/>
                                <a:cs typeface="Cambria Math" panose="02040503050406030204" charset="0"/>
                              </a:rPr>
                              <m:t>|</m:t>
                            </m:r>
                          </m:den>
                        </m:f>
                      </m:sup>
                    </m:sSup>
                  </m:oMath>
                </a14:m>
                <a:r>
                  <a:rPr lang="en-US" sz="3600" noProof="1">
                    <a:latin typeface="Times New Roman" panose="02020603050405020304" pitchFamily="18" charset="0"/>
                    <a:ea typeface="宋体" panose="02010600030101010101" pitchFamily="2" charset="-122"/>
                    <a:cs typeface="Times New Roman" panose="02020603050405020304" pitchFamily="18" charset="0"/>
                  </a:rPr>
                  <a:t> </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因此，当</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𝛺</m:t>
                    </m:r>
                    <m:r>
                      <a:rPr lang="en-US" sz="3600" noProof="1">
                        <a:solidFill>
                          <a:srgbClr val="000000"/>
                        </a:solidFill>
                        <a:latin typeface="Cambria Math" panose="02040503050406030204" charset="0"/>
                        <a:ea typeface="MS Mincho" charset="0"/>
                        <a:cs typeface="Cambria Math" panose="02040503050406030204" charset="0"/>
                      </a:rPr>
                      <m:t>|=</m:t>
                    </m:r>
                    <m:rad>
                      <m:radPr>
                        <m:ctrlPr>
                          <a:rPr sz="3600">
                            <a:latin typeface="Cambria Math" panose="02040503050406030204" charset="0"/>
                            <a:ea typeface="宋体" panose="02010600030101010101" pitchFamily="2" charset="-122"/>
                            <a:cs typeface="Cambria Math" panose="02040503050406030204" charset="0"/>
                          </a:rPr>
                        </m:ctrlPr>
                      </m:radPr>
                      <m:deg>
                        <m:r>
                          <a:rPr sz="3600">
                            <a:latin typeface="Cambria Math" panose="02040503050406030204" charset="0"/>
                            <a:ea typeface="MS Mincho" charset="0"/>
                            <a:cs typeface="Cambria Math" panose="02040503050406030204" charset="0"/>
                          </a:rPr>
                          <m:t> </m:t>
                        </m:r>
                      </m:deg>
                      <m:e>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r>
                          <a:rPr lang="en-US" sz="3600" noProof="1">
                            <a:solidFill>
                              <a:srgbClr val="000000"/>
                            </a:solidFill>
                            <a:latin typeface="Cambria Math" panose="02040503050406030204" charset="0"/>
                            <a:ea typeface="MS Mincho" charset="0"/>
                            <a:cs typeface="Cambria Math" panose="02040503050406030204" charset="0"/>
                          </a:rPr>
                          <m:t>|</m:t>
                        </m:r>
                      </m:e>
                    </m:rad>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时，生日攻击算法的成功率为</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1</m:t>
                    </m:r>
                    <m:r>
                      <a:rPr lang="en-US" sz="360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e</m:t>
                        </m:r>
                      </m:e>
                      <m:sup>
                        <m:r>
                          <a:rPr lang="en-US" sz="3600" noProof="1">
                            <a:solidFill>
                              <a:srgbClr val="000000"/>
                            </a:solidFill>
                            <a:latin typeface="Cambria Math" panose="02040503050406030204" charset="0"/>
                            <a:ea typeface="MS Mincho" charset="0"/>
                            <a:cs typeface="Cambria Math" panose="02040503050406030204" charset="0"/>
                          </a:rPr>
                          <m:t>−</m:t>
                        </m:r>
                        <m:f>
                          <m:fPr>
                            <m:ctrlPr>
                              <a:rPr sz="3600">
                                <a:latin typeface="Cambria Math" panose="02040503050406030204" charset="0"/>
                                <a:ea typeface="宋体" panose="02010600030101010101" pitchFamily="2" charset="-122"/>
                                <a:cs typeface="Cambria Math" panose="02040503050406030204" charset="0"/>
                              </a:rPr>
                            </m:ctrlPr>
                          </m:fPr>
                          <m:num>
                            <m:r>
                              <a:rPr lang="en-US" sz="3600" noProof="1">
                                <a:solidFill>
                                  <a:srgbClr val="000000"/>
                                </a:solidFill>
                                <a:latin typeface="Cambria Math" panose="02040503050406030204" charset="0"/>
                                <a:ea typeface="MS Mincho" charset="0"/>
                                <a:cs typeface="Cambria Math" panose="02040503050406030204" charset="0"/>
                              </a:rPr>
                              <m:t>1</m:t>
                            </m:r>
                          </m:num>
                          <m:den>
                            <m:r>
                              <a:rPr lang="en-US" sz="3600" noProof="1">
                                <a:solidFill>
                                  <a:srgbClr val="000000"/>
                                </a:solidFill>
                                <a:latin typeface="Cambria Math" panose="02040503050406030204" charset="0"/>
                                <a:ea typeface="MS Mincho" charset="0"/>
                                <a:cs typeface="Cambria Math" panose="02040503050406030204" charset="0"/>
                              </a:rPr>
                              <m:t>2</m:t>
                            </m:r>
                          </m:den>
                        </m:f>
                      </m:sup>
                    </m:sSup>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0</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393</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。故对于 </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 bit的理想杂凑函数，找到一对碰撞消息的计算量和存储量均约为</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O</m:t>
                    </m:r>
                    <m:r>
                      <a:rPr lang="en-US" sz="360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noProof="1">
                            <a:solidFill>
                              <a:srgbClr val="000000"/>
                            </a:solidFill>
                            <a:latin typeface="Cambria Math" panose="02040503050406030204" charset="0"/>
                            <a:ea typeface="MS Mincho" charset="0"/>
                            <a:cs typeface="Cambria Math" panose="02040503050406030204" charset="0"/>
                          </a:rPr>
                          <m:t>2</m:t>
                        </m:r>
                      </m:e>
                      <m:sup>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2</m:t>
                        </m:r>
                      </m:sup>
                    </m:sSup>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body-p43"/>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11.5.1</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613791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生日攻击</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4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Keccak算法成为SHA-3杂凑算法获胜者之后，必然会引起更多的关注和分析。目前关于Keccak算法的攻击方式主要有：利用差分技术的碰撞攻击和部分碰撞攻击；利用Biclique等技术的原像或第二原像攻击；区分攻击等。</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1．碰撞和近似碰撞攻击</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国外学者从已有的2轮低重量的状态差分开始，反向扩展1轮产生目标状态差分，再由目标差分算法从初始变量开始进行正向1轮扩展，产生了4轮Keccak-224实际碰撞用时2～3min，产生4轮Keccak-256实际碰撞用时15～30min；产生5轮近似碰撞（只差5bit、10bit）耗时几天时间。</a:t>
            </a: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6"/>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Keccak算法的安全性分析现状</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4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2013年又采用目标内部差分算法提高了上述结果：对5轮的Keccak-256产生了碰撞攻击，复杂度为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15</m:t>
                        </m:r>
                      </m:sup>
                    </m:sSup>
                  </m:oMath>
                </a14:m>
                <a:r>
                  <a:rPr lang="en-US" sz="3600" noProof="1">
                    <a:solidFill>
                      <a:srgbClr val="000000"/>
                    </a:solidFill>
                    <a:latin typeface="Times New Roman" panose="02020603050405020304"/>
                    <a:ea typeface="宋体" panose="02010600030101010101" pitchFamily="2" charset="-122"/>
                  </a:rPr>
                  <a:t>；并结合Squeez攻击产生了3轮Keccak-512实际性攻击，4轮Keccak-384的碰撞，复杂度为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47</m:t>
                        </m:r>
                      </m:sup>
                    </m:sSup>
                  </m:oMath>
                </a14:m>
                <a:r>
                  <a:rPr lang="en-US" sz="3600" noProof="1">
                    <a:solidFill>
                      <a:srgbClr val="000000"/>
                    </a:solidFill>
                    <a:latin typeface="Times New Roman" panose="02020603050405020304"/>
                    <a:ea typeface="宋体" panose="02010600030101010101" pitchFamily="2" charset="-122"/>
                  </a:rPr>
                  <a:t>。国外学者还提出了有效产生给定重量的Keccak-</a:t>
                </a:r>
                <a14:m>
                  <m:oMath xmlns:m="http://schemas.openxmlformats.org/officeDocument/2006/math">
                    <m:r>
                      <a:rPr lang="en-US" sz="3600" i="1" noProof="1">
                        <a:solidFill>
                          <a:srgbClr val="000000"/>
                        </a:solidFill>
                        <a:latin typeface="Times New Roman" panose="02020603050405020304"/>
                      </a:rPr>
                      <m:t>𝑓</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16</m:t>
                    </m:r>
                    <m:r>
                      <a:rPr lang="en-US" sz="3600" i="0" noProof="1">
                        <a:solidFill>
                          <a:srgbClr val="000000"/>
                        </a:solidFill>
                        <a:latin typeface="Times New Roman" panose="02020603050405020304"/>
                      </a:rPr>
                      <m:t>00</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的所有差分路径的方法，利用计算机程序搜索得到了重量为36时3轮的所有差分轨迹，确认了重量为32时3轮轨迹是最轻的，指出6轮的轨迹中重量都不小于74。</a:t>
                </a:r>
                <a:endParaRPr lang="en-US" sz="3600" noProof="1"/>
              </a:p>
            </p:txBody>
          </p:sp>
        </mc:Choice>
        <mc:Fallback>
          <p:sp>
            <p:nvSpPr>
              <p:cNvPr id="2" name="body-p44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Keccak算法的安全性分析现状</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5"/>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2．原像攻击</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国外学者采用中间相遇的方法，提出了2轮Keccak-224和Keccak-256的原像和第二原像攻击，时间复杂度为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33</m:t>
                        </m:r>
                      </m:sup>
                    </m:sSup>
                  </m:oMath>
                </a14:m>
                <a:r>
                  <a:rPr lang="en-US" sz="3600" noProof="1">
                    <a:solidFill>
                      <a:srgbClr val="000000"/>
                    </a:solidFill>
                    <a:latin typeface="Times New Roman" panose="02020603050405020304"/>
                    <a:ea typeface="宋体" panose="02010600030101010101" pitchFamily="2" charset="-122"/>
                  </a:rPr>
                  <a:t>，存储复杂度为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29</m:t>
                        </m:r>
                      </m:sup>
                    </m:sSup>
                  </m:oMath>
                </a14:m>
                <a:r>
                  <a:rPr lang="en-US" sz="3600" noProof="1">
                    <a:solidFill>
                      <a:srgbClr val="000000"/>
                    </a:solidFill>
                    <a:latin typeface="Times New Roman" panose="02020603050405020304"/>
                    <a:ea typeface="宋体" panose="02010600030101010101" pitchFamily="2" charset="-122"/>
                  </a:rPr>
                  <a:t>，这是一种可以实际实现的攻击。</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3．区分攻击（随机性攻击）</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国外学者采用零和子集划分的方式对Keccak算法进行了区分攻击。零和区分攻击可以看作积分攻击的推广，即利用输入和输出的和为零的子集进行区分攻击。他们针对Keccak算法的17轮、19轮和20轮置换产生了零和划分，复杂度分别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13</m:t>
                        </m:r>
                        <m:r>
                          <a:rPr lang="en-US" sz="3600" i="0" noProof="1">
                            <a:solidFill>
                              <a:srgbClr val="000000"/>
                            </a:solidFill>
                            <a:latin typeface="Times New Roman" panose="02020603050405020304"/>
                          </a:rPr>
                          <m:t>70</m:t>
                        </m:r>
                      </m:sup>
                    </m:sSup>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14</m:t>
                        </m:r>
                        <m:r>
                          <a:rPr lang="en-US" sz="3600" i="0" noProof="1">
                            <a:solidFill>
                              <a:srgbClr val="000000"/>
                            </a:solidFill>
                            <a:latin typeface="Times New Roman" panose="02020603050405020304"/>
                          </a:rPr>
                          <m:t>61</m:t>
                        </m:r>
                      </m:sup>
                    </m:sSup>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15</m:t>
                        </m:r>
                        <m:r>
                          <a:rPr lang="en-US" sz="3600" i="0" noProof="1">
                            <a:solidFill>
                              <a:srgbClr val="000000"/>
                            </a:solidFill>
                            <a:latin typeface="Times New Roman" panose="02020603050405020304"/>
                          </a:rPr>
                          <m:t>86</m:t>
                        </m:r>
                      </m:sup>
                    </m:sSup>
                  </m:oMath>
                </a14:m>
                <a:r>
                  <a:rPr lang="en-US" sz="3600" noProof="1">
                    <a:solidFill>
                      <a:srgbClr val="000000"/>
                    </a:solidFill>
                    <a:latin typeface="Times New Roman" panose="02020603050405020304"/>
                    <a:ea typeface="宋体" panose="02010600030101010101" pitchFamily="2" charset="-122"/>
                  </a:rPr>
                  <a:t>。他们还提出了针对全轮Keccak算法置换的零和划分，复杂度为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15</m:t>
                        </m:r>
                        <m:r>
                          <a:rPr lang="en-US" sz="3600" i="0" noProof="1">
                            <a:solidFill>
                              <a:srgbClr val="000000"/>
                            </a:solidFill>
                            <a:latin typeface="Times New Roman" panose="02020603050405020304"/>
                          </a:rPr>
                          <m:t>75</m:t>
                        </m:r>
                      </m:sup>
                    </m:sSup>
                  </m:oMath>
                </a14:m>
                <a:r>
                  <a:rPr lang="en-US" sz="3600" noProof="1">
                    <a:solidFill>
                      <a:srgbClr val="000000"/>
                    </a:solidFill>
                    <a:latin typeface="Times New Roman" panose="02020603050405020304"/>
                    <a:ea typeface="宋体" panose="02010600030101010101" pitchFamily="2" charset="-122"/>
                  </a:rPr>
                  <a:t>，可以看出这种攻击的复杂度是很大的。</a:t>
                </a:r>
                <a:endParaRPr lang="en-US" sz="3600" noProof="1"/>
              </a:p>
            </p:txBody>
          </p:sp>
        </mc:Choice>
        <mc:Fallback>
          <p:sp>
            <p:nvSpPr>
              <p:cNvPr id="2" name="body-p45"/>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Keccak算法的安全性分析现状</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8"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body-p45b"/>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国外学者找到了Keccak算法目前最好的（重量最轻的）5轮差分路径，针对</a:t>
                </a:r>
                <a14:m>
                  <m:oMath xmlns:m="http://schemas.openxmlformats.org/officeDocument/2006/math">
                    <m:r>
                      <a:rPr lang="en-US" sz="3600" i="0" noProof="1">
                        <a:solidFill>
                          <a:srgbClr val="000000"/>
                        </a:solidFill>
                        <a:latin typeface="Times New Roman" panose="02020603050405020304"/>
                      </a:rPr>
                      <m:t>𝜃</m:t>
                    </m:r>
                  </m:oMath>
                </a14:m>
                <a:r>
                  <a:rPr lang="en-US" sz="3600" noProof="1">
                    <a:solidFill>
                      <a:srgbClr val="000000"/>
                    </a:solidFill>
                    <a:latin typeface="Times New Roman" panose="02020603050405020304"/>
                    <a:ea typeface="宋体" panose="02010600030101010101" pitchFamily="2" charset="-122"/>
                  </a:rPr>
                  <a:t>变换的零和特性，利用Unaligned Rebound技术，构造了8轮区分器，复杂度为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91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47</m:t>
                        </m:r>
                      </m:sup>
                    </m:sSup>
                  </m:oMath>
                </a14:m>
                <a:r>
                  <a:rPr lang="en-US" sz="3600" noProof="1">
                    <a:solidFill>
                      <a:srgbClr val="000000"/>
                    </a:solidFill>
                    <a:latin typeface="Times New Roman" panose="02020603050405020304"/>
                    <a:ea typeface="宋体" panose="02010600030101010101" pitchFamily="2" charset="-122"/>
                  </a:rPr>
                  <a:t>，这比零和区分器的复杂度小很多。另外，国外学者采用旋转攻击方法，提出了5轮Keccak算法的区分攻击，复杂度仅为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12</m:t>
                        </m:r>
                      </m:sup>
                    </m:sSup>
                  </m:oMath>
                </a14:m>
                <a:r>
                  <a:rPr lang="en-US" sz="3600" noProof="1">
                    <a:solidFill>
                      <a:srgbClr val="000000"/>
                    </a:solidFill>
                    <a:latin typeface="Times New Roman" panose="02020603050405020304"/>
                    <a:ea typeface="宋体" panose="02010600030101010101" pitchFamily="2" charset="-122"/>
                  </a:rPr>
                  <a:t>，并且可以产生4轮原像攻击，复杂度为理论值的</a:t>
                </a:r>
                <a14:m>
                  <m:oMath xmlns:m="http://schemas.openxmlformats.org/officeDocument/2006/math">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6</m:t>
                        </m:r>
                      </m:sup>
                    </m:sSup>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2" name="body-p45b"/>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10" name="Group 2"/>
          <p:cNvGrpSpPr/>
          <p:nvPr/>
        </p:nvGrpSpPr>
        <p:grpSpPr>
          <a:xfrm>
            <a:off x="412090" y="1028700"/>
            <a:ext cx="7800783" cy="275915"/>
            <a:chOff x="0" y="0"/>
            <a:chExt cx="2054527" cy="72669"/>
          </a:xfrm>
        </p:grpSpPr>
        <p:sp>
          <p:nvSpPr>
            <p:cNvPr id="11" name="Freeform 3"/>
            <p:cNvSpPr/>
            <p:nvPr>
              <p:custDataLst>
                <p:tags r:id="rId2"/>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3"/>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4"/>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11.5.2</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5"/>
            </p:custDataLst>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7"/>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Keccak算法的安全性分析现状</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8"/>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9"/>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10"/>
              </p:custDataLst>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46"/>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我国在2010年发布了SM3密码杂凑算法，该算法将作为我国最新的商用密码加密标准。SM3密码杂凑算法的压缩函数与SHA-256算法的压缩函数极其相似，都采用MD结构，但是SM3密码杂凑算法的压缩函数更为复杂。</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目前针对SM3密码杂凑算法的攻击方法为利用原像攻击对约减轮的SM3密码杂凑算法进行攻击，在攻击中也用到了中间相遇攻击的思想。已有专家利用该方法成功对28轮SM3密码杂凑算法进行了攻击，在这一过程中还用到了部分匹配、消息补偿等技术和算法的初始结构来完善中间相遇原像攻击方法。</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11.5.3</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6"/>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SM3的安全性分析现状</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46"/>
          <p:cNvSpPr txBox="1"/>
          <p:nvPr/>
        </p:nvSpPr>
        <p:spPr>
          <a:xfrm>
            <a:off x="1724660" y="2095500"/>
            <a:ext cx="14818360" cy="559435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国外学者利用碰撞攻击对约减轮的SM3密码杂凑算法进行了攻击，该方法的思想来自对SHA-2算法的碰撞攻击。虽然SM3密码杂凑算法比SHA-2算法要复杂，但该方法仍然实现了对SM3密码杂凑算法的20轮攻击。国内密码专家利用中间相遇的攻击方法，在使用伪原像攻击方法的思想下，最终实现了28轮的SM3密码杂凑算法的消息匹配。</a:t>
            </a: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11.5.3</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6"/>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 </a:t>
            </a:r>
            <a:r>
              <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SM3的安全性分析现状</a:t>
            </a:r>
            <a:endParaRPr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p47"/>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本章主要介绍了杂凑函数和消息认证码。关于杂凑函数主要介绍了MD5杂凑算法和SHA-3杂凑算法的原理，关于消息认证码着重讲解了基于杂凑函数的HMAC算法。</a:t>
            </a:r>
            <a:endParaRPr lang="en-US" sz="3600" noProof="1"/>
          </a:p>
        </p:txBody>
      </p:sp>
      <p:grpSp>
        <p:nvGrpSpPr>
          <p:cNvPr id="10" name="Group 2"/>
          <p:cNvGrpSpPr/>
          <p:nvPr/>
        </p:nvGrpSpPr>
        <p:grpSpPr>
          <a:xfrm>
            <a:off x="412090" y="1028700"/>
            <a:ext cx="7800783" cy="275915"/>
            <a:chOff x="0" y="0"/>
            <a:chExt cx="2054527" cy="72669"/>
          </a:xfrm>
        </p:grpSpPr>
        <p:sp>
          <p:nvSpPr>
            <p:cNvPr id="11" name="Freeform 3"/>
            <p:cNvSpPr/>
            <p:nvPr>
              <p:custDataLst>
                <p:tags r:id="rId1"/>
              </p:custDataLst>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custDataLst>
                <p:tags r:id="rId2"/>
              </p:custDataLst>
            </p:nvPr>
          </p:nvSpPr>
          <p:spPr>
            <a:xfrm>
              <a:off x="0" y="0"/>
              <a:ext cx="2054527" cy="72669"/>
            </a:xfrm>
            <a:prstGeom prst="rect">
              <a:avLst/>
            </a:prstGeom>
          </p:spPr>
          <p:txBody>
            <a:bodyPr lIns="50800" tIns="50800" rIns="50800" bIns="50800" rtlCol="0" anchor="ctr"/>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1"/>
          <p:cNvSpPr txBox="1"/>
          <p:nvPr>
            <p:custDataLst>
              <p:tags r:id="rId3"/>
            </p:custDataLst>
          </p:nvPr>
        </p:nvSpPr>
        <p:spPr>
          <a:xfrm>
            <a:off x="1204595" y="429260"/>
            <a:ext cx="1673225" cy="842645"/>
          </a:xfrm>
          <a:prstGeom prst="rect">
            <a:avLst/>
          </a:prstGeom>
        </p:spPr>
        <p:txBody>
          <a:bodyPr wrap="square" lIns="0" tIns="0" rIns="0" bIns="0" rtlCol="0" anchor="t">
            <a:spAutoFit/>
          </a:bodyPr>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11.6</a:t>
            </a:r>
            <a:endParaRPr kumimoji="0" lang="zh-CN" alt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4" name="图片 2"/>
          <p:cNvPicPr>
            <a:picLocks noChangeAspect="1"/>
          </p:cNvPicPr>
          <p:nvPr>
            <p:custDataLst>
              <p:tags r:id="rId4"/>
            </p:custDataLst>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5" name="TextBox 30"/>
          <p:cNvSpPr txBox="1"/>
          <p:nvPr>
            <p:custDataLst>
              <p:tags r:id="rId6"/>
            </p:custDataLst>
          </p:nvPr>
        </p:nvSpPr>
        <p:spPr>
          <a:xfrm>
            <a:off x="2616200" y="494030"/>
            <a:ext cx="7112000" cy="717550"/>
          </a:xfrm>
          <a:prstGeom prst="rect">
            <a:avLst/>
          </a:prstGeom>
        </p:spPr>
        <p:txBody>
          <a:bodyPr wrap="square" lIns="0" tIns="0" rIns="0" bIns="0" rtlCol="0" anchor="t">
            <a:spAutoFit/>
          </a:bodyPr>
          <a:p>
            <a:pPr marL="0" marR="0" lvl="0" indent="0" algn="l" defTabSz="914400" rtl="0" eaLnBrk="1" fontAlgn="auto" latinLnBrk="0" hangingPunct="1">
              <a:lnSpc>
                <a:spcPts val="5600"/>
              </a:lnSpc>
              <a:spcBef>
                <a:spcPts val="0"/>
              </a:spcBef>
              <a:spcAft>
                <a:spcPts val="0"/>
              </a:spcAft>
              <a:buClrTx/>
              <a:buSzTx/>
              <a:buFontTx/>
              <a:buNone/>
              <a:defRPr/>
            </a:pPr>
            <a:r>
              <a:rPr 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本章</a:t>
            </a:r>
            <a:r>
              <a:rPr 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rPr>
              <a:t>小结</a:t>
            </a:r>
            <a:endParaRPr 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sym typeface="字由文艺黑" panose="00020600040101010101" charset="-122"/>
            </a:endParaRPr>
          </a:p>
        </p:txBody>
      </p:sp>
      <p:sp>
        <p:nvSpPr>
          <p:cNvPr id="35" name="灯片编号占位符 34"/>
          <p:cNvSpPr>
            <a:spLocks noGrp="1"/>
          </p:cNvSpPr>
          <p:nvPr>
            <p:custDataLst>
              <p:tags r:id="rId7"/>
            </p:custDataLst>
          </p:nvPr>
        </p:nvSpPr>
        <p:spPr>
          <a:xfrm>
            <a:off x="15392400" y="9334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400" kern="1200" baseline="0" smtClean="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CN" smtClean="0"/>
            </a:fld>
            <a:endParaRPr lang="en-US" sz="1400" baseline="0" dirty="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custDataLst>
                <p:tags r:id="rId8"/>
              </p:custDataLst>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charset="-122"/>
                <a:ea typeface="仿宋" panose="02010609060101010101" charset="-122"/>
                <a:cs typeface="+mn-cs"/>
              </a:endParaRPr>
            </a:p>
          </p:txBody>
        </p:sp>
        <p:pic>
          <p:nvPicPr>
            <p:cNvPr id="18" name="图片 17"/>
            <p:cNvPicPr>
              <a:picLocks noChangeAspect="1"/>
            </p:cNvPicPr>
            <p:nvPr>
              <p:custDataLst>
                <p:tags r:id="rId9"/>
              </p:custDataLst>
            </p:nvPr>
          </p:nvPicPr>
          <p:blipFill>
            <a:blip r:embed="rId10"/>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DIAGRAM_VIRTUALLY_FRAME" val="{&quot;height&quot;:447.4,&quot;left&quot;:614.2,&quot;top&quot;:148.05,&quot;width&quot;:769.2}"/>
</p:tagLst>
</file>

<file path=ppt/tags/tag9.xml><?xml version="1.0" encoding="utf-8"?>
<p:tagLst xmlns:p="http://schemas.openxmlformats.org/presentationml/2006/main">
  <p:tag name="KSO_WM_DIAGRAM_VIRTUALLY_FRAME" val="{&quot;height&quot;:447.4,&quot;left&quot;:614.2,&quot;top&quot;:148.05,&quot;width&quot;:769.2}"/>
</p:tagLst>
</file>

<file path=ppt/tags/tag10.xml><?xml version="1.0" encoding="utf-8"?>
<p:tagLst xmlns:p="http://schemas.openxmlformats.org/presentationml/2006/main">
  <p:tag name="KSO_WM_DIAGRAM_VIRTUALLY_FRAME" val="{&quot;height&quot;:447.4,&quot;left&quot;:614.2,&quot;top&quot;:148.05,&quot;width&quot;:769.2}"/>
</p:tagLst>
</file>

<file path=ppt/tags/tag11.xml><?xml version="1.0" encoding="utf-8"?>
<p:tagLst xmlns:p="http://schemas.openxmlformats.org/presentationml/2006/main">
  <p:tag name="KSO_WM_DIAGRAM_VIRTUALLY_FRAME" val="{&quot;height&quot;:447.4,&quot;left&quot;:614.2,&quot;top&quot;:148.05,&quot;width&quot;:769.2}"/>
</p:tagLst>
</file>

<file path=ppt/tags/tag12.xml><?xml version="1.0" encoding="utf-8"?>
<p:tagLst xmlns:p="http://schemas.openxmlformats.org/presentationml/2006/main">
  <p:tag name="KSO_WM_DIAGRAM_VIRTUALLY_FRAME" val="{&quot;height&quot;:447.4,&quot;left&quot;:614.2,&quot;top&quot;:148.05,&quot;width&quot;:769.2}"/>
</p:tagLst>
</file>

<file path=ppt/tags/tag13.xml><?xml version="1.0" encoding="utf-8"?>
<p:tagLst xmlns:p="http://schemas.openxmlformats.org/presentationml/2006/main">
  <p:tag name="KSO_WM_DIAGRAM_VIRTUALLY_FRAME" val="{&quot;height&quot;:447.4,&quot;left&quot;:614.2,&quot;top&quot;:148.05,&quot;width&quot;:769.2}"/>
</p:tagLst>
</file>

<file path=ppt/tags/tag14.xml><?xml version="1.0" encoding="utf-8"?>
<p:tagLst xmlns:p="http://schemas.openxmlformats.org/presentationml/2006/main">
  <p:tag name="KSO_WM_DIAGRAM_VIRTUALLY_FRAME" val="{&quot;height&quot;:447.4,&quot;left&quot;:614.2,&quot;top&quot;:148.05,&quot;width&quot;:769.2}"/>
</p:tagLst>
</file>

<file path=ppt/tags/tag15.xml><?xml version="1.0" encoding="utf-8"?>
<p:tagLst xmlns:p="http://schemas.openxmlformats.org/presentationml/2006/main">
  <p:tag name="KSO_WM_DIAGRAM_VIRTUALLY_FRAME" val="{&quot;height&quot;:447.4,&quot;left&quot;:614.2,&quot;top&quot;:148.05,&quot;width&quot;:769.2}"/>
</p:tagLst>
</file>

<file path=ppt/tags/tag16.xml><?xml version="1.0" encoding="utf-8"?>
<p:tagLst xmlns:p="http://schemas.openxmlformats.org/presentationml/2006/main">
  <p:tag name="KSO_WM_DIAGRAM_VIRTUALLY_FRAME" val="{&quot;height&quot;:447.4,&quot;left&quot;:614.2,&quot;top&quot;:148.05,&quot;width&quot;:769.2}"/>
</p:tagLst>
</file>

<file path=ppt/tags/tag17.xml><?xml version="1.0" encoding="utf-8"?>
<p:tagLst xmlns:p="http://schemas.openxmlformats.org/presentationml/2006/main">
  <p:tag name="KSO_WM_DIAGRAM_VIRTUALLY_FRAME" val="{&quot;height&quot;:447.4,&quot;left&quot;:614.2,&quot;top&quot;:148.05,&quot;width&quot;:769.2}"/>
</p:tagLst>
</file>

<file path=ppt/tags/tag18.xml><?xml version="1.0" encoding="utf-8"?>
<p:tagLst xmlns:p="http://schemas.openxmlformats.org/presentationml/2006/main">
  <p:tag name="KSO_WM_DIAGRAM_VIRTUALLY_FRAME" val="{&quot;height&quot;:447.4,&quot;left&quot;:614.2,&quot;top&quot;:148.05,&quot;width&quot;:769.2}"/>
</p:tagLst>
</file>

<file path=ppt/tags/tag19.xml><?xml version="1.0" encoding="utf-8"?>
<p:tagLst xmlns:p="http://schemas.openxmlformats.org/presentationml/2006/main">
  <p:tag name="KSO_WM_DIAGRAM_VIRTUALLY_FRAME" val="{&quot;height&quot;:447.4,&quot;left&quot;:614.2,&quot;top&quot;:148.05,&quot;width&quot;:769.2}"/>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commondata" val="eyJoZGlkIjoiM2Q2NTU3ZTViNTE3NjNhYjBkYzRmZjQ0MWUwOWYwNWYifQ=="/>
</p:tagLst>
</file>

<file path=ppt/theme/theme1.xml><?xml version="1.0" encoding="utf-8"?>
<a:theme xmlns:a="http://schemas.openxmlformats.org/drawingml/2006/main" name="PPTD">
  <a:themeElements>
    <a:clrScheme name="PPTD">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15809</Words>
  <Application>WPS 演示</Application>
  <PresentationFormat/>
  <Paragraphs>1458</Paragraphs>
  <Slides>71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71</vt:i4>
      </vt:variant>
    </vt:vector>
  </HeadingPairs>
  <TitlesOfParts>
    <vt:vector size="88" baseType="lpstr">
      <vt:lpstr>Arial</vt:lpstr>
      <vt:lpstr>宋体</vt:lpstr>
      <vt:lpstr>Wingdings</vt:lpstr>
      <vt:lpstr>Calibri</vt:lpstr>
      <vt:lpstr>仿宋</vt:lpstr>
      <vt:lpstr>Times New Roman</vt:lpstr>
      <vt:lpstr>字由文艺黑</vt:lpstr>
      <vt:lpstr>微软雅黑</vt:lpstr>
      <vt:lpstr>Times New Roman</vt:lpstr>
      <vt:lpstr>Cambria Math</vt:lpstr>
      <vt:lpstr>MS Mincho</vt:lpstr>
      <vt:lpstr>Segoe Print</vt:lpstr>
      <vt:lpstr>MiSans</vt:lpstr>
      <vt:lpstr>MiSans Semibold</vt:lpstr>
      <vt:lpstr>Arial Unicode MS</vt:lpstr>
      <vt:lpstr>Calibri</vt:lpstr>
      <vt:lpstr>PPTD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第十一章 密码杂凑函数</dc:title>
  <dc:creator/>
  <cp:lastModifiedBy>杨妮</cp:lastModifiedBy>
  <cp:revision>57</cp:revision>
  <dcterms:created xsi:type="dcterms:W3CDTF">2026-10-20T11:26:00Z</dcterms:created>
  <dcterms:modified xsi:type="dcterms:W3CDTF">2026-10-26T02:23:46Z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y fmtid="{D5CDD505-2E9C-101B-9397-08002B2CF9AE}" pid="3" name="ICV">
    <vt:lpwstr>A94893CD9D7247AD81FB7AAAFC348912_13</vt:lpwstr>
  </property>
  <property fmtid="{D5CDD505-2E9C-101B-9397-08002B2CF9AE}" pid="4" name="KSOProductBuildVer">
    <vt:lpwstr>2052-12.1.0.29161</vt:lpwstr>
  </property>
</Properties>
</file>