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3"/>
  </p:sldMasterIdLst>
  <p:notesMasterIdLst>
    <p:notesMasterId r:id="rId22"/>
  </p:notesMasterIdLst>
  <p:sldIdLst>
    <p:sldId id="256" r:id="rId4"/>
    <p:sldId id="257" r:id="rId5"/>
    <p:sldId id="342" r:id="rId6"/>
    <p:sldId id="259" r:id="rId7"/>
    <p:sldId id="267" r:id="rId8"/>
    <p:sldId id="268" r:id="rId9"/>
    <p:sldId id="269" r:id="rId10"/>
    <p:sldId id="270" r:id="rId11"/>
    <p:sldId id="271" r:id="rId12"/>
    <p:sldId id="351" r:id="rId13"/>
    <p:sldId id="350" r:id="rId14"/>
    <p:sldId id="272" r:id="rId15"/>
    <p:sldId id="348" r:id="rId16"/>
    <p:sldId id="343" r:id="rId17"/>
    <p:sldId id="273" r:id="rId18"/>
    <p:sldId id="274" r:id="rId19"/>
    <p:sldId id="275" r:id="rId20"/>
    <p:sldId id="277" r:id="rId21"/>
    <p:sldId id="344" r:id="rId23"/>
    <p:sldId id="289" r:id="rId24"/>
    <p:sldId id="290" r:id="rId25"/>
    <p:sldId id="291" r:id="rId26"/>
    <p:sldId id="292" r:id="rId27"/>
    <p:sldId id="352" r:id="rId28"/>
    <p:sldId id="293" r:id="rId29"/>
    <p:sldId id="294" r:id="rId30"/>
    <p:sldId id="345" r:id="rId31"/>
    <p:sldId id="302" r:id="rId32"/>
    <p:sldId id="304" r:id="rId33"/>
    <p:sldId id="353" r:id="rId34"/>
    <p:sldId id="306" r:id="rId35"/>
    <p:sldId id="305" r:id="rId36"/>
    <p:sldId id="307" r:id="rId37"/>
    <p:sldId id="308" r:id="rId38"/>
    <p:sldId id="349" r:id="rId39"/>
    <p:sldId id="315" r:id="rId40"/>
    <p:sldId id="316" r:id="rId41"/>
    <p:sldId id="317" r:id="rId42"/>
    <p:sldId id="347" r:id="rId43"/>
    <p:sldId id="340" r:id="rId44"/>
  </p:sldIdLst>
  <p:sldSz cx="18288000" cy="10287000"/>
  <p:notesSz cx="6858000" cy="9144000"/>
  <p:embeddedFontLst>
    <p:embeddedFont>
      <p:font typeface="仿宋" panose="02010609060101010101" pitchFamily="49" charset="-122"/>
      <p:regular r:id="rId48"/>
    </p:embeddedFont>
    <p:embeddedFont>
      <p:font typeface="字由文艺黑" panose="00020600040101010101" charset="-122"/>
      <p:regular r:id="rId49"/>
    </p:embeddedFont>
    <p:embeddedFont>
      <p:font typeface="微软雅黑" panose="020B0503020204020204" pitchFamily="34" charset="-122"/>
      <p:regular r:id="rId50"/>
      <p:bold r:id="rId51"/>
    </p:embeddedFont>
    <p:embeddedFont>
      <p:font typeface="Calibri" panose="020F0502020204030204"/>
      <p:regular r:id="rId52"/>
      <p:bold r:id="rId53"/>
      <p:italic r:id="rId54"/>
      <p:boldItalic r:id="rId55"/>
    </p:embeddedFont>
    <p:embeddedFont>
      <p:font typeface="等线" panose="02010600030101010101" charset="-122"/>
      <p:regular r:id="rId56"/>
      <p:bold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742" autoAdjust="0"/>
  </p:normalViewPr>
  <p:slideViewPr>
    <p:cSldViewPr showGuides="1">
      <p:cViewPr varScale="1">
        <p:scale>
          <a:sx n="72" d="100"/>
          <a:sy n="72" d="100"/>
        </p:scale>
        <p:origin x="432" y="72"/>
      </p:cViewPr>
      <p:guideLst>
        <p:guide orient="horz" pos="227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font" Target="fonts/font10.fntdata"/><Relationship Id="rId56" Type="http://schemas.openxmlformats.org/officeDocument/2006/relationships/font" Target="fonts/font9.fntdata"/><Relationship Id="rId55" Type="http://schemas.openxmlformats.org/officeDocument/2006/relationships/font" Target="fonts/font8.fntdata"/><Relationship Id="rId54" Type="http://schemas.openxmlformats.org/officeDocument/2006/relationships/font" Target="fonts/font7.fntdata"/><Relationship Id="rId53" Type="http://schemas.openxmlformats.org/officeDocument/2006/relationships/font" Target="fonts/font6.fntdata"/><Relationship Id="rId52" Type="http://schemas.openxmlformats.org/officeDocument/2006/relationships/font" Target="fonts/font5.fntdata"/><Relationship Id="rId51" Type="http://schemas.openxmlformats.org/officeDocument/2006/relationships/font" Target="fonts/font4.fntdata"/><Relationship Id="rId50" Type="http://schemas.openxmlformats.org/officeDocument/2006/relationships/font" Target="fonts/font3.fntdata"/><Relationship Id="rId5" Type="http://schemas.openxmlformats.org/officeDocument/2006/relationships/slide" Target="slides/slide2.xml"/><Relationship Id="rId49" Type="http://schemas.openxmlformats.org/officeDocument/2006/relationships/font" Target="fonts/font2.fntdata"/><Relationship Id="rId48" Type="http://schemas.openxmlformats.org/officeDocument/2006/relationships/font" Target="fonts/font1.fntdata"/><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notesMaster" Target="notesMasters/notes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11.wmf"/><Relationship Id="rId8" Type="http://schemas.openxmlformats.org/officeDocument/2006/relationships/image" Target="../media/image10.wmf"/><Relationship Id="rId7" Type="http://schemas.openxmlformats.org/officeDocument/2006/relationships/image" Target="../media/image9.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EE3807-13F1-414E-9D90-B8B02AA7D6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F29F18-BE30-4173-ABC4-195AE047BC1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2F29F18-BE30-4173-ABC4-195AE047BC1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D174AE42-7364-4267-B40A-343A49EA74EA}"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3BE76DB-3201-458E-97E8-1F529B41C87D}"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6BAF40B-7C5C-460D-B1B7-FD4D67B22822}"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E2BC249-EC5F-4986-8EE3-885490FF7370}"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4F9AF8E-3BE7-493F-A109-C39C54E959C7}" type="datetime1">
              <a:rPr lang="en-US" altLang="zh-CN"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A123C8F6-EBAB-4B52-9D57-25C21C0BFF09}" type="datetime1">
              <a:rPr lang="en-US" altLang="zh-CN"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47A945-3C13-407B-9418-BB51BE003E6B}" type="datetime1">
              <a:rPr lang="en-US" altLang="zh-CN"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5392400" y="9334500"/>
            <a:ext cx="2133600" cy="365125"/>
          </a:xfrm>
        </p:spPr>
        <p:txBody>
          <a:bodyPr vert="horz" lIns="91440" tIns="45720" rIns="91440" bIns="45720" rtlCol="0" anchor="ctr"/>
          <a:lstStyle>
            <a:lvl1pPr>
              <a:defRPr lang="en-US" sz="1400" baseline="0" smtClean="0">
                <a:solidFill>
                  <a:srgbClr val="FFC000"/>
                </a:solidFill>
              </a:defRPr>
            </a:lvl1pPr>
          </a:lstStyle>
          <a:p>
            <a:fld id="{B6F15528-21DE-4FAA-801E-634DDDAF4B2B}" type="slidenum">
              <a:rPr lang="en-US" altLang="zh-CN" smtClean="0"/>
            </a:fld>
            <a:endParaRPr lang="en-US" sz="1400" baseline="0">
              <a:solidFill>
                <a:srgbClr val="FFC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E82B25-0626-400A-8A18-CC4B9FA85174}"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F9421BD-7A71-43B0-8A82-BF5BCB45934A}"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F16864D-7324-47AC-8E77-C23354FBA014}"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72510EF-AB01-495B-8DFE-96ADBB7A23CB}"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B84A4E1-68D3-457C-9DF7-FAAF7B219705}"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963347B-E742-4F12-885F-5E4081DB62CE}"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5677153-82C0-4DA3-BB40-C41B58F36C94}"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630583E-33EF-48DF-99E0-0EC147C04ED4}"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01121F8-F7C1-415E-BA42-DA2C903C3780}" type="datetime1">
              <a:rPr lang="en-US" altLang="zh-CN"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73DE6E35-BFA5-4DAE-A373-BA0868FCAE04}" type="datetime1">
              <a:rPr lang="en-US" altLang="zh-CN" smtClean="0"/>
            </a:fld>
            <a:endParaRPr lang="en-US"/>
          </a:p>
        </p:txBody>
      </p:sp>
      <p:sp>
        <p:nvSpPr>
          <p:cNvPr id="4" name="Footer Placeholder 3"/>
          <p:cNvSpPr>
            <a:spLocks noGrp="1"/>
          </p:cNvSpPr>
          <p:nvPr>
            <p:ph type="ftr" sz="quarter" idx="11"/>
          </p:nvPr>
        </p:nvSpPr>
        <p:spPr/>
        <p:txBody>
          <a:bodyPr/>
          <a:lstStyle/>
          <a:p>
            <a:endParaRPr lang="en-US"/>
          </a:p>
        </p:txBody>
      </p:sp>
      <p:sp>
        <p:nvSpPr>
          <p:cNvPr id="6" name="Slide Number Placeholder 3"/>
          <p:cNvSpPr txBox="1"/>
          <p:nvPr userDrawn="1"/>
        </p:nvSpPr>
        <p:spPr>
          <a:xfrm>
            <a:off x="15544800" y="9563100"/>
            <a:ext cx="2133600" cy="441325"/>
          </a:xfrm>
          <a:prstGeom prst="rect">
            <a:avLst/>
          </a:prstGeom>
        </p:spPr>
        <p:txBody>
          <a:bodyPr vert="horz" lIns="91440" tIns="45720" rIns="91440" bIns="45720" rtlCol="0" anchor="ctr"/>
          <a:lstStyle>
            <a:defPPr>
              <a:defRPr lang="en-US"/>
            </a:defPPr>
            <a:lvl1pPr marL="0" algn="r" defTabSz="914400" rtl="0" eaLnBrk="1" latinLnBrk="0" hangingPunct="1">
              <a:defRPr sz="1400" kern="1200" baseline="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6F15528-21DE-4FAA-801E-634DDDAF4B2B}" type="slidenum">
              <a:rPr lang="en-US" smtClean="0"/>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751FD4-909A-4019-85EC-21470F318FE5}" type="datetime1">
              <a:rPr lang="en-US" altLang="zh-CN"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5544800" y="9410700"/>
            <a:ext cx="2133600" cy="441325"/>
          </a:xfrm>
        </p:spPr>
        <p:txBody>
          <a:bodyPr/>
          <a:lstStyle>
            <a:lvl1pPr algn="r">
              <a:defRPr sz="1400" baseline="0">
                <a:solidFill>
                  <a:srgbClr val="FFC000"/>
                </a:solidFill>
              </a:defRPr>
            </a:lvl1pPr>
          </a:lstStyle>
          <a:p>
            <a:fld id="{B6F15528-21DE-4FAA-801E-634DDDAF4B2B}" type="slidenum">
              <a:rPr lang="en-US" smtClean="0"/>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BD61E49-541A-48A6-B824-8EC6E6FD9E28}"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BBB387F-E303-44E8-BCDC-5060DB4C336A}" type="datetime1">
              <a:rPr lang="en-US" altLang="zh-CN"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C377BF4-DAD9-47E2-BD23-30C3D9EC0D19}"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03C6FC-8182-4F45-A424-178F0CA4B71E}" type="datetime1">
              <a:rPr lang="en-US" altLang="zh-CN"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alpha val="0"/>
              </a:srgbClr>
            </a:gs>
            <a:gs pos="100000">
              <a:srgbClr val="DEE9FF">
                <a:alpha val="100000"/>
              </a:srgbClr>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54004D-81DD-4821-82CF-FFE7163D5201}" type="datetime1">
              <a:rPr lang="en-US" altLang="zh-CN"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alpha val="0"/>
              </a:srgbClr>
            </a:gs>
            <a:gs pos="100000">
              <a:srgbClr val="DEE9FF">
                <a:alpha val="100000"/>
              </a:srgbClr>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8A1A17-90E3-437B-803D-9C909D3BC32A}" type="datetime1">
              <a:rPr lang="en-US" altLang="zh-CN"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slideLayout" Target="../slideLayouts/slideLayout7.xml"/><Relationship Id="rId13" Type="http://schemas.openxmlformats.org/officeDocument/2006/relationships/image" Target="../media/image1.png"/><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4.bin"/><Relationship Id="rId8" Type="http://schemas.openxmlformats.org/officeDocument/2006/relationships/image" Target="../media/image5.wmf"/><Relationship Id="rId7" Type="http://schemas.openxmlformats.org/officeDocument/2006/relationships/oleObject" Target="../embeddings/oleObject3.bin"/><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 Id="rId3" Type="http://schemas.openxmlformats.org/officeDocument/2006/relationships/oleObject" Target="../embeddings/oleObject1.bin"/><Relationship Id="rId22" Type="http://schemas.openxmlformats.org/officeDocument/2006/relationships/vmlDrawing" Target="../drawings/vmlDrawing1.vml"/><Relationship Id="rId21" Type="http://schemas.openxmlformats.org/officeDocument/2006/relationships/slideLayout" Target="../slideLayouts/slideLayout7.xml"/><Relationship Id="rId20" Type="http://schemas.openxmlformats.org/officeDocument/2006/relationships/image" Target="../media/image11.wmf"/><Relationship Id="rId2" Type="http://schemas.openxmlformats.org/officeDocument/2006/relationships/image" Target="../media/image2.png"/><Relationship Id="rId19" Type="http://schemas.openxmlformats.org/officeDocument/2006/relationships/oleObject" Target="../embeddings/oleObject9.bin"/><Relationship Id="rId18" Type="http://schemas.openxmlformats.org/officeDocument/2006/relationships/image" Target="../media/image10.wmf"/><Relationship Id="rId17" Type="http://schemas.openxmlformats.org/officeDocument/2006/relationships/oleObject" Target="../embeddings/oleObject8.bin"/><Relationship Id="rId16" Type="http://schemas.openxmlformats.org/officeDocument/2006/relationships/image" Target="../media/image9.wmf"/><Relationship Id="rId15" Type="http://schemas.openxmlformats.org/officeDocument/2006/relationships/oleObject" Target="../embeddings/oleObject7.bin"/><Relationship Id="rId14" Type="http://schemas.openxmlformats.org/officeDocument/2006/relationships/image" Target="../media/image8.wmf"/><Relationship Id="rId13" Type="http://schemas.openxmlformats.org/officeDocument/2006/relationships/oleObject" Target="../embeddings/oleObject6.bin"/><Relationship Id="rId12" Type="http://schemas.openxmlformats.org/officeDocument/2006/relationships/image" Target="../media/image7.wmf"/><Relationship Id="rId11" Type="http://schemas.openxmlformats.org/officeDocument/2006/relationships/oleObject" Target="../embeddings/oleObject5.bin"/><Relationship Id="rId10" Type="http://schemas.openxmlformats.org/officeDocument/2006/relationships/image" Target="../media/image6.wmf"/><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5.wmf"/><Relationship Id="rId3" Type="http://schemas.openxmlformats.org/officeDocument/2006/relationships/oleObject" Target="../embeddings/oleObject10.bin"/><Relationship Id="rId2" Type="http://schemas.openxmlformats.org/officeDocument/2006/relationships/image" Target="../media/image1.png"/><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7.xml"/><Relationship Id="rId7" Type="http://schemas.openxmlformats.org/officeDocument/2006/relationships/image" Target="../media/image18.wmf"/><Relationship Id="rId6" Type="http://schemas.openxmlformats.org/officeDocument/2006/relationships/oleObject" Target="../embeddings/oleObject12.bin"/><Relationship Id="rId5" Type="http://schemas.openxmlformats.org/officeDocument/2006/relationships/image" Target="../media/image17.wmf"/><Relationship Id="rId4" Type="http://schemas.openxmlformats.org/officeDocument/2006/relationships/oleObject" Target="../embeddings/oleObject11.bin"/><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7.xml"/><Relationship Id="rId5" Type="http://schemas.openxmlformats.org/officeDocument/2006/relationships/image" Target="../media/image26.wmf"/><Relationship Id="rId4" Type="http://schemas.openxmlformats.org/officeDocument/2006/relationships/oleObject" Target="../embeddings/oleObject13.bin"/><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7.xml"/><Relationship Id="rId7" Type="http://schemas.openxmlformats.org/officeDocument/2006/relationships/image" Target="../media/image29.wmf"/><Relationship Id="rId6" Type="http://schemas.openxmlformats.org/officeDocument/2006/relationships/oleObject" Target="../embeddings/oleObject15.bin"/><Relationship Id="rId5" Type="http://schemas.openxmlformats.org/officeDocument/2006/relationships/image" Target="../media/image28.wmf"/><Relationship Id="rId4" Type="http://schemas.openxmlformats.org/officeDocument/2006/relationships/oleObject" Target="../embeddings/oleObject14.bin"/><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27.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30.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1.png"/><Relationship Id="rId2" Type="http://schemas.openxmlformats.org/officeDocument/2006/relationships/image" Target="../media/image2.png"/><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32.png"/></Relationships>
</file>

<file path=ppt/slides/_rels/slide33.xml.rels><?xml version="1.0" encoding="UTF-8" standalone="yes"?>
<Relationships xmlns="http://schemas.openxmlformats.org/package/2006/relationships"><Relationship Id="rId7" Type="http://schemas.openxmlformats.org/officeDocument/2006/relationships/vmlDrawing" Target="../drawings/vmlDrawing6.vml"/><Relationship Id="rId6" Type="http://schemas.openxmlformats.org/officeDocument/2006/relationships/slideLayout" Target="../slideLayouts/slideLayout7.xml"/><Relationship Id="rId5" Type="http://schemas.openxmlformats.org/officeDocument/2006/relationships/image" Target="../media/image34.wmf"/><Relationship Id="rId4" Type="http://schemas.openxmlformats.org/officeDocument/2006/relationships/oleObject" Target="../embeddings/oleObject16.bin"/><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33.png"/></Relationships>
</file>

<file path=ppt/slides/_rels/slide34.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7.xml"/><Relationship Id="rId4" Type="http://schemas.openxmlformats.org/officeDocument/2006/relationships/image" Target="../media/image36.wmf"/><Relationship Id="rId3" Type="http://schemas.openxmlformats.org/officeDocument/2006/relationships/oleObject" Target="../embeddings/oleObject17.bin"/><Relationship Id="rId2" Type="http://schemas.openxmlformats.org/officeDocument/2006/relationships/image" Target="../media/image35.pn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37.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38.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5340279" y="765907"/>
            <a:ext cx="7607443" cy="760744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p>
          </p:txBody>
        </p:sp>
        <p:sp>
          <p:nvSpPr>
            <p:cNvPr id="4" name="TextBox 4"/>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sp>
        <p:nvSpPr>
          <p:cNvPr id="12" name="TextBox 12"/>
          <p:cNvSpPr txBox="1"/>
          <p:nvPr/>
        </p:nvSpPr>
        <p:spPr>
          <a:xfrm>
            <a:off x="1676173" y="2707834"/>
            <a:ext cx="14436775" cy="1655966"/>
          </a:xfrm>
          <a:prstGeom prst="rect">
            <a:avLst/>
          </a:prstGeom>
        </p:spPr>
        <p:txBody>
          <a:bodyPr wrap="square" lIns="0" tIns="0" rIns="0" bIns="0" rtlCol="0" anchor="t">
            <a:spAutoFit/>
          </a:bodyPr>
          <a:lstStyle/>
          <a:p>
            <a:pPr algn="ctr">
              <a:lnSpc>
                <a:spcPts val="14935"/>
              </a:lnSpc>
            </a:pPr>
            <a:r>
              <a:rPr lang="zh-CN" altLang="en-US"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a:t>
            </a:r>
            <a:r>
              <a:rPr lang="en-US" altLang="zh-CN"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a:t>
            </a:r>
            <a:r>
              <a:rPr lang="zh-CN" altLang="en-US"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基础理论与应用</a:t>
            </a:r>
            <a:endParaRPr lang="zh-CN" altLang="en-US" sz="103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13" name="Group 13"/>
          <p:cNvGrpSpPr/>
          <p:nvPr/>
        </p:nvGrpSpPr>
        <p:grpSpPr>
          <a:xfrm>
            <a:off x="780296" y="3604350"/>
            <a:ext cx="16727408" cy="1438536"/>
            <a:chOff x="0" y="0"/>
            <a:chExt cx="22303210" cy="1918048"/>
          </a:xfrm>
        </p:grpSpPr>
        <p:grpSp>
          <p:nvGrpSpPr>
            <p:cNvPr id="14" name="Group 14"/>
            <p:cNvGrpSpPr/>
            <p:nvPr/>
          </p:nvGrpSpPr>
          <p:grpSpPr>
            <a:xfrm>
              <a:off x="0" y="0"/>
              <a:ext cx="237212" cy="23721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6" name="TextBox 16"/>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7" name="Group 17"/>
            <p:cNvGrpSpPr/>
            <p:nvPr/>
          </p:nvGrpSpPr>
          <p:grpSpPr>
            <a:xfrm>
              <a:off x="0" y="560278"/>
              <a:ext cx="237212" cy="23721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9" name="TextBox 19"/>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0" name="Group 20"/>
            <p:cNvGrpSpPr/>
            <p:nvPr/>
          </p:nvGrpSpPr>
          <p:grpSpPr>
            <a:xfrm>
              <a:off x="0" y="1120557"/>
              <a:ext cx="237212" cy="23721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2" name="TextBox 22"/>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3" name="Group 23"/>
            <p:cNvGrpSpPr/>
            <p:nvPr/>
          </p:nvGrpSpPr>
          <p:grpSpPr>
            <a:xfrm>
              <a:off x="0" y="1680835"/>
              <a:ext cx="237212" cy="23721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5" name="TextBox 25"/>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6" name="Group 26"/>
            <p:cNvGrpSpPr/>
            <p:nvPr/>
          </p:nvGrpSpPr>
          <p:grpSpPr>
            <a:xfrm>
              <a:off x="22065998" y="0"/>
              <a:ext cx="237212" cy="237212"/>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8" name="TextBox 28"/>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9" name="Group 29"/>
            <p:cNvGrpSpPr/>
            <p:nvPr/>
          </p:nvGrpSpPr>
          <p:grpSpPr>
            <a:xfrm>
              <a:off x="22065998" y="560278"/>
              <a:ext cx="237212" cy="237212"/>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31" name="TextBox 31"/>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32" name="Group 32"/>
            <p:cNvGrpSpPr/>
            <p:nvPr/>
          </p:nvGrpSpPr>
          <p:grpSpPr>
            <a:xfrm>
              <a:off x="22065998" y="1120557"/>
              <a:ext cx="237212" cy="237212"/>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34" name="TextBox 34"/>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35" name="Group 35"/>
            <p:cNvGrpSpPr/>
            <p:nvPr/>
          </p:nvGrpSpPr>
          <p:grpSpPr>
            <a:xfrm>
              <a:off x="22065998" y="1680835"/>
              <a:ext cx="237212" cy="237212"/>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37" name="TextBox 37"/>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sp>
        <p:nvSpPr>
          <p:cNvPr id="38" name="TextBox 38"/>
          <p:cNvSpPr txBox="1"/>
          <p:nvPr/>
        </p:nvSpPr>
        <p:spPr>
          <a:xfrm>
            <a:off x="1933951" y="5295665"/>
            <a:ext cx="13921220" cy="1231106"/>
          </a:xfrm>
          <a:prstGeom prst="rect">
            <a:avLst/>
          </a:prstGeom>
        </p:spPr>
        <p:txBody>
          <a:bodyPr lIns="0" tIns="0" rIns="0" bIns="0" rtlCol="0" anchor="t">
            <a:spAutoFit/>
          </a:bodyPr>
          <a:lstStyle/>
          <a:p>
            <a:pPr algn="ctr">
              <a:lnSpc>
                <a:spcPts val="9600"/>
              </a:lnSpc>
            </a:pPr>
            <a:r>
              <a:rPr lang="zh-CN" altLang="en-US" sz="8000" b="1">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第十三章</a:t>
            </a:r>
            <a:r>
              <a:rPr lang="en-US" altLang="zh-CN" sz="8000" b="1">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 </a:t>
            </a:r>
            <a:r>
              <a:rPr lang="zh-CN" altLang="en-US" sz="8000" b="1">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a:t>
            </a:r>
            <a:endParaRPr lang="zh-CN" altLang="en-US" sz="80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41" name="Group 41"/>
          <p:cNvGrpSpPr/>
          <p:nvPr/>
        </p:nvGrpSpPr>
        <p:grpSpPr>
          <a:xfrm>
            <a:off x="-1299970" y="8495193"/>
            <a:ext cx="21159211" cy="1929995"/>
            <a:chOff x="0" y="0"/>
            <a:chExt cx="28212281" cy="2573326"/>
          </a:xfrm>
        </p:grpSpPr>
        <p:grpSp>
          <p:nvGrpSpPr>
            <p:cNvPr id="42" name="Group 42"/>
            <p:cNvGrpSpPr/>
            <p:nvPr/>
          </p:nvGrpSpPr>
          <p:grpSpPr>
            <a:xfrm>
              <a:off x="361694" y="0"/>
              <a:ext cx="27850587" cy="2024584"/>
              <a:chOff x="0" y="0"/>
              <a:chExt cx="5501351" cy="399918"/>
            </a:xfrm>
          </p:grpSpPr>
          <p:sp>
            <p:nvSpPr>
              <p:cNvPr id="43" name="Freeform 43"/>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44" name="TextBox 44"/>
              <p:cNvSpPr txBox="1"/>
              <p:nvPr/>
            </p:nvSpPr>
            <p:spPr>
              <a:xfrm>
                <a:off x="0" y="0"/>
                <a:ext cx="5501351" cy="399918"/>
              </a:xfrm>
              <a:prstGeom prst="rect">
                <a:avLst/>
              </a:prstGeom>
            </p:spPr>
            <p:txBody>
              <a:bodyPr lIns="50800" tIns="50800" rIns="50800" bIns="50800" rtlCol="0" anchor="ctr"/>
              <a:lstStyle/>
              <a:p>
                <a:pPr algn="ctr">
                  <a:lnSpc>
                    <a:spcPts val="2880"/>
                  </a:lnSpc>
                </a:pPr>
              </a:p>
            </p:txBody>
          </p:sp>
        </p:grpSp>
        <p:grpSp>
          <p:nvGrpSpPr>
            <p:cNvPr id="45" name="Group 45"/>
            <p:cNvGrpSpPr/>
            <p:nvPr/>
          </p:nvGrpSpPr>
          <p:grpSpPr>
            <a:xfrm>
              <a:off x="0" y="282042"/>
              <a:ext cx="27850587" cy="2291284"/>
              <a:chOff x="0" y="0"/>
              <a:chExt cx="5501351" cy="452599"/>
            </a:xfrm>
          </p:grpSpPr>
          <p:sp>
            <p:nvSpPr>
              <p:cNvPr id="46" name="Freeform 46"/>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47" name="TextBox 47"/>
              <p:cNvSpPr txBox="1"/>
              <p:nvPr/>
            </p:nvSpPr>
            <p:spPr>
              <a:xfrm>
                <a:off x="0" y="0"/>
                <a:ext cx="5501351" cy="452599"/>
              </a:xfrm>
              <a:prstGeom prst="rect">
                <a:avLst/>
              </a:prstGeom>
            </p:spPr>
            <p:txBody>
              <a:bodyPr lIns="50800" tIns="50800" rIns="50800" bIns="50800" rtlCol="0" anchor="ctr"/>
              <a:lstStyle/>
              <a:p>
                <a:pPr algn="ctr">
                  <a:lnSpc>
                    <a:spcPts val="2880"/>
                  </a:lnSpc>
                </a:pPr>
              </a:p>
            </p:txBody>
          </p:sp>
        </p:grpSp>
      </p:gr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p>
            </p:txBody>
          </p:sp>
        </p:grpSp>
      </p:grpSp>
      <p:grpSp>
        <p:nvGrpSpPr>
          <p:cNvPr id="27" name="Group 27"/>
          <p:cNvGrpSpPr/>
          <p:nvPr/>
        </p:nvGrpSpPr>
        <p:grpSpPr>
          <a:xfrm>
            <a:off x="2211223" y="3196873"/>
            <a:ext cx="2745105" cy="3175806"/>
            <a:chOff x="-263312" y="-171450"/>
            <a:chExt cx="3660140" cy="4234407"/>
          </a:xfrm>
        </p:grpSpPr>
        <p:sp>
          <p:nvSpPr>
            <p:cNvPr id="28" name="TextBox 28"/>
            <p:cNvSpPr txBox="1"/>
            <p:nvPr/>
          </p:nvSpPr>
          <p:spPr>
            <a:xfrm>
              <a:off x="8311" y="-171450"/>
              <a:ext cx="3115717" cy="4234407"/>
            </a:xfrm>
            <a:prstGeom prst="rect">
              <a:avLst/>
            </a:prstGeom>
          </p:spPr>
          <p:txBody>
            <a:bodyPr lIns="0" tIns="0" rIns="0" bIns="0" rtlCol="0" anchor="t">
              <a:spAutoFit/>
            </a:bodyPr>
            <a:lstStyle/>
            <a:p>
              <a:pPr algn="ctr">
                <a:lnSpc>
                  <a:spcPts val="12880"/>
                </a:lnSpc>
              </a:pPr>
              <a:r>
                <a:rPr lang="en-US" sz="9200" b="1" dirty="0" err="1">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目录</a:t>
              </a:r>
              <a:endParaRPr lang="en-US" sz="92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29" name="TextBox 29"/>
            <p:cNvSpPr txBox="1"/>
            <p:nvPr/>
          </p:nvSpPr>
          <p:spPr>
            <a:xfrm>
              <a:off x="-263312" y="1713230"/>
              <a:ext cx="3660140" cy="658813"/>
            </a:xfrm>
            <a:prstGeom prst="rect">
              <a:avLst/>
            </a:prstGeom>
          </p:spPr>
          <p:txBody>
            <a:bodyPr wrap="square" lIns="0" tIns="0" rIns="0" bIns="0" rtlCol="0" anchor="t">
              <a:spAutoFit/>
            </a:bodyPr>
            <a:lstStyle/>
            <a:p>
              <a:pPr algn="ctr">
                <a:lnSpc>
                  <a:spcPts val="4200"/>
                </a:lnSpc>
              </a:pPr>
              <a:r>
                <a:rPr lang="en-US" sz="3000" dirty="0">
                  <a:solidFill>
                    <a:srgbClr val="004AAD"/>
                  </a:solidFill>
                  <a:latin typeface="Times New Roman" panose="02020603050405020304" pitchFamily="18" charset="0"/>
                  <a:ea typeface="字由文艺黑" panose="00020600040101010101" charset="-122"/>
                  <a:cs typeface="Times New Roman" panose="02020603050405020304" pitchFamily="18" charset="0"/>
                  <a:sym typeface="字由文艺黑" panose="00020600040101010101" charset="-122"/>
                </a:rPr>
                <a:t>CONTENTS</a:t>
              </a:r>
              <a:endParaRPr lang="en-US" sz="3000" dirty="0">
                <a:solidFill>
                  <a:srgbClr val="004AAD"/>
                </a:solidFill>
                <a:latin typeface="Times New Roman" panose="02020603050405020304" pitchFamily="18" charset="0"/>
                <a:ea typeface="字由文艺黑" panose="00020600040101010101" charset="-122"/>
                <a:cs typeface="Times New Roman" panose="02020603050405020304" pitchFamily="18" charset="0"/>
                <a:sym typeface="字由文艺黑" panose="00020600040101010101" charset="-122"/>
              </a:endParaRPr>
            </a:p>
          </p:txBody>
        </p:sp>
      </p:grpSp>
      <p:sp>
        <p:nvSpPr>
          <p:cNvPr id="33" name="TextBox 33"/>
          <p:cNvSpPr txBox="1"/>
          <p:nvPr>
            <p:custDataLst>
              <p:tags r:id="rId1"/>
            </p:custDataLst>
          </p:nvPr>
        </p:nvSpPr>
        <p:spPr>
          <a:xfrm>
            <a:off x="7746728" y="1968457"/>
            <a:ext cx="923721" cy="658835"/>
          </a:xfrm>
          <a:prstGeom prst="rect">
            <a:avLst/>
          </a:prstGeom>
        </p:spPr>
        <p:txBody>
          <a:bodyPr wrap="square" lIns="0" tIns="0" rIns="0" bIns="0" rtlCol="0" anchor="t">
            <a:spAutoFit/>
          </a:bodyPr>
          <a:lstStyle/>
          <a:p>
            <a:pPr algn="ctr">
              <a:lnSpc>
                <a:spcPts val="5600"/>
              </a:lnSpc>
            </a:pPr>
            <a:r>
              <a:rPr lang="en-US" sz="4000" b="1">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a:t>
            </a:r>
            <a:r>
              <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a:t>
            </a:r>
            <a:r>
              <a:rPr lang="en-US" sz="4000" b="1">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a:t>
            </a:r>
            <a:endParaRPr lang="en-US" sz="4000" b="1" dirty="0">
              <a:solidFill>
                <a:srgbClr val="004AAD"/>
              </a:solidFill>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4" name="TextBox 34"/>
          <p:cNvSpPr txBox="1"/>
          <p:nvPr>
            <p:custDataLst>
              <p:tags r:id="rId2"/>
            </p:custDataLst>
          </p:nvPr>
        </p:nvSpPr>
        <p:spPr>
          <a:xfrm>
            <a:off x="9074716" y="1968457"/>
            <a:ext cx="6317684" cy="658322"/>
          </a:xfrm>
          <a:prstGeom prst="rect">
            <a:avLst/>
          </a:prstGeom>
        </p:spPr>
        <p:txBody>
          <a:bodyPr wrap="square" lIns="0" tIns="0" rIns="0" bIns="0" rtlCol="0" anchor="t">
            <a:spAutoFit/>
          </a:bodyPr>
          <a:lstStyle/>
          <a:p>
            <a:pPr algn="l">
              <a:lnSpc>
                <a:spcPts val="5880"/>
              </a:lnSpc>
            </a:pPr>
            <a:r>
              <a:rPr lang="zh-CN" altLang="en-US" sz="4200" b="1">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数字签名方案的基本概念</a:t>
            </a:r>
            <a:endPar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38" name="TextBox 38"/>
          <p:cNvSpPr txBox="1"/>
          <p:nvPr>
            <p:custDataLst>
              <p:tags r:id="rId3"/>
            </p:custDataLst>
          </p:nvPr>
        </p:nvSpPr>
        <p:spPr>
          <a:xfrm>
            <a:off x="7746728" y="2953342"/>
            <a:ext cx="923721" cy="658835"/>
          </a:xfrm>
          <a:prstGeom prst="rect">
            <a:avLst/>
          </a:prstGeom>
        </p:spPr>
        <p:txBody>
          <a:bodyPr lIns="0" tIns="0" rIns="0" bIns="0" rtlCol="0" anchor="t">
            <a:spAutoFit/>
          </a:bodyPr>
          <a:lstStyle>
            <a:defPPr>
              <a:defRPr lang="en-US"/>
            </a:defPPr>
            <a:lvl1pPr algn="ctr">
              <a:lnSpc>
                <a:spcPts val="5600"/>
              </a:lnSpc>
              <a:defRPr sz="4000" b="1">
                <a:solidFill>
                  <a:srgbClr val="004AAD"/>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sym typeface="字由文艺黑" panose="00020600040101010101" charset="-122"/>
              </a:rPr>
              <a:t>1</a:t>
            </a:r>
            <a:r>
              <a:rPr lang="en-US" dirty="0">
                <a:sym typeface="字由文艺黑" panose="00020600040101010101" charset="-122"/>
              </a:rPr>
              <a:t>3</a:t>
            </a:r>
            <a:r>
              <a:rPr lang="en-US">
                <a:sym typeface="字由文艺黑" panose="00020600040101010101" charset="-122"/>
              </a:rPr>
              <a:t>.2</a:t>
            </a:r>
            <a:endParaRPr lang="en-US" dirty="0">
              <a:sym typeface="字由文艺黑" panose="00020600040101010101" charset="-122"/>
            </a:endParaRPr>
          </a:p>
        </p:txBody>
      </p:sp>
      <p:sp>
        <p:nvSpPr>
          <p:cNvPr id="43" name="TextBox 43"/>
          <p:cNvSpPr txBox="1"/>
          <p:nvPr>
            <p:custDataLst>
              <p:tags r:id="rId4"/>
            </p:custDataLst>
          </p:nvPr>
        </p:nvSpPr>
        <p:spPr>
          <a:xfrm>
            <a:off x="7746728" y="3937592"/>
            <a:ext cx="923721" cy="658835"/>
          </a:xfrm>
          <a:prstGeom prst="rect">
            <a:avLst/>
          </a:prstGeom>
        </p:spPr>
        <p:txBody>
          <a:bodyPr lIns="0" tIns="0" rIns="0" bIns="0" rtlCol="0" anchor="t">
            <a:spAutoFit/>
          </a:bodyPr>
          <a:lstStyle>
            <a:defPPr>
              <a:defRPr lang="en-US"/>
            </a:defPPr>
            <a:lvl1pPr algn="ctr">
              <a:lnSpc>
                <a:spcPts val="5600"/>
              </a:lnSpc>
              <a:defRPr sz="4000" b="1">
                <a:solidFill>
                  <a:srgbClr val="004AAD"/>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sym typeface="字由文艺黑" panose="00020600040101010101" charset="-122"/>
              </a:rPr>
              <a:t>1</a:t>
            </a:r>
            <a:r>
              <a:rPr lang="en-US" dirty="0">
                <a:sym typeface="字由文艺黑" panose="00020600040101010101" charset="-122"/>
              </a:rPr>
              <a:t>3</a:t>
            </a:r>
            <a:r>
              <a:rPr lang="en-US">
                <a:sym typeface="字由文艺黑" panose="00020600040101010101" charset="-122"/>
              </a:rPr>
              <a:t>.3</a:t>
            </a:r>
            <a:endParaRPr lang="en-US" dirty="0">
              <a:sym typeface="字由文艺黑" panose="00020600040101010101" charset="-122"/>
            </a:endParaRPr>
          </a:p>
        </p:txBody>
      </p:sp>
      <p:sp>
        <p:nvSpPr>
          <p:cNvPr id="44" name="TextBox 44"/>
          <p:cNvSpPr txBox="1"/>
          <p:nvPr>
            <p:custDataLst>
              <p:tags r:id="rId5"/>
            </p:custDataLst>
          </p:nvPr>
        </p:nvSpPr>
        <p:spPr>
          <a:xfrm>
            <a:off x="9074716" y="3937592"/>
            <a:ext cx="4352709" cy="658322"/>
          </a:xfrm>
          <a:prstGeom prst="rect">
            <a:avLst/>
          </a:prstGeom>
        </p:spPr>
        <p:txBody>
          <a:bodyPr wrap="square" lIns="0" tIns="0" rIns="0" bIns="0" rtlCol="0" anchor="t">
            <a:spAutoFit/>
          </a:bodyPr>
          <a:lstStyle>
            <a:defPPr>
              <a:defRPr lang="en-US"/>
            </a:defPPr>
            <a:lvl1pPr>
              <a:lnSpc>
                <a:spcPts val="5880"/>
              </a:lnSpc>
              <a:defRPr sz="4200" b="1">
                <a:solidFill>
                  <a:srgbClr val="000000"/>
                </a:solidFill>
                <a:latin typeface="仿宋" panose="02010609060101010101" pitchFamily="49" charset="-122"/>
                <a:ea typeface="仿宋" panose="02010609060101010101" pitchFamily="49" charset="-122"/>
                <a:cs typeface="字由文艺黑" panose="00020600040101010101" charset="-122"/>
              </a:defRPr>
            </a:lvl1pPr>
          </a:lstStyle>
          <a:p>
            <a:r>
              <a:rPr lang="en-US" altLang="zh-CN">
                <a:sym typeface="字由文艺黑" panose="00020600040101010101" charset="-122"/>
              </a:rPr>
              <a:t>SM2</a:t>
            </a:r>
            <a:r>
              <a:rPr lang="zh-CN" altLang="en-US">
                <a:sym typeface="字由文艺黑" panose="00020600040101010101" charset="-122"/>
              </a:rPr>
              <a:t>数字签名方案</a:t>
            </a:r>
            <a:endParaRPr lang="zh-CN" altLang="en-US" dirty="0">
              <a:sym typeface="字由文艺黑" panose="00020600040101010101" charset="-122"/>
            </a:endParaRPr>
          </a:p>
        </p:txBody>
      </p:sp>
      <p:grpSp>
        <p:nvGrpSpPr>
          <p:cNvPr id="50" name="Group 50"/>
          <p:cNvGrpSpPr/>
          <p:nvPr/>
        </p:nvGrpSpPr>
        <p:grpSpPr>
          <a:xfrm>
            <a:off x="-1299845" y="8692124"/>
            <a:ext cx="21159470" cy="1632976"/>
            <a:chOff x="0" y="0"/>
            <a:chExt cx="28212281" cy="2573326"/>
          </a:xfrm>
        </p:grpSpPr>
        <p:grpSp>
          <p:nvGrpSpPr>
            <p:cNvPr id="51" name="Group 51"/>
            <p:cNvGrpSpPr/>
            <p:nvPr/>
          </p:nvGrpSpPr>
          <p:grpSpPr>
            <a:xfrm>
              <a:off x="361694" y="0"/>
              <a:ext cx="27850587" cy="2024584"/>
              <a:chOff x="0" y="0"/>
              <a:chExt cx="5501351" cy="399918"/>
            </a:xfrm>
          </p:grpSpPr>
          <p:sp>
            <p:nvSpPr>
              <p:cNvPr id="52" name="Freeform 52"/>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p>
            </p:txBody>
          </p:sp>
          <p:sp>
            <p:nvSpPr>
              <p:cNvPr id="53" name="TextBox 53"/>
              <p:cNvSpPr txBox="1"/>
              <p:nvPr/>
            </p:nvSpPr>
            <p:spPr>
              <a:xfrm>
                <a:off x="0" y="0"/>
                <a:ext cx="5501351" cy="399918"/>
              </a:xfrm>
              <a:prstGeom prst="rect">
                <a:avLst/>
              </a:prstGeom>
            </p:spPr>
            <p:txBody>
              <a:bodyPr lIns="50800" tIns="50800" rIns="50800" bIns="50800" rtlCol="0" anchor="ctr"/>
              <a:lstStyle/>
              <a:p>
                <a:pPr algn="ctr">
                  <a:lnSpc>
                    <a:spcPts val="2880"/>
                  </a:lnSpc>
                </a:pPr>
              </a:p>
            </p:txBody>
          </p:sp>
        </p:grpSp>
        <p:grpSp>
          <p:nvGrpSpPr>
            <p:cNvPr id="54" name="Group 54"/>
            <p:cNvGrpSpPr/>
            <p:nvPr/>
          </p:nvGrpSpPr>
          <p:grpSpPr>
            <a:xfrm>
              <a:off x="0" y="282042"/>
              <a:ext cx="27850587" cy="2291284"/>
              <a:chOff x="0" y="0"/>
              <a:chExt cx="5501351" cy="452599"/>
            </a:xfrm>
          </p:grpSpPr>
          <p:sp>
            <p:nvSpPr>
              <p:cNvPr id="55" name="Freeform 55"/>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endParaRPr lang="zh-CN" altLang="en-US"/>
              </a:p>
            </p:txBody>
          </p:sp>
          <p:sp>
            <p:nvSpPr>
              <p:cNvPr id="56" name="TextBox 56"/>
              <p:cNvSpPr txBox="1"/>
              <p:nvPr/>
            </p:nvSpPr>
            <p:spPr>
              <a:xfrm>
                <a:off x="0" y="0"/>
                <a:ext cx="5501351" cy="452599"/>
              </a:xfrm>
              <a:prstGeom prst="rect">
                <a:avLst/>
              </a:prstGeom>
            </p:spPr>
            <p:txBody>
              <a:bodyPr lIns="50800" tIns="50800" rIns="50800" bIns="50800" rtlCol="0" anchor="ctr"/>
              <a:lstStyle/>
              <a:p>
                <a:pPr algn="ctr">
                  <a:lnSpc>
                    <a:spcPts val="2880"/>
                  </a:lnSpc>
                </a:pPr>
              </a:p>
            </p:txBody>
          </p:sp>
        </p:grpSp>
      </p:grpSp>
      <p:sp>
        <p:nvSpPr>
          <p:cNvPr id="66" name="TextBox 44"/>
          <p:cNvSpPr txBox="1"/>
          <p:nvPr>
            <p:custDataLst>
              <p:tags r:id="rId6"/>
            </p:custDataLst>
          </p:nvPr>
        </p:nvSpPr>
        <p:spPr>
          <a:xfrm>
            <a:off x="9074716" y="4921842"/>
            <a:ext cx="4766247" cy="658322"/>
          </a:xfrm>
          <a:prstGeom prst="rect">
            <a:avLst/>
          </a:prstGeom>
        </p:spPr>
        <p:txBody>
          <a:bodyPr wrap="square" lIns="0" tIns="0" rIns="0" bIns="0" rtlCol="0" anchor="t">
            <a:spAutoFit/>
          </a:bodyPr>
          <a:lstStyle>
            <a:defPPr>
              <a:defRPr lang="en-US"/>
            </a:defPPr>
            <a:lvl1pPr>
              <a:lnSpc>
                <a:spcPts val="5880"/>
              </a:lnSpc>
              <a:defRPr sz="4200" b="1">
                <a:solidFill>
                  <a:srgbClr val="000000"/>
                </a:solidFill>
                <a:latin typeface="仿宋" panose="02010609060101010101" pitchFamily="49" charset="-122"/>
                <a:ea typeface="仿宋" panose="02010609060101010101" pitchFamily="49" charset="-122"/>
                <a:cs typeface="字由文艺黑" panose="00020600040101010101" charset="-122"/>
              </a:defRPr>
            </a:lvl1pPr>
          </a:lstStyle>
          <a:p>
            <a:r>
              <a:rPr lang="en-US" altLang="zh-CN">
                <a:sym typeface="字由文艺黑" panose="00020600040101010101" charset="-122"/>
              </a:rPr>
              <a:t>SM9</a:t>
            </a:r>
            <a:r>
              <a:rPr lang="zh-CN" altLang="en-US">
                <a:sym typeface="字由文艺黑" panose="00020600040101010101" charset="-122"/>
              </a:rPr>
              <a:t>数字签名方案</a:t>
            </a:r>
            <a:endParaRPr lang="zh-CN" altLang="en-US" dirty="0">
              <a:sym typeface="字由文艺黑" panose="00020600040101010101" charset="-122"/>
            </a:endParaRPr>
          </a:p>
        </p:txBody>
      </p:sp>
      <p:sp>
        <p:nvSpPr>
          <p:cNvPr id="67" name="TextBox 43"/>
          <p:cNvSpPr txBox="1"/>
          <p:nvPr>
            <p:custDataLst>
              <p:tags r:id="rId7"/>
            </p:custDataLst>
          </p:nvPr>
        </p:nvSpPr>
        <p:spPr>
          <a:xfrm>
            <a:off x="7746728" y="4921842"/>
            <a:ext cx="923721" cy="658835"/>
          </a:xfrm>
          <a:prstGeom prst="rect">
            <a:avLst/>
          </a:prstGeom>
        </p:spPr>
        <p:txBody>
          <a:bodyPr lIns="0" tIns="0" rIns="0" bIns="0" rtlCol="0" anchor="t">
            <a:spAutoFit/>
          </a:bodyPr>
          <a:lstStyle>
            <a:defPPr>
              <a:defRPr lang="en-US"/>
            </a:defPPr>
            <a:lvl1pPr algn="ctr">
              <a:lnSpc>
                <a:spcPts val="5600"/>
              </a:lnSpc>
              <a:defRPr sz="4000" b="1">
                <a:solidFill>
                  <a:srgbClr val="004AAD"/>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sym typeface="字由文艺黑" panose="00020600040101010101" charset="-122"/>
              </a:rPr>
              <a:t>1</a:t>
            </a:r>
            <a:r>
              <a:rPr lang="en-US" dirty="0">
                <a:sym typeface="字由文艺黑" panose="00020600040101010101" charset="-122"/>
              </a:rPr>
              <a:t>3</a:t>
            </a:r>
            <a:r>
              <a:rPr lang="en-US">
                <a:sym typeface="字由文艺黑" panose="00020600040101010101" charset="-122"/>
              </a:rPr>
              <a:t>.4</a:t>
            </a:r>
            <a:endParaRPr lang="en-US" dirty="0">
              <a:sym typeface="字由文艺黑" panose="00020600040101010101" charset="-122"/>
            </a:endParaRPr>
          </a:p>
        </p:txBody>
      </p:sp>
      <p:sp>
        <p:nvSpPr>
          <p:cNvPr id="62" name="TextBox 34"/>
          <p:cNvSpPr txBox="1"/>
          <p:nvPr>
            <p:custDataLst>
              <p:tags r:id="rId8"/>
            </p:custDataLst>
          </p:nvPr>
        </p:nvSpPr>
        <p:spPr>
          <a:xfrm>
            <a:off x="9074716" y="2953342"/>
            <a:ext cx="2980533" cy="658322"/>
          </a:xfrm>
          <a:prstGeom prst="rect">
            <a:avLst/>
          </a:prstGeom>
        </p:spPr>
        <p:txBody>
          <a:bodyPr wrap="square" lIns="0" tIns="0" rIns="0" bIns="0" rtlCol="0" anchor="t">
            <a:spAutoFit/>
          </a:bodyPr>
          <a:lstStyle/>
          <a:p>
            <a:pPr algn="l">
              <a:lnSpc>
                <a:spcPts val="5880"/>
              </a:lnSpc>
            </a:pPr>
            <a:r>
              <a:rPr lang="en-US" altLang="zh-CN" sz="4200" b="1">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DSS</a:t>
            </a:r>
            <a:endParaRPr lang="zh-CN" altLang="en-US" sz="4200" b="1" dirty="0">
              <a:solidFill>
                <a:srgbClr val="000000"/>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57" name="TextBox 44"/>
          <p:cNvSpPr txBox="1"/>
          <p:nvPr>
            <p:custDataLst>
              <p:tags r:id="rId9"/>
            </p:custDataLst>
          </p:nvPr>
        </p:nvSpPr>
        <p:spPr>
          <a:xfrm>
            <a:off x="9074716" y="5906092"/>
            <a:ext cx="5070732" cy="658322"/>
          </a:xfrm>
          <a:prstGeom prst="rect">
            <a:avLst/>
          </a:prstGeom>
        </p:spPr>
        <p:txBody>
          <a:bodyPr wrap="square" lIns="0" tIns="0" rIns="0" bIns="0" rtlCol="0" anchor="t">
            <a:spAutoFit/>
          </a:bodyPr>
          <a:lstStyle>
            <a:defPPr>
              <a:defRPr lang="en-US"/>
            </a:defPPr>
            <a:lvl1pPr>
              <a:lnSpc>
                <a:spcPts val="5880"/>
              </a:lnSpc>
              <a:defRPr sz="4200" b="1">
                <a:solidFill>
                  <a:srgbClr val="000000"/>
                </a:solidFill>
                <a:latin typeface="仿宋" panose="02010609060101010101" pitchFamily="49" charset="-122"/>
                <a:ea typeface="仿宋" panose="02010609060101010101" pitchFamily="49" charset="-122"/>
                <a:cs typeface="字由文艺黑" panose="00020600040101010101" charset="-122"/>
              </a:defRPr>
            </a:lvl1pPr>
          </a:lstStyle>
          <a:p>
            <a:r>
              <a:rPr lang="zh-CN" altLang="en-US">
                <a:sym typeface="字由文艺黑" panose="00020600040101010101" charset="-122"/>
              </a:rPr>
              <a:t>数字签密</a:t>
            </a:r>
            <a:endParaRPr lang="zh-CN" altLang="en-US" dirty="0">
              <a:sym typeface="字由文艺黑" panose="00020600040101010101" charset="-122"/>
            </a:endParaRPr>
          </a:p>
        </p:txBody>
      </p:sp>
      <p:sp>
        <p:nvSpPr>
          <p:cNvPr id="58" name="TextBox 43"/>
          <p:cNvSpPr txBox="1"/>
          <p:nvPr>
            <p:custDataLst>
              <p:tags r:id="rId10"/>
            </p:custDataLst>
          </p:nvPr>
        </p:nvSpPr>
        <p:spPr>
          <a:xfrm>
            <a:off x="7746728" y="5906092"/>
            <a:ext cx="923721" cy="658835"/>
          </a:xfrm>
          <a:prstGeom prst="rect">
            <a:avLst/>
          </a:prstGeom>
        </p:spPr>
        <p:txBody>
          <a:bodyPr lIns="0" tIns="0" rIns="0" bIns="0" rtlCol="0" anchor="t">
            <a:spAutoFit/>
          </a:bodyPr>
          <a:lstStyle>
            <a:defPPr>
              <a:defRPr lang="en-US"/>
            </a:defPPr>
            <a:lvl1pPr algn="ctr">
              <a:lnSpc>
                <a:spcPts val="5600"/>
              </a:lnSpc>
              <a:defRPr sz="4000" b="1">
                <a:solidFill>
                  <a:srgbClr val="004AAD"/>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sym typeface="字由文艺黑" panose="00020600040101010101" charset="-122"/>
              </a:rPr>
              <a:t>1</a:t>
            </a:r>
            <a:r>
              <a:rPr lang="en-US" dirty="0">
                <a:sym typeface="字由文艺黑" panose="00020600040101010101" charset="-122"/>
              </a:rPr>
              <a:t>3</a:t>
            </a:r>
            <a:r>
              <a:rPr lang="en-US">
                <a:sym typeface="字由文艺黑" panose="00020600040101010101" charset="-122"/>
              </a:rPr>
              <a:t>.5</a:t>
            </a:r>
            <a:endParaRPr lang="en-US" dirty="0">
              <a:sym typeface="字由文艺黑" panose="00020600040101010101" charset="-122"/>
            </a:endParaRPr>
          </a:p>
        </p:txBody>
      </p:sp>
      <p:sp>
        <p:nvSpPr>
          <p:cNvPr id="73" name="TextBox 44"/>
          <p:cNvSpPr txBox="1"/>
          <p:nvPr>
            <p:custDataLst>
              <p:tags r:id="rId11"/>
            </p:custDataLst>
          </p:nvPr>
        </p:nvSpPr>
        <p:spPr>
          <a:xfrm>
            <a:off x="9074716" y="6889072"/>
            <a:ext cx="3810216" cy="753745"/>
          </a:xfrm>
          <a:prstGeom prst="rect">
            <a:avLst/>
          </a:prstGeom>
        </p:spPr>
        <p:txBody>
          <a:bodyPr wrap="square" lIns="0" tIns="0" rIns="0" bIns="0" rtlCol="0" anchor="t">
            <a:spAutoFit/>
          </a:bodyPr>
          <a:lstStyle>
            <a:defPPr>
              <a:defRPr lang="en-US"/>
            </a:defPPr>
            <a:lvl1pPr>
              <a:lnSpc>
                <a:spcPts val="5880"/>
              </a:lnSpc>
              <a:defRPr sz="4200" b="1">
                <a:solidFill>
                  <a:srgbClr val="000000"/>
                </a:solidFill>
                <a:latin typeface="仿宋" panose="02010609060101010101" pitchFamily="49" charset="-122"/>
                <a:ea typeface="仿宋" panose="02010609060101010101" pitchFamily="49" charset="-122"/>
                <a:cs typeface="字由文艺黑" panose="00020600040101010101" charset="-122"/>
              </a:defRPr>
            </a:lvl1pPr>
          </a:lstStyle>
          <a:p>
            <a:r>
              <a:rPr lang="zh-CN" altLang="en-US" dirty="0">
                <a:sym typeface="字由文艺黑" panose="00020600040101010101" charset="-122"/>
              </a:rPr>
              <a:t>本章小结</a:t>
            </a:r>
            <a:endParaRPr lang="zh-CN" altLang="en-US" dirty="0">
              <a:sym typeface="字由文艺黑" panose="00020600040101010101" charset="-122"/>
            </a:endParaRPr>
          </a:p>
        </p:txBody>
      </p:sp>
      <p:sp>
        <p:nvSpPr>
          <p:cNvPr id="74" name="TextBox 43"/>
          <p:cNvSpPr txBox="1"/>
          <p:nvPr>
            <p:custDataLst>
              <p:tags r:id="rId12"/>
            </p:custDataLst>
          </p:nvPr>
        </p:nvSpPr>
        <p:spPr>
          <a:xfrm>
            <a:off x="7746728" y="6889072"/>
            <a:ext cx="923721" cy="658835"/>
          </a:xfrm>
          <a:prstGeom prst="rect">
            <a:avLst/>
          </a:prstGeom>
        </p:spPr>
        <p:txBody>
          <a:bodyPr lIns="0" tIns="0" rIns="0" bIns="0" rtlCol="0" anchor="t">
            <a:spAutoFit/>
          </a:bodyPr>
          <a:lstStyle>
            <a:defPPr>
              <a:defRPr lang="en-US"/>
            </a:defPPr>
            <a:lvl1pPr algn="ctr">
              <a:lnSpc>
                <a:spcPts val="5600"/>
              </a:lnSpc>
              <a:defRPr sz="4000" b="1">
                <a:solidFill>
                  <a:srgbClr val="004AAD"/>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sym typeface="字由文艺黑" panose="00020600040101010101" charset="-122"/>
              </a:rPr>
              <a:t>1</a:t>
            </a:r>
            <a:r>
              <a:rPr lang="en-US" dirty="0">
                <a:sym typeface="字由文艺黑" panose="00020600040101010101" charset="-122"/>
              </a:rPr>
              <a:t>3</a:t>
            </a:r>
            <a:r>
              <a:rPr lang="en-US">
                <a:sym typeface="字由文艺黑" panose="00020600040101010101" charset="-122"/>
              </a:rPr>
              <a:t>.6</a:t>
            </a:r>
            <a:endParaRPr lang="en-US" dirty="0">
              <a:sym typeface="字由文艺黑" panose="00020600040101010101" charset="-122"/>
            </a:endParaRPr>
          </a:p>
        </p:txBody>
      </p:sp>
      <p:grpSp>
        <p:nvGrpSpPr>
          <p:cNvPr id="30" name="组合 29"/>
          <p:cNvGrpSpPr/>
          <p:nvPr/>
        </p:nvGrpSpPr>
        <p:grpSpPr>
          <a:xfrm>
            <a:off x="796975" y="605801"/>
            <a:ext cx="3700052" cy="416951"/>
            <a:chOff x="13811849" y="507954"/>
            <a:chExt cx="3700052" cy="416951"/>
          </a:xfrm>
        </p:grpSpPr>
        <p:sp>
          <p:nvSpPr>
            <p:cNvPr id="31" name="文本框 30"/>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32" name="图片 31"/>
            <p:cNvPicPr>
              <a:picLocks noChangeAspect="1"/>
            </p:cNvPicPr>
            <p:nvPr/>
          </p:nvPicPr>
          <p:blipFill>
            <a:blip r:embed="rId13"/>
            <a:stretch>
              <a:fillRect/>
            </a:stretch>
          </p:blipFill>
          <p:spPr>
            <a:xfrm>
              <a:off x="13944600" y="877286"/>
              <a:ext cx="2771429" cy="47619"/>
            </a:xfrm>
            <a:prstGeom prst="rect">
              <a:avLst/>
            </a:prstGeom>
          </p:spPr>
        </p:pic>
      </p:grpSp>
      <p:sp>
        <p:nvSpPr>
          <p:cNvPr id="35" name="灯片编号占位符 34"/>
          <p:cNvSpPr>
            <a:spLocks noGrp="1"/>
          </p:cNvSpPr>
          <p:nvPr>
            <p:ph type="sldNum" sz="quarter" idx="12"/>
          </p:nvPr>
        </p:nvSpPr>
        <p:spPr/>
        <p:txBody>
          <a:bodyPr/>
          <a:lstStyle/>
          <a:p>
            <a:fld id="{B6F15528-21DE-4FAA-801E-634DDDAF4B2B}" type="slidenum">
              <a:rPr lang="en-US" altLang="zh-CN" smtClean="0"/>
            </a:fld>
            <a:endParaRPr lang="en-US" sz="1400" baseline="0" dirty="0">
              <a:solidFill>
                <a:srgbClr val="FFC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kumimoji="0" lang="en-US" sz="12200" b="0" i="0" u="none" strike="noStrike" kern="1200" cap="none" spc="0" normalizeH="0" baseline="0" noProof="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a:t>
            </a: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a:t>
            </a:r>
            <a:r>
              <a:rPr kumimoji="0" lang="en-US" sz="12200" b="0" i="0" u="none" strike="noStrike" kern="1200" cap="none" spc="0" normalizeH="0" baseline="0" noProof="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4319581" y="5143500"/>
            <a:ext cx="9777419" cy="2872581"/>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数字签名方案的基本概念</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9"/>
          <p:cNvSpPr txBox="1"/>
          <p:nvPr/>
        </p:nvSpPr>
        <p:spPr>
          <a:xfrm>
            <a:off x="1676212" y="2324100"/>
            <a:ext cx="14818191" cy="3925177"/>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是一种以电子形式给一个消息签名的方法，只有信息发送方才能进行签名。信息发送方进行签名后将产生一段任何人都无法伪造的一段数字串，这段特殊的数字串同时也是对签名真实性、完整性的一种证明。电子信息在传输过程中，通过数字签名来达到与传统手写签名相同的效果。数字签名由公钥密码发展而来，它在网络安全，包括身份认证、数据完整性、真实性、不可否认性等方面有着重要应用。</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grpSp>
        <p:nvGrpSpPr>
          <p:cNvPr id="11" name="组合 10"/>
          <p:cNvGrpSpPr/>
          <p:nvPr/>
        </p:nvGrpSpPr>
        <p:grpSpPr>
          <a:xfrm>
            <a:off x="13639786" y="733421"/>
            <a:ext cx="3700052" cy="416951"/>
            <a:chOff x="13811849" y="507954"/>
            <a:chExt cx="3700052" cy="416951"/>
          </a:xfrm>
        </p:grpSpPr>
        <p:sp>
          <p:nvSpPr>
            <p:cNvPr id="12"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13" name="图片 12"/>
            <p:cNvPicPr>
              <a:picLocks noChangeAspect="1"/>
            </p:cNvPicPr>
            <p:nvPr/>
          </p:nvPicPr>
          <p:blipFill>
            <a:blip r:embed="rId1"/>
            <a:stretch>
              <a:fillRect/>
            </a:stretch>
          </p:blipFill>
          <p:spPr>
            <a:xfrm>
              <a:off x="13944600" y="877286"/>
              <a:ext cx="2771429" cy="47619"/>
            </a:xfrm>
            <a:prstGeom prst="rect">
              <a:avLst/>
            </a:prstGeom>
          </p:spPr>
        </p:pic>
      </p:grpSp>
      <p:sp>
        <p:nvSpPr>
          <p:cNvPr id="14" name="灯片编号占位符 13"/>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22" name="Group 2"/>
          <p:cNvGrpSpPr/>
          <p:nvPr/>
        </p:nvGrpSpPr>
        <p:grpSpPr>
          <a:xfrm>
            <a:off x="412090" y="1028700"/>
            <a:ext cx="7800783" cy="275915"/>
            <a:chOff x="0" y="0"/>
            <a:chExt cx="2054527" cy="72669"/>
          </a:xfrm>
        </p:grpSpPr>
        <p:sp>
          <p:nvSpPr>
            <p:cNvPr id="2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5" name="TextBox 30"/>
          <p:cNvSpPr txBox="1"/>
          <p:nvPr/>
        </p:nvSpPr>
        <p:spPr>
          <a:xfrm>
            <a:off x="250468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数字签名方案的基本概念</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26" name="TextBox 31"/>
          <p:cNvSpPr txBox="1"/>
          <p:nvPr/>
        </p:nvSpPr>
        <p:spPr>
          <a:xfrm>
            <a:off x="1388893"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2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2" name="文本框 11"/>
          <p:cNvSpPr txBox="1"/>
          <p:nvPr/>
        </p:nvSpPr>
        <p:spPr>
          <a:xfrm>
            <a:off x="1295400" y="1714500"/>
            <a:ext cx="15552420" cy="5347105"/>
          </a:xfrm>
          <a:prstGeom prst="rect">
            <a:avLst/>
          </a:prstGeom>
          <a:noFill/>
        </p:spPr>
        <p:txBody>
          <a:bodyPr wrap="square" rtlCol="0">
            <a:spAutoFit/>
          </a:bodyPr>
          <a:lstStyle/>
          <a:p>
            <a:pPr indent="457200" algn="just" fontAlgn="auto">
              <a:lnSpc>
                <a:spcPct val="120000"/>
              </a:lnSpc>
            </a:pPr>
            <a:r>
              <a:rPr lang="zh-CN" altLang="en-US" sz="3600">
                <a:latin typeface="Times New Roman" panose="02020603050405020304" pitchFamily="18" charset="0"/>
                <a:cs typeface="Times New Roman" panose="02020603050405020304" pitchFamily="18" charset="0"/>
              </a:rPr>
              <a:t>    数字签名是指签名者使用私钥对签名的杂凑值进行密码运算得到的结果，并且该结果只能用签名者的公钥进行验证，用于确认待签名数据的完整性、签名者身份的真实性和签名者行为的抗抵赖性。</a:t>
            </a:r>
            <a:endParaRPr lang="zh-CN" altLang="en-US" sz="3600">
              <a:latin typeface="Times New Roman" panose="02020603050405020304" pitchFamily="18" charset="0"/>
              <a:cs typeface="Times New Roman" panose="02020603050405020304" pitchFamily="18" charset="0"/>
            </a:endParaRPr>
          </a:p>
          <a:p>
            <a:pPr indent="457200" algn="just" fontAlgn="auto">
              <a:lnSpc>
                <a:spcPct val="120000"/>
              </a:lnSpc>
            </a:pPr>
            <a:r>
              <a:rPr lang="zh-CN" altLang="en-US" sz="3600">
                <a:latin typeface="Times New Roman" panose="02020603050405020304" pitchFamily="18" charset="0"/>
                <a:cs typeface="Times New Roman" panose="02020603050405020304" pitchFamily="18" charset="0"/>
              </a:rPr>
              <a:t>    一般数字签名方案包括</a:t>
            </a:r>
            <a:r>
              <a:rPr lang="en-US" altLang="zh-CN" sz="3600">
                <a:latin typeface="Times New Roman" panose="02020603050405020304" pitchFamily="18" charset="0"/>
                <a:cs typeface="Times New Roman" panose="02020603050405020304" pitchFamily="18" charset="0"/>
              </a:rPr>
              <a:t>3</a:t>
            </a:r>
            <a:r>
              <a:rPr lang="zh-CN" altLang="en-US" sz="3600">
                <a:latin typeface="Times New Roman" panose="02020603050405020304" pitchFamily="18" charset="0"/>
                <a:cs typeface="Times New Roman" panose="02020603050405020304" pitchFamily="18" charset="0"/>
              </a:rPr>
              <a:t>个过程，即系统的初始化过程、签名产生过程和签名验证过程。在系统的初始化过程中要产生数字签名中用到的一切参数，在签名产生过程中用户利用给定的算法对消息</a:t>
            </a:r>
            <a:r>
              <a:rPr lang="en-US" altLang="zh-CN" sz="3600">
                <a:latin typeface="Times New Roman" panose="02020603050405020304" pitchFamily="18" charset="0"/>
                <a:cs typeface="Times New Roman" panose="02020603050405020304" pitchFamily="18" charset="0"/>
              </a:rPr>
              <a:t>m</a:t>
            </a:r>
            <a:r>
              <a:rPr lang="zh-CN" altLang="en-US" sz="3600">
                <a:latin typeface="Times New Roman" panose="02020603050405020304" pitchFamily="18" charset="0"/>
                <a:cs typeface="Times New Roman" panose="02020603050405020304" pitchFamily="18" charset="0"/>
              </a:rPr>
              <a:t>产生签名</a:t>
            </a:r>
            <a:r>
              <a:rPr lang="en-US" altLang="zh-CN" sz="3600">
                <a:latin typeface="Times New Roman" panose="02020603050405020304" pitchFamily="18" charset="0"/>
                <a:cs typeface="Times New Roman" panose="02020603050405020304" pitchFamily="18" charset="0"/>
              </a:rPr>
              <a:t>sig(m)</a:t>
            </a:r>
            <a:r>
              <a:rPr lang="zh-CN" altLang="en-US" sz="3600">
                <a:latin typeface="Times New Roman" panose="02020603050405020304" pitchFamily="18" charset="0"/>
                <a:cs typeface="Times New Roman" panose="02020603050405020304" pitchFamily="18" charset="0"/>
              </a:rPr>
              <a:t>，在签名验证过程中，验证者利用公开验证方法对给定消息的签名进行验证，得出签名的有效性。</a:t>
            </a:r>
            <a:endParaRPr lang="zh-CN" altLang="en-US" sz="3600">
              <a:latin typeface="Times New Roman" panose="02020603050405020304" pitchFamily="18" charset="0"/>
              <a:cs typeface="Times New Roman" panose="02020603050405020304" pitchFamily="18" charset="0"/>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18" name="图片 17"/>
            <p:cNvPicPr>
              <a:picLocks noChangeAspect="1"/>
            </p:cNvPicPr>
            <p:nvPr/>
          </p:nvPicPr>
          <p:blipFill>
            <a:blip r:embed="rId1"/>
            <a:stretch>
              <a:fillRect/>
            </a:stretch>
          </p:blipFill>
          <p:spPr>
            <a:xfrm>
              <a:off x="13944600" y="877286"/>
              <a:ext cx="2771429" cy="47619"/>
            </a:xfrm>
            <a:prstGeom prst="rect">
              <a:avLst/>
            </a:prstGeom>
          </p:spPr>
        </p:pic>
      </p:grpSp>
      <p:grpSp>
        <p:nvGrpSpPr>
          <p:cNvPr id="22" name="Group 2"/>
          <p:cNvGrpSpPr/>
          <p:nvPr/>
        </p:nvGrpSpPr>
        <p:grpSpPr>
          <a:xfrm>
            <a:off x="412090" y="1028700"/>
            <a:ext cx="7800783" cy="275915"/>
            <a:chOff x="0" y="0"/>
            <a:chExt cx="2054527" cy="72669"/>
          </a:xfrm>
        </p:grpSpPr>
        <p:sp>
          <p:nvSpPr>
            <p:cNvPr id="2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5" name="TextBox 30"/>
          <p:cNvSpPr txBox="1"/>
          <p:nvPr/>
        </p:nvSpPr>
        <p:spPr>
          <a:xfrm>
            <a:off x="250468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数字签名方案的基本概念</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26" name="TextBox 31"/>
          <p:cNvSpPr txBox="1"/>
          <p:nvPr/>
        </p:nvSpPr>
        <p:spPr>
          <a:xfrm>
            <a:off x="1388893"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2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228601" y="3924300"/>
            <a:ext cx="2014299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0" name="TextBox 29"/>
          <p:cNvSpPr txBox="1"/>
          <p:nvPr/>
        </p:nvSpPr>
        <p:spPr>
          <a:xfrm>
            <a:off x="1752684" y="1714674"/>
            <a:ext cx="15392316" cy="6150402"/>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下面给出数字签名的形式化定义。</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系统的初始化过程：产生方案中的基本参数</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i="1">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zh-CN" altLang="en-US" sz="3600" i="1">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i="1">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SIG</a:t>
            </a:r>
            <a:r>
              <a:rPr lang="zh-CN" altLang="en-US" sz="3600" i="1">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VER</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为消息集合，</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为签名集合，</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为密钥集合，</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SIG</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为签名算法集合，</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VER</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为验证算法集合。</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签名产生过程：对于密钥集合</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，有签名算法 </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，对消息            ，有         ，将签名消息组            发送到签名验证者。</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签名验证过程：当签名验证者收到签名消息组         后，对于密钥集合</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algn="just" fontAlgn="auto" latinLnBrk="1">
              <a:lnSpc>
                <a:spcPct val="120000"/>
              </a:lnSpc>
              <a:spcBef>
                <a:spcPts val="1200"/>
              </a:spcBef>
              <a:spcAft>
                <a:spcPts val="600"/>
              </a:spcAft>
            </a:pP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，有验证算法                   ，且                                  ，</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 ，若                          ，则签名有效；否则，签名无效。</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1"/>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4"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7" name="TextBox 30"/>
          <p:cNvSpPr txBox="1"/>
          <p:nvPr/>
        </p:nvSpPr>
        <p:spPr>
          <a:xfrm>
            <a:off x="3114283" y="504797"/>
            <a:ext cx="9458717" cy="625171"/>
          </a:xfrm>
          <a:prstGeom prst="rect">
            <a:avLst/>
          </a:prstGeom>
        </p:spPr>
        <p:txBody>
          <a:bodyPr lIns="0" tIns="0" rIns="0" bIns="0" rtlCol="0" anchor="t">
            <a:spAutoFit/>
          </a:bodyPr>
          <a:lstStyle/>
          <a:p>
            <a:pPr algn="l">
              <a:lnSpc>
                <a:spcPts val="5600"/>
              </a:lnSpc>
            </a:pP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数字签名方案的形式化定义及特点</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8" name="TextBox 31"/>
          <p:cNvSpPr txBox="1"/>
          <p:nvPr/>
        </p:nvSpPr>
        <p:spPr>
          <a:xfrm>
            <a:off x="1447800" y="429424"/>
            <a:ext cx="1600200" cy="775918"/>
          </a:xfrm>
          <a:prstGeom prst="rect">
            <a:avLst/>
          </a:prstGeom>
        </p:spPr>
        <p:txBody>
          <a:bodyPr wrap="square" lIns="0" tIns="0" rIns="0" bIns="0" rtlCol="0" anchor="t">
            <a:spAutoFit/>
          </a:bodyPr>
          <a:lstStyle/>
          <a:p>
            <a:pPr algn="ctr">
              <a:lnSpc>
                <a:spcPts val="6575"/>
              </a:lnSpc>
            </a:pP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9"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aphicFrame>
        <p:nvGraphicFramePr>
          <p:cNvPr id="23" name="对象 22"/>
          <p:cNvGraphicFramePr>
            <a:graphicFrameLocks noChangeAspect="1"/>
          </p:cNvGraphicFramePr>
          <p:nvPr/>
        </p:nvGraphicFramePr>
        <p:xfrm>
          <a:off x="11734800" y="4357730"/>
          <a:ext cx="5105400" cy="642401"/>
        </p:xfrm>
        <a:graphic>
          <a:graphicData uri="http://schemas.openxmlformats.org/presentationml/2006/ole">
            <mc:AlternateContent xmlns:mc="http://schemas.openxmlformats.org/markup-compatibility/2006">
              <mc:Choice xmlns:v="urn:schemas-microsoft-com:vml" Requires="v">
                <p:oleObj spid="_x0000_s0" name="" r:id="rId3" imgW="1447800" imgH="190500" progId="Equation.DSMT4">
                  <p:embed/>
                </p:oleObj>
              </mc:Choice>
              <mc:Fallback>
                <p:oleObj name="" r:id="rId3" imgW="1447800" imgH="1905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34800" y="4357730"/>
                        <a:ext cx="5105400" cy="642401"/>
                      </a:xfrm>
                      <a:prstGeom prst="rect">
                        <a:avLst/>
                      </a:prstGeom>
                      <a:noFill/>
                    </p:spPr>
                  </p:pic>
                </p:oleObj>
              </mc:Fallback>
            </mc:AlternateContent>
          </a:graphicData>
        </a:graphic>
      </p:graphicFrame>
      <p:graphicFrame>
        <p:nvGraphicFramePr>
          <p:cNvPr id="25" name="对象 24"/>
          <p:cNvGraphicFramePr>
            <a:graphicFrameLocks noChangeAspect="1"/>
          </p:cNvGraphicFramePr>
          <p:nvPr/>
        </p:nvGraphicFramePr>
        <p:xfrm>
          <a:off x="3581400" y="5067300"/>
          <a:ext cx="1370013" cy="534988"/>
        </p:xfrm>
        <a:graphic>
          <a:graphicData uri="http://schemas.openxmlformats.org/presentationml/2006/ole">
            <mc:AlternateContent xmlns:mc="http://schemas.openxmlformats.org/markup-compatibility/2006">
              <mc:Choice xmlns:v="urn:schemas-microsoft-com:vml" Requires="v">
                <p:oleObj spid="_x0000_s0" name="" r:id="rId5" imgW="393700" imgH="152400" progId="Equation.DSMT4">
                  <p:embed/>
                </p:oleObj>
              </mc:Choice>
              <mc:Fallback>
                <p:oleObj name="" r:id="rId5" imgW="393700" imgH="1524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400" y="5067300"/>
                        <a:ext cx="1370013" cy="534988"/>
                      </a:xfrm>
                      <a:prstGeom prst="rect">
                        <a:avLst/>
                      </a:prstGeom>
                      <a:noFill/>
                    </p:spPr>
                  </p:pic>
                </p:oleObj>
              </mc:Fallback>
            </mc:AlternateContent>
          </a:graphicData>
        </a:graphic>
      </p:graphicFrame>
      <p:graphicFrame>
        <p:nvGraphicFramePr>
          <p:cNvPr id="27" name="对象 26"/>
          <p:cNvGraphicFramePr>
            <a:graphicFrameLocks noChangeAspect="1"/>
          </p:cNvGraphicFramePr>
          <p:nvPr/>
        </p:nvGraphicFramePr>
        <p:xfrm>
          <a:off x="5831441" y="5070764"/>
          <a:ext cx="1102759" cy="534671"/>
        </p:xfrm>
        <a:graphic>
          <a:graphicData uri="http://schemas.openxmlformats.org/presentationml/2006/ole">
            <mc:AlternateContent xmlns:mc="http://schemas.openxmlformats.org/markup-compatibility/2006">
              <mc:Choice xmlns:v="urn:schemas-microsoft-com:vml" Requires="v">
                <p:oleObj spid="_x0000_s0" name="" r:id="rId7" imgW="304800" imgH="152400" progId="Equation.DSMT4">
                  <p:embed/>
                </p:oleObj>
              </mc:Choice>
              <mc:Fallback>
                <p:oleObj name="" r:id="rId7" imgW="304800" imgH="1524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31441" y="5070764"/>
                        <a:ext cx="1102759" cy="534671"/>
                      </a:xfrm>
                      <a:prstGeom prst="rect">
                        <a:avLst/>
                      </a:prstGeom>
                      <a:noFill/>
                    </p:spPr>
                  </p:pic>
                </p:oleObj>
              </mc:Fallback>
            </mc:AlternateContent>
          </a:graphicData>
        </a:graphic>
      </p:graphicFrame>
      <p:graphicFrame>
        <p:nvGraphicFramePr>
          <p:cNvPr id="29" name="对象 28"/>
          <p:cNvGraphicFramePr>
            <a:graphicFrameLocks noChangeAspect="1"/>
          </p:cNvGraphicFramePr>
          <p:nvPr/>
        </p:nvGraphicFramePr>
        <p:xfrm>
          <a:off x="10058400" y="5042016"/>
          <a:ext cx="1370013" cy="634884"/>
        </p:xfrm>
        <a:graphic>
          <a:graphicData uri="http://schemas.openxmlformats.org/presentationml/2006/ole">
            <mc:AlternateContent xmlns:mc="http://schemas.openxmlformats.org/markup-compatibility/2006">
              <mc:Choice xmlns:v="urn:schemas-microsoft-com:vml" Requires="v">
                <p:oleObj spid="_x0000_s0" name="" r:id="rId9" imgW="393700" imgH="190500" progId="Equation.DSMT4">
                  <p:embed/>
                </p:oleObj>
              </mc:Choice>
              <mc:Fallback>
                <p:oleObj name="" r:id="rId9" imgW="393700" imgH="1905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58400" y="5042016"/>
                        <a:ext cx="1370013" cy="634884"/>
                      </a:xfrm>
                      <a:prstGeom prst="rect">
                        <a:avLst/>
                      </a:prstGeom>
                      <a:noFill/>
                    </p:spPr>
                  </p:pic>
                </p:oleObj>
              </mc:Fallback>
            </mc:AlternateContent>
          </a:graphicData>
        </a:graphic>
      </p:graphicFrame>
      <p:sp>
        <p:nvSpPr>
          <p:cNvPr id="30" name="Rectangle 12"/>
          <p:cNvSpPr>
            <a:spLocks noChangeArrowheads="1"/>
          </p:cNvSpPr>
          <p:nvPr/>
        </p:nvSpPr>
        <p:spPr bwMode="auto">
          <a:xfrm>
            <a:off x="11946376" y="5694808"/>
            <a:ext cx="47108624" cy="46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31" name="对象 30"/>
          <p:cNvGraphicFramePr>
            <a:graphicFrameLocks noChangeAspect="1"/>
          </p:cNvGraphicFramePr>
          <p:nvPr/>
        </p:nvGraphicFramePr>
        <p:xfrm>
          <a:off x="11734800" y="5706542"/>
          <a:ext cx="1251487" cy="579958"/>
        </p:xfrm>
        <a:graphic>
          <a:graphicData uri="http://schemas.openxmlformats.org/presentationml/2006/ole">
            <mc:AlternateContent xmlns:mc="http://schemas.openxmlformats.org/markup-compatibility/2006">
              <mc:Choice xmlns:v="urn:schemas-microsoft-com:vml" Requires="v">
                <p:oleObj spid="_x0000_s0" name="" r:id="rId11" imgW="393700" imgH="190500" progId="Equation.DSMT4">
                  <p:embed/>
                </p:oleObj>
              </mc:Choice>
              <mc:Fallback>
                <p:oleObj name="" r:id="rId11" imgW="393700" imgH="190500"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734800" y="5706542"/>
                        <a:ext cx="1251487" cy="579958"/>
                      </a:xfrm>
                      <a:prstGeom prst="rect">
                        <a:avLst/>
                      </a:prstGeom>
                      <a:noFill/>
                    </p:spPr>
                  </p:pic>
                </p:oleObj>
              </mc:Fallback>
            </mc:AlternateContent>
          </a:graphicData>
        </a:graphic>
      </p:graphicFrame>
      <p:sp>
        <p:nvSpPr>
          <p:cNvPr id="32" name="Rectangle 14"/>
          <p:cNvSpPr>
            <a:spLocks noChangeArrowheads="1"/>
          </p:cNvSpPr>
          <p:nvPr/>
        </p:nvSpPr>
        <p:spPr bwMode="auto">
          <a:xfrm>
            <a:off x="3546764" y="7166903"/>
            <a:ext cx="2968487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33" name="对象 32"/>
          <p:cNvGraphicFramePr>
            <a:graphicFrameLocks noChangeAspect="1"/>
          </p:cNvGraphicFramePr>
          <p:nvPr/>
        </p:nvGraphicFramePr>
        <p:xfrm>
          <a:off x="4876800" y="6528411"/>
          <a:ext cx="2165474" cy="596290"/>
        </p:xfrm>
        <a:graphic>
          <a:graphicData uri="http://schemas.openxmlformats.org/presentationml/2006/ole">
            <mc:AlternateContent xmlns:mc="http://schemas.openxmlformats.org/markup-compatibility/2006">
              <mc:Choice xmlns:v="urn:schemas-microsoft-com:vml" Requires="v">
                <p:oleObj spid="_x0000_s0" name="" r:id="rId13" imgW="660400" imgH="190500" progId="Equation.DSMT4">
                  <p:embed/>
                </p:oleObj>
              </mc:Choice>
              <mc:Fallback>
                <p:oleObj name="" r:id="rId13" imgW="660400" imgH="190500" progId="Equation.DSMT4">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76800" y="6528411"/>
                        <a:ext cx="2165474" cy="596290"/>
                      </a:xfrm>
                      <a:prstGeom prst="rect">
                        <a:avLst/>
                      </a:prstGeom>
                      <a:noFill/>
                    </p:spPr>
                  </p:pic>
                </p:oleObj>
              </mc:Fallback>
            </mc:AlternateContent>
          </a:graphicData>
        </a:graphic>
      </p:graphicFrame>
      <p:sp>
        <p:nvSpPr>
          <p:cNvPr id="34" name="Rectangle 16"/>
          <p:cNvSpPr>
            <a:spLocks noChangeArrowheads="1"/>
          </p:cNvSpPr>
          <p:nvPr/>
        </p:nvSpPr>
        <p:spPr bwMode="auto">
          <a:xfrm>
            <a:off x="7365489" y="7319415"/>
            <a:ext cx="3289004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35" name="对象 34"/>
          <p:cNvGraphicFramePr>
            <a:graphicFrameLocks noChangeAspect="1"/>
          </p:cNvGraphicFramePr>
          <p:nvPr/>
        </p:nvGraphicFramePr>
        <p:xfrm>
          <a:off x="7871395" y="6555671"/>
          <a:ext cx="3863406" cy="569029"/>
        </p:xfrm>
        <a:graphic>
          <a:graphicData uri="http://schemas.openxmlformats.org/presentationml/2006/ole">
            <mc:AlternateContent xmlns:mc="http://schemas.openxmlformats.org/markup-compatibility/2006">
              <mc:Choice xmlns:v="urn:schemas-microsoft-com:vml" Requires="v">
                <p:oleObj spid="_x0000_s0" name="" r:id="rId15" imgW="1219200" imgH="190500" progId="Equation.DSMT4">
                  <p:embed/>
                </p:oleObj>
              </mc:Choice>
              <mc:Fallback>
                <p:oleObj name="" r:id="rId15" imgW="1219200" imgH="190500" progId="Equation.DSMT4">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871395" y="6555671"/>
                        <a:ext cx="3863406" cy="569029"/>
                      </a:xfrm>
                      <a:prstGeom prst="rect">
                        <a:avLst/>
                      </a:prstGeom>
                      <a:noFill/>
                    </p:spPr>
                  </p:pic>
                </p:oleObj>
              </mc:Fallback>
            </mc:AlternateContent>
          </a:graphicData>
        </a:graphic>
      </p:graphicFrame>
      <p:sp>
        <p:nvSpPr>
          <p:cNvPr id="36" name="Rectangle 18"/>
          <p:cNvSpPr>
            <a:spLocks noChangeArrowheads="1"/>
          </p:cNvSpPr>
          <p:nvPr/>
        </p:nvSpPr>
        <p:spPr bwMode="auto">
          <a:xfrm>
            <a:off x="10652271" y="7350588"/>
            <a:ext cx="43340444" cy="61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37" name="对象 36"/>
          <p:cNvGraphicFramePr>
            <a:graphicFrameLocks noChangeAspect="1"/>
          </p:cNvGraphicFramePr>
          <p:nvPr/>
        </p:nvGraphicFramePr>
        <p:xfrm>
          <a:off x="11901074" y="6195730"/>
          <a:ext cx="5548726" cy="1387182"/>
        </p:xfrm>
        <a:graphic>
          <a:graphicData uri="http://schemas.openxmlformats.org/presentationml/2006/ole">
            <mc:AlternateContent xmlns:mc="http://schemas.openxmlformats.org/markup-compatibility/2006">
              <mc:Choice xmlns:v="urn:schemas-microsoft-com:vml" Requires="v">
                <p:oleObj spid="_x0000_s0" name="" r:id="rId17" imgW="1625600" imgH="419100" progId="Equation.DSMT4">
                  <p:embed/>
                </p:oleObj>
              </mc:Choice>
              <mc:Fallback>
                <p:oleObj name="" r:id="rId17" imgW="1625600" imgH="419100" progId="Equation.DSMT4">
                  <p:embed/>
                  <p:pic>
                    <p:nvPicPr>
                      <p:cNvPr id="0" name="Object 17"/>
                      <p:cNvPicPr>
                        <a:picLocks noChangeAspect="1" noChangeArrowheads="1"/>
                      </p:cNvPicPr>
                      <p:nvPr/>
                    </p:nvPicPr>
                    <p:blipFill>
                      <a:blip r:embed="rId18"/>
                      <a:srcRect/>
                      <a:stretch>
                        <a:fillRect/>
                      </a:stretch>
                    </p:blipFill>
                    <p:spPr bwMode="auto">
                      <a:xfrm>
                        <a:off x="11901074" y="6195730"/>
                        <a:ext cx="5548726" cy="1387182"/>
                      </a:xfrm>
                      <a:prstGeom prst="rect">
                        <a:avLst/>
                      </a:prstGeom>
                      <a:noFill/>
                    </p:spPr>
                  </p:pic>
                </p:oleObj>
              </mc:Fallback>
            </mc:AlternateContent>
          </a:graphicData>
        </a:graphic>
      </p:graphicFrame>
      <p:sp>
        <p:nvSpPr>
          <p:cNvPr id="38" name="Rectangle 20"/>
          <p:cNvSpPr>
            <a:spLocks noChangeArrowheads="1"/>
          </p:cNvSpPr>
          <p:nvPr/>
        </p:nvSpPr>
        <p:spPr bwMode="auto">
          <a:xfrm>
            <a:off x="2926483" y="7192217"/>
            <a:ext cx="48881991" cy="53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39" name="对象 38"/>
          <p:cNvGraphicFramePr>
            <a:graphicFrameLocks noChangeAspect="1"/>
          </p:cNvGraphicFramePr>
          <p:nvPr/>
        </p:nvGraphicFramePr>
        <p:xfrm>
          <a:off x="2743199" y="7245746"/>
          <a:ext cx="3132831" cy="717154"/>
        </p:xfrm>
        <a:graphic>
          <a:graphicData uri="http://schemas.openxmlformats.org/presentationml/2006/ole">
            <mc:AlternateContent xmlns:mc="http://schemas.openxmlformats.org/markup-compatibility/2006">
              <mc:Choice xmlns:v="urn:schemas-microsoft-com:vml" Requires="v">
                <p:oleObj spid="_x0000_s0" name="" r:id="rId19" imgW="787400" imgH="190500" progId="Equation.DSMT4">
                  <p:embed/>
                </p:oleObj>
              </mc:Choice>
              <mc:Fallback>
                <p:oleObj name="" r:id="rId19" imgW="787400" imgH="190500" progId="Equation.DSMT4">
                  <p:embed/>
                  <p:pic>
                    <p:nvPicPr>
                      <p:cNvPr id="0" name="Object 1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743199" y="7245746"/>
                        <a:ext cx="3132831" cy="717154"/>
                      </a:xfrm>
                      <a:prstGeom prst="rect">
                        <a:avLst/>
                      </a:prstGeom>
                      <a:noFill/>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29"/>
          <p:cNvSpPr txBox="1"/>
          <p:nvPr/>
        </p:nvSpPr>
        <p:spPr>
          <a:xfrm>
            <a:off x="1905000" y="1654413"/>
            <a:ext cx="14818191" cy="6584367"/>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数字签名应具备以下五个基本特性：</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）可信的：任何人都可以利用公开的验证方法检验数字签名的有效性。</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）不可伪造的：除合法签名者外，其他人难以伪造有效的签名。</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）不可复制的：对某一消息的签名不能直接复制为另一消息的有效签名。</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）不可改变的：已签名的消息一旦被篡改，验签者便能够发现消息与签名不再对应。</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）不可否认的：签名私钥由签名者独有，签名者不能否认自己产生的签名。</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11"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2"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3" name="TextBox 30"/>
          <p:cNvSpPr txBox="1"/>
          <p:nvPr/>
        </p:nvSpPr>
        <p:spPr>
          <a:xfrm>
            <a:off x="3114283" y="504797"/>
            <a:ext cx="9458717" cy="625171"/>
          </a:xfrm>
          <a:prstGeom prst="rect">
            <a:avLst/>
          </a:prstGeom>
        </p:spPr>
        <p:txBody>
          <a:bodyPr lIns="0" tIns="0" rIns="0" bIns="0" rtlCol="0" anchor="t">
            <a:spAutoFit/>
          </a:bodyPr>
          <a:lstStyle/>
          <a:p>
            <a:pPr algn="l">
              <a:lnSpc>
                <a:spcPts val="5600"/>
              </a:lnSpc>
            </a:pP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数字签名方案的形式化定义及特点</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5" name="TextBox 31"/>
          <p:cNvSpPr txBox="1"/>
          <p:nvPr/>
        </p:nvSpPr>
        <p:spPr>
          <a:xfrm>
            <a:off x="1447800" y="429424"/>
            <a:ext cx="1600200" cy="775918"/>
          </a:xfrm>
          <a:prstGeom prst="rect">
            <a:avLst/>
          </a:prstGeom>
        </p:spPr>
        <p:txBody>
          <a:bodyPr wrap="square" lIns="0" tIns="0" rIns="0" bIns="0" rtlCol="0" anchor="t">
            <a:spAutoFit/>
          </a:bodyPr>
          <a:lstStyle/>
          <a:p>
            <a:pPr algn="ctr">
              <a:lnSpc>
                <a:spcPts val="6575"/>
              </a:lnSpc>
            </a:pP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6"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7" name="组合 16"/>
          <p:cNvGrpSpPr/>
          <p:nvPr/>
        </p:nvGrpSpPr>
        <p:grpSpPr>
          <a:xfrm>
            <a:off x="13639786" y="733421"/>
            <a:ext cx="3700052" cy="416951"/>
            <a:chOff x="13811849" y="507954"/>
            <a:chExt cx="3700052" cy="416951"/>
          </a:xfrm>
        </p:grpSpPr>
        <p:sp>
          <p:nvSpPr>
            <p:cNvPr id="18" name="文本框 17"/>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9" name="图片 18"/>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29"/>
          <p:cNvSpPr txBox="1"/>
          <p:nvPr/>
        </p:nvSpPr>
        <p:spPr>
          <a:xfrm>
            <a:off x="1734904" y="2001326"/>
            <a:ext cx="14818191" cy="4589974"/>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cs typeface="字由点字典黑 2"/>
                <a:sym typeface="字由点字典黑 2"/>
              </a:rPr>
              <a:t>为了便于算法的工程实现和更加符合实际应用，高质量数字签名的设计应该满足以下要求：</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）签名产生必须使用发送方独有的信息，以防止伪造和否认。</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）数字签名的产生应较为容易。</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）数字签名的识别和验证应较为容易。</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）根据已知签名构造新的有效消息，或根据已知消息伪造数字签名，在计算上都是不可行的。</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1"/>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4"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7" name="TextBox 30"/>
          <p:cNvSpPr txBox="1"/>
          <p:nvPr/>
        </p:nvSpPr>
        <p:spPr>
          <a:xfrm>
            <a:off x="3114283" y="504797"/>
            <a:ext cx="9458717" cy="625171"/>
          </a:xfrm>
          <a:prstGeom prst="rect">
            <a:avLst/>
          </a:prstGeom>
        </p:spPr>
        <p:txBody>
          <a:bodyPr lIns="0" tIns="0" rIns="0" bIns="0" rtlCol="0" anchor="t">
            <a:spAutoFit/>
          </a:bodyPr>
          <a:lstStyle/>
          <a:p>
            <a:pPr algn="l">
              <a:lnSpc>
                <a:spcPts val="5600"/>
              </a:lnSpc>
            </a:pP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数字签名方案的形式化定义及特点</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9" name="TextBox 31"/>
          <p:cNvSpPr txBox="1"/>
          <p:nvPr/>
        </p:nvSpPr>
        <p:spPr>
          <a:xfrm>
            <a:off x="1447800" y="429424"/>
            <a:ext cx="1600200" cy="775918"/>
          </a:xfrm>
          <a:prstGeom prst="rect">
            <a:avLst/>
          </a:prstGeom>
        </p:spPr>
        <p:txBody>
          <a:bodyPr wrap="square" lIns="0" tIns="0" rIns="0" bIns="0" rtlCol="0" anchor="t">
            <a:spAutoFit/>
          </a:bodyPr>
          <a:lstStyle/>
          <a:p>
            <a:pPr algn="ctr">
              <a:lnSpc>
                <a:spcPts val="6575"/>
              </a:lnSpc>
            </a:pP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20"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9"/>
          <p:cNvSpPr txBox="1"/>
          <p:nvPr/>
        </p:nvSpPr>
        <p:spPr>
          <a:xfrm>
            <a:off x="1172252" y="1575220"/>
            <a:ext cx="15943496" cy="5978525"/>
          </a:xfrm>
          <a:prstGeom prst="rect">
            <a:avLst/>
          </a:prstGeom>
        </p:spPr>
        <p:txBody>
          <a:bodyPr wrap="square" lIns="0" tIns="0" rIns="0" bIns="0" rtlCol="0" anchor="t">
            <a:spAutoFit/>
          </a:bodyPr>
          <a:lstStyle/>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数字签名方案可以根据其所依赖的数学困难问题进行分类，主要包括以下几类。</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）基于大数分解问题的数字签名</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利用大整数分解的计算困难性构造数字签名方案，典型代表为</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RSA</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数字签名算法。</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）基于离散对数问题的数字签名</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利用有限域或椭圆曲线上的离散对数困难问题构造数字签名方案，代表算法包括</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ElGamal</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DSA</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，以及我国的</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SM2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SM9</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数字签名算法。</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3114283" y="504797"/>
            <a:ext cx="9458717" cy="625171"/>
          </a:xfrm>
          <a:prstGeom prst="rect">
            <a:avLst/>
          </a:prstGeom>
        </p:spPr>
        <p:txBody>
          <a:bodyPr lIns="0" tIns="0" rIns="0" bIns="0" rtlCol="0" anchor="t">
            <a:spAutoFit/>
          </a:bodyPr>
          <a:lstStyle/>
          <a:p>
            <a:pPr algn="l">
              <a:lnSpc>
                <a:spcPts val="5600"/>
              </a:lnSpc>
            </a:pP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数字签名方案的分类</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95400" y="429424"/>
            <a:ext cx="1676400" cy="775918"/>
          </a:xfrm>
          <a:prstGeom prst="rect">
            <a:avLst/>
          </a:prstGeom>
        </p:spPr>
        <p:txBody>
          <a:bodyPr wrap="square" lIns="0" tIns="0" rIns="0" bIns="0" rtlCol="0" anchor="t">
            <a:spAutoFit/>
          </a:bodyPr>
          <a:lstStyle/>
          <a:p>
            <a:pPr algn="ctr">
              <a:lnSpc>
                <a:spcPts val="6575"/>
              </a:lnSpc>
            </a:pP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9"/>
          <p:cNvSpPr txBox="1"/>
          <p:nvPr/>
        </p:nvSpPr>
        <p:spPr>
          <a:xfrm>
            <a:off x="1172252" y="1575220"/>
            <a:ext cx="15943496" cy="4650105"/>
          </a:xfrm>
          <a:prstGeom prst="rect">
            <a:avLst/>
          </a:prstGeom>
        </p:spPr>
        <p:txBody>
          <a:bodyPr wrap="square" lIns="0" tIns="0" rIns="0" bIns="0" rtlCol="0" anchor="t">
            <a:spAutoFit/>
          </a:bodyPr>
          <a:lstStyle/>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数字签名方案可以根据其所依赖的数学困难问题进行分类，主要包括以下几类。</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）混合数字签名方案</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将大数分解问题与离散对数问题相结合，构造数字签名方案。</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）基于格困难问题的数字签名</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利用格上的数学困难问题设计数字签名方案，是数字签名技术的重要发展方向。</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9"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0" name="TextBox 30"/>
          <p:cNvSpPr txBox="1"/>
          <p:nvPr/>
        </p:nvSpPr>
        <p:spPr>
          <a:xfrm>
            <a:off x="3114283" y="504797"/>
            <a:ext cx="9458717" cy="625171"/>
          </a:xfrm>
          <a:prstGeom prst="rect">
            <a:avLst/>
          </a:prstGeom>
        </p:spPr>
        <p:txBody>
          <a:bodyPr lIns="0" tIns="0" rIns="0" bIns="0" rtlCol="0" anchor="t">
            <a:spAutoFit/>
          </a:bodyPr>
          <a:lstStyle/>
          <a:p>
            <a:pPr algn="l">
              <a:lnSpc>
                <a:spcPts val="5600"/>
              </a:lnSpc>
            </a:pP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数字签名方案的分类</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95400" y="429424"/>
            <a:ext cx="1676400" cy="775918"/>
          </a:xfrm>
          <a:prstGeom prst="rect">
            <a:avLst/>
          </a:prstGeom>
        </p:spPr>
        <p:txBody>
          <a:bodyPr wrap="square" lIns="0" tIns="0" rIns="0" bIns="0" rtlCol="0" anchor="t">
            <a:spAutoFit/>
          </a:bodyPr>
          <a:lstStyle/>
          <a:p>
            <a:pPr algn="ctr">
              <a:lnSpc>
                <a:spcPts val="6575"/>
              </a:lnSpc>
            </a:pP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9"/>
          <p:cNvSpPr txBox="1"/>
          <p:nvPr/>
        </p:nvSpPr>
        <p:spPr>
          <a:xfrm>
            <a:off x="1233608" y="1714500"/>
            <a:ext cx="15820784" cy="7971155"/>
          </a:xfrm>
          <a:prstGeom prst="rect">
            <a:avLst/>
          </a:prstGeom>
        </p:spPr>
        <p:txBody>
          <a:bodyPr wrap="square" lIns="0" tIns="0" rIns="0" bIns="0" rtlCol="0" anchor="t">
            <a:spAutoFit/>
          </a:bodyPr>
          <a:lstStyle/>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当普通数字签名方案无法满足特定应用需求时，需要用到特殊的数字签名方案。</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）盲签名</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签名者在不知道待签名文件具体内容的情况下完成签名，广泛应用于电子货币系统。</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）门限签名</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在由多个成员组成的群体中，只有达到规定数量的成员共同参与，才能产生有效签名，通常通过密钥分割实现。</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）群签名</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群体中的某个成员能够代表整个群体进行数字签名，实现群体身份下的签名认证。</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1"/>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4"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6" name="TextBox 30"/>
          <p:cNvSpPr txBox="1"/>
          <p:nvPr/>
        </p:nvSpPr>
        <p:spPr>
          <a:xfrm>
            <a:off x="3114283" y="504797"/>
            <a:ext cx="9458717" cy="625171"/>
          </a:xfrm>
          <a:prstGeom prst="rect">
            <a:avLst/>
          </a:prstGeom>
        </p:spPr>
        <p:txBody>
          <a:bodyPr lIns="0" tIns="0" rIns="0" bIns="0" rtlCol="0" anchor="t">
            <a:spAutoFit/>
          </a:bodyPr>
          <a:lstStyle/>
          <a:p>
            <a:pPr algn="l">
              <a:lnSpc>
                <a:spcPts val="5600"/>
              </a:lnSpc>
            </a:pP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数字签名方案的分类</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295400" y="429424"/>
            <a:ext cx="1676400" cy="775918"/>
          </a:xfrm>
          <a:prstGeom prst="rect">
            <a:avLst/>
          </a:prstGeom>
        </p:spPr>
        <p:txBody>
          <a:bodyPr wrap="square" lIns="0" tIns="0" rIns="0" bIns="0" rtlCol="0" anchor="t">
            <a:spAutoFit/>
          </a:bodyPr>
          <a:lstStyle/>
          <a:p>
            <a:pPr algn="ctr">
              <a:lnSpc>
                <a:spcPts val="6575"/>
              </a:lnSpc>
            </a:pP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9" name="Rectangle 1"/>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需要用到特殊的数字签名方案</a:t>
            </a:r>
            <a:r>
              <a:rPr kumimoji="0" lang="zh-CN" altLang="en-US" sz="1200" b="0" i="0" u="none" strike="noStrike" cap="none" normalizeH="0" baseline="0">
                <a:ln>
                  <a:noFill/>
                </a:ln>
                <a:solidFill>
                  <a:schemeClr val="tx1"/>
                </a:solidFill>
                <a:effectLst/>
              </a:rPr>
              <a:t> </a:t>
            </a:r>
            <a:endParaRPr kumimoji="0" lang="zh-CN"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9"/>
          <p:cNvSpPr txBox="1"/>
          <p:nvPr/>
        </p:nvSpPr>
        <p:spPr>
          <a:xfrm>
            <a:off x="1233608" y="1714500"/>
            <a:ext cx="15820784" cy="5314315"/>
          </a:xfrm>
          <a:prstGeom prst="rect">
            <a:avLst/>
          </a:prstGeom>
        </p:spPr>
        <p:txBody>
          <a:bodyPr wrap="square" lIns="0" tIns="0" rIns="0" bIns="0" rtlCol="0" anchor="t">
            <a:spAutoFit/>
          </a:bodyPr>
          <a:lstStyle/>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当普通数字签名方案无法满足特定应用需求时，需要用到特殊的数字签名方案。</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）代理签名</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密钥所有者可以将签名权授予第三方，由获得授权的第三方代理人完成签名。</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5</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）双重签名</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将发送给不同接收者的两条消息联系起来，同时保护相关参与者的隐私，可用于涉及中间人验证授权的场景。</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1"/>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4"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6" name="TextBox 30"/>
          <p:cNvSpPr txBox="1"/>
          <p:nvPr/>
        </p:nvSpPr>
        <p:spPr>
          <a:xfrm>
            <a:off x="3114283" y="504797"/>
            <a:ext cx="9458717" cy="625171"/>
          </a:xfrm>
          <a:prstGeom prst="rect">
            <a:avLst/>
          </a:prstGeom>
        </p:spPr>
        <p:txBody>
          <a:bodyPr lIns="0" tIns="0" rIns="0" bIns="0" rtlCol="0" anchor="t">
            <a:spAutoFit/>
          </a:bodyPr>
          <a:lstStyle/>
          <a:p>
            <a:pPr algn="l">
              <a:lnSpc>
                <a:spcPts val="5600"/>
              </a:lnSpc>
            </a:pP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数字签名方案的分类</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295400" y="429424"/>
            <a:ext cx="1676400" cy="775918"/>
          </a:xfrm>
          <a:prstGeom prst="rect">
            <a:avLst/>
          </a:prstGeom>
        </p:spPr>
        <p:txBody>
          <a:bodyPr wrap="square" lIns="0" tIns="0" rIns="0" bIns="0" rtlCol="0" anchor="t">
            <a:spAutoFit/>
          </a:bodyPr>
          <a:lstStyle/>
          <a:p>
            <a:pPr algn="ctr">
              <a:lnSpc>
                <a:spcPts val="6575"/>
              </a:lnSpc>
            </a:pP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
        <p:nvSpPr>
          <p:cNvPr id="19" name="Rectangle 1"/>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需要用到特殊的数字签名方案</a:t>
            </a:r>
            <a:r>
              <a:rPr kumimoji="0" lang="zh-CN" altLang="en-US" sz="1200" b="0" i="0" u="none" strike="noStrike" cap="none" normalizeH="0" baseline="0">
                <a:ln>
                  <a:noFill/>
                </a:ln>
                <a:solidFill>
                  <a:schemeClr val="tx1"/>
                </a:solidFill>
                <a:effectLst/>
              </a:rPr>
              <a:t> </a:t>
            </a:r>
            <a:endParaRPr kumimoji="0" lang="zh-CN"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TextBox 29"/>
              <p:cNvSpPr txBox="1"/>
              <p:nvPr/>
            </p:nvSpPr>
            <p:spPr>
              <a:xfrm>
                <a:off x="1233608" y="1906431"/>
                <a:ext cx="15530392" cy="4824206"/>
              </a:xfrm>
              <a:prstGeom prst="rect">
                <a:avLst/>
              </a:prstGeom>
            </p:spPr>
            <p:txBody>
              <a:bodyPr wrap="square" lIns="0" tIns="0" rIns="0" bIns="0" rtlCol="0" anchor="t">
                <a:spAutoFit/>
              </a:bodyPr>
              <a:lstStyle/>
              <a:p>
                <a:pPr indent="914400" algn="just" fontAlgn="auto" latinLnBrk="1">
                  <a:lnSpc>
                    <a:spcPct val="120000"/>
                  </a:lnSpc>
                </a:pPr>
                <a:r>
                  <a:rPr lang="zh-CN" altLang="en-US" sz="3200">
                    <a:solidFill>
                      <a:srgbClr val="000000"/>
                    </a:solidFill>
                    <a:latin typeface="Times New Roman" panose="02020603050405020304" pitchFamily="18" charset="0"/>
                    <a:cs typeface="字由点字典黑 2"/>
                    <a:sym typeface="字由点字典黑 2"/>
                  </a:rPr>
                  <a:t>下面以应用最为广泛的</a:t>
                </a:r>
                <a:r>
                  <a:rPr lang="en-US" altLang="zh-CN" sz="3200">
                    <a:solidFill>
                      <a:srgbClr val="000000"/>
                    </a:solidFill>
                    <a:latin typeface="Times New Roman" panose="02020603050405020304" pitchFamily="18" charset="0"/>
                    <a:ea typeface="宋体" panose="02010600030101010101" pitchFamily="2" charset="-122"/>
                    <a:cs typeface="字由点字典黑 2"/>
                    <a:sym typeface="字由点字典黑 2"/>
                  </a:rPr>
                  <a:t>RSA</a:t>
                </a: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数字签名方案为例说明数字签名的产生过程。</a:t>
                </a:r>
                <a:endParaRPr lang="en-US" altLang="zh-CN" sz="32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20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）系统的初始化过程。选两个保密的大素数</a:t>
                </a:r>
                <a:r>
                  <a:rPr lang="en-US" altLang="zh-CN" sz="3200" i="1">
                    <a:solidFill>
                      <a:srgbClr val="000000"/>
                    </a:solidFill>
                    <a:latin typeface="Times New Roman" panose="02020603050405020304" pitchFamily="18" charset="0"/>
                    <a:ea typeface="宋体" panose="02010600030101010101" pitchFamily="2" charset="-122"/>
                    <a:cs typeface="字由点字典黑 2"/>
                    <a:sym typeface="字由点字典黑 2"/>
                  </a:rPr>
                  <a:t>p</a:t>
                </a: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和</a:t>
                </a:r>
                <a:r>
                  <a:rPr lang="en-US" altLang="zh-CN" sz="3200" i="1">
                    <a:solidFill>
                      <a:srgbClr val="000000"/>
                    </a:solidFill>
                    <a:latin typeface="Times New Roman" panose="02020603050405020304" pitchFamily="18" charset="0"/>
                    <a:ea typeface="宋体" panose="02010600030101010101" pitchFamily="2" charset="-122"/>
                    <a:cs typeface="字由点字典黑 2"/>
                    <a:sym typeface="字由点字典黑 2"/>
                  </a:rPr>
                  <a:t>q</a:t>
                </a: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，计算</a:t>
                </a:r>
                <a14:m>
                  <m:oMath xmlns:m="http://schemas.openxmlformats.org/officeDocument/2006/math">
                    <m:r>
                      <a:rPr lang="en-US" altLang="zh-CN" sz="3200" i="1">
                        <a:solidFill>
                          <a:srgbClr val="000000"/>
                        </a:solidFill>
                        <a:latin typeface="Cambria Math" panose="02040503050406030204" pitchFamily="18" charset="0"/>
                        <a:ea typeface="宋体" panose="02010600030101010101" pitchFamily="2" charset="-122"/>
                        <a:cs typeface="字由点字典黑 2"/>
                        <a:sym typeface="字由点字典黑 2"/>
                      </a:rPr>
                      <m:t>𝑛</m:t>
                    </m:r>
                    <m:r>
                      <a:rPr lang="en-US" altLang="zh-CN" sz="3200" i="1" smtClean="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200" i="1">
                        <a:solidFill>
                          <a:srgbClr val="000000"/>
                        </a:solidFill>
                        <a:latin typeface="Cambria Math" panose="02040503050406030204" pitchFamily="18" charset="0"/>
                        <a:ea typeface="宋体" panose="02010600030101010101" pitchFamily="2" charset="-122"/>
                        <a:cs typeface="字由点字典黑 2"/>
                        <a:sym typeface="字由点字典黑 2"/>
                      </a:rPr>
                      <m:t>𝑝</m:t>
                    </m:r>
                    <m:r>
                      <a:rPr lang="en-US" altLang="zh-CN" sz="3200" i="1" smtClean="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200" i="1">
                        <a:solidFill>
                          <a:srgbClr val="000000"/>
                        </a:solidFill>
                        <a:latin typeface="Cambria Math" panose="02040503050406030204" pitchFamily="18" charset="0"/>
                        <a:ea typeface="宋体" panose="02010600030101010101" pitchFamily="2" charset="-122"/>
                        <a:cs typeface="字由点字典黑 2"/>
                        <a:sym typeface="字由点字典黑 2"/>
                      </a:rPr>
                      <m:t>𝑞</m:t>
                    </m:r>
                    <m:r>
                      <a:rPr lang="zh-CN" altLang="en-US" sz="3200" i="1" smtClean="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zh-CN" altLang="en-US" sz="3200" i="1" smtClean="0">
                        <a:solidFill>
                          <a:srgbClr val="000000"/>
                        </a:solidFill>
                        <a:latin typeface="Cambria Math" panose="02040503050406030204" pitchFamily="18" charset="0"/>
                        <a:ea typeface="宋体" panose="02010600030101010101" pitchFamily="2" charset="-122"/>
                        <a:cs typeface="字由点字典黑 2"/>
                        <a:sym typeface="字由点字典黑 2"/>
                      </a:rPr>
                      <m:t>𝜑</m:t>
                    </m:r>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𝑛</m:t>
                    </m:r>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𝑝</m:t>
                    </m:r>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1</m:t>
                    </m:r>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𝑞</m:t>
                    </m:r>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1</m:t>
                    </m:r>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m:t>
                    </m:r>
                  </m:oMath>
                </a14:m>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；选一个整数</a:t>
                </a:r>
                <a:r>
                  <a:rPr lang="en-US" altLang="zh-CN" sz="3200" i="1">
                    <a:solidFill>
                      <a:srgbClr val="000000"/>
                    </a:solidFill>
                    <a:latin typeface="Times New Roman" panose="02020603050405020304" pitchFamily="18" charset="0"/>
                    <a:ea typeface="宋体" panose="02010600030101010101" pitchFamily="2" charset="-122"/>
                    <a:cs typeface="字由点字典黑 2"/>
                    <a:sym typeface="字由点字典黑 2"/>
                  </a:rPr>
                  <a:t>e</a:t>
                </a: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，满足</a:t>
                </a:r>
                <a14:m>
                  <m:oMath xmlns:m="http://schemas.openxmlformats.org/officeDocument/2006/math">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1</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&lt;</m:t>
                    </m:r>
                    <m:r>
                      <a:rPr lang="en-US" altLang="zh-CN" sz="3200" i="1">
                        <a:solidFill>
                          <a:srgbClr val="000000"/>
                        </a:solidFill>
                        <a:latin typeface="Cambria Math" panose="02040503050406030204" pitchFamily="18" charset="0"/>
                        <a:ea typeface="Cambria Math" panose="02040503050406030204" pitchFamily="18" charset="0"/>
                        <a:cs typeface="字由点字典黑 2"/>
                        <a:sym typeface="字由点字典黑 2"/>
                      </a:rPr>
                      <m:t>𝑒</m:t>
                    </m:r>
                    <m:r>
                      <a:rPr lang="en-US" altLang="zh-CN" sz="320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&lt;</m:t>
                    </m:r>
                    <m:r>
                      <a:rPr lang="zh-CN" altLang="en-US" sz="3200" i="1">
                        <a:solidFill>
                          <a:srgbClr val="000000"/>
                        </a:solidFill>
                        <a:latin typeface="Cambria Math" panose="02040503050406030204" pitchFamily="18" charset="0"/>
                        <a:cs typeface="字由点字典黑 2"/>
                        <a:sym typeface="字由点字典黑 2"/>
                      </a:rPr>
                      <m:t>𝜑</m:t>
                    </m:r>
                    <m:r>
                      <a:rPr lang="en-US" altLang="zh-CN" sz="3200" i="1">
                        <a:solidFill>
                          <a:srgbClr val="000000"/>
                        </a:solidFill>
                        <a:latin typeface="Cambria Math" panose="02040503050406030204" pitchFamily="18" charset="0"/>
                        <a:cs typeface="字由点字典黑 2"/>
                        <a:sym typeface="字由点字典黑 2"/>
                      </a:rPr>
                      <m:t>(</m:t>
                    </m:r>
                    <m:r>
                      <a:rPr lang="en-US" altLang="zh-CN" sz="3200" i="1">
                        <a:solidFill>
                          <a:srgbClr val="000000"/>
                        </a:solidFill>
                        <a:latin typeface="Cambria Math" panose="02040503050406030204" pitchFamily="18" charset="0"/>
                        <a:cs typeface="字由点字典黑 2"/>
                        <a:sym typeface="字由点字典黑 2"/>
                      </a:rPr>
                      <m:t>𝑛</m:t>
                    </m:r>
                    <m:r>
                      <a:rPr lang="en-US" altLang="zh-CN" sz="3200" b="0" i="1" smtClean="0">
                        <a:solidFill>
                          <a:srgbClr val="000000"/>
                        </a:solidFill>
                        <a:latin typeface="Cambria Math" panose="02040503050406030204" pitchFamily="18" charset="0"/>
                        <a:cs typeface="字由点字典黑 2"/>
                        <a:sym typeface="字由点字典黑 2"/>
                      </a:rPr>
                      <m:t>)</m:t>
                    </m:r>
                  </m:oMath>
                </a14:m>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a:t>
                </a:r>
                <a14:m>
                  <m:oMath xmlns:m="http://schemas.openxmlformats.org/officeDocument/2006/math">
                    <m:r>
                      <m:rPr>
                        <m:sty m:val="p"/>
                      </m:rPr>
                      <a:rPr lang="en-US" altLang="zh-CN" sz="3200" b="0" i="0" smtClean="0">
                        <a:solidFill>
                          <a:srgbClr val="000000"/>
                        </a:solidFill>
                        <a:latin typeface="Cambria Math" panose="02040503050406030204" pitchFamily="18" charset="0"/>
                        <a:ea typeface="宋体" panose="02010600030101010101" pitchFamily="2" charset="-122"/>
                        <a:cs typeface="字由点字典黑 2"/>
                        <a:sym typeface="字由点字典黑 2"/>
                      </a:rPr>
                      <m:t>gcd</m:t>
                    </m:r>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zh-CN" altLang="en-US" sz="3200" i="1">
                        <a:solidFill>
                          <a:srgbClr val="000000"/>
                        </a:solidFill>
                        <a:latin typeface="Cambria Math" panose="02040503050406030204" pitchFamily="18" charset="0"/>
                        <a:cs typeface="字由点字典黑 2"/>
                        <a:sym typeface="字由点字典黑 2"/>
                      </a:rPr>
                      <m:t>𝜑</m:t>
                    </m:r>
                    <m:d>
                      <m:dPr>
                        <m:ctrlPr>
                          <a:rPr lang="en-US" altLang="zh-CN" sz="3200" i="1">
                            <a:solidFill>
                              <a:srgbClr val="000000"/>
                            </a:solidFill>
                            <a:latin typeface="Cambria Math" panose="02040503050406030204" pitchFamily="18" charset="0"/>
                            <a:cs typeface="字由点字典黑 2"/>
                            <a:sym typeface="字由点字典黑 2"/>
                          </a:rPr>
                        </m:ctrlPr>
                      </m:dPr>
                      <m:e>
                        <m:r>
                          <a:rPr lang="en-US" altLang="zh-CN" sz="3200" i="1">
                            <a:solidFill>
                              <a:srgbClr val="000000"/>
                            </a:solidFill>
                            <a:latin typeface="Cambria Math" panose="02040503050406030204" pitchFamily="18" charset="0"/>
                            <a:cs typeface="字由点字典黑 2"/>
                            <a:sym typeface="字由点字典黑 2"/>
                          </a:rPr>
                          <m:t>𝑛</m:t>
                        </m:r>
                      </m:e>
                    </m:d>
                    <m:r>
                      <a:rPr lang="en-US" altLang="zh-CN" sz="3200" b="0" i="1" smtClean="0">
                        <a:solidFill>
                          <a:srgbClr val="000000"/>
                        </a:solidFill>
                        <a:latin typeface="Cambria Math" panose="02040503050406030204" pitchFamily="18" charset="0"/>
                        <a:cs typeface="字由点字典黑 2"/>
                        <a:sym typeface="字由点字典黑 2"/>
                      </a:rPr>
                      <m:t>,</m:t>
                    </m:r>
                    <m:r>
                      <a:rPr lang="en-US" altLang="zh-CN" sz="3200" b="0" i="1" smtClean="0">
                        <a:solidFill>
                          <a:srgbClr val="000000"/>
                        </a:solidFill>
                        <a:latin typeface="Cambria Math" panose="02040503050406030204" pitchFamily="18" charset="0"/>
                        <a:cs typeface="字由点字典黑 2"/>
                        <a:sym typeface="字由点字典黑 2"/>
                      </a:rPr>
                      <m:t>𝑒</m:t>
                    </m:r>
                    <m:r>
                      <a:rPr lang="en-US" altLang="zh-CN" sz="3200" b="0" i="1" smtClean="0">
                        <a:solidFill>
                          <a:srgbClr val="000000"/>
                        </a:solidFill>
                        <a:latin typeface="Cambria Math" panose="02040503050406030204" pitchFamily="18" charset="0"/>
                        <a:cs typeface="字由点字典黑 2"/>
                        <a:sym typeface="字由点字典黑 2"/>
                      </a:rPr>
                      <m:t>)=</m:t>
                    </m:r>
                    <m:r>
                      <a:rPr lang="en-US" altLang="zh-CN" sz="3200" b="0" i="1" smtClean="0">
                        <a:solidFill>
                          <a:srgbClr val="000000"/>
                        </a:solidFill>
                        <a:latin typeface="Cambria Math" panose="02040503050406030204" pitchFamily="18" charset="0"/>
                        <a:cs typeface="字由点字典黑 2"/>
                        <a:sym typeface="字由点字典黑 2"/>
                      </a:rPr>
                      <m:t>1</m:t>
                    </m:r>
                  </m:oMath>
                </a14:m>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；计算</a:t>
                </a:r>
                <a:r>
                  <a:rPr lang="en-US" altLang="zh-CN" sz="3200" i="1">
                    <a:solidFill>
                      <a:srgbClr val="000000"/>
                    </a:solidFill>
                    <a:latin typeface="Times New Roman" panose="02020603050405020304" pitchFamily="18" charset="0"/>
                    <a:ea typeface="宋体" panose="02010600030101010101" pitchFamily="2" charset="-122"/>
                    <a:cs typeface="字由点字典黑 2"/>
                    <a:sym typeface="字由点字典黑 2"/>
                  </a:rPr>
                  <a:t>d</a:t>
                </a: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，满足</a:t>
                </a:r>
                <a14:m>
                  <m:oMath xmlns:m="http://schemas.openxmlformats.org/officeDocument/2006/math">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𝑑𝑒</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1</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 </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𝑚𝑜𝑑</m:t>
                    </m:r>
                    <m:r>
                      <a:rPr lang="zh-CN" altLang="en-US" sz="3200" i="1">
                        <a:solidFill>
                          <a:srgbClr val="000000"/>
                        </a:solidFill>
                        <a:latin typeface="Cambria Math" panose="02040503050406030204" pitchFamily="18" charset="0"/>
                        <a:cs typeface="字由点字典黑 2"/>
                        <a:sym typeface="字由点字典黑 2"/>
                      </a:rPr>
                      <m:t>𝜑</m:t>
                    </m:r>
                    <m:r>
                      <a:rPr lang="en-US" altLang="zh-CN" sz="3200" i="1">
                        <a:solidFill>
                          <a:srgbClr val="000000"/>
                        </a:solidFill>
                        <a:latin typeface="Cambria Math" panose="02040503050406030204" pitchFamily="18" charset="0"/>
                        <a:cs typeface="字由点字典黑 2"/>
                        <a:sym typeface="字由点字典黑 2"/>
                      </a:rPr>
                      <m:t>(</m:t>
                    </m:r>
                    <m:r>
                      <a:rPr lang="en-US" altLang="zh-CN" sz="3200" i="1">
                        <a:solidFill>
                          <a:srgbClr val="000000"/>
                        </a:solidFill>
                        <a:latin typeface="Cambria Math" panose="02040503050406030204" pitchFamily="18" charset="0"/>
                        <a:cs typeface="字由点字典黑 2"/>
                        <a:sym typeface="字由点字典黑 2"/>
                      </a:rPr>
                      <m:t>𝑛</m:t>
                    </m:r>
                    <m:r>
                      <a:rPr lang="en-US" altLang="zh-CN" sz="3200" b="0" i="1" smtClean="0">
                        <a:solidFill>
                          <a:srgbClr val="000000"/>
                        </a:solidFill>
                        <a:latin typeface="Cambria Math" panose="02040503050406030204" pitchFamily="18" charset="0"/>
                        <a:cs typeface="字由点字典黑 2"/>
                        <a:sym typeface="字由点字典黑 2"/>
                      </a:rPr>
                      <m:t>)</m:t>
                    </m:r>
                  </m:oMath>
                </a14:m>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；以</a:t>
                </a:r>
                <a14:m>
                  <m:oMath xmlns:m="http://schemas.openxmlformats.org/officeDocument/2006/math">
                    <m:d>
                      <m:dPr>
                        <m:begChr m:val="{"/>
                        <m:endChr m:val="}"/>
                        <m:ctrlPr>
                          <a:rPr lang="en-US" altLang="zh-CN" sz="3200" i="1" smtClean="0">
                            <a:solidFill>
                              <a:srgbClr val="000000"/>
                            </a:solidFill>
                            <a:latin typeface="Cambria Math" panose="02040503050406030204" pitchFamily="18" charset="0"/>
                            <a:ea typeface="宋体" panose="02010600030101010101" pitchFamily="2" charset="-122"/>
                            <a:sym typeface="字由点字典黑 2"/>
                          </a:rPr>
                        </m:ctrlPr>
                      </m:dPr>
                      <m:e>
                        <m:r>
                          <a:rPr lang="en-US" altLang="zh-CN" sz="3200" b="0" i="1" smtClean="0">
                            <a:solidFill>
                              <a:srgbClr val="000000"/>
                            </a:solidFill>
                            <a:latin typeface="Cambria Math" panose="02040503050406030204" pitchFamily="18" charset="0"/>
                            <a:ea typeface="宋体" panose="02010600030101010101" pitchFamily="2" charset="-122"/>
                            <a:sym typeface="字由点字典黑 2"/>
                          </a:rPr>
                          <m:t>𝑒</m:t>
                        </m:r>
                        <m:r>
                          <a:rPr lang="en-US" altLang="zh-CN" sz="3200" b="0" i="1" smtClean="0">
                            <a:solidFill>
                              <a:srgbClr val="000000"/>
                            </a:solidFill>
                            <a:latin typeface="Cambria Math" panose="02040503050406030204" pitchFamily="18" charset="0"/>
                            <a:ea typeface="宋体" panose="02010600030101010101" pitchFamily="2" charset="-122"/>
                            <a:sym typeface="字由点字典黑 2"/>
                          </a:rPr>
                          <m:t>,</m:t>
                        </m:r>
                        <m:r>
                          <a:rPr lang="en-US" altLang="zh-CN" sz="3200" b="0" i="1" smtClean="0">
                            <a:solidFill>
                              <a:srgbClr val="000000"/>
                            </a:solidFill>
                            <a:latin typeface="Cambria Math" panose="02040503050406030204" pitchFamily="18" charset="0"/>
                            <a:ea typeface="宋体" panose="02010600030101010101" pitchFamily="2" charset="-122"/>
                            <a:sym typeface="字由点字典黑 2"/>
                          </a:rPr>
                          <m:t>𝑛</m:t>
                        </m:r>
                      </m:e>
                    </m:d>
                    <m:r>
                      <a:rPr lang="zh-CN" altLang="en-US" sz="3200" i="1" smtClean="0">
                        <a:solidFill>
                          <a:srgbClr val="000000"/>
                        </a:solidFill>
                        <a:latin typeface="Cambria Math" panose="02040503050406030204" pitchFamily="18" charset="0"/>
                        <a:ea typeface="宋体" panose="02010600030101010101" pitchFamily="2" charset="-122"/>
                        <a:cs typeface="字由点字典黑 2"/>
                        <a:sym typeface="字由点字典黑 2"/>
                      </a:rPr>
                      <m:t> </m:t>
                    </m:r>
                  </m:oMath>
                </a14:m>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为公钥，</a:t>
                </a:r>
                <a:r>
                  <a:rPr lang="en-US" altLang="zh-CN" sz="3200" i="1">
                    <a:solidFill>
                      <a:srgbClr val="000000"/>
                    </a:solidFill>
                    <a:latin typeface="Times New Roman" panose="02020603050405020304" pitchFamily="18" charset="0"/>
                    <a:ea typeface="宋体" panose="02010600030101010101" pitchFamily="2" charset="-122"/>
                    <a:cs typeface="字由点字典黑 2"/>
                    <a:sym typeface="字由点字典黑 2"/>
                  </a:rPr>
                  <a:t>d</a:t>
                </a: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为签名私钥。</a:t>
                </a:r>
                <a:endPar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20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）签名产生过程。设消息为</a:t>
                </a:r>
                <a:r>
                  <a:rPr lang="en-US" altLang="zh-CN" sz="3200" i="1">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，对其签名为</a:t>
                </a:r>
                <a14:m>
                  <m:oMath xmlns:m="http://schemas.openxmlformats.org/officeDocument/2006/math">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𝑆</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m:t>
                    </m:r>
                    <m:sSup>
                      <m:sSupPr>
                        <m:ctrlP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ctrlPr>
                      </m:sSupPr>
                      <m:e>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𝑀</m:t>
                        </m:r>
                      </m:e>
                      <m:sup>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𝑑</m:t>
                        </m:r>
                      </m:sup>
                    </m:sSup>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𝑚𝑜𝑑</m:t>
                    </m:r>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 </m:t>
                    </m:r>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𝑛</m:t>
                    </m:r>
                  </m:oMath>
                </a14:m>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，并将</a:t>
                </a:r>
                <a:r>
                  <a:rPr lang="en-US" altLang="zh-CN" sz="32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200" i="1">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200" i="1">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en-US" altLang="zh-CN" sz="32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发送给签名验证者。</a:t>
                </a:r>
                <a:endPar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20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）签名验证过程。接收方在收到消息</a:t>
                </a:r>
                <a:r>
                  <a:rPr lang="en-US" altLang="zh-CN" sz="3200" i="1">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和签名</a:t>
                </a:r>
                <a:r>
                  <a:rPr lang="en-US" altLang="zh-CN" sz="3200" i="1">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后，验证</a:t>
                </a:r>
                <a14:m>
                  <m:oMath xmlns:m="http://schemas.openxmlformats.org/officeDocument/2006/math">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𝑀</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m:t>
                    </m:r>
                    <m:sSup>
                      <m:sSupPr>
                        <m:ctrlP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ctrlPr>
                      </m:sSupPr>
                      <m:e>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𝑆</m:t>
                        </m:r>
                      </m:e>
                      <m:sup>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𝑒</m:t>
                        </m:r>
                      </m:sup>
                    </m:sSup>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𝑚𝑜𝑑</m:t>
                    </m:r>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 </m:t>
                    </m:r>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𝑛</m:t>
                    </m:r>
                  </m:oMath>
                </a14:m>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是否成立。若成立，则发送方的签名有效；若不成立，则发送方的签名无效。</a:t>
                </a:r>
                <a:endPar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7" name="TextBox 29"/>
              <p:cNvSpPr txBox="1">
                <a:spLocks noRot="1" noChangeAspect="1" noMove="1" noResize="1" noEditPoints="1" noAdjustHandles="1" noChangeArrowheads="1" noChangeShapeType="1" noTextEdit="1"/>
              </p:cNvSpPr>
              <p:nvPr/>
            </p:nvSpPr>
            <p:spPr>
              <a:xfrm>
                <a:off x="1233608" y="1906431"/>
                <a:ext cx="15530392" cy="4824206"/>
              </a:xfrm>
              <a:prstGeom prst="rect">
                <a:avLst/>
              </a:prstGeom>
              <a:blipFill rotWithShape="1">
                <a:blip r:embed="rId1"/>
                <a:stretch>
                  <a:fillRect l="-3" t="-3" r="-1905" b="6"/>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4"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6" name="TextBox 30"/>
          <p:cNvSpPr txBox="1"/>
          <p:nvPr/>
        </p:nvSpPr>
        <p:spPr>
          <a:xfrm>
            <a:off x="3114283" y="504797"/>
            <a:ext cx="9458717" cy="625171"/>
          </a:xfrm>
          <a:prstGeom prst="rect">
            <a:avLst/>
          </a:prstGeom>
        </p:spPr>
        <p:txBody>
          <a:bodyPr lIns="0" tIns="0" rIns="0" bIns="0" rtlCol="0" anchor="t">
            <a:spAutoFit/>
          </a:bodyPr>
          <a:lstStyle/>
          <a:p>
            <a:pPr algn="l">
              <a:lnSpc>
                <a:spcPts val="5600"/>
              </a:lnSpc>
            </a:pP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数字签名方案的分类</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295400" y="429424"/>
            <a:ext cx="1676400" cy="775918"/>
          </a:xfrm>
          <a:prstGeom prst="rect">
            <a:avLst/>
          </a:prstGeom>
        </p:spPr>
        <p:txBody>
          <a:bodyPr wrap="square" lIns="0" tIns="0" rIns="0" bIns="0" rtlCol="0" anchor="t">
            <a:spAutoFit/>
          </a:bodyPr>
          <a:lstStyle/>
          <a:p>
            <a:pPr algn="ctr">
              <a:lnSpc>
                <a:spcPts val="6575"/>
              </a:lnSpc>
            </a:pP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kumimoji="0" lang="en-US" sz="12200" b="0" i="0" u="none" strike="noStrike" kern="1200" cap="none" spc="0" normalizeH="0" baseline="0" noProof="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a:t>
            </a: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a:t>
            </a:r>
            <a:r>
              <a:rPr kumimoji="0" lang="en-US" sz="12200" b="0" i="0" u="none" strike="noStrike" kern="1200" cap="none" spc="0" normalizeH="0" baseline="0" noProof="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.2</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en-US" altLang="zh-CN" sz="9600" b="1" i="0" u="none" strike="noStrike" kern="1200" cap="none" spc="0" normalizeH="0" baseline="0" noProof="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DSS</a:t>
            </a:r>
            <a:r>
              <a:rPr kumimoji="0" lang="zh-CN" altLang="en-US" sz="9600" b="1" i="0" u="none" strike="noStrike" kern="1200" cap="none" spc="0" normalizeH="0" baseline="0" noProof="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标准</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9" name="TextBox 29"/>
              <p:cNvSpPr txBox="1"/>
              <p:nvPr/>
            </p:nvSpPr>
            <p:spPr>
              <a:xfrm>
                <a:off x="1350423" y="1757516"/>
                <a:ext cx="15587154" cy="6107698"/>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数字签名标准</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DSS</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Digital Signature Standard</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）由美国国家标准与技术研究院（</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NIST</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）公布，对应联邦信息处理标准</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FIPS PUB 186</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，其采用的数字签名算法称为</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DSA</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Digital Signature Algorithm</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DSA</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的安全性建立在有限域离散对数问题的计算困难性上，算法描述如下。</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．系统的初始化过程</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选择长度为</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160bit</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的素数</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q</a:t>
                </a:r>
                <a14:m>
                  <m:oMath xmlns:m="http://schemas.openxmlformats.org/officeDocument/2006/math">
                    <m:r>
                      <a:rPr lang="en-US" altLang="zh-CN" sz="3600" b="0" i="1" smtClean="0">
                        <a:solidFill>
                          <a:srgbClr val="000000"/>
                        </a:solidFill>
                        <a:latin typeface="Cambria Math" panose="02040503050406030204" pitchFamily="18" charset="0"/>
                        <a:ea typeface="宋体" panose="02010600030101010101" pitchFamily="2" charset="-122"/>
                        <a:sym typeface="字由点字典黑 2"/>
                      </a:rPr>
                      <m:t>(</m:t>
                    </m:r>
                    <m:sSup>
                      <m:sSupPr>
                        <m:ctrlPr>
                          <a:rPr lang="en-US" altLang="zh-CN" sz="3600" i="1" smtClean="0">
                            <a:solidFill>
                              <a:srgbClr val="000000"/>
                            </a:solidFill>
                            <a:latin typeface="Cambria Math" panose="02040503050406030204" pitchFamily="18" charset="0"/>
                            <a:ea typeface="宋体" panose="02010600030101010101" pitchFamily="2" charset="-122"/>
                            <a:sym typeface="字由点字典黑 2"/>
                          </a:rPr>
                        </m:ctrlPr>
                      </m:sSupPr>
                      <m:e>
                        <m:r>
                          <a:rPr lang="en-US" altLang="zh-CN" sz="3600" b="0" i="1" smtClean="0">
                            <a:solidFill>
                              <a:srgbClr val="000000"/>
                            </a:solidFill>
                            <a:latin typeface="Cambria Math" panose="02040503050406030204" pitchFamily="18" charset="0"/>
                            <a:ea typeface="宋体" panose="02010600030101010101" pitchFamily="2" charset="-122"/>
                            <a:sym typeface="字由点字典黑 2"/>
                          </a:rPr>
                          <m:t>2</m:t>
                        </m:r>
                      </m:e>
                      <m:sup>
                        <m:r>
                          <a:rPr lang="en-US" altLang="zh-CN" sz="3600" b="0" i="1" smtClean="0">
                            <a:solidFill>
                              <a:srgbClr val="000000"/>
                            </a:solidFill>
                            <a:latin typeface="Cambria Math" panose="02040503050406030204" pitchFamily="18" charset="0"/>
                            <a:ea typeface="宋体" panose="02010600030101010101" pitchFamily="2" charset="-122"/>
                            <a:sym typeface="字由点字典黑 2"/>
                          </a:rPr>
                          <m:t>159</m:t>
                        </m:r>
                      </m:sup>
                    </m:sSup>
                    <m:r>
                      <a:rPr lang="en-US" altLang="zh-CN" sz="3600" i="1" smtClean="0">
                        <a:solidFill>
                          <a:srgbClr val="000000"/>
                        </a:solidFill>
                        <a:latin typeface="Cambria Math" panose="02040503050406030204" pitchFamily="18" charset="0"/>
                        <a:ea typeface="Cambria Math" panose="02040503050406030204" pitchFamily="18" charset="0"/>
                        <a:sym typeface="字由点字典黑 2"/>
                      </a:rPr>
                      <m:t>&lt;</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𝑞</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&lt;</m:t>
                    </m:r>
                    <m:sSup>
                      <m:sSupPr>
                        <m:ctrlP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ctrlPr>
                      </m:sSupPr>
                      <m:e>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2</m:t>
                        </m:r>
                      </m:e>
                      <m:sup>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160</m:t>
                        </m:r>
                      </m:sup>
                    </m:sSup>
                    <m:r>
                      <a:rPr lang="en-US" altLang="zh-CN" sz="3600" b="0" i="0" smtClean="0">
                        <a:solidFill>
                          <a:srgbClr val="000000"/>
                        </a:solidFill>
                        <a:latin typeface="Cambria Math" panose="02040503050406030204" pitchFamily="18" charset="0"/>
                        <a:ea typeface="Cambria Math" panose="02040503050406030204" pitchFamily="18" charset="0"/>
                        <a:sym typeface="字由点字典黑 2"/>
                      </a:rPr>
                      <m:t>)</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，并选取长度为</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512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1024bit</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的素数</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p</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，满足</a:t>
                </a:r>
                <a14:m>
                  <m:oMath xmlns:m="http://schemas.openxmlformats.org/officeDocument/2006/math">
                    <m:r>
                      <a:rPr lang="en-US" altLang="zh-CN" sz="36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𝑞</m:t>
                    </m:r>
                    <m:r>
                      <a:rPr lang="en-US" altLang="zh-CN" sz="36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 </m:t>
                    </m:r>
                    <m:r>
                      <a:rPr lang="en-US" altLang="zh-CN" sz="36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𝑝</m:t>
                    </m:r>
                    <m:r>
                      <a:rPr lang="en-US" altLang="zh-CN" sz="36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m:t>
                    </m:r>
                    <m:r>
                      <a:rPr lang="en-US" altLang="zh-CN" sz="36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1</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，选择</a:t>
                </a:r>
                <a14:m>
                  <m:oMath xmlns:m="http://schemas.openxmlformats.org/officeDocument/2006/math">
                    <m:r>
                      <m:rPr>
                        <m:nor/>
                      </m:rPr>
                      <a:rPr lang="en-US" altLang="zh-CN" sz="3600" i="1">
                        <a:solidFill>
                          <a:srgbClr val="000000"/>
                        </a:solidFill>
                        <a:latin typeface="Times New Roman" panose="02020603050405020304" pitchFamily="18" charset="0"/>
                        <a:cs typeface="字由点字典黑 2"/>
                        <a:sym typeface="字由点字典黑 2"/>
                      </a:rPr>
                      <m:t>g</m:t>
                    </m:r>
                    <m:r>
                      <a:rPr lang="en-US" altLang="zh-CN" sz="36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m:t>
                    </m:r>
                    <m:sSup>
                      <m:sSupPr>
                        <m:ctrlP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ctrlPr>
                      </m:sSupPr>
                      <m:e>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ℎ</m:t>
                        </m:r>
                      </m:e>
                      <m:sup>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𝑝</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1</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𝑞</m:t>
                        </m:r>
                      </m:sup>
                    </m:sSup>
                    <m:r>
                      <a:rPr lang="en-US" altLang="zh-CN" sz="36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𝑚𝑜𝑑</m:t>
                    </m:r>
                    <m:r>
                      <a:rPr lang="en-US" altLang="zh-CN" sz="36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 </m:t>
                    </m:r>
                    <m:r>
                      <a:rPr lang="en-US" altLang="zh-CN" sz="36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𝑝</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h</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满足</a:t>
                </a:r>
                <a14:m>
                  <m:oMath xmlns:m="http://schemas.openxmlformats.org/officeDocument/2006/math">
                    <m:r>
                      <a:rPr lang="en-US" altLang="zh-CN" sz="36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1</m:t>
                    </m:r>
                    <m:r>
                      <a:rPr lang="en-US" altLang="zh-CN" sz="36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&lt;</m:t>
                    </m:r>
                    <m:r>
                      <a:rPr lang="en-US" altLang="zh-CN" sz="36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ℎ</m:t>
                    </m:r>
                    <m:r>
                      <a:rPr lang="en-US" altLang="zh-CN" sz="36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&lt;</m:t>
                    </m:r>
                    <m:r>
                      <a:rPr lang="en-US" altLang="zh-CN" sz="36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𝑝</m:t>
                    </m:r>
                    <m:r>
                      <a:rPr lang="en-US" altLang="zh-CN" sz="36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m:t>
                    </m:r>
                    <m:r>
                      <a:rPr lang="en-US" altLang="zh-CN" sz="36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1</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，且 </a:t>
                </a:r>
                <a14:m>
                  <m:oMath xmlns:m="http://schemas.openxmlformats.org/officeDocument/2006/math">
                    <m:sSup>
                      <m:sSupPr>
                        <m:ctrlPr>
                          <a:rPr lang="en-US" altLang="zh-CN" sz="3600" i="1" smtClean="0">
                            <a:solidFill>
                              <a:srgbClr val="000000"/>
                            </a:solidFill>
                            <a:latin typeface="Cambria Math" panose="02040503050406030204" pitchFamily="18" charset="0"/>
                            <a:ea typeface="宋体" panose="02010600030101010101" pitchFamily="2" charset="-122"/>
                            <a:sym typeface="字由点字典黑 2"/>
                          </a:rPr>
                        </m:ctrlPr>
                      </m:sSupPr>
                      <m:e>
                        <m:r>
                          <a:rPr lang="en-US" altLang="zh-CN" sz="3600" i="1">
                            <a:solidFill>
                              <a:srgbClr val="000000"/>
                            </a:solidFill>
                            <a:latin typeface="Cambria Math" panose="02040503050406030204" pitchFamily="18" charset="0"/>
                            <a:ea typeface="宋体" panose="02010600030101010101" pitchFamily="2" charset="-122"/>
                            <a:sym typeface="字由点字典黑 2"/>
                          </a:rPr>
                          <m:t>ℎ</m:t>
                        </m:r>
                      </m:e>
                      <m:sup>
                        <m:r>
                          <a:rPr lang="en-US" altLang="zh-CN" sz="3600" b="0" i="1" smtClean="0">
                            <a:solidFill>
                              <a:srgbClr val="000000"/>
                            </a:solidFill>
                            <a:latin typeface="Cambria Math" panose="02040503050406030204" pitchFamily="18" charset="0"/>
                            <a:ea typeface="宋体" panose="02010600030101010101" pitchFamily="2" charset="-122"/>
                            <a:sym typeface="字由点字典黑 2"/>
                          </a:rPr>
                          <m:t>(</m:t>
                        </m:r>
                        <m:r>
                          <a:rPr lang="en-US" altLang="zh-CN" sz="3600" b="0" i="1" smtClean="0">
                            <a:solidFill>
                              <a:srgbClr val="000000"/>
                            </a:solidFill>
                            <a:latin typeface="Cambria Math" panose="02040503050406030204" pitchFamily="18" charset="0"/>
                            <a:ea typeface="宋体" panose="02010600030101010101" pitchFamily="2" charset="-122"/>
                            <a:sym typeface="字由点字典黑 2"/>
                          </a:rPr>
                          <m:t>𝑝</m:t>
                        </m:r>
                        <m:r>
                          <a:rPr lang="en-US" altLang="zh-CN" sz="3600" b="0" i="1" smtClean="0">
                            <a:solidFill>
                              <a:srgbClr val="000000"/>
                            </a:solidFill>
                            <a:latin typeface="Cambria Math" panose="02040503050406030204" pitchFamily="18" charset="0"/>
                            <a:ea typeface="宋体" panose="02010600030101010101" pitchFamily="2" charset="-122"/>
                            <a:sym typeface="字由点字典黑 2"/>
                          </a:rPr>
                          <m:t>−</m:t>
                        </m:r>
                        <m:r>
                          <a:rPr lang="en-US" altLang="zh-CN" sz="3600" b="0" i="1" smtClean="0">
                            <a:solidFill>
                              <a:srgbClr val="000000"/>
                            </a:solidFill>
                            <a:latin typeface="Cambria Math" panose="02040503050406030204" pitchFamily="18" charset="0"/>
                            <a:ea typeface="宋体" panose="02010600030101010101" pitchFamily="2" charset="-122"/>
                            <a:sym typeface="字由点字典黑 2"/>
                          </a:rPr>
                          <m:t>1</m:t>
                        </m:r>
                        <m:r>
                          <a:rPr lang="en-US" altLang="zh-CN" sz="3600" b="0" i="1" smtClean="0">
                            <a:solidFill>
                              <a:srgbClr val="000000"/>
                            </a:solidFill>
                            <a:latin typeface="Cambria Math" panose="02040503050406030204" pitchFamily="18" charset="0"/>
                            <a:ea typeface="宋体" panose="02010600030101010101" pitchFamily="2" charset="-122"/>
                            <a:sym typeface="字由点字典黑 2"/>
                          </a:rPr>
                          <m:t>)/</m:t>
                        </m:r>
                        <m:r>
                          <a:rPr lang="en-US" altLang="zh-CN" sz="3600" b="0" i="1" smtClean="0">
                            <a:solidFill>
                              <a:srgbClr val="000000"/>
                            </a:solidFill>
                            <a:latin typeface="Cambria Math" panose="02040503050406030204" pitchFamily="18" charset="0"/>
                            <a:ea typeface="宋体" panose="02010600030101010101" pitchFamily="2" charset="-122"/>
                            <a:sym typeface="字由点字典黑 2"/>
                          </a:rPr>
                          <m:t>𝑞</m:t>
                        </m:r>
                      </m:sup>
                    </m:sSup>
                    <m:r>
                      <a:rPr lang="en-US" altLang="zh-CN" sz="3600" b="0" i="1" smtClean="0">
                        <a:solidFill>
                          <a:srgbClr val="000000"/>
                        </a:solidFill>
                        <a:latin typeface="Cambria Math" panose="02040503050406030204" pitchFamily="18" charset="0"/>
                        <a:ea typeface="宋体" panose="02010600030101010101" pitchFamily="2" charset="-122"/>
                        <a:sym typeface="字由点字典黑 2"/>
                      </a:rPr>
                      <m:t> </m:t>
                    </m:r>
                    <m:r>
                      <a:rPr lang="en-US" altLang="zh-CN" sz="3600" b="0" i="1" smtClean="0">
                        <a:solidFill>
                          <a:srgbClr val="000000"/>
                        </a:solidFill>
                        <a:latin typeface="Cambria Math" panose="02040503050406030204" pitchFamily="18" charset="0"/>
                        <a:ea typeface="宋体" panose="02010600030101010101" pitchFamily="2" charset="-122"/>
                        <a:sym typeface="字由点字典黑 2"/>
                      </a:rPr>
                      <m:t>𝑚𝑜𝑑</m:t>
                    </m:r>
                    <m:r>
                      <a:rPr lang="en-US" altLang="zh-CN" sz="3600" b="0" i="1" smtClean="0">
                        <a:solidFill>
                          <a:srgbClr val="000000"/>
                        </a:solidFill>
                        <a:latin typeface="Cambria Math" panose="02040503050406030204" pitchFamily="18" charset="0"/>
                        <a:ea typeface="宋体" panose="02010600030101010101" pitchFamily="2" charset="-122"/>
                        <a:sym typeface="字由点字典黑 2"/>
                      </a:rPr>
                      <m:t> </m:t>
                    </m:r>
                    <m:r>
                      <a:rPr lang="en-US" altLang="zh-CN" sz="3600" b="0" i="1" smtClean="0">
                        <a:solidFill>
                          <a:srgbClr val="000000"/>
                        </a:solidFill>
                        <a:latin typeface="Cambria Math" panose="02040503050406030204" pitchFamily="18" charset="0"/>
                        <a:ea typeface="宋体" panose="02010600030101010101" pitchFamily="2" charset="-122"/>
                        <a:sym typeface="字由点字典黑 2"/>
                      </a:rPr>
                      <m:t>𝑝</m:t>
                    </m:r>
                    <m:r>
                      <a:rPr lang="en-US" altLang="zh-CN" sz="3600" b="0" i="1" smtClean="0">
                        <a:solidFill>
                          <a:srgbClr val="000000"/>
                        </a:solidFill>
                        <a:latin typeface="Cambria Math" panose="02040503050406030204" pitchFamily="18" charset="0"/>
                        <a:ea typeface="宋体" panose="02010600030101010101" pitchFamily="2" charset="-122"/>
                        <a:sym typeface="字由点字典黑 2"/>
                      </a:rPr>
                      <m:t> &gt;</m:t>
                    </m:r>
                    <m:r>
                      <a:rPr lang="en-US" altLang="zh-CN" sz="3600" b="0" i="1" smtClean="0">
                        <a:solidFill>
                          <a:srgbClr val="000000"/>
                        </a:solidFill>
                        <a:latin typeface="Cambria Math" panose="02040503050406030204" pitchFamily="18" charset="0"/>
                        <a:ea typeface="宋体" panose="02010600030101010101" pitchFamily="2" charset="-122"/>
                        <a:sym typeface="字由点字典黑 2"/>
                      </a:rPr>
                      <m:t>1</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，用户</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选择</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q</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中的随机数</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作为其私钥，并计算</a:t>
                </a:r>
                <a14:m>
                  <m:oMath xmlns:m="http://schemas.openxmlformats.org/officeDocument/2006/math">
                    <m:r>
                      <a:rPr lang="en-US" altLang="zh-CN" sz="36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𝑦</m:t>
                    </m:r>
                    <m:r>
                      <a:rPr lang="en-US" altLang="zh-CN" sz="36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m:t>
                    </m:r>
                    <m:sSup>
                      <m:sSupPr>
                        <m:ctrlP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ctrlPr>
                      </m:sSupPr>
                      <m:e>
                        <m:r>
                          <m:rPr>
                            <m:nor/>
                          </m:rPr>
                          <a:rPr lang="en-US" altLang="zh-CN" sz="3600" i="1">
                            <a:solidFill>
                              <a:srgbClr val="000000"/>
                            </a:solidFill>
                            <a:latin typeface="Times New Roman" panose="02020603050405020304" pitchFamily="18" charset="0"/>
                            <a:cs typeface="字由点字典黑 2"/>
                            <a:sym typeface="字由点字典黑 2"/>
                          </a:rPr>
                          <m:t>g</m:t>
                        </m:r>
                      </m:e>
                      <m:sup>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𝑥</m:t>
                        </m:r>
                      </m:sup>
                    </m:sSup>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 </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𝑚𝑜𝑑</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 </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𝑝</m:t>
                    </m:r>
                  </m:oMath>
                </a14:m>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用户的公钥为（</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p</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q</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g</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y</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29" name="TextBox 29"/>
              <p:cNvSpPr txBox="1">
                <a:spLocks noRot="1" noChangeAspect="1" noMove="1" noResize="1" noEditPoints="1" noAdjustHandles="1" noChangeArrowheads="1" noChangeShapeType="1" noTextEdit="1"/>
              </p:cNvSpPr>
              <p:nvPr/>
            </p:nvSpPr>
            <p:spPr>
              <a:xfrm>
                <a:off x="1350423" y="1757516"/>
                <a:ext cx="15587154" cy="6107698"/>
              </a:xfrm>
              <a:prstGeom prst="rect">
                <a:avLst/>
              </a:prstGeom>
              <a:blipFill rotWithShape="1">
                <a:blip r:embed="rId1"/>
                <a:stretch>
                  <a:fillRect l="-3" t="-8" r="1" b="2"/>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6" name="Group 2"/>
          <p:cNvGrpSpPr/>
          <p:nvPr/>
        </p:nvGrpSpPr>
        <p:grpSpPr>
          <a:xfrm>
            <a:off x="412090" y="1028700"/>
            <a:ext cx="7800783" cy="275915"/>
            <a:chOff x="0" y="0"/>
            <a:chExt cx="2054527" cy="72669"/>
          </a:xfrm>
        </p:grpSpPr>
        <p:sp>
          <p:nvSpPr>
            <p:cNvPr id="7"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9" name="TextBox 30"/>
          <p:cNvSpPr txBox="1"/>
          <p:nvPr/>
        </p:nvSpPr>
        <p:spPr>
          <a:xfrm>
            <a:off x="250468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en-US" altLang="zh-CN"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DSS</a:t>
            </a:r>
            <a:r>
              <a:rPr kumimoji="0" lang="zh-CN" altLang="en-US"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标准</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0" name="TextBox 31"/>
          <p:cNvSpPr txBox="1"/>
          <p:nvPr/>
        </p:nvSpPr>
        <p:spPr>
          <a:xfrm>
            <a:off x="1371600"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1"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2" name="组合 11"/>
          <p:cNvGrpSpPr/>
          <p:nvPr/>
        </p:nvGrpSpPr>
        <p:grpSpPr>
          <a:xfrm>
            <a:off x="13639786" y="733421"/>
            <a:ext cx="3700052" cy="416951"/>
            <a:chOff x="13811849" y="507954"/>
            <a:chExt cx="3700052" cy="416951"/>
          </a:xfrm>
        </p:grpSpPr>
        <p:sp>
          <p:nvSpPr>
            <p:cNvPr id="13" name="文本框 12"/>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14" name="图片 13"/>
            <p:cNvPicPr>
              <a:picLocks noChangeAspect="1"/>
            </p:cNvPicPr>
            <p:nvPr/>
          </p:nvPicPr>
          <p:blipFill>
            <a:blip r:embed="rId3"/>
            <a:stretch>
              <a:fillRect/>
            </a:stretch>
          </p:blipFill>
          <p:spPr>
            <a:xfrm>
              <a:off x="13944600" y="877286"/>
              <a:ext cx="2771429" cy="47619"/>
            </a:xfrm>
            <a:prstGeom prst="rect">
              <a:avLst/>
            </a:prstGeom>
          </p:spPr>
        </p:pic>
      </p:grpSp>
      <p:sp>
        <p:nvSpPr>
          <p:cNvPr id="25" name="Rectangle 15"/>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TextBox 29"/>
              <p:cNvSpPr txBox="1"/>
              <p:nvPr/>
            </p:nvSpPr>
            <p:spPr>
              <a:xfrm>
                <a:off x="1524084" y="1867074"/>
                <a:ext cx="15434754" cy="7261924"/>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．签名产生过程</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用户为待签消息选取随机秘密数</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是满足</a:t>
                </a:r>
                <a14:m>
                  <m:oMath xmlns:m="http://schemas.openxmlformats.org/officeDocument/2006/math">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0</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&lt;</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𝑘</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&lt;</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𝑞</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的随机数。用户对消息</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的签名为</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(r,s)</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14:m>
                  <m:oMath xmlns:m="http://schemas.openxmlformats.org/officeDocument/2006/math">
                    <m:r>
                      <m:rPr>
                        <m:sty m:val="p"/>
                      </m:rPr>
                      <a:rPr lang="en-US" altLang="zh-CN" sz="3600" i="1">
                        <a:solidFill>
                          <a:srgbClr val="000000"/>
                        </a:solidFill>
                        <a:latin typeface="Cambria Math" panose="02040503050406030204" pitchFamily="18" charset="0"/>
                        <a:ea typeface="宋体" panose="02010600030101010101" pitchFamily="2" charset="-122"/>
                        <a:cs typeface="字由点字典黑 2"/>
                        <a:sym typeface="字由点字典黑 2"/>
                      </a:rPr>
                      <m:t>r</m:t>
                    </m:r>
                    <m:r>
                      <a:rPr lang="en-US" altLang="zh-CN" sz="360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m:t>
                    </m:r>
                    <m:d>
                      <m:dPr>
                        <m:ctrlP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ctrlPr>
                      </m:dPr>
                      <m:e>
                        <m:sSup>
                          <m:sSupPr>
                            <m:ctrlP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ctrlPr>
                          </m:sSupPr>
                          <m:e>
                            <m:r>
                              <m:rPr>
                                <m:nor/>
                              </m:rPr>
                              <a:rPr lang="en-US" altLang="zh-CN" sz="3600" i="1">
                                <a:solidFill>
                                  <a:srgbClr val="000000"/>
                                </a:solidFill>
                                <a:latin typeface="Times New Roman" panose="02020603050405020304" pitchFamily="18" charset="0"/>
                                <a:cs typeface="字由点字典黑 2"/>
                                <a:sym typeface="字由点字典黑 2"/>
                              </a:rPr>
                              <m:t>g</m:t>
                            </m:r>
                          </m:e>
                          <m:sup>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𝑘</m:t>
                            </m:r>
                          </m:sup>
                        </m:sSup>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𝑚𝑜𝑑</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 </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𝑝</m:t>
                        </m:r>
                      </m:e>
                    </m:d>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𝑚𝑜𝑑</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 </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𝑞</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 </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𝑠</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m:t>
                    </m:r>
                    <m:d>
                      <m:dPr>
                        <m:begChr m:val="["/>
                        <m:endChr m:val="]"/>
                        <m:ctrlP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ctrlPr>
                      </m:dPr>
                      <m:e>
                        <m:sSup>
                          <m:sSupPr>
                            <m:ctrlP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ctrlPr>
                          </m:sSupPr>
                          <m:e>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𝑘</m:t>
                            </m:r>
                          </m:e>
                          <m:sup>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1</m:t>
                            </m:r>
                          </m:sup>
                        </m:sSup>
                        <m:d>
                          <m:dPr>
                            <m:ctrlP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ctrlPr>
                          </m:dPr>
                          <m:e>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𝐻</m:t>
                            </m:r>
                            <m:d>
                              <m:dPr>
                                <m:ctrlP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ctrlPr>
                              </m:dPr>
                              <m:e>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𝑀</m:t>
                                </m:r>
                              </m:e>
                            </m:d>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𝑥𝑟</m:t>
                            </m:r>
                          </m:e>
                        </m:d>
                      </m:e>
                    </m:d>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𝑚𝑜𝑑</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 </m:t>
                    </m:r>
                    <m:r>
                      <a:rPr lang="en-US" altLang="zh-CN" sz="3600" b="0" i="1" smtClean="0">
                        <a:solidFill>
                          <a:srgbClr val="000000"/>
                        </a:solidFill>
                        <a:latin typeface="Cambria Math" panose="02040503050406030204" pitchFamily="18" charset="0"/>
                        <a:ea typeface="Cambria Math" panose="02040503050406030204" pitchFamily="18" charset="0"/>
                        <a:sym typeface="字由点字典黑 2"/>
                      </a:rPr>
                      <m:t>𝑞</m:t>
                    </m:r>
                  </m:oMath>
                </a14:m>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H(M)</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是根据</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SHA-1</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求出的杂凑值。</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．签名验证过程</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设接收方收到的消息为      ，签名为 </a:t>
                </a:r>
                <a14:m>
                  <m:oMath xmlns:m="http://schemas.openxmlformats.org/officeDocument/2006/math">
                    <m:d>
                      <m:dPr>
                        <m:ctrlPr>
                          <a:rPr lang="zh-CN" altLang="zh-CN" sz="3200" i="1"/>
                        </m:ctrlPr>
                      </m:dPr>
                      <m:e>
                        <m:r>
                          <a:rPr lang="en-US" altLang="zh-CN" sz="3200" i="1">
                            <a:latin typeface="Cambria Math" panose="02040503050406030204" pitchFamily="18" charset="0"/>
                          </a:rPr>
                          <m:t>𝑟</m:t>
                        </m:r>
                        <m:r>
                          <a:rPr lang="en-US" altLang="zh-CN" sz="3200" i="1">
                            <a:latin typeface="Cambria Math" panose="02040503050406030204" pitchFamily="18" charset="0"/>
                          </a:rPr>
                          <m:t>′</m:t>
                        </m:r>
                        <m:r>
                          <a:rPr lang="zh-CN" altLang="zh-CN" sz="3200" i="1">
                            <a:latin typeface="Cambria Math" panose="02040503050406030204" pitchFamily="18" charset="0"/>
                          </a:rPr>
                          <m:t>，</m:t>
                        </m:r>
                        <m:r>
                          <a:rPr lang="en-US" altLang="zh-CN" sz="3200" i="1">
                            <a:latin typeface="Cambria Math" panose="02040503050406030204" pitchFamily="18" charset="0"/>
                          </a:rPr>
                          <m:t>𝑠</m:t>
                        </m:r>
                        <m:r>
                          <a:rPr lang="en-US" altLang="zh-CN" sz="3200" i="1">
                            <a:latin typeface="Cambria Math" panose="02040503050406030204" pitchFamily="18" charset="0"/>
                          </a:rPr>
                          <m:t>′</m:t>
                        </m:r>
                      </m:e>
                    </m:d>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。计算</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                                    </a:t>
                </a:r>
                <a14:m>
                  <m:oMath xmlns:m="http://schemas.openxmlformats.org/officeDocument/2006/math">
                    <m:r>
                      <a:rPr lang="en-US" altLang="zh-CN" sz="3200" i="1">
                        <a:latin typeface="Cambria Math" panose="02040503050406030204" pitchFamily="18" charset="0"/>
                      </a:rPr>
                      <m:t>𝑤</m:t>
                    </m:r>
                    <m:r>
                      <a:rPr lang="en-US" altLang="zh-CN" sz="3200" i="1">
                        <a:latin typeface="Cambria Math" panose="02040503050406030204" pitchFamily="18" charset="0"/>
                      </a:rPr>
                      <m:t>≡</m:t>
                    </m:r>
                    <m:sSup>
                      <m:sSupPr>
                        <m:ctrlPr>
                          <a:rPr lang="zh-CN" altLang="zh-CN" sz="3200" i="1"/>
                        </m:ctrlPr>
                      </m:sSupPr>
                      <m:e>
                        <m:d>
                          <m:dPr>
                            <m:ctrlPr>
                              <a:rPr lang="zh-CN" altLang="zh-CN" sz="3200" i="1"/>
                            </m:ctrlPr>
                          </m:dPr>
                          <m:e>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𝑠</m:t>
                                </m:r>
                              </m:e>
                              <m:sup>
                                <m:r>
                                  <a:rPr lang="en-US" altLang="zh-CN" sz="3200" i="1">
                                    <a:latin typeface="Cambria Math" panose="02040503050406030204" pitchFamily="18" charset="0"/>
                                  </a:rPr>
                                  <m:t>′</m:t>
                                </m:r>
                              </m:sup>
                            </m:sSup>
                          </m:e>
                        </m:d>
                      </m:e>
                      <m:sup>
                        <m:r>
                          <a:rPr lang="en-US" altLang="zh-CN" sz="3200" i="1">
                            <a:latin typeface="Cambria Math" panose="02040503050406030204" pitchFamily="18" charset="0"/>
                          </a:rPr>
                          <m:t>−</m:t>
                        </m:r>
                        <m:r>
                          <a:rPr lang="en-US" altLang="zh-CN" sz="3200" i="1">
                            <a:latin typeface="Cambria Math" panose="02040503050406030204" pitchFamily="18" charset="0"/>
                          </a:rPr>
                          <m:t>1</m:t>
                        </m:r>
                      </m:sup>
                    </m:sSup>
                    <m:r>
                      <a:rPr lang="en-US" altLang="zh-CN" sz="3200" i="1">
                        <a:latin typeface="Cambria Math" panose="02040503050406030204" pitchFamily="18" charset="0"/>
                      </a:rPr>
                      <m:t> </m:t>
                    </m:r>
                    <m:r>
                      <a:rPr lang="en-US" altLang="zh-CN" sz="3200" i="1">
                        <a:latin typeface="Cambria Math" panose="02040503050406030204" pitchFamily="18" charset="0"/>
                      </a:rPr>
                      <m:t>𝑚𝑜𝑑</m:t>
                    </m:r>
                    <m:r>
                      <a:rPr lang="en-US" altLang="zh-CN" sz="3200" i="1">
                        <a:latin typeface="Cambria Math" panose="02040503050406030204" pitchFamily="18" charset="0"/>
                      </a:rPr>
                      <m:t> </m:t>
                    </m:r>
                    <m:r>
                      <a:rPr lang="en-US" altLang="zh-CN" sz="3200" i="1">
                        <a:latin typeface="Cambria Math" panose="02040503050406030204" pitchFamily="18" charset="0"/>
                      </a:rPr>
                      <m:t>𝑞</m:t>
                    </m:r>
                    <m:r>
                      <a:rPr lang="zh-CN"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𝑢</m:t>
                        </m:r>
                      </m:e>
                      <m:sub>
                        <m:r>
                          <a:rPr lang="en-US" altLang="zh-CN" sz="3200" i="1">
                            <a:latin typeface="Cambria Math" panose="02040503050406030204" pitchFamily="18" charset="0"/>
                          </a:rPr>
                          <m:t>1</m:t>
                        </m:r>
                      </m:sub>
                    </m:sSub>
                    <m:r>
                      <a:rPr lang="en-US" altLang="zh-CN" sz="3200" i="1">
                        <a:latin typeface="Cambria Math" panose="02040503050406030204" pitchFamily="18" charset="0"/>
                      </a:rPr>
                      <m:t>≡</m:t>
                    </m:r>
                    <m:d>
                      <m:dPr>
                        <m:begChr m:val="["/>
                        <m:endChr m:val="]"/>
                        <m:ctrlPr>
                          <a:rPr lang="zh-CN" altLang="zh-CN" sz="3200" i="1"/>
                        </m:ctrlPr>
                      </m:dPr>
                      <m:e>
                        <m:r>
                          <a:rPr lang="en-US" altLang="zh-CN" sz="3200" i="1">
                            <a:latin typeface="Cambria Math" panose="02040503050406030204" pitchFamily="18" charset="0"/>
                          </a:rPr>
                          <m:t>𝐻</m:t>
                        </m:r>
                        <m:d>
                          <m:dPr>
                            <m:ctrlPr>
                              <a:rPr lang="zh-CN" altLang="zh-CN" sz="3200" i="1"/>
                            </m:ctrlPr>
                          </m:dPr>
                          <m:e>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𝑀</m:t>
                                </m:r>
                              </m:e>
                              <m:sup>
                                <m:r>
                                  <a:rPr lang="en-US" altLang="zh-CN" sz="3200" i="1">
                                    <a:latin typeface="Cambria Math" panose="02040503050406030204" pitchFamily="18" charset="0"/>
                                  </a:rPr>
                                  <m:t>′</m:t>
                                </m:r>
                              </m:sup>
                            </m:sSup>
                          </m:e>
                        </m:d>
                        <m:r>
                          <a:rPr lang="en-US" altLang="zh-CN" sz="3200" i="1">
                            <a:latin typeface="Cambria Math" panose="02040503050406030204" pitchFamily="18" charset="0"/>
                          </a:rPr>
                          <m:t>𝑤</m:t>
                        </m:r>
                      </m:e>
                    </m:d>
                    <m:r>
                      <a:rPr lang="en-US" altLang="zh-CN" sz="3200" i="1">
                        <a:latin typeface="Cambria Math" panose="02040503050406030204" pitchFamily="18" charset="0"/>
                      </a:rPr>
                      <m:t> </m:t>
                    </m:r>
                    <m:r>
                      <a:rPr lang="en-US" altLang="zh-CN" sz="3200" i="1">
                        <a:latin typeface="Cambria Math" panose="02040503050406030204" pitchFamily="18" charset="0"/>
                      </a:rPr>
                      <m:t>𝑚𝑜𝑑</m:t>
                    </m:r>
                    <m:r>
                      <a:rPr lang="en-US" altLang="zh-CN" sz="3200" i="1">
                        <a:latin typeface="Cambria Math" panose="02040503050406030204" pitchFamily="18" charset="0"/>
                      </a:rPr>
                      <m:t> </m:t>
                    </m:r>
                    <m:r>
                      <a:rPr lang="en-US" altLang="zh-CN" sz="3200" i="1">
                        <a:latin typeface="Cambria Math" panose="02040503050406030204" pitchFamily="18" charset="0"/>
                      </a:rPr>
                      <m:t>𝑞</m:t>
                    </m:r>
                  </m:oMath>
                </a14:m>
                <a:endParaRPr lang="en-US" altLang="zh-CN" sz="3200" i="1"/>
              </a:p>
              <a:p>
                <a14:m>
                  <m:oMathPara xmlns:m="http://schemas.openxmlformats.org/officeDocument/2006/math">
                    <m:oMathParaPr>
                      <m:jc m:val="centerGroup"/>
                    </m:oMathParaPr>
                    <m:oMath xmlns:m="http://schemas.openxmlformats.org/officeDocument/2006/math">
                      <m:sSub>
                        <m:sSubPr>
                          <m:ctrlPr>
                            <a:rPr lang="zh-CN" altLang="zh-CN" sz="3200" i="1"/>
                          </m:ctrlPr>
                        </m:sSubPr>
                        <m:e>
                          <m:r>
                            <a:rPr lang="en-US" altLang="zh-CN" sz="3200" i="1">
                              <a:latin typeface="Cambria Math" panose="02040503050406030204" pitchFamily="18" charset="0"/>
                            </a:rPr>
                            <m:t>𝑢</m:t>
                          </m:r>
                        </m:e>
                        <m:sub>
                          <m:r>
                            <a:rPr lang="en-US" altLang="zh-CN" sz="3200" i="1">
                              <a:latin typeface="Cambria Math" panose="02040503050406030204" pitchFamily="18" charset="0"/>
                            </a:rPr>
                            <m:t>2</m:t>
                          </m:r>
                        </m:sub>
                      </m:sSub>
                      <m:r>
                        <a:rPr lang="en-US" altLang="zh-CN" sz="3200" i="1">
                          <a:latin typeface="Cambria Math" panose="02040503050406030204" pitchFamily="18" charset="0"/>
                        </a:rPr>
                        <m:t>≡</m:t>
                      </m:r>
                      <m:r>
                        <a:rPr lang="en-US" altLang="zh-CN" sz="3200" i="1">
                          <a:latin typeface="Cambria Math" panose="02040503050406030204" pitchFamily="18" charset="0"/>
                        </a:rPr>
                        <m:t>𝑟</m:t>
                      </m:r>
                      <m:r>
                        <a:rPr lang="en-US" altLang="zh-CN" sz="3200" i="1">
                          <a:latin typeface="Cambria Math" panose="02040503050406030204" pitchFamily="18" charset="0"/>
                        </a:rPr>
                        <m:t>′ </m:t>
                      </m:r>
                      <m:r>
                        <a:rPr lang="en-US" altLang="zh-CN" sz="3200" i="1">
                          <a:latin typeface="Cambria Math" panose="02040503050406030204" pitchFamily="18" charset="0"/>
                        </a:rPr>
                        <m:t>𝑤</m:t>
                      </m:r>
                      <m:r>
                        <a:rPr lang="en-US" altLang="zh-CN" sz="3200" i="1">
                          <a:latin typeface="Cambria Math" panose="02040503050406030204" pitchFamily="18" charset="0"/>
                        </a:rPr>
                        <m:t> </m:t>
                      </m:r>
                      <m:r>
                        <a:rPr lang="en-US" altLang="zh-CN" sz="3200" i="1">
                          <a:latin typeface="Cambria Math" panose="02040503050406030204" pitchFamily="18" charset="0"/>
                        </a:rPr>
                        <m:t>𝑚𝑜𝑑</m:t>
                      </m:r>
                      <m:r>
                        <a:rPr lang="en-US" altLang="zh-CN" sz="3200" i="1">
                          <a:latin typeface="Cambria Math" panose="02040503050406030204" pitchFamily="18" charset="0"/>
                        </a:rPr>
                        <m:t> </m:t>
                      </m:r>
                      <m:r>
                        <a:rPr lang="en-US" altLang="zh-CN" sz="3200" i="1">
                          <a:latin typeface="Cambria Math" panose="02040503050406030204" pitchFamily="18" charset="0"/>
                        </a:rPr>
                        <m:t>𝑞</m:t>
                      </m:r>
                      <m:r>
                        <a:rPr lang="zh-CN" altLang="zh-CN" sz="3200" i="1">
                          <a:latin typeface="Cambria Math" panose="02040503050406030204" pitchFamily="18" charset="0"/>
                        </a:rPr>
                        <m:t>，</m:t>
                      </m:r>
                      <m:r>
                        <a:rPr lang="en-US" altLang="zh-CN" sz="3200" i="1">
                          <a:latin typeface="Cambria Math" panose="02040503050406030204" pitchFamily="18" charset="0"/>
                        </a:rPr>
                        <m:t>𝑣</m:t>
                      </m:r>
                      <m:r>
                        <a:rPr lang="en-US" altLang="zh-CN" sz="3200" i="1">
                          <a:latin typeface="Cambria Math" panose="02040503050406030204" pitchFamily="18" charset="0"/>
                        </a:rPr>
                        <m:t>≡[(</m:t>
                      </m:r>
                      <m:sSup>
                        <m:sSupPr>
                          <m:ctrlPr>
                            <a:rPr lang="zh-CN" altLang="zh-CN" sz="3200" i="1"/>
                          </m:ctrlPr>
                        </m:sSupPr>
                        <m:e>
                          <m:r>
                            <m:rPr>
                              <m:sty m:val="p"/>
                            </m:rPr>
                            <a:rPr lang="en-US" altLang="zh-CN" sz="3200" i="1" smtClean="0">
                              <a:latin typeface="Cambria Math" panose="02040503050406030204" pitchFamily="18" charset="0"/>
                            </a:rPr>
                            <m:t>g</m:t>
                          </m:r>
                        </m:e>
                        <m:sup>
                          <m:r>
                            <a:rPr lang="en-US" altLang="zh-CN" sz="3200" i="1">
                              <a:latin typeface="Cambria Math" panose="02040503050406030204" pitchFamily="18" charset="0"/>
                            </a:rPr>
                            <m:t>𝑢</m:t>
                          </m:r>
                          <m:r>
                            <a:rPr lang="en-US" altLang="zh-CN" sz="3200" i="1">
                              <a:latin typeface="Cambria Math" panose="02040503050406030204" pitchFamily="18" charset="0"/>
                            </a:rPr>
                            <m:t>1</m:t>
                          </m:r>
                        </m:sup>
                      </m:sSup>
                      <m:sSup>
                        <m:sSupPr>
                          <m:ctrlPr>
                            <a:rPr lang="zh-CN" altLang="zh-CN" sz="3200" i="1"/>
                          </m:ctrlPr>
                        </m:sSupPr>
                        <m:e>
                          <m:r>
                            <a:rPr lang="en-US" altLang="zh-CN" sz="3200" i="1">
                              <a:latin typeface="Cambria Math" panose="02040503050406030204" pitchFamily="18" charset="0"/>
                            </a:rPr>
                            <m:t>𝑦</m:t>
                          </m:r>
                        </m:e>
                        <m:sup>
                          <m:r>
                            <a:rPr lang="en-US" altLang="zh-CN" sz="3200" i="1">
                              <a:latin typeface="Cambria Math" panose="02040503050406030204" pitchFamily="18" charset="0"/>
                            </a:rPr>
                            <m:t>𝑢</m:t>
                          </m:r>
                          <m:r>
                            <a:rPr lang="en-US" altLang="zh-CN" sz="3200" i="1">
                              <a:latin typeface="Cambria Math" panose="02040503050406030204" pitchFamily="18" charset="0"/>
                            </a:rPr>
                            <m:t>2</m:t>
                          </m:r>
                        </m:sup>
                      </m:sSup>
                      <m:r>
                        <a:rPr lang="en-US" altLang="zh-CN" sz="3200" i="1">
                          <a:latin typeface="Cambria Math" panose="02040503050406030204" pitchFamily="18" charset="0"/>
                        </a:rPr>
                        <m:t>) </m:t>
                      </m:r>
                      <m:r>
                        <a:rPr lang="en-US" altLang="zh-CN" sz="3200" i="1">
                          <a:latin typeface="Cambria Math" panose="02040503050406030204" pitchFamily="18" charset="0"/>
                        </a:rPr>
                        <m:t>𝑚𝑜𝑑</m:t>
                      </m:r>
                      <m:r>
                        <a:rPr lang="en-US" altLang="zh-CN" sz="3200" i="1">
                          <a:latin typeface="Cambria Math" panose="02040503050406030204" pitchFamily="18" charset="0"/>
                        </a:rPr>
                        <m:t> </m:t>
                      </m:r>
                      <m:r>
                        <a:rPr lang="en-US" altLang="zh-CN" sz="3200" i="1">
                          <a:latin typeface="Cambria Math" panose="02040503050406030204" pitchFamily="18" charset="0"/>
                        </a:rPr>
                        <m:t>𝑝</m:t>
                      </m:r>
                      <m:r>
                        <a:rPr lang="en-US" altLang="zh-CN" sz="3200" i="1">
                          <a:latin typeface="Cambria Math" panose="02040503050406030204" pitchFamily="18" charset="0"/>
                        </a:rPr>
                        <m:t>] </m:t>
                      </m:r>
                      <m:r>
                        <a:rPr lang="en-US" altLang="zh-CN" sz="3200" i="1">
                          <a:latin typeface="Cambria Math" panose="02040503050406030204" pitchFamily="18" charset="0"/>
                        </a:rPr>
                        <m:t>𝑚𝑜𝑑</m:t>
                      </m:r>
                      <m:r>
                        <a:rPr lang="en-US" altLang="zh-CN" sz="3200" i="1">
                          <a:latin typeface="Cambria Math" panose="02040503050406030204" pitchFamily="18" charset="0"/>
                        </a:rPr>
                        <m:t> </m:t>
                      </m:r>
                      <m:r>
                        <a:rPr lang="en-US" altLang="zh-CN" sz="3200" i="1">
                          <a:latin typeface="Cambria Math" panose="02040503050406030204" pitchFamily="18" charset="0"/>
                        </a:rPr>
                        <m:t>𝑞</m:t>
                      </m:r>
                    </m:oMath>
                  </m:oMathPara>
                </a14:m>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检查</a:t>
                </a:r>
                <a14:m>
                  <m:oMath xmlns:m="http://schemas.openxmlformats.org/officeDocument/2006/math">
                    <m:r>
                      <a:rPr lang="en-US" altLang="zh-CN" sz="3200" i="1">
                        <a:latin typeface="Cambria Math" panose="02040503050406030204" pitchFamily="18" charset="0"/>
                      </a:rPr>
                      <m:t>𝑣</m:t>
                    </m:r>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𝑟</m:t>
                        </m:r>
                      </m:e>
                      <m:sup>
                        <m:r>
                          <a:rPr lang="en-US" altLang="zh-CN" sz="3200" i="1">
                            <a:latin typeface="Cambria Math" panose="02040503050406030204" pitchFamily="18" charset="0"/>
                          </a:rPr>
                          <m:t>′</m:t>
                        </m:r>
                      </m:sup>
                    </m:sSup>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是否成立，成立，则认为签名有效。因为若</a:t>
                </a:r>
                <a14:m>
                  <m:oMath xmlns:m="http://schemas.openxmlformats.org/officeDocument/2006/math">
                    <m:d>
                      <m:dPr>
                        <m:ctrlPr>
                          <a:rPr lang="zh-CN" altLang="zh-CN" sz="3200" i="1"/>
                        </m:ctrlPr>
                      </m:dPr>
                      <m:e>
                        <m:r>
                          <a:rPr lang="en-US" altLang="zh-CN" sz="3200" i="1">
                            <a:latin typeface="Cambria Math" panose="02040503050406030204" pitchFamily="18" charset="0"/>
                          </a:rPr>
                          <m:t>𝑀</m:t>
                        </m:r>
                        <m:r>
                          <a:rPr lang="en-US" altLang="zh-CN" sz="3200" i="1">
                            <a:latin typeface="Cambria Math" panose="02040503050406030204" pitchFamily="18" charset="0"/>
                          </a:rPr>
                          <m:t>′</m:t>
                        </m:r>
                        <m:r>
                          <a:rPr lang="zh-CN" altLang="zh-CN" sz="3200" i="1">
                            <a:latin typeface="Cambria Math" panose="02040503050406030204" pitchFamily="18" charset="0"/>
                          </a:rPr>
                          <m:t>，</m:t>
                        </m:r>
                        <m:r>
                          <a:rPr lang="en-US" altLang="zh-CN" sz="3200" i="1">
                            <a:latin typeface="Cambria Math" panose="02040503050406030204" pitchFamily="18" charset="0"/>
                          </a:rPr>
                          <m:t>𝑟</m:t>
                        </m:r>
                        <m:r>
                          <a:rPr lang="en-US" altLang="zh-CN" sz="3200" i="1">
                            <a:latin typeface="Cambria Math" panose="02040503050406030204" pitchFamily="18" charset="0"/>
                          </a:rPr>
                          <m:t>′</m:t>
                        </m:r>
                        <m:r>
                          <a:rPr lang="zh-CN" altLang="zh-CN" sz="3200" i="1">
                            <a:latin typeface="Cambria Math" panose="02040503050406030204" pitchFamily="18" charset="0"/>
                          </a:rPr>
                          <m:t>，</m:t>
                        </m:r>
                        <m:r>
                          <a:rPr lang="en-US" altLang="zh-CN" sz="3200" i="1">
                            <a:latin typeface="Cambria Math" panose="02040503050406030204" pitchFamily="18" charset="0"/>
                          </a:rPr>
                          <m:t>𝑠</m:t>
                        </m:r>
                        <m:r>
                          <a:rPr lang="en-US" altLang="zh-CN" sz="3200" i="1">
                            <a:latin typeface="Cambria Math" panose="02040503050406030204" pitchFamily="18" charset="0"/>
                          </a:rPr>
                          <m:t>′</m:t>
                        </m:r>
                      </m:e>
                    </m:d>
                    <m:r>
                      <a:rPr lang="en-US" altLang="zh-CN" sz="3200" i="1">
                        <a:latin typeface="Cambria Math" panose="02040503050406030204" pitchFamily="18" charset="0"/>
                      </a:rPr>
                      <m:t>=</m:t>
                    </m:r>
                    <m:d>
                      <m:dPr>
                        <m:ctrlPr>
                          <a:rPr lang="zh-CN" altLang="zh-CN" sz="3200" i="1"/>
                        </m:ctrlPr>
                      </m:dPr>
                      <m:e>
                        <m:r>
                          <a:rPr lang="en-US" altLang="zh-CN" sz="3200" i="1">
                            <a:latin typeface="Cambria Math" panose="02040503050406030204" pitchFamily="18" charset="0"/>
                          </a:rPr>
                          <m:t>𝑀</m:t>
                        </m:r>
                        <m:r>
                          <a:rPr lang="zh-CN" altLang="zh-CN" sz="3200" i="1">
                            <a:latin typeface="Cambria Math" panose="02040503050406030204" pitchFamily="18" charset="0"/>
                          </a:rPr>
                          <m:t>，</m:t>
                        </m:r>
                        <m:r>
                          <a:rPr lang="en-US" altLang="zh-CN" sz="3200" i="1">
                            <a:latin typeface="Cambria Math" panose="02040503050406030204" pitchFamily="18" charset="0"/>
                          </a:rPr>
                          <m:t>𝑟</m:t>
                        </m:r>
                        <m:r>
                          <a:rPr lang="zh-CN" altLang="zh-CN" sz="3200" i="1">
                            <a:latin typeface="Cambria Math" panose="02040503050406030204" pitchFamily="18" charset="0"/>
                          </a:rPr>
                          <m:t>，</m:t>
                        </m:r>
                        <m:r>
                          <a:rPr lang="en-US" altLang="zh-CN" sz="3200" i="1">
                            <a:latin typeface="Cambria Math" panose="02040503050406030204" pitchFamily="18" charset="0"/>
                          </a:rPr>
                          <m:t>𝑠</m:t>
                        </m:r>
                      </m:e>
                    </m:d>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，则有</a:t>
                </a:r>
                <a14:m>
                  <m:oMath xmlns:m="http://schemas.openxmlformats.org/officeDocument/2006/math">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𝑣</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m:t>
                    </m:r>
                    <m:d>
                      <m:dPr>
                        <m:begChr m:val="["/>
                        <m:endChr m:val="]"/>
                        <m:ctrlP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ctrlPr>
                      </m:dPr>
                      <m:e>
                        <m:d>
                          <m:dPr>
                            <m:ctrlP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ctrlPr>
                          </m:dPr>
                          <m:e>
                            <m:sSup>
                              <m:sSupPr>
                                <m:ctrlPr>
                                  <a:rPr lang="en-US" altLang="zh-CN" sz="3200" i="1" smtClean="0">
                                    <a:solidFill>
                                      <a:srgbClr val="000000"/>
                                    </a:solidFill>
                                    <a:latin typeface="Cambria Math" panose="02040503050406030204" pitchFamily="18" charset="0"/>
                                    <a:sym typeface="字由点字典黑 2"/>
                                  </a:rPr>
                                </m:ctrlPr>
                              </m:sSupPr>
                              <m:e>
                                <m:r>
                                  <m:rPr>
                                    <m:nor/>
                                  </m:rPr>
                                  <a:rPr lang="en-US" altLang="zh-CN" sz="3200" i="1">
                                    <a:solidFill>
                                      <a:srgbClr val="000000"/>
                                    </a:solidFill>
                                    <a:latin typeface="Times New Roman" panose="02020603050405020304" pitchFamily="18" charset="0"/>
                                    <a:cs typeface="字由点字典黑 2"/>
                                    <a:sym typeface="字由点字典黑 2"/>
                                  </a:rPr>
                                  <m:t>g</m:t>
                                </m:r>
                              </m:e>
                              <m:sup>
                                <m:r>
                                  <a:rPr lang="en-US" altLang="zh-CN" sz="3200" b="0" i="1" smtClean="0">
                                    <a:solidFill>
                                      <a:srgbClr val="000000"/>
                                    </a:solidFill>
                                    <a:latin typeface="Cambria Math" panose="02040503050406030204" pitchFamily="18" charset="0"/>
                                    <a:sym typeface="字由点字典黑 2"/>
                                  </a:rPr>
                                  <m:t>𝐻</m:t>
                                </m:r>
                                <m:d>
                                  <m:dPr>
                                    <m:ctrlPr>
                                      <a:rPr lang="en-US" altLang="zh-CN" sz="3200" b="0" i="1" smtClean="0">
                                        <a:solidFill>
                                          <a:srgbClr val="000000"/>
                                        </a:solidFill>
                                        <a:latin typeface="Cambria Math" panose="02040503050406030204" pitchFamily="18" charset="0"/>
                                        <a:sym typeface="字由点字典黑 2"/>
                                      </a:rPr>
                                    </m:ctrlPr>
                                  </m:dPr>
                                  <m:e>
                                    <m:r>
                                      <a:rPr lang="en-US" altLang="zh-CN" sz="3200" b="0" i="1" smtClean="0">
                                        <a:solidFill>
                                          <a:srgbClr val="000000"/>
                                        </a:solidFill>
                                        <a:latin typeface="Cambria Math" panose="02040503050406030204" pitchFamily="18" charset="0"/>
                                        <a:sym typeface="字由点字典黑 2"/>
                                      </a:rPr>
                                      <m:t>𝑀</m:t>
                                    </m:r>
                                  </m:e>
                                </m:d>
                                <m:r>
                                  <a:rPr lang="en-US" altLang="zh-CN" sz="3200" b="0" i="1" smtClean="0">
                                    <a:solidFill>
                                      <a:srgbClr val="000000"/>
                                    </a:solidFill>
                                    <a:latin typeface="Cambria Math" panose="02040503050406030204" pitchFamily="18" charset="0"/>
                                    <a:sym typeface="字由点字典黑 2"/>
                                  </a:rPr>
                                  <m:t>𝑤</m:t>
                                </m:r>
                              </m:sup>
                            </m:sSup>
                            <m:sSup>
                              <m:sSupPr>
                                <m:ctrlPr>
                                  <a:rPr lang="en-US" altLang="zh-CN" sz="3200" i="1" smtClean="0">
                                    <a:solidFill>
                                      <a:srgbClr val="000000"/>
                                    </a:solidFill>
                                    <a:latin typeface="Cambria Math" panose="02040503050406030204" pitchFamily="18" charset="0"/>
                                    <a:sym typeface="字由点字典黑 2"/>
                                  </a:rPr>
                                </m:ctrlPr>
                              </m:sSupPr>
                              <m:e>
                                <m:r>
                                  <m:rPr>
                                    <m:nor/>
                                  </m:rPr>
                                  <a:rPr lang="en-US" altLang="zh-CN" sz="3200" i="1">
                                    <a:solidFill>
                                      <a:srgbClr val="000000"/>
                                    </a:solidFill>
                                    <a:latin typeface="Times New Roman" panose="02020603050405020304" pitchFamily="18" charset="0"/>
                                    <a:cs typeface="字由点字典黑 2"/>
                                    <a:sym typeface="字由点字典黑 2"/>
                                  </a:rPr>
                                  <m:t>g</m:t>
                                </m:r>
                              </m:e>
                              <m:sup>
                                <m:r>
                                  <a:rPr lang="en-US" altLang="zh-CN" sz="3200" b="0" i="1" smtClean="0">
                                    <a:solidFill>
                                      <a:srgbClr val="000000"/>
                                    </a:solidFill>
                                    <a:latin typeface="Cambria Math" panose="02040503050406030204" pitchFamily="18" charset="0"/>
                                    <a:sym typeface="字由点字典黑 2"/>
                                  </a:rPr>
                                  <m:t>𝑥𝑟𝑤</m:t>
                                </m:r>
                              </m:sup>
                            </m:sSup>
                          </m:e>
                        </m:d>
                        <m:r>
                          <a:rPr lang="en-US" altLang="zh-CN" sz="3200" b="0" i="1" smtClean="0">
                            <a:solidFill>
                              <a:srgbClr val="000000"/>
                            </a:solidFill>
                            <a:latin typeface="Cambria Math" panose="02040503050406030204" pitchFamily="18" charset="0"/>
                            <a:sym typeface="字由点字典黑 2"/>
                          </a:rPr>
                          <m:t>𝑚𝑜𝑑</m:t>
                        </m:r>
                        <m:r>
                          <a:rPr lang="en-US" altLang="zh-CN" sz="3200" b="0" i="1" smtClean="0">
                            <a:solidFill>
                              <a:srgbClr val="000000"/>
                            </a:solidFill>
                            <a:latin typeface="Cambria Math" panose="02040503050406030204" pitchFamily="18" charset="0"/>
                            <a:sym typeface="字由点字典黑 2"/>
                          </a:rPr>
                          <m:t> </m:t>
                        </m:r>
                        <m:r>
                          <a:rPr lang="en-US" altLang="zh-CN" sz="3200" b="0" i="1" smtClean="0">
                            <a:solidFill>
                              <a:srgbClr val="000000"/>
                            </a:solidFill>
                            <a:latin typeface="Cambria Math" panose="02040503050406030204" pitchFamily="18" charset="0"/>
                            <a:sym typeface="字由点字典黑 2"/>
                          </a:rPr>
                          <m:t>𝑝</m:t>
                        </m:r>
                      </m:e>
                    </m:d>
                    <m:r>
                      <a:rPr lang="en-US" altLang="zh-CN" sz="3200" b="0" i="1" smtClean="0">
                        <a:solidFill>
                          <a:srgbClr val="000000"/>
                        </a:solidFill>
                        <a:latin typeface="Cambria Math" panose="02040503050406030204" pitchFamily="18" charset="0"/>
                        <a:sym typeface="字由点字典黑 2"/>
                      </a:rPr>
                      <m:t>𝑚𝑜𝑑</m:t>
                    </m:r>
                    <m:r>
                      <a:rPr lang="en-US" altLang="zh-CN" sz="3200" b="0" i="1" smtClean="0">
                        <a:solidFill>
                          <a:srgbClr val="000000"/>
                        </a:solidFill>
                        <a:latin typeface="Cambria Math" panose="02040503050406030204" pitchFamily="18" charset="0"/>
                        <a:sym typeface="字由点字典黑 2"/>
                      </a:rPr>
                      <m:t> </m:t>
                    </m:r>
                    <m:r>
                      <a:rPr lang="en-US" altLang="zh-CN" sz="3200" b="0" i="1" smtClean="0">
                        <a:solidFill>
                          <a:srgbClr val="000000"/>
                        </a:solidFill>
                        <a:latin typeface="Cambria Math" panose="02040503050406030204" pitchFamily="18" charset="0"/>
                        <a:sym typeface="字由点字典黑 2"/>
                      </a:rPr>
                      <m:t>𝑞</m:t>
                    </m:r>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m:t>
                    </m:r>
                    <m:d>
                      <m:dPr>
                        <m:begChr m:val="["/>
                        <m:endChr m:val="]"/>
                        <m:ctrlP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ctrlPr>
                      </m:dPr>
                      <m:e>
                        <m:sSup>
                          <m:sSupPr>
                            <m:ctrlP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ctrlPr>
                          </m:sSupPr>
                          <m:e>
                            <m:r>
                              <m:rPr>
                                <m:nor/>
                              </m:rPr>
                              <a:rPr lang="en-US" altLang="zh-CN" sz="3200" i="1">
                                <a:solidFill>
                                  <a:srgbClr val="000000"/>
                                </a:solidFill>
                                <a:latin typeface="Times New Roman" panose="02020603050405020304" pitchFamily="18" charset="0"/>
                                <a:cs typeface="字由点字典黑 2"/>
                                <a:sym typeface="字由点字典黑 2"/>
                              </a:rPr>
                              <m:t>g</m:t>
                            </m:r>
                          </m:e>
                          <m:sup>
                            <m:d>
                              <m:dPr>
                                <m:ctrlP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ctrlPr>
                              </m:dPr>
                              <m:e>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𝐻</m:t>
                                </m:r>
                                <m:d>
                                  <m:dPr>
                                    <m:ctrlP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ctrlPr>
                                  </m:dPr>
                                  <m:e>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𝑀</m:t>
                                    </m:r>
                                  </m:e>
                                </m:d>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m:t>
                                </m:r>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𝑥𝑟</m:t>
                                </m:r>
                              </m:e>
                            </m:d>
                            <m:sSup>
                              <m:sSupPr>
                                <m:ctrlP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ctrlPr>
                              </m:sSupPr>
                              <m:e>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𝑠</m:t>
                                </m:r>
                              </m:e>
                              <m:sup>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m:t>
                                </m:r>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1</m:t>
                                </m:r>
                              </m:sup>
                            </m:sSup>
                          </m:sup>
                        </m:sSup>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𝑚𝑜𝑑</m:t>
                        </m:r>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 </m:t>
                        </m:r>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𝑝</m:t>
                        </m:r>
                      </m:e>
                    </m:d>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𝑚𝑜𝑑</m:t>
                    </m:r>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 </m:t>
                    </m:r>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𝑞</m:t>
                    </m:r>
                  </m:oMath>
                </a14:m>
                <a:endPar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    </a:t>
                </a:r>
                <a14:m>
                  <m:oMath xmlns:m="http://schemas.openxmlformats.org/officeDocument/2006/math">
                    <m:r>
                      <a:rPr lang="zh-CN" altLang="en-US" sz="3200" i="1" smtClean="0">
                        <a:solidFill>
                          <a:srgbClr val="000000"/>
                        </a:solidFill>
                        <a:latin typeface="Cambria Math" panose="02040503050406030204" pitchFamily="18" charset="0"/>
                        <a:ea typeface="宋体" panose="02010600030101010101" pitchFamily="2" charset="-122"/>
                        <a:cs typeface="字由点字典黑 2"/>
                        <a:sym typeface="字由点字典黑 2"/>
                      </a:rPr>
                      <m:t>≡</m:t>
                    </m:r>
                    <m:d>
                      <m:dPr>
                        <m:ctrlPr>
                          <a:rPr lang="en-US" altLang="zh-CN" sz="3200" b="0" i="1" smtClean="0">
                            <a:solidFill>
                              <a:srgbClr val="000000"/>
                            </a:solidFill>
                            <a:latin typeface="Cambria Math" panose="02040503050406030204" pitchFamily="18" charset="0"/>
                            <a:ea typeface="宋体" panose="02010600030101010101" pitchFamily="2" charset="-122"/>
                            <a:sym typeface="字由点字典黑 2"/>
                          </a:rPr>
                        </m:ctrlPr>
                      </m:dPr>
                      <m:e>
                        <m:sSup>
                          <m:sSupPr>
                            <m:ctrlPr>
                              <a:rPr lang="en-US" altLang="zh-CN" sz="3200" b="0" i="1" smtClean="0">
                                <a:solidFill>
                                  <a:srgbClr val="000000"/>
                                </a:solidFill>
                                <a:latin typeface="Cambria Math" panose="02040503050406030204" pitchFamily="18" charset="0"/>
                                <a:ea typeface="宋体" panose="02010600030101010101" pitchFamily="2" charset="-122"/>
                                <a:sym typeface="字由点字典黑 2"/>
                              </a:rPr>
                            </m:ctrlPr>
                          </m:sSupPr>
                          <m:e>
                            <m:r>
                              <m:rPr>
                                <m:nor/>
                              </m:rPr>
                              <a:rPr lang="en-US" altLang="zh-CN" sz="3200" i="1">
                                <a:solidFill>
                                  <a:srgbClr val="000000"/>
                                </a:solidFill>
                                <a:latin typeface="Times New Roman" panose="02020603050405020304" pitchFamily="18" charset="0"/>
                                <a:cs typeface="字由点字典黑 2"/>
                                <a:sym typeface="字由点字典黑 2"/>
                              </a:rPr>
                              <m:t>g</m:t>
                            </m:r>
                          </m:e>
                          <m:sup>
                            <m:r>
                              <a:rPr lang="en-US" altLang="zh-CN" sz="3200" b="0" i="1" smtClean="0">
                                <a:solidFill>
                                  <a:srgbClr val="000000"/>
                                </a:solidFill>
                                <a:latin typeface="Cambria Math" panose="02040503050406030204" pitchFamily="18" charset="0"/>
                                <a:ea typeface="宋体" panose="02010600030101010101" pitchFamily="2" charset="-122"/>
                                <a:sym typeface="字由点字典黑 2"/>
                              </a:rPr>
                              <m:t>𝑘</m:t>
                            </m:r>
                          </m:sup>
                        </m:sSup>
                        <m:r>
                          <a:rPr lang="en-US" altLang="zh-CN" sz="3200" b="0" i="1" smtClean="0">
                            <a:solidFill>
                              <a:srgbClr val="000000"/>
                            </a:solidFill>
                            <a:latin typeface="Cambria Math" panose="02040503050406030204" pitchFamily="18" charset="0"/>
                            <a:ea typeface="宋体" panose="02010600030101010101" pitchFamily="2" charset="-122"/>
                            <a:sym typeface="字由点字典黑 2"/>
                          </a:rPr>
                          <m:t>𝑚𝑜𝑑</m:t>
                        </m:r>
                        <m:r>
                          <a:rPr lang="en-US" altLang="zh-CN" sz="3200" b="0" i="1" smtClean="0">
                            <a:solidFill>
                              <a:srgbClr val="000000"/>
                            </a:solidFill>
                            <a:latin typeface="Cambria Math" panose="02040503050406030204" pitchFamily="18" charset="0"/>
                            <a:ea typeface="宋体" panose="02010600030101010101" pitchFamily="2" charset="-122"/>
                            <a:sym typeface="字由点字典黑 2"/>
                          </a:rPr>
                          <m:t> </m:t>
                        </m:r>
                        <m:r>
                          <a:rPr lang="en-US" altLang="zh-CN" sz="3200" b="0" i="1" smtClean="0">
                            <a:solidFill>
                              <a:srgbClr val="000000"/>
                            </a:solidFill>
                            <a:latin typeface="Cambria Math" panose="02040503050406030204" pitchFamily="18" charset="0"/>
                            <a:ea typeface="宋体" panose="02010600030101010101" pitchFamily="2" charset="-122"/>
                            <a:sym typeface="字由点字典黑 2"/>
                          </a:rPr>
                          <m:t>𝑝</m:t>
                        </m:r>
                      </m:e>
                    </m:d>
                    <m:r>
                      <a:rPr lang="en-US" altLang="zh-CN" sz="3200" b="0" i="1" smtClean="0">
                        <a:solidFill>
                          <a:srgbClr val="000000"/>
                        </a:solidFill>
                        <a:latin typeface="Cambria Math" panose="02040503050406030204" pitchFamily="18" charset="0"/>
                        <a:ea typeface="宋体" panose="02010600030101010101" pitchFamily="2" charset="-122"/>
                        <a:sym typeface="字由点字典黑 2"/>
                      </a:rPr>
                      <m:t>𝑚𝑜𝑑</m:t>
                    </m:r>
                    <m:r>
                      <a:rPr lang="en-US" altLang="zh-CN" sz="3200" b="0" i="1" smtClean="0">
                        <a:solidFill>
                          <a:srgbClr val="000000"/>
                        </a:solidFill>
                        <a:latin typeface="Cambria Math" panose="02040503050406030204" pitchFamily="18" charset="0"/>
                        <a:ea typeface="宋体" panose="02010600030101010101" pitchFamily="2" charset="-122"/>
                        <a:sym typeface="字由点字典黑 2"/>
                      </a:rPr>
                      <m:t> </m:t>
                    </m:r>
                    <m:r>
                      <a:rPr lang="en-US" altLang="zh-CN" sz="3200" b="0" i="1" smtClean="0">
                        <a:solidFill>
                          <a:srgbClr val="000000"/>
                        </a:solidFill>
                        <a:latin typeface="Cambria Math" panose="02040503050406030204" pitchFamily="18" charset="0"/>
                        <a:ea typeface="宋体" panose="02010600030101010101" pitchFamily="2" charset="-122"/>
                        <a:sym typeface="字由点字典黑 2"/>
                      </a:rPr>
                      <m:t>𝑞</m:t>
                    </m:r>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m:t>
                    </m:r>
                    <m:r>
                      <a:rPr lang="en-US" altLang="zh-CN" sz="3200" b="0" i="1" smtClean="0">
                        <a:solidFill>
                          <a:srgbClr val="000000"/>
                        </a:solidFill>
                        <a:latin typeface="Cambria Math" panose="02040503050406030204" pitchFamily="18" charset="0"/>
                        <a:ea typeface="Cambria Math" panose="02040503050406030204" pitchFamily="18" charset="0"/>
                        <a:sym typeface="字由点字典黑 2"/>
                      </a:rPr>
                      <m:t>𝑟</m:t>
                    </m:r>
                  </m:oMath>
                </a14:m>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13.3</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11" name="TextBox 29"/>
              <p:cNvSpPr txBox="1">
                <a:spLocks noRot="1" noChangeAspect="1" noMove="1" noResize="1" noEditPoints="1" noAdjustHandles="1" noChangeArrowheads="1" noChangeShapeType="1" noTextEdit="1"/>
              </p:cNvSpPr>
              <p:nvPr/>
            </p:nvSpPr>
            <p:spPr>
              <a:xfrm>
                <a:off x="1524084" y="1867074"/>
                <a:ext cx="15434754" cy="7261924"/>
              </a:xfrm>
              <a:prstGeom prst="rect">
                <a:avLst/>
              </a:prstGeom>
              <a:blipFill rotWithShape="1">
                <a:blip r:embed="rId1"/>
                <a:stretch>
                  <a:fillRect l="-1" t="-2" r="-1852" b="-2314"/>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3" name="组合 12"/>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graphicFrame>
        <p:nvGraphicFramePr>
          <p:cNvPr id="21" name="对象 20"/>
          <p:cNvGraphicFramePr>
            <a:graphicFrameLocks noChangeAspect="1"/>
          </p:cNvGraphicFramePr>
          <p:nvPr/>
        </p:nvGraphicFramePr>
        <p:xfrm>
          <a:off x="6933969" y="5372231"/>
          <a:ext cx="814719" cy="566761"/>
        </p:xfrm>
        <a:graphic>
          <a:graphicData uri="http://schemas.openxmlformats.org/presentationml/2006/ole">
            <mc:AlternateContent xmlns:mc="http://schemas.openxmlformats.org/markup-compatibility/2006">
              <mc:Choice xmlns:v="urn:schemas-microsoft-com:vml" Requires="v">
                <p:oleObj spid="_x0000_s0" name="" r:id="rId3" imgW="203200" imgH="152400" progId="Equation.DSMT4">
                  <p:embed/>
                </p:oleObj>
              </mc:Choice>
              <mc:Fallback>
                <p:oleObj name="" r:id="rId3" imgW="203200" imgH="1524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3969" y="5372231"/>
                        <a:ext cx="814719" cy="566761"/>
                      </a:xfrm>
                      <a:prstGeom prst="rect">
                        <a:avLst/>
                      </a:prstGeom>
                      <a:noFill/>
                    </p:spPr>
                  </p:pic>
                </p:oleObj>
              </mc:Fallback>
            </mc:AlternateContent>
          </a:graphicData>
        </a:graphic>
      </p:graphicFrame>
      <p:grpSp>
        <p:nvGrpSpPr>
          <p:cNvPr id="35" name="Group 2"/>
          <p:cNvGrpSpPr/>
          <p:nvPr/>
        </p:nvGrpSpPr>
        <p:grpSpPr>
          <a:xfrm>
            <a:off x="412090" y="1028700"/>
            <a:ext cx="7800783" cy="275915"/>
            <a:chOff x="0" y="0"/>
            <a:chExt cx="2054527" cy="72669"/>
          </a:xfrm>
        </p:grpSpPr>
        <p:sp>
          <p:nvSpPr>
            <p:cNvPr id="36"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7"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8" name="TextBox 30"/>
          <p:cNvSpPr txBox="1"/>
          <p:nvPr/>
        </p:nvSpPr>
        <p:spPr>
          <a:xfrm>
            <a:off x="250468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en-US" altLang="zh-CN"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DSS</a:t>
            </a:r>
            <a:r>
              <a:rPr kumimoji="0" lang="zh-CN" altLang="en-US"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标准</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39" name="TextBox 31"/>
          <p:cNvSpPr txBox="1"/>
          <p:nvPr/>
        </p:nvSpPr>
        <p:spPr>
          <a:xfrm>
            <a:off x="1371600"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40" name="图片 2"/>
          <p:cNvPicPr>
            <a:picLocks noChangeAspect="1"/>
          </p:cNvPicPr>
          <p:nvPr/>
        </p:nvPicPr>
        <p:blipFill>
          <a:blip r:embed="rId5">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TextBox 29"/>
              <p:cNvSpPr txBox="1"/>
              <p:nvPr/>
            </p:nvSpPr>
            <p:spPr>
              <a:xfrm>
                <a:off x="1734904" y="1530313"/>
                <a:ext cx="15123897" cy="4589974"/>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例</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13.1</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　设 </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p = </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23</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q</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 11</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 ，其中，</a:t>
                </a:r>
                <a:r>
                  <a:rPr lang="en-US" altLang="zh-CN"/>
                  <a:t> </a:t>
                </a:r>
                <a14:m>
                  <m:oMath xmlns:m="http://schemas.openxmlformats.org/officeDocument/2006/math">
                    <m:r>
                      <a:rPr lang="en-US" altLang="zh-CN" sz="3200" i="1">
                        <a:latin typeface="Cambria Math" panose="02040503050406030204" pitchFamily="18" charset="0"/>
                      </a:rPr>
                      <m:t>(</m:t>
                    </m:r>
                    <m:r>
                      <a:rPr lang="en-US" altLang="zh-CN" sz="3200" i="1">
                        <a:latin typeface="Cambria Math" panose="02040503050406030204" pitchFamily="18" charset="0"/>
                      </a:rPr>
                      <m:t>𝑝</m:t>
                    </m:r>
                    <m:r>
                      <a:rPr lang="en-US" altLang="zh-CN" sz="3200" i="1">
                        <a:latin typeface="Cambria Math" panose="02040503050406030204" pitchFamily="18" charset="0"/>
                      </a:rPr>
                      <m:t>−</m:t>
                    </m:r>
                    <m:r>
                      <a:rPr lang="en-US" altLang="zh-CN" sz="3200" i="1">
                        <a:latin typeface="Cambria Math" panose="02040503050406030204" pitchFamily="18" charset="0"/>
                      </a:rPr>
                      <m:t>1</m:t>
                    </m:r>
                    <m:r>
                      <a:rPr lang="en-US" altLang="zh-CN" sz="3200" i="1">
                        <a:latin typeface="Cambria Math" panose="02040503050406030204" pitchFamily="18" charset="0"/>
                      </a:rPr>
                      <m:t>)/</m:t>
                    </m:r>
                    <m:r>
                      <a:rPr lang="en-US" altLang="zh-CN" sz="3200" i="1">
                        <a:latin typeface="Cambria Math" panose="02040503050406030204" pitchFamily="18" charset="0"/>
                      </a:rPr>
                      <m:t>𝑞</m:t>
                    </m:r>
                    <m:r>
                      <a:rPr lang="en-US" altLang="zh-CN" sz="3200" i="1">
                        <a:latin typeface="Cambria Math" panose="02040503050406030204" pitchFamily="18" charset="0"/>
                      </a:rPr>
                      <m:t>=</m:t>
                    </m:r>
                    <m:r>
                      <a:rPr lang="en-US" altLang="zh-CN" sz="3200" i="1">
                        <a:latin typeface="Cambria Math" panose="02040503050406030204" pitchFamily="18" charset="0"/>
                      </a:rPr>
                      <m:t>2</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。选择随机数</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h</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 = 12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，计算</a:t>
                </a:r>
                <a14:m>
                  <m:oMath xmlns:m="http://schemas.openxmlformats.org/officeDocument/2006/math">
                    <m:r>
                      <m:rPr>
                        <m:nor/>
                      </m:rPr>
                      <a:rPr lang="en-US" altLang="zh-CN" sz="3200" i="1">
                        <a:solidFill>
                          <a:srgbClr val="000000"/>
                        </a:solidFill>
                        <a:latin typeface="Times New Roman" panose="02020603050405020304" pitchFamily="18" charset="0"/>
                        <a:cs typeface="字由点字典黑 2"/>
                        <a:sym typeface="字由点字典黑 2"/>
                      </a:rPr>
                      <m:t>g</m:t>
                    </m:r>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ℎ</m:t>
                        </m:r>
                      </m:e>
                      <m:sup>
                        <m:d>
                          <m:dPr>
                            <m:ctrlPr>
                              <a:rPr lang="zh-CN" altLang="zh-CN" sz="3200" i="1"/>
                            </m:ctrlPr>
                          </m:dPr>
                          <m:e>
                            <m:r>
                              <a:rPr lang="en-US" altLang="zh-CN" sz="3200" i="1">
                                <a:latin typeface="Cambria Math" panose="02040503050406030204" pitchFamily="18" charset="0"/>
                              </a:rPr>
                              <m:t>𝑝</m:t>
                            </m:r>
                            <m:r>
                              <a:rPr lang="en-US" altLang="zh-CN" sz="3200" i="1">
                                <a:latin typeface="Cambria Math" panose="02040503050406030204" pitchFamily="18" charset="0"/>
                              </a:rPr>
                              <m:t>−</m:t>
                            </m:r>
                            <m:r>
                              <a:rPr lang="en-US" altLang="zh-CN" sz="3200" i="1">
                                <a:latin typeface="Cambria Math" panose="02040503050406030204" pitchFamily="18" charset="0"/>
                              </a:rPr>
                              <m:t>1</m:t>
                            </m:r>
                          </m:e>
                        </m:d>
                        <m:r>
                          <a:rPr lang="en-US" altLang="zh-CN" sz="3200" i="1">
                            <a:latin typeface="Cambria Math" panose="02040503050406030204" pitchFamily="18" charset="0"/>
                          </a:rPr>
                          <m:t>/</m:t>
                        </m:r>
                        <m:r>
                          <a:rPr lang="en-US" altLang="zh-CN" sz="3200" i="1">
                            <a:latin typeface="Cambria Math" panose="02040503050406030204" pitchFamily="18" charset="0"/>
                          </a:rPr>
                          <m:t>𝑞</m:t>
                        </m:r>
                      </m:sup>
                    </m:sSup>
                    <m:r>
                      <a:rPr lang="en-US" altLang="zh-CN" sz="3200" i="1">
                        <a:latin typeface="Cambria Math" panose="02040503050406030204" pitchFamily="18" charset="0"/>
                      </a:rPr>
                      <m:t> </m:t>
                    </m:r>
                    <m:r>
                      <m:rPr>
                        <m:nor/>
                      </m:rPr>
                      <a:rPr lang="en-US" altLang="zh-CN" sz="3200">
                        <a:latin typeface="Cambria Math" panose="02040503050406030204" pitchFamily="18" charset="0"/>
                      </a:rPr>
                      <m:t>mod</m:t>
                    </m:r>
                    <m:r>
                      <m:rPr>
                        <m:nor/>
                      </m:rPr>
                      <a:rPr lang="en-US" altLang="zh-CN" sz="3200">
                        <a:latin typeface="Cambria Math" panose="02040503050406030204" pitchFamily="18" charset="0"/>
                      </a:rPr>
                      <m:t> </m:t>
                    </m:r>
                    <m:r>
                      <a:rPr lang="en-US" altLang="zh-CN" sz="3200" i="1">
                        <a:latin typeface="Cambria Math" panose="02040503050406030204" pitchFamily="18" charset="0"/>
                      </a:rPr>
                      <m:t>𝑝</m:t>
                    </m:r>
                    <m:r>
                      <a:rPr lang="en-US" altLang="zh-CN" sz="3200">
                        <a:latin typeface="Cambria Math" panose="02040503050406030204" pitchFamily="18" charset="0"/>
                      </a:rPr>
                      <m:t>≡</m:t>
                    </m:r>
                    <m:r>
                      <a:rPr lang="en-US" altLang="zh-CN" sz="3200" i="1">
                        <a:latin typeface="Cambria Math" panose="02040503050406030204" pitchFamily="18" charset="0"/>
                      </a:rPr>
                      <m:t>1</m:t>
                    </m:r>
                    <m:sSup>
                      <m:sSupPr>
                        <m:ctrlPr>
                          <a:rPr lang="zh-CN" altLang="zh-CN" sz="3200" i="1"/>
                        </m:ctrlPr>
                      </m:sSupPr>
                      <m:e>
                        <m:r>
                          <a:rPr lang="en-US" altLang="zh-CN" sz="3200" i="1">
                            <a:latin typeface="Cambria Math" panose="02040503050406030204" pitchFamily="18" charset="0"/>
                          </a:rPr>
                          <m:t>2</m:t>
                        </m:r>
                      </m:e>
                      <m:sup>
                        <m:r>
                          <a:rPr lang="en-US" altLang="zh-CN" sz="3200" i="1">
                            <a:latin typeface="Cambria Math" panose="02040503050406030204" pitchFamily="18" charset="0"/>
                          </a:rPr>
                          <m:t>2</m:t>
                        </m:r>
                      </m:sup>
                    </m:sSup>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2</m:t>
                        </m:r>
                        <m:r>
                          <a:rPr lang="en-US" altLang="zh-CN" sz="3200" b="0" i="1" smtClean="0">
                            <a:latin typeface="Cambria Math" panose="02040503050406030204" pitchFamily="18" charset="0"/>
                          </a:rPr>
                          <m:t>3</m:t>
                        </m:r>
                      </m:e>
                    </m:func>
                    <m:r>
                      <a:rPr lang="en-US" altLang="zh-CN" sz="3200" i="1">
                        <a:latin typeface="Cambria Math" panose="02040503050406030204" pitchFamily="18" charset="0"/>
                      </a:rPr>
                      <m:t>≡</m:t>
                    </m:r>
                    <m:r>
                      <a:rPr lang="en-US" altLang="zh-CN" sz="3200" i="1">
                        <a:latin typeface="Cambria Math" panose="02040503050406030204" pitchFamily="18" charset="0"/>
                      </a:rPr>
                      <m:t>6</m:t>
                    </m:r>
                  </m:oMath>
                </a14:m>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因为</a:t>
                </a:r>
                <a14:m>
                  <m:oMath xmlns:m="http://schemas.openxmlformats.org/officeDocument/2006/math">
                    <m:r>
                      <m:rPr>
                        <m:nor/>
                      </m:rPr>
                      <a:rPr lang="en-US" altLang="zh-CN" sz="3600" i="1">
                        <a:solidFill>
                          <a:srgbClr val="000000"/>
                        </a:solidFill>
                        <a:latin typeface="Times New Roman" panose="02020603050405020304" pitchFamily="18" charset="0"/>
                        <a:cs typeface="字由点字典黑 2"/>
                        <a:sym typeface="字由点字典黑 2"/>
                      </a:rPr>
                      <m:t>g</m:t>
                    </m:r>
                    <m:r>
                      <a:rPr lang="en-US" altLang="zh-CN" sz="3200" i="1">
                        <a:latin typeface="Cambria Math" panose="02040503050406030204" pitchFamily="18" charset="0"/>
                      </a:rPr>
                      <m:t>≠</m:t>
                    </m:r>
                    <m:r>
                      <a:rPr lang="en-US" altLang="zh-CN" sz="3200" i="1">
                        <a:latin typeface="Cambria Math" panose="02040503050406030204" pitchFamily="18" charset="0"/>
                      </a:rPr>
                      <m:t>1</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，所以</a:t>
                </a:r>
                <a14:m>
                  <m:oMath xmlns:m="http://schemas.openxmlformats.org/officeDocument/2006/math">
                    <m:r>
                      <m:rPr>
                        <m:nor/>
                      </m:rPr>
                      <a:rPr lang="en-US" altLang="zh-CN" sz="3600" i="1">
                        <a:solidFill>
                          <a:srgbClr val="000000"/>
                        </a:solidFill>
                        <a:latin typeface="Times New Roman" panose="02020603050405020304" pitchFamily="18" charset="0"/>
                        <a:cs typeface="字由点字典黑 2"/>
                        <a:sym typeface="字由点字典黑 2"/>
                      </a:rPr>
                      <m:t>g</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生成    中的一个</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q</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阶循环子群。接着选择随机数</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 =10</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 满足</a:t>
                </a:r>
                <a14:m>
                  <m:oMath xmlns:m="http://schemas.openxmlformats.org/officeDocument/2006/math">
                    <m:r>
                      <a:rPr lang="en-US" altLang="zh-CN" sz="3200" b="0" i="1" smtClean="0">
                        <a:solidFill>
                          <a:srgbClr val="000000"/>
                        </a:solidFill>
                        <a:latin typeface="Cambria Math" panose="02040503050406030204" pitchFamily="18" charset="0"/>
                        <a:ea typeface="宋体" panose="02010600030101010101" pitchFamily="2" charset="-122"/>
                        <a:cs typeface="字由点字典黑 2"/>
                        <a:sym typeface="字由点字典黑 2"/>
                      </a:rPr>
                      <m:t>1</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𝑥</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𝑞</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m:t>
                    </m:r>
                    <m:r>
                      <a:rPr lang="en-US" altLang="zh-CN" sz="3200" b="0" i="1" smtClean="0">
                        <a:solidFill>
                          <a:srgbClr val="000000"/>
                        </a:solidFill>
                        <a:latin typeface="Cambria Math" panose="02040503050406030204" pitchFamily="18" charset="0"/>
                        <a:ea typeface="Cambria Math" panose="02040503050406030204" pitchFamily="18" charset="0"/>
                        <a:cs typeface="字由点字典黑 2"/>
                        <a:sym typeface="字由点字典黑 2"/>
                      </a:rPr>
                      <m:t>1</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，并计算</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13.5</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则公钥为 </a:t>
                </a:r>
                <a14:m>
                  <m:oMath xmlns:m="http://schemas.openxmlformats.org/officeDocument/2006/math">
                    <m:r>
                      <a:rPr lang="en-US" altLang="zh-CN" sz="3200" i="1">
                        <a:latin typeface="Cambria Math" panose="02040503050406030204" pitchFamily="18" charset="0"/>
                      </a:rPr>
                      <m:t>(</m:t>
                    </m:r>
                    <m:r>
                      <a:rPr lang="en-US" altLang="zh-CN" sz="3200" i="1">
                        <a:latin typeface="Cambria Math" panose="02040503050406030204" pitchFamily="18" charset="0"/>
                      </a:rPr>
                      <m:t>𝑝</m:t>
                    </m:r>
                    <m:r>
                      <a:rPr lang="en-US" altLang="zh-CN" sz="3200" i="1">
                        <a:latin typeface="Cambria Math" panose="02040503050406030204" pitchFamily="18" charset="0"/>
                      </a:rPr>
                      <m:t>=</m:t>
                    </m:r>
                    <m:r>
                      <a:rPr lang="en-US" altLang="zh-CN" sz="3200" i="1">
                        <a:latin typeface="Cambria Math" panose="02040503050406030204" pitchFamily="18" charset="0"/>
                      </a:rPr>
                      <m:t>23</m:t>
                    </m:r>
                    <m:r>
                      <a:rPr lang="zh-CN" altLang="zh-CN" sz="3200" i="1">
                        <a:latin typeface="Cambria Math" panose="02040503050406030204" pitchFamily="18" charset="0"/>
                      </a:rPr>
                      <m:t>，</m:t>
                    </m:r>
                    <m:r>
                      <a:rPr lang="en-US" altLang="zh-CN" sz="3200" i="1">
                        <a:latin typeface="Cambria Math" panose="02040503050406030204" pitchFamily="18" charset="0"/>
                      </a:rPr>
                      <m:t>𝑞</m:t>
                    </m:r>
                    <m:r>
                      <a:rPr lang="en-US" altLang="zh-CN" sz="3200" i="1">
                        <a:latin typeface="Cambria Math" panose="02040503050406030204" pitchFamily="18" charset="0"/>
                      </a:rPr>
                      <m:t>=</m:t>
                    </m:r>
                    <m:r>
                      <a:rPr lang="en-US" altLang="zh-CN" sz="3200" i="1">
                        <a:latin typeface="Cambria Math" panose="02040503050406030204" pitchFamily="18" charset="0"/>
                      </a:rPr>
                      <m:t>11</m:t>
                    </m:r>
                    <m:r>
                      <a:rPr lang="zh-CN" altLang="zh-CN" sz="3200" i="1">
                        <a:latin typeface="Cambria Math" panose="02040503050406030204" pitchFamily="18" charset="0"/>
                      </a:rPr>
                      <m:t>，</m:t>
                    </m:r>
                    <m:r>
                      <m:rPr>
                        <m:sty m:val="p"/>
                      </m:rPr>
                      <a:rPr lang="en-US" altLang="zh-CN" sz="3200" i="1" smtClean="0">
                        <a:latin typeface="Cambria Math" panose="02040503050406030204" pitchFamily="18" charset="0"/>
                      </a:rPr>
                      <m:t>g</m:t>
                    </m:r>
                    <m:r>
                      <a:rPr lang="en-US" altLang="zh-CN" sz="3200" i="1">
                        <a:latin typeface="Cambria Math" panose="02040503050406030204" pitchFamily="18" charset="0"/>
                      </a:rPr>
                      <m:t>=</m:t>
                    </m:r>
                    <m:r>
                      <a:rPr lang="en-US" altLang="zh-CN" sz="3200" i="1">
                        <a:latin typeface="Cambria Math" panose="02040503050406030204" pitchFamily="18" charset="0"/>
                      </a:rPr>
                      <m:t>6</m:t>
                    </m:r>
                    <m:r>
                      <a:rPr lang="zh-CN" altLang="zh-CN" sz="3200" i="1">
                        <a:latin typeface="Cambria Math" panose="02040503050406030204" pitchFamily="18" charset="0"/>
                      </a:rPr>
                      <m:t>，</m:t>
                    </m:r>
                    <m:r>
                      <a:rPr lang="en-US" altLang="zh-CN" sz="3200" i="1">
                        <a:latin typeface="Cambria Math" panose="02040503050406030204" pitchFamily="18" charset="0"/>
                      </a:rPr>
                      <m:t>𝑦</m:t>
                    </m:r>
                    <m:r>
                      <a:rPr lang="en-US" altLang="zh-CN" sz="3200" i="1">
                        <a:latin typeface="Cambria Math" panose="02040503050406030204" pitchFamily="18" charset="0"/>
                      </a:rPr>
                      <m:t>=</m:t>
                    </m:r>
                    <m:r>
                      <a:rPr lang="en-US" altLang="zh-CN" sz="3200" i="1">
                        <a:latin typeface="Cambria Math" panose="02040503050406030204" pitchFamily="18" charset="0"/>
                      </a:rPr>
                      <m:t>4</m:t>
                    </m:r>
                    <m:r>
                      <a:rPr lang="en-US" altLang="zh-CN" sz="3200" i="1">
                        <a:latin typeface="Cambria Math" panose="02040503050406030204" pitchFamily="18" charset="0"/>
                      </a:rPr>
                      <m:t>)</m:t>
                    </m:r>
                  </m:oMath>
                </a14:m>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，私钥为</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x</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 =10)</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11" name="TextBox 29"/>
              <p:cNvSpPr txBox="1">
                <a:spLocks noRot="1" noChangeAspect="1" noMove="1" noResize="1" noEditPoints="1" noAdjustHandles="1" noChangeArrowheads="1" noChangeShapeType="1" noTextEdit="1"/>
              </p:cNvSpPr>
              <p:nvPr/>
            </p:nvSpPr>
            <p:spPr>
              <a:xfrm>
                <a:off x="1734904" y="1530313"/>
                <a:ext cx="15123897" cy="4589974"/>
              </a:xfrm>
              <a:prstGeom prst="rect">
                <a:avLst/>
              </a:prstGeom>
              <a:blipFill rotWithShape="1">
                <a:blip r:embed="rId1"/>
                <a:stretch>
                  <a:fillRect l="-1" t="-13" r="-1187" b="-1878"/>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8" name="图片 17"/>
            <p:cNvPicPr>
              <a:picLocks noChangeAspect="1"/>
            </p:cNvPicPr>
            <p:nvPr/>
          </p:nvPicPr>
          <p:blipFill>
            <a:blip r:embed="rId2"/>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9" name="TextBox 30"/>
          <p:cNvSpPr txBox="1"/>
          <p:nvPr/>
        </p:nvSpPr>
        <p:spPr>
          <a:xfrm>
            <a:off x="250468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en-US" altLang="zh-CN"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DSS</a:t>
            </a:r>
            <a:r>
              <a:rPr kumimoji="0" lang="zh-CN" altLang="en-US"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标准</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20" name="TextBox 31"/>
          <p:cNvSpPr txBox="1"/>
          <p:nvPr/>
        </p:nvSpPr>
        <p:spPr>
          <a:xfrm>
            <a:off x="1371600"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21"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aphicFrame>
        <p:nvGraphicFramePr>
          <p:cNvPr id="42" name="对象 41"/>
          <p:cNvGraphicFramePr>
            <a:graphicFrameLocks noChangeAspect="1"/>
          </p:cNvGraphicFramePr>
          <p:nvPr/>
        </p:nvGraphicFramePr>
        <p:xfrm>
          <a:off x="7010617" y="2933658"/>
          <a:ext cx="821473" cy="821473"/>
        </p:xfrm>
        <a:graphic>
          <a:graphicData uri="http://schemas.openxmlformats.org/presentationml/2006/ole">
            <mc:AlternateContent xmlns:mc="http://schemas.openxmlformats.org/markup-compatibility/2006">
              <mc:Choice xmlns:v="urn:schemas-microsoft-com:vml" Requires="v">
                <p:oleObj spid="_x0000_s0" name="" r:id="rId4" imgW="203200" imgH="215900" progId="Equation.DSMT4">
                  <p:embed/>
                </p:oleObj>
              </mc:Choice>
              <mc:Fallback>
                <p:oleObj name="" r:id="rId4" imgW="203200" imgH="215900" progId="Equation.DSMT4">
                  <p:embed/>
                  <p:pic>
                    <p:nvPicPr>
                      <p:cNvPr id="0"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10617" y="2933658"/>
                        <a:ext cx="821473" cy="821473"/>
                      </a:xfrm>
                      <a:prstGeom prst="rect">
                        <a:avLst/>
                      </a:prstGeom>
                      <a:noFill/>
                    </p:spPr>
                  </p:pic>
                </p:oleObj>
              </mc:Fallback>
            </mc:AlternateContent>
          </a:graphicData>
        </a:graphic>
      </p:graphicFrame>
      <p:graphicFrame>
        <p:nvGraphicFramePr>
          <p:cNvPr id="48" name="对象 47"/>
          <p:cNvGraphicFramePr>
            <a:graphicFrameLocks noChangeAspect="1"/>
          </p:cNvGraphicFramePr>
          <p:nvPr/>
        </p:nvGraphicFramePr>
        <p:xfrm>
          <a:off x="6934169" y="3543300"/>
          <a:ext cx="2748159" cy="2085953"/>
        </p:xfrm>
        <a:graphic>
          <a:graphicData uri="http://schemas.openxmlformats.org/presentationml/2006/ole">
            <mc:AlternateContent xmlns:mc="http://schemas.openxmlformats.org/markup-compatibility/2006">
              <mc:Choice xmlns:v="urn:schemas-microsoft-com:vml" Requires="v">
                <p:oleObj spid="_x0000_s0" name="" r:id="rId6" imgW="787400" imgH="609600" progId="Equation.DSMT4">
                  <p:embed/>
                </p:oleObj>
              </mc:Choice>
              <mc:Fallback>
                <p:oleObj name="" r:id="rId6" imgW="787400" imgH="609600" progId="Equation.DSMT4">
                  <p:embed/>
                  <p:pic>
                    <p:nvPicPr>
                      <p:cNvPr id="0" name="Object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34169" y="3543300"/>
                        <a:ext cx="2748159" cy="2085953"/>
                      </a:xfrm>
                      <a:prstGeom prst="rect">
                        <a:avLst/>
                      </a:prstGeom>
                      <a:noFill/>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1"/>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7" name="TextBox 30"/>
          <p:cNvSpPr txBox="1"/>
          <p:nvPr/>
        </p:nvSpPr>
        <p:spPr>
          <a:xfrm>
            <a:off x="250468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en-US" altLang="zh-CN"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DSS</a:t>
            </a:r>
            <a:r>
              <a:rPr kumimoji="0" lang="zh-CN" altLang="en-US"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标准</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8" name="TextBox 31"/>
          <p:cNvSpPr txBox="1"/>
          <p:nvPr/>
        </p:nvSpPr>
        <p:spPr>
          <a:xfrm>
            <a:off x="1371600"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.2</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9"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mc:AlternateContent xmlns:mc="http://schemas.openxmlformats.org/markup-compatibility/2006">
        <mc:Choice xmlns:a14="http://schemas.microsoft.com/office/drawing/2010/main" Requires="a14">
          <p:sp>
            <p:nvSpPr>
              <p:cNvPr id="20" name="TextBox 29"/>
              <p:cNvSpPr txBox="1"/>
              <p:nvPr/>
            </p:nvSpPr>
            <p:spPr>
              <a:xfrm>
                <a:off x="1641009" y="1448922"/>
                <a:ext cx="15046791" cy="658885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选取随机数</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k</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 = 9</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，计算</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14:m>
                  <m:oMath xmlns:m="http://schemas.openxmlformats.org/officeDocument/2006/math">
                    <m:r>
                      <a:rPr lang="en-US" altLang="zh-CN" sz="3200" i="1">
                        <a:latin typeface="Cambria Math" panose="02040503050406030204" pitchFamily="18" charset="0"/>
                      </a:rPr>
                      <m:t>𝑟</m:t>
                    </m:r>
                    <m:r>
                      <a:rPr lang="en-US" altLang="zh-CN" sz="3200" i="1">
                        <a:latin typeface="Cambria Math" panose="02040503050406030204" pitchFamily="18" charset="0"/>
                      </a:rPr>
                      <m:t>≡(</m:t>
                    </m:r>
                    <m:sSup>
                      <m:sSupPr>
                        <m:ctrlPr>
                          <a:rPr lang="zh-CN" altLang="zh-CN" sz="3200" i="1"/>
                        </m:ctrlPr>
                      </m:sSupPr>
                      <m:e>
                        <m:r>
                          <m:rPr>
                            <m:sty m:val="p"/>
                          </m:rPr>
                          <a:rPr lang="en-US" altLang="zh-CN" sz="3200" i="1" smtClean="0">
                            <a:latin typeface="Cambria Math" panose="02040503050406030204" pitchFamily="18" charset="0"/>
                          </a:rPr>
                          <m:t>g</m:t>
                        </m:r>
                      </m:e>
                      <m:sup>
                        <m:r>
                          <a:rPr lang="en-US" altLang="zh-CN" sz="3200" i="1">
                            <a:latin typeface="Cambria Math" panose="02040503050406030204" pitchFamily="18" charset="0"/>
                          </a:rPr>
                          <m:t>𝑘</m:t>
                        </m:r>
                      </m:sup>
                    </m:sSup>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𝑝</m:t>
                        </m:r>
                      </m:e>
                    </m:func>
                    <m:r>
                      <a:rPr lang="en-US" altLang="zh-CN" sz="3200" i="1">
                        <a:latin typeface="Cambria Math" panose="02040503050406030204" pitchFamily="18" charset="0"/>
                      </a:rPr>
                      <m:t>)</m:t>
                    </m:r>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𝑞</m:t>
                        </m:r>
                        <m:m>
                          <m:mPr>
                            <m:mcs>
                              <m:mc>
                                <m:mcPr>
                                  <m:count m:val="1"/>
                                  <m:mcJc m:val="center"/>
                                </m:mcPr>
                              </m:mc>
                            </m:mcs>
                            <m:ctrlPr>
                              <a:rPr lang="zh-CN" altLang="zh-CN" sz="3200" i="1">
                                <a:latin typeface="Cambria Math" panose="02040503050406030204" pitchFamily="18" charset="0"/>
                              </a:rPr>
                            </m:ctrlPr>
                          </m:mPr>
                          <m:mr>
                            <m:e>
                              <m:r>
                                <a:rPr lang="en-US" altLang="zh-CN" sz="3200" i="1">
                                  <a:latin typeface="Cambria Math" panose="02040503050406030204" pitchFamily="18" charset="0"/>
                                </a:rPr>
                                <m:t>≡</m:t>
                              </m:r>
                            </m:e>
                          </m:mr>
                        </m:m>
                        <m:r>
                          <a:rPr lang="en-US" altLang="zh-CN" sz="3200" i="1">
                            <a:latin typeface="Cambria Math" panose="02040503050406030204" pitchFamily="18" charset="0"/>
                          </a:rPr>
                          <m:t>(</m:t>
                        </m:r>
                        <m:sSup>
                          <m:sSupPr>
                            <m:ctrlPr>
                              <a:rPr lang="zh-CN" altLang="zh-CN" sz="3200" i="1">
                                <a:latin typeface="Cambria Math" panose="02040503050406030204" pitchFamily="18" charset="0"/>
                              </a:rPr>
                            </m:ctrlPr>
                          </m:sSupPr>
                          <m:e>
                            <m:r>
                              <a:rPr lang="en-US" altLang="zh-CN" sz="3200" i="1">
                                <a:latin typeface="Cambria Math" panose="02040503050406030204" pitchFamily="18" charset="0"/>
                              </a:rPr>
                              <m:t>6</m:t>
                            </m:r>
                          </m:e>
                          <m:sup>
                            <m:r>
                              <a:rPr lang="en-US" altLang="zh-CN" sz="3200" i="1">
                                <a:latin typeface="Cambria Math" panose="02040503050406030204" pitchFamily="18" charset="0"/>
                              </a:rPr>
                              <m:t>9</m:t>
                            </m:r>
                          </m:sup>
                        </m:sSup>
                        <m:func>
                          <m:funcPr>
                            <m:ctrlPr>
                              <a:rPr lang="zh-CN" altLang="zh-CN" sz="3200" i="1">
                                <a:latin typeface="Cambria Math" panose="02040503050406030204" pitchFamily="18" charset="0"/>
                              </a:rPr>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2</m:t>
                            </m:r>
                          </m:e>
                        </m:func>
                        <m:r>
                          <a:rPr lang="en-US" altLang="zh-CN" sz="3200" i="1">
                            <a:latin typeface="Cambria Math" panose="02040503050406030204" pitchFamily="18" charset="0"/>
                          </a:rPr>
                          <m:t>3</m:t>
                        </m:r>
                        <m:r>
                          <a:rPr lang="en-US" altLang="zh-CN" sz="3200" i="1">
                            <a:latin typeface="Cambria Math" panose="02040503050406030204" pitchFamily="18" charset="0"/>
                          </a:rPr>
                          <m:t>)</m:t>
                        </m:r>
                        <m:func>
                          <m:funcPr>
                            <m:ctrlPr>
                              <a:rPr lang="zh-CN" altLang="zh-CN" sz="3200" i="1">
                                <a:latin typeface="Cambria Math" panose="02040503050406030204" pitchFamily="18" charset="0"/>
                              </a:rPr>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1</m:t>
                            </m:r>
                          </m:e>
                        </m:func>
                        <m:r>
                          <a:rPr lang="en-US" altLang="zh-CN" sz="3200" i="1">
                            <a:latin typeface="Cambria Math" panose="02040503050406030204" pitchFamily="18" charset="0"/>
                          </a:rPr>
                          <m:t>1</m:t>
                        </m:r>
                        <m:r>
                          <a:rPr lang="en-US" altLang="zh-CN" sz="3200" i="1">
                            <a:latin typeface="Cambria Math" panose="02040503050406030204" pitchFamily="18" charset="0"/>
                            <a:ea typeface="Cambria Math" panose="02040503050406030204" pitchFamily="18" charset="0"/>
                          </a:rPr>
                          <m:t>≡</m:t>
                        </m:r>
                        <m:r>
                          <a:rPr lang="en-US" altLang="zh-CN" sz="3200" i="1">
                            <a:latin typeface="Cambria Math" panose="02040503050406030204" pitchFamily="18" charset="0"/>
                            <a:ea typeface="Cambria Math" panose="02040503050406030204" pitchFamily="18" charset="0"/>
                          </a:rPr>
                          <m:t>5</m:t>
                        </m:r>
                      </m:e>
                    </m:func>
                  </m:oMath>
                </a14:m>
                <a:r>
                  <a:rPr lang="en-US" altLang="zh-CN" sz="3200"/>
                  <a:t>                                      </a:t>
                </a:r>
                <a:r>
                  <a:rPr lang="zh-CN" altLang="en-US" sz="3600">
                    <a:solidFill>
                      <a:srgbClr val="000000"/>
                    </a:solidFill>
                    <a:latin typeface="Times New Roman" panose="02020603050405020304" pitchFamily="18" charset="0"/>
                    <a:cs typeface="字由点字典黑 2"/>
                    <a:sym typeface="字由点字典黑 2"/>
                  </a:rPr>
                  <a:t>（</a:t>
                </a:r>
                <a:r>
                  <a:rPr lang="en-US" altLang="zh-CN" sz="3600">
                    <a:solidFill>
                      <a:srgbClr val="000000"/>
                    </a:solidFill>
                    <a:latin typeface="Times New Roman" panose="02020603050405020304" pitchFamily="18" charset="0"/>
                    <a:cs typeface="字由点字典黑 2"/>
                    <a:sym typeface="字由点字典黑 2"/>
                  </a:rPr>
                  <a:t>13.6</a:t>
                </a:r>
                <a:r>
                  <a:rPr lang="zh-CN" altLang="en-US" sz="3600">
                    <a:solidFill>
                      <a:srgbClr val="000000"/>
                    </a:solidFill>
                    <a:latin typeface="Times New Roman" panose="02020603050405020304" pitchFamily="18" charset="0"/>
                    <a:cs typeface="字由点字典黑 2"/>
                    <a:sym typeface="字由点字典黑 2"/>
                  </a:rPr>
                  <a:t>）</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        然后计算 </a:t>
                </a:r>
                <a14:m>
                  <m:oMath xmlns:m="http://schemas.openxmlformats.org/officeDocument/2006/math">
                    <m:sSup>
                      <m:sSupPr>
                        <m:ctrlPr>
                          <a:rPr lang="zh-CN" altLang="zh-CN" sz="3200" i="1"/>
                        </m:ctrlPr>
                      </m:sSupPr>
                      <m:e>
                        <m:r>
                          <a:rPr lang="en-US" altLang="zh-CN" sz="3200" i="1">
                            <a:latin typeface="Cambria Math" panose="02040503050406030204" pitchFamily="18" charset="0"/>
                          </a:rPr>
                          <m:t>𝑘</m:t>
                        </m:r>
                      </m:e>
                      <m:sup>
                        <m:r>
                          <a:rPr lang="en-US" altLang="zh-CN" sz="3200" i="1">
                            <a:latin typeface="Cambria Math" panose="02040503050406030204" pitchFamily="18" charset="0"/>
                          </a:rPr>
                          <m:t>−</m:t>
                        </m:r>
                        <m:r>
                          <a:rPr lang="en-US" altLang="zh-CN" sz="3200" i="1">
                            <a:latin typeface="Cambria Math" panose="02040503050406030204" pitchFamily="18" charset="0"/>
                          </a:rPr>
                          <m:t>1</m:t>
                        </m:r>
                      </m:sup>
                    </m:sSup>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𝑞</m:t>
                        </m:r>
                      </m:e>
                    </m:func>
                    <m:r>
                      <a:rPr lang="en-US" altLang="zh-CN" sz="3200" i="1">
                        <a:latin typeface="Cambria Math" panose="02040503050406030204" pitchFamily="18" charset="0"/>
                      </a:rPr>
                      <m:t>=</m:t>
                    </m:r>
                    <m:r>
                      <a:rPr lang="en-US" altLang="zh-CN" sz="3200" i="1">
                        <a:latin typeface="Cambria Math" panose="02040503050406030204" pitchFamily="18" charset="0"/>
                      </a:rPr>
                      <m:t>5</m:t>
                    </m:r>
                  </m:oMath>
                </a14:m>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。假设</a:t>
                </a:r>
                <a:r>
                  <a:rPr lang="en-US" altLang="zh-CN" sz="3200" i="1">
                    <a:solidFill>
                      <a:srgbClr val="000000"/>
                    </a:solidFill>
                    <a:latin typeface="Times New Roman" panose="02020603050405020304" pitchFamily="18" charset="0"/>
                    <a:ea typeface="宋体" panose="02010600030101010101" pitchFamily="2" charset="-122"/>
                    <a:cs typeface="字由点字典黑 2"/>
                    <a:sym typeface="字由点字典黑 2"/>
                  </a:rPr>
                  <a:t>H</a:t>
                </a:r>
                <a:r>
                  <a:rPr lang="en-US" altLang="zh-CN" sz="32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200" i="1">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en-US" altLang="zh-CN" sz="3200">
                    <a:solidFill>
                      <a:srgbClr val="000000"/>
                    </a:solidFill>
                    <a:latin typeface="Times New Roman" panose="02020603050405020304" pitchFamily="18" charset="0"/>
                    <a:ea typeface="宋体" panose="02010600030101010101" pitchFamily="2" charset="-122"/>
                    <a:cs typeface="字由点字典黑 2"/>
                    <a:sym typeface="字由点字典黑 2"/>
                  </a:rPr>
                  <a:t>) = 13</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，计算</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algn="just" latinLnBrk="1">
                  <a:lnSpc>
                    <a:spcPct val="120000"/>
                  </a:lnSpc>
                </a:pPr>
                <a:r>
                  <a:rPr lang="en-US" altLang="zh-CN" sz="3200"/>
                  <a:t>          </a:t>
                </a:r>
                <a14:m>
                  <m:oMath xmlns:m="http://schemas.openxmlformats.org/officeDocument/2006/math">
                    <m:r>
                      <a:rPr lang="en-US" altLang="zh-CN" sz="3200" i="1">
                        <a:latin typeface="Cambria Math" panose="02040503050406030204" pitchFamily="18" charset="0"/>
                      </a:rPr>
                      <m:t>𝑠</m:t>
                    </m:r>
                    <m:r>
                      <a:rPr lang="en-US" altLang="zh-CN" sz="3200" i="1">
                        <a:latin typeface="Cambria Math" panose="02040503050406030204" pitchFamily="18" charset="0"/>
                      </a:rPr>
                      <m:t>≡</m:t>
                    </m:r>
                    <m:d>
                      <m:dPr>
                        <m:begChr m:val="["/>
                        <m:endChr m:val="]"/>
                        <m:ctrlPr>
                          <a:rPr lang="en-US" altLang="zh-CN" sz="3200" i="1">
                            <a:latin typeface="Cambria Math" panose="02040503050406030204" pitchFamily="18" charset="0"/>
                          </a:rPr>
                        </m:ctrlPr>
                      </m:dPr>
                      <m:e>
                        <m:sSup>
                          <m:sSupPr>
                            <m:ctrlPr>
                              <a:rPr lang="zh-CN" altLang="zh-CN" sz="3200" i="1"/>
                            </m:ctrlPr>
                          </m:sSupPr>
                          <m:e>
                            <m:r>
                              <a:rPr lang="en-US" altLang="zh-CN" sz="3200" i="1">
                                <a:latin typeface="Cambria Math" panose="02040503050406030204" pitchFamily="18" charset="0"/>
                              </a:rPr>
                              <m:t>𝑘</m:t>
                            </m:r>
                          </m:e>
                          <m:sup>
                            <m:r>
                              <a:rPr lang="en-US" altLang="zh-CN" sz="3200" i="1">
                                <a:latin typeface="Cambria Math" panose="02040503050406030204" pitchFamily="18" charset="0"/>
                              </a:rPr>
                              <m:t>−</m:t>
                            </m:r>
                            <m:r>
                              <a:rPr lang="en-US" altLang="zh-CN" sz="3200" i="1">
                                <a:latin typeface="Cambria Math" panose="02040503050406030204" pitchFamily="18" charset="0"/>
                              </a:rPr>
                              <m:t>1</m:t>
                            </m:r>
                          </m:sup>
                        </m:sSup>
                        <m:d>
                          <m:dPr>
                            <m:ctrlPr>
                              <a:rPr lang="zh-CN" altLang="zh-CN" sz="3200" i="1"/>
                            </m:ctrlPr>
                          </m:dPr>
                          <m:e>
                            <m:r>
                              <a:rPr lang="en-US" altLang="zh-CN" sz="3200" i="1">
                                <a:latin typeface="Cambria Math" panose="02040503050406030204" pitchFamily="18" charset="0"/>
                              </a:rPr>
                              <m:t>𝐻</m:t>
                            </m:r>
                            <m:d>
                              <m:dPr>
                                <m:ctrlPr>
                                  <a:rPr lang="zh-CN" altLang="zh-CN" sz="3200" i="1"/>
                                </m:ctrlPr>
                              </m:dPr>
                              <m:e>
                                <m:r>
                                  <a:rPr lang="en-US" altLang="zh-CN" sz="3200" i="1">
                                    <a:latin typeface="Cambria Math" panose="02040503050406030204" pitchFamily="18" charset="0"/>
                                  </a:rPr>
                                  <m:t>𝑀</m:t>
                                </m:r>
                              </m:e>
                            </m:d>
                            <m:r>
                              <a:rPr lang="en-US" altLang="zh-CN" sz="3200" i="1">
                                <a:latin typeface="Cambria Math" panose="02040503050406030204" pitchFamily="18" charset="0"/>
                              </a:rPr>
                              <m:t>+</m:t>
                            </m:r>
                            <m:r>
                              <a:rPr lang="en-US" altLang="zh-CN" sz="3200" i="1">
                                <a:latin typeface="Cambria Math" panose="02040503050406030204" pitchFamily="18" charset="0"/>
                              </a:rPr>
                              <m:t>𝑥𝑟</m:t>
                            </m:r>
                          </m:e>
                        </m:d>
                      </m:e>
                    </m:d>
                    <m:r>
                      <a:rPr lang="en-US" altLang="zh-CN" sz="3200" b="0" i="1" smtClean="0">
                        <a:latin typeface="Cambria Math" panose="02040503050406030204" pitchFamily="18" charset="0"/>
                      </a:rPr>
                      <m:t>𝑚𝑜𝑑</m:t>
                    </m:r>
                    <m:r>
                      <a:rPr lang="en-US" altLang="zh-CN" sz="3200" b="0" i="1" smtClean="0">
                        <a:latin typeface="Cambria Math" panose="02040503050406030204" pitchFamily="18" charset="0"/>
                      </a:rPr>
                      <m:t> </m:t>
                    </m:r>
                    <m:r>
                      <a:rPr lang="en-US" altLang="zh-CN" sz="3200" i="1">
                        <a:latin typeface="Cambria Math" panose="02040503050406030204" pitchFamily="18" charset="0"/>
                      </a:rPr>
                      <m:t>𝑞</m:t>
                    </m:r>
                    <m:r>
                      <a:rPr lang="en-US" altLang="zh-CN" sz="3200" i="1">
                        <a:latin typeface="Cambria Math" panose="02040503050406030204" pitchFamily="18" charset="0"/>
                      </a:rPr>
                      <m:t>≡</m:t>
                    </m:r>
                    <m:r>
                      <a:rPr lang="en-US" altLang="zh-CN" sz="3200" i="1">
                        <a:latin typeface="Cambria Math" panose="02040503050406030204" pitchFamily="18" charset="0"/>
                      </a:rPr>
                      <m:t>5</m:t>
                    </m:r>
                    <m:r>
                      <a:rPr lang="en-US" altLang="zh-CN" sz="3200" i="1">
                        <a:latin typeface="Cambria Math" panose="02040503050406030204" pitchFamily="18" charset="0"/>
                      </a:rPr>
                      <m:t>×</m:t>
                    </m:r>
                    <m:r>
                      <a:rPr lang="en-US" altLang="zh-CN" sz="3200" b="0" i="1" smtClean="0">
                        <a:latin typeface="Cambria Math" panose="02040503050406030204" pitchFamily="18" charset="0"/>
                      </a:rPr>
                      <m:t>(</m:t>
                    </m:r>
                    <m:r>
                      <a:rPr lang="en-US" altLang="zh-CN" sz="3200" i="1">
                        <a:latin typeface="Cambria Math" panose="02040503050406030204" pitchFamily="18" charset="0"/>
                      </a:rPr>
                      <m:t>13</m:t>
                    </m:r>
                    <m:r>
                      <a:rPr lang="en-US" altLang="zh-CN" sz="3200" i="1">
                        <a:latin typeface="Cambria Math" panose="02040503050406030204" pitchFamily="18" charset="0"/>
                      </a:rPr>
                      <m:t>+</m:t>
                    </m:r>
                    <m:r>
                      <a:rPr lang="en-US" altLang="zh-CN" sz="3200" i="1">
                        <a:latin typeface="Cambria Math" panose="02040503050406030204" pitchFamily="18" charset="0"/>
                      </a:rPr>
                      <m:t>10</m:t>
                    </m:r>
                    <m:r>
                      <a:rPr lang="en-US" altLang="zh-CN" sz="3200" i="1">
                        <a:latin typeface="Cambria Math" panose="02040503050406030204" pitchFamily="18" charset="0"/>
                      </a:rPr>
                      <m:t>×</m:t>
                    </m:r>
                    <m:r>
                      <a:rPr lang="en-US" altLang="zh-CN" sz="3200" i="1">
                        <a:latin typeface="Cambria Math" panose="02040503050406030204" pitchFamily="18" charset="0"/>
                      </a:rPr>
                      <m:t>5</m:t>
                    </m:r>
                    <m:r>
                      <a:rPr lang="en-US" altLang="zh-CN" sz="3200" b="0" i="1" smtClean="0">
                        <a:latin typeface="Cambria Math" panose="02040503050406030204" pitchFamily="18" charset="0"/>
                      </a:rPr>
                      <m:t>)</m:t>
                    </m:r>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𝑞</m:t>
                        </m:r>
                        <m:r>
                          <a:rPr lang="en-US" altLang="zh-CN" sz="3200" b="0" i="1" smtClean="0">
                            <a:latin typeface="Cambria Math" panose="02040503050406030204" pitchFamily="18" charset="0"/>
                          </a:rPr>
                          <m:t>=</m:t>
                        </m:r>
                        <m:r>
                          <a:rPr lang="en-US" altLang="zh-CN" sz="3200" b="0" i="1" smtClean="0">
                            <a:latin typeface="Cambria Math" panose="02040503050406030204" pitchFamily="18" charset="0"/>
                          </a:rPr>
                          <m:t>7</m:t>
                        </m:r>
                      </m:e>
                    </m:func>
                  </m:oMath>
                </a14:m>
                <a:r>
                  <a:rPr lang="en-US" altLang="zh-CN" sz="320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a:solidFill>
                      <a:srgbClr val="000000"/>
                    </a:solidFill>
                    <a:latin typeface="Times New Roman" panose="02020603050405020304" pitchFamily="18" charset="0"/>
                    <a:cs typeface="字由点字典黑 2"/>
                    <a:sym typeface="字由点字典黑 2"/>
                  </a:rPr>
                  <a:t>（</a:t>
                </a:r>
                <a:r>
                  <a:rPr lang="en-US" altLang="zh-CN" sz="3600">
                    <a:solidFill>
                      <a:srgbClr val="000000"/>
                    </a:solidFill>
                    <a:latin typeface="Times New Roman" panose="02020603050405020304" pitchFamily="18" charset="0"/>
                    <a:cs typeface="字由点字典黑 2"/>
                    <a:sym typeface="字由点字典黑 2"/>
                  </a:rPr>
                  <a:t>13.7</a:t>
                </a:r>
                <a:r>
                  <a:rPr lang="zh-CN" altLang="en-US" sz="3600">
                    <a:solidFill>
                      <a:srgbClr val="000000"/>
                    </a:solidFill>
                    <a:latin typeface="Times New Roman" panose="02020603050405020304" pitchFamily="18" charset="0"/>
                    <a:cs typeface="字由点字典黑 2"/>
                    <a:sym typeface="字由点字典黑 2"/>
                  </a:rPr>
                  <a:t>）</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因此，消息</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的签名为</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 = 5, </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 = 7)</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 。 </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签名接收者计算</a:t>
                </a:r>
                <a14:m>
                  <m:oMath xmlns:m="http://schemas.openxmlformats.org/officeDocument/2006/math">
                    <m:r>
                      <a:rPr lang="en-US" altLang="zh-CN" sz="3200" i="1">
                        <a:latin typeface="Cambria Math" panose="02040503050406030204" pitchFamily="18" charset="0"/>
                      </a:rPr>
                      <m:t>𝑤</m:t>
                    </m:r>
                    <m:r>
                      <a:rPr lang="en-US" altLang="zh-CN" sz="3200" i="1">
                        <a:latin typeface="Cambria Math" panose="02040503050406030204" pitchFamily="18" charset="0"/>
                      </a:rPr>
                      <m:t>≡</m:t>
                    </m:r>
                    <m:sSup>
                      <m:sSupPr>
                        <m:ctrlPr>
                          <a:rPr lang="zh-CN" altLang="zh-CN" sz="3200" i="1"/>
                        </m:ctrlPr>
                      </m:sSupPr>
                      <m:e>
                        <m:d>
                          <m:dPr>
                            <m:ctrlPr>
                              <a:rPr lang="zh-CN" altLang="zh-CN" sz="3200" i="1"/>
                            </m:ctrlPr>
                          </m:dPr>
                          <m:e>
                            <m:r>
                              <a:rPr lang="en-US" altLang="zh-CN" sz="3200" i="1">
                                <a:latin typeface="Cambria Math" panose="02040503050406030204" pitchFamily="18" charset="0"/>
                              </a:rPr>
                              <m:t>𝑠</m:t>
                            </m:r>
                            <m:r>
                              <a:rPr lang="en-US" altLang="zh-CN" sz="3200" i="1">
                                <a:latin typeface="Cambria Math" panose="02040503050406030204" pitchFamily="18" charset="0"/>
                              </a:rPr>
                              <m:t>′</m:t>
                            </m:r>
                          </m:e>
                        </m:d>
                      </m:e>
                      <m:sup>
                        <m:r>
                          <a:rPr lang="en-US" altLang="zh-CN" sz="3200" i="1">
                            <a:latin typeface="Cambria Math" panose="02040503050406030204" pitchFamily="18" charset="0"/>
                          </a:rPr>
                          <m:t>−</m:t>
                        </m:r>
                        <m:r>
                          <a:rPr lang="en-US" altLang="zh-CN" sz="3200" i="1">
                            <a:latin typeface="Cambria Math" panose="02040503050406030204" pitchFamily="18" charset="0"/>
                          </a:rPr>
                          <m:t>1</m:t>
                        </m:r>
                      </m:sup>
                    </m:sSup>
                    <m:func>
                      <m:funcPr>
                        <m:ctrlPr>
                          <a:rPr lang="zh-CN" altLang="zh-CN" sz="3200" i="1"/>
                        </m:ctrlPr>
                      </m:funcPr>
                      <m:fName>
                        <m:r>
                          <a:rPr lang="en-US" altLang="zh-CN" sz="3200" i="1">
                            <a:latin typeface="Cambria Math" panose="02040503050406030204" pitchFamily="18" charset="0"/>
                          </a:rPr>
                          <m:t>𝑚𝑜𝑑</m:t>
                        </m:r>
                      </m:fName>
                      <m:e>
                        <m:r>
                          <a:rPr lang="en-US" altLang="zh-CN" sz="3200" b="0" i="1" smtClean="0">
                            <a:latin typeface="Cambria Math" panose="02040503050406030204" pitchFamily="18" charset="0"/>
                          </a:rPr>
                          <m:t>𝑞</m:t>
                        </m:r>
                        <m:r>
                          <a:rPr lang="en-US" altLang="zh-CN" sz="3200" i="1">
                            <a:latin typeface="Cambria Math" panose="02040503050406030204" pitchFamily="18" charset="0"/>
                          </a:rPr>
                          <m:t> </m:t>
                        </m:r>
                      </m:e>
                    </m:func>
                    <m:r>
                      <a:rPr lang="en-US" altLang="zh-CN" sz="3200" i="1">
                        <a:latin typeface="Cambria Math" panose="02040503050406030204" pitchFamily="18" charset="0"/>
                      </a:rPr>
                      <m:t>≡</m:t>
                    </m:r>
                    <m:r>
                      <a:rPr lang="en-US" altLang="zh-CN" sz="3200" i="1">
                        <a:latin typeface="Cambria Math" panose="02040503050406030204" pitchFamily="18" charset="0"/>
                      </a:rPr>
                      <m:t>8</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14:m>
                  <m:oMath xmlns:m="http://schemas.openxmlformats.org/officeDocument/2006/math">
                    <m:sSub>
                      <m:sSubPr>
                        <m:ctrlPr>
                          <a:rPr lang="zh-CN" altLang="zh-CN" sz="3200" i="1"/>
                        </m:ctrlPr>
                      </m:sSubPr>
                      <m:e>
                        <m:r>
                          <a:rPr lang="en-US" altLang="zh-CN" sz="3200" i="1">
                            <a:latin typeface="Cambria Math" panose="02040503050406030204" pitchFamily="18" charset="0"/>
                          </a:rPr>
                          <m:t>𝑢</m:t>
                        </m:r>
                      </m:e>
                      <m:sub>
                        <m:r>
                          <a:rPr lang="en-US" altLang="zh-CN" sz="3200" i="1">
                            <a:latin typeface="Cambria Math" panose="02040503050406030204" pitchFamily="18" charset="0"/>
                          </a:rPr>
                          <m:t>1</m:t>
                        </m:r>
                      </m:sub>
                    </m:sSub>
                    <m:r>
                      <a:rPr lang="en-US" altLang="zh-CN" sz="3200" i="1">
                        <a:latin typeface="Cambria Math" panose="02040503050406030204" pitchFamily="18" charset="0"/>
                      </a:rPr>
                      <m:t>≡</m:t>
                    </m:r>
                    <m:d>
                      <m:dPr>
                        <m:begChr m:val="["/>
                        <m:endChr m:val="]"/>
                        <m:ctrlPr>
                          <a:rPr lang="zh-CN" altLang="zh-CN" sz="3200" i="1"/>
                        </m:ctrlPr>
                      </m:dPr>
                      <m:e>
                        <m:r>
                          <a:rPr lang="en-US" altLang="zh-CN" sz="3200" i="1">
                            <a:latin typeface="Cambria Math" panose="02040503050406030204" pitchFamily="18" charset="0"/>
                          </a:rPr>
                          <m:t>𝐻</m:t>
                        </m:r>
                        <m:d>
                          <m:dPr>
                            <m:ctrlPr>
                              <a:rPr lang="zh-CN" altLang="zh-CN" sz="3200" i="1"/>
                            </m:ctrlPr>
                          </m:dPr>
                          <m:e>
                            <m:r>
                              <a:rPr lang="en-US" altLang="zh-CN" sz="3200" i="1">
                                <a:latin typeface="Cambria Math" panose="02040503050406030204" pitchFamily="18" charset="0"/>
                              </a:rPr>
                              <m:t>𝑀</m:t>
                            </m:r>
                            <m:r>
                              <a:rPr lang="en-US" altLang="zh-CN" sz="3200" i="1">
                                <a:latin typeface="Cambria Math" panose="02040503050406030204" pitchFamily="18" charset="0"/>
                              </a:rPr>
                              <m:t>′</m:t>
                            </m:r>
                          </m:e>
                        </m:d>
                        <m:r>
                          <a:rPr lang="en-US" altLang="zh-CN" sz="3200" i="1">
                            <a:latin typeface="Cambria Math" panose="02040503050406030204" pitchFamily="18" charset="0"/>
                          </a:rPr>
                          <m:t>𝑤</m:t>
                        </m:r>
                      </m:e>
                    </m:d>
                    <m:func>
                      <m:funcPr>
                        <m:ctrlPr>
                          <a:rPr lang="zh-CN" altLang="zh-CN" sz="3200" i="1"/>
                        </m:ctrlPr>
                      </m:funcPr>
                      <m:fName>
                        <m:r>
                          <a:rPr lang="en-US" altLang="zh-CN" sz="3200" i="1">
                            <a:latin typeface="Cambria Math" panose="02040503050406030204" pitchFamily="18" charset="0"/>
                          </a:rPr>
                          <m:t>𝑚𝑜𝑑</m:t>
                        </m:r>
                      </m:fName>
                      <m:e>
                        <m:r>
                          <a:rPr lang="en-US" altLang="zh-CN" sz="3200" i="1" smtClean="0">
                            <a:latin typeface="Cambria Math" panose="02040503050406030204" pitchFamily="18" charset="0"/>
                          </a:rPr>
                          <m:t> </m:t>
                        </m:r>
                        <m:r>
                          <a:rPr lang="en-US" altLang="zh-CN" sz="3200" b="0" i="1" smtClean="0">
                            <a:latin typeface="Cambria Math" panose="02040503050406030204" pitchFamily="18" charset="0"/>
                          </a:rPr>
                          <m:t>𝑞</m:t>
                        </m:r>
                      </m:e>
                    </m:func>
                    <m:r>
                      <a:rPr lang="en-US" altLang="zh-CN" sz="3200" i="1">
                        <a:latin typeface="Cambria Math" panose="02040503050406030204" pitchFamily="18" charset="0"/>
                      </a:rPr>
                      <m:t>≡</m:t>
                    </m:r>
                    <m:r>
                      <a:rPr lang="en-US" altLang="zh-CN" sz="3200" i="1">
                        <a:latin typeface="Cambria Math" panose="02040503050406030204" pitchFamily="18" charset="0"/>
                      </a:rPr>
                      <m:t>13</m:t>
                    </m:r>
                    <m:r>
                      <a:rPr lang="en-US" altLang="zh-CN" sz="3200" i="1">
                        <a:latin typeface="Cambria Math" panose="02040503050406030204" pitchFamily="18" charset="0"/>
                      </a:rPr>
                      <m:t>×</m:t>
                    </m:r>
                    <m:r>
                      <a:rPr lang="en-US" altLang="zh-CN" sz="3200" i="1">
                        <a:latin typeface="Cambria Math" panose="02040503050406030204" pitchFamily="18" charset="0"/>
                      </a:rPr>
                      <m:t>8</m:t>
                    </m:r>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1</m:t>
                        </m:r>
                        <m:r>
                          <a:rPr lang="en-US" altLang="zh-CN" sz="3200" b="0" i="1" smtClean="0">
                            <a:latin typeface="Cambria Math" panose="02040503050406030204" pitchFamily="18" charset="0"/>
                          </a:rPr>
                          <m:t>1</m:t>
                        </m:r>
                      </m:e>
                    </m:func>
                    <m:r>
                      <a:rPr lang="en-US" altLang="zh-CN" sz="3200" i="1">
                        <a:latin typeface="Cambria Math" panose="02040503050406030204" pitchFamily="18" charset="0"/>
                      </a:rPr>
                      <m:t>≡</m:t>
                    </m:r>
                    <m:r>
                      <a:rPr lang="en-US" altLang="zh-CN" sz="3200" i="1">
                        <a:latin typeface="Cambria Math" panose="02040503050406030204" pitchFamily="18" charset="0"/>
                      </a:rPr>
                      <m:t>5</m:t>
                    </m:r>
                  </m:oMath>
                </a14:m>
                <a:r>
                  <a:rPr lang="en-US" altLang="zh-CN" sz="3200">
                    <a:solidFill>
                      <a:srgbClr val="000000"/>
                    </a:solidFill>
                    <a:latin typeface="Times New Roman" panose="02020603050405020304" pitchFamily="18" charset="0"/>
                    <a:ea typeface="宋体" panose="02010600030101010101" pitchFamily="2" charset="-122"/>
                    <a:cs typeface="字由点字典黑 2"/>
                    <a:sym typeface="字由点字典黑 2"/>
                  </a:rPr>
                  <a:t> , </a:t>
                </a:r>
                <a14:m>
                  <m:oMath xmlns:m="http://schemas.openxmlformats.org/officeDocument/2006/math">
                    <m:sSub>
                      <m:sSubPr>
                        <m:ctrlPr>
                          <a:rPr lang="zh-CN" altLang="zh-CN" sz="3200" i="1" smtClean="0"/>
                        </m:ctrlPr>
                      </m:sSubPr>
                      <m:e>
                        <m:r>
                          <a:rPr lang="en-US" altLang="zh-CN" sz="3200" i="1">
                            <a:latin typeface="Cambria Math" panose="02040503050406030204" pitchFamily="18" charset="0"/>
                          </a:rPr>
                          <m:t>𝑢</m:t>
                        </m:r>
                      </m:e>
                      <m:sub>
                        <m:r>
                          <a:rPr lang="en-US" altLang="zh-CN" sz="3200" i="1">
                            <a:latin typeface="Cambria Math" panose="02040503050406030204" pitchFamily="18" charset="0"/>
                          </a:rPr>
                          <m:t>2</m:t>
                        </m:r>
                      </m:sub>
                    </m:sSub>
                    <m:r>
                      <a:rPr lang="en-US" altLang="zh-CN" sz="3200" i="1">
                        <a:latin typeface="Cambria Math" panose="02040503050406030204" pitchFamily="18" charset="0"/>
                      </a:rPr>
                      <m:t>≡</m:t>
                    </m:r>
                    <m:r>
                      <a:rPr lang="en-US" altLang="zh-CN" sz="3200" i="1">
                        <a:latin typeface="Cambria Math" panose="02040503050406030204" pitchFamily="18" charset="0"/>
                      </a:rPr>
                      <m:t>𝑟</m:t>
                    </m:r>
                    <m:r>
                      <a:rPr lang="en-US" altLang="zh-CN" sz="3200" i="1">
                        <a:latin typeface="Cambria Math" panose="02040503050406030204" pitchFamily="18" charset="0"/>
                      </a:rPr>
                      <m:t>′ </m:t>
                    </m:r>
                    <m:r>
                      <a:rPr lang="en-US" altLang="zh-CN" sz="3200" i="1">
                        <a:latin typeface="Cambria Math" panose="02040503050406030204" pitchFamily="18" charset="0"/>
                      </a:rPr>
                      <m:t>𝑤</m:t>
                    </m:r>
                    <m:r>
                      <m:rPr>
                        <m:nor/>
                      </m:rPr>
                      <a:rPr lang="en-US" altLang="zh-CN" sz="3200">
                        <a:latin typeface="Cambria Math" panose="02040503050406030204" pitchFamily="18" charset="0"/>
                      </a:rPr>
                      <m:t> </m:t>
                    </m:r>
                    <m:r>
                      <m:rPr>
                        <m:nor/>
                      </m:rPr>
                      <a:rPr lang="en-US" altLang="zh-CN" sz="3200">
                        <a:latin typeface="Cambria Math" panose="02040503050406030204" pitchFamily="18" charset="0"/>
                      </a:rPr>
                      <m:t>mod</m:t>
                    </m:r>
                    <m:r>
                      <m:rPr>
                        <m:nor/>
                      </m:rPr>
                      <a:rPr lang="en-US" altLang="zh-CN" sz="3200">
                        <a:latin typeface="Cambria Math" panose="02040503050406030204" pitchFamily="18" charset="0"/>
                      </a:rPr>
                      <m:t> </m:t>
                    </m:r>
                    <m:r>
                      <a:rPr lang="en-US" altLang="zh-CN" sz="3200" i="1">
                        <a:latin typeface="Cambria Math" panose="02040503050406030204" pitchFamily="18" charset="0"/>
                      </a:rPr>
                      <m:t>𝑞</m:t>
                    </m:r>
                    <m:r>
                      <a:rPr lang="en-US" altLang="zh-CN" sz="3200">
                        <a:latin typeface="Cambria Math" panose="02040503050406030204" pitchFamily="18" charset="0"/>
                      </a:rPr>
                      <m:t>≡</m:t>
                    </m:r>
                    <m:r>
                      <a:rPr lang="en-US" altLang="zh-CN" sz="3200" i="1">
                        <a:latin typeface="Cambria Math" panose="02040503050406030204" pitchFamily="18" charset="0"/>
                      </a:rPr>
                      <m:t>5</m:t>
                    </m:r>
                    <m:r>
                      <a:rPr lang="en-US" altLang="zh-CN" sz="3200" i="1">
                        <a:latin typeface="Cambria Math" panose="02040503050406030204" pitchFamily="18" charset="0"/>
                      </a:rPr>
                      <m:t>×</m:t>
                    </m:r>
                    <m:r>
                      <a:rPr lang="en-US" altLang="zh-CN" sz="3200" i="1">
                        <a:latin typeface="Cambria Math" panose="02040503050406030204" pitchFamily="18" charset="0"/>
                      </a:rPr>
                      <m:t>8</m:t>
                    </m:r>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1</m:t>
                        </m:r>
                        <m:r>
                          <a:rPr lang="en-US" altLang="zh-CN" sz="3200" b="0" i="1" smtClean="0">
                            <a:latin typeface="Cambria Math" panose="02040503050406030204" pitchFamily="18" charset="0"/>
                          </a:rPr>
                          <m:t>1</m:t>
                        </m:r>
                      </m:e>
                    </m:func>
                    <m:r>
                      <a:rPr lang="en-US" altLang="zh-CN" sz="3200" i="1">
                        <a:latin typeface="Cambria Math" panose="02040503050406030204" pitchFamily="18" charset="0"/>
                      </a:rPr>
                      <m:t>≡</m:t>
                    </m:r>
                    <m:r>
                      <a:rPr lang="en-US" altLang="zh-CN" sz="3200" i="1">
                        <a:latin typeface="Cambria Math" panose="02040503050406030204" pitchFamily="18" charset="0"/>
                      </a:rPr>
                      <m:t>7</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然后计算</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algn="just" fontAlgn="auto" latinLnBrk="1">
                  <a:lnSpc>
                    <a:spcPct val="120000"/>
                  </a:lnSpc>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        </a:t>
                </a:r>
                <a14:m>
                  <m:oMath xmlns:m="http://schemas.openxmlformats.org/officeDocument/2006/math">
                    <m:r>
                      <a:rPr lang="en-US" altLang="zh-CN" sz="3200" i="1">
                        <a:latin typeface="Cambria Math" panose="02040503050406030204" pitchFamily="18" charset="0"/>
                      </a:rPr>
                      <m:t>𝑣</m:t>
                    </m:r>
                    <m:r>
                      <a:rPr lang="en-US" altLang="zh-CN" sz="3200" i="1">
                        <a:latin typeface="Cambria Math" panose="02040503050406030204" pitchFamily="18" charset="0"/>
                      </a:rPr>
                      <m:t>≡</m:t>
                    </m:r>
                    <m:d>
                      <m:dPr>
                        <m:begChr m:val="["/>
                        <m:endChr m:val="]"/>
                        <m:ctrlPr>
                          <a:rPr lang="en-US" altLang="zh-CN" sz="3200" i="1">
                            <a:latin typeface="Cambria Math" panose="02040503050406030204" pitchFamily="18" charset="0"/>
                          </a:rPr>
                        </m:ctrlPr>
                      </m:dPr>
                      <m:e>
                        <m:d>
                          <m:dPr>
                            <m:ctrlPr>
                              <a:rPr lang="en-US" altLang="zh-CN" sz="3200" i="1">
                                <a:latin typeface="Cambria Math" panose="02040503050406030204" pitchFamily="18" charset="0"/>
                              </a:rPr>
                            </m:ctrlPr>
                          </m:dPr>
                          <m:e>
                            <m:sSup>
                              <m:sSupPr>
                                <m:ctrlPr>
                                  <a:rPr lang="zh-CN" altLang="zh-CN" sz="3200" i="1"/>
                                </m:ctrlPr>
                              </m:sSupPr>
                              <m:e>
                                <m:r>
                                  <m:rPr>
                                    <m:sty m:val="p"/>
                                  </m:rPr>
                                  <a:rPr lang="en-US" altLang="zh-CN" sz="3200" i="1" smtClean="0">
                                    <a:latin typeface="Cambria Math" panose="02040503050406030204" pitchFamily="18" charset="0"/>
                                  </a:rPr>
                                  <m:t>g</m:t>
                                </m:r>
                              </m:e>
                              <m:sup>
                                <m:r>
                                  <a:rPr lang="en-US" altLang="zh-CN" sz="3200" i="1">
                                    <a:latin typeface="Cambria Math" panose="02040503050406030204" pitchFamily="18" charset="0"/>
                                  </a:rPr>
                                  <m:t>𝑢</m:t>
                                </m:r>
                                <m:r>
                                  <a:rPr lang="en-US" altLang="zh-CN" sz="3200" i="1">
                                    <a:latin typeface="Cambria Math" panose="02040503050406030204" pitchFamily="18" charset="0"/>
                                  </a:rPr>
                                  <m:t>1</m:t>
                                </m:r>
                              </m:sup>
                            </m:sSup>
                            <m:sSup>
                              <m:sSupPr>
                                <m:ctrlPr>
                                  <a:rPr lang="zh-CN" altLang="zh-CN" sz="3200" i="1"/>
                                </m:ctrlPr>
                              </m:sSupPr>
                              <m:e>
                                <m:r>
                                  <a:rPr lang="en-US" altLang="zh-CN" sz="3200" i="1">
                                    <a:latin typeface="Cambria Math" panose="02040503050406030204" pitchFamily="18" charset="0"/>
                                  </a:rPr>
                                  <m:t>𝑦</m:t>
                                </m:r>
                              </m:e>
                              <m:sup>
                                <m:r>
                                  <a:rPr lang="en-US" altLang="zh-CN" sz="3200" i="1">
                                    <a:latin typeface="Cambria Math" panose="02040503050406030204" pitchFamily="18" charset="0"/>
                                  </a:rPr>
                                  <m:t>𝑢</m:t>
                                </m:r>
                                <m:r>
                                  <a:rPr lang="en-US" altLang="zh-CN" sz="3200" i="1">
                                    <a:latin typeface="Cambria Math" panose="02040503050406030204" pitchFamily="18" charset="0"/>
                                  </a:rPr>
                                  <m:t>2</m:t>
                                </m:r>
                              </m:sup>
                            </m:sSup>
                          </m:e>
                        </m:d>
                        <m:func>
                          <m:funcPr>
                            <m:ctrlPr>
                              <a:rPr lang="zh-CN" altLang="zh-CN" sz="3200" i="1"/>
                            </m:ctrlPr>
                          </m:funcPr>
                          <m:fName>
                            <m:r>
                              <a:rPr lang="en-US" altLang="zh-CN" sz="3200" i="1">
                                <a:latin typeface="Cambria Math" panose="02040503050406030204" pitchFamily="18" charset="0"/>
                              </a:rPr>
                              <m:t>𝑚𝑜𝑑</m:t>
                            </m:r>
                          </m:fName>
                          <m:e>
                            <m:r>
                              <a:rPr lang="en-US" altLang="zh-CN" sz="3200" b="0" i="1" smtClean="0">
                                <a:latin typeface="Cambria Math" panose="02040503050406030204" pitchFamily="18" charset="0"/>
                              </a:rPr>
                              <m:t>𝑝</m:t>
                            </m:r>
                            <m:r>
                              <a:rPr lang="en-US" altLang="zh-CN" sz="3200" i="1">
                                <a:latin typeface="Cambria Math" panose="02040503050406030204" pitchFamily="18" charset="0"/>
                              </a:rPr>
                              <m:t> </m:t>
                            </m:r>
                          </m:e>
                        </m:func>
                      </m:e>
                    </m:d>
                    <m:func>
                      <m:funcPr>
                        <m:ctrlPr>
                          <a:rPr lang="zh-CN" altLang="zh-CN" sz="3200" i="1"/>
                        </m:ctrlPr>
                      </m:funcPr>
                      <m:fName>
                        <m:r>
                          <a:rPr lang="en-US" altLang="zh-CN" sz="3200" i="1">
                            <a:latin typeface="Cambria Math" panose="02040503050406030204" pitchFamily="18" charset="0"/>
                          </a:rPr>
                          <m:t>𝑚𝑜𝑑</m:t>
                        </m:r>
                      </m:fName>
                      <m:e>
                        <m:r>
                          <a:rPr lang="en-US" altLang="zh-CN" sz="3200" b="0" i="1" smtClean="0">
                            <a:latin typeface="Cambria Math" panose="02040503050406030204" pitchFamily="18" charset="0"/>
                          </a:rPr>
                          <m:t>𝑞</m:t>
                        </m:r>
                      </m:e>
                    </m:func>
                    <m:r>
                      <a:rPr lang="en-US" altLang="zh-CN" sz="3200" i="1">
                        <a:latin typeface="Cambria Math" panose="02040503050406030204" pitchFamily="18" charset="0"/>
                      </a:rPr>
                      <m:t>≡</m:t>
                    </m:r>
                    <m:d>
                      <m:dPr>
                        <m:ctrlPr>
                          <a:rPr lang="en-US" altLang="zh-CN" sz="3200" b="0" i="1" smtClean="0">
                            <a:latin typeface="Cambria Math" panose="02040503050406030204" pitchFamily="18" charset="0"/>
                          </a:rPr>
                        </m:ctrlPr>
                      </m:dPr>
                      <m:e>
                        <m:sSup>
                          <m:sSupPr>
                            <m:ctrlPr>
                              <a:rPr lang="zh-CN" altLang="zh-CN" sz="3200" i="1"/>
                            </m:ctrlPr>
                          </m:sSupPr>
                          <m:e>
                            <m:r>
                              <a:rPr lang="en-US" altLang="zh-CN" sz="3200" i="1">
                                <a:latin typeface="Cambria Math" panose="02040503050406030204" pitchFamily="18" charset="0"/>
                              </a:rPr>
                              <m:t>6</m:t>
                            </m:r>
                          </m:e>
                          <m:sup>
                            <m:r>
                              <a:rPr lang="en-US" altLang="zh-CN" sz="3200" i="1">
                                <a:latin typeface="Cambria Math" panose="02040503050406030204" pitchFamily="18" charset="0"/>
                              </a:rPr>
                              <m:t>5</m:t>
                            </m:r>
                          </m:sup>
                        </m:sSup>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4</m:t>
                            </m:r>
                          </m:e>
                          <m:sup>
                            <m:r>
                              <a:rPr lang="en-US" altLang="zh-CN" sz="3200" i="1">
                                <a:latin typeface="Cambria Math" panose="02040503050406030204" pitchFamily="18" charset="0"/>
                              </a:rPr>
                              <m:t>7</m:t>
                            </m:r>
                          </m:sup>
                        </m:sSup>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2</m:t>
                            </m:r>
                            <m:r>
                              <a:rPr lang="en-US" altLang="zh-CN" sz="3200" b="0" i="1" smtClean="0">
                                <a:latin typeface="Cambria Math" panose="02040503050406030204" pitchFamily="18" charset="0"/>
                              </a:rPr>
                              <m:t>3</m:t>
                            </m:r>
                          </m:e>
                        </m:func>
                      </m:e>
                    </m:d>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1</m:t>
                        </m:r>
                        <m:r>
                          <a:rPr lang="en-US" altLang="zh-CN" sz="3200" b="0" i="1" smtClean="0">
                            <a:latin typeface="Cambria Math" panose="02040503050406030204" pitchFamily="18" charset="0"/>
                          </a:rPr>
                          <m:t>1</m:t>
                        </m:r>
                      </m:e>
                    </m:func>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5</m:t>
                    </m:r>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𝑟</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13.8</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 因此，接收该签名。</a:t>
                </a:r>
                <a:endParaRPr lang="zh-CN" altLang="de-DE"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20" name="TextBox 29"/>
              <p:cNvSpPr txBox="1">
                <a:spLocks noRot="1" noChangeAspect="1" noMove="1" noResize="1" noEditPoints="1" noAdjustHandles="1" noChangeArrowheads="1" noChangeShapeType="1" noTextEdit="1"/>
              </p:cNvSpPr>
              <p:nvPr/>
            </p:nvSpPr>
            <p:spPr>
              <a:xfrm>
                <a:off x="1641009" y="1448922"/>
                <a:ext cx="15046791" cy="6588855"/>
              </a:xfrm>
              <a:prstGeom prst="rect">
                <a:avLst/>
              </a:prstGeom>
              <a:blipFill rotWithShape="1">
                <a:blip r:embed="rId3"/>
                <a:stretch>
                  <a:fillRect l="-1" t="-7" b="-2381"/>
                </a:stretch>
              </a:blipFill>
            </p:spPr>
            <p:txBody>
              <a:bodyPr/>
              <a:lstStyle/>
              <a:p>
                <a:r>
                  <a:rPr lang="zh-CN" altLang="en-US">
                    <a:noFill/>
                  </a:rPr>
                  <a:t> </a:t>
                </a:r>
              </a:p>
            </p:txBody>
          </p:sp>
        </mc:Fallback>
      </mc:AlternateContent>
      <p:sp>
        <p:nvSpPr>
          <p:cNvPr id="32" name="Rectangle 11"/>
          <p:cNvSpPr>
            <a:spLocks noChangeArrowheads="1"/>
          </p:cNvSpPr>
          <p:nvPr/>
        </p:nvSpPr>
        <p:spPr bwMode="auto">
          <a:xfrm>
            <a:off x="0" y="11049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kumimoji="0" lang="en-US" sz="12200" b="0" i="0" u="none" strike="noStrike" kern="1200" cap="none" spc="0" normalizeH="0" baseline="0" noProof="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a:t>
            </a: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a:t>
            </a:r>
            <a:r>
              <a:rPr kumimoji="0" lang="en-US" sz="12200" b="0" i="0" u="none" strike="noStrike" kern="1200" cap="none" spc="0" normalizeH="0" baseline="0" noProof="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en-US" altLang="zh-CN" sz="9600" b="1" i="0" u="none" strike="noStrike" kern="1200" cap="none" spc="0" normalizeH="0" baseline="0" noProof="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a:t>
            </a:r>
            <a:r>
              <a:rPr kumimoji="0" lang="zh-CN" altLang="en-US" sz="9600" b="1" i="0" u="none" strike="noStrike" kern="1200" cap="none" spc="0" normalizeH="0" baseline="0" noProof="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9"/>
              <p:cNvSpPr txBox="1"/>
              <p:nvPr/>
            </p:nvSpPr>
            <p:spPr>
              <a:xfrm>
                <a:off x="1734904" y="1689394"/>
                <a:ext cx="15029096" cy="7249164"/>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SM2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数字签名方案是一种基于椭圆曲线的签名方案，主要适用于商用密码应用中的数字签名和验证，可满足多种密码应用中的身份认证和数据完整性、真实性的安全需求，其安全性基于</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ECDLP</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的难解性。</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在</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SM2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数字签名方案中，每个签名者都有一个公钥和一个私钥，其中私钥用于产生签名，验证者用签名者的公钥验证签名。作为签名者的用户</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具有长度为</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entlenA</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bit</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的可辨别标识</a:t>
                </a:r>
                <a14:m>
                  <m:oMath xmlns:m="http://schemas.openxmlformats.org/officeDocument/2006/math">
                    <m:r>
                      <a:rPr lang="en-US" altLang="zh-CN" sz="3200" i="1">
                        <a:latin typeface="Cambria Math" panose="02040503050406030204" pitchFamily="18" charset="0"/>
                      </a:rPr>
                      <m:t>𝐼</m:t>
                    </m:r>
                    <m:sSub>
                      <m:sSubPr>
                        <m:ctrlPr>
                          <a:rPr lang="zh-CN" altLang="zh-CN" sz="3200" i="1"/>
                        </m:ctrlPr>
                      </m:sSubPr>
                      <m:e>
                        <m:r>
                          <a:rPr lang="en-US" altLang="zh-CN" sz="3200" i="1">
                            <a:latin typeface="Cambria Math" panose="02040503050406030204" pitchFamily="18" charset="0"/>
                          </a:rPr>
                          <m:t>𝐷</m:t>
                        </m:r>
                      </m:e>
                      <m:sub>
                        <m:r>
                          <a:rPr lang="en-US" altLang="zh-CN" sz="3200" i="1">
                            <a:latin typeface="Cambria Math" panose="02040503050406030204" pitchFamily="18" charset="0"/>
                          </a:rPr>
                          <m:t>𝐴</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，记</a:t>
                </a:r>
                <a14:m>
                  <m:oMath xmlns:m="http://schemas.openxmlformats.org/officeDocument/2006/math">
                    <m:r>
                      <a:rPr lang="en-US" altLang="zh-CN" sz="3200" i="1">
                        <a:latin typeface="Cambria Math" panose="02040503050406030204" pitchFamily="18" charset="0"/>
                      </a:rPr>
                      <m:t>𝐸𝑁𝑇</m:t>
                    </m:r>
                    <m:sSub>
                      <m:sSubPr>
                        <m:ctrlPr>
                          <a:rPr lang="zh-CN" altLang="zh-CN" sz="3200" i="1"/>
                        </m:ctrlPr>
                      </m:sSubPr>
                      <m:e>
                        <m:r>
                          <a:rPr lang="en-US" altLang="zh-CN" sz="3200" i="1">
                            <a:latin typeface="Cambria Math" panose="02040503050406030204" pitchFamily="18" charset="0"/>
                          </a:rPr>
                          <m:t>𝐿</m:t>
                        </m:r>
                      </m:e>
                      <m:sub>
                        <m:r>
                          <a:rPr lang="en-US" altLang="zh-CN" sz="3200" i="1">
                            <a:latin typeface="Cambria Math" panose="02040503050406030204" pitchFamily="18" charset="0"/>
                          </a:rPr>
                          <m:t>𝐴</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是由整数</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entlenA</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 转换而成的两个字节。在</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SM2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数字签名算法中，签名者和验证者都需要用密码杂凑函数求得用户</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的杂凑值</a:t>
                </a:r>
                <a14:m>
                  <m:oMath xmlns:m="http://schemas.openxmlformats.org/officeDocument/2006/math">
                    <m:sSub>
                      <m:sSubPr>
                        <m:ctrlPr>
                          <a:rPr lang="zh-CN" altLang="zh-CN" sz="3200" i="1"/>
                        </m:ctrlPr>
                      </m:sSubPr>
                      <m:e>
                        <m:r>
                          <a:rPr lang="en-US" altLang="zh-CN" sz="3200" i="1">
                            <a:latin typeface="Cambria Math" panose="02040503050406030204" pitchFamily="18" charset="0"/>
                          </a:rPr>
                          <m:t>𝑍</m:t>
                        </m:r>
                      </m:e>
                      <m:sub>
                        <m:r>
                          <a:rPr lang="en-US" altLang="zh-CN" sz="3200" i="1">
                            <a:latin typeface="Cambria Math" panose="02040503050406030204" pitchFamily="18" charset="0"/>
                          </a:rPr>
                          <m:t>𝐴</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，即</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	 	        </a:t>
                </a:r>
                <a14:m>
                  <m:oMath xmlns:m="http://schemas.openxmlformats.org/officeDocument/2006/math">
                    <m:sSub>
                      <m:sSubPr>
                        <m:ctrlPr>
                          <a:rPr lang="zh-CN" altLang="zh-CN" sz="3200" i="1"/>
                        </m:ctrlPr>
                      </m:sSubPr>
                      <m:e>
                        <m:r>
                          <a:rPr lang="en-US" altLang="zh-CN" sz="3200" i="1">
                            <a:latin typeface="Cambria Math" panose="02040503050406030204" pitchFamily="18" charset="0"/>
                          </a:rPr>
                          <m:t>𝑍</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𝐻</m:t>
                        </m:r>
                      </m:e>
                      <m:sub>
                        <m:r>
                          <a:rPr lang="en-US" altLang="zh-CN" sz="3200" i="1">
                            <a:latin typeface="Cambria Math" panose="02040503050406030204" pitchFamily="18" charset="0"/>
                          </a:rPr>
                          <m:t>256</m:t>
                        </m:r>
                      </m:sub>
                    </m:sSub>
                    <m:d>
                      <m:dPr>
                        <m:ctrlPr>
                          <a:rPr lang="zh-CN" altLang="zh-CN" sz="3200" i="1"/>
                        </m:ctrlPr>
                      </m:dPr>
                      <m:e>
                        <m:r>
                          <a:rPr lang="en-US" altLang="zh-CN" sz="3200" i="1">
                            <a:latin typeface="Cambria Math" panose="02040503050406030204" pitchFamily="18" charset="0"/>
                          </a:rPr>
                          <m:t>𝐸𝑁𝑇</m:t>
                        </m:r>
                        <m:sSub>
                          <m:sSubPr>
                            <m:ctrlPr>
                              <a:rPr lang="zh-CN" altLang="zh-CN" sz="3200" i="1"/>
                            </m:ctrlPr>
                          </m:sSubPr>
                          <m:e>
                            <m:r>
                              <a:rPr lang="en-US" altLang="zh-CN" sz="3200" i="1">
                                <a:latin typeface="Cambria Math" panose="02040503050406030204" pitchFamily="18" charset="0"/>
                              </a:rPr>
                              <m:t>𝐿</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r>
                          <a:rPr lang="en-US" altLang="zh-CN" sz="3200" i="1">
                            <a:latin typeface="Cambria Math" panose="02040503050406030204" pitchFamily="18" charset="0"/>
                          </a:rPr>
                          <m:t>𝐼</m:t>
                        </m:r>
                        <m:sSub>
                          <m:sSubPr>
                            <m:ctrlPr>
                              <a:rPr lang="zh-CN" altLang="zh-CN" sz="3200" i="1"/>
                            </m:ctrlPr>
                          </m:sSubPr>
                          <m:e>
                            <m:r>
                              <a:rPr lang="en-US" altLang="zh-CN" sz="3200" i="1">
                                <a:latin typeface="Cambria Math" panose="02040503050406030204" pitchFamily="18" charset="0"/>
                              </a:rPr>
                              <m:t>𝐷</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r>
                          <a:rPr lang="en-US" altLang="zh-CN" sz="3200" i="1">
                            <a:latin typeface="Cambria Math" panose="02040503050406030204" pitchFamily="18" charset="0"/>
                          </a:rPr>
                          <m:t>𝑎</m:t>
                        </m:r>
                        <m:r>
                          <a:rPr lang="en-US" altLang="zh-CN" sz="3200" i="1">
                            <a:latin typeface="Cambria Math" panose="02040503050406030204" pitchFamily="18" charset="0"/>
                          </a:rPr>
                          <m:t>||</m:t>
                        </m:r>
                        <m:r>
                          <a:rPr lang="en-US" altLang="zh-CN" sz="3200" i="1">
                            <a:latin typeface="Cambria Math" panose="02040503050406030204" pitchFamily="18" charset="0"/>
                          </a:rPr>
                          <m:t>𝑏</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𝑥</m:t>
                            </m:r>
                          </m:e>
                          <m:sub>
                            <m:r>
                              <a:rPr lang="en-US" altLang="zh-CN" sz="3200" i="1">
                                <a:latin typeface="Cambria Math" panose="02040503050406030204" pitchFamily="18" charset="0"/>
                              </a:rPr>
                              <m:t>𝐺</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𝑦</m:t>
                            </m:r>
                          </m:e>
                          <m:sub>
                            <m:r>
                              <a:rPr lang="en-US" altLang="zh-CN" sz="3200" i="1">
                                <a:latin typeface="Cambria Math" panose="02040503050406030204" pitchFamily="18" charset="0"/>
                              </a:rPr>
                              <m:t>𝐺</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𝑥</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𝑦</m:t>
                            </m:r>
                          </m:e>
                          <m:sub>
                            <m:r>
                              <a:rPr lang="en-US" altLang="zh-CN" sz="3200" i="1">
                                <a:latin typeface="Cambria Math" panose="02040503050406030204" pitchFamily="18" charset="0"/>
                              </a:rPr>
                              <m:t>𝐴</m:t>
                            </m:r>
                          </m:sub>
                        </m:sSub>
                      </m:e>
                    </m:d>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13.9</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14:m>
                  <m:oMath xmlns:m="http://schemas.openxmlformats.org/officeDocument/2006/math">
                    <m:r>
                      <a:rPr lang="en-US" altLang="zh-CN" sz="3600" i="1">
                        <a:latin typeface="Cambria Math" panose="02040503050406030204" pitchFamily="18" charset="0"/>
                      </a:rPr>
                      <m:t>𝑎</m:t>
                    </m:r>
                    <m:r>
                      <a:rPr lang="en-US" altLang="zh-CN" sz="36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b</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为椭圆曲线方程参数；</a:t>
                </a:r>
                <a14:m>
                  <m:oMath xmlns:m="http://schemas.openxmlformats.org/officeDocument/2006/math">
                    <m:sSub>
                      <m:sSubPr>
                        <m:ctrlPr>
                          <a:rPr lang="zh-CN" altLang="zh-CN" sz="3200" i="1"/>
                        </m:ctrlPr>
                      </m:sSubPr>
                      <m:e>
                        <m:r>
                          <a:rPr lang="en-US" altLang="zh-CN" sz="3200" i="1">
                            <a:latin typeface="Cambria Math" panose="02040503050406030204" pitchFamily="18" charset="0"/>
                          </a:rPr>
                          <m:t>𝑥</m:t>
                        </m:r>
                      </m:e>
                      <m:sub>
                        <m:r>
                          <a:rPr lang="en-US" altLang="zh-CN" sz="3200" i="1">
                            <a:latin typeface="Cambria Math" panose="02040503050406030204" pitchFamily="18" charset="0"/>
                          </a:rPr>
                          <m:t>𝐺</m:t>
                        </m:r>
                      </m:sub>
                    </m:sSub>
                  </m:oMath>
                </a14:m>
                <a:r>
                  <a:rPr lang="zh-CN" altLang="zh-CN" sz="3200"/>
                  <a:t>、</a:t>
                </a:r>
                <a14:m>
                  <m:oMath xmlns:m="http://schemas.openxmlformats.org/officeDocument/2006/math">
                    <m:sSub>
                      <m:sSubPr>
                        <m:ctrlPr>
                          <a:rPr lang="zh-CN" altLang="zh-CN" sz="3200" i="1"/>
                        </m:ctrlPr>
                      </m:sSubPr>
                      <m:e>
                        <m:r>
                          <a:rPr lang="en-US" altLang="zh-CN" sz="3200" i="1">
                            <a:latin typeface="Cambria Math" panose="02040503050406030204" pitchFamily="18" charset="0"/>
                          </a:rPr>
                          <m:t>𝑦</m:t>
                        </m:r>
                      </m:e>
                      <m:sub>
                        <m:r>
                          <a:rPr lang="en-US" altLang="zh-CN" sz="3200" i="1">
                            <a:latin typeface="Cambria Math" panose="02040503050406030204" pitchFamily="18" charset="0"/>
                          </a:rPr>
                          <m:t>𝐺</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为基点</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G</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的坐标</a:t>
                </a:r>
                <a:r>
                  <a:rPr lang="zh-CN" altLang="zh-CN" sz="3600"/>
                  <a:t>；</a:t>
                </a:r>
                <a14:m>
                  <m:oMath xmlns:m="http://schemas.openxmlformats.org/officeDocument/2006/math">
                    <m:sSub>
                      <m:sSubPr>
                        <m:ctrlPr>
                          <a:rPr lang="zh-CN" altLang="zh-CN" sz="3200" i="1"/>
                        </m:ctrlPr>
                      </m:sSubPr>
                      <m:e>
                        <m:r>
                          <a:rPr lang="en-US" altLang="zh-CN" sz="3200" i="1">
                            <a:latin typeface="Cambria Math" panose="02040503050406030204" pitchFamily="18" charset="0"/>
                          </a:rPr>
                          <m:t>𝑥</m:t>
                        </m:r>
                      </m:e>
                      <m:sub>
                        <m:r>
                          <a:rPr lang="en-US" altLang="zh-CN" sz="3200" i="1">
                            <a:latin typeface="Cambria Math" panose="02040503050406030204" pitchFamily="18" charset="0"/>
                          </a:rPr>
                          <m:t>𝐴</m:t>
                        </m:r>
                      </m:sub>
                    </m:sSub>
                  </m:oMath>
                </a14:m>
                <a:r>
                  <a:rPr lang="zh-CN" altLang="zh-CN" sz="3200"/>
                  <a:t>、</a:t>
                </a:r>
                <a14:m>
                  <m:oMath xmlns:m="http://schemas.openxmlformats.org/officeDocument/2006/math">
                    <m:sSub>
                      <m:sSubPr>
                        <m:ctrlPr>
                          <a:rPr lang="zh-CN" altLang="zh-CN" sz="3200" i="1"/>
                        </m:ctrlPr>
                      </m:sSubPr>
                      <m:e>
                        <m:r>
                          <a:rPr lang="en-US" altLang="zh-CN" sz="3200" i="1">
                            <a:latin typeface="Cambria Math" panose="02040503050406030204" pitchFamily="18" charset="0"/>
                          </a:rPr>
                          <m:t>𝑦</m:t>
                        </m:r>
                      </m:e>
                      <m:sub>
                        <m:r>
                          <a:rPr lang="en-US" altLang="zh-CN" sz="3200" i="1">
                            <a:latin typeface="Cambria Math" panose="02040503050406030204" pitchFamily="18" charset="0"/>
                          </a:rPr>
                          <m:t>𝐴</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为公钥</a:t>
                </a:r>
                <a14:m>
                  <m:oMath xmlns:m="http://schemas.openxmlformats.org/officeDocument/2006/math">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𝐴</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的坐标。</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6" name="TextBox 29"/>
              <p:cNvSpPr txBox="1">
                <a:spLocks noRot="1" noChangeAspect="1" noMove="1" noResize="1" noEditPoints="1" noAdjustHandles="1" noChangeArrowheads="1" noChangeShapeType="1" noTextEdit="1"/>
              </p:cNvSpPr>
              <p:nvPr/>
            </p:nvSpPr>
            <p:spPr>
              <a:xfrm>
                <a:off x="1734904" y="1689394"/>
                <a:ext cx="15029096" cy="7249164"/>
              </a:xfrm>
              <a:prstGeom prst="rect">
                <a:avLst/>
              </a:prstGeom>
              <a:blipFill rotWithShape="1">
                <a:blip r:embed="rId1"/>
                <a:stretch>
                  <a:fillRect l="-1" t="-4" r="-951" b="-2904"/>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 name="TextBox 30"/>
          <p:cNvSpPr txBox="1"/>
          <p:nvPr/>
        </p:nvSpPr>
        <p:spPr>
          <a:xfrm>
            <a:off x="250468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lang="en-US" altLang="zh-CN"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a:t>
            </a: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312693"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a:t>
            </a: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15" name="图片 14"/>
            <p:cNvPicPr>
              <a:picLocks noChangeAspect="1"/>
            </p:cNvPicPr>
            <p:nvPr/>
          </p:nvPicPr>
          <p:blipFill>
            <a:blip r:embed="rId3"/>
            <a:stretch>
              <a:fillRect/>
            </a:stretch>
          </p:blipFill>
          <p:spPr>
            <a:xfrm>
              <a:off x="13944600" y="877286"/>
              <a:ext cx="2771429" cy="47619"/>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9"/>
              <p:cNvSpPr txBox="1"/>
              <p:nvPr/>
            </p:nvSpPr>
            <p:spPr>
              <a:xfrm>
                <a:off x="1734905" y="1597621"/>
                <a:ext cx="14343296" cy="6272102"/>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．系统的初始化过程</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首先需要选定满足安全要求的椭圆曲线，在签名产生之前，要用密码杂凑函数对</a:t>
                </a:r>
                <a14:m>
                  <m:oMath xmlns:m="http://schemas.openxmlformats.org/officeDocument/2006/math">
                    <m:bar>
                      <m:barPr>
                        <m:pos m:val="top"/>
                        <m:ctrlPr>
                          <a:rPr lang="zh-CN" altLang="zh-CN" sz="3200" i="1"/>
                        </m:ctrlPr>
                      </m:barPr>
                      <m:e>
                        <m:r>
                          <a:rPr lang="en-US" altLang="zh-CN" sz="3200" i="1">
                            <a:latin typeface="Cambria Math" panose="02040503050406030204" pitchFamily="18" charset="0"/>
                          </a:rPr>
                          <m:t>𝑀</m:t>
                        </m:r>
                      </m:e>
                    </m:bar>
                    <m:r>
                      <a:rPr lang="en-US" altLang="zh-CN" sz="32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（包含</a:t>
                </a:r>
                <a14:m>
                  <m:oMath xmlns:m="http://schemas.openxmlformats.org/officeDocument/2006/math">
                    <m:sSub>
                      <m:sSubPr>
                        <m:ctrlPr>
                          <a:rPr lang="zh-CN" altLang="zh-CN" sz="3200" i="1"/>
                        </m:ctrlPr>
                      </m:sSubPr>
                      <m:e>
                        <m:r>
                          <a:rPr lang="en-US" altLang="zh-CN" sz="3200" i="1">
                            <a:latin typeface="Cambria Math" panose="02040503050406030204" pitchFamily="18" charset="0"/>
                          </a:rPr>
                          <m:t>𝑍</m:t>
                        </m:r>
                      </m:e>
                      <m:sub>
                        <m:r>
                          <a:rPr lang="en-US" altLang="zh-CN" sz="3200" i="1">
                            <a:latin typeface="Cambria Math" panose="02040503050406030204" pitchFamily="18" charset="0"/>
                          </a:rPr>
                          <m:t>𝐴</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和待签消息</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）进行压缩，即</a:t>
                </a:r>
                <a14:m>
                  <m:oMath xmlns:m="http://schemas.openxmlformats.org/officeDocument/2006/math">
                    <m:r>
                      <a:rPr lang="en-US" altLang="zh-CN" sz="3200" i="1">
                        <a:latin typeface="Cambria Math" panose="02040503050406030204" pitchFamily="18" charset="0"/>
                      </a:rPr>
                      <m:t>𝑒</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𝐻</m:t>
                        </m:r>
                      </m:e>
                      <m:sub>
                        <m:r>
                          <a:rPr lang="en-US" altLang="zh-CN" sz="3200" i="1">
                            <a:latin typeface="Cambria Math" panose="02040503050406030204" pitchFamily="18" charset="0"/>
                          </a:rPr>
                          <m:t>𝑣</m:t>
                        </m:r>
                      </m:sub>
                    </m:sSub>
                    <m:d>
                      <m:dPr>
                        <m:ctrlPr>
                          <a:rPr lang="zh-CN" altLang="zh-CN" sz="3200" i="1"/>
                        </m:ctrlPr>
                      </m:dPr>
                      <m:e>
                        <m:bar>
                          <m:barPr>
                            <m:pos m:val="top"/>
                            <m:ctrlPr>
                              <a:rPr lang="zh-CN" altLang="zh-CN" sz="3200" i="1"/>
                            </m:ctrlPr>
                          </m:barPr>
                          <m:e>
                            <m:r>
                              <a:rPr lang="en-US" altLang="zh-CN" sz="3200" i="1">
                                <a:latin typeface="Cambria Math" panose="02040503050406030204" pitchFamily="18" charset="0"/>
                              </a:rPr>
                              <m:t>𝑀</m:t>
                            </m:r>
                          </m:e>
                        </m:bar>
                      </m:e>
                    </m:d>
                    <m:r>
                      <a:rPr lang="en-US" altLang="zh-CN" sz="32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14:m>
                  <m:oMath xmlns:m="http://schemas.openxmlformats.org/officeDocument/2006/math">
                    <m:bar>
                      <m:barPr>
                        <m:pos m:val="top"/>
                        <m:ctrlPr>
                          <a:rPr lang="zh-CN" altLang="zh-CN" sz="3200" i="1"/>
                        </m:ctrlPr>
                      </m:barPr>
                      <m:e>
                        <m:r>
                          <a:rPr lang="en-US" altLang="zh-CN" sz="3200" i="1">
                            <a:latin typeface="Cambria Math" panose="02040503050406030204" pitchFamily="18" charset="0"/>
                          </a:rPr>
                          <m:t>𝑀</m:t>
                        </m:r>
                      </m:e>
                    </m:ba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𝑍</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r>
                      <a:rPr lang="en-US" altLang="zh-CN" sz="3200" i="1">
                        <a:latin typeface="Cambria Math" panose="02040503050406030204" pitchFamily="18" charset="0"/>
                      </a:rPr>
                      <m:t>𝑀</m:t>
                    </m:r>
                    <m:r>
                      <a:rPr lang="en-US" altLang="zh-CN" sz="32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；在签名验证过程之前，要用密码杂凑函数</a:t>
                </a:r>
                <a14:m>
                  <m:oMath xmlns:m="http://schemas.openxmlformats.org/officeDocument/2006/math">
                    <m:sSup>
                      <m:sSupPr>
                        <m:ctrlPr>
                          <a:rPr lang="zh-CN" altLang="zh-CN" sz="3200" i="1"/>
                        </m:ctrlPr>
                      </m:sSupPr>
                      <m:e>
                        <m:bar>
                          <m:barPr>
                            <m:pos m:val="top"/>
                            <m:ctrlPr>
                              <a:rPr lang="zh-CN" altLang="zh-CN" sz="3200" i="1"/>
                            </m:ctrlPr>
                          </m:barPr>
                          <m:e>
                            <m:r>
                              <a:rPr lang="en-US" altLang="zh-CN" sz="3200" i="1">
                                <a:latin typeface="Cambria Math" panose="02040503050406030204" pitchFamily="18" charset="0"/>
                              </a:rPr>
                              <m:t>𝑀</m:t>
                            </m:r>
                          </m:e>
                        </m:bar>
                      </m:e>
                      <m:sup>
                        <m:r>
                          <a:rPr lang="en-US" altLang="zh-CN" sz="3200" i="1">
                            <a:latin typeface="Cambria Math" panose="02040503050406030204" pitchFamily="18" charset="0"/>
                          </a:rPr>
                          <m:t>′</m:t>
                        </m:r>
                      </m:sup>
                    </m:sSup>
                  </m:oMath>
                </a14:m>
                <a:r>
                  <a:rPr lang="zh-CN" altLang="zh-CN" sz="3600"/>
                  <a:t>（包含</a:t>
                </a:r>
                <a14:m>
                  <m:oMath xmlns:m="http://schemas.openxmlformats.org/officeDocument/2006/math">
                    <m:sSub>
                      <m:sSubPr>
                        <m:ctrlPr>
                          <a:rPr lang="zh-CN" altLang="zh-CN" sz="3200" i="1"/>
                        </m:ctrlPr>
                      </m:sSubPr>
                      <m:e>
                        <m:r>
                          <a:rPr lang="en-US" altLang="zh-CN" sz="3200" i="1">
                            <a:latin typeface="Cambria Math" panose="02040503050406030204" pitchFamily="18" charset="0"/>
                          </a:rPr>
                          <m:t>𝑍</m:t>
                        </m:r>
                      </m:e>
                      <m:sub>
                        <m:r>
                          <a:rPr lang="en-US" altLang="zh-CN" sz="3200" i="1">
                            <a:latin typeface="Cambria Math" panose="02040503050406030204" pitchFamily="18" charset="0"/>
                          </a:rPr>
                          <m:t>𝐴</m:t>
                        </m:r>
                      </m:sub>
                    </m:sSub>
                  </m:oMath>
                </a14:m>
                <a:r>
                  <a:rPr lang="zh-CN" altLang="zh-CN" sz="3600"/>
                  <a:t>和验证消息</a:t>
                </a:r>
                <a14:m>
                  <m:oMath xmlns:m="http://schemas.openxmlformats.org/officeDocument/2006/math">
                    <m:sSup>
                      <m:sSupPr>
                        <m:ctrlPr>
                          <a:rPr lang="zh-CN" altLang="zh-CN" sz="3200" i="1"/>
                        </m:ctrlPr>
                      </m:sSupPr>
                      <m:e>
                        <m:r>
                          <a:rPr lang="en-US" altLang="zh-CN" sz="3200" i="1">
                            <a:latin typeface="Cambria Math" panose="02040503050406030204" pitchFamily="18" charset="0"/>
                          </a:rPr>
                          <m:t>𝑀</m:t>
                        </m:r>
                      </m:e>
                      <m:sup>
                        <m:r>
                          <a:rPr lang="en-US" altLang="zh-CN" sz="3200" i="1">
                            <a:latin typeface="Cambria Math" panose="02040503050406030204" pitchFamily="18" charset="0"/>
                          </a:rPr>
                          <m:t>′</m:t>
                        </m:r>
                      </m:sup>
                    </m:sSup>
                  </m:oMath>
                </a14:m>
                <a:r>
                  <a:rPr lang="zh-CN" altLang="zh-CN" sz="3600"/>
                  <a:t>）</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进行压缩，即</a:t>
                </a:r>
                <a14:m>
                  <m:oMath xmlns:m="http://schemas.openxmlformats.org/officeDocument/2006/math">
                    <m:sSup>
                      <m:sSupPr>
                        <m:ctrlPr>
                          <a:rPr lang="zh-CN" altLang="zh-CN" sz="3200" i="1"/>
                        </m:ctrlPr>
                      </m:sSupPr>
                      <m:e>
                        <m:r>
                          <a:rPr lang="en-US" altLang="zh-CN" sz="3200" i="1">
                            <a:latin typeface="Cambria Math" panose="02040503050406030204" pitchFamily="18" charset="0"/>
                          </a:rPr>
                          <m:t>𝑒</m:t>
                        </m:r>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𝐻</m:t>
                        </m:r>
                      </m:e>
                      <m:sub>
                        <m:r>
                          <a:rPr lang="en-US" altLang="zh-CN" sz="3200" i="1">
                            <a:latin typeface="Cambria Math" panose="02040503050406030204" pitchFamily="18" charset="0"/>
                          </a:rPr>
                          <m:t>𝑣</m:t>
                        </m:r>
                      </m:sub>
                    </m:sSub>
                    <m:d>
                      <m:dPr>
                        <m:ctrlPr>
                          <a:rPr lang="zh-CN" altLang="zh-CN" sz="3200" i="1"/>
                        </m:ctrlPr>
                      </m:dPr>
                      <m:e>
                        <m:sSup>
                          <m:sSupPr>
                            <m:ctrlPr>
                              <a:rPr lang="zh-CN" altLang="zh-CN" sz="3200" i="1"/>
                            </m:ctrlPr>
                          </m:sSupPr>
                          <m:e>
                            <m:bar>
                              <m:barPr>
                                <m:pos m:val="top"/>
                                <m:ctrlPr>
                                  <a:rPr lang="zh-CN" altLang="zh-CN" sz="3200" i="1"/>
                                </m:ctrlPr>
                              </m:barPr>
                              <m:e>
                                <m:r>
                                  <a:rPr lang="en-US" altLang="zh-CN" sz="3200" i="1">
                                    <a:latin typeface="Cambria Math" panose="02040503050406030204" pitchFamily="18" charset="0"/>
                                  </a:rPr>
                                  <m:t>𝑀</m:t>
                                </m:r>
                              </m:e>
                            </m:bar>
                          </m:e>
                          <m:sup>
                            <m:r>
                              <a:rPr lang="en-US" altLang="zh-CN" sz="3200" i="1">
                                <a:latin typeface="Cambria Math" panose="02040503050406030204" pitchFamily="18" charset="0"/>
                              </a:rPr>
                              <m:t>′</m:t>
                            </m:r>
                          </m:sup>
                        </m:sSup>
                      </m:e>
                    </m:d>
                    <m:r>
                      <a:rPr lang="en-US" altLang="zh-CN" sz="32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14:m>
                  <m:oMath xmlns:m="http://schemas.openxmlformats.org/officeDocument/2006/math">
                    <m:sSup>
                      <m:sSupPr>
                        <m:ctrlPr>
                          <a:rPr lang="zh-CN" altLang="zh-CN" sz="3200" i="1"/>
                        </m:ctrlPr>
                      </m:sSupPr>
                      <m:e>
                        <m:bar>
                          <m:barPr>
                            <m:pos m:val="top"/>
                            <m:ctrlPr>
                              <a:rPr lang="zh-CN" altLang="zh-CN" sz="3200" i="1"/>
                            </m:ctrlPr>
                          </m:barPr>
                          <m:e>
                            <m:r>
                              <a:rPr lang="en-US" altLang="zh-CN" sz="3200" i="1">
                                <a:latin typeface="Cambria Math" panose="02040503050406030204" pitchFamily="18" charset="0"/>
                              </a:rPr>
                              <m:t>𝑀</m:t>
                            </m:r>
                          </m:e>
                        </m:bar>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𝑍</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𝑀</m:t>
                        </m:r>
                      </m:e>
                      <m:sup>
                        <m:r>
                          <a:rPr lang="en-US" altLang="zh-CN" sz="3200" i="1">
                            <a:latin typeface="Cambria Math" panose="02040503050406030204" pitchFamily="18" charset="0"/>
                          </a:rPr>
                          <m:t>′</m:t>
                        </m:r>
                      </m:sup>
                    </m:sSup>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，验证消息</a:t>
                </a:r>
                <a14:m>
                  <m:oMath xmlns:m="http://schemas.openxmlformats.org/officeDocument/2006/math">
                    <m:sSup>
                      <m:sSupPr>
                        <m:ctrlPr>
                          <a:rPr lang="zh-CN" altLang="zh-CN" sz="3200" i="1"/>
                        </m:ctrlPr>
                      </m:sSupPr>
                      <m:e>
                        <m:r>
                          <a:rPr lang="en-US" altLang="zh-CN" sz="3200" i="1">
                            <a:latin typeface="Cambria Math" panose="02040503050406030204" pitchFamily="18" charset="0"/>
                          </a:rPr>
                          <m:t>𝑀</m:t>
                        </m:r>
                      </m:e>
                      <m:sup>
                        <m:r>
                          <a:rPr lang="en-US" altLang="zh-CN" sz="3200" i="1">
                            <a:latin typeface="Cambria Math" panose="02040503050406030204" pitchFamily="18" charset="0"/>
                          </a:rPr>
                          <m:t>′</m:t>
                        </m:r>
                      </m:sup>
                    </m:sSup>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即待签消息</a:t>
                </a:r>
                <a:r>
                  <a:rPr lang="en-US" altLang="zh-CN" sz="3200" i="1">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对于签名者</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来说，其私钥</a:t>
                </a:r>
                <a14:m>
                  <m:oMath xmlns:m="http://schemas.openxmlformats.org/officeDocument/2006/math">
                    <m:sSub>
                      <m:sSubPr>
                        <m:ctrlPr>
                          <a:rPr lang="zh-CN" altLang="zh-CN" sz="3200" i="1"/>
                        </m:ctrlPr>
                      </m:sSubPr>
                      <m:e>
                        <m:r>
                          <a:rPr lang="en-US" altLang="zh-CN" sz="3200" i="1" smtClean="0">
                            <a:latin typeface="Cambria Math" panose="02040503050406030204" pitchFamily="18" charset="0"/>
                          </a:rPr>
                          <m:t>𝑑</m:t>
                        </m:r>
                      </m:e>
                      <m:sub>
                        <m:r>
                          <a:rPr lang="en-US" altLang="zh-CN" sz="3200" i="1">
                            <a:latin typeface="Cambria Math" panose="02040503050406030204" pitchFamily="18" charset="0"/>
                          </a:rPr>
                          <m:t>𝐴</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由随机数发生器产生，且</a:t>
                </a:r>
                <a14:m>
                  <m:oMath xmlns:m="http://schemas.openxmlformats.org/officeDocument/2006/math">
                    <m:sSub>
                      <m:sSubPr>
                        <m:ctrlPr>
                          <a:rPr lang="zh-CN" altLang="zh-CN" sz="3200" i="1"/>
                        </m:ctrlPr>
                      </m:sSubPr>
                      <m:e>
                        <m:r>
                          <a:rPr lang="en-US" altLang="zh-CN" sz="3200" i="1">
                            <a:latin typeface="Cambria Math" panose="02040503050406030204" pitchFamily="18" charset="0"/>
                          </a:rPr>
                          <m:t>𝑑</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d>
                      <m:dPr>
                        <m:begChr m:val="["/>
                        <m:endChr m:val="]"/>
                        <m:ctrlPr>
                          <a:rPr lang="zh-CN" altLang="zh-CN" sz="3200" i="1"/>
                        </m:ctrlPr>
                      </m:dPr>
                      <m:e>
                        <m:r>
                          <a:rPr lang="en-US" altLang="zh-CN" sz="3200" i="1">
                            <a:latin typeface="Cambria Math" panose="02040503050406030204" pitchFamily="18" charset="0"/>
                          </a:rPr>
                          <m:t>1</m:t>
                        </m:r>
                        <m:r>
                          <a:rPr lang="zh-CN" altLang="zh-CN" sz="3200" i="1">
                            <a:latin typeface="Cambria Math" panose="02040503050406030204" pitchFamily="18" charset="0"/>
                          </a:rPr>
                          <m:t>，</m:t>
                        </m:r>
                        <m:r>
                          <a:rPr lang="en-US" altLang="zh-CN" sz="3200" i="1">
                            <a:latin typeface="Cambria Math" panose="02040503050406030204" pitchFamily="18" charset="0"/>
                          </a:rPr>
                          <m:t>𝑛</m:t>
                        </m:r>
                        <m:r>
                          <a:rPr lang="en-US" altLang="zh-CN" sz="3200" i="1">
                            <a:latin typeface="Cambria Math" panose="02040503050406030204" pitchFamily="18" charset="0"/>
                          </a:rPr>
                          <m:t>−</m:t>
                        </m:r>
                        <m:r>
                          <a:rPr lang="en-US" altLang="zh-CN" sz="3200" i="1">
                            <a:latin typeface="Cambria Math" panose="02040503050406030204" pitchFamily="18" charset="0"/>
                          </a:rPr>
                          <m:t>2</m:t>
                        </m:r>
                      </m:e>
                    </m:d>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n</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为基点</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G</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的阶；其公钥</a:t>
                </a:r>
                <a14:m>
                  <m:oMath xmlns:m="http://schemas.openxmlformats.org/officeDocument/2006/math">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𝐴</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根据</a:t>
                </a:r>
                <a14:m>
                  <m:oMath xmlns:m="http://schemas.openxmlformats.org/officeDocument/2006/math">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𝑑</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r>
                      <a:rPr lang="en-US" altLang="zh-CN" sz="3200" i="1">
                        <a:latin typeface="Cambria Math" panose="02040503050406030204" pitchFamily="18" charset="0"/>
                      </a:rPr>
                      <m:t>𝐺</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得到，</a:t>
                </a:r>
                <a14:m>
                  <m:oMath xmlns:m="http://schemas.openxmlformats.org/officeDocument/2006/math">
                    <m:d>
                      <m:dPr>
                        <m:ctrlPr>
                          <a:rPr lang="zh-CN" altLang="zh-CN" sz="3200" i="1"/>
                        </m:ctrlPr>
                      </m:dPr>
                      <m:e>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𝐴</m:t>
                            </m:r>
                          </m:sub>
                        </m:sSub>
                        <m:r>
                          <a:rPr lang="zh-CN"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𝑑</m:t>
                            </m:r>
                          </m:e>
                          <m:sub>
                            <m:r>
                              <a:rPr lang="en-US" altLang="zh-CN" sz="3200" i="1">
                                <a:latin typeface="Cambria Math" panose="02040503050406030204" pitchFamily="18" charset="0"/>
                              </a:rPr>
                              <m:t>𝐴</m:t>
                            </m:r>
                          </m:sub>
                        </m:sSub>
                      </m:e>
                    </m:d>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即所需要的公私密钥对。</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6" name="TextBox 29"/>
              <p:cNvSpPr txBox="1">
                <a:spLocks noRot="1" noChangeAspect="1" noMove="1" noResize="1" noEditPoints="1" noAdjustHandles="1" noChangeArrowheads="1" noChangeShapeType="1" noTextEdit="1"/>
              </p:cNvSpPr>
              <p:nvPr/>
            </p:nvSpPr>
            <p:spPr>
              <a:xfrm>
                <a:off x="1734905" y="1597621"/>
                <a:ext cx="14343296" cy="6272102"/>
              </a:xfrm>
              <a:prstGeom prst="rect">
                <a:avLst/>
              </a:prstGeom>
              <a:blipFill rotWithShape="1">
                <a:blip r:embed="rId1"/>
                <a:stretch>
                  <a:fillRect l="-1" t="-10" b="-2194"/>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6" name="TextBox 30"/>
          <p:cNvSpPr txBox="1"/>
          <p:nvPr/>
        </p:nvSpPr>
        <p:spPr>
          <a:xfrm>
            <a:off x="250468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lang="en-US" altLang="zh-CN"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a:t>
            </a: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312693"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a:t>
            </a: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9"/>
              <p:cNvSpPr txBox="1"/>
              <p:nvPr/>
            </p:nvSpPr>
            <p:spPr>
              <a:xfrm>
                <a:off x="1734903" y="1665966"/>
                <a:ext cx="14818191" cy="6494150"/>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．签名与验证过程</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nSpc>
                    <a:spcPct val="120000"/>
                  </a:lnSpc>
                </a:pPr>
                <a:r>
                  <a:rPr lang="zh-CN" altLang="zh-CN" sz="3600"/>
                  <a:t>签名者</a:t>
                </a:r>
                <a:r>
                  <a:rPr lang="en-US" altLang="zh-CN" sz="3600"/>
                  <a:t>A</a:t>
                </a:r>
                <a:r>
                  <a:rPr lang="zh-CN" altLang="zh-CN" sz="3600"/>
                  <a:t>首先需要用随机数发生器产生</a:t>
                </a:r>
                <a14:m>
                  <m:oMath xmlns:m="http://schemas.openxmlformats.org/officeDocument/2006/math">
                    <m:r>
                      <a:rPr lang="en-US" altLang="zh-CN" sz="3200" i="1">
                        <a:latin typeface="Cambria Math" panose="02040503050406030204" pitchFamily="18" charset="0"/>
                      </a:rPr>
                      <m:t>𝑘</m:t>
                    </m:r>
                    <m:r>
                      <a:rPr lang="en-US" altLang="zh-CN" sz="3200" i="1">
                        <a:latin typeface="Cambria Math" panose="02040503050406030204" pitchFamily="18" charset="0"/>
                      </a:rPr>
                      <m:t>∈</m:t>
                    </m:r>
                    <m:d>
                      <m:dPr>
                        <m:begChr m:val="["/>
                        <m:endChr m:val="]"/>
                        <m:ctrlPr>
                          <a:rPr lang="zh-CN" altLang="zh-CN" sz="3200" i="1"/>
                        </m:ctrlPr>
                      </m:dPr>
                      <m:e>
                        <m:r>
                          <a:rPr lang="en-US" altLang="zh-CN" sz="3200" i="1">
                            <a:latin typeface="Cambria Math" panose="02040503050406030204" pitchFamily="18" charset="0"/>
                          </a:rPr>
                          <m:t>1</m:t>
                        </m:r>
                        <m:r>
                          <a:rPr lang="zh-CN" altLang="zh-CN" sz="3200" i="1">
                            <a:latin typeface="Cambria Math" panose="02040503050406030204" pitchFamily="18" charset="0"/>
                          </a:rPr>
                          <m:t>，</m:t>
                        </m:r>
                        <m:r>
                          <a:rPr lang="en-US" altLang="zh-CN" sz="3200" i="1">
                            <a:latin typeface="Cambria Math" panose="02040503050406030204" pitchFamily="18" charset="0"/>
                          </a:rPr>
                          <m:t>𝑛</m:t>
                        </m:r>
                        <m:r>
                          <a:rPr lang="en-US" altLang="zh-CN" sz="3200" i="1">
                            <a:latin typeface="Cambria Math" panose="02040503050406030204" pitchFamily="18" charset="0"/>
                          </a:rPr>
                          <m:t>−</m:t>
                        </m:r>
                        <m:r>
                          <a:rPr lang="en-US" altLang="zh-CN" sz="3200" i="1">
                            <a:latin typeface="Cambria Math" panose="02040503050406030204" pitchFamily="18" charset="0"/>
                          </a:rPr>
                          <m:t>1</m:t>
                        </m:r>
                      </m:e>
                    </m:d>
                  </m:oMath>
                </a14:m>
                <a:r>
                  <a:rPr lang="zh-CN" altLang="zh-CN" sz="3600"/>
                  <a:t>，并与椭圆曲线的基点</a:t>
                </a:r>
                <a14:m>
                  <m:oMath xmlns:m="http://schemas.openxmlformats.org/officeDocument/2006/math">
                    <m:r>
                      <a:rPr lang="en-US" altLang="zh-CN" sz="3600" i="1">
                        <a:latin typeface="Cambria Math" panose="02040503050406030204" pitchFamily="18" charset="0"/>
                      </a:rPr>
                      <m:t>𝐺</m:t>
                    </m:r>
                  </m:oMath>
                </a14:m>
                <a:r>
                  <a:rPr lang="zh-CN" altLang="zh-CN" sz="3600"/>
                  <a:t>相乘得到椭圆曲线点</a:t>
                </a:r>
                <a14:m>
                  <m:oMath xmlns:m="http://schemas.openxmlformats.org/officeDocument/2006/math">
                    <m:d>
                      <m:dPr>
                        <m:ctrlPr>
                          <a:rPr lang="zh-CN" altLang="zh-CN" sz="3200" i="1"/>
                        </m:ctrlPr>
                      </m:dPr>
                      <m:e>
                        <m:sSub>
                          <m:sSubPr>
                            <m:ctrlPr>
                              <a:rPr lang="zh-CN" altLang="zh-CN" sz="3200" i="1"/>
                            </m:ctrlPr>
                          </m:sSubPr>
                          <m:e>
                            <m:r>
                              <a:rPr lang="en-US" altLang="zh-CN" sz="3200" i="1">
                                <a:latin typeface="Cambria Math" panose="02040503050406030204" pitchFamily="18" charset="0"/>
                              </a:rPr>
                              <m:t>𝑥</m:t>
                            </m:r>
                          </m:e>
                          <m:sub>
                            <m:r>
                              <a:rPr lang="en-US" altLang="zh-CN" sz="3200" i="1">
                                <a:latin typeface="Cambria Math" panose="02040503050406030204" pitchFamily="18" charset="0"/>
                              </a:rPr>
                              <m:t>1</m:t>
                            </m:r>
                          </m:sub>
                        </m:sSub>
                        <m:r>
                          <a:rPr lang="zh-CN"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𝑦</m:t>
                            </m:r>
                          </m:e>
                          <m:sub>
                            <m:r>
                              <a:rPr lang="en-US" altLang="zh-CN" sz="3200" i="1">
                                <a:latin typeface="Cambria Math" panose="02040503050406030204" pitchFamily="18" charset="0"/>
                              </a:rPr>
                              <m:t>1</m:t>
                            </m:r>
                          </m:sub>
                        </m:sSub>
                      </m:e>
                    </m:d>
                    <m:r>
                      <a:rPr lang="en-US" altLang="zh-CN" sz="3200" i="1">
                        <a:latin typeface="Cambria Math" panose="02040503050406030204" pitchFamily="18" charset="0"/>
                      </a:rPr>
                      <m:t>=</m:t>
                    </m:r>
                    <m:d>
                      <m:dPr>
                        <m:begChr m:val="["/>
                        <m:endChr m:val="]"/>
                        <m:ctrlPr>
                          <a:rPr lang="zh-CN" altLang="zh-CN" sz="3200" i="1"/>
                        </m:ctrlPr>
                      </m:dPr>
                      <m:e>
                        <m:r>
                          <a:rPr lang="en-US" altLang="zh-CN" sz="3200" i="1">
                            <a:latin typeface="Cambria Math" panose="02040503050406030204" pitchFamily="18" charset="0"/>
                          </a:rPr>
                          <m:t>𝑘</m:t>
                        </m:r>
                      </m:e>
                    </m:d>
                    <m:r>
                      <a:rPr lang="en-US" altLang="zh-CN" sz="3200" i="1">
                        <a:latin typeface="Cambria Math" panose="02040503050406030204" pitchFamily="18" charset="0"/>
                      </a:rPr>
                      <m:t>𝐺</m:t>
                    </m:r>
                  </m:oMath>
                </a14:m>
                <a:r>
                  <a:rPr lang="zh-CN" altLang="zh-CN" sz="3600"/>
                  <a:t>。然后签名者</a:t>
                </a:r>
                <a:r>
                  <a:rPr lang="en-US" altLang="zh-CN" sz="3600"/>
                  <a:t>A</a:t>
                </a:r>
                <a:r>
                  <a:rPr lang="zh-CN" altLang="zh-CN" sz="3600"/>
                  <a:t>根据</a:t>
                </a:r>
                <a14:m>
                  <m:oMath xmlns:m="http://schemas.openxmlformats.org/officeDocument/2006/math">
                    <m:r>
                      <a:rPr lang="en-US" altLang="zh-CN" sz="3600" i="1">
                        <a:latin typeface="Cambria Math" panose="02040503050406030204" pitchFamily="18" charset="0"/>
                      </a:rPr>
                      <m:t>𝑟</m:t>
                    </m:r>
                    <m:r>
                      <a:rPr lang="en-US" altLang="zh-CN" sz="3600" i="1">
                        <a:latin typeface="Cambria Math" panose="02040503050406030204" pitchFamily="18" charset="0"/>
                      </a:rPr>
                      <m:t>=</m:t>
                    </m:r>
                    <m:d>
                      <m:dPr>
                        <m:ctrlPr>
                          <a:rPr lang="zh-CN" altLang="zh-CN" sz="3600" i="1"/>
                        </m:ctrlPr>
                      </m:dPr>
                      <m:e>
                        <m:r>
                          <a:rPr lang="en-US" altLang="zh-CN" sz="3600" i="1">
                            <a:latin typeface="Cambria Math" panose="02040503050406030204" pitchFamily="18" charset="0"/>
                          </a:rPr>
                          <m:t>𝑒</m:t>
                        </m:r>
                        <m:r>
                          <a:rPr lang="en-US" altLang="zh-CN" sz="3600" i="1">
                            <a:latin typeface="Cambria Math" panose="02040503050406030204" pitchFamily="18" charset="0"/>
                          </a:rPr>
                          <m:t>+</m:t>
                        </m:r>
                        <m:sSub>
                          <m:sSubPr>
                            <m:ctrlPr>
                              <a:rPr lang="zh-CN" altLang="zh-CN" sz="3600" i="1"/>
                            </m:ctrlPr>
                          </m:sSubPr>
                          <m:e>
                            <m:r>
                              <a:rPr lang="en-US" altLang="zh-CN" sz="3600" i="1">
                                <a:latin typeface="Cambria Math" panose="02040503050406030204" pitchFamily="18" charset="0"/>
                              </a:rPr>
                              <m:t>𝑥</m:t>
                            </m:r>
                          </m:e>
                          <m:sub>
                            <m:r>
                              <a:rPr lang="en-US" altLang="zh-CN" sz="3600" i="1">
                                <a:latin typeface="Cambria Math" panose="02040503050406030204" pitchFamily="18" charset="0"/>
                              </a:rPr>
                              <m:t>1</m:t>
                            </m:r>
                          </m:sub>
                        </m:sSub>
                      </m:e>
                    </m:d>
                    <m:func>
                      <m:funcPr>
                        <m:ctrlPr>
                          <a:rPr lang="zh-CN" altLang="zh-CN" sz="3600" i="1"/>
                        </m:ctrlPr>
                      </m:funcPr>
                      <m:fName>
                        <m:r>
                          <a:rPr lang="en-US" altLang="zh-CN" sz="3600" i="1">
                            <a:latin typeface="Cambria Math" panose="02040503050406030204" pitchFamily="18" charset="0"/>
                          </a:rPr>
                          <m:t>𝑚𝑜𝑑</m:t>
                        </m:r>
                      </m:fName>
                      <m:e>
                        <m:r>
                          <a:rPr lang="en-US" altLang="zh-CN" sz="3600" i="1">
                            <a:latin typeface="Cambria Math" panose="02040503050406030204" pitchFamily="18" charset="0"/>
                          </a:rPr>
                          <m:t>𝑛</m:t>
                        </m:r>
                      </m:e>
                    </m:func>
                  </m:oMath>
                </a14:m>
                <a:r>
                  <a:rPr lang="zh-CN" altLang="zh-CN" sz="3600"/>
                  <a:t>计算出</a:t>
                </a:r>
                <a14:m>
                  <m:oMath xmlns:m="http://schemas.openxmlformats.org/officeDocument/2006/math">
                    <m:r>
                      <a:rPr lang="en-US" altLang="zh-CN" sz="3200" i="1">
                        <a:latin typeface="Cambria Math" panose="02040503050406030204" pitchFamily="18" charset="0"/>
                      </a:rPr>
                      <m:t>𝑟</m:t>
                    </m:r>
                  </m:oMath>
                </a14:m>
                <a:r>
                  <a:rPr lang="zh-CN" altLang="zh-CN" sz="3600"/>
                  <a:t>，并利用自己的私钥</a:t>
                </a:r>
                <a14:m>
                  <m:oMath xmlns:m="http://schemas.openxmlformats.org/officeDocument/2006/math">
                    <m:sSub>
                      <m:sSubPr>
                        <m:ctrlPr>
                          <a:rPr lang="zh-CN" altLang="zh-CN" sz="3600" i="1"/>
                        </m:ctrlPr>
                      </m:sSubPr>
                      <m:e>
                        <m:r>
                          <a:rPr lang="en-US" altLang="zh-CN" sz="3600" i="1">
                            <a:latin typeface="Cambria Math" panose="02040503050406030204" pitchFamily="18" charset="0"/>
                          </a:rPr>
                          <m:t>𝑑</m:t>
                        </m:r>
                      </m:e>
                      <m:sub>
                        <m:r>
                          <a:rPr lang="en-US" altLang="zh-CN" sz="3600" i="1">
                            <a:latin typeface="Cambria Math" panose="02040503050406030204" pitchFamily="18" charset="0"/>
                          </a:rPr>
                          <m:t>𝐴</m:t>
                        </m:r>
                      </m:sub>
                    </m:sSub>
                  </m:oMath>
                </a14:m>
                <a:r>
                  <a:rPr lang="zh-CN" altLang="zh-CN" sz="3600"/>
                  <a:t>和</a:t>
                </a:r>
                <a14:m>
                  <m:oMath xmlns:m="http://schemas.openxmlformats.org/officeDocument/2006/math">
                    <m:r>
                      <a:rPr lang="en-US" altLang="zh-CN" sz="3600" i="1">
                        <a:latin typeface="Cambria Math" panose="02040503050406030204" pitchFamily="18" charset="0"/>
                      </a:rPr>
                      <m:t>𝑟</m:t>
                    </m:r>
                  </m:oMath>
                </a14:m>
                <a:r>
                  <a:rPr lang="zh-CN" altLang="zh-CN" sz="3600"/>
                  <a:t>计算</a:t>
                </a:r>
                <a14:m>
                  <m:oMath xmlns:m="http://schemas.openxmlformats.org/officeDocument/2006/math">
                    <m:r>
                      <a:rPr lang="en-US" altLang="zh-CN" sz="3200" i="1">
                        <a:latin typeface="Cambria Math" panose="02040503050406030204" pitchFamily="18" charset="0"/>
                      </a:rPr>
                      <m:t>𝑠</m:t>
                    </m:r>
                    <m:r>
                      <a:rPr lang="en-US" altLang="zh-CN" sz="3200" i="1">
                        <a:latin typeface="Cambria Math" panose="02040503050406030204" pitchFamily="18" charset="0"/>
                      </a:rPr>
                      <m:t>=</m:t>
                    </m:r>
                    <m:d>
                      <m:dPr>
                        <m:ctrlPr>
                          <a:rPr lang="zh-CN" altLang="zh-CN" sz="3200" i="1"/>
                        </m:ctrlPr>
                      </m:dPr>
                      <m:e>
                        <m:sSup>
                          <m:sSupPr>
                            <m:ctrlPr>
                              <a:rPr lang="zh-CN" altLang="zh-CN" sz="3200" i="1"/>
                            </m:ctrlPr>
                          </m:sSupPr>
                          <m:e>
                            <m:d>
                              <m:dPr>
                                <m:ctrlPr>
                                  <a:rPr lang="zh-CN" altLang="zh-CN" sz="3200" i="1"/>
                                </m:ctrlPr>
                              </m:dPr>
                              <m:e>
                                <m:r>
                                  <a:rPr lang="en-US" altLang="zh-CN" sz="3200" i="1">
                                    <a:latin typeface="Cambria Math" panose="02040503050406030204" pitchFamily="18" charset="0"/>
                                  </a:rPr>
                                  <m:t>1</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𝑑</m:t>
                                    </m:r>
                                  </m:e>
                                  <m:sub>
                                    <m:r>
                                      <a:rPr lang="en-US" altLang="zh-CN" sz="3200" i="1">
                                        <a:latin typeface="Cambria Math" panose="02040503050406030204" pitchFamily="18" charset="0"/>
                                      </a:rPr>
                                      <m:t>𝐴</m:t>
                                    </m:r>
                                  </m:sub>
                                </m:sSub>
                              </m:e>
                            </m:d>
                          </m:e>
                          <m:sup>
                            <m:r>
                              <a:rPr lang="en-US" altLang="zh-CN" sz="3200" i="1">
                                <a:latin typeface="Cambria Math" panose="02040503050406030204" pitchFamily="18" charset="0"/>
                              </a:rPr>
                              <m:t>−</m:t>
                            </m:r>
                            <m:r>
                              <a:rPr lang="en-US" altLang="zh-CN" sz="3200" i="1">
                                <a:latin typeface="Cambria Math" panose="02040503050406030204" pitchFamily="18" charset="0"/>
                              </a:rPr>
                              <m:t>1</m:t>
                            </m:r>
                          </m:sup>
                        </m:sSup>
                        <m:r>
                          <a:rPr lang="en-US" altLang="zh-CN" sz="3200" i="1">
                            <a:latin typeface="Cambria Math" panose="02040503050406030204" pitchFamily="18" charset="0"/>
                          </a:rPr>
                          <m:t>⋅</m:t>
                        </m:r>
                        <m:d>
                          <m:dPr>
                            <m:ctrlPr>
                              <a:rPr lang="zh-CN" altLang="zh-CN" sz="3200" i="1"/>
                            </m:ctrlPr>
                          </m:dPr>
                          <m:e>
                            <m:r>
                              <a:rPr lang="en-US" altLang="zh-CN" sz="3200" i="1">
                                <a:latin typeface="Cambria Math" panose="02040503050406030204" pitchFamily="18" charset="0"/>
                              </a:rPr>
                              <m:t>𝑘</m:t>
                            </m:r>
                            <m:r>
                              <a:rPr lang="en-US" altLang="zh-CN" sz="3200" i="1">
                                <a:latin typeface="Cambria Math" panose="02040503050406030204" pitchFamily="18" charset="0"/>
                              </a:rPr>
                              <m:t>−</m:t>
                            </m:r>
                            <m:r>
                              <a:rPr lang="en-US" altLang="zh-CN" sz="3200" i="1">
                                <a:latin typeface="Cambria Math" panose="02040503050406030204" pitchFamily="18" charset="0"/>
                              </a:rPr>
                              <m:t>𝑟</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𝑑</m:t>
                                </m:r>
                              </m:e>
                              <m:sub>
                                <m:r>
                                  <a:rPr lang="en-US" altLang="zh-CN" sz="3200" i="1">
                                    <a:latin typeface="Cambria Math" panose="02040503050406030204" pitchFamily="18" charset="0"/>
                                  </a:rPr>
                                  <m:t>𝐴</m:t>
                                </m:r>
                              </m:sub>
                            </m:sSub>
                          </m:e>
                        </m:d>
                      </m:e>
                    </m:d>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𝑛</m:t>
                        </m:r>
                      </m:e>
                    </m:func>
                  </m:oMath>
                </a14:m>
                <a:r>
                  <a:rPr lang="zh-CN" altLang="zh-CN" sz="3600"/>
                  <a:t>，则</a:t>
                </a:r>
                <a14:m>
                  <m:oMath xmlns:m="http://schemas.openxmlformats.org/officeDocument/2006/math">
                    <m:d>
                      <m:dPr>
                        <m:ctrlPr>
                          <a:rPr lang="zh-CN" altLang="zh-CN" sz="3200" i="1"/>
                        </m:ctrlPr>
                      </m:dPr>
                      <m:e>
                        <m:r>
                          <a:rPr lang="en-US" altLang="zh-CN" sz="3200" i="1">
                            <a:latin typeface="Cambria Math" panose="02040503050406030204" pitchFamily="18" charset="0"/>
                          </a:rPr>
                          <m:t>𝑟</m:t>
                        </m:r>
                        <m:r>
                          <a:rPr lang="zh-CN" altLang="zh-CN" sz="3200" i="1">
                            <a:latin typeface="Cambria Math" panose="02040503050406030204" pitchFamily="18" charset="0"/>
                          </a:rPr>
                          <m:t>，</m:t>
                        </m:r>
                        <m:r>
                          <a:rPr lang="en-US" altLang="zh-CN" sz="3200" i="1">
                            <a:latin typeface="Cambria Math" panose="02040503050406030204" pitchFamily="18" charset="0"/>
                          </a:rPr>
                          <m:t>𝑠</m:t>
                        </m:r>
                      </m:e>
                    </m:d>
                  </m:oMath>
                </a14:m>
                <a:r>
                  <a:rPr lang="zh-CN" altLang="zh-CN" sz="3600"/>
                  <a:t>即消息</a:t>
                </a:r>
                <a14:m>
                  <m:oMath xmlns:m="http://schemas.openxmlformats.org/officeDocument/2006/math">
                    <m:r>
                      <a:rPr lang="en-US" altLang="zh-CN" sz="3200" i="1">
                        <a:latin typeface="Cambria Math" panose="02040503050406030204" pitchFamily="18" charset="0"/>
                      </a:rPr>
                      <m:t>𝑀</m:t>
                    </m:r>
                  </m:oMath>
                </a14:m>
                <a:r>
                  <a:rPr lang="zh-CN" altLang="zh-CN" sz="3600"/>
                  <a:t>的签名。</a:t>
                </a:r>
                <a:endParaRPr lang="zh-CN" altLang="zh-CN" sz="3600"/>
              </a:p>
              <a:p>
                <a:pPr indent="914400">
                  <a:lnSpc>
                    <a:spcPct val="120000"/>
                  </a:lnSpc>
                </a:pPr>
                <a:r>
                  <a:rPr lang="zh-CN" altLang="zh-CN" sz="3600"/>
                  <a:t>接收方</a:t>
                </a:r>
                <a:r>
                  <a:rPr lang="en-US" altLang="zh-CN" sz="3600"/>
                  <a:t>B</a:t>
                </a:r>
                <a:r>
                  <a:rPr lang="zh-CN" altLang="zh-CN" sz="3600"/>
                  <a:t>收到签名者</a:t>
                </a:r>
                <a:r>
                  <a:rPr lang="en-US" altLang="zh-CN" sz="3600"/>
                  <a:t>A</a:t>
                </a:r>
                <a:r>
                  <a:rPr lang="zh-CN" altLang="zh-CN" sz="3600"/>
                  <a:t>的消息</a:t>
                </a:r>
                <a14:m>
                  <m:oMath xmlns:m="http://schemas.openxmlformats.org/officeDocument/2006/math">
                    <m:r>
                      <a:rPr lang="en-US" altLang="zh-CN" sz="3200" i="1">
                        <a:latin typeface="Cambria Math" panose="02040503050406030204" pitchFamily="18" charset="0"/>
                      </a:rPr>
                      <m:t>𝑀</m:t>
                    </m:r>
                  </m:oMath>
                </a14:m>
                <a:r>
                  <a:rPr lang="zh-CN" altLang="zh-CN" sz="3600"/>
                  <a:t>和签名</a:t>
                </a:r>
                <a14:m>
                  <m:oMath xmlns:m="http://schemas.openxmlformats.org/officeDocument/2006/math">
                    <m:d>
                      <m:dPr>
                        <m:ctrlPr>
                          <a:rPr lang="zh-CN" altLang="zh-CN" sz="3200" i="1"/>
                        </m:ctrlPr>
                      </m:dPr>
                      <m:e>
                        <m:r>
                          <a:rPr lang="en-US" altLang="zh-CN" sz="3200" i="1">
                            <a:latin typeface="Cambria Math" panose="02040503050406030204" pitchFamily="18" charset="0"/>
                          </a:rPr>
                          <m:t>𝑟</m:t>
                        </m:r>
                        <m:r>
                          <a:rPr lang="zh-CN" altLang="zh-CN" sz="3200" i="1">
                            <a:latin typeface="Cambria Math" panose="02040503050406030204" pitchFamily="18" charset="0"/>
                          </a:rPr>
                          <m:t>，</m:t>
                        </m:r>
                        <m:r>
                          <a:rPr lang="en-US" altLang="zh-CN" sz="3200" i="1">
                            <a:latin typeface="Cambria Math" panose="02040503050406030204" pitchFamily="18" charset="0"/>
                          </a:rPr>
                          <m:t>𝑠</m:t>
                        </m:r>
                      </m:e>
                    </m:d>
                  </m:oMath>
                </a14:m>
                <a:r>
                  <a:rPr lang="zh-CN" altLang="zh-CN" sz="3600"/>
                  <a:t>后，利用</a:t>
                </a:r>
                <a:r>
                  <a:rPr lang="en-US" altLang="zh-CN" sz="3600"/>
                  <a:t>A</a:t>
                </a:r>
                <a:r>
                  <a:rPr lang="zh-CN" altLang="zh-CN" sz="3600"/>
                  <a:t>的公钥</a:t>
                </a:r>
                <a14:m>
                  <m:oMath xmlns:m="http://schemas.openxmlformats.org/officeDocument/2006/math">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𝐴</m:t>
                        </m:r>
                      </m:sub>
                    </m:sSub>
                  </m:oMath>
                </a14:m>
                <a:r>
                  <a:rPr lang="zh-CN" altLang="zh-CN" sz="3600"/>
                  <a:t>，根据</a:t>
                </a:r>
                <a14:m>
                  <m:oMath xmlns:m="http://schemas.openxmlformats.org/officeDocument/2006/math">
                    <m:d>
                      <m:dPr>
                        <m:ctrlPr>
                          <a:rPr lang="zh-CN" altLang="zh-CN" sz="3200" i="1">
                            <a:latin typeface="Cambria Math" panose="02040503050406030204" pitchFamily="18" charset="0"/>
                          </a:rPr>
                        </m:ctrlPr>
                      </m:dPr>
                      <m:e>
                        <m:sSup>
                          <m:sSupPr>
                            <m:ctrlPr>
                              <a:rPr lang="zh-CN" altLang="zh-CN" sz="3200" i="1">
                                <a:latin typeface="Cambria Math" panose="02040503050406030204" pitchFamily="18" charset="0"/>
                              </a:rPr>
                            </m:ctrlPr>
                          </m:sSupPr>
                          <m:e>
                            <m:sSub>
                              <m:sSubPr>
                                <m:ctrlPr>
                                  <a:rPr lang="zh-CN" altLang="zh-CN" sz="3200" i="1">
                                    <a:latin typeface="Cambria Math" panose="02040503050406030204" pitchFamily="18" charset="0"/>
                                  </a:rPr>
                                </m:ctrlPr>
                              </m:sSubPr>
                              <m:e>
                                <m:r>
                                  <a:rPr lang="en-US" altLang="zh-CN" sz="3200" i="1">
                                    <a:latin typeface="Cambria Math" panose="02040503050406030204" pitchFamily="18" charset="0"/>
                                  </a:rPr>
                                  <m:t>𝑥</m:t>
                                </m:r>
                              </m:e>
                              <m:sub>
                                <m:r>
                                  <a:rPr lang="en-US" altLang="zh-CN" sz="3200" i="1">
                                    <a:latin typeface="Cambria Math" panose="02040503050406030204" pitchFamily="18" charset="0"/>
                                  </a:rPr>
                                  <m:t>1</m:t>
                                </m:r>
                              </m:sub>
                            </m:sSub>
                          </m:e>
                          <m:sup>
                            <m:r>
                              <a:rPr lang="en-US" altLang="zh-CN" sz="3200" i="1">
                                <a:latin typeface="Cambria Math" panose="02040503050406030204" pitchFamily="18" charset="0"/>
                              </a:rPr>
                              <m:t>′</m:t>
                            </m:r>
                          </m:sup>
                        </m:sSup>
                        <m:r>
                          <a:rPr lang="zh-CN" altLang="zh-CN" sz="3200" i="1">
                            <a:latin typeface="Cambria Math" panose="02040503050406030204" pitchFamily="18" charset="0"/>
                          </a:rPr>
                          <m:t>，</m:t>
                        </m:r>
                        <m:sSup>
                          <m:sSupPr>
                            <m:ctrlPr>
                              <a:rPr lang="zh-CN" altLang="zh-CN" sz="3200" i="1">
                                <a:latin typeface="Cambria Math" panose="02040503050406030204" pitchFamily="18" charset="0"/>
                              </a:rPr>
                            </m:ctrlPr>
                          </m:sSupPr>
                          <m:e>
                            <m:sSub>
                              <m:sSubPr>
                                <m:ctrlPr>
                                  <a:rPr lang="zh-CN" altLang="zh-CN" sz="3200" i="1">
                                    <a:latin typeface="Cambria Math" panose="02040503050406030204" pitchFamily="18" charset="0"/>
                                  </a:rPr>
                                </m:ctrlPr>
                              </m:sSubPr>
                              <m:e>
                                <m:r>
                                  <a:rPr lang="en-US" altLang="zh-CN" sz="3200" i="1">
                                    <a:latin typeface="Cambria Math" panose="02040503050406030204" pitchFamily="18" charset="0"/>
                                  </a:rPr>
                                  <m:t>𝑦</m:t>
                                </m:r>
                              </m:e>
                              <m:sub>
                                <m:r>
                                  <a:rPr lang="en-US" altLang="zh-CN" sz="3200" i="1">
                                    <a:latin typeface="Cambria Math" panose="02040503050406030204" pitchFamily="18" charset="0"/>
                                  </a:rPr>
                                  <m:t>1</m:t>
                                </m:r>
                              </m:sub>
                            </m:sSub>
                          </m:e>
                          <m:sup>
                            <m:r>
                              <a:rPr lang="en-US" altLang="zh-CN" sz="3200" i="1">
                                <a:latin typeface="Cambria Math" panose="02040503050406030204" pitchFamily="18" charset="0"/>
                              </a:rPr>
                              <m:t>′</m:t>
                            </m:r>
                          </m:sup>
                        </m:sSup>
                      </m:e>
                    </m:d>
                    <m:r>
                      <a:rPr lang="en-US" altLang="zh-CN" sz="3200" b="0" i="1" smtClean="0">
                        <a:latin typeface="Cambria Math" panose="02040503050406030204" pitchFamily="18" charset="0"/>
                      </a:rPr>
                      <m:t>=</m:t>
                    </m:r>
                    <m:d>
                      <m:dPr>
                        <m:begChr m:val="["/>
                        <m:endChr m:val="]"/>
                        <m:ctrlPr>
                          <a:rPr lang="zh-CN" altLang="zh-CN" sz="3200" i="1"/>
                        </m:ctrlPr>
                      </m:dPr>
                      <m:e>
                        <m:sSup>
                          <m:sSupPr>
                            <m:ctrlPr>
                              <a:rPr lang="zh-CN" altLang="zh-CN" sz="3200" i="1"/>
                            </m:ctrlPr>
                          </m:sSupPr>
                          <m:e>
                            <m:r>
                              <a:rPr lang="en-US" altLang="zh-CN" sz="3200" i="1">
                                <a:latin typeface="Cambria Math" panose="02040503050406030204" pitchFamily="18" charset="0"/>
                              </a:rPr>
                              <m:t>𝑠</m:t>
                            </m:r>
                          </m:e>
                          <m:sup>
                            <m:r>
                              <a:rPr lang="en-US" altLang="zh-CN" sz="3200" i="1">
                                <a:latin typeface="Cambria Math" panose="02040503050406030204" pitchFamily="18" charset="0"/>
                              </a:rPr>
                              <m:t>′</m:t>
                            </m:r>
                          </m:sup>
                        </m:sSup>
                      </m:e>
                    </m:d>
                    <m:r>
                      <a:rPr lang="en-US" altLang="zh-CN" sz="3200" i="1">
                        <a:latin typeface="Cambria Math" panose="02040503050406030204" pitchFamily="18" charset="0"/>
                      </a:rPr>
                      <m:t>𝐺</m:t>
                    </m:r>
                    <m:r>
                      <a:rPr lang="en-US" altLang="zh-CN" sz="3200" i="1">
                        <a:latin typeface="Cambria Math" panose="02040503050406030204" pitchFamily="18" charset="0"/>
                      </a:rPr>
                      <m:t>+</m:t>
                    </m:r>
                    <m:d>
                      <m:dPr>
                        <m:begChr m:val="["/>
                        <m:endChr m:val="]"/>
                        <m:ctrlPr>
                          <a:rPr lang="zh-CN" altLang="zh-CN" sz="3200" i="1"/>
                        </m:ctrlPr>
                      </m:dPr>
                      <m:e>
                        <m:r>
                          <a:rPr lang="en-US" altLang="zh-CN" sz="3200" i="1">
                            <a:latin typeface="Cambria Math" panose="02040503050406030204" pitchFamily="18" charset="0"/>
                          </a:rPr>
                          <m:t>𝑡</m:t>
                        </m:r>
                      </m:e>
                    </m:d>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𝐴</m:t>
                        </m:r>
                      </m:sub>
                    </m:sSub>
                  </m:oMath>
                </a14:m>
                <a:r>
                  <a:rPr lang="zh-CN" altLang="zh-CN" sz="3600"/>
                  <a:t>计算出</a:t>
                </a:r>
                <a14:m>
                  <m:oMath xmlns:m="http://schemas.openxmlformats.org/officeDocument/2006/math">
                    <m:d>
                      <m:dPr>
                        <m:ctrlPr>
                          <a:rPr lang="zh-CN" altLang="zh-CN" sz="3200" i="1"/>
                        </m:ctrlPr>
                      </m:dPr>
                      <m:e>
                        <m:sSup>
                          <m:sSupPr>
                            <m:ctrlPr>
                              <a:rPr lang="zh-CN" altLang="zh-CN" sz="3200" i="1"/>
                            </m:ctrlPr>
                          </m:sSupPr>
                          <m:e>
                            <m:sSub>
                              <m:sSubPr>
                                <m:ctrlPr>
                                  <a:rPr lang="zh-CN" altLang="zh-CN" sz="3200" i="1"/>
                                </m:ctrlPr>
                              </m:sSubPr>
                              <m:e>
                                <m:r>
                                  <a:rPr lang="en-US" altLang="zh-CN" sz="3200" i="1">
                                    <a:latin typeface="Cambria Math" panose="02040503050406030204" pitchFamily="18" charset="0"/>
                                  </a:rPr>
                                  <m:t>𝑥</m:t>
                                </m:r>
                              </m:e>
                              <m:sub>
                                <m:r>
                                  <a:rPr lang="en-US" altLang="zh-CN" sz="3200" i="1">
                                    <a:latin typeface="Cambria Math" panose="02040503050406030204" pitchFamily="18" charset="0"/>
                                  </a:rPr>
                                  <m:t>1</m:t>
                                </m:r>
                              </m:sub>
                            </m:sSub>
                          </m:e>
                          <m:sup>
                            <m:r>
                              <a:rPr lang="en-US" altLang="zh-CN" sz="3200" i="1">
                                <a:latin typeface="Cambria Math" panose="02040503050406030204" pitchFamily="18" charset="0"/>
                              </a:rPr>
                              <m:t>′</m:t>
                            </m:r>
                          </m:sup>
                        </m:sSup>
                        <m:r>
                          <a:rPr lang="zh-CN" altLang="zh-CN" sz="3200" i="1">
                            <a:latin typeface="Cambria Math" panose="02040503050406030204" pitchFamily="18" charset="0"/>
                          </a:rPr>
                          <m:t>，</m:t>
                        </m:r>
                        <m:sSup>
                          <m:sSupPr>
                            <m:ctrlPr>
                              <a:rPr lang="zh-CN" altLang="zh-CN" sz="3200" i="1"/>
                            </m:ctrlPr>
                          </m:sSupPr>
                          <m:e>
                            <m:sSub>
                              <m:sSubPr>
                                <m:ctrlPr>
                                  <a:rPr lang="zh-CN" altLang="zh-CN" sz="3200" i="1"/>
                                </m:ctrlPr>
                              </m:sSubPr>
                              <m:e>
                                <m:r>
                                  <a:rPr lang="en-US" altLang="zh-CN" sz="3200" i="1">
                                    <a:latin typeface="Cambria Math" panose="02040503050406030204" pitchFamily="18" charset="0"/>
                                  </a:rPr>
                                  <m:t>𝑦</m:t>
                                </m:r>
                              </m:e>
                              <m:sub>
                                <m:r>
                                  <a:rPr lang="en-US" altLang="zh-CN" sz="3200" i="1">
                                    <a:latin typeface="Cambria Math" panose="02040503050406030204" pitchFamily="18" charset="0"/>
                                  </a:rPr>
                                  <m:t>1</m:t>
                                </m:r>
                              </m:sub>
                            </m:sSub>
                          </m:e>
                          <m:sup>
                            <m:r>
                              <a:rPr lang="en-US" altLang="zh-CN" sz="3200" i="1">
                                <a:latin typeface="Cambria Math" panose="02040503050406030204" pitchFamily="18" charset="0"/>
                              </a:rPr>
                              <m:t>′</m:t>
                            </m:r>
                          </m:sup>
                        </m:sSup>
                      </m:e>
                    </m:d>
                  </m:oMath>
                </a14:m>
                <a:r>
                  <a:rPr lang="zh-CN" altLang="zh-CN" sz="3600"/>
                  <a:t>，其中</a:t>
                </a:r>
                <a14:m>
                  <m:oMath xmlns:m="http://schemas.openxmlformats.org/officeDocument/2006/math">
                    <m:r>
                      <a:rPr lang="en-US" altLang="zh-CN" sz="3200" i="1">
                        <a:latin typeface="Cambria Math" panose="02040503050406030204" pitchFamily="18" charset="0"/>
                      </a:rPr>
                      <m:t>𝑡</m:t>
                    </m:r>
                    <m:r>
                      <a:rPr lang="en-US" altLang="zh-CN" sz="3200" i="1">
                        <a:latin typeface="Cambria Math" panose="02040503050406030204" pitchFamily="18" charset="0"/>
                      </a:rPr>
                      <m:t>=</m:t>
                    </m:r>
                    <m:d>
                      <m:dPr>
                        <m:ctrlPr>
                          <a:rPr lang="zh-CN" altLang="zh-CN" sz="3200" i="1"/>
                        </m:ctrlPr>
                      </m:dPr>
                      <m:e>
                        <m:sSup>
                          <m:sSupPr>
                            <m:ctrlPr>
                              <a:rPr lang="zh-CN" altLang="zh-CN" sz="3200" i="1"/>
                            </m:ctrlPr>
                          </m:sSupPr>
                          <m:e>
                            <m:r>
                              <a:rPr lang="en-US" altLang="zh-CN" sz="3200" i="1">
                                <a:latin typeface="Cambria Math" panose="02040503050406030204" pitchFamily="18" charset="0"/>
                              </a:rPr>
                              <m:t>𝑟</m:t>
                            </m:r>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𝑠</m:t>
                            </m:r>
                          </m:e>
                          <m:sup>
                            <m:r>
                              <a:rPr lang="en-US" altLang="zh-CN" sz="3200" i="1">
                                <a:latin typeface="Cambria Math" panose="02040503050406030204" pitchFamily="18" charset="0"/>
                              </a:rPr>
                              <m:t>′</m:t>
                            </m:r>
                          </m:sup>
                        </m:sSup>
                      </m:e>
                    </m:d>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𝑛</m:t>
                        </m:r>
                      </m:e>
                    </m:func>
                  </m:oMath>
                </a14:m>
                <a:r>
                  <a:rPr lang="zh-CN" altLang="zh-CN" sz="3600"/>
                  <a:t>，</a:t>
                </a:r>
                <a14:m>
                  <m:oMath xmlns:m="http://schemas.openxmlformats.org/officeDocument/2006/math">
                    <m:d>
                      <m:dPr>
                        <m:ctrlPr>
                          <a:rPr lang="zh-CN" altLang="zh-CN" sz="3200" i="1"/>
                        </m:ctrlPr>
                      </m:dPr>
                      <m:e>
                        <m:sSup>
                          <m:sSupPr>
                            <m:ctrlPr>
                              <a:rPr lang="zh-CN" altLang="zh-CN" sz="3200" i="1"/>
                            </m:ctrlPr>
                          </m:sSupPr>
                          <m:e>
                            <m:r>
                              <a:rPr lang="en-US" altLang="zh-CN" sz="3200" i="1">
                                <a:latin typeface="Cambria Math" panose="02040503050406030204" pitchFamily="18" charset="0"/>
                              </a:rPr>
                              <m:t>𝑟</m:t>
                            </m:r>
                          </m:e>
                          <m:sup>
                            <m:r>
                              <a:rPr lang="en-US" altLang="zh-CN" sz="3200" i="1">
                                <a:latin typeface="Cambria Math" panose="02040503050406030204" pitchFamily="18" charset="0"/>
                              </a:rPr>
                              <m:t>′</m:t>
                            </m:r>
                          </m:sup>
                        </m:sSup>
                        <m:r>
                          <a:rPr lang="zh-CN"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𝑠</m:t>
                            </m:r>
                          </m:e>
                          <m:sup>
                            <m:r>
                              <a:rPr lang="en-US" altLang="zh-CN" sz="3200" i="1">
                                <a:latin typeface="Cambria Math" panose="02040503050406030204" pitchFamily="18" charset="0"/>
                              </a:rPr>
                              <m:t>′</m:t>
                            </m:r>
                          </m:sup>
                        </m:sSup>
                      </m:e>
                    </m:d>
                  </m:oMath>
                </a14:m>
                <a:r>
                  <a:rPr lang="zh-CN" altLang="zh-CN" sz="3600"/>
                  <a:t>即收到的签名</a:t>
                </a:r>
                <a14:m>
                  <m:oMath xmlns:m="http://schemas.openxmlformats.org/officeDocument/2006/math">
                    <m:d>
                      <m:dPr>
                        <m:ctrlPr>
                          <a:rPr lang="zh-CN" altLang="zh-CN" sz="3200" i="1"/>
                        </m:ctrlPr>
                      </m:dPr>
                      <m:e>
                        <m:r>
                          <a:rPr lang="en-US" altLang="zh-CN" sz="3200" i="1">
                            <a:latin typeface="Cambria Math" panose="02040503050406030204" pitchFamily="18" charset="0"/>
                          </a:rPr>
                          <m:t>𝑟</m:t>
                        </m:r>
                        <m:r>
                          <a:rPr lang="zh-CN" altLang="zh-CN" sz="3200" i="1">
                            <a:latin typeface="Cambria Math" panose="02040503050406030204" pitchFamily="18" charset="0"/>
                          </a:rPr>
                          <m:t>，</m:t>
                        </m:r>
                        <m:r>
                          <a:rPr lang="en-US" altLang="zh-CN" sz="3200" i="1">
                            <a:latin typeface="Cambria Math" panose="02040503050406030204" pitchFamily="18" charset="0"/>
                          </a:rPr>
                          <m:t>𝑠</m:t>
                        </m:r>
                      </m:e>
                    </m:d>
                  </m:oMath>
                </a14:m>
                <a:r>
                  <a:rPr lang="zh-CN" altLang="zh-CN" sz="3600"/>
                  <a:t>。然后根据</a:t>
                </a:r>
                <a14:m>
                  <m:oMath xmlns:m="http://schemas.openxmlformats.org/officeDocument/2006/math">
                    <m:r>
                      <a:rPr lang="en-US" altLang="zh-CN" sz="3200" i="1">
                        <a:latin typeface="Cambria Math" panose="02040503050406030204" pitchFamily="18" charset="0"/>
                      </a:rPr>
                      <m:t>𝑅</m:t>
                    </m:r>
                    <m:r>
                      <a:rPr lang="en-US" altLang="zh-CN" sz="3200" i="1">
                        <a:latin typeface="Cambria Math" panose="02040503050406030204" pitchFamily="18" charset="0"/>
                      </a:rPr>
                      <m:t>=</m:t>
                    </m:r>
                    <m:d>
                      <m:dPr>
                        <m:ctrlPr>
                          <a:rPr lang="zh-CN" altLang="zh-CN" sz="3200" i="1"/>
                        </m:ctrlPr>
                      </m:dPr>
                      <m:e>
                        <m:sSup>
                          <m:sSupPr>
                            <m:ctrlPr>
                              <a:rPr lang="zh-CN" altLang="zh-CN" sz="3200" i="1"/>
                            </m:ctrlPr>
                          </m:sSupPr>
                          <m:e>
                            <m:r>
                              <a:rPr lang="en-US" altLang="zh-CN" sz="3200" i="1">
                                <a:latin typeface="Cambria Math" panose="02040503050406030204" pitchFamily="18" charset="0"/>
                              </a:rPr>
                              <m:t>𝑒</m:t>
                            </m:r>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sSup>
                          <m:sSupPr>
                            <m:ctrlPr>
                              <a:rPr lang="zh-CN" altLang="zh-CN" sz="3200" i="1"/>
                            </m:ctrlPr>
                          </m:sSupPr>
                          <m:e>
                            <m:sSub>
                              <m:sSubPr>
                                <m:ctrlPr>
                                  <a:rPr lang="zh-CN" altLang="zh-CN" sz="3200" i="1"/>
                                </m:ctrlPr>
                              </m:sSubPr>
                              <m:e>
                                <m:r>
                                  <a:rPr lang="en-US" altLang="zh-CN" sz="3200" i="1">
                                    <a:latin typeface="Cambria Math" panose="02040503050406030204" pitchFamily="18" charset="0"/>
                                  </a:rPr>
                                  <m:t>𝑥</m:t>
                                </m:r>
                              </m:e>
                              <m:sub>
                                <m:r>
                                  <a:rPr lang="en-US" altLang="zh-CN" sz="3200" i="1">
                                    <a:latin typeface="Cambria Math" panose="02040503050406030204" pitchFamily="18" charset="0"/>
                                  </a:rPr>
                                  <m:t>1</m:t>
                                </m:r>
                              </m:sub>
                            </m:sSub>
                          </m:e>
                          <m:sup>
                            <m:r>
                              <a:rPr lang="en-US" altLang="zh-CN" sz="3200" i="1">
                                <a:latin typeface="Cambria Math" panose="02040503050406030204" pitchFamily="18" charset="0"/>
                              </a:rPr>
                              <m:t>′</m:t>
                            </m:r>
                          </m:sup>
                        </m:sSup>
                      </m:e>
                    </m:d>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𝑛</m:t>
                        </m:r>
                      </m:e>
                    </m:func>
                  </m:oMath>
                </a14:m>
                <a:r>
                  <a:rPr lang="zh-CN" altLang="zh-CN" sz="3600"/>
                  <a:t>计算出</a:t>
                </a:r>
                <a14:m>
                  <m:oMath xmlns:m="http://schemas.openxmlformats.org/officeDocument/2006/math">
                    <m:r>
                      <a:rPr lang="en-US" altLang="zh-CN" sz="3200" i="1">
                        <a:latin typeface="Cambria Math" panose="02040503050406030204" pitchFamily="18" charset="0"/>
                      </a:rPr>
                      <m:t>𝑅</m:t>
                    </m:r>
                  </m:oMath>
                </a14:m>
                <a:r>
                  <a:rPr lang="zh-CN" altLang="zh-CN" sz="3600"/>
                  <a:t>，检验</a:t>
                </a:r>
                <a14:m>
                  <m:oMath xmlns:m="http://schemas.openxmlformats.org/officeDocument/2006/math">
                    <m:r>
                      <a:rPr lang="en-US" altLang="zh-CN" sz="3200" i="1">
                        <a:latin typeface="Cambria Math" panose="02040503050406030204" pitchFamily="18" charset="0"/>
                      </a:rPr>
                      <m:t>𝑅</m:t>
                    </m:r>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𝑟</m:t>
                        </m:r>
                      </m:e>
                      <m:sup>
                        <m:r>
                          <a:rPr lang="en-US" altLang="zh-CN" sz="3200" i="1">
                            <a:latin typeface="Cambria Math" panose="02040503050406030204" pitchFamily="18" charset="0"/>
                          </a:rPr>
                          <m:t>′</m:t>
                        </m:r>
                      </m:sup>
                    </m:sSup>
                  </m:oMath>
                </a14:m>
                <a:r>
                  <a:rPr lang="zh-CN" altLang="zh-CN" sz="3600"/>
                  <a:t>是否成立。若成立，则签名有效；否则，签名无效。</a:t>
                </a:r>
                <a:endParaRPr lang="zh-CN" altLang="zh-CN" sz="3600"/>
              </a:p>
            </p:txBody>
          </p:sp>
        </mc:Choice>
        <mc:Fallback>
          <p:sp>
            <p:nvSpPr>
              <p:cNvPr id="6" name="TextBox 29"/>
              <p:cNvSpPr txBox="1">
                <a:spLocks noRot="1" noChangeAspect="1" noMove="1" noResize="1" noEditPoints="1" noAdjustHandles="1" noChangeArrowheads="1" noChangeShapeType="1" noTextEdit="1"/>
              </p:cNvSpPr>
              <p:nvPr/>
            </p:nvSpPr>
            <p:spPr>
              <a:xfrm>
                <a:off x="1734903" y="1665966"/>
                <a:ext cx="14818191" cy="6494150"/>
              </a:xfrm>
              <a:prstGeom prst="rect">
                <a:avLst/>
              </a:prstGeom>
              <a:blipFill rotWithShape="1">
                <a:blip r:embed="rId1"/>
                <a:stretch>
                  <a:fillRect l="-1" t="-6" r="4" b="6"/>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7" name="图片 16"/>
            <p:cNvPicPr>
              <a:picLocks noChangeAspect="1"/>
            </p:cNvPicPr>
            <p:nvPr/>
          </p:nvPicPr>
          <p:blipFill>
            <a:blip r:embed="rId2"/>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 name="TextBox 30"/>
          <p:cNvSpPr txBox="1"/>
          <p:nvPr/>
        </p:nvSpPr>
        <p:spPr>
          <a:xfrm>
            <a:off x="250468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lang="en-US" altLang="zh-CN"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a:t>
            </a: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9" name="TextBox 31"/>
          <p:cNvSpPr txBox="1"/>
          <p:nvPr/>
        </p:nvSpPr>
        <p:spPr>
          <a:xfrm>
            <a:off x="1312693"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a:t>
            </a: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20"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9"/>
              <p:cNvSpPr txBox="1"/>
              <p:nvPr/>
            </p:nvSpPr>
            <p:spPr>
              <a:xfrm>
                <a:off x="1447801" y="1984375"/>
                <a:ext cx="15697200" cy="6317615"/>
              </a:xfrm>
              <a:prstGeom prst="rect">
                <a:avLst/>
              </a:prstGeom>
            </p:spPr>
            <p:txBody>
              <a:bodyPr wrap="square" lIns="0" tIns="0" rIns="0" bIns="0" rtlCol="0" anchor="t">
                <a:spAutoFit/>
              </a:bodyPr>
              <a:lstStyle/>
              <a:p>
                <a:pPr indent="914400">
                  <a:lnSpc>
                    <a:spcPct val="120000"/>
                  </a:lnSpc>
                </a:pPr>
                <a:r>
                  <a:rPr lang="zh-CN" altLang="zh-CN" sz="3600"/>
                  <a:t>（</a:t>
                </a:r>
                <a:r>
                  <a:rPr lang="en-US" altLang="zh-CN" sz="3600"/>
                  <a:t>1</a:t>
                </a:r>
                <a:r>
                  <a:rPr lang="zh-CN" altLang="zh-CN" sz="3600"/>
                  <a:t>）系统的初始化过程。假设椭圆曲线为</a:t>
                </a:r>
                <a14:m>
                  <m:oMath xmlns:m="http://schemas.openxmlformats.org/officeDocument/2006/math">
                    <m:sSub>
                      <m:sSubPr>
                        <m:ctrlPr>
                          <a:rPr lang="zh-CN" altLang="zh-CN" sz="3200" i="1"/>
                        </m:ctrlPr>
                      </m:sSubPr>
                      <m:e>
                        <m:r>
                          <a:rPr lang="en-US" altLang="zh-CN" sz="3200" i="1">
                            <a:latin typeface="Cambria Math" panose="02040503050406030204" pitchFamily="18" charset="0"/>
                          </a:rPr>
                          <m:t>𝐸</m:t>
                        </m:r>
                      </m:e>
                      <m:sub>
                        <m:r>
                          <a:rPr lang="en-US" altLang="zh-CN" sz="3200" i="1">
                            <a:latin typeface="Cambria Math" panose="02040503050406030204" pitchFamily="18" charset="0"/>
                          </a:rPr>
                          <m:t>23</m:t>
                        </m:r>
                      </m:sub>
                    </m:sSub>
                    <m:d>
                      <m:dPr>
                        <m:ctrlPr>
                          <a:rPr lang="zh-CN" altLang="zh-CN" sz="3200" i="1"/>
                        </m:ctrlPr>
                      </m:dPr>
                      <m:e>
                        <m:r>
                          <a:rPr lang="en-US" altLang="zh-CN" sz="3200" i="1">
                            <a:latin typeface="Cambria Math" panose="02040503050406030204" pitchFamily="18" charset="0"/>
                          </a:rPr>
                          <m:t>1</m:t>
                        </m:r>
                        <m:r>
                          <a:rPr lang="zh-CN" altLang="zh-CN" sz="3200" i="1">
                            <a:latin typeface="Cambria Math" panose="02040503050406030204" pitchFamily="18" charset="0"/>
                          </a:rPr>
                          <m:t>，</m:t>
                        </m:r>
                        <m:r>
                          <a:rPr lang="en-US" altLang="zh-CN" sz="3200" i="1">
                            <a:latin typeface="Cambria Math" panose="02040503050406030204" pitchFamily="18" charset="0"/>
                          </a:rPr>
                          <m:t>  </m:t>
                        </m:r>
                        <m:r>
                          <a:rPr lang="en-US" altLang="zh-CN" sz="3200" i="1">
                            <a:latin typeface="Cambria Math" panose="02040503050406030204" pitchFamily="18" charset="0"/>
                          </a:rPr>
                          <m:t>4</m:t>
                        </m:r>
                      </m:e>
                    </m:d>
                  </m:oMath>
                </a14:m>
                <a:r>
                  <a:rPr lang="zh-CN" altLang="zh-CN" sz="3600"/>
                  <a:t>，参数分别为</a:t>
                </a:r>
                <a14:m>
                  <m:oMath xmlns:m="http://schemas.openxmlformats.org/officeDocument/2006/math">
                    <m:r>
                      <a:rPr lang="en-US" altLang="zh-CN" sz="3200" i="1">
                        <a:latin typeface="Cambria Math" panose="02040503050406030204" pitchFamily="18" charset="0"/>
                      </a:rPr>
                      <m:t>𝑝</m:t>
                    </m:r>
                    <m:r>
                      <a:rPr lang="en-US" altLang="zh-CN" sz="3200" i="1">
                        <a:latin typeface="Cambria Math" panose="02040503050406030204" pitchFamily="18" charset="0"/>
                      </a:rPr>
                      <m:t>=</m:t>
                    </m:r>
                    <m:r>
                      <a:rPr lang="en-US" altLang="zh-CN" sz="3200" i="1">
                        <a:latin typeface="Cambria Math" panose="02040503050406030204" pitchFamily="18" charset="0"/>
                      </a:rPr>
                      <m:t>23</m:t>
                    </m:r>
                  </m:oMath>
                </a14:m>
                <a:r>
                  <a:rPr lang="zh-CN" altLang="zh-CN" sz="3200"/>
                  <a:t>，</a:t>
                </a:r>
                <a14:m>
                  <m:oMath xmlns:m="http://schemas.openxmlformats.org/officeDocument/2006/math">
                    <m:r>
                      <a:rPr lang="en-US" altLang="zh-CN" sz="3200" i="1">
                        <a:latin typeface="Cambria Math" panose="02040503050406030204" pitchFamily="18" charset="0"/>
                      </a:rPr>
                      <m:t>𝐺</m:t>
                    </m:r>
                    <m:r>
                      <a:rPr lang="en-US" altLang="zh-CN" sz="3200" i="1">
                        <a:latin typeface="Cambria Math" panose="02040503050406030204" pitchFamily="18" charset="0"/>
                      </a:rPr>
                      <m:t>=</m:t>
                    </m:r>
                    <m:d>
                      <m:dPr>
                        <m:ctrlPr>
                          <a:rPr lang="zh-CN" altLang="zh-CN" sz="3200" i="1"/>
                        </m:ctrlPr>
                      </m:dPr>
                      <m:e>
                        <m:r>
                          <a:rPr lang="en-US" altLang="zh-CN" sz="3200" i="1">
                            <a:latin typeface="Cambria Math" panose="02040503050406030204" pitchFamily="18" charset="0"/>
                          </a:rPr>
                          <m:t>0</m:t>
                        </m:r>
                        <m:r>
                          <a:rPr lang="zh-CN" altLang="zh-CN" sz="3200" i="1">
                            <a:latin typeface="Cambria Math" panose="02040503050406030204" pitchFamily="18" charset="0"/>
                          </a:rPr>
                          <m:t>，</m:t>
                        </m:r>
                        <m:r>
                          <a:rPr lang="en-US" altLang="zh-CN" sz="3200" i="1">
                            <a:latin typeface="Cambria Math" panose="02040503050406030204" pitchFamily="18" charset="0"/>
                          </a:rPr>
                          <m:t>  </m:t>
                        </m:r>
                        <m:r>
                          <a:rPr lang="en-US" altLang="zh-CN" sz="3200" i="1">
                            <a:latin typeface="Cambria Math" panose="02040503050406030204" pitchFamily="18" charset="0"/>
                          </a:rPr>
                          <m:t>2</m:t>
                        </m:r>
                      </m:e>
                    </m:d>
                  </m:oMath>
                </a14:m>
                <a:r>
                  <a:rPr lang="zh-CN" altLang="zh-CN" sz="3200"/>
                  <a:t>，</a:t>
                </a:r>
                <a14:m>
                  <m:oMath xmlns:m="http://schemas.openxmlformats.org/officeDocument/2006/math">
                    <m:r>
                      <a:rPr lang="en-US" altLang="zh-CN" sz="3200" i="1">
                        <a:latin typeface="Cambria Math" panose="02040503050406030204" pitchFamily="18" charset="0"/>
                      </a:rPr>
                      <m:t>𝑛</m:t>
                    </m:r>
                    <m:r>
                      <a:rPr lang="en-US" altLang="zh-CN" sz="3200" i="1">
                        <a:latin typeface="Cambria Math" panose="02040503050406030204" pitchFamily="18" charset="0"/>
                      </a:rPr>
                      <m:t>=</m:t>
                    </m:r>
                    <m:r>
                      <a:rPr lang="en-US" altLang="zh-CN" sz="3200" i="1">
                        <a:latin typeface="Cambria Math" panose="02040503050406030204" pitchFamily="18" charset="0"/>
                      </a:rPr>
                      <m:t>29</m:t>
                    </m:r>
                  </m:oMath>
                </a14:m>
                <a:r>
                  <a:rPr lang="zh-CN" altLang="zh-CN" sz="3200"/>
                  <a:t>，</a:t>
                </a:r>
                <a14:m>
                  <m:oMath xmlns:m="http://schemas.openxmlformats.org/officeDocument/2006/math">
                    <m:sSub>
                      <m:sSubPr>
                        <m:ctrlPr>
                          <a:rPr lang="zh-CN" altLang="zh-CN" sz="3200" i="1"/>
                        </m:ctrlPr>
                      </m:sSubPr>
                      <m:e>
                        <m:r>
                          <a:rPr lang="en-US" altLang="zh-CN" sz="3200" i="1">
                            <a:latin typeface="Cambria Math" panose="02040503050406030204" pitchFamily="18" charset="0"/>
                          </a:rPr>
                          <m:t>𝑑</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r>
                      <a:rPr lang="en-US" altLang="zh-CN" sz="3200" i="1">
                        <a:latin typeface="Cambria Math" panose="02040503050406030204" pitchFamily="18" charset="0"/>
                      </a:rPr>
                      <m:t>9</m:t>
                    </m:r>
                  </m:oMath>
                </a14:m>
                <a:r>
                  <a:rPr lang="zh-CN" altLang="zh-CN" sz="3200"/>
                  <a:t>，</a:t>
                </a:r>
                <a14:m>
                  <m:oMath xmlns:m="http://schemas.openxmlformats.org/officeDocument/2006/math">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𝑑</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𝐺</m:t>
                    </m:r>
                    <m:r>
                      <a:rPr lang="en-US" altLang="zh-CN" sz="3200" i="1">
                        <a:latin typeface="Cambria Math" panose="02040503050406030204" pitchFamily="18" charset="0"/>
                      </a:rPr>
                      <m:t>=</m:t>
                    </m:r>
                    <m:d>
                      <m:dPr>
                        <m:ctrlPr>
                          <a:rPr lang="zh-CN" altLang="zh-CN" sz="3200" i="1"/>
                        </m:ctrlPr>
                      </m:dPr>
                      <m:e>
                        <m:r>
                          <a:rPr lang="en-US" altLang="zh-CN" sz="3200" i="1">
                            <a:latin typeface="Cambria Math" panose="02040503050406030204" pitchFamily="18" charset="0"/>
                          </a:rPr>
                          <m:t>4</m:t>
                        </m:r>
                        <m:r>
                          <a:rPr lang="zh-CN" altLang="zh-CN" sz="3200" i="1">
                            <a:latin typeface="Cambria Math" panose="02040503050406030204" pitchFamily="18" charset="0"/>
                          </a:rPr>
                          <m:t>，</m:t>
                        </m:r>
                        <m:r>
                          <a:rPr lang="en-US" altLang="zh-CN" sz="3200" i="1">
                            <a:latin typeface="Cambria Math" panose="02040503050406030204" pitchFamily="18" charset="0"/>
                          </a:rPr>
                          <m:t>  </m:t>
                        </m:r>
                        <m:r>
                          <a:rPr lang="en-US" altLang="zh-CN" sz="3200" i="1">
                            <a:latin typeface="Cambria Math" panose="02040503050406030204" pitchFamily="18" charset="0"/>
                          </a:rPr>
                          <m:t>7</m:t>
                        </m:r>
                      </m:e>
                    </m:d>
                  </m:oMath>
                </a14:m>
                <a:r>
                  <a:rPr lang="zh-CN" altLang="zh-CN" sz="3600"/>
                  <a:t>，密码杂凑函数</a:t>
                </a:r>
                <a:r>
                  <a:rPr lang="en-US" altLang="zh-CN" sz="3600"/>
                  <a:t>Hash</a:t>
                </a:r>
                <a:r>
                  <a:rPr lang="zh-CN" altLang="zh-CN" sz="3600"/>
                  <a:t>运算输入为</a:t>
                </a:r>
                <a:r>
                  <a:rPr lang="en-US" altLang="zh-CN" sz="3200" i="1"/>
                  <a:t>M</a:t>
                </a:r>
                <a:r>
                  <a:rPr lang="zh-CN" altLang="zh-CN" sz="3600"/>
                  <a:t>，运算结果为</a:t>
                </a:r>
                <a:r>
                  <a:rPr lang="en-US" altLang="zh-CN" sz="3600"/>
                  <a:t>2</a:t>
                </a:r>
                <a:r>
                  <a:rPr lang="zh-CN" altLang="zh-CN" sz="3600"/>
                  <a:t>。</a:t>
                </a:r>
                <a:endParaRPr lang="zh-CN" altLang="zh-CN" sz="3600"/>
              </a:p>
              <a:p>
                <a:pPr indent="914400">
                  <a:lnSpc>
                    <a:spcPct val="120000"/>
                  </a:lnSpc>
                </a:pPr>
                <a:r>
                  <a:rPr lang="zh-CN" altLang="zh-CN" sz="3600"/>
                  <a:t>（</a:t>
                </a:r>
                <a:r>
                  <a:rPr lang="en-US" altLang="zh-CN" sz="3600"/>
                  <a:t>2</a:t>
                </a:r>
                <a:r>
                  <a:rPr lang="zh-CN" altLang="zh-CN" sz="3600"/>
                  <a:t>）签名产生过程。选取随机数</a:t>
                </a:r>
                <a14:m>
                  <m:oMath xmlns:m="http://schemas.openxmlformats.org/officeDocument/2006/math">
                    <m:r>
                      <a:rPr lang="en-US" altLang="zh-CN" sz="3200" i="1">
                        <a:latin typeface="Cambria Math" panose="02040503050406030204" pitchFamily="18" charset="0"/>
                      </a:rPr>
                      <m:t>𝑘</m:t>
                    </m:r>
                    <m:r>
                      <a:rPr lang="en-US" altLang="zh-CN" sz="3200" i="1">
                        <a:latin typeface="Cambria Math" panose="02040503050406030204" pitchFamily="18" charset="0"/>
                      </a:rPr>
                      <m:t>=</m:t>
                    </m:r>
                    <m:r>
                      <a:rPr lang="en-US" altLang="zh-CN" sz="3200" i="1">
                        <a:latin typeface="Cambria Math" panose="02040503050406030204" pitchFamily="18" charset="0"/>
                      </a:rPr>
                      <m:t>3</m:t>
                    </m:r>
                  </m:oMath>
                </a14:m>
                <a:r>
                  <a:rPr lang="zh-CN" altLang="zh-CN" sz="3600"/>
                  <a:t>，计算</a:t>
                </a:r>
                <a:endParaRPr lang="zh-CN" altLang="zh-CN" sz="3600"/>
              </a:p>
              <a:p>
                <a:pPr indent="914400">
                  <a:lnSpc>
                    <a:spcPct val="120000"/>
                  </a:lnSpc>
                </a:pPr>
                <a:r>
                  <a:rPr lang="en-US" altLang="zh-CN" sz="3200"/>
                  <a:t>                                </a:t>
                </a:r>
                <a14:m>
                  <m:oMath xmlns:m="http://schemas.openxmlformats.org/officeDocument/2006/math">
                    <m:d>
                      <m:dPr>
                        <m:ctrlPr>
                          <a:rPr lang="zh-CN" altLang="zh-CN" sz="3200" i="1"/>
                        </m:ctrlPr>
                      </m:dPr>
                      <m:e>
                        <m:sSub>
                          <m:sSubPr>
                            <m:ctrlPr>
                              <a:rPr lang="zh-CN" altLang="zh-CN" sz="3200" i="1"/>
                            </m:ctrlPr>
                          </m:sSubPr>
                          <m:e>
                            <m:r>
                              <a:rPr lang="en-US" altLang="zh-CN" sz="3200" i="1">
                                <a:latin typeface="Cambria Math" panose="02040503050406030204" pitchFamily="18" charset="0"/>
                              </a:rPr>
                              <m:t>𝑥</m:t>
                            </m:r>
                          </m:e>
                          <m:sub>
                            <m:r>
                              <a:rPr lang="en-US" altLang="zh-CN" sz="3200" i="1">
                                <a:latin typeface="Cambria Math" panose="02040503050406030204" pitchFamily="18" charset="0"/>
                              </a:rPr>
                              <m:t>1</m:t>
                            </m:r>
                          </m:sub>
                        </m:sSub>
                        <m:r>
                          <a:rPr lang="zh-CN"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𝑦</m:t>
                            </m:r>
                          </m:e>
                          <m:sub>
                            <m:r>
                              <a:rPr lang="en-US" altLang="zh-CN" sz="3200" i="1">
                                <a:latin typeface="Cambria Math" panose="02040503050406030204" pitchFamily="18" charset="0"/>
                              </a:rPr>
                              <m:t>1</m:t>
                            </m:r>
                          </m:sub>
                        </m:sSub>
                      </m:e>
                    </m:d>
                    <m:r>
                      <a:rPr lang="en-US" altLang="zh-CN" sz="3200" i="1">
                        <a:latin typeface="Cambria Math" panose="02040503050406030204" pitchFamily="18" charset="0"/>
                      </a:rPr>
                      <m:t>=</m:t>
                    </m:r>
                    <m:r>
                      <a:rPr lang="en-US" altLang="zh-CN" sz="3200" i="1">
                        <a:latin typeface="Cambria Math" panose="02040503050406030204" pitchFamily="18" charset="0"/>
                      </a:rPr>
                      <m:t>𝑘𝐺</m:t>
                    </m:r>
                    <m:r>
                      <a:rPr lang="en-US" altLang="zh-CN" sz="3200" i="1">
                        <a:latin typeface="Cambria Math" panose="02040503050406030204" pitchFamily="18" charset="0"/>
                      </a:rPr>
                      <m:t>=</m:t>
                    </m:r>
                    <m:r>
                      <a:rPr lang="en-US" altLang="zh-CN" sz="3200" i="1">
                        <a:latin typeface="Cambria Math" panose="02040503050406030204" pitchFamily="18" charset="0"/>
                      </a:rPr>
                      <m:t>3</m:t>
                    </m:r>
                    <m:d>
                      <m:dPr>
                        <m:ctrlPr>
                          <a:rPr lang="zh-CN" altLang="zh-CN" sz="3200" i="1"/>
                        </m:ctrlPr>
                      </m:dPr>
                      <m:e>
                        <m:r>
                          <a:rPr lang="en-US" altLang="zh-CN" sz="3200" i="1">
                            <a:latin typeface="Cambria Math" panose="02040503050406030204" pitchFamily="18" charset="0"/>
                          </a:rPr>
                          <m:t>0</m:t>
                        </m:r>
                        <m:r>
                          <a:rPr lang="zh-CN" altLang="zh-CN" sz="3200" i="1">
                            <a:latin typeface="Cambria Math" panose="02040503050406030204" pitchFamily="18" charset="0"/>
                          </a:rPr>
                          <m:t>，</m:t>
                        </m:r>
                        <m:r>
                          <a:rPr lang="en-US" altLang="zh-CN" sz="3200" i="1">
                            <a:latin typeface="Cambria Math" panose="02040503050406030204" pitchFamily="18" charset="0"/>
                          </a:rPr>
                          <m:t>  </m:t>
                        </m:r>
                        <m:r>
                          <a:rPr lang="en-US" altLang="zh-CN" sz="3200" i="1">
                            <a:latin typeface="Cambria Math" panose="02040503050406030204" pitchFamily="18" charset="0"/>
                          </a:rPr>
                          <m:t>2</m:t>
                        </m:r>
                      </m:e>
                    </m:d>
                    <m:r>
                      <a:rPr lang="en-US" altLang="zh-CN" sz="3200" i="1">
                        <a:latin typeface="Cambria Math" panose="02040503050406030204" pitchFamily="18" charset="0"/>
                      </a:rPr>
                      <m:t>=</m:t>
                    </m:r>
                    <m:d>
                      <m:dPr>
                        <m:ctrlPr>
                          <a:rPr lang="zh-CN" altLang="zh-CN" sz="3200" i="1"/>
                        </m:ctrlPr>
                      </m:dPr>
                      <m:e>
                        <m:r>
                          <a:rPr lang="en-US" altLang="zh-CN" sz="3200" i="1">
                            <a:latin typeface="Cambria Math" panose="02040503050406030204" pitchFamily="18" charset="0"/>
                          </a:rPr>
                          <m:t>11</m:t>
                        </m:r>
                        <m:r>
                          <a:rPr lang="zh-CN" altLang="zh-CN" sz="3200" i="1">
                            <a:latin typeface="Cambria Math" panose="02040503050406030204" pitchFamily="18" charset="0"/>
                          </a:rPr>
                          <m:t>，</m:t>
                        </m:r>
                        <m:r>
                          <a:rPr lang="en-US" altLang="zh-CN" sz="3200" i="1">
                            <a:latin typeface="Cambria Math" panose="02040503050406030204" pitchFamily="18" charset="0"/>
                          </a:rPr>
                          <m:t>  </m:t>
                        </m:r>
                        <m:r>
                          <a:rPr lang="en-US" altLang="zh-CN" sz="3200" i="1">
                            <a:latin typeface="Cambria Math" panose="02040503050406030204" pitchFamily="18" charset="0"/>
                          </a:rPr>
                          <m:t>9</m:t>
                        </m:r>
                      </m:e>
                    </m:d>
                  </m:oMath>
                </a14:m>
                <a:endParaRPr lang="en-US" altLang="zh-CN" sz="3200" i="1"/>
              </a:p>
              <a:p>
                <a:pPr indent="914400">
                  <a:lnSpc>
                    <a:spcPct val="120000"/>
                  </a:lnSpc>
                </a:pPr>
                <a14:m>
                  <m:oMathPara xmlns:m="http://schemas.openxmlformats.org/officeDocument/2006/math">
                    <m:oMathParaPr>
                      <m:jc m:val="centerGroup"/>
                    </m:oMathParaPr>
                    <m:oMath xmlns:m="http://schemas.openxmlformats.org/officeDocument/2006/math">
                      <m:r>
                        <a:rPr lang="en-US" altLang="zh-CN" sz="3200" i="1">
                          <a:latin typeface="Cambria Math" panose="02040503050406030204" pitchFamily="18" charset="0"/>
                        </a:rPr>
                        <m:t>𝑟</m:t>
                      </m:r>
                      <m:r>
                        <a:rPr lang="en-US" altLang="zh-CN" sz="3200" i="1">
                          <a:latin typeface="Cambria Math" panose="02040503050406030204" pitchFamily="18" charset="0"/>
                        </a:rPr>
                        <m:t>=</m:t>
                      </m:r>
                      <m:d>
                        <m:dPr>
                          <m:ctrlPr>
                            <a:rPr lang="zh-CN" altLang="zh-CN" sz="3200" i="1"/>
                          </m:ctrlPr>
                        </m:dPr>
                        <m:e>
                          <m:r>
                            <a:rPr lang="en-US" altLang="zh-CN" sz="3200" i="1">
                              <a:latin typeface="Cambria Math" panose="02040503050406030204" pitchFamily="18" charset="0"/>
                            </a:rPr>
                            <m:t>2</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𝑥</m:t>
                              </m:r>
                            </m:e>
                            <m:sub>
                              <m:r>
                                <a:rPr lang="en-US" altLang="zh-CN" sz="3200" i="1">
                                  <a:latin typeface="Cambria Math" panose="02040503050406030204" pitchFamily="18" charset="0"/>
                                </a:rPr>
                                <m:t>1</m:t>
                              </m:r>
                            </m:sub>
                          </m:sSub>
                        </m:e>
                      </m:d>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𝑛</m:t>
                          </m:r>
                        </m:e>
                      </m:func>
                      <m:r>
                        <a:rPr lang="en-US" altLang="zh-CN" sz="3200" i="1">
                          <a:latin typeface="Cambria Math" panose="02040503050406030204" pitchFamily="18" charset="0"/>
                        </a:rPr>
                        <m:t>=</m:t>
                      </m:r>
                      <m:r>
                        <a:rPr lang="en-US" altLang="zh-CN" sz="3200" i="1">
                          <a:latin typeface="Cambria Math" panose="02040503050406030204" pitchFamily="18" charset="0"/>
                        </a:rPr>
                        <m:t>13</m:t>
                      </m:r>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2</m:t>
                          </m:r>
                        </m:e>
                      </m:func>
                      <m:r>
                        <a:rPr lang="en-US" altLang="zh-CN" sz="3200" i="1">
                          <a:latin typeface="Cambria Math" panose="02040503050406030204" pitchFamily="18" charset="0"/>
                        </a:rPr>
                        <m:t>9</m:t>
                      </m:r>
                      <m:r>
                        <a:rPr lang="en-US" altLang="zh-CN" sz="3200" i="1">
                          <a:latin typeface="Cambria Math" panose="02040503050406030204" pitchFamily="18" charset="0"/>
                        </a:rPr>
                        <m:t>=</m:t>
                      </m:r>
                      <m:r>
                        <a:rPr lang="en-US" altLang="zh-CN" sz="3200" i="1">
                          <a:latin typeface="Cambria Math" panose="02040503050406030204" pitchFamily="18" charset="0"/>
                        </a:rPr>
                        <m:t>13</m:t>
                      </m:r>
                    </m:oMath>
                  </m:oMathPara>
                </a14:m>
                <a:endParaRPr lang="en-US" altLang="zh-CN" sz="3200" i="1"/>
              </a:p>
              <a:p>
                <a:pPr indent="914400">
                  <a:lnSpc>
                    <a:spcPct val="120000"/>
                  </a:lnSpc>
                </a:pPr>
                <a14:m>
                  <m:oMath xmlns:m="http://schemas.openxmlformats.org/officeDocument/2006/math">
                    <m:r>
                      <a:rPr lang="en-US" altLang="zh-CN" sz="3200" i="1">
                        <a:latin typeface="Cambria Math" panose="02040503050406030204" pitchFamily="18" charset="0"/>
                      </a:rPr>
                      <m:t>𝑠</m:t>
                    </m:r>
                    <m:r>
                      <a:rPr lang="en-US" altLang="zh-CN" sz="3200" i="1">
                        <a:latin typeface="Cambria Math" panose="02040503050406030204" pitchFamily="18" charset="0"/>
                      </a:rPr>
                      <m:t>=</m:t>
                    </m:r>
                    <m:d>
                      <m:dPr>
                        <m:begChr m:val="["/>
                        <m:endChr m:val="]"/>
                        <m:ctrlPr>
                          <a:rPr lang="zh-CN" altLang="zh-CN" sz="3200" i="1"/>
                        </m:ctrlPr>
                      </m:dPr>
                      <m:e>
                        <m:sSup>
                          <m:sSupPr>
                            <m:ctrlPr>
                              <a:rPr lang="zh-CN" altLang="zh-CN" sz="3200" i="1"/>
                            </m:ctrlPr>
                          </m:sSupPr>
                          <m:e>
                            <m:d>
                              <m:dPr>
                                <m:ctrlPr>
                                  <a:rPr lang="zh-CN" altLang="zh-CN" sz="3200" i="1"/>
                                </m:ctrlPr>
                              </m:dPr>
                              <m:e>
                                <m:r>
                                  <a:rPr lang="en-US" altLang="zh-CN" sz="3200" i="1">
                                    <a:latin typeface="Cambria Math" panose="02040503050406030204" pitchFamily="18" charset="0"/>
                                  </a:rPr>
                                  <m:t>1</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𝑑</m:t>
                                    </m:r>
                                  </m:e>
                                  <m:sub>
                                    <m:r>
                                      <a:rPr lang="en-US" altLang="zh-CN" sz="3200" i="1">
                                        <a:latin typeface="Cambria Math" panose="02040503050406030204" pitchFamily="18" charset="0"/>
                                      </a:rPr>
                                      <m:t>𝐴</m:t>
                                    </m:r>
                                  </m:sub>
                                </m:sSub>
                              </m:e>
                            </m:d>
                          </m:e>
                          <m:sup>
                            <m:r>
                              <a:rPr lang="en-US" altLang="zh-CN" sz="3200" i="1">
                                <a:latin typeface="Cambria Math" panose="02040503050406030204" pitchFamily="18" charset="0"/>
                              </a:rPr>
                              <m:t>−</m:t>
                            </m:r>
                            <m:r>
                              <a:rPr lang="en-US" altLang="zh-CN" sz="3200" i="1">
                                <a:latin typeface="Cambria Math" panose="02040503050406030204" pitchFamily="18" charset="0"/>
                              </a:rPr>
                              <m:t>1</m:t>
                            </m:r>
                          </m:sup>
                        </m:sSup>
                        <m:r>
                          <a:rPr lang="en-US" altLang="zh-CN" sz="3200" i="1">
                            <a:latin typeface="Cambria Math" panose="02040503050406030204" pitchFamily="18" charset="0"/>
                          </a:rPr>
                          <m:t>⋅</m:t>
                        </m:r>
                        <m:d>
                          <m:dPr>
                            <m:ctrlPr>
                              <a:rPr lang="zh-CN" altLang="zh-CN" sz="3200" i="1"/>
                            </m:ctrlPr>
                          </m:dPr>
                          <m:e>
                            <m:r>
                              <a:rPr lang="en-US" altLang="zh-CN" sz="3200" i="1">
                                <a:latin typeface="Cambria Math" panose="02040503050406030204" pitchFamily="18" charset="0"/>
                              </a:rPr>
                              <m:t>𝑘</m:t>
                            </m:r>
                            <m:r>
                              <a:rPr lang="en-US" altLang="zh-CN" sz="3200" i="1">
                                <a:latin typeface="Cambria Math" panose="02040503050406030204" pitchFamily="18" charset="0"/>
                              </a:rPr>
                              <m:t>−</m:t>
                            </m:r>
                            <m:r>
                              <a:rPr lang="en-US" altLang="zh-CN" sz="3200" i="1">
                                <a:latin typeface="Cambria Math" panose="02040503050406030204" pitchFamily="18" charset="0"/>
                              </a:rPr>
                              <m:t>𝑟</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𝑑</m:t>
                                </m:r>
                              </m:e>
                              <m:sub>
                                <m:r>
                                  <a:rPr lang="en-US" altLang="zh-CN" sz="3200" i="1">
                                    <a:latin typeface="Cambria Math" panose="02040503050406030204" pitchFamily="18" charset="0"/>
                                  </a:rPr>
                                  <m:t>𝐴</m:t>
                                </m:r>
                              </m:sub>
                            </m:sSub>
                          </m:e>
                        </m:d>
                      </m:e>
                    </m:d>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𝑛</m:t>
                        </m:r>
                      </m:e>
                    </m:func>
                    <m:r>
                      <a:rPr lang="en-US" altLang="zh-CN" sz="3200" i="1">
                        <a:latin typeface="Cambria Math" panose="02040503050406030204" pitchFamily="18" charset="0"/>
                      </a:rPr>
                      <m:t>=</m:t>
                    </m:r>
                    <m:d>
                      <m:dPr>
                        <m:begChr m:val="["/>
                        <m:endChr m:val="]"/>
                        <m:ctrlPr>
                          <a:rPr lang="zh-CN" altLang="zh-CN" sz="3200" i="1"/>
                        </m:ctrlPr>
                      </m:dPr>
                      <m:e>
                        <m:r>
                          <a:rPr lang="en-US" altLang="zh-CN" sz="3200" i="1">
                            <a:latin typeface="Cambria Math" panose="02040503050406030204" pitchFamily="18" charset="0"/>
                          </a:rPr>
                          <m:t>1</m:t>
                        </m:r>
                        <m:sSup>
                          <m:sSupPr>
                            <m:ctrlPr>
                              <a:rPr lang="zh-CN" altLang="zh-CN" sz="3200" i="1"/>
                            </m:ctrlPr>
                          </m:sSupPr>
                          <m:e>
                            <m:r>
                              <a:rPr lang="en-US" altLang="zh-CN" sz="3200" i="1">
                                <a:latin typeface="Cambria Math" panose="02040503050406030204" pitchFamily="18" charset="0"/>
                              </a:rPr>
                              <m:t>0</m:t>
                            </m:r>
                          </m:e>
                          <m:sup>
                            <m:r>
                              <a:rPr lang="en-US" altLang="zh-CN" sz="3200" i="1">
                                <a:latin typeface="Cambria Math" panose="02040503050406030204" pitchFamily="18" charset="0"/>
                              </a:rPr>
                              <m:t>−</m:t>
                            </m:r>
                            <m:r>
                              <a:rPr lang="en-US" altLang="zh-CN" sz="3200" i="1">
                                <a:latin typeface="Cambria Math" panose="02040503050406030204" pitchFamily="18" charset="0"/>
                              </a:rPr>
                              <m:t>1</m:t>
                            </m:r>
                          </m:sup>
                        </m:sSup>
                        <m:r>
                          <a:rPr lang="en-US" altLang="zh-CN" sz="3200" i="1">
                            <a:latin typeface="Cambria Math" panose="02040503050406030204" pitchFamily="18" charset="0"/>
                          </a:rPr>
                          <m:t>×</m:t>
                        </m:r>
                        <m:d>
                          <m:dPr>
                            <m:ctrlPr>
                              <a:rPr lang="zh-CN" altLang="zh-CN" sz="3200" i="1"/>
                            </m:ctrlPr>
                          </m:dPr>
                          <m:e>
                            <m:r>
                              <a:rPr lang="en-US" altLang="zh-CN" sz="3200" i="1">
                                <a:latin typeface="Cambria Math" panose="02040503050406030204" pitchFamily="18" charset="0"/>
                              </a:rPr>
                              <m:t>3</m:t>
                            </m:r>
                            <m:r>
                              <a:rPr lang="en-US" altLang="zh-CN" sz="3200" i="1">
                                <a:latin typeface="Cambria Math" panose="02040503050406030204" pitchFamily="18" charset="0"/>
                              </a:rPr>
                              <m:t>−</m:t>
                            </m:r>
                            <m:r>
                              <a:rPr lang="en-US" altLang="zh-CN" sz="3200" i="1">
                                <a:latin typeface="Cambria Math" panose="02040503050406030204" pitchFamily="18" charset="0"/>
                              </a:rPr>
                              <m:t>117</m:t>
                            </m:r>
                          </m:e>
                        </m:d>
                      </m:e>
                    </m:d>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2</m:t>
                        </m:r>
                      </m:e>
                    </m:func>
                    <m:r>
                      <a:rPr lang="en-US" altLang="zh-CN" sz="3200" i="1">
                        <a:latin typeface="Cambria Math" panose="02040503050406030204" pitchFamily="18" charset="0"/>
                      </a:rPr>
                      <m:t>9</m:t>
                    </m:r>
                    <m:r>
                      <a:rPr lang="en-US" altLang="zh-CN" sz="3200" i="1">
                        <a:latin typeface="Cambria Math" panose="02040503050406030204" pitchFamily="18" charset="0"/>
                      </a:rPr>
                      <m:t>=</m:t>
                    </m:r>
                    <m:r>
                      <a:rPr lang="en-US" altLang="zh-CN" sz="3200" i="1">
                        <a:latin typeface="Cambria Math" panose="02040503050406030204" pitchFamily="18" charset="0"/>
                      </a:rPr>
                      <m:t>6</m:t>
                    </m:r>
                  </m:oMath>
                </a14:m>
                <a:r>
                  <a:rPr lang="en-US" altLang="zh-CN" sz="3200"/>
                  <a:t>	    </a:t>
                </a:r>
                <a:r>
                  <a:rPr lang="zh-CN" altLang="zh-CN" sz="3600"/>
                  <a:t>（</a:t>
                </a:r>
                <a:r>
                  <a:rPr lang="en-US" altLang="zh-CN" sz="3600"/>
                  <a:t>13.10</a:t>
                </a:r>
                <a:r>
                  <a:rPr lang="zh-CN" altLang="zh-CN" sz="3600"/>
                  <a:t>）</a:t>
                </a:r>
                <a:endParaRPr lang="zh-CN" altLang="zh-CN" sz="3600"/>
              </a:p>
              <a:p>
                <a:pPr indent="914400">
                  <a:lnSpc>
                    <a:spcPct val="120000"/>
                  </a:lnSpc>
                </a:pPr>
                <a:r>
                  <a:rPr lang="zh-CN" altLang="zh-CN" sz="3600"/>
                  <a:t>因此，对</a:t>
                </a:r>
                <a:r>
                  <a:rPr lang="en-US" altLang="zh-CN" sz="3200" i="1"/>
                  <a:t>M</a:t>
                </a:r>
                <a:r>
                  <a:rPr lang="zh-CN" altLang="zh-CN" sz="3600"/>
                  <a:t>的签名为</a:t>
                </a:r>
                <a14:m>
                  <m:oMath xmlns:m="http://schemas.openxmlformats.org/officeDocument/2006/math">
                    <m:d>
                      <m:dPr>
                        <m:ctrlPr>
                          <a:rPr lang="zh-CN" altLang="zh-CN" sz="3200" i="1"/>
                        </m:ctrlPr>
                      </m:dPr>
                      <m:e>
                        <m:r>
                          <a:rPr lang="en-US" altLang="zh-CN" sz="3200" i="1">
                            <a:latin typeface="Cambria Math" panose="02040503050406030204" pitchFamily="18" charset="0"/>
                          </a:rPr>
                          <m:t>13</m:t>
                        </m:r>
                        <m:r>
                          <a:rPr lang="zh-CN" altLang="zh-CN" sz="3200" i="1" smtClean="0">
                            <a:latin typeface="Cambria Math" panose="02040503050406030204" pitchFamily="18" charset="0"/>
                          </a:rPr>
                          <m:t>，</m:t>
                        </m:r>
                        <m:r>
                          <a:rPr lang="en-US" altLang="zh-CN" sz="3200" i="1">
                            <a:latin typeface="Cambria Math" panose="02040503050406030204" pitchFamily="18" charset="0"/>
                          </a:rPr>
                          <m:t>6</m:t>
                        </m:r>
                      </m:e>
                    </m:d>
                  </m:oMath>
                </a14:m>
                <a:r>
                  <a:rPr lang="zh-CN" altLang="zh-CN" sz="3600"/>
                  <a:t>。</a:t>
                </a:r>
                <a:endParaRPr lang="zh-CN" altLang="zh-CN" sz="3600"/>
              </a:p>
              <a:p>
                <a:pPr indent="914400">
                  <a:lnSpc>
                    <a:spcPct val="120000"/>
                  </a:lnSpc>
                </a:pPr>
                <a:endParaRPr lang="zh-CN" altLang="zh-CN" sz="3600"/>
              </a:p>
            </p:txBody>
          </p:sp>
        </mc:Choice>
        <mc:Fallback>
          <p:sp>
            <p:nvSpPr>
              <p:cNvPr id="6" name="TextBox 29"/>
              <p:cNvSpPr txBox="1">
                <a:spLocks noRot="1" noChangeAspect="1" noMove="1" noResize="1" noEditPoints="1" noAdjustHandles="1" noChangeArrowheads="1" noChangeShapeType="1" noTextEdit="1"/>
              </p:cNvSpPr>
              <p:nvPr/>
            </p:nvSpPr>
            <p:spPr>
              <a:xfrm>
                <a:off x="1447801" y="1984375"/>
                <a:ext cx="15697200" cy="6317615"/>
              </a:xfrm>
              <a:prstGeom prst="rect">
                <a:avLst/>
              </a:prstGeom>
              <a:blipFill rotWithShape="1">
                <a:blip r:embed="rId1"/>
                <a:stretch>
                  <a:fillRect r="-2193"/>
                </a:stretch>
              </a:blipFill>
            </p:spPr>
            <p:txBody>
              <a:bodyPr/>
              <a:lstStyle/>
              <a:p>
                <a:r>
                  <a:rPr lang="zh-CN" altLang="en-US">
                    <a:noFill/>
                  </a:rPr>
                  <a:t> </a:t>
                </a:r>
              </a:p>
            </p:txBody>
          </p:sp>
        </mc:Fallback>
      </mc:AlternateContent>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6" name="TextBox 30"/>
          <p:cNvSpPr txBox="1"/>
          <p:nvPr/>
        </p:nvSpPr>
        <p:spPr>
          <a:xfrm>
            <a:off x="250468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lang="en-US" altLang="zh-CN"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a:t>
            </a: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312693"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a:t>
            </a: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9"/>
              <p:cNvSpPr txBox="1"/>
              <p:nvPr/>
            </p:nvSpPr>
            <p:spPr>
              <a:xfrm>
                <a:off x="1447801" y="3238500"/>
                <a:ext cx="15697200" cy="3333115"/>
              </a:xfrm>
              <a:prstGeom prst="rect">
                <a:avLst/>
              </a:prstGeom>
            </p:spPr>
            <p:txBody>
              <a:bodyPr wrap="square" lIns="0" tIns="0" rIns="0" bIns="0" rtlCol="0" anchor="t">
                <a:spAutoFit/>
              </a:bodyPr>
              <a:lstStyle/>
              <a:p>
                <a:pPr indent="914400">
                  <a:lnSpc>
                    <a:spcPct val="120000"/>
                  </a:lnSpc>
                </a:pPr>
                <a:r>
                  <a:rPr lang="zh-CN" altLang="zh-CN" sz="3600"/>
                  <a:t>（</a:t>
                </a:r>
                <a:r>
                  <a:rPr lang="en-US" altLang="zh-CN" sz="3600"/>
                  <a:t>3</a:t>
                </a:r>
                <a:r>
                  <a:rPr lang="zh-CN" altLang="zh-CN" sz="3600"/>
                  <a:t>）签名验证过程。验签者得到签名后进行如下计算，即</a:t>
                </a:r>
                <a:endParaRPr lang="zh-CN" altLang="zh-CN" sz="3600"/>
              </a:p>
              <a:p>
                <a:pPr indent="914400">
                  <a:lnSpc>
                    <a:spcPct val="120000"/>
                  </a:lnSpc>
                </a:pPr>
                <a14:m>
                  <m:oMathPara xmlns:m="http://schemas.openxmlformats.org/officeDocument/2006/math">
                    <m:oMathParaPr>
                      <m:jc m:val="centerGroup"/>
                    </m:oMathParaPr>
                    <m:oMath xmlns:m="http://schemas.openxmlformats.org/officeDocument/2006/math">
                      <m:r>
                        <a:rPr lang="en-US" altLang="zh-CN" sz="3200" i="1">
                          <a:latin typeface="Cambria Math" panose="02040503050406030204" pitchFamily="18" charset="0"/>
                        </a:rPr>
                        <m:t>𝑡</m:t>
                      </m:r>
                      <m:r>
                        <a:rPr lang="en-US" altLang="zh-CN" sz="3200" i="1">
                          <a:latin typeface="Cambria Math" panose="02040503050406030204" pitchFamily="18" charset="0"/>
                        </a:rPr>
                        <m:t>=</m:t>
                      </m:r>
                      <m:d>
                        <m:dPr>
                          <m:ctrlPr>
                            <a:rPr lang="zh-CN" altLang="zh-CN" sz="3200" i="1"/>
                          </m:ctrlPr>
                        </m:dPr>
                        <m:e>
                          <m:sSup>
                            <m:sSupPr>
                              <m:ctrlPr>
                                <a:rPr lang="zh-CN" altLang="zh-CN" sz="3200" i="1"/>
                              </m:ctrlPr>
                            </m:sSupPr>
                            <m:e>
                              <m:r>
                                <a:rPr lang="en-US" altLang="zh-CN" sz="3200" i="1">
                                  <a:latin typeface="Cambria Math" panose="02040503050406030204" pitchFamily="18" charset="0"/>
                                </a:rPr>
                                <m:t>𝑟</m:t>
                              </m:r>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𝑠</m:t>
                              </m:r>
                            </m:e>
                            <m:sup>
                              <m:r>
                                <a:rPr lang="en-US" altLang="zh-CN" sz="3200" i="1">
                                  <a:latin typeface="Cambria Math" panose="02040503050406030204" pitchFamily="18" charset="0"/>
                                </a:rPr>
                                <m:t>′</m:t>
                              </m:r>
                            </m:sup>
                          </m:sSup>
                        </m:e>
                      </m:d>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𝑛</m:t>
                          </m:r>
                        </m:e>
                      </m:func>
                      <m:r>
                        <a:rPr lang="en-US" altLang="zh-CN" sz="3200" i="1">
                          <a:latin typeface="Cambria Math" panose="02040503050406030204" pitchFamily="18" charset="0"/>
                        </a:rPr>
                        <m:t>=</m:t>
                      </m:r>
                      <m:r>
                        <a:rPr lang="en-US" altLang="zh-CN" sz="3200" i="1">
                          <a:latin typeface="Cambria Math" panose="02040503050406030204" pitchFamily="18" charset="0"/>
                        </a:rPr>
                        <m:t>19</m:t>
                      </m:r>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2</m:t>
                          </m:r>
                        </m:e>
                      </m:func>
                      <m:r>
                        <a:rPr lang="en-US" altLang="zh-CN" sz="3200" i="1">
                          <a:latin typeface="Cambria Math" panose="02040503050406030204" pitchFamily="18" charset="0"/>
                        </a:rPr>
                        <m:t>9</m:t>
                      </m:r>
                      <m:r>
                        <a:rPr lang="en-US" altLang="zh-CN" sz="3200" i="1">
                          <a:latin typeface="Cambria Math" panose="02040503050406030204" pitchFamily="18" charset="0"/>
                        </a:rPr>
                        <m:t>=</m:t>
                      </m:r>
                      <m:r>
                        <a:rPr lang="en-US" altLang="zh-CN" sz="3200" i="1">
                          <a:latin typeface="Cambria Math" panose="02040503050406030204" pitchFamily="18" charset="0"/>
                        </a:rPr>
                        <m:t>19</m:t>
                      </m:r>
                    </m:oMath>
                  </m:oMathPara>
                </a14:m>
                <a:endParaRPr lang="en-US" altLang="zh-CN" sz="3200" i="1"/>
              </a:p>
              <a:p>
                <a:pPr indent="914400">
                  <a:lnSpc>
                    <a:spcPct val="120000"/>
                  </a:lnSpc>
                </a:pPr>
                <a14:m>
                  <m:oMathPara xmlns:m="http://schemas.openxmlformats.org/officeDocument/2006/math">
                    <m:oMathParaPr>
                      <m:jc m:val="centerGroup"/>
                    </m:oMathParaPr>
                    <m:oMath xmlns:m="http://schemas.openxmlformats.org/officeDocument/2006/math">
                      <m:d>
                        <m:dPr>
                          <m:ctrlPr>
                            <a:rPr lang="zh-CN" altLang="zh-CN" sz="3200" i="1"/>
                          </m:ctrlPr>
                        </m:dPr>
                        <m:e>
                          <m:sSub>
                            <m:sSubPr>
                              <m:ctrlPr>
                                <a:rPr lang="zh-CN" altLang="zh-CN" sz="3200" i="1"/>
                              </m:ctrlPr>
                            </m:sSubPr>
                            <m:e>
                              <m:r>
                                <a:rPr lang="en-US" altLang="zh-CN" sz="3200" i="1">
                                  <a:latin typeface="Cambria Math" panose="02040503050406030204" pitchFamily="18" charset="0"/>
                                </a:rPr>
                                <m:t>𝑥</m:t>
                              </m:r>
                            </m:e>
                            <m:sub>
                              <m:r>
                                <a:rPr lang="en-US" altLang="zh-CN" sz="3200" i="1">
                                  <a:latin typeface="Cambria Math" panose="02040503050406030204" pitchFamily="18" charset="0"/>
                                </a:rPr>
                                <m:t>1</m:t>
                              </m:r>
                            </m:sub>
                          </m:sSub>
                          <m:r>
                            <a:rPr lang="zh-CN"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𝑦</m:t>
                              </m:r>
                            </m:e>
                            <m:sub>
                              <m:r>
                                <a:rPr lang="en-US" altLang="zh-CN" sz="3200" i="1">
                                  <a:latin typeface="Cambria Math" panose="02040503050406030204" pitchFamily="18" charset="0"/>
                                </a:rPr>
                                <m:t>1</m:t>
                              </m:r>
                            </m:sub>
                          </m:sSub>
                        </m:e>
                      </m:d>
                      <m:r>
                        <a:rPr lang="en-US" altLang="zh-CN" sz="3200" i="1">
                          <a:latin typeface="Cambria Math" panose="02040503050406030204" pitchFamily="18" charset="0"/>
                        </a:rPr>
                        <m:t>=</m:t>
                      </m:r>
                      <m:d>
                        <m:dPr>
                          <m:begChr m:val="["/>
                          <m:endChr m:val="]"/>
                          <m:ctrlPr>
                            <a:rPr lang="zh-CN" altLang="zh-CN" sz="3200" i="1"/>
                          </m:ctrlPr>
                        </m:dPr>
                        <m:e>
                          <m:sSup>
                            <m:sSupPr>
                              <m:ctrlPr>
                                <a:rPr lang="zh-CN" altLang="zh-CN" sz="3200" i="1"/>
                              </m:ctrlPr>
                            </m:sSupPr>
                            <m:e>
                              <m:r>
                                <a:rPr lang="en-US" altLang="zh-CN" sz="3200" i="1">
                                  <a:latin typeface="Cambria Math" panose="02040503050406030204" pitchFamily="18" charset="0"/>
                                </a:rPr>
                                <m:t>𝑠</m:t>
                              </m:r>
                            </m:e>
                            <m:sup>
                              <m:r>
                                <a:rPr lang="en-US" altLang="zh-CN" sz="3200" i="1">
                                  <a:latin typeface="Cambria Math" panose="02040503050406030204" pitchFamily="18" charset="0"/>
                                </a:rPr>
                                <m:t>′</m:t>
                              </m:r>
                            </m:sup>
                          </m:sSup>
                        </m:e>
                      </m:d>
                      <m:r>
                        <a:rPr lang="en-US" altLang="zh-CN" sz="3200" i="1">
                          <a:latin typeface="Cambria Math" panose="02040503050406030204" pitchFamily="18" charset="0"/>
                        </a:rPr>
                        <m:t>𝐺</m:t>
                      </m:r>
                      <m:r>
                        <a:rPr lang="en-US" altLang="zh-CN" sz="3200" i="1">
                          <a:latin typeface="Cambria Math" panose="02040503050406030204" pitchFamily="18" charset="0"/>
                        </a:rPr>
                        <m:t>+</m:t>
                      </m:r>
                      <m:d>
                        <m:dPr>
                          <m:begChr m:val="["/>
                          <m:endChr m:val="]"/>
                          <m:ctrlPr>
                            <a:rPr lang="zh-CN" altLang="zh-CN" sz="3200" i="1"/>
                          </m:ctrlPr>
                        </m:dPr>
                        <m:e>
                          <m:r>
                            <a:rPr lang="en-US" altLang="zh-CN" sz="3200" i="1">
                              <a:latin typeface="Cambria Math" panose="02040503050406030204" pitchFamily="18" charset="0"/>
                            </a:rPr>
                            <m:t>𝑡</m:t>
                          </m:r>
                        </m:e>
                      </m:d>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r>
                        <a:rPr lang="en-US" altLang="zh-CN" sz="3200" i="1">
                          <a:latin typeface="Cambria Math" panose="02040503050406030204" pitchFamily="18" charset="0"/>
                        </a:rPr>
                        <m:t>6</m:t>
                      </m:r>
                      <m:d>
                        <m:dPr>
                          <m:ctrlPr>
                            <a:rPr lang="zh-CN" altLang="zh-CN" sz="3200" i="1"/>
                          </m:ctrlPr>
                        </m:dPr>
                        <m:e>
                          <m:r>
                            <a:rPr lang="en-US" altLang="zh-CN" sz="3200" i="1">
                              <a:latin typeface="Cambria Math" panose="02040503050406030204" pitchFamily="18" charset="0"/>
                            </a:rPr>
                            <m:t>0</m:t>
                          </m:r>
                          <m:r>
                            <a:rPr lang="zh-CN" altLang="zh-CN" sz="3200" i="1">
                              <a:latin typeface="Cambria Math" panose="02040503050406030204" pitchFamily="18" charset="0"/>
                            </a:rPr>
                            <m:t>，</m:t>
                          </m:r>
                          <m:r>
                            <a:rPr lang="en-US" altLang="zh-CN" sz="3200" i="1">
                              <a:latin typeface="Cambria Math" panose="02040503050406030204" pitchFamily="18" charset="0"/>
                            </a:rPr>
                            <m:t>2</m:t>
                          </m:r>
                        </m:e>
                      </m:d>
                      <m:r>
                        <a:rPr lang="en-US" altLang="zh-CN" sz="3200" i="1">
                          <a:latin typeface="Cambria Math" panose="02040503050406030204" pitchFamily="18" charset="0"/>
                        </a:rPr>
                        <m:t>+</m:t>
                      </m:r>
                      <m:r>
                        <a:rPr lang="en-US" altLang="zh-CN" sz="3200" i="1">
                          <a:latin typeface="Cambria Math" panose="02040503050406030204" pitchFamily="18" charset="0"/>
                        </a:rPr>
                        <m:t>19</m:t>
                      </m:r>
                      <m:d>
                        <m:dPr>
                          <m:ctrlPr>
                            <a:rPr lang="zh-CN" altLang="zh-CN" sz="3200" i="1"/>
                          </m:ctrlPr>
                        </m:dPr>
                        <m:e>
                          <m:r>
                            <a:rPr lang="en-US" altLang="zh-CN" sz="3200" i="1">
                              <a:latin typeface="Cambria Math" panose="02040503050406030204" pitchFamily="18" charset="0"/>
                            </a:rPr>
                            <m:t>4</m:t>
                          </m:r>
                          <m:r>
                            <a:rPr lang="zh-CN" altLang="zh-CN" sz="3200" i="1">
                              <a:latin typeface="Cambria Math" panose="02040503050406030204" pitchFamily="18" charset="0"/>
                            </a:rPr>
                            <m:t>，</m:t>
                          </m:r>
                          <m:r>
                            <a:rPr lang="en-US" altLang="zh-CN" sz="3200" i="1">
                              <a:latin typeface="Cambria Math" panose="02040503050406030204" pitchFamily="18" charset="0"/>
                            </a:rPr>
                            <m:t>7</m:t>
                          </m:r>
                        </m:e>
                      </m:d>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2</m:t>
                          </m:r>
                        </m:e>
                      </m:func>
                      <m:r>
                        <a:rPr lang="en-US" altLang="zh-CN" sz="3200" i="1">
                          <a:latin typeface="Cambria Math" panose="02040503050406030204" pitchFamily="18" charset="0"/>
                        </a:rPr>
                        <m:t>9</m:t>
                      </m:r>
                      <m:r>
                        <a:rPr lang="en-US" altLang="zh-CN" sz="3200" i="1">
                          <a:latin typeface="Cambria Math" panose="02040503050406030204" pitchFamily="18" charset="0"/>
                        </a:rPr>
                        <m:t>=</m:t>
                      </m:r>
                      <m:d>
                        <m:dPr>
                          <m:ctrlPr>
                            <a:rPr lang="zh-CN" altLang="zh-CN" sz="3200" i="1"/>
                          </m:ctrlPr>
                        </m:dPr>
                        <m:e>
                          <m:r>
                            <a:rPr lang="en-US" altLang="zh-CN" sz="3200" i="1">
                              <a:latin typeface="Cambria Math" panose="02040503050406030204" pitchFamily="18" charset="0"/>
                            </a:rPr>
                            <m:t>11</m:t>
                          </m:r>
                          <m:r>
                            <a:rPr lang="zh-CN" altLang="zh-CN" sz="3200" i="1">
                              <a:latin typeface="Cambria Math" panose="02040503050406030204" pitchFamily="18" charset="0"/>
                            </a:rPr>
                            <m:t>，</m:t>
                          </m:r>
                          <m:r>
                            <a:rPr lang="en-US" altLang="zh-CN" sz="3200" i="1">
                              <a:latin typeface="Cambria Math" panose="02040503050406030204" pitchFamily="18" charset="0"/>
                            </a:rPr>
                            <m:t>  </m:t>
                          </m:r>
                          <m:r>
                            <a:rPr lang="en-US" altLang="zh-CN" sz="3200" i="1">
                              <a:latin typeface="Cambria Math" panose="02040503050406030204" pitchFamily="18" charset="0"/>
                            </a:rPr>
                            <m:t>9</m:t>
                          </m:r>
                        </m:e>
                      </m:d>
                    </m:oMath>
                  </m:oMathPara>
                </a14:m>
                <a:endParaRPr lang="en-US" altLang="zh-CN" sz="3200" i="1"/>
              </a:p>
              <a:p>
                <a:pPr indent="914400">
                  <a:lnSpc>
                    <a:spcPct val="120000"/>
                  </a:lnSpc>
                </a:pPr>
                <a:r>
                  <a:rPr lang="en-US" altLang="zh-CN" sz="3200"/>
                  <a:t>                                 </a:t>
                </a:r>
                <a14:m>
                  <m:oMath xmlns:m="http://schemas.openxmlformats.org/officeDocument/2006/math">
                    <m:r>
                      <a:rPr lang="en-US" altLang="zh-CN" sz="3200" i="1">
                        <a:latin typeface="Cambria Math" panose="02040503050406030204" pitchFamily="18" charset="0"/>
                      </a:rPr>
                      <m:t>𝑅</m:t>
                    </m:r>
                    <m:r>
                      <a:rPr lang="en-US" altLang="zh-CN" sz="3200" i="1">
                        <a:latin typeface="Cambria Math" panose="02040503050406030204" pitchFamily="18" charset="0"/>
                      </a:rPr>
                      <m:t>=</m:t>
                    </m:r>
                    <m:d>
                      <m:dPr>
                        <m:ctrlPr>
                          <a:rPr lang="zh-CN" altLang="zh-CN" sz="3200" i="1"/>
                        </m:ctrlPr>
                      </m:dPr>
                      <m:e>
                        <m:sSup>
                          <m:sSupPr>
                            <m:ctrlPr>
                              <a:rPr lang="zh-CN" altLang="zh-CN" sz="3200" i="1"/>
                            </m:ctrlPr>
                          </m:sSupPr>
                          <m:e>
                            <m:r>
                              <a:rPr lang="en-US" altLang="zh-CN" sz="3200" i="1">
                                <a:latin typeface="Cambria Math" panose="02040503050406030204" pitchFamily="18" charset="0"/>
                              </a:rPr>
                              <m:t>𝑒</m:t>
                            </m:r>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sSup>
                          <m:sSupPr>
                            <m:ctrlPr>
                              <a:rPr lang="zh-CN" altLang="zh-CN" sz="3200" i="1"/>
                            </m:ctrlPr>
                          </m:sSupPr>
                          <m:e>
                            <m:sSub>
                              <m:sSubPr>
                                <m:ctrlPr>
                                  <a:rPr lang="zh-CN" altLang="zh-CN" sz="3200" i="1"/>
                                </m:ctrlPr>
                              </m:sSubPr>
                              <m:e>
                                <m:r>
                                  <a:rPr lang="en-US" altLang="zh-CN" sz="3200" i="1">
                                    <a:latin typeface="Cambria Math" panose="02040503050406030204" pitchFamily="18" charset="0"/>
                                  </a:rPr>
                                  <m:t>𝑥</m:t>
                                </m:r>
                              </m:e>
                              <m:sub>
                                <m:r>
                                  <a:rPr lang="en-US" altLang="zh-CN" sz="3200" i="1">
                                    <a:latin typeface="Cambria Math" panose="02040503050406030204" pitchFamily="18" charset="0"/>
                                  </a:rPr>
                                  <m:t>1</m:t>
                                </m:r>
                              </m:sub>
                            </m:sSub>
                          </m:e>
                          <m:sup>
                            <m:r>
                              <a:rPr lang="en-US" altLang="zh-CN" sz="3200" i="1">
                                <a:latin typeface="Cambria Math" panose="02040503050406030204" pitchFamily="18" charset="0"/>
                              </a:rPr>
                              <m:t>′</m:t>
                            </m:r>
                          </m:sup>
                        </m:sSup>
                      </m:e>
                    </m:d>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𝑛</m:t>
                        </m:r>
                      </m:e>
                    </m:func>
                    <m:r>
                      <a:rPr lang="en-US" altLang="zh-CN" sz="3200" i="1">
                        <a:latin typeface="Cambria Math" panose="02040503050406030204" pitchFamily="18" charset="0"/>
                      </a:rPr>
                      <m:t>=</m:t>
                    </m:r>
                    <m:r>
                      <a:rPr lang="en-US" altLang="zh-CN" sz="3200" i="1">
                        <a:latin typeface="Cambria Math" panose="02040503050406030204" pitchFamily="18" charset="0"/>
                      </a:rPr>
                      <m:t>13</m:t>
                    </m:r>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2</m:t>
                        </m:r>
                      </m:e>
                    </m:func>
                    <m:r>
                      <a:rPr lang="en-US" altLang="zh-CN" sz="3200" i="1">
                        <a:latin typeface="Cambria Math" panose="02040503050406030204" pitchFamily="18" charset="0"/>
                      </a:rPr>
                      <m:t>9</m:t>
                    </m:r>
                    <m:r>
                      <a:rPr lang="en-US" altLang="zh-CN" sz="3200" i="1">
                        <a:latin typeface="Cambria Math" panose="02040503050406030204" pitchFamily="18" charset="0"/>
                      </a:rPr>
                      <m:t>=</m:t>
                    </m:r>
                    <m:r>
                      <a:rPr lang="en-US" altLang="zh-CN" sz="3200" i="1">
                        <a:latin typeface="Cambria Math" panose="02040503050406030204" pitchFamily="18" charset="0"/>
                      </a:rPr>
                      <m:t>13</m:t>
                    </m:r>
                  </m:oMath>
                </a14:m>
                <a:r>
                  <a:rPr lang="en-US" altLang="zh-CN" sz="3600"/>
                  <a:t>	                  </a:t>
                </a:r>
                <a:r>
                  <a:rPr lang="zh-CN" altLang="zh-CN" sz="3600"/>
                  <a:t>（</a:t>
                </a:r>
                <a:r>
                  <a:rPr lang="en-US" altLang="zh-CN" sz="3600"/>
                  <a:t>13.11</a:t>
                </a:r>
                <a:r>
                  <a:rPr lang="zh-CN" altLang="zh-CN" sz="3600"/>
                  <a:t>）</a:t>
                </a:r>
                <a:endParaRPr lang="zh-CN" altLang="zh-CN" sz="3600"/>
              </a:p>
              <a:p>
                <a:pPr indent="914400">
                  <a:lnSpc>
                    <a:spcPct val="120000"/>
                  </a:lnSpc>
                </a:pPr>
                <a:r>
                  <a:rPr lang="zh-CN" altLang="zh-CN" sz="3600"/>
                  <a:t>因此，</a:t>
                </a:r>
                <a14:m>
                  <m:oMath xmlns:m="http://schemas.openxmlformats.org/officeDocument/2006/math">
                    <m:r>
                      <a:rPr lang="en-US" altLang="zh-CN" sz="3200" i="1">
                        <a:latin typeface="Cambria Math" panose="02040503050406030204" pitchFamily="18" charset="0"/>
                      </a:rPr>
                      <m:t>𝑅</m:t>
                    </m:r>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𝑟</m:t>
                        </m:r>
                      </m:e>
                      <m:sup>
                        <m:r>
                          <a:rPr lang="en-US" altLang="zh-CN" sz="3200" i="1">
                            <a:latin typeface="Cambria Math" panose="02040503050406030204" pitchFamily="18" charset="0"/>
                          </a:rPr>
                          <m:t>′</m:t>
                        </m:r>
                      </m:sup>
                    </m:sSup>
                  </m:oMath>
                </a14:m>
                <a:r>
                  <a:rPr lang="zh-CN" altLang="zh-CN" sz="3600"/>
                  <a:t>，签名验证正确。</a:t>
                </a:r>
                <a:endParaRPr lang="zh-CN" altLang="zh-CN" sz="3600"/>
              </a:p>
            </p:txBody>
          </p:sp>
        </mc:Choice>
        <mc:Fallback>
          <p:sp>
            <p:nvSpPr>
              <p:cNvPr id="6" name="TextBox 29"/>
              <p:cNvSpPr txBox="1">
                <a:spLocks noRot="1" noChangeAspect="1" noMove="1" noResize="1" noEditPoints="1" noAdjustHandles="1" noChangeArrowheads="1" noChangeShapeType="1" noTextEdit="1"/>
              </p:cNvSpPr>
              <p:nvPr/>
            </p:nvSpPr>
            <p:spPr>
              <a:xfrm>
                <a:off x="1447801" y="3238500"/>
                <a:ext cx="15697200" cy="3333115"/>
              </a:xfrm>
              <a:prstGeom prst="rect">
                <a:avLst/>
              </a:prstGeom>
              <a:blipFill rotWithShape="1">
                <a:blip r:embed="rId1"/>
                <a:stretch>
                  <a:fillRect/>
                </a:stretch>
              </a:blipFill>
            </p:spPr>
            <p:txBody>
              <a:bodyPr/>
              <a:lstStyle/>
              <a:p>
                <a:r>
                  <a:rPr lang="zh-CN" altLang="en-US">
                    <a:noFill/>
                  </a:rPr>
                  <a:t> </a:t>
                </a:r>
              </a:p>
            </p:txBody>
          </p:sp>
        </mc:Fallback>
      </mc:AlternateContent>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6" name="TextBox 30"/>
          <p:cNvSpPr txBox="1"/>
          <p:nvPr/>
        </p:nvSpPr>
        <p:spPr>
          <a:xfrm>
            <a:off x="250468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lang="en-US" altLang="zh-CN"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a:t>
            </a: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312693"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a:t>
            </a: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9"/>
              <p:cNvSpPr txBox="1"/>
              <p:nvPr/>
            </p:nvSpPr>
            <p:spPr>
              <a:xfrm>
                <a:off x="1734903" y="1665966"/>
                <a:ext cx="14818191" cy="7249164"/>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．正确性证明</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SM2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数字签名方案的正确性证明如下。</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因为</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	 	                                      </a:t>
                </a:r>
                <a14:m>
                  <m:oMath xmlns:m="http://schemas.openxmlformats.org/officeDocument/2006/math">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𝑑</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𝐺</m:t>
                    </m:r>
                  </m:oMath>
                </a14:m>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13.12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所以</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                                                                                        	     （</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13.13</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可知</a:t>
                </a:r>
                <a14:m>
                  <m:oMath xmlns:m="http://schemas.openxmlformats.org/officeDocument/2006/math">
                    <m:sSup>
                      <m:sSupPr>
                        <m:ctrlPr>
                          <a:rPr lang="zh-CN" altLang="zh-CN" sz="3200" i="1"/>
                        </m:ctrlPr>
                      </m:sSupPr>
                      <m:e>
                        <m:sSub>
                          <m:sSubPr>
                            <m:ctrlPr>
                              <a:rPr lang="zh-CN" altLang="zh-CN" sz="3200" i="1"/>
                            </m:ctrlPr>
                          </m:sSubPr>
                          <m:e>
                            <m:r>
                              <a:rPr lang="en-US" altLang="zh-CN" sz="3200" i="1">
                                <a:latin typeface="Cambria Math" panose="02040503050406030204" pitchFamily="18" charset="0"/>
                              </a:rPr>
                              <m:t>𝑥</m:t>
                            </m:r>
                          </m:e>
                          <m:sub>
                            <m:r>
                              <a:rPr lang="en-US" altLang="zh-CN" sz="3200" i="1">
                                <a:latin typeface="Cambria Math" panose="02040503050406030204" pitchFamily="18" charset="0"/>
                              </a:rPr>
                              <m:t>1</m:t>
                            </m:r>
                          </m:sub>
                        </m:sSub>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𝑥</m:t>
                        </m:r>
                      </m:e>
                      <m:sub>
                        <m:r>
                          <a:rPr lang="en-US" altLang="zh-CN" sz="3200" i="1">
                            <a:latin typeface="Cambria Math" panose="02040503050406030204" pitchFamily="18" charset="0"/>
                          </a:rPr>
                          <m:t>1</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，从而</a:t>
                </a:r>
                <a14:m>
                  <m:oMath xmlns:m="http://schemas.openxmlformats.org/officeDocument/2006/math">
                    <m:r>
                      <a:rPr lang="en-US" altLang="zh-CN" sz="3200" i="1">
                        <a:latin typeface="Cambria Math" panose="02040503050406030204" pitchFamily="18" charset="0"/>
                      </a:rPr>
                      <m:t>𝑅</m:t>
                    </m:r>
                    <m:r>
                      <a:rPr lang="en-US" altLang="zh-CN" sz="3200" i="1">
                        <a:latin typeface="Cambria Math" panose="02040503050406030204" pitchFamily="18" charset="0"/>
                      </a:rPr>
                      <m:t>=</m:t>
                    </m:r>
                    <m:d>
                      <m:dPr>
                        <m:ctrlPr>
                          <a:rPr lang="zh-CN" altLang="zh-CN" sz="3200" i="1"/>
                        </m:ctrlPr>
                      </m:dPr>
                      <m:e>
                        <m:sSup>
                          <m:sSupPr>
                            <m:ctrlPr>
                              <a:rPr lang="zh-CN" altLang="zh-CN" sz="3200" i="1"/>
                            </m:ctrlPr>
                          </m:sSupPr>
                          <m:e>
                            <m:r>
                              <a:rPr lang="en-US" altLang="zh-CN" sz="3200" i="1">
                                <a:latin typeface="Cambria Math" panose="02040503050406030204" pitchFamily="18" charset="0"/>
                              </a:rPr>
                              <m:t>𝑒</m:t>
                            </m:r>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sSup>
                          <m:sSupPr>
                            <m:ctrlPr>
                              <a:rPr lang="zh-CN" altLang="zh-CN" sz="3200" i="1"/>
                            </m:ctrlPr>
                          </m:sSupPr>
                          <m:e>
                            <m:sSub>
                              <m:sSubPr>
                                <m:ctrlPr>
                                  <a:rPr lang="zh-CN" altLang="zh-CN" sz="3200" i="1"/>
                                </m:ctrlPr>
                              </m:sSubPr>
                              <m:e>
                                <m:r>
                                  <a:rPr lang="en-US" altLang="zh-CN" sz="3200" i="1">
                                    <a:latin typeface="Cambria Math" panose="02040503050406030204" pitchFamily="18" charset="0"/>
                                  </a:rPr>
                                  <m:t>𝑥</m:t>
                                </m:r>
                              </m:e>
                              <m:sub>
                                <m:r>
                                  <a:rPr lang="en-US" altLang="zh-CN" sz="3200" i="1">
                                    <a:latin typeface="Cambria Math" panose="02040503050406030204" pitchFamily="18" charset="0"/>
                                  </a:rPr>
                                  <m:t>1</m:t>
                                </m:r>
                              </m:sub>
                            </m:sSub>
                          </m:e>
                          <m:sup>
                            <m:r>
                              <a:rPr lang="en-US" altLang="zh-CN" sz="3200" i="1">
                                <a:latin typeface="Cambria Math" panose="02040503050406030204" pitchFamily="18" charset="0"/>
                              </a:rPr>
                              <m:t>′</m:t>
                            </m:r>
                          </m:sup>
                        </m:sSup>
                      </m:e>
                    </m:d>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𝑛</m:t>
                        </m:r>
                      </m:e>
                    </m:func>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𝑟</m:t>
                        </m:r>
                      </m:e>
                      <m:sup>
                        <m:r>
                          <a:rPr lang="en-US" altLang="zh-CN" sz="3200" i="1">
                            <a:latin typeface="Cambria Math" panose="02040503050406030204" pitchFamily="18" charset="0"/>
                          </a:rPr>
                          <m:t>′</m:t>
                        </m:r>
                      </m:sup>
                    </m:sSup>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 。</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6" name="TextBox 29"/>
              <p:cNvSpPr txBox="1">
                <a:spLocks noRot="1" noChangeAspect="1" noMove="1" noResize="1" noEditPoints="1" noAdjustHandles="1" noChangeArrowheads="1" noChangeShapeType="1" noTextEdit="1"/>
              </p:cNvSpPr>
              <p:nvPr/>
            </p:nvSpPr>
            <p:spPr>
              <a:xfrm>
                <a:off x="1734903" y="1665966"/>
                <a:ext cx="14818191" cy="7249164"/>
              </a:xfrm>
              <a:prstGeom prst="rect">
                <a:avLst/>
              </a:prstGeom>
              <a:blipFill rotWithShape="1">
                <a:blip r:embed="rId1"/>
                <a:stretch>
                  <a:fillRect l="-1" t="-5" r="4" b="-1361"/>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7" name="TextBox 30"/>
          <p:cNvSpPr txBox="1"/>
          <p:nvPr/>
        </p:nvSpPr>
        <p:spPr>
          <a:xfrm>
            <a:off x="250468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lang="en-US" altLang="zh-CN"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a:t>
            </a: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8" name="TextBox 31"/>
          <p:cNvSpPr txBox="1"/>
          <p:nvPr/>
        </p:nvSpPr>
        <p:spPr>
          <a:xfrm>
            <a:off x="1312693"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a:t>
            </a: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9"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aphicFrame>
        <p:nvGraphicFramePr>
          <p:cNvPr id="21" name="对象 20"/>
          <p:cNvGraphicFramePr>
            <a:graphicFrameLocks noChangeAspect="1"/>
          </p:cNvGraphicFramePr>
          <p:nvPr/>
        </p:nvGraphicFramePr>
        <p:xfrm>
          <a:off x="4648200" y="4229099"/>
          <a:ext cx="9525000" cy="3999925"/>
        </p:xfrm>
        <a:graphic>
          <a:graphicData uri="http://schemas.openxmlformats.org/presentationml/2006/ole">
            <mc:AlternateContent xmlns:mc="http://schemas.openxmlformats.org/markup-compatibility/2006">
              <mc:Choice xmlns:v="urn:schemas-microsoft-com:vml" Requires="v">
                <p:oleObj spid="_x0000_s0" name="" r:id="rId4" imgW="3162300" imgH="1333500" progId="Equation.DSMT4">
                  <p:embed/>
                </p:oleObj>
              </mc:Choice>
              <mc:Fallback>
                <p:oleObj name="" r:id="rId4" imgW="3162300" imgH="13335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4229099"/>
                        <a:ext cx="9525000" cy="3999925"/>
                      </a:xfrm>
                      <a:prstGeom prst="rect">
                        <a:avLst/>
                      </a:prstGeom>
                      <a:noFill/>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34903" y="1665966"/>
            <a:ext cx="15333897" cy="7249164"/>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数字签名算法需要考虑自主选择消息攻击（</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Adaptively Chosen-Message Attacks</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）。攻击者可能达到以下不同程度的攻击目标：</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）完全攻破（</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Total Break</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）攻击者获取签名私钥，对任意消息伪造签名。</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）一般性伪造（</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Universal Forgery</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）攻击者能够建立有效的签名伪造算法，以较高成功率模仿合法签名。</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algn="just" fontAlgn="auto" latinLnBrk="1">
              <a:lnSpc>
                <a:spcPct val="120000"/>
              </a:lnSpc>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）存在性伪造（</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Existential Forgery</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）攻击者利用已知消息及其签名，构造新的有效消息</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签名对，但不能自主控制所伪造的消息。</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cs typeface="字由点字典黑 2"/>
                <a:sym typeface="字由点字典黑 2"/>
              </a:rPr>
              <a:t>针对攻击者尝试构造一个新公钥，使原有消息与签名在新公钥下仍能验证通过的密钥替换攻击。</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SM2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数字签名算法采用将签名者</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ID</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、公钥和源消息一起进行</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Hash</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运算，从而在保证</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Hash</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算法安全的前提下，可以有效抵抗密钥替换攻击。</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1"/>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6" name="TextBox 30"/>
          <p:cNvSpPr txBox="1"/>
          <p:nvPr/>
        </p:nvSpPr>
        <p:spPr>
          <a:xfrm>
            <a:off x="250468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lang="en-US" altLang="zh-CN"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SM2</a:t>
            </a: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312693"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a:t>
            </a: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kumimoji="0" lang="en-US" sz="12200" b="0" i="0" u="none" strike="noStrike" kern="1200" cap="none" spc="0" normalizeH="0" baseline="0" noProof="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a:t>
            </a: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a:t>
            </a:r>
            <a:r>
              <a:rPr kumimoji="0" lang="en-US" sz="12200" b="0" i="0" u="none" strike="noStrike" kern="1200" cap="none" spc="0" normalizeH="0" baseline="0" noProof="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.4</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en-US" altLang="zh-CN" sz="9600" b="1" i="0" u="none" strike="noStrike" kern="1200" cap="none" spc="0" normalizeH="0" baseline="0" noProof="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SM9</a:t>
            </a:r>
            <a:r>
              <a:rPr kumimoji="0" lang="zh-CN" altLang="en-US" sz="9600" b="1" i="0" u="none" strike="noStrike" kern="1200" cap="none" spc="0" normalizeH="0" baseline="0" noProof="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9"/>
          <p:cNvSpPr txBox="1"/>
          <p:nvPr/>
        </p:nvSpPr>
        <p:spPr>
          <a:xfrm>
            <a:off x="1795689" y="2095500"/>
            <a:ext cx="14571896" cy="4595553"/>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SM9</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数字签名方案利用了椭圆曲线对实现基于标识的数字签名算法。该算法的签名者持有一个标识和一个相应的签名私钥，该签名私钥由密钥生成中心</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KGC</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Key Generation Center</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）通过签名主私钥和签名者的标识结合产生。</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签名者用自身签名私钥对数据产生数字签名，验证者用签名的标识验证签名的有效性。</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7" name="灯片编号占位符 6"/>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8" name="Group 2"/>
          <p:cNvGrpSpPr/>
          <p:nvPr/>
        </p:nvGrpSpPr>
        <p:grpSpPr>
          <a:xfrm>
            <a:off x="412090" y="1028700"/>
            <a:ext cx="7800783" cy="275915"/>
            <a:chOff x="0" y="0"/>
            <a:chExt cx="2054527" cy="72669"/>
          </a:xfrm>
        </p:grpSpPr>
        <p:sp>
          <p:nvSpPr>
            <p:cNvPr id="9"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0"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1" name="TextBox 30"/>
          <p:cNvSpPr txBox="1"/>
          <p:nvPr/>
        </p:nvSpPr>
        <p:spPr>
          <a:xfrm>
            <a:off x="2667000"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en-US" altLang="zh-CN"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SM9</a:t>
            </a:r>
            <a:r>
              <a:rPr kumimoji="0" lang="zh-CN" altLang="en-US"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465093"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.4</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3"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4" name="组合 13"/>
          <p:cNvGrpSpPr/>
          <p:nvPr/>
        </p:nvGrpSpPr>
        <p:grpSpPr>
          <a:xfrm>
            <a:off x="13639786" y="733421"/>
            <a:ext cx="3700052" cy="416951"/>
            <a:chOff x="13811849" y="507954"/>
            <a:chExt cx="3700052" cy="416951"/>
          </a:xfrm>
        </p:grpSpPr>
        <p:sp>
          <p:nvSpPr>
            <p:cNvPr id="15" name="文本框 14"/>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16" name="图片 1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9"/>
              <p:cNvSpPr txBox="1"/>
              <p:nvPr/>
            </p:nvSpPr>
            <p:spPr>
              <a:xfrm>
                <a:off x="1368536" y="2189480"/>
                <a:ext cx="15700264" cy="626046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算法初始化与相关函数</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系统参数的选取参考本教材的</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9.2.1</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节。在基于标识的</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SM9</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数字签名算法中，利用了密码杂凑函数、随机数发生器等一些辅助函数，详细内容参考本教材的</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9.2.2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节。</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系统签名主密钥和用户签名密钥的产生</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密钥生成中心</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KGC</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产生的随机数                    作为加密主私钥，计算   中的元素</a:t>
                </a:r>
                <a14:m>
                  <m:oMath xmlns:m="http://schemas.openxmlformats.org/officeDocument/2006/math">
                    <m:sSub>
                      <m:sSubPr>
                        <m:ctrlPr>
                          <a:rPr lang="zh-CN" altLang="zh-CN" sz="3200" i="1"/>
                        </m:ctrlPr>
                      </m:sSubPr>
                      <m:e>
                        <m:r>
                          <a:rPr lang="en-US" altLang="zh-CN" sz="3200" i="1">
                            <a:latin typeface="Cambria Math" panose="02040503050406030204" pitchFamily="18" charset="0"/>
                          </a:rPr>
                          <m:t>𝑃</m:t>
                        </m:r>
                      </m:e>
                      <m:sub>
                        <m:r>
                          <m:rPr>
                            <m:nor/>
                          </m:rPr>
                          <a:rPr lang="en-US" altLang="zh-CN" sz="3200">
                            <a:latin typeface="Cambria Math" panose="02040503050406030204" pitchFamily="18" charset="0"/>
                          </a:rPr>
                          <m:t>pub</m:t>
                        </m:r>
                        <m:r>
                          <a:rPr lang="en-US" altLang="zh-CN" sz="3200" i="1">
                            <a:latin typeface="Cambria Math" panose="02040503050406030204" pitchFamily="18" charset="0"/>
                          </a:rPr>
                          <m:t>−</m:t>
                        </m:r>
                        <m:r>
                          <a:rPr lang="en-US" altLang="zh-CN" sz="3200" i="1">
                            <a:latin typeface="Cambria Math" panose="02040503050406030204" pitchFamily="18" charset="0"/>
                          </a:rPr>
                          <m:t>𝑠</m:t>
                        </m:r>
                      </m:sub>
                    </m:sSub>
                    <m:r>
                      <a:rPr lang="en-US" altLang="zh-CN" sz="3200" i="1">
                        <a:latin typeface="Cambria Math" panose="02040503050406030204" pitchFamily="18" charset="0"/>
                      </a:rPr>
                      <m:t>=[</m:t>
                    </m:r>
                    <m:r>
                      <m:rPr>
                        <m:nor/>
                      </m:rPr>
                      <a:rPr lang="en-US" altLang="zh-CN" sz="3200">
                        <a:latin typeface="Cambria Math" panose="02040503050406030204" pitchFamily="18" charset="0"/>
                      </a:rPr>
                      <m:t>ks</m:t>
                    </m:r>
                    <m:r>
                      <a:rPr lang="en-US" altLang="zh-CN" sz="3200">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2</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作为主公钥，则主密钥对为</a:t>
                </a:r>
                <a14:m>
                  <m:oMath xmlns:m="http://schemas.openxmlformats.org/officeDocument/2006/math">
                    <m:r>
                      <a:rPr lang="en-US" altLang="zh-CN" sz="3200" i="1">
                        <a:latin typeface="Cambria Math" panose="02040503050406030204" pitchFamily="18" charset="0"/>
                      </a:rPr>
                      <m:t>(</m:t>
                    </m:r>
                    <m:r>
                      <m:rPr>
                        <m:nor/>
                      </m:rPr>
                      <a:rPr lang="en-US" altLang="zh-CN" sz="3200">
                        <a:latin typeface="Cambria Math" panose="02040503050406030204" pitchFamily="18" charset="0"/>
                      </a:rPr>
                      <m:t>ks</m:t>
                    </m:r>
                    <m:r>
                      <a:rPr lang="zh-CN" altLang="zh-CN" sz="3200">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m:rPr>
                            <m:nor/>
                          </m:rPr>
                          <a:rPr lang="en-US" altLang="zh-CN" sz="3200">
                            <a:latin typeface="Cambria Math" panose="02040503050406030204" pitchFamily="18" charset="0"/>
                          </a:rPr>
                          <m:t>pub</m:t>
                        </m:r>
                        <m:r>
                          <a:rPr lang="en-US" altLang="zh-CN" sz="3200" i="1">
                            <a:latin typeface="Cambria Math" panose="02040503050406030204" pitchFamily="18" charset="0"/>
                          </a:rPr>
                          <m:t>−</m:t>
                        </m:r>
                        <m:r>
                          <a:rPr lang="en-US" altLang="zh-CN" sz="3200" i="1">
                            <a:latin typeface="Cambria Math" panose="02040503050406030204" pitchFamily="18" charset="0"/>
                          </a:rPr>
                          <m:t>𝑠</m:t>
                        </m:r>
                      </m:sub>
                    </m:sSub>
                    <m:r>
                      <a:rPr lang="en-US" altLang="zh-CN" sz="32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KGC</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秘密保存</a:t>
                </a:r>
                <a:r>
                  <a:rPr lang="en-US" altLang="zh-CN" sz="3200" i="1">
                    <a:solidFill>
                      <a:srgbClr val="000000"/>
                    </a:solidFill>
                    <a:latin typeface="Times New Roman" panose="02020603050405020304" pitchFamily="18" charset="0"/>
                    <a:ea typeface="宋体" panose="02010600030101010101" pitchFamily="2" charset="-122"/>
                    <a:cs typeface="字由点字典黑 2"/>
                    <a:sym typeface="字由点字典黑 2"/>
                  </a:rPr>
                  <a:t>ks</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，公开</a:t>
                </a:r>
                <a14:m>
                  <m:oMath xmlns:m="http://schemas.openxmlformats.org/officeDocument/2006/math">
                    <m:sSub>
                      <m:sSubPr>
                        <m:ctrlPr>
                          <a:rPr lang="zh-CN" altLang="zh-CN" sz="3200" i="1"/>
                        </m:ctrlPr>
                      </m:sSubPr>
                      <m:e>
                        <m:r>
                          <a:rPr lang="en-US" altLang="zh-CN" sz="3200" i="1">
                            <a:latin typeface="Cambria Math" panose="02040503050406030204" pitchFamily="18" charset="0"/>
                          </a:rPr>
                          <m:t>𝑃</m:t>
                        </m:r>
                      </m:e>
                      <m:sub>
                        <m:r>
                          <m:rPr>
                            <m:nor/>
                          </m:rPr>
                          <a:rPr lang="en-US" altLang="zh-CN" sz="3200">
                            <a:latin typeface="Cambria Math" panose="02040503050406030204" pitchFamily="18" charset="0"/>
                          </a:rPr>
                          <m:t>pub</m:t>
                        </m:r>
                        <m:r>
                          <a:rPr lang="en-US" altLang="zh-CN" sz="3200" i="1">
                            <a:latin typeface="Cambria Math" panose="02040503050406030204" pitchFamily="18" charset="0"/>
                          </a:rPr>
                          <m:t>−</m:t>
                        </m:r>
                        <m:r>
                          <a:rPr lang="en-US" altLang="zh-CN" sz="3200" i="1">
                            <a:latin typeface="Cambria Math" panose="02040503050406030204" pitchFamily="18" charset="0"/>
                          </a:rPr>
                          <m:t>𝑠</m:t>
                        </m:r>
                      </m:sub>
                    </m:sSub>
                    <m:r>
                      <a:rPr lang="en-US" altLang="zh-CN" sz="32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6" name="TextBox 29"/>
              <p:cNvSpPr txBox="1">
                <a:spLocks noRot="1" noChangeAspect="1" noMove="1" noResize="1" noEditPoints="1" noAdjustHandles="1" noChangeArrowheads="1" noChangeShapeType="1" noTextEdit="1"/>
              </p:cNvSpPr>
              <p:nvPr/>
            </p:nvSpPr>
            <p:spPr>
              <a:xfrm>
                <a:off x="1368536" y="2189480"/>
                <a:ext cx="15700264" cy="6260465"/>
              </a:xfrm>
              <a:prstGeom prst="rect">
                <a:avLst/>
              </a:prstGeom>
              <a:blipFill rotWithShape="1">
                <a:blip r:embed="rId1"/>
                <a:stretch>
                  <a:fillRect l="-1" r="-1759"/>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6" name="TextBox 30"/>
          <p:cNvSpPr txBox="1"/>
          <p:nvPr/>
        </p:nvSpPr>
        <p:spPr>
          <a:xfrm>
            <a:off x="2667000"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en-US" altLang="zh-CN"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SM9</a:t>
            </a:r>
            <a:r>
              <a:rPr kumimoji="0" lang="zh-CN" altLang="en-US"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465093"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.4</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aphicFrame>
        <p:nvGraphicFramePr>
          <p:cNvPr id="19" name="对象 18"/>
          <p:cNvGraphicFramePr>
            <a:graphicFrameLocks noChangeAspect="1"/>
          </p:cNvGraphicFramePr>
          <p:nvPr/>
        </p:nvGraphicFramePr>
        <p:xfrm>
          <a:off x="8686800" y="5600527"/>
          <a:ext cx="2505587" cy="580563"/>
        </p:xfrm>
        <a:graphic>
          <a:graphicData uri="http://schemas.openxmlformats.org/presentationml/2006/ole">
            <mc:AlternateContent xmlns:mc="http://schemas.openxmlformats.org/markup-compatibility/2006">
              <mc:Choice xmlns:v="urn:schemas-microsoft-com:vml" Requires="v">
                <p:oleObj spid="_x0000_s0" name="" r:id="rId4" imgW="774065" imgH="190500" progId="Equation.DSMT4">
                  <p:embed/>
                </p:oleObj>
              </mc:Choice>
              <mc:Fallback>
                <p:oleObj name="" r:id="rId4" imgW="774065" imgH="190500"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86800" y="5600527"/>
                        <a:ext cx="2505587" cy="580563"/>
                      </a:xfrm>
                      <a:prstGeom prst="rect">
                        <a:avLst/>
                      </a:prstGeom>
                      <a:noFill/>
                    </p:spPr>
                  </p:pic>
                </p:oleObj>
              </mc:Fallback>
            </mc:AlternateContent>
          </a:graphicData>
        </a:graphic>
      </p:graphicFrame>
      <p:graphicFrame>
        <p:nvGraphicFramePr>
          <p:cNvPr id="20" name="对象 19"/>
          <p:cNvGraphicFramePr>
            <a:graphicFrameLocks noChangeAspect="1"/>
          </p:cNvGraphicFramePr>
          <p:nvPr/>
        </p:nvGraphicFramePr>
        <p:xfrm>
          <a:off x="15697200" y="5524327"/>
          <a:ext cx="550008" cy="580563"/>
        </p:xfrm>
        <a:graphic>
          <a:graphicData uri="http://schemas.openxmlformats.org/presentationml/2006/ole">
            <mc:AlternateContent xmlns:mc="http://schemas.openxmlformats.org/markup-compatibility/2006">
              <mc:Choice xmlns:v="urn:schemas-microsoft-com:vml" Requires="v">
                <p:oleObj spid="_x0000_s0" name="" r:id="rId6" imgW="177800" imgH="190500" progId="Equation.DSMT4">
                  <p:embed/>
                </p:oleObj>
              </mc:Choice>
              <mc:Fallback>
                <p:oleObj name="" r:id="rId6" imgW="177800" imgH="190500" progId="Equation.DSMT4">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697200" y="5524327"/>
                        <a:ext cx="550008" cy="580563"/>
                      </a:xfrm>
                      <a:prstGeom prst="rect">
                        <a:avLst/>
                      </a:prstGeom>
                      <a:noFill/>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9"/>
              <p:cNvSpPr txBox="1"/>
              <p:nvPr/>
            </p:nvSpPr>
            <p:spPr>
              <a:xfrm>
                <a:off x="1371711" y="2705100"/>
                <a:ext cx="15700264" cy="3490595"/>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KGC</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选择并公开用一个字节表示的私钥生成函数识别符</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hid</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用户</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的标识为</a:t>
                </a:r>
                <a14:m>
                  <m:oMath xmlns:m="http://schemas.openxmlformats.org/officeDocument/2006/math">
                    <m:r>
                      <m:rPr>
                        <m:nor/>
                      </m:rPr>
                      <a:rPr lang="en-US" altLang="zh-CN" sz="3600">
                        <a:latin typeface="Cambria Math" panose="02040503050406030204" pitchFamily="18" charset="0"/>
                      </a:rPr>
                      <m:t>I</m:t>
                    </m:r>
                    <m:sSub>
                      <m:sSubPr>
                        <m:ctrlPr>
                          <a:rPr lang="zh-CN" altLang="zh-CN" sz="3600" i="1"/>
                        </m:ctrlPr>
                      </m:sSubPr>
                      <m:e>
                        <m:r>
                          <m:rPr>
                            <m:nor/>
                          </m:rPr>
                          <a:rPr lang="en-US" altLang="zh-CN" sz="3600">
                            <a:latin typeface="Cambria Math" panose="02040503050406030204" pitchFamily="18" charset="0"/>
                          </a:rPr>
                          <m:t>D</m:t>
                        </m:r>
                      </m:e>
                      <m:sub>
                        <m:r>
                          <a:rPr lang="en-US" altLang="zh-CN" sz="3600" i="1">
                            <a:latin typeface="Cambria Math" panose="02040503050406030204" pitchFamily="18" charset="0"/>
                          </a:rPr>
                          <m:t>𝐴</m:t>
                        </m:r>
                      </m:sub>
                    </m:sSub>
                    <m:r>
                      <a:rPr lang="en-US" altLang="zh-CN" sz="36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，为产生</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签名私钥</a:t>
                </a:r>
                <a14:m>
                  <m:oMath xmlns:m="http://schemas.openxmlformats.org/officeDocument/2006/math">
                    <m:r>
                      <m:rPr>
                        <m:nor/>
                      </m:rPr>
                      <a:rPr lang="en-US" altLang="zh-CN" sz="3200">
                        <a:latin typeface="Cambria Math" panose="02040503050406030204" pitchFamily="18" charset="0"/>
                      </a:rPr>
                      <m:t>d</m:t>
                    </m:r>
                    <m:sSub>
                      <m:sSubPr>
                        <m:ctrlPr>
                          <a:rPr lang="zh-CN" altLang="zh-CN" sz="3200" i="1"/>
                        </m:ctrlPr>
                      </m:sSubPr>
                      <m:e>
                        <m:r>
                          <m:rPr>
                            <m:nor/>
                          </m:rPr>
                          <a:rPr lang="en-US" altLang="zh-CN" sz="3200">
                            <a:latin typeface="Cambria Math" panose="02040503050406030204" pitchFamily="18" charset="0"/>
                          </a:rPr>
                          <m:t>s</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KGC</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首先在有限域</a:t>
                </a:r>
                <a14:m>
                  <m:oMath xmlns:m="http://schemas.openxmlformats.org/officeDocument/2006/math">
                    <m:sSub>
                      <m:sSubPr>
                        <m:ctrlPr>
                          <a:rPr lang="zh-CN" altLang="zh-CN" sz="3200" i="1"/>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𝑁</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上计算，</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algn="just" fontAlgn="auto" latinLnBrk="1">
                  <a:lnSpc>
                    <a:spcPct val="120000"/>
                  </a:lnSpc>
                </a:pPr>
                <a14:m>
                  <m:oMath xmlns:m="http://schemas.openxmlformats.org/officeDocument/2006/math">
                    <m:sSub>
                      <m:sSubPr>
                        <m:ctrlPr>
                          <a:rPr lang="zh-CN" altLang="zh-CN" sz="3200" i="1"/>
                        </m:ctrlPr>
                      </m:sSubPr>
                      <m:e>
                        <m:r>
                          <a:rPr lang="en-US" altLang="zh-CN" sz="3200" i="1">
                            <a:latin typeface="Cambria Math" panose="02040503050406030204" pitchFamily="18" charset="0"/>
                          </a:rPr>
                          <m:t>𝑡</m:t>
                        </m:r>
                      </m:e>
                      <m:sub>
                        <m:r>
                          <a:rPr lang="en-US" altLang="zh-CN" sz="3200" i="1">
                            <a:latin typeface="Cambria Math" panose="02040503050406030204" pitchFamily="18" charset="0"/>
                          </a:rPr>
                          <m:t>1</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𝐻</m:t>
                        </m:r>
                      </m:e>
                      <m:sub>
                        <m:r>
                          <a:rPr lang="en-US" altLang="zh-CN" sz="3200" i="1">
                            <a:latin typeface="Cambria Math" panose="02040503050406030204" pitchFamily="18" charset="0"/>
                          </a:rPr>
                          <m:t>1</m:t>
                        </m:r>
                      </m:sub>
                    </m:sSub>
                    <m:r>
                      <a:rPr lang="en-US" altLang="zh-CN" sz="3200" i="1">
                        <a:latin typeface="Cambria Math" panose="02040503050406030204" pitchFamily="18" charset="0"/>
                      </a:rPr>
                      <m:t>(</m:t>
                    </m:r>
                    <m:r>
                      <m:rPr>
                        <m:nor/>
                      </m:rPr>
                      <a:rPr lang="en-US" altLang="zh-CN" sz="3200">
                        <a:latin typeface="Cambria Math" panose="02040503050406030204" pitchFamily="18" charset="0"/>
                      </a:rPr>
                      <m:t>I</m:t>
                    </m:r>
                    <m:sSub>
                      <m:sSubPr>
                        <m:ctrlPr>
                          <a:rPr lang="zh-CN" altLang="zh-CN" sz="3200" i="1"/>
                        </m:ctrlPr>
                      </m:sSubPr>
                      <m:e>
                        <m:r>
                          <m:rPr>
                            <m:nor/>
                          </m:rPr>
                          <a:rPr lang="en-US" altLang="zh-CN" sz="3200">
                            <a:latin typeface="Cambria Math" panose="02040503050406030204" pitchFamily="18" charset="0"/>
                          </a:rPr>
                          <m:t>D</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r>
                      <m:rPr>
                        <m:nor/>
                      </m:rPr>
                      <a:rPr lang="en-US" altLang="zh-CN" sz="3200">
                        <a:latin typeface="Cambria Math" panose="02040503050406030204" pitchFamily="18" charset="0"/>
                      </a:rPr>
                      <m:t>hid</m:t>
                    </m:r>
                    <m:r>
                      <a:rPr lang="zh-CN" altLang="zh-CN" sz="3200">
                        <a:latin typeface="Cambria Math" panose="02040503050406030204" pitchFamily="18" charset="0"/>
                      </a:rPr>
                      <m:t>，</m:t>
                    </m:r>
                    <m:r>
                      <a:rPr lang="en-US" altLang="zh-CN" sz="3200" i="1">
                        <a:latin typeface="Cambria Math" panose="02040503050406030204" pitchFamily="18" charset="0"/>
                      </a:rPr>
                      <m:t>𝑁</m:t>
                    </m:r>
                    <m:r>
                      <a:rPr lang="en-US" altLang="zh-CN" sz="3200">
                        <a:latin typeface="Cambria Math" panose="02040503050406030204" pitchFamily="18" charset="0"/>
                      </a:rPr>
                      <m:t>)+</m:t>
                    </m:r>
                    <m:r>
                      <m:rPr>
                        <m:nor/>
                      </m:rPr>
                      <a:rPr lang="en-US" altLang="zh-CN" sz="3200">
                        <a:latin typeface="Cambria Math" panose="02040503050406030204" pitchFamily="18" charset="0"/>
                      </a:rPr>
                      <m:t>ks</m:t>
                    </m:r>
                    <m:r>
                      <a:rPr lang="en-US" altLang="zh-CN" sz="32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，若</a:t>
                </a:r>
                <a14:m>
                  <m:oMath xmlns:m="http://schemas.openxmlformats.org/officeDocument/2006/math">
                    <m:sSub>
                      <m:sSubPr>
                        <m:ctrlPr>
                          <a:rPr lang="zh-CN" altLang="zh-CN" sz="3200" i="1"/>
                        </m:ctrlPr>
                      </m:sSubPr>
                      <m:e>
                        <m:r>
                          <a:rPr lang="en-US" altLang="zh-CN" sz="3200" i="1">
                            <a:latin typeface="Cambria Math" panose="02040503050406030204" pitchFamily="18" charset="0"/>
                          </a:rPr>
                          <m:t>𝑡</m:t>
                        </m:r>
                      </m:e>
                      <m:sub>
                        <m:r>
                          <a:rPr lang="en-US" altLang="zh-CN" sz="3200" i="1">
                            <a:latin typeface="Cambria Math" panose="02040503050406030204" pitchFamily="18" charset="0"/>
                          </a:rPr>
                          <m:t>1</m:t>
                        </m:r>
                      </m:sub>
                    </m:sSub>
                    <m:r>
                      <a:rPr lang="en-US" altLang="zh-CN" sz="3200" i="1">
                        <a:latin typeface="Cambria Math" panose="02040503050406030204" pitchFamily="18" charset="0"/>
                      </a:rPr>
                      <m:t>=</m:t>
                    </m:r>
                    <m:r>
                      <a:rPr lang="en-US" altLang="zh-CN" sz="3200" i="1">
                        <a:latin typeface="Cambria Math" panose="02040503050406030204" pitchFamily="18" charset="0"/>
                      </a:rPr>
                      <m:t>0</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，则需重新生成加密主私钥，计算和公开加密主公钥，并更新已有用户的加密私钥。否则</a:t>
                </a:r>
                <a14:m>
                  <m:oMath xmlns:m="http://schemas.openxmlformats.org/officeDocument/2006/math">
                    <m:sSub>
                      <m:sSubPr>
                        <m:ctrlPr>
                          <a:rPr lang="zh-CN" altLang="zh-CN" sz="3200" i="1"/>
                        </m:ctrlPr>
                      </m:sSubPr>
                      <m:e>
                        <m:r>
                          <a:rPr lang="en-US" altLang="zh-CN" sz="3200" i="1">
                            <a:latin typeface="Cambria Math" panose="02040503050406030204" pitchFamily="18" charset="0"/>
                          </a:rPr>
                          <m:t>𝑡</m:t>
                        </m:r>
                      </m:e>
                      <m:sub>
                        <m:r>
                          <a:rPr lang="en-US" altLang="zh-CN" sz="3200" i="1">
                            <a:latin typeface="Cambria Math" panose="02040503050406030204" pitchFamily="18" charset="0"/>
                          </a:rPr>
                          <m:t>2</m:t>
                        </m:r>
                      </m:sub>
                    </m:sSub>
                    <m:r>
                      <a:rPr lang="en-US" altLang="zh-CN" sz="3200" i="1">
                        <a:latin typeface="Cambria Math" panose="02040503050406030204" pitchFamily="18" charset="0"/>
                      </a:rPr>
                      <m:t>=</m:t>
                    </m:r>
                    <m:r>
                      <m:rPr>
                        <m:nor/>
                      </m:rPr>
                      <a:rPr lang="en-US" altLang="zh-CN" sz="3200">
                        <a:latin typeface="Cambria Math" panose="02040503050406030204" pitchFamily="18" charset="0"/>
                      </a:rPr>
                      <m:t>ks</m:t>
                    </m:r>
                    <m:r>
                      <a:rPr lang="en-US" altLang="zh-CN" sz="3200">
                        <a:latin typeface="Cambria Math" panose="02040503050406030204" pitchFamily="18" charset="0"/>
                      </a:rPr>
                      <m:t>⋅</m:t>
                    </m:r>
                    <m:sSubSup>
                      <m:sSubSupPr>
                        <m:ctrlPr>
                          <a:rPr lang="zh-CN" altLang="zh-CN" sz="3200" i="1"/>
                        </m:ctrlPr>
                      </m:sSubSupPr>
                      <m:e>
                        <m:r>
                          <a:rPr lang="en-US" altLang="zh-CN" sz="3200" i="1">
                            <a:latin typeface="Cambria Math" panose="02040503050406030204" pitchFamily="18" charset="0"/>
                          </a:rPr>
                          <m:t>𝑡</m:t>
                        </m:r>
                      </m:e>
                      <m:sub>
                        <m:r>
                          <a:rPr lang="en-US" altLang="zh-CN" sz="3200" i="1">
                            <a:latin typeface="Cambria Math" panose="02040503050406030204" pitchFamily="18" charset="0"/>
                          </a:rPr>
                          <m:t>1</m:t>
                        </m:r>
                      </m:sub>
                      <m:sup>
                        <m:r>
                          <a:rPr lang="en-US" altLang="zh-CN" sz="3200" i="1">
                            <a:latin typeface="Cambria Math" panose="02040503050406030204" pitchFamily="18" charset="0"/>
                          </a:rPr>
                          <m:t>−</m:t>
                        </m:r>
                        <m:r>
                          <a:rPr lang="en-US" altLang="zh-CN" sz="3200" i="1">
                            <a:latin typeface="Cambria Math" panose="02040503050406030204" pitchFamily="18" charset="0"/>
                          </a:rPr>
                          <m:t>1</m:t>
                        </m:r>
                      </m:sup>
                    </m:sSubSup>
                  </m:oMath>
                </a14:m>
                <a:r>
                  <a:rPr lang="zh-CN" altLang="zh-CN" sz="3600"/>
                  <a:t>，然后计算</a:t>
                </a:r>
                <a14:m>
                  <m:oMath xmlns:m="http://schemas.openxmlformats.org/officeDocument/2006/math">
                    <m:r>
                      <m:rPr>
                        <m:nor/>
                      </m:rPr>
                      <a:rPr lang="en-US" altLang="zh-CN" sz="3200">
                        <a:latin typeface="Cambria Math" panose="02040503050406030204" pitchFamily="18" charset="0"/>
                      </a:rPr>
                      <m:t>d</m:t>
                    </m:r>
                    <m:sSub>
                      <m:sSubPr>
                        <m:ctrlPr>
                          <a:rPr lang="zh-CN" altLang="zh-CN" sz="3200" i="1"/>
                        </m:ctrlPr>
                      </m:sSubPr>
                      <m:e>
                        <m:r>
                          <m:rPr>
                            <m:nor/>
                          </m:rPr>
                          <a:rPr lang="en-US" altLang="zh-CN" sz="3200">
                            <a:latin typeface="Cambria Math" panose="02040503050406030204" pitchFamily="18" charset="0"/>
                          </a:rPr>
                          <m:t>s</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𝑡</m:t>
                        </m:r>
                      </m:e>
                      <m:sub>
                        <m:r>
                          <a:rPr lang="en-US" altLang="zh-CN" sz="3200" i="1">
                            <a:latin typeface="Cambria Math" panose="02040503050406030204" pitchFamily="18" charset="0"/>
                          </a:rPr>
                          <m:t>2</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1</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为签名用户的私钥。</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6" name="TextBox 29"/>
              <p:cNvSpPr txBox="1">
                <a:spLocks noRot="1" noChangeAspect="1" noMove="1" noResize="1" noEditPoints="1" noAdjustHandles="1" noChangeArrowheads="1" noChangeShapeType="1" noTextEdit="1"/>
              </p:cNvSpPr>
              <p:nvPr/>
            </p:nvSpPr>
            <p:spPr>
              <a:xfrm>
                <a:off x="1371711" y="2705100"/>
                <a:ext cx="15700264" cy="3490595"/>
              </a:xfrm>
              <a:prstGeom prst="rect">
                <a:avLst/>
              </a:prstGeom>
              <a:blipFill rotWithShape="1">
                <a:blip r:embed="rId1"/>
                <a:stretch>
                  <a:fillRect l="-1" r="-1537"/>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6" name="TextBox 30"/>
          <p:cNvSpPr txBox="1"/>
          <p:nvPr/>
        </p:nvSpPr>
        <p:spPr>
          <a:xfrm>
            <a:off x="2667000"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en-US" altLang="zh-CN"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SM9</a:t>
            </a:r>
            <a:r>
              <a:rPr kumimoji="0" lang="zh-CN" altLang="en-US"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465093"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.4</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1"/>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6" name="TextBox 30"/>
          <p:cNvSpPr txBox="1"/>
          <p:nvPr/>
        </p:nvSpPr>
        <p:spPr>
          <a:xfrm>
            <a:off x="2667000"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en-US" altLang="zh-CN"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SM9</a:t>
            </a:r>
            <a:r>
              <a:rPr kumimoji="0" lang="zh-CN" altLang="en-US"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465093"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.4</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mc:AlternateContent xmlns:mc="http://schemas.openxmlformats.org/markup-compatibility/2006">
        <mc:Choice xmlns:a14="http://schemas.microsoft.com/office/drawing/2010/main" Requires="a14">
          <p:sp>
            <p:nvSpPr>
              <p:cNvPr id="19" name="TextBox 29"/>
              <p:cNvSpPr txBox="1"/>
              <p:nvPr/>
            </p:nvSpPr>
            <p:spPr>
              <a:xfrm>
                <a:off x="1734904" y="1689394"/>
                <a:ext cx="14818191" cy="5474384"/>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签名过程与签名验证过程</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设待签名的消息为比特串</a:t>
                </a:r>
                <a:r>
                  <a:rPr lang="en-US" altLang="zh-CN" sz="3200" i="1">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，为了获取消息</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的数字签名</a:t>
                </a:r>
                <a:r>
                  <a:rPr lang="en-US" altLang="zh-CN" sz="32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200" i="1">
                    <a:solidFill>
                      <a:srgbClr val="000000"/>
                    </a:solidFill>
                    <a:latin typeface="Times New Roman" panose="02020603050405020304" pitchFamily="18" charset="0"/>
                    <a:ea typeface="宋体" panose="02010600030101010101" pitchFamily="2" charset="-122"/>
                    <a:cs typeface="字由点字典黑 2"/>
                    <a:sym typeface="字由点字典黑 2"/>
                  </a:rPr>
                  <a:t>h</a:t>
                </a:r>
                <a:r>
                  <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200" i="1">
                    <a:solidFill>
                      <a:srgbClr val="000000"/>
                    </a:solidFill>
                    <a:latin typeface="Times New Roman" panose="02020603050405020304" pitchFamily="18" charset="0"/>
                    <a:ea typeface="宋体" panose="02010600030101010101" pitchFamily="2" charset="-122"/>
                    <a:cs typeface="字由点字典黑 2"/>
                    <a:sym typeface="字由点字典黑 2"/>
                  </a:rPr>
                  <a:t>S</a:t>
                </a:r>
                <a:r>
                  <a:rPr lang="en-US" altLang="zh-CN" sz="32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，签名者需执行以下步骤。</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）计算群</a:t>
                </a:r>
                <a14:m>
                  <m:oMath xmlns:m="http://schemas.openxmlformats.org/officeDocument/2006/math">
                    <m:sSub>
                      <m:sSubPr>
                        <m:ctrlPr>
                          <a:rPr lang="zh-CN" altLang="zh-CN" sz="3200" i="1"/>
                        </m:ctrlPr>
                      </m:sSubPr>
                      <m:e>
                        <m:r>
                          <a:rPr lang="en-US" altLang="zh-CN" sz="3200" i="1">
                            <a:latin typeface="Cambria Math" panose="02040503050406030204" pitchFamily="18" charset="0"/>
                          </a:rPr>
                          <m:t>𝐺</m:t>
                        </m:r>
                      </m:e>
                      <m:sub>
                        <m:r>
                          <a:rPr lang="en-US" altLang="zh-CN" sz="3200" i="1">
                            <a:latin typeface="Cambria Math" panose="02040503050406030204" pitchFamily="18" charset="0"/>
                          </a:rPr>
                          <m:t>𝑇</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中的元素</a:t>
                </a:r>
                <a14:m>
                  <m:oMath xmlns:m="http://schemas.openxmlformats.org/officeDocument/2006/math">
                    <m:r>
                      <m:rPr>
                        <m:sty m:val="p"/>
                      </m:rPr>
                      <a:rPr lang="en-US" altLang="zh-CN" sz="3200" i="1" smtClean="0">
                        <a:latin typeface="Cambria Math" panose="02040503050406030204" pitchFamily="18" charset="0"/>
                      </a:rPr>
                      <m:t>g</m:t>
                    </m:r>
                    <m:r>
                      <a:rPr lang="en-US" altLang="zh-CN" sz="3200" i="1">
                        <a:latin typeface="Cambria Math" panose="02040503050406030204" pitchFamily="18" charset="0"/>
                      </a:rPr>
                      <m:t>=</m:t>
                    </m:r>
                    <m:r>
                      <a:rPr lang="en-US" altLang="zh-CN" sz="3200" i="1">
                        <a:latin typeface="Cambria Math" panose="02040503050406030204" pitchFamily="18" charset="0"/>
                      </a:rPr>
                      <m:t>𝑒</m:t>
                    </m:r>
                    <m:d>
                      <m:dPr>
                        <m:ctrlPr>
                          <a:rPr lang="zh-CN" altLang="zh-CN" sz="3200" i="1"/>
                        </m:ctrlPr>
                      </m:dPr>
                      <m:e>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1</m:t>
                            </m:r>
                          </m:sub>
                        </m:sSub>
                        <m:r>
                          <a:rPr lang="zh-CN"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m:rPr>
                                <m:nor/>
                              </m:rPr>
                              <a:rPr lang="en-US" altLang="zh-CN" sz="3200">
                                <a:latin typeface="Cambria Math" panose="02040503050406030204" pitchFamily="18" charset="0"/>
                              </a:rPr>
                              <m:t>pub</m:t>
                            </m:r>
                            <m:r>
                              <a:rPr lang="en-US" altLang="zh-CN" sz="3200" i="1">
                                <a:latin typeface="Cambria Math" panose="02040503050406030204" pitchFamily="18" charset="0"/>
                              </a:rPr>
                              <m:t>−</m:t>
                            </m:r>
                            <m:r>
                              <a:rPr lang="en-US" altLang="zh-CN" sz="3200" i="1">
                                <a:latin typeface="Cambria Math" panose="02040503050406030204" pitchFamily="18" charset="0"/>
                              </a:rPr>
                              <m:t>𝑠</m:t>
                            </m:r>
                          </m:sub>
                        </m:sSub>
                      </m:e>
                    </m:d>
                    <m:r>
                      <a:rPr lang="en-US" altLang="zh-CN" sz="32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，产生随机数</a:t>
                </a:r>
                <a14:m>
                  <m:oMath xmlns:m="http://schemas.openxmlformats.org/officeDocument/2006/math">
                    <m:r>
                      <a:rPr lang="en-US" altLang="zh-CN" sz="3200" i="1">
                        <a:latin typeface="Cambria Math" panose="02040503050406030204" pitchFamily="18" charset="0"/>
                      </a:rPr>
                      <m:t>𝑟</m:t>
                    </m:r>
                    <m:r>
                      <a:rPr lang="en-US" altLang="zh-CN" sz="3200" i="1">
                        <a:latin typeface="Cambria Math" panose="02040503050406030204" pitchFamily="18" charset="0"/>
                      </a:rPr>
                      <m:t>∈</m:t>
                    </m:r>
                    <m:d>
                      <m:dPr>
                        <m:begChr m:val="["/>
                        <m:endChr m:val="]"/>
                        <m:ctrlPr>
                          <a:rPr lang="zh-CN" altLang="zh-CN" sz="3200" i="1"/>
                        </m:ctrlPr>
                      </m:dPr>
                      <m:e>
                        <m:r>
                          <a:rPr lang="en-US" altLang="zh-CN" sz="3200" i="1">
                            <a:latin typeface="Cambria Math" panose="02040503050406030204" pitchFamily="18" charset="0"/>
                          </a:rPr>
                          <m:t>1</m:t>
                        </m:r>
                        <m:r>
                          <a:rPr lang="zh-CN" altLang="zh-CN" sz="3200" i="1">
                            <a:latin typeface="Cambria Math" panose="02040503050406030204" pitchFamily="18" charset="0"/>
                          </a:rPr>
                          <m:t>，</m:t>
                        </m:r>
                        <m:r>
                          <a:rPr lang="en-US" altLang="zh-CN" sz="3200" i="1">
                            <a:latin typeface="Cambria Math" panose="02040503050406030204" pitchFamily="18" charset="0"/>
                          </a:rPr>
                          <m:t>𝑁</m:t>
                        </m:r>
                        <m:r>
                          <a:rPr lang="en-US" altLang="zh-CN" sz="3200" i="1">
                            <a:latin typeface="Cambria Math" panose="02040503050406030204" pitchFamily="18" charset="0"/>
                          </a:rPr>
                          <m:t>−</m:t>
                        </m:r>
                        <m:r>
                          <a:rPr lang="en-US" altLang="zh-CN" sz="3200" i="1">
                            <a:latin typeface="Cambria Math" panose="02040503050406030204" pitchFamily="18" charset="0"/>
                          </a:rPr>
                          <m:t>1</m:t>
                        </m:r>
                      </m:e>
                    </m:d>
                    <m:r>
                      <a:rPr lang="en-US" altLang="zh-CN" sz="32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）计算群</a:t>
                </a:r>
                <a14:m>
                  <m:oMath xmlns:m="http://schemas.openxmlformats.org/officeDocument/2006/math">
                    <m:sSub>
                      <m:sSubPr>
                        <m:ctrlPr>
                          <a:rPr lang="zh-CN" altLang="zh-CN" sz="3600" i="1">
                            <a:latin typeface="Cambria Math" panose="02040503050406030204" pitchFamily="18" charset="0"/>
                          </a:rPr>
                        </m:ctrlPr>
                      </m:sSubPr>
                      <m:e>
                        <m:r>
                          <a:rPr lang="en-US" altLang="zh-CN" sz="3600" i="1">
                            <a:latin typeface="Cambria Math" panose="02040503050406030204" pitchFamily="18" charset="0"/>
                          </a:rPr>
                          <m:t>𝐺</m:t>
                        </m:r>
                      </m:e>
                      <m:sub>
                        <m:r>
                          <a:rPr lang="en-US" altLang="zh-CN" sz="3600" i="1">
                            <a:latin typeface="Cambria Math" panose="02040503050406030204" pitchFamily="18" charset="0"/>
                          </a:rPr>
                          <m:t>𝑇</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中的元素</a:t>
                </a:r>
                <a14:m>
                  <m:oMath xmlns:m="http://schemas.openxmlformats.org/officeDocument/2006/math">
                    <m:r>
                      <a:rPr lang="en-US" altLang="zh-CN" sz="3200" i="1">
                        <a:latin typeface="Cambria Math" panose="02040503050406030204" pitchFamily="18" charset="0"/>
                      </a:rPr>
                      <m:t>𝑤</m:t>
                    </m:r>
                    <m:r>
                      <a:rPr lang="en-US" altLang="zh-CN" sz="3200" i="1">
                        <a:latin typeface="Cambria Math" panose="02040503050406030204" pitchFamily="18" charset="0"/>
                      </a:rPr>
                      <m:t>=</m:t>
                    </m:r>
                    <m:sSup>
                      <m:sSupPr>
                        <m:ctrlPr>
                          <a:rPr lang="zh-CN" altLang="zh-CN" sz="3200" i="1"/>
                        </m:ctrlPr>
                      </m:sSupPr>
                      <m:e>
                        <m:r>
                          <m:rPr>
                            <m:sty m:val="p"/>
                          </m:rPr>
                          <a:rPr lang="en-US" altLang="zh-CN" sz="3200" i="1" smtClean="0">
                            <a:latin typeface="Cambria Math" panose="02040503050406030204" pitchFamily="18" charset="0"/>
                          </a:rPr>
                          <m:t>g</m:t>
                        </m:r>
                      </m:e>
                      <m:sup>
                        <m:r>
                          <a:rPr lang="en-US" altLang="zh-CN" sz="3200" i="1">
                            <a:latin typeface="Cambria Math" panose="02040503050406030204" pitchFamily="18" charset="0"/>
                          </a:rPr>
                          <m:t>𝑟</m:t>
                        </m:r>
                      </m:sup>
                    </m:sSup>
                    <m:r>
                      <a:rPr lang="en-US" altLang="zh-CN" sz="32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，将</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w</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的数据类型转换为比特串。</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）计算整数</a:t>
                </a:r>
                <a14:m>
                  <m:oMath xmlns:m="http://schemas.openxmlformats.org/officeDocument/2006/math">
                    <m:r>
                      <a:rPr lang="en-US" altLang="zh-CN" sz="3200" i="1">
                        <a:latin typeface="Cambria Math" panose="02040503050406030204" pitchFamily="18" charset="0"/>
                      </a:rPr>
                      <m:t>ℎ</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𝐻</m:t>
                        </m:r>
                      </m:e>
                      <m:sub>
                        <m:r>
                          <a:rPr lang="en-US" altLang="zh-CN" sz="3200" i="1">
                            <a:latin typeface="Cambria Math" panose="02040503050406030204" pitchFamily="18" charset="0"/>
                          </a:rPr>
                          <m:t>2</m:t>
                        </m:r>
                      </m:sub>
                    </m:sSub>
                    <m:d>
                      <m:dPr>
                        <m:ctrlPr>
                          <a:rPr lang="zh-CN" altLang="zh-CN" sz="3200" i="1"/>
                        </m:ctrlPr>
                      </m:dPr>
                      <m:e>
                        <m:r>
                          <a:rPr lang="en-US" altLang="zh-CN" sz="3200" i="1">
                            <a:latin typeface="Cambria Math" panose="02040503050406030204" pitchFamily="18" charset="0"/>
                          </a:rPr>
                          <m:t>𝑀</m:t>
                        </m:r>
                        <m:r>
                          <a:rPr lang="en-US" altLang="zh-CN" sz="3200" i="1">
                            <a:latin typeface="Cambria Math" panose="02040503050406030204" pitchFamily="18" charset="0"/>
                          </a:rPr>
                          <m:t>∥</m:t>
                        </m:r>
                        <m:r>
                          <a:rPr lang="en-US" altLang="zh-CN" sz="3200" i="1">
                            <a:latin typeface="Cambria Math" panose="02040503050406030204" pitchFamily="18" charset="0"/>
                          </a:rPr>
                          <m:t>𝑤</m:t>
                        </m:r>
                        <m:r>
                          <a:rPr lang="en-US" altLang="zh-CN" sz="3200" i="1">
                            <a:latin typeface="Cambria Math" panose="02040503050406030204" pitchFamily="18" charset="0"/>
                          </a:rPr>
                          <m:t> </m:t>
                        </m:r>
                        <m:r>
                          <a:rPr lang="zh-CN" altLang="zh-CN" sz="3200" i="1">
                            <a:latin typeface="Cambria Math" panose="02040503050406030204" pitchFamily="18" charset="0"/>
                          </a:rPr>
                          <m:t>，</m:t>
                        </m:r>
                        <m:r>
                          <a:rPr lang="en-US" altLang="zh-CN" sz="3200" i="1">
                            <a:latin typeface="Cambria Math" panose="02040503050406030204" pitchFamily="18" charset="0"/>
                          </a:rPr>
                          <m:t>𝑁</m:t>
                        </m:r>
                      </m:e>
                    </m:d>
                    <m:r>
                      <a:rPr lang="en-US" altLang="zh-CN" sz="32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，计算整数</a:t>
                </a:r>
                <a14:m>
                  <m:oMath xmlns:m="http://schemas.openxmlformats.org/officeDocument/2006/math">
                    <m:r>
                      <a:rPr lang="en-US" altLang="zh-CN" sz="3200" i="1">
                        <a:latin typeface="Cambria Math" panose="02040503050406030204" pitchFamily="18" charset="0"/>
                      </a:rPr>
                      <m:t>𝑙</m:t>
                    </m:r>
                    <m:r>
                      <a:rPr lang="en-US" altLang="zh-CN" sz="3200" i="1">
                        <a:latin typeface="Cambria Math" panose="02040503050406030204" pitchFamily="18" charset="0"/>
                      </a:rPr>
                      <m:t>=</m:t>
                    </m:r>
                    <m:d>
                      <m:dPr>
                        <m:ctrlPr>
                          <a:rPr lang="zh-CN" altLang="zh-CN" sz="3200" i="1"/>
                        </m:ctrlPr>
                      </m:dPr>
                      <m:e>
                        <m:r>
                          <a:rPr lang="en-US" altLang="zh-CN" sz="3200" i="1">
                            <a:latin typeface="Cambria Math" panose="02040503050406030204" pitchFamily="18" charset="0"/>
                          </a:rPr>
                          <m:t>𝑟</m:t>
                        </m:r>
                        <m:r>
                          <a:rPr lang="en-US" altLang="zh-CN" sz="3200" i="1">
                            <a:latin typeface="Cambria Math" panose="02040503050406030204" pitchFamily="18" charset="0"/>
                          </a:rPr>
                          <m:t>−</m:t>
                        </m:r>
                        <m:r>
                          <a:rPr lang="en-US" altLang="zh-CN" sz="3200" i="1">
                            <a:latin typeface="Cambria Math" panose="02040503050406030204" pitchFamily="18" charset="0"/>
                          </a:rPr>
                          <m:t>ℎ</m:t>
                        </m:r>
                      </m:e>
                    </m:d>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𝑁</m:t>
                        </m:r>
                      </m:e>
                    </m:func>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4</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）若</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l</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 = 0</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则重新选取随机数 </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r</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，在得出整数</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l</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之后，计算群</a:t>
                </a:r>
                <a14:m>
                  <m:oMath xmlns:m="http://schemas.openxmlformats.org/officeDocument/2006/math">
                    <m:sSub>
                      <m:sSubPr>
                        <m:ctrlPr>
                          <a:rPr lang="zh-CN" altLang="zh-CN" sz="3200" i="1"/>
                        </m:ctrlPr>
                      </m:sSubPr>
                      <m:e>
                        <m:r>
                          <a:rPr lang="en-US" altLang="zh-CN" sz="3200" i="1">
                            <a:latin typeface="Cambria Math" panose="02040503050406030204" pitchFamily="18" charset="0"/>
                          </a:rPr>
                          <m:t>𝐺</m:t>
                        </m:r>
                      </m:e>
                      <m:sub>
                        <m:r>
                          <a:rPr lang="en-US" altLang="zh-CN" sz="3200" i="1">
                            <a:latin typeface="Cambria Math" panose="02040503050406030204" pitchFamily="18" charset="0"/>
                          </a:rPr>
                          <m:t>1</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中的元素</a:t>
                </a:r>
                <a14:m>
                  <m:oMath xmlns:m="http://schemas.openxmlformats.org/officeDocument/2006/math">
                    <m:r>
                      <a:rPr lang="zh-CN" altLang="en-US" sz="3200" i="1">
                        <a:solidFill>
                          <a:srgbClr val="000000"/>
                        </a:solidFill>
                        <a:latin typeface="Cambria Math" panose="02040503050406030204" pitchFamily="18" charset="0"/>
                      </a:rPr>
                      <m:t>𝑆</m:t>
                    </m:r>
                    <m:r>
                      <a:rPr lang="zh-CN" altLang="en-US" sz="3200" i="1">
                        <a:solidFill>
                          <a:srgbClr val="000000"/>
                        </a:solidFill>
                        <a:latin typeface="Cambria Math" panose="02040503050406030204" pitchFamily="18" charset="0"/>
                      </a:rPr>
                      <m:t>=</m:t>
                    </m:r>
                    <m:d>
                      <m:dPr>
                        <m:begChr m:val="["/>
                        <m:endChr m:val="]"/>
                        <m:ctrlPr>
                          <a:rPr lang="zh-CN" altLang="en-US" sz="3200" i="1">
                            <a:solidFill>
                              <a:srgbClr val="000000"/>
                            </a:solidFill>
                            <a:latin typeface="Cambria Math" panose="02040503050406030204" pitchFamily="18" charset="0"/>
                          </a:rPr>
                        </m:ctrlPr>
                      </m:dPr>
                      <m:e>
                        <m:r>
                          <a:rPr lang="zh-CN" altLang="en-US" sz="3200" i="1">
                            <a:solidFill>
                              <a:srgbClr val="000000"/>
                            </a:solidFill>
                            <a:latin typeface="Cambria Math" panose="02040503050406030204" pitchFamily="18" charset="0"/>
                          </a:rPr>
                          <m:t>𝑙</m:t>
                        </m:r>
                      </m:e>
                    </m:d>
                    <m:r>
                      <m:rPr>
                        <m:nor/>
                      </m:rPr>
                      <a:rPr lang="zh-CN" altLang="en-US" sz="3200">
                        <a:solidFill>
                          <a:srgbClr val="000000"/>
                        </a:solidFill>
                        <a:latin typeface="Times New Roman" panose="02020603050405020304" pitchFamily="18" charset="0"/>
                        <a:cs typeface="Times New Roman" panose="02020603050405020304" pitchFamily="18" charset="0"/>
                      </a:rPr>
                      <m:t>d</m:t>
                    </m:r>
                    <m:sSub>
                      <m:sSubPr>
                        <m:ctrlPr>
                          <a:rPr lang="zh-CN" altLang="en-US" sz="3200" i="1">
                            <a:solidFill>
                              <a:srgbClr val="000000"/>
                            </a:solidFill>
                            <a:latin typeface="Cambria Math" panose="02040503050406030204" pitchFamily="18" charset="0"/>
                          </a:rPr>
                        </m:ctrlPr>
                      </m:sSubPr>
                      <m:e>
                        <m:r>
                          <m:rPr>
                            <m:nor/>
                          </m:rPr>
                          <a:rPr lang="zh-CN" altLang="en-US" sz="3200">
                            <a:solidFill>
                              <a:srgbClr val="000000"/>
                            </a:solidFill>
                            <a:latin typeface="Times New Roman" panose="02020603050405020304" pitchFamily="18" charset="0"/>
                            <a:cs typeface="Times New Roman" panose="02020603050405020304" pitchFamily="18" charset="0"/>
                          </a:rPr>
                          <m:t>s</m:t>
                        </m:r>
                      </m:e>
                      <m:sub>
                        <m:r>
                          <m:rPr>
                            <m:sty m:val="p"/>
                          </m:rPr>
                          <a:rPr lang="zh-CN" altLang="en-US" sz="3200" i="1">
                            <a:solidFill>
                              <a:srgbClr val="000000"/>
                            </a:solidFill>
                            <a:latin typeface="Cambria Math" panose="02040503050406030204" pitchFamily="18" charset="0"/>
                          </a:rPr>
                          <m:t>A</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，最终得到消息</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的签名为</a:t>
                </a:r>
                <a:r>
                  <a:rPr lang="en-US" altLang="zh-CN" sz="3200">
                    <a:solidFill>
                      <a:srgbClr val="000000"/>
                    </a:solidFill>
                    <a:latin typeface="Times New Roman" panose="02020603050405020304" pitchFamily="18" charset="0"/>
                    <a:cs typeface="字由点字典黑 2"/>
                    <a:sym typeface="字由点字典黑 2"/>
                  </a:rPr>
                  <a:t>(</a:t>
                </a:r>
                <a:r>
                  <a:rPr lang="en-US" altLang="zh-CN" sz="3200" i="1">
                    <a:solidFill>
                      <a:srgbClr val="000000"/>
                    </a:solidFill>
                    <a:latin typeface="Times New Roman" panose="02020603050405020304" pitchFamily="18" charset="0"/>
                    <a:cs typeface="字由点字典黑 2"/>
                    <a:sym typeface="字由点字典黑 2"/>
                  </a:rPr>
                  <a:t>h</a:t>
                </a:r>
                <a:r>
                  <a:rPr lang="zh-CN" altLang="en-US" sz="3200">
                    <a:solidFill>
                      <a:srgbClr val="000000"/>
                    </a:solidFill>
                    <a:latin typeface="Times New Roman" panose="02020603050405020304" pitchFamily="18" charset="0"/>
                    <a:cs typeface="字由点字典黑 2"/>
                    <a:sym typeface="字由点字典黑 2"/>
                  </a:rPr>
                  <a:t>，</a:t>
                </a:r>
                <a:r>
                  <a:rPr lang="en-US" altLang="zh-CN" sz="3200" i="1">
                    <a:solidFill>
                      <a:srgbClr val="000000"/>
                    </a:solidFill>
                    <a:latin typeface="Times New Roman" panose="02020603050405020304" pitchFamily="18" charset="0"/>
                    <a:cs typeface="字由点字典黑 2"/>
                    <a:sym typeface="字由点字典黑 2"/>
                  </a:rPr>
                  <a:t>S</a:t>
                </a:r>
                <a:r>
                  <a:rPr lang="en-US" altLang="zh-CN" sz="3200">
                    <a:solidFill>
                      <a:srgbClr val="000000"/>
                    </a:solidFill>
                    <a:latin typeface="Times New Roman" panose="02020603050405020304" pitchFamily="18" charset="0"/>
                    <a:cs typeface="字由点字典黑 2"/>
                    <a:sym typeface="字由点字典黑 2"/>
                  </a:rPr>
                  <a:t>)</a:t>
                </a:r>
                <a:r>
                  <a:rPr lang="en-US" altLang="zh-CN" sz="3600">
                    <a:solidFill>
                      <a:srgbClr val="000000"/>
                    </a:solidFill>
                    <a:latin typeface="Times New Roman" panose="02020603050405020304" pitchFamily="18" charset="0"/>
                    <a:cs typeface="字由点字典黑 2"/>
                    <a:sym typeface="字由点字典黑 2"/>
                  </a:rPr>
                  <a:t> </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。其中，</a:t>
                </a:r>
                <a14:m>
                  <m:oMath xmlns:m="http://schemas.openxmlformats.org/officeDocument/2006/math">
                    <m:r>
                      <m:rPr>
                        <m:nor/>
                      </m:rPr>
                      <a:rPr lang="en-US" altLang="zh-CN" sz="3200" smtClean="0">
                        <a:latin typeface="Cambria Math" panose="02040503050406030204" pitchFamily="18" charset="0"/>
                      </a:rPr>
                      <m:t>d</m:t>
                    </m:r>
                    <m:sSub>
                      <m:sSubPr>
                        <m:ctrlPr>
                          <a:rPr lang="zh-CN" altLang="zh-CN" sz="3200" i="1"/>
                        </m:ctrlPr>
                      </m:sSubPr>
                      <m:e>
                        <m:r>
                          <m:rPr>
                            <m:nor/>
                          </m:rPr>
                          <a:rPr lang="en-US" altLang="zh-CN" sz="3200">
                            <a:latin typeface="Cambria Math" panose="02040503050406030204" pitchFamily="18" charset="0"/>
                          </a:rPr>
                          <m:t>s</m:t>
                        </m:r>
                      </m:e>
                      <m:sub>
                        <m:r>
                          <a:rPr lang="en-US" altLang="zh-CN" sz="3200" i="1">
                            <a:latin typeface="Cambria Math" panose="02040503050406030204" pitchFamily="18" charset="0"/>
                          </a:rPr>
                          <m:t>𝐴</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为签名者私钥。</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19" name="TextBox 29"/>
              <p:cNvSpPr txBox="1">
                <a:spLocks noRot="1" noChangeAspect="1" noMove="1" noResize="1" noEditPoints="1" noAdjustHandles="1" noChangeArrowheads="1" noChangeShapeType="1" noTextEdit="1"/>
              </p:cNvSpPr>
              <p:nvPr/>
            </p:nvSpPr>
            <p:spPr>
              <a:xfrm>
                <a:off x="1734904" y="1689394"/>
                <a:ext cx="14818191" cy="5474384"/>
              </a:xfrm>
              <a:prstGeom prst="rect">
                <a:avLst/>
              </a:prstGeom>
              <a:blipFill rotWithShape="1">
                <a:blip r:embed="rId3"/>
                <a:stretch>
                  <a:fillRect l="-1" t="-5" r="4" b="-13878"/>
                </a:stretch>
              </a:blipFill>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9"/>
              <p:cNvSpPr txBox="1"/>
              <p:nvPr/>
            </p:nvSpPr>
            <p:spPr>
              <a:xfrm>
                <a:off x="1734904" y="1689394"/>
                <a:ext cx="14818191" cy="6957930"/>
              </a:xfrm>
              <a:prstGeom prst="rect">
                <a:avLst/>
              </a:prstGeom>
            </p:spPr>
            <p:txBody>
              <a:bodyPr wrap="square" lIns="0" tIns="0" rIns="0" bIns="0" rtlCol="0" anchor="t">
                <a:spAutoFit/>
              </a:bodyPr>
              <a:lstStyle/>
              <a:p>
                <a:pPr indent="914400">
                  <a:lnSpc>
                    <a:spcPct val="120000"/>
                  </a:lnSpc>
                </a:pPr>
                <a:r>
                  <a:rPr lang="zh-CN" altLang="zh-CN" sz="3600"/>
                  <a:t>为了检验收到的消息</a:t>
                </a:r>
                <a14:m>
                  <m:oMath xmlns:m="http://schemas.openxmlformats.org/officeDocument/2006/math">
                    <m:sSup>
                      <m:sSupPr>
                        <m:ctrlPr>
                          <a:rPr lang="zh-CN" altLang="zh-CN" sz="3200" i="1"/>
                        </m:ctrlPr>
                      </m:sSupPr>
                      <m:e>
                        <m:r>
                          <a:rPr lang="en-US" altLang="zh-CN" sz="3200" i="1">
                            <a:latin typeface="Cambria Math" panose="02040503050406030204" pitchFamily="18" charset="0"/>
                          </a:rPr>
                          <m:t>𝑀</m:t>
                        </m:r>
                      </m:e>
                      <m:sup>
                        <m:r>
                          <a:rPr lang="en-US" altLang="zh-CN" sz="3200" i="1">
                            <a:latin typeface="Cambria Math" panose="02040503050406030204" pitchFamily="18" charset="0"/>
                          </a:rPr>
                          <m:t>′</m:t>
                        </m:r>
                      </m:sup>
                    </m:sSup>
                  </m:oMath>
                </a14:m>
                <a:r>
                  <a:rPr lang="zh-CN" altLang="zh-CN" sz="3600"/>
                  <a:t>及其数字签名</a:t>
                </a:r>
                <a14:m>
                  <m:oMath xmlns:m="http://schemas.openxmlformats.org/officeDocument/2006/math">
                    <m:d>
                      <m:dPr>
                        <m:ctrlPr>
                          <a:rPr lang="zh-CN" altLang="zh-CN" sz="3200" i="1"/>
                        </m:ctrlPr>
                      </m:dPr>
                      <m:e>
                        <m:sSup>
                          <m:sSupPr>
                            <m:ctrlPr>
                              <a:rPr lang="zh-CN" altLang="zh-CN" sz="3200" i="1"/>
                            </m:ctrlPr>
                          </m:sSupPr>
                          <m:e>
                            <m:r>
                              <a:rPr lang="en-US" altLang="zh-CN" sz="3200" i="1">
                                <a:latin typeface="Cambria Math" panose="02040503050406030204" pitchFamily="18" charset="0"/>
                              </a:rPr>
                              <m:t>ℎ</m:t>
                            </m:r>
                          </m:e>
                          <m:sup>
                            <m:r>
                              <a:rPr lang="en-US" altLang="zh-CN" sz="3200" i="1">
                                <a:latin typeface="Cambria Math" panose="02040503050406030204" pitchFamily="18" charset="0"/>
                              </a:rPr>
                              <m:t>′</m:t>
                            </m:r>
                          </m:sup>
                        </m:sSup>
                        <m:r>
                          <a:rPr lang="zh-CN"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𝑆</m:t>
                            </m:r>
                          </m:e>
                          <m:sup>
                            <m:r>
                              <a:rPr lang="en-US" altLang="zh-CN" sz="3200" i="1">
                                <a:latin typeface="Cambria Math" panose="02040503050406030204" pitchFamily="18" charset="0"/>
                              </a:rPr>
                              <m:t>′</m:t>
                            </m:r>
                          </m:sup>
                        </m:sSup>
                      </m:e>
                    </m:d>
                  </m:oMath>
                </a14:m>
                <a:r>
                  <a:rPr lang="zh-CN" altLang="zh-CN" sz="3600"/>
                  <a:t>，验证者需执行以下步骤。</a:t>
                </a:r>
                <a:endParaRPr lang="zh-CN" altLang="zh-CN" sz="3600"/>
              </a:p>
              <a:p>
                <a:pPr indent="914400">
                  <a:lnSpc>
                    <a:spcPct val="120000"/>
                  </a:lnSpc>
                </a:pPr>
                <a:r>
                  <a:rPr lang="zh-CN" altLang="zh-CN" sz="3600"/>
                  <a:t>（</a:t>
                </a:r>
                <a:r>
                  <a:rPr lang="en-US" altLang="zh-CN" sz="3600"/>
                  <a:t>1</a:t>
                </a:r>
                <a:r>
                  <a:rPr lang="zh-CN" altLang="zh-CN" sz="3600"/>
                  <a:t>）应首先检验</a:t>
                </a:r>
                <a14:m>
                  <m:oMath xmlns:m="http://schemas.openxmlformats.org/officeDocument/2006/math">
                    <m:sSup>
                      <m:sSupPr>
                        <m:ctrlPr>
                          <a:rPr lang="zh-CN" altLang="zh-CN" sz="3200" i="1"/>
                        </m:ctrlPr>
                      </m:sSupPr>
                      <m:e>
                        <m:r>
                          <a:rPr lang="en-US" altLang="zh-CN" sz="3200" i="1">
                            <a:latin typeface="Cambria Math" panose="02040503050406030204" pitchFamily="18" charset="0"/>
                          </a:rPr>
                          <m:t>ℎ</m:t>
                        </m:r>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r>
                      <a:rPr lang="en-US" altLang="zh-CN" sz="3200" i="1">
                        <a:latin typeface="Cambria Math" panose="02040503050406030204" pitchFamily="18" charset="0"/>
                      </a:rPr>
                      <m:t>1</m:t>
                    </m:r>
                    <m:r>
                      <a:rPr lang="zh-CN" altLang="zh-CN" sz="3200" i="1">
                        <a:latin typeface="Cambria Math" panose="02040503050406030204" pitchFamily="18" charset="0"/>
                      </a:rPr>
                      <m:t>，</m:t>
                    </m:r>
                    <m:r>
                      <a:rPr lang="en-US" altLang="zh-CN" sz="3200" i="1">
                        <a:latin typeface="Cambria Math" panose="02040503050406030204" pitchFamily="18" charset="0"/>
                      </a:rPr>
                      <m:t>𝑁</m:t>
                    </m:r>
                    <m:r>
                      <a:rPr lang="en-US" altLang="zh-CN" sz="3200" i="1">
                        <a:latin typeface="Cambria Math" panose="02040503050406030204" pitchFamily="18" charset="0"/>
                      </a:rPr>
                      <m:t>−</m:t>
                    </m:r>
                    <m:r>
                      <a:rPr lang="en-US" altLang="zh-CN" sz="3200" i="1">
                        <a:latin typeface="Cambria Math" panose="02040503050406030204" pitchFamily="18" charset="0"/>
                      </a:rPr>
                      <m:t>1</m:t>
                    </m:r>
                    <m:r>
                      <a:rPr lang="en-US" altLang="zh-CN" sz="3200" i="1">
                        <a:latin typeface="Cambria Math" panose="02040503050406030204" pitchFamily="18" charset="0"/>
                      </a:rPr>
                      <m:t>]</m:t>
                    </m:r>
                  </m:oMath>
                </a14:m>
                <a:r>
                  <a:rPr lang="zh-CN" altLang="zh-CN" sz="3600"/>
                  <a:t>是否成立，若不成立则验证不通过。</a:t>
                </a:r>
                <a:endParaRPr lang="zh-CN" altLang="zh-CN" sz="3600"/>
              </a:p>
              <a:p>
                <a:pPr indent="914400">
                  <a:lnSpc>
                    <a:spcPct val="120000"/>
                  </a:lnSpc>
                </a:pPr>
                <a:r>
                  <a:rPr lang="zh-CN" altLang="zh-CN" sz="3600"/>
                  <a:t>（</a:t>
                </a:r>
                <a:r>
                  <a:rPr lang="en-US" altLang="zh-CN" sz="3600"/>
                  <a:t>2</a:t>
                </a:r>
                <a:r>
                  <a:rPr lang="zh-CN" altLang="zh-CN" sz="3600"/>
                  <a:t>）将</a:t>
                </a:r>
                <a14:m>
                  <m:oMath xmlns:m="http://schemas.openxmlformats.org/officeDocument/2006/math">
                    <m:sSup>
                      <m:sSupPr>
                        <m:ctrlPr>
                          <a:rPr lang="zh-CN" altLang="zh-CN" sz="3200" i="1"/>
                        </m:ctrlPr>
                      </m:sSupPr>
                      <m:e>
                        <m:r>
                          <a:rPr lang="en-US" altLang="zh-CN" sz="3200" i="1">
                            <a:latin typeface="Cambria Math" panose="02040503050406030204" pitchFamily="18" charset="0"/>
                          </a:rPr>
                          <m:t>𝑆</m:t>
                        </m:r>
                      </m:e>
                      <m:sup>
                        <m:r>
                          <a:rPr lang="en-US" altLang="zh-CN" sz="3200" i="1">
                            <a:latin typeface="Cambria Math" panose="02040503050406030204" pitchFamily="18" charset="0"/>
                          </a:rPr>
                          <m:t>′</m:t>
                        </m:r>
                      </m:sup>
                    </m:sSup>
                  </m:oMath>
                </a14:m>
                <a:r>
                  <a:rPr lang="zh-CN" altLang="zh-CN" sz="3600"/>
                  <a:t>的数据类型转换为椭圆曲线上的点。</a:t>
                </a:r>
                <a:endParaRPr lang="zh-CN" altLang="zh-CN" sz="3600"/>
              </a:p>
              <a:p>
                <a:pPr indent="914400">
                  <a:lnSpc>
                    <a:spcPct val="120000"/>
                  </a:lnSpc>
                </a:pPr>
                <a:r>
                  <a:rPr lang="zh-CN" altLang="zh-CN" sz="3600"/>
                  <a:t>（</a:t>
                </a:r>
                <a:r>
                  <a:rPr lang="en-US" altLang="zh-CN" sz="3600"/>
                  <a:t>3</a:t>
                </a:r>
                <a:r>
                  <a:rPr lang="zh-CN" altLang="zh-CN" sz="3600"/>
                  <a:t>）检验</a:t>
                </a:r>
                <a14:m>
                  <m:oMath xmlns:m="http://schemas.openxmlformats.org/officeDocument/2006/math">
                    <m:sSup>
                      <m:sSupPr>
                        <m:ctrlPr>
                          <a:rPr lang="zh-CN" altLang="zh-CN" sz="3200" i="1"/>
                        </m:ctrlPr>
                      </m:sSupPr>
                      <m:e>
                        <m:r>
                          <a:rPr lang="en-US" altLang="zh-CN" sz="3200" i="1">
                            <a:latin typeface="Cambria Math" panose="02040503050406030204" pitchFamily="18" charset="0"/>
                          </a:rPr>
                          <m:t>𝑆</m:t>
                        </m:r>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𝐺</m:t>
                        </m:r>
                      </m:e>
                      <m:sub>
                        <m:r>
                          <a:rPr lang="en-US" altLang="zh-CN" sz="3200" i="1">
                            <a:latin typeface="Cambria Math" panose="02040503050406030204" pitchFamily="18" charset="0"/>
                          </a:rPr>
                          <m:t>1</m:t>
                        </m:r>
                      </m:sub>
                    </m:sSub>
                  </m:oMath>
                </a14:m>
                <a:r>
                  <a:rPr lang="zh-CN" altLang="zh-CN" sz="3600"/>
                  <a:t>是否成立，若不成立则验证不通过，若成立，则计算群</a:t>
                </a:r>
                <a14:m>
                  <m:oMath xmlns:m="http://schemas.openxmlformats.org/officeDocument/2006/math">
                    <m:sSub>
                      <m:sSubPr>
                        <m:ctrlPr>
                          <a:rPr lang="zh-CN" altLang="zh-CN" sz="3200" i="1"/>
                        </m:ctrlPr>
                      </m:sSubPr>
                      <m:e>
                        <m:r>
                          <a:rPr lang="en-US" altLang="zh-CN" sz="3200" i="1">
                            <a:latin typeface="Cambria Math" panose="02040503050406030204" pitchFamily="18" charset="0"/>
                          </a:rPr>
                          <m:t>𝐺</m:t>
                        </m:r>
                      </m:e>
                      <m:sub>
                        <m:r>
                          <a:rPr lang="en-US" altLang="zh-CN" sz="3200" i="1">
                            <a:latin typeface="Cambria Math" panose="02040503050406030204" pitchFamily="18" charset="0"/>
                          </a:rPr>
                          <m:t>𝑇</m:t>
                        </m:r>
                      </m:sub>
                    </m:sSub>
                  </m:oMath>
                </a14:m>
                <a:r>
                  <a:rPr lang="zh-CN" altLang="zh-CN" sz="3600"/>
                  <a:t>中的元素</a:t>
                </a:r>
                <a14:m>
                  <m:oMath xmlns:m="http://schemas.openxmlformats.org/officeDocument/2006/math">
                    <m:r>
                      <m:rPr>
                        <m:sty m:val="p"/>
                      </m:rPr>
                      <a:rPr lang="en-US" altLang="zh-CN" sz="3200" i="1" smtClean="0">
                        <a:latin typeface="Cambria Math" panose="02040503050406030204" pitchFamily="18" charset="0"/>
                      </a:rPr>
                      <m:t>g</m:t>
                    </m:r>
                    <m:r>
                      <a:rPr lang="en-US" altLang="zh-CN" sz="3200" i="1">
                        <a:latin typeface="Cambria Math" panose="02040503050406030204" pitchFamily="18" charset="0"/>
                      </a:rPr>
                      <m:t>=</m:t>
                    </m:r>
                    <m:r>
                      <a:rPr lang="en-US" altLang="zh-CN" sz="3200" i="1">
                        <a:latin typeface="Cambria Math" panose="02040503050406030204" pitchFamily="18" charset="0"/>
                      </a:rPr>
                      <m:t>𝑒</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1</m:t>
                        </m:r>
                      </m:sub>
                    </m:sSub>
                    <m:r>
                      <a:rPr lang="zh-CN"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m:rPr>
                            <m:nor/>
                          </m:rPr>
                          <a:rPr lang="en-US" altLang="zh-CN" sz="3200">
                            <a:latin typeface="Cambria Math" panose="02040503050406030204" pitchFamily="18" charset="0"/>
                          </a:rPr>
                          <m:t>pub</m:t>
                        </m:r>
                        <m:r>
                          <a:rPr lang="en-US" altLang="zh-CN" sz="3200" i="1">
                            <a:latin typeface="Cambria Math" panose="02040503050406030204" pitchFamily="18" charset="0"/>
                          </a:rPr>
                          <m:t>−</m:t>
                        </m:r>
                        <m:r>
                          <a:rPr lang="en-US" altLang="zh-CN" sz="3200" i="1">
                            <a:latin typeface="Cambria Math" panose="02040503050406030204" pitchFamily="18" charset="0"/>
                          </a:rPr>
                          <m:t>𝑠</m:t>
                        </m:r>
                      </m:sub>
                    </m:sSub>
                    <m:r>
                      <a:rPr lang="en-US" altLang="zh-CN" sz="3200" i="1">
                        <a:latin typeface="Cambria Math" panose="02040503050406030204" pitchFamily="18" charset="0"/>
                      </a:rPr>
                      <m:t>)</m:t>
                    </m:r>
                  </m:oMath>
                </a14:m>
                <a:r>
                  <a:rPr lang="zh-CN" altLang="zh-CN" sz="3600"/>
                  <a:t>及群</a:t>
                </a:r>
                <a14:m>
                  <m:oMath xmlns:m="http://schemas.openxmlformats.org/officeDocument/2006/math">
                    <m:sSub>
                      <m:sSubPr>
                        <m:ctrlPr>
                          <a:rPr lang="zh-CN" altLang="zh-CN" sz="3200" i="1"/>
                        </m:ctrlPr>
                      </m:sSubPr>
                      <m:e>
                        <m:r>
                          <a:rPr lang="en-US" altLang="zh-CN" sz="3200" i="1">
                            <a:latin typeface="Cambria Math" panose="02040503050406030204" pitchFamily="18" charset="0"/>
                          </a:rPr>
                          <m:t>𝐺</m:t>
                        </m:r>
                      </m:e>
                      <m:sub>
                        <m:r>
                          <a:rPr lang="en-US" altLang="zh-CN" sz="3200" i="1">
                            <a:latin typeface="Cambria Math" panose="02040503050406030204" pitchFamily="18" charset="0"/>
                          </a:rPr>
                          <m:t>𝑇</m:t>
                        </m:r>
                      </m:sub>
                    </m:sSub>
                  </m:oMath>
                </a14:m>
                <a:r>
                  <a:rPr lang="zh-CN" altLang="zh-CN" sz="3600"/>
                  <a:t>中的元素</a:t>
                </a:r>
                <a14:m>
                  <m:oMath xmlns:m="http://schemas.openxmlformats.org/officeDocument/2006/math">
                    <m:r>
                      <a:rPr lang="en-US" altLang="zh-CN" sz="3200" i="1">
                        <a:latin typeface="Cambria Math" panose="02040503050406030204" pitchFamily="18" charset="0"/>
                      </a:rPr>
                      <m:t>𝑡</m:t>
                    </m:r>
                    <m:r>
                      <a:rPr lang="en-US" altLang="zh-CN" sz="3200" i="1">
                        <a:latin typeface="Cambria Math" panose="02040503050406030204" pitchFamily="18" charset="0"/>
                      </a:rPr>
                      <m:t>=</m:t>
                    </m:r>
                    <m:sSup>
                      <m:sSupPr>
                        <m:ctrlPr>
                          <a:rPr lang="zh-CN" altLang="zh-CN" sz="3200" i="1"/>
                        </m:ctrlPr>
                      </m:sSupPr>
                      <m:e>
                        <m:r>
                          <m:rPr>
                            <m:sty m:val="p"/>
                          </m:rPr>
                          <a:rPr lang="en-US" altLang="zh-CN" sz="3200" i="1" smtClean="0">
                            <a:latin typeface="Cambria Math" panose="02040503050406030204" pitchFamily="18" charset="0"/>
                          </a:rPr>
                          <m:t>g</m:t>
                        </m:r>
                      </m:e>
                      <m:sup>
                        <m:sSup>
                          <m:sSupPr>
                            <m:ctrlPr>
                              <a:rPr lang="zh-CN" altLang="zh-CN" sz="3200" i="1"/>
                            </m:ctrlPr>
                          </m:sSupPr>
                          <m:e>
                            <m:r>
                              <a:rPr lang="en-US" altLang="zh-CN" sz="3200" i="1">
                                <a:latin typeface="Cambria Math" panose="02040503050406030204" pitchFamily="18" charset="0"/>
                              </a:rPr>
                              <m:t>ℎ</m:t>
                            </m:r>
                          </m:e>
                          <m:sup>
                            <m:r>
                              <a:rPr lang="en-US" altLang="zh-CN" sz="3200" i="1">
                                <a:latin typeface="Cambria Math" panose="02040503050406030204" pitchFamily="18" charset="0"/>
                              </a:rPr>
                              <m:t>′</m:t>
                            </m:r>
                          </m:sup>
                        </m:sSup>
                      </m:sup>
                    </m:sSup>
                  </m:oMath>
                </a14:m>
                <a:r>
                  <a:rPr lang="zh-CN" altLang="zh-CN" sz="3600"/>
                  <a:t>。</a:t>
                </a:r>
                <a:endParaRPr lang="zh-CN" altLang="zh-CN" sz="3600"/>
              </a:p>
              <a:p>
                <a:pPr indent="914400">
                  <a:lnSpc>
                    <a:spcPct val="120000"/>
                  </a:lnSpc>
                </a:pPr>
                <a:r>
                  <a:rPr lang="zh-CN" altLang="zh-CN" sz="3600"/>
                  <a:t>（</a:t>
                </a:r>
                <a:r>
                  <a:rPr lang="en-US" altLang="zh-CN" sz="3600"/>
                  <a:t>4</a:t>
                </a:r>
                <a:r>
                  <a:rPr lang="zh-CN" altLang="zh-CN" sz="3600"/>
                  <a:t>）计算整数</a:t>
                </a:r>
                <a14:m>
                  <m:oMath xmlns:m="http://schemas.openxmlformats.org/officeDocument/2006/math">
                    <m:sSub>
                      <m:sSubPr>
                        <m:ctrlPr>
                          <a:rPr lang="zh-CN" altLang="zh-CN" sz="3200" i="1"/>
                        </m:ctrlPr>
                      </m:sSubPr>
                      <m:e>
                        <m:r>
                          <a:rPr lang="en-US" altLang="zh-CN" sz="3200" i="1">
                            <a:latin typeface="Cambria Math" panose="02040503050406030204" pitchFamily="18" charset="0"/>
                          </a:rPr>
                          <m:t>ℎ</m:t>
                        </m:r>
                      </m:e>
                      <m:sub>
                        <m:r>
                          <a:rPr lang="en-US" altLang="zh-CN" sz="3200" i="1">
                            <a:latin typeface="Cambria Math" panose="02040503050406030204" pitchFamily="18" charset="0"/>
                          </a:rPr>
                          <m:t>1</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𝐻</m:t>
                        </m:r>
                      </m:e>
                      <m:sub>
                        <m:r>
                          <a:rPr lang="en-US" altLang="zh-CN" sz="3200" i="1">
                            <a:latin typeface="Cambria Math" panose="02040503050406030204" pitchFamily="18" charset="0"/>
                          </a:rPr>
                          <m:t>1</m:t>
                        </m:r>
                      </m:sub>
                    </m:sSub>
                    <m:d>
                      <m:dPr>
                        <m:ctrlPr>
                          <a:rPr lang="zh-CN" altLang="zh-CN" sz="3200" i="1"/>
                        </m:ctrlPr>
                      </m:dPr>
                      <m:e>
                        <m:r>
                          <m:rPr>
                            <m:nor/>
                          </m:rPr>
                          <a:rPr lang="en-US" altLang="zh-CN" sz="3200">
                            <a:latin typeface="Cambria Math" panose="02040503050406030204" pitchFamily="18" charset="0"/>
                          </a:rPr>
                          <m:t>I</m:t>
                        </m:r>
                        <m:sSub>
                          <m:sSubPr>
                            <m:ctrlPr>
                              <a:rPr lang="zh-CN" altLang="zh-CN" sz="3200" i="1"/>
                            </m:ctrlPr>
                          </m:sSubPr>
                          <m:e>
                            <m:r>
                              <m:rPr>
                                <m:nor/>
                              </m:rPr>
                              <a:rPr lang="en-US" altLang="zh-CN" sz="3200">
                                <a:latin typeface="Cambria Math" panose="02040503050406030204" pitchFamily="18" charset="0"/>
                              </a:rPr>
                              <m:t>D</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r>
                          <m:rPr>
                            <m:nor/>
                          </m:rPr>
                          <a:rPr lang="en-US" altLang="zh-CN" sz="3200">
                            <a:latin typeface="Cambria Math" panose="02040503050406030204" pitchFamily="18" charset="0"/>
                          </a:rPr>
                          <m:t>hid</m:t>
                        </m:r>
                        <m:r>
                          <a:rPr lang="zh-CN" altLang="zh-CN" sz="3200">
                            <a:latin typeface="Cambria Math" panose="02040503050406030204" pitchFamily="18" charset="0"/>
                          </a:rPr>
                          <m:t>，</m:t>
                        </m:r>
                        <m:r>
                          <a:rPr lang="en-US" altLang="zh-CN" sz="3200" i="1">
                            <a:latin typeface="Cambria Math" panose="02040503050406030204" pitchFamily="18" charset="0"/>
                          </a:rPr>
                          <m:t>𝑁</m:t>
                        </m:r>
                      </m:e>
                    </m:d>
                  </m:oMath>
                </a14:m>
                <a:r>
                  <a:rPr lang="zh-CN" altLang="zh-CN" sz="3600"/>
                  <a:t>，并计算群</a:t>
                </a:r>
                <a14:m>
                  <m:oMath xmlns:m="http://schemas.openxmlformats.org/officeDocument/2006/math">
                    <m:sSub>
                      <m:sSubPr>
                        <m:ctrlPr>
                          <a:rPr lang="zh-CN" altLang="zh-CN" sz="3200" i="1"/>
                        </m:ctrlPr>
                      </m:sSubPr>
                      <m:e>
                        <m:r>
                          <a:rPr lang="en-US" altLang="zh-CN" sz="3200" i="1">
                            <a:latin typeface="Cambria Math" panose="02040503050406030204" pitchFamily="18" charset="0"/>
                          </a:rPr>
                          <m:t>𝐺</m:t>
                        </m:r>
                      </m:e>
                      <m:sub>
                        <m:r>
                          <a:rPr lang="en-US" altLang="zh-CN" sz="3200" i="1">
                            <a:latin typeface="Cambria Math" panose="02040503050406030204" pitchFamily="18" charset="0"/>
                          </a:rPr>
                          <m:t>2</m:t>
                        </m:r>
                      </m:sub>
                    </m:sSub>
                  </m:oMath>
                </a14:m>
                <a:r>
                  <a:rPr lang="zh-CN" altLang="zh-CN" sz="3600"/>
                  <a:t>中的元素</a:t>
                </a:r>
                <a14:m>
                  <m:oMath xmlns:m="http://schemas.openxmlformats.org/officeDocument/2006/math">
                    <m:r>
                      <a:rPr lang="en-US" altLang="zh-CN" sz="3200" i="1">
                        <a:latin typeface="Cambria Math" panose="02040503050406030204" pitchFamily="18" charset="0"/>
                      </a:rPr>
                      <m:t>𝑃</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ℎ</m:t>
                        </m:r>
                      </m:e>
                      <m:sub>
                        <m:r>
                          <a:rPr lang="en-US" altLang="zh-CN" sz="3200" i="1">
                            <a:latin typeface="Cambria Math" panose="02040503050406030204" pitchFamily="18" charset="0"/>
                          </a:rPr>
                          <m:t>1</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2</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m:rPr>
                            <m:nor/>
                          </m:rPr>
                          <a:rPr lang="en-US" altLang="zh-CN" sz="3200">
                            <a:latin typeface="Cambria Math" panose="02040503050406030204" pitchFamily="18" charset="0"/>
                          </a:rPr>
                          <m:t>pub</m:t>
                        </m:r>
                        <m:r>
                          <a:rPr lang="en-US" altLang="zh-CN" sz="3200" i="1">
                            <a:latin typeface="Cambria Math" panose="02040503050406030204" pitchFamily="18" charset="0"/>
                          </a:rPr>
                          <m:t>−</m:t>
                        </m:r>
                        <m:r>
                          <a:rPr lang="en-US" altLang="zh-CN" sz="3200" i="1">
                            <a:latin typeface="Cambria Math" panose="02040503050406030204" pitchFamily="18" charset="0"/>
                          </a:rPr>
                          <m:t>𝑠</m:t>
                        </m:r>
                      </m:sub>
                    </m:sSub>
                  </m:oMath>
                </a14:m>
                <a:r>
                  <a:rPr lang="zh-CN" altLang="zh-CN" sz="3600"/>
                  <a:t>。</a:t>
                </a:r>
                <a:endParaRPr lang="zh-CN" altLang="zh-CN" sz="3600"/>
              </a:p>
              <a:p>
                <a:pPr indent="914400">
                  <a:lnSpc>
                    <a:spcPct val="120000"/>
                  </a:lnSpc>
                </a:pPr>
                <a:r>
                  <a:rPr lang="zh-CN" altLang="zh-CN" sz="3600"/>
                  <a:t>（</a:t>
                </a:r>
                <a:r>
                  <a:rPr lang="en-US" altLang="zh-CN" sz="3600"/>
                  <a:t>5</a:t>
                </a:r>
                <a:r>
                  <a:rPr lang="zh-CN" altLang="zh-CN" sz="3600"/>
                  <a:t>）计算</a:t>
                </a:r>
                <a14:m>
                  <m:oMath xmlns:m="http://schemas.openxmlformats.org/officeDocument/2006/math">
                    <m:r>
                      <a:rPr lang="en-US" altLang="zh-CN" sz="3200" i="1">
                        <a:latin typeface="Cambria Math" panose="02040503050406030204" pitchFamily="18" charset="0"/>
                      </a:rPr>
                      <m:t>𝑢</m:t>
                    </m:r>
                    <m:r>
                      <a:rPr lang="en-US" altLang="zh-CN" sz="3200" i="1">
                        <a:latin typeface="Cambria Math" panose="02040503050406030204" pitchFamily="18" charset="0"/>
                      </a:rPr>
                      <m:t>=</m:t>
                    </m:r>
                    <m:r>
                      <a:rPr lang="en-US" altLang="zh-CN" sz="3200" i="1">
                        <a:latin typeface="Cambria Math" panose="02040503050406030204" pitchFamily="18" charset="0"/>
                      </a:rPr>
                      <m:t>𝑒</m:t>
                    </m:r>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𝑆</m:t>
                        </m:r>
                      </m:e>
                      <m:sup>
                        <m:r>
                          <a:rPr lang="en-US" altLang="zh-CN" sz="3200" i="1">
                            <a:latin typeface="Cambria Math" panose="02040503050406030204" pitchFamily="18" charset="0"/>
                          </a:rPr>
                          <m:t>′</m:t>
                        </m:r>
                      </m:sup>
                    </m:sSup>
                    <m:r>
                      <a:rPr lang="zh-CN" altLang="zh-CN" sz="3200" i="1">
                        <a:latin typeface="Cambria Math" panose="02040503050406030204" pitchFamily="18" charset="0"/>
                      </a:rPr>
                      <m:t>，</m:t>
                    </m:r>
                    <m:r>
                      <a:rPr lang="en-US" altLang="zh-CN" sz="3200" i="1">
                        <a:latin typeface="Cambria Math" panose="02040503050406030204" pitchFamily="18" charset="0"/>
                      </a:rPr>
                      <m:t>𝑃</m:t>
                    </m:r>
                    <m:r>
                      <a:rPr lang="en-US" altLang="zh-CN" sz="3200" i="1">
                        <a:latin typeface="Cambria Math" panose="02040503050406030204" pitchFamily="18" charset="0"/>
                      </a:rPr>
                      <m:t>)</m:t>
                    </m:r>
                  </m:oMath>
                </a14:m>
                <a:r>
                  <a:rPr lang="zh-CN" altLang="zh-CN" sz="3600"/>
                  <a:t>与</a:t>
                </a:r>
                <a14:m>
                  <m:oMath xmlns:m="http://schemas.openxmlformats.org/officeDocument/2006/math">
                    <m:sSup>
                      <m:sSupPr>
                        <m:ctrlPr>
                          <a:rPr lang="zh-CN" altLang="zh-CN" sz="3200" i="1"/>
                        </m:ctrlPr>
                      </m:sSupPr>
                      <m:e>
                        <m:r>
                          <a:rPr lang="en-US" altLang="zh-CN" sz="3200" i="1">
                            <a:latin typeface="Cambria Math" panose="02040503050406030204" pitchFamily="18" charset="0"/>
                          </a:rPr>
                          <m:t>𝑤</m:t>
                        </m:r>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r>
                      <a:rPr lang="en-US" altLang="zh-CN" sz="3200" i="1">
                        <a:latin typeface="Cambria Math" panose="02040503050406030204" pitchFamily="18" charset="0"/>
                      </a:rPr>
                      <m:t>𝑢</m:t>
                    </m:r>
                    <m:r>
                      <a:rPr lang="en-US" altLang="zh-CN" sz="3200" i="1">
                        <a:latin typeface="Cambria Math" panose="02040503050406030204" pitchFamily="18" charset="0"/>
                      </a:rPr>
                      <m:t>⋅</m:t>
                    </m:r>
                    <m:r>
                      <a:rPr lang="en-US" altLang="zh-CN" sz="3200" i="1">
                        <a:latin typeface="Cambria Math" panose="02040503050406030204" pitchFamily="18" charset="0"/>
                      </a:rPr>
                      <m:t>𝑡</m:t>
                    </m:r>
                  </m:oMath>
                </a14:m>
                <a:r>
                  <a:rPr lang="zh-CN" altLang="zh-CN" sz="3600"/>
                  <a:t>，将</a:t>
                </a:r>
                <a14:m>
                  <m:oMath xmlns:m="http://schemas.openxmlformats.org/officeDocument/2006/math">
                    <m:sSup>
                      <m:sSupPr>
                        <m:ctrlPr>
                          <a:rPr lang="zh-CN" altLang="zh-CN" sz="3200" i="1"/>
                        </m:ctrlPr>
                      </m:sSupPr>
                      <m:e>
                        <m:r>
                          <a:rPr lang="en-US" altLang="zh-CN" sz="3200" i="1">
                            <a:latin typeface="Cambria Math" panose="02040503050406030204" pitchFamily="18" charset="0"/>
                          </a:rPr>
                          <m:t>𝑤</m:t>
                        </m:r>
                      </m:e>
                      <m:sup>
                        <m:r>
                          <a:rPr lang="en-US" altLang="zh-CN" sz="3200" i="1">
                            <a:latin typeface="Cambria Math" panose="02040503050406030204" pitchFamily="18" charset="0"/>
                          </a:rPr>
                          <m:t>′</m:t>
                        </m:r>
                      </m:sup>
                    </m:sSup>
                  </m:oMath>
                </a14:m>
                <a:r>
                  <a:rPr lang="zh-CN" altLang="zh-CN" sz="3600"/>
                  <a:t>的数据类型转化为比特串。</a:t>
                </a:r>
                <a:endParaRPr lang="zh-CN" altLang="zh-CN" sz="3600"/>
              </a:p>
              <a:p>
                <a:pPr indent="914400">
                  <a:lnSpc>
                    <a:spcPct val="120000"/>
                  </a:lnSpc>
                </a:pPr>
                <a:r>
                  <a:rPr lang="zh-CN" altLang="zh-CN" sz="3600"/>
                  <a:t>（</a:t>
                </a:r>
                <a:r>
                  <a:rPr lang="en-US" altLang="zh-CN" sz="3600"/>
                  <a:t>6</a:t>
                </a:r>
                <a:r>
                  <a:rPr lang="zh-CN" altLang="zh-CN" sz="3600"/>
                  <a:t>）计算整数</a:t>
                </a:r>
                <a14:m>
                  <m:oMath xmlns:m="http://schemas.openxmlformats.org/officeDocument/2006/math">
                    <m:sSub>
                      <m:sSubPr>
                        <m:ctrlPr>
                          <a:rPr lang="zh-CN" altLang="zh-CN" sz="3200" i="1"/>
                        </m:ctrlPr>
                      </m:sSubPr>
                      <m:e>
                        <m:r>
                          <a:rPr lang="en-US" altLang="zh-CN" sz="3200" i="1">
                            <a:latin typeface="Cambria Math" panose="02040503050406030204" pitchFamily="18" charset="0"/>
                          </a:rPr>
                          <m:t>ℎ</m:t>
                        </m:r>
                      </m:e>
                      <m:sub>
                        <m:r>
                          <a:rPr lang="en-US" altLang="zh-CN" sz="3200" i="1">
                            <a:latin typeface="Cambria Math" panose="02040503050406030204" pitchFamily="18" charset="0"/>
                          </a:rPr>
                          <m:t>2</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𝐻</m:t>
                        </m:r>
                      </m:e>
                      <m:sub>
                        <m:r>
                          <a:rPr lang="en-US" altLang="zh-CN" sz="3200" i="1">
                            <a:latin typeface="Cambria Math" panose="02040503050406030204" pitchFamily="18" charset="0"/>
                          </a:rPr>
                          <m:t>2</m:t>
                        </m:r>
                      </m:sub>
                    </m:sSub>
                    <m:d>
                      <m:dPr>
                        <m:ctrlPr>
                          <a:rPr lang="zh-CN" altLang="zh-CN" sz="3200" i="1"/>
                        </m:ctrlPr>
                      </m:dPr>
                      <m:e>
                        <m:sSup>
                          <m:sSupPr>
                            <m:ctrlPr>
                              <a:rPr lang="zh-CN" altLang="zh-CN" sz="3200" i="1"/>
                            </m:ctrlPr>
                          </m:sSupPr>
                          <m:e>
                            <m:r>
                              <a:rPr lang="en-US" altLang="zh-CN" sz="3200" i="1">
                                <a:latin typeface="Cambria Math" panose="02040503050406030204" pitchFamily="18" charset="0"/>
                              </a:rPr>
                              <m:t>𝑀</m:t>
                            </m:r>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𝑤</m:t>
                            </m:r>
                          </m:e>
                          <m:sup>
                            <m:r>
                              <a:rPr lang="en-US" altLang="zh-CN" sz="3200" i="1">
                                <a:latin typeface="Cambria Math" panose="02040503050406030204" pitchFamily="18" charset="0"/>
                              </a:rPr>
                              <m:t>′</m:t>
                            </m:r>
                          </m:sup>
                        </m:sSup>
                        <m:r>
                          <a:rPr lang="zh-CN" altLang="zh-CN" sz="3200" i="1">
                            <a:latin typeface="Cambria Math" panose="02040503050406030204" pitchFamily="18" charset="0"/>
                          </a:rPr>
                          <m:t>，</m:t>
                        </m:r>
                        <m:r>
                          <a:rPr lang="en-US" altLang="zh-CN" sz="3200" i="1">
                            <a:latin typeface="Cambria Math" panose="02040503050406030204" pitchFamily="18" charset="0"/>
                          </a:rPr>
                          <m:t>𝑁</m:t>
                        </m:r>
                      </m:e>
                    </m:d>
                  </m:oMath>
                </a14:m>
                <a:r>
                  <a:rPr lang="zh-CN" altLang="zh-CN" sz="3600"/>
                  <a:t>，检验</a:t>
                </a:r>
                <a14:m>
                  <m:oMath xmlns:m="http://schemas.openxmlformats.org/officeDocument/2006/math">
                    <m:sSub>
                      <m:sSubPr>
                        <m:ctrlPr>
                          <a:rPr lang="zh-CN" altLang="zh-CN" sz="3200" i="1"/>
                        </m:ctrlPr>
                      </m:sSubPr>
                      <m:e>
                        <m:r>
                          <a:rPr lang="en-US" altLang="zh-CN" sz="3200" i="1">
                            <a:latin typeface="Cambria Math" panose="02040503050406030204" pitchFamily="18" charset="0"/>
                          </a:rPr>
                          <m:t>ℎ</m:t>
                        </m:r>
                      </m:e>
                      <m:sub>
                        <m:r>
                          <a:rPr lang="en-US" altLang="zh-CN" sz="3200" i="1">
                            <a:latin typeface="Cambria Math" panose="02040503050406030204" pitchFamily="18" charset="0"/>
                          </a:rPr>
                          <m:t>2</m:t>
                        </m:r>
                      </m:sub>
                    </m:sSub>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ℎ</m:t>
                        </m:r>
                      </m:e>
                      <m:sup>
                        <m:r>
                          <a:rPr lang="en-US" altLang="zh-CN" sz="3200" i="1">
                            <a:latin typeface="Cambria Math" panose="02040503050406030204" pitchFamily="18" charset="0"/>
                          </a:rPr>
                          <m:t>′</m:t>
                        </m:r>
                      </m:sup>
                    </m:sSup>
                  </m:oMath>
                </a14:m>
                <a:r>
                  <a:rPr lang="zh-CN" altLang="zh-CN" sz="3600"/>
                  <a:t>是否成立，若成立则验证通过；否则验证不通过。</a:t>
                </a:r>
                <a:endParaRPr lang="zh-CN" altLang="zh-CN" sz="3600"/>
              </a:p>
            </p:txBody>
          </p:sp>
        </mc:Choice>
        <mc:Fallback>
          <p:sp>
            <p:nvSpPr>
              <p:cNvPr id="6" name="TextBox 29"/>
              <p:cNvSpPr txBox="1">
                <a:spLocks noRot="1" noChangeAspect="1" noMove="1" noResize="1" noEditPoints="1" noAdjustHandles="1" noChangeArrowheads="1" noChangeShapeType="1" noTextEdit="1"/>
              </p:cNvSpPr>
              <p:nvPr/>
            </p:nvSpPr>
            <p:spPr>
              <a:xfrm>
                <a:off x="1734904" y="1689394"/>
                <a:ext cx="14818191" cy="6957930"/>
              </a:xfrm>
              <a:prstGeom prst="rect">
                <a:avLst/>
              </a:prstGeom>
              <a:blipFill rotWithShape="1">
                <a:blip r:embed="rId1"/>
                <a:stretch>
                  <a:fillRect l="-1" t="-4" r="-2233" b="-1754"/>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6" name="TextBox 30"/>
          <p:cNvSpPr txBox="1"/>
          <p:nvPr/>
        </p:nvSpPr>
        <p:spPr>
          <a:xfrm>
            <a:off x="2667000"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en-US" altLang="zh-CN"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SM9</a:t>
            </a:r>
            <a:r>
              <a:rPr kumimoji="0" lang="zh-CN" altLang="en-US"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465093"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.4</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29"/>
              <p:cNvSpPr txBox="1"/>
              <p:nvPr/>
            </p:nvSpPr>
            <p:spPr>
              <a:xfrm>
                <a:off x="1465093" y="1409700"/>
                <a:ext cx="15574453" cy="5535746"/>
              </a:xfrm>
              <a:prstGeom prst="rect">
                <a:avLst/>
              </a:prstGeom>
            </p:spPr>
            <p:txBody>
              <a:bodyPr wrap="square" lIns="0" tIns="0" rIns="0" bIns="0" rtlCol="0" anchor="t">
                <a:spAutoFit/>
              </a:bodyPr>
              <a:lstStyle/>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正确性及安全性分析</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由签名验证过程可知，验证通过的条件是</a:t>
                </a:r>
                <a14:m>
                  <m:oMath xmlns:m="http://schemas.openxmlformats.org/officeDocument/2006/math">
                    <m:sSub>
                      <m:sSubPr>
                        <m:ctrlPr>
                          <a:rPr lang="zh-CN" altLang="zh-CN" sz="3200" i="1"/>
                        </m:ctrlPr>
                      </m:sSubPr>
                      <m:e>
                        <m:r>
                          <a:rPr lang="en-US" altLang="zh-CN" sz="3200" i="1">
                            <a:latin typeface="Cambria Math" panose="02040503050406030204" pitchFamily="18" charset="0"/>
                          </a:rPr>
                          <m:t>ℎ</m:t>
                        </m:r>
                      </m:e>
                      <m:sub>
                        <m:r>
                          <a:rPr lang="en-US" altLang="zh-CN" sz="3200" i="1">
                            <a:latin typeface="Cambria Math" panose="02040503050406030204" pitchFamily="18" charset="0"/>
                          </a:rPr>
                          <m:t>2</m:t>
                        </m:r>
                      </m:sub>
                    </m:sSub>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ℎ</m:t>
                        </m:r>
                      </m:e>
                      <m:sup>
                        <m:r>
                          <a:rPr lang="en-US" altLang="zh-CN" sz="3200" i="1">
                            <a:latin typeface="Cambria Math" panose="02040503050406030204" pitchFamily="18" charset="0"/>
                          </a:rPr>
                          <m:t>′</m:t>
                        </m:r>
                      </m:sup>
                    </m:sSup>
                  </m:oMath>
                </a14:m>
                <a:r>
                  <a:rPr lang="zh-CN" altLang="zh-CN" sz="3600"/>
                  <a:t>，而</a:t>
                </a:r>
                <a14:m>
                  <m:oMath xmlns:m="http://schemas.openxmlformats.org/officeDocument/2006/math">
                    <m:r>
                      <a:rPr lang="en-US" altLang="zh-CN" sz="3200" i="1">
                        <a:latin typeface="Cambria Math" panose="02040503050406030204" pitchFamily="18" charset="0"/>
                      </a:rPr>
                      <m:t>ℎ</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𝐻</m:t>
                        </m:r>
                      </m:e>
                      <m:sub>
                        <m:r>
                          <a:rPr lang="en-US" altLang="zh-CN" sz="3200" i="1">
                            <a:latin typeface="Cambria Math" panose="02040503050406030204" pitchFamily="18" charset="0"/>
                          </a:rPr>
                          <m:t>2</m:t>
                        </m:r>
                      </m:sub>
                    </m:sSub>
                    <m:r>
                      <a:rPr lang="en-US" altLang="zh-CN" sz="3200" i="1">
                        <a:latin typeface="Cambria Math" panose="02040503050406030204" pitchFamily="18" charset="0"/>
                      </a:rPr>
                      <m:t>(</m:t>
                    </m:r>
                    <m:r>
                      <a:rPr lang="en-US" altLang="zh-CN" sz="3200" i="1">
                        <a:latin typeface="Cambria Math" panose="02040503050406030204" pitchFamily="18" charset="0"/>
                      </a:rPr>
                      <m:t>𝑀</m:t>
                    </m:r>
                    <m:r>
                      <a:rPr lang="en-US" altLang="zh-CN" sz="3200" i="1">
                        <a:latin typeface="Cambria Math" panose="02040503050406030204" pitchFamily="18" charset="0"/>
                      </a:rPr>
                      <m:t>‖</m:t>
                    </m:r>
                    <m:r>
                      <a:rPr lang="en-US" altLang="zh-CN" sz="3200" i="1">
                        <a:latin typeface="Cambria Math" panose="02040503050406030204" pitchFamily="18" charset="0"/>
                      </a:rPr>
                      <m:t>𝑤</m:t>
                    </m:r>
                    <m:r>
                      <a:rPr lang="zh-CN" altLang="zh-CN" sz="3200" i="1">
                        <a:latin typeface="Cambria Math" panose="02040503050406030204" pitchFamily="18" charset="0"/>
                      </a:rPr>
                      <m:t>，</m:t>
                    </m:r>
                    <m:r>
                      <a:rPr lang="en-US" altLang="zh-CN" sz="3200" i="1">
                        <a:latin typeface="Cambria Math" panose="02040503050406030204" pitchFamily="18" charset="0"/>
                      </a:rPr>
                      <m:t>𝑁</m:t>
                    </m:r>
                    <m:r>
                      <a:rPr lang="en-US" altLang="zh-CN" sz="3200" i="1">
                        <a:latin typeface="Cambria Math" panose="02040503050406030204" pitchFamily="18" charset="0"/>
                      </a:rPr>
                      <m:t>)</m:t>
                    </m:r>
                  </m:oMath>
                </a14:m>
                <a:r>
                  <a:rPr lang="zh-CN" altLang="zh-CN" sz="3200"/>
                  <a:t>，</a:t>
                </a:r>
                <a14:m>
                  <m:oMath xmlns:m="http://schemas.openxmlformats.org/officeDocument/2006/math">
                    <m:sSub>
                      <m:sSubPr>
                        <m:ctrlPr>
                          <a:rPr lang="zh-CN" altLang="zh-CN" sz="3200" i="1"/>
                        </m:ctrlPr>
                      </m:sSubPr>
                      <m:e>
                        <m:r>
                          <a:rPr lang="en-US" altLang="zh-CN" sz="3200" i="1">
                            <a:latin typeface="Cambria Math" panose="02040503050406030204" pitchFamily="18" charset="0"/>
                          </a:rPr>
                          <m:t>ℎ</m:t>
                        </m:r>
                      </m:e>
                      <m:sub>
                        <m:r>
                          <a:rPr lang="en-US" altLang="zh-CN" sz="3200" i="1">
                            <a:latin typeface="Cambria Math" panose="02040503050406030204" pitchFamily="18" charset="0"/>
                          </a:rPr>
                          <m:t>2</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𝐻</m:t>
                        </m:r>
                      </m:e>
                      <m:sub>
                        <m:r>
                          <a:rPr lang="en-US" altLang="zh-CN" sz="3200" i="1">
                            <a:latin typeface="Cambria Math" panose="02040503050406030204" pitchFamily="18" charset="0"/>
                          </a:rPr>
                          <m:t>2</m:t>
                        </m:r>
                      </m:sub>
                    </m:sSub>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𝑀</m:t>
                        </m:r>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𝑤</m:t>
                        </m:r>
                      </m:e>
                      <m:sup>
                        <m:r>
                          <a:rPr lang="en-US" altLang="zh-CN" sz="3200" i="1">
                            <a:latin typeface="Cambria Math" panose="02040503050406030204" pitchFamily="18" charset="0"/>
                          </a:rPr>
                          <m:t>′</m:t>
                        </m:r>
                      </m:sup>
                    </m:sSup>
                    <m:r>
                      <a:rPr lang="zh-CN" altLang="zh-CN" sz="3200" i="1">
                        <a:latin typeface="Cambria Math" panose="02040503050406030204" pitchFamily="18" charset="0"/>
                      </a:rPr>
                      <m:t>，</m:t>
                    </m:r>
                    <m:r>
                      <a:rPr lang="en-US" altLang="zh-CN" sz="3200" i="1">
                        <a:latin typeface="Cambria Math" panose="02040503050406030204" pitchFamily="18" charset="0"/>
                      </a:rPr>
                      <m:t>𝑁</m:t>
                    </m:r>
                    <m:r>
                      <a:rPr lang="en-US" altLang="zh-CN" sz="32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，由密码函数    的定义可知，验证通过的条件实际上就是检验</a:t>
                </a:r>
                <a14:m>
                  <m:oMath xmlns:m="http://schemas.openxmlformats.org/officeDocument/2006/math">
                    <m:r>
                      <a:rPr lang="en-US" altLang="zh-CN" sz="3200" i="1">
                        <a:latin typeface="Cambria Math" panose="02040503050406030204" pitchFamily="18" charset="0"/>
                      </a:rPr>
                      <m:t>𝑤</m:t>
                    </m:r>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𝑤</m:t>
                        </m:r>
                      </m:e>
                      <m:sup>
                        <m:r>
                          <a:rPr lang="en-US" altLang="zh-CN" sz="3200" i="1">
                            <a:latin typeface="Cambria Math" panose="02040503050406030204" pitchFamily="18" charset="0"/>
                          </a:rPr>
                          <m:t>′</m:t>
                        </m:r>
                      </m:sup>
                    </m:sSup>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是否成立。</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在数字签名生成算法中有</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pPr>
                <a14:m>
                  <m:oMathPara xmlns:m="http://schemas.openxmlformats.org/officeDocument/2006/math">
                    <m:oMathParaPr>
                      <m:jc m:val="centerGroup"/>
                    </m:oMathParaPr>
                    <m:oMath xmlns:m="http://schemas.openxmlformats.org/officeDocument/2006/math">
                      <m:r>
                        <a:rPr lang="en-US" altLang="zh-CN" sz="3200" i="1">
                          <a:latin typeface="Cambria Math" panose="02040503050406030204" pitchFamily="18" charset="0"/>
                        </a:rPr>
                        <m:t>𝑤</m:t>
                      </m:r>
                      <m:r>
                        <a:rPr lang="en-US" altLang="zh-CN" sz="3200" i="1">
                          <a:latin typeface="Cambria Math" panose="02040503050406030204" pitchFamily="18" charset="0"/>
                        </a:rPr>
                        <m:t>=</m:t>
                      </m:r>
                      <m:sSup>
                        <m:sSupPr>
                          <m:ctrlPr>
                            <a:rPr lang="zh-CN" altLang="zh-CN" sz="3200" i="1"/>
                          </m:ctrlPr>
                        </m:sSupPr>
                        <m:e>
                          <m:r>
                            <m:rPr>
                              <m:sty m:val="p"/>
                            </m:rPr>
                            <a:rPr lang="en-US" altLang="zh-CN" sz="3200" i="1" smtClean="0">
                              <a:latin typeface="Cambria Math" panose="02040503050406030204" pitchFamily="18" charset="0"/>
                            </a:rPr>
                            <m:t>g</m:t>
                          </m:r>
                        </m:e>
                        <m:sup>
                          <m:r>
                            <a:rPr lang="en-US" altLang="zh-CN" sz="3200" i="1">
                              <a:latin typeface="Cambria Math" panose="02040503050406030204" pitchFamily="18" charset="0"/>
                            </a:rPr>
                            <m:t>𝑟</m:t>
                          </m:r>
                        </m:sup>
                      </m:sSup>
                      <m:r>
                        <a:rPr lang="en-US" altLang="zh-CN" sz="3200" i="1">
                          <a:latin typeface="Cambria Math" panose="02040503050406030204" pitchFamily="18" charset="0"/>
                        </a:rPr>
                        <m:t>=</m:t>
                      </m:r>
                      <m:r>
                        <a:rPr lang="en-US" altLang="zh-CN" sz="3200" i="1">
                          <a:latin typeface="Cambria Math" panose="02040503050406030204" pitchFamily="18" charset="0"/>
                        </a:rPr>
                        <m:t>𝑒</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1</m:t>
                          </m:r>
                        </m:sub>
                      </m:sSub>
                      <m:r>
                        <a:rPr lang="zh-CN"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m:rPr>
                              <m:nor/>
                            </m:rPr>
                            <a:rPr lang="en-US" altLang="zh-CN" sz="3200">
                              <a:latin typeface="Cambria Math" panose="02040503050406030204" pitchFamily="18" charset="0"/>
                            </a:rPr>
                            <m:t>pub</m:t>
                          </m:r>
                          <m:r>
                            <a:rPr lang="en-US" altLang="zh-CN" sz="3200" i="1">
                              <a:latin typeface="Cambria Math" panose="02040503050406030204" pitchFamily="18" charset="0"/>
                            </a:rPr>
                            <m:t>−</m:t>
                          </m:r>
                          <m:r>
                            <a:rPr lang="en-US" altLang="zh-CN" sz="3200" i="1">
                              <a:latin typeface="Cambria Math" panose="02040503050406030204" pitchFamily="18" charset="0"/>
                            </a:rPr>
                            <m:t>𝑠</m:t>
                          </m:r>
                        </m:sub>
                      </m:sSub>
                      <m:sSup>
                        <m:sSupPr>
                          <m:ctrlPr>
                            <a:rPr lang="zh-CN" altLang="zh-CN" sz="3200" i="1"/>
                          </m:ctrlPr>
                        </m:sSupPr>
                        <m:e>
                          <m:r>
                            <a:rPr lang="en-US" altLang="zh-CN" sz="3200" i="1">
                              <a:latin typeface="Cambria Math" panose="02040503050406030204" pitchFamily="18" charset="0"/>
                            </a:rPr>
                            <m:t>)</m:t>
                          </m:r>
                        </m:e>
                        <m:sup>
                          <m:r>
                            <a:rPr lang="en-US" altLang="zh-CN" sz="3200" i="1">
                              <a:latin typeface="Cambria Math" panose="02040503050406030204" pitchFamily="18" charset="0"/>
                            </a:rPr>
                            <m:t>𝑟</m:t>
                          </m:r>
                        </m:sup>
                      </m:sSup>
                      <m:r>
                        <a:rPr lang="en-US" altLang="zh-CN" sz="3200" i="1">
                          <a:latin typeface="Cambria Math" panose="02040503050406030204" pitchFamily="18" charset="0"/>
                        </a:rPr>
                        <m:t>=</m:t>
                      </m:r>
                      <m:r>
                        <a:rPr lang="en-US" altLang="zh-CN" sz="3200" i="1">
                          <a:latin typeface="Cambria Math" panose="02040503050406030204" pitchFamily="18" charset="0"/>
                        </a:rPr>
                        <m:t>𝑒</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1</m:t>
                          </m:r>
                        </m:sub>
                      </m:sSub>
                      <m:r>
                        <a:rPr lang="zh-CN"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2</m:t>
                          </m:r>
                        </m:sub>
                      </m:sSub>
                      <m:sSup>
                        <m:sSupPr>
                          <m:ctrlPr>
                            <a:rPr lang="zh-CN" altLang="zh-CN" sz="3200" i="1"/>
                          </m:ctrlPr>
                        </m:sSupPr>
                        <m:e>
                          <m:r>
                            <a:rPr lang="en-US" altLang="zh-CN" sz="3200" i="1">
                              <a:latin typeface="Cambria Math" panose="02040503050406030204" pitchFamily="18" charset="0"/>
                            </a:rPr>
                            <m:t>)</m:t>
                          </m:r>
                        </m:e>
                        <m:sup>
                          <m:r>
                            <m:rPr>
                              <m:nor/>
                            </m:rPr>
                            <a:rPr lang="en-US" altLang="zh-CN" sz="3200">
                              <a:latin typeface="Cambria Math" panose="02040503050406030204" pitchFamily="18" charset="0"/>
                            </a:rPr>
                            <m:t>ks</m:t>
                          </m:r>
                          <m:r>
                            <a:rPr lang="en-US" altLang="zh-CN" sz="3200">
                              <a:latin typeface="Cambria Math" panose="02040503050406030204" pitchFamily="18" charset="0"/>
                            </a:rPr>
                            <m:t>⋅</m:t>
                          </m:r>
                          <m:r>
                            <a:rPr lang="en-US" altLang="zh-CN" sz="3200" i="1">
                              <a:latin typeface="Cambria Math" panose="02040503050406030204" pitchFamily="18" charset="0"/>
                            </a:rPr>
                            <m:t>𝑟</m:t>
                          </m:r>
                        </m:sup>
                      </m:sSup>
                    </m:oMath>
                  </m:oMathPara>
                </a14:m>
                <a:endParaRPr lang="zh-CN" altLang="en-US" sz="32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根据数字签名验证算法有</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algn="just" latinLnBrk="1">
                  <a:lnSpc>
                    <a:spcPct val="120000"/>
                  </a:lnSpc>
                </a:pPr>
                <a14:m>
                  <m:oMathPara xmlns:m="http://schemas.openxmlformats.org/officeDocument/2006/math">
                    <m:oMathParaPr>
                      <m:jc m:val="centerGroup"/>
                    </m:oMathParaPr>
                    <m:oMath xmlns:m="http://schemas.openxmlformats.org/officeDocument/2006/math">
                      <m:sSup>
                        <m:sSupPr>
                          <m:ctrlPr>
                            <a:rPr lang="zh-CN" altLang="zh-CN" sz="3200" i="1"/>
                          </m:ctrlPr>
                        </m:sSupPr>
                        <m:e>
                          <m:r>
                            <a:rPr lang="en-US" altLang="zh-CN" sz="3200" i="1">
                              <a:latin typeface="Cambria Math" panose="02040503050406030204" pitchFamily="18" charset="0"/>
                            </a:rPr>
                            <m:t>𝑤</m:t>
                          </m:r>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r>
                        <a:rPr lang="en-US" altLang="zh-CN" sz="3200" i="1">
                          <a:latin typeface="Cambria Math" panose="02040503050406030204" pitchFamily="18" charset="0"/>
                        </a:rPr>
                        <m:t>𝑢𝑡</m:t>
                      </m:r>
                      <m:r>
                        <a:rPr lang="en-US" altLang="zh-CN" sz="3200" i="1">
                          <a:latin typeface="Cambria Math" panose="02040503050406030204" pitchFamily="18" charset="0"/>
                        </a:rPr>
                        <m:t>=</m:t>
                      </m:r>
                      <m:r>
                        <a:rPr lang="en-US" altLang="zh-CN" sz="3200" i="1">
                          <a:latin typeface="Cambria Math" panose="02040503050406030204" pitchFamily="18" charset="0"/>
                        </a:rPr>
                        <m:t>𝑒</m:t>
                      </m:r>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𝑠</m:t>
                          </m:r>
                        </m:e>
                        <m:sup>
                          <m:r>
                            <a:rPr lang="en-US" altLang="zh-CN" sz="3200" i="1">
                              <a:latin typeface="Cambria Math" panose="02040503050406030204" pitchFamily="18" charset="0"/>
                            </a:rPr>
                            <m:t>′</m:t>
                          </m:r>
                        </m:sup>
                      </m:sSup>
                      <m:r>
                        <a:rPr lang="zh-CN" altLang="zh-CN" sz="3200" i="1">
                          <a:latin typeface="Cambria Math" panose="02040503050406030204" pitchFamily="18" charset="0"/>
                        </a:rPr>
                        <m:t>，</m:t>
                      </m:r>
                      <m:r>
                        <a:rPr lang="en-US" altLang="zh-CN" sz="3200" i="1">
                          <a:latin typeface="Cambria Math" panose="02040503050406030204" pitchFamily="18" charset="0"/>
                        </a:rPr>
                        <m:t>𝑃</m:t>
                      </m:r>
                      <m:r>
                        <a:rPr lang="en-US" altLang="zh-CN" sz="3200" i="1">
                          <a:latin typeface="Cambria Math" panose="02040503050406030204" pitchFamily="18" charset="0"/>
                        </a:rPr>
                        <m:t>)</m:t>
                      </m:r>
                      <m:sSup>
                        <m:sSupPr>
                          <m:ctrlPr>
                            <a:rPr lang="zh-CN" altLang="zh-CN" sz="3200" i="1"/>
                          </m:ctrlPr>
                        </m:sSupPr>
                        <m:e>
                          <m:r>
                            <m:rPr>
                              <m:sty m:val="p"/>
                            </m:rPr>
                            <a:rPr lang="en-US" altLang="zh-CN" sz="3200" i="1" smtClean="0">
                              <a:latin typeface="Cambria Math" panose="02040503050406030204" pitchFamily="18" charset="0"/>
                            </a:rPr>
                            <m:t>g</m:t>
                          </m:r>
                        </m:e>
                        <m:sup>
                          <m:sSup>
                            <m:sSupPr>
                              <m:ctrlPr>
                                <a:rPr lang="zh-CN" altLang="zh-CN" sz="3200" i="1"/>
                              </m:ctrlPr>
                            </m:sSupPr>
                            <m:e>
                              <m:r>
                                <a:rPr lang="en-US" altLang="zh-CN" sz="3200" i="1">
                                  <a:latin typeface="Cambria Math" panose="02040503050406030204" pitchFamily="18" charset="0"/>
                                </a:rPr>
                                <m:t>ℎ</m:t>
                              </m:r>
                            </m:e>
                            <m:sup>
                              <m:r>
                                <a:rPr lang="en-US" altLang="zh-CN" sz="3200" i="1">
                                  <a:latin typeface="Cambria Math" panose="02040503050406030204" pitchFamily="18" charset="0"/>
                                </a:rPr>
                                <m:t>′</m:t>
                              </m:r>
                            </m:sup>
                          </m:sSup>
                        </m:sup>
                      </m:sSup>
                    </m:oMath>
                  </m:oMathPara>
                </a14:m>
                <a:endParaRPr lang="zh-CN" altLang="zh-CN" sz="3200"/>
              </a:p>
            </p:txBody>
          </p:sp>
        </mc:Choice>
        <mc:Fallback>
          <p:sp>
            <p:nvSpPr>
              <p:cNvPr id="6" name="TextBox 29"/>
              <p:cNvSpPr txBox="1">
                <a:spLocks noRot="1" noChangeAspect="1" noMove="1" noResize="1" noEditPoints="1" noAdjustHandles="1" noChangeArrowheads="1" noChangeShapeType="1" noTextEdit="1"/>
              </p:cNvSpPr>
              <p:nvPr/>
            </p:nvSpPr>
            <p:spPr>
              <a:xfrm>
                <a:off x="1465093" y="1409700"/>
                <a:ext cx="15574453" cy="5535746"/>
              </a:xfrm>
              <a:prstGeom prst="rect">
                <a:avLst/>
              </a:prstGeom>
              <a:blipFill rotWithShape="1">
                <a:blip r:embed="rId1"/>
                <a:stretch>
                  <a:fillRect l="-1" r="4" b="-1804"/>
                </a:stretch>
              </a:blipFill>
            </p:spPr>
            <p:txBody>
              <a:bodyPr/>
              <a:lstStyle/>
              <a:p>
                <a:r>
                  <a:rPr lang="zh-CN" altLang="en-US">
                    <a:noFill/>
                  </a:rPr>
                  <a:t> </a:t>
                </a:r>
              </a:p>
            </p:txBody>
          </p:sp>
        </mc:Fallback>
      </mc:AlternateContent>
      <p:sp>
        <p:nvSpPr>
          <p:cNvPr id="9" name="灯片编号占位符 8"/>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6" name="组合 15"/>
          <p:cNvGrpSpPr/>
          <p:nvPr/>
        </p:nvGrpSpPr>
        <p:grpSpPr>
          <a:xfrm>
            <a:off x="13639786" y="733421"/>
            <a:ext cx="3700052" cy="416951"/>
            <a:chOff x="13811849" y="507954"/>
            <a:chExt cx="3700052" cy="416951"/>
          </a:xfrm>
        </p:grpSpPr>
        <p:sp>
          <p:nvSpPr>
            <p:cNvPr id="17" name="文本框 16"/>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8" name="图片 17"/>
            <p:cNvPicPr>
              <a:picLocks noChangeAspect="1"/>
            </p:cNvPicPr>
            <p:nvPr/>
          </p:nvPicPr>
          <p:blipFill>
            <a:blip r:embed="rId2"/>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9" name="TextBox 30"/>
          <p:cNvSpPr txBox="1"/>
          <p:nvPr/>
        </p:nvSpPr>
        <p:spPr>
          <a:xfrm>
            <a:off x="2667000"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en-US" altLang="zh-CN"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SM9</a:t>
            </a:r>
            <a:r>
              <a:rPr kumimoji="0" lang="zh-CN" altLang="en-US"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20" name="TextBox 31"/>
          <p:cNvSpPr txBox="1"/>
          <p:nvPr/>
        </p:nvSpPr>
        <p:spPr>
          <a:xfrm>
            <a:off x="1465093"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.4</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21"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aphicFrame>
        <p:nvGraphicFramePr>
          <p:cNvPr id="25" name="对象 24"/>
          <p:cNvGraphicFramePr>
            <a:graphicFrameLocks noChangeAspect="1"/>
          </p:cNvGraphicFramePr>
          <p:nvPr/>
        </p:nvGraphicFramePr>
        <p:xfrm>
          <a:off x="7772400" y="2776998"/>
          <a:ext cx="664686" cy="664686"/>
        </p:xfrm>
        <a:graphic>
          <a:graphicData uri="http://schemas.openxmlformats.org/presentationml/2006/ole">
            <mc:AlternateContent xmlns:mc="http://schemas.openxmlformats.org/markup-compatibility/2006">
              <mc:Choice xmlns:v="urn:schemas-microsoft-com:vml" Requires="v">
                <p:oleObj spid="_x0000_s0" name="" r:id="rId4" imgW="190500" imgH="190500" progId="Equation.DSMT4">
                  <p:embed/>
                </p:oleObj>
              </mc:Choice>
              <mc:Fallback>
                <p:oleObj name="" r:id="rId4" imgW="190500" imgH="190500" progId="Equation.DSMT4">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2400" y="2776998"/>
                        <a:ext cx="664686" cy="664686"/>
                      </a:xfrm>
                      <a:prstGeom prst="rect">
                        <a:avLst/>
                      </a:prstGeom>
                      <a:noFill/>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 name="TextBox 30"/>
          <p:cNvSpPr txBox="1"/>
          <p:nvPr/>
        </p:nvSpPr>
        <p:spPr>
          <a:xfrm>
            <a:off x="2667000"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en-US" altLang="zh-CN"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SM9</a:t>
            </a:r>
            <a:r>
              <a:rPr kumimoji="0" lang="zh-CN" altLang="en-US" sz="4000" b="1"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数字签名方案</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465093" y="429424"/>
            <a:ext cx="1049507" cy="775918"/>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a:t>
            </a: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3</a:t>
            </a:r>
            <a:r>
              <a:rPr kumimoji="0" lang="en-US" sz="4695" b="0" i="0" u="none" strike="noStrike" kern="1200" cap="none" spc="0" normalizeH="0" baseline="0" noProof="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.4</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mc:AlternateContent xmlns:mc="http://schemas.openxmlformats.org/markup-compatibility/2006">
        <mc:Choice xmlns:a14="http://schemas.microsoft.com/office/drawing/2010/main" Requires="a14">
          <p:sp>
            <p:nvSpPr>
              <p:cNvPr id="26" name="文本框 25"/>
              <p:cNvSpPr txBox="1"/>
              <p:nvPr/>
            </p:nvSpPr>
            <p:spPr>
              <a:xfrm>
                <a:off x="1374592" y="1894886"/>
                <a:ext cx="14856007" cy="6723957"/>
              </a:xfrm>
              <a:prstGeom prst="rect">
                <a:avLst/>
              </a:prstGeom>
              <a:noFill/>
            </p:spPr>
            <p:txBody>
              <a:bodyPr wrap="square">
                <a:spAutoFit/>
              </a:bodyPr>
              <a:lstStyle/>
              <a:p>
                <a:pPr indent="914400">
                  <a:lnSpc>
                    <a:spcPct val="120000"/>
                  </a:lnSpc>
                </a:pPr>
                <a:r>
                  <a:rPr lang="zh-CN" altLang="zh-CN" sz="3600"/>
                  <a:t>假设</a:t>
                </a:r>
                <a14:m>
                  <m:oMath xmlns:m="http://schemas.openxmlformats.org/officeDocument/2006/math">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ℎ</m:t>
                        </m:r>
                      </m:e>
                      <m:sup>
                        <m:r>
                          <a:rPr lang="en-US" altLang="zh-CN" sz="3200" i="1">
                            <a:latin typeface="Cambria Math" panose="02040503050406030204" pitchFamily="18" charset="0"/>
                          </a:rPr>
                          <m:t>′</m:t>
                        </m:r>
                      </m:sup>
                    </m:sSup>
                    <m:r>
                      <a:rPr lang="zh-CN"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𝑠</m:t>
                        </m:r>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oMath>
                </a14:m>
                <a:r>
                  <a:rPr lang="zh-CN" altLang="zh-CN" sz="3600"/>
                  <a:t>为</a:t>
                </a:r>
                <a:r>
                  <a:rPr lang="en-US" altLang="zh-CN" sz="3200" i="1"/>
                  <a:t>m</a:t>
                </a:r>
                <a:r>
                  <a:rPr lang="zh-CN" altLang="zh-CN" sz="3600"/>
                  <a:t>的数字签名，那么</a:t>
                </a:r>
                <a14:m>
                  <m:oMath xmlns:m="http://schemas.openxmlformats.org/officeDocument/2006/math">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ℎ</m:t>
                        </m:r>
                      </m:e>
                      <m:sup>
                        <m:r>
                          <a:rPr lang="en-US" altLang="zh-CN" sz="3200" i="1">
                            <a:latin typeface="Cambria Math" panose="02040503050406030204" pitchFamily="18" charset="0"/>
                          </a:rPr>
                          <m:t>′</m:t>
                        </m:r>
                      </m:sup>
                    </m:sSup>
                    <m:r>
                      <a:rPr lang="en-US" altLang="zh-CN" sz="3200" i="1">
                        <a:latin typeface="Cambria Math" panose="02040503050406030204" pitchFamily="18" charset="0"/>
                      </a:rPr>
                      <m:t> </m:t>
                    </m:r>
                    <m:r>
                      <a:rPr lang="zh-CN"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𝑠</m:t>
                        </m:r>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r>
                      <a:rPr lang="en-US" altLang="zh-CN" sz="3200" i="1">
                        <a:latin typeface="Cambria Math" panose="02040503050406030204" pitchFamily="18" charset="0"/>
                      </a:rPr>
                      <m:t>ℎ</m:t>
                    </m:r>
                    <m:r>
                      <a:rPr lang="zh-CN" altLang="zh-CN" sz="3200" i="1">
                        <a:latin typeface="Cambria Math" panose="02040503050406030204" pitchFamily="18" charset="0"/>
                      </a:rPr>
                      <m:t>，</m:t>
                    </m:r>
                    <m:r>
                      <a:rPr lang="en-US" altLang="zh-CN" sz="3200" i="1">
                        <a:latin typeface="Cambria Math" panose="02040503050406030204" pitchFamily="18" charset="0"/>
                      </a:rPr>
                      <m:t>𝑠</m:t>
                    </m:r>
                    <m:r>
                      <a:rPr lang="en-US" altLang="zh-CN" sz="3200" i="1">
                        <a:latin typeface="Cambria Math" panose="02040503050406030204" pitchFamily="18" charset="0"/>
                      </a:rPr>
                      <m:t>)</m:t>
                    </m:r>
                  </m:oMath>
                </a14:m>
                <a:r>
                  <a:rPr lang="zh-CN" altLang="zh-CN" sz="3600"/>
                  <a:t>，因此</a:t>
                </a:r>
                <a:endParaRPr lang="zh-CN" altLang="zh-CN" sz="3600"/>
              </a:p>
              <a:p>
                <a:pPr indent="914400">
                  <a:lnSpc>
                    <a:spcPct val="120000"/>
                  </a:lnSpc>
                </a:pPr>
                <a14:m>
                  <m:oMath xmlns:m="http://schemas.openxmlformats.org/officeDocument/2006/math">
                    <m:sSup>
                      <m:sSupPr>
                        <m:ctrlPr>
                          <a:rPr lang="zh-CN" altLang="zh-CN" sz="3200" i="1"/>
                        </m:ctrlPr>
                      </m:sSupPr>
                      <m:e>
                        <m:r>
                          <a:rPr lang="en-US" altLang="zh-CN" sz="3200" i="1">
                            <a:latin typeface="Cambria Math" panose="02040503050406030204" pitchFamily="18" charset="0"/>
                          </a:rPr>
                          <m:t>𝑠</m:t>
                        </m:r>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r>
                      <a:rPr lang="en-US" altLang="zh-CN" sz="3200" i="1">
                        <a:latin typeface="Cambria Math" panose="02040503050406030204" pitchFamily="18" charset="0"/>
                      </a:rPr>
                      <m:t>𝑙</m:t>
                    </m:r>
                    <m:r>
                      <a:rPr lang="en-US" altLang="zh-CN" sz="3200" i="1">
                        <a:latin typeface="Cambria Math" panose="02040503050406030204" pitchFamily="18" charset="0"/>
                      </a:rPr>
                      <m:t>]</m:t>
                    </m:r>
                    <m:r>
                      <m:rPr>
                        <m:nor/>
                      </m:rPr>
                      <a:rPr lang="en-US" altLang="zh-CN" sz="3200">
                        <a:latin typeface="Cambria Math" panose="02040503050406030204" pitchFamily="18" charset="0"/>
                      </a:rPr>
                      <m:t>d</m:t>
                    </m:r>
                    <m:sSub>
                      <m:sSubPr>
                        <m:ctrlPr>
                          <a:rPr lang="zh-CN" altLang="zh-CN" sz="3200" i="1"/>
                        </m:ctrlPr>
                      </m:sSubPr>
                      <m:e>
                        <m:r>
                          <m:rPr>
                            <m:nor/>
                          </m:rPr>
                          <a:rPr lang="en-US" altLang="zh-CN" sz="3200">
                            <a:latin typeface="Cambria Math" panose="02040503050406030204" pitchFamily="18" charset="0"/>
                          </a:rPr>
                          <m:t>s</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r>
                      <a:rPr lang="en-US" altLang="zh-CN" sz="3200" i="1">
                        <a:latin typeface="Cambria Math" panose="02040503050406030204" pitchFamily="18" charset="0"/>
                      </a:rPr>
                      <m:t>𝑙</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𝑡</m:t>
                        </m:r>
                      </m:e>
                      <m:sub>
                        <m:r>
                          <a:rPr lang="en-US" altLang="zh-CN" sz="3200" i="1">
                            <a:latin typeface="Cambria Math" panose="02040503050406030204" pitchFamily="18" charset="0"/>
                          </a:rPr>
                          <m:t>2</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1</m:t>
                        </m:r>
                      </m:sub>
                    </m:sSub>
                    <m:r>
                      <a:rPr lang="en-US" altLang="zh-CN" sz="3200" i="1">
                        <a:latin typeface="Cambria Math" panose="02040503050406030204" pitchFamily="18" charset="0"/>
                      </a:rPr>
                      <m:t>=[</m:t>
                    </m:r>
                    <m:r>
                      <a:rPr lang="en-US" altLang="zh-CN" sz="3200" i="1">
                        <a:latin typeface="Cambria Math" panose="02040503050406030204" pitchFamily="18" charset="0"/>
                      </a:rPr>
                      <m:t>𝑙</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𝑡</m:t>
                        </m:r>
                      </m:e>
                      <m:sub>
                        <m:r>
                          <a:rPr lang="en-US" altLang="zh-CN" sz="3200" i="1">
                            <a:latin typeface="Cambria Math" panose="02040503050406030204" pitchFamily="18" charset="0"/>
                          </a:rPr>
                          <m:t>2</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1</m:t>
                        </m:r>
                      </m:sub>
                    </m:sSub>
                  </m:oMath>
                </a14:m>
                <a:r>
                  <a:rPr lang="zh-CN" altLang="zh-CN" sz="3200"/>
                  <a:t>，</a:t>
                </a:r>
                <a14:m>
                  <m:oMath xmlns:m="http://schemas.openxmlformats.org/officeDocument/2006/math">
                    <m:r>
                      <a:rPr lang="en-US" altLang="zh-CN" sz="3200" i="1">
                        <a:latin typeface="Cambria Math" panose="02040503050406030204" pitchFamily="18" charset="0"/>
                      </a:rPr>
                      <m:t>𝑃</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ℎ</m:t>
                        </m:r>
                      </m:e>
                      <m:sub>
                        <m:r>
                          <a:rPr lang="en-US" altLang="zh-CN" sz="3200" i="1">
                            <a:latin typeface="Cambria Math" panose="02040503050406030204" pitchFamily="18" charset="0"/>
                          </a:rPr>
                          <m:t>1</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2</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m:rPr>
                            <m:nor/>
                          </m:rPr>
                          <a:rPr lang="en-US" altLang="zh-CN" sz="3200">
                            <a:latin typeface="Cambria Math" panose="02040503050406030204" pitchFamily="18" charset="0"/>
                          </a:rPr>
                          <m:t>pub</m:t>
                        </m:r>
                        <m:r>
                          <a:rPr lang="en-US" altLang="zh-CN" sz="3200" i="1">
                            <a:latin typeface="Cambria Math" panose="02040503050406030204" pitchFamily="18" charset="0"/>
                          </a:rPr>
                          <m:t>−</m:t>
                        </m:r>
                        <m:r>
                          <a:rPr lang="en-US" altLang="zh-CN" sz="3200" i="1">
                            <a:latin typeface="Cambria Math" panose="02040503050406030204" pitchFamily="18" charset="0"/>
                          </a:rPr>
                          <m:t>𝑠</m:t>
                        </m:r>
                      </m:sub>
                    </m:sSub>
                  </m:oMath>
                </a14:m>
                <a:endParaRPr lang="zh-CN" altLang="zh-CN" sz="3600"/>
              </a:p>
              <a:p>
                <a:pPr indent="914400">
                  <a:lnSpc>
                    <a:spcPct val="120000"/>
                  </a:lnSpc>
                </a:pPr>
                <a:r>
                  <a:rPr lang="zh-CN" altLang="zh-CN" sz="3600"/>
                  <a:t>根据双线性对的性质，可得</a:t>
                </a:r>
                <a:endParaRPr lang="zh-CN" altLang="zh-CN" sz="3600"/>
              </a:p>
              <a:p>
                <a:pPr indent="914400">
                  <a:lnSpc>
                    <a:spcPct val="120000"/>
                  </a:lnSpc>
                </a:pPr>
                <a:r>
                  <a:rPr lang="en-US" altLang="zh-CN" sz="3600"/>
                  <a:t> </a:t>
                </a:r>
                <a:endParaRPr lang="en-US" altLang="zh-CN" sz="3600"/>
              </a:p>
              <a:p>
                <a:pPr indent="914400">
                  <a:lnSpc>
                    <a:spcPct val="120000"/>
                  </a:lnSpc>
                </a:pPr>
                <a:endParaRPr lang="zh-CN" altLang="zh-CN" sz="3600"/>
              </a:p>
              <a:p>
                <a:pPr indent="914400">
                  <a:lnSpc>
                    <a:spcPct val="120000"/>
                  </a:lnSpc>
                </a:pPr>
                <a:r>
                  <a:rPr lang="zh-CN" altLang="zh-CN" sz="3600"/>
                  <a:t>因为，</a:t>
                </a:r>
                <a14:m>
                  <m:oMath xmlns:m="http://schemas.openxmlformats.org/officeDocument/2006/math">
                    <m:sSub>
                      <m:sSubPr>
                        <m:ctrlPr>
                          <a:rPr lang="zh-CN" altLang="zh-CN" sz="3200" i="1"/>
                        </m:ctrlPr>
                      </m:sSubPr>
                      <m:e>
                        <m:r>
                          <a:rPr lang="en-US" altLang="zh-CN" sz="3200" i="1">
                            <a:latin typeface="Cambria Math" panose="02040503050406030204" pitchFamily="18" charset="0"/>
                          </a:rPr>
                          <m:t>𝑡</m:t>
                        </m:r>
                      </m:e>
                      <m:sub>
                        <m:r>
                          <a:rPr lang="en-US" altLang="zh-CN" sz="3200" i="1">
                            <a:latin typeface="Cambria Math" panose="02040503050406030204" pitchFamily="18" charset="0"/>
                          </a:rPr>
                          <m:t>1</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𝐻</m:t>
                        </m:r>
                      </m:e>
                      <m:sub>
                        <m:r>
                          <a:rPr lang="en-US" altLang="zh-CN" sz="3200" i="1">
                            <a:latin typeface="Cambria Math" panose="02040503050406030204" pitchFamily="18" charset="0"/>
                          </a:rPr>
                          <m:t>1</m:t>
                        </m:r>
                      </m:sub>
                    </m:sSub>
                    <m:r>
                      <a:rPr lang="en-US" altLang="zh-CN" sz="3200" i="1">
                        <a:latin typeface="Cambria Math" panose="02040503050406030204" pitchFamily="18" charset="0"/>
                      </a:rPr>
                      <m:t>(</m:t>
                    </m:r>
                    <m:r>
                      <m:rPr>
                        <m:nor/>
                      </m:rPr>
                      <a:rPr lang="en-US" altLang="zh-CN" sz="3200">
                        <a:latin typeface="Cambria Math" panose="02040503050406030204" pitchFamily="18" charset="0"/>
                      </a:rPr>
                      <m:t>I</m:t>
                    </m:r>
                    <m:sSub>
                      <m:sSubPr>
                        <m:ctrlPr>
                          <a:rPr lang="zh-CN" altLang="zh-CN" sz="3200" i="1"/>
                        </m:ctrlPr>
                      </m:sSubPr>
                      <m:e>
                        <m:r>
                          <m:rPr>
                            <m:nor/>
                          </m:rPr>
                          <a:rPr lang="en-US" altLang="zh-CN" sz="3200">
                            <a:latin typeface="Cambria Math" panose="02040503050406030204" pitchFamily="18" charset="0"/>
                          </a:rPr>
                          <m:t>D</m:t>
                        </m:r>
                      </m:e>
                      <m:sub>
                        <m:r>
                          <a:rPr lang="en-US" altLang="zh-CN" sz="3200" i="1">
                            <a:latin typeface="Cambria Math" panose="02040503050406030204" pitchFamily="18" charset="0"/>
                          </a:rPr>
                          <m:t>𝐴</m:t>
                        </m:r>
                      </m:sub>
                    </m:sSub>
                    <m:r>
                      <a:rPr lang="en-US" altLang="zh-CN" sz="3200" i="1">
                        <a:latin typeface="Cambria Math" panose="02040503050406030204" pitchFamily="18" charset="0"/>
                      </a:rPr>
                      <m:t>∥</m:t>
                    </m:r>
                    <m:r>
                      <m:rPr>
                        <m:nor/>
                      </m:rPr>
                      <a:rPr lang="en-US" altLang="zh-CN" sz="3200">
                        <a:latin typeface="Cambria Math" panose="02040503050406030204" pitchFamily="18" charset="0"/>
                      </a:rPr>
                      <m:t>hid</m:t>
                    </m:r>
                    <m:r>
                      <a:rPr lang="zh-CN" altLang="zh-CN" sz="3200">
                        <a:latin typeface="Cambria Math" panose="02040503050406030204" pitchFamily="18" charset="0"/>
                      </a:rPr>
                      <m:t>，</m:t>
                    </m:r>
                    <m:r>
                      <a:rPr lang="en-US" altLang="zh-CN" sz="3200" i="1">
                        <a:latin typeface="Cambria Math" panose="02040503050406030204" pitchFamily="18" charset="0"/>
                      </a:rPr>
                      <m:t>𝑁</m:t>
                    </m:r>
                    <m:r>
                      <a:rPr lang="en-US" altLang="zh-CN" sz="3200">
                        <a:latin typeface="Cambria Math" panose="02040503050406030204" pitchFamily="18" charset="0"/>
                      </a:rPr>
                      <m:t>)+</m:t>
                    </m:r>
                    <m:r>
                      <m:rPr>
                        <m:nor/>
                      </m:rPr>
                      <a:rPr lang="en-US" altLang="zh-CN" sz="3200">
                        <a:latin typeface="Cambria Math" panose="02040503050406030204" pitchFamily="18" charset="0"/>
                      </a:rPr>
                      <m:t>ks</m:t>
                    </m:r>
                    <m:r>
                      <a:rPr lang="en-US" altLang="zh-CN" sz="3200">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ℎ</m:t>
                        </m:r>
                      </m:e>
                      <m:sub>
                        <m:r>
                          <a:rPr lang="en-US" altLang="zh-CN" sz="3200" i="1">
                            <a:latin typeface="Cambria Math" panose="02040503050406030204" pitchFamily="18" charset="0"/>
                          </a:rPr>
                          <m:t>1</m:t>
                        </m:r>
                      </m:sub>
                    </m:sSub>
                    <m:r>
                      <a:rPr lang="en-US" altLang="zh-CN" sz="3200" i="1">
                        <a:latin typeface="Cambria Math" panose="02040503050406030204" pitchFamily="18" charset="0"/>
                      </a:rPr>
                      <m:t>+</m:t>
                    </m:r>
                    <m:r>
                      <m:rPr>
                        <m:nor/>
                      </m:rPr>
                      <a:rPr lang="en-US" altLang="zh-CN" sz="3200">
                        <a:latin typeface="Cambria Math" panose="02040503050406030204" pitchFamily="18" charset="0"/>
                      </a:rPr>
                      <m:t>ks</m:t>
                    </m:r>
                  </m:oMath>
                </a14:m>
                <a:r>
                  <a:rPr lang="zh-CN" altLang="zh-CN" sz="3200"/>
                  <a:t>，</a:t>
                </a:r>
                <a14:m>
                  <m:oMath xmlns:m="http://schemas.openxmlformats.org/officeDocument/2006/math">
                    <m:sSub>
                      <m:sSubPr>
                        <m:ctrlPr>
                          <a:rPr lang="zh-CN" altLang="zh-CN" sz="3200" i="1"/>
                        </m:ctrlPr>
                      </m:sSubPr>
                      <m:e>
                        <m:r>
                          <a:rPr lang="en-US" altLang="zh-CN" sz="3200" i="1">
                            <a:latin typeface="Cambria Math" panose="02040503050406030204" pitchFamily="18" charset="0"/>
                          </a:rPr>
                          <m:t>𝑡</m:t>
                        </m:r>
                      </m:e>
                      <m:sub>
                        <m:r>
                          <a:rPr lang="en-US" altLang="zh-CN" sz="3200" i="1">
                            <a:latin typeface="Cambria Math" panose="02040503050406030204" pitchFamily="18" charset="0"/>
                          </a:rPr>
                          <m:t>2</m:t>
                        </m:r>
                      </m:sub>
                    </m:sSub>
                    <m:r>
                      <a:rPr lang="en-US" altLang="zh-CN" sz="3200" i="1">
                        <a:latin typeface="Cambria Math" panose="02040503050406030204" pitchFamily="18" charset="0"/>
                      </a:rPr>
                      <m:t>=</m:t>
                    </m:r>
                    <m:r>
                      <m:rPr>
                        <m:nor/>
                      </m:rPr>
                      <a:rPr lang="en-US" altLang="zh-CN" sz="3200">
                        <a:latin typeface="Cambria Math" panose="02040503050406030204" pitchFamily="18" charset="0"/>
                      </a:rPr>
                      <m:t>ks</m:t>
                    </m:r>
                    <m:r>
                      <a:rPr lang="en-US" altLang="zh-CN" sz="3200">
                        <a:latin typeface="Cambria Math" panose="02040503050406030204" pitchFamily="18" charset="0"/>
                      </a:rPr>
                      <m:t>⋅</m:t>
                    </m:r>
                    <m:sSubSup>
                      <m:sSubSupPr>
                        <m:ctrlPr>
                          <a:rPr lang="zh-CN" altLang="zh-CN" sz="3200" i="1"/>
                        </m:ctrlPr>
                      </m:sSubSupPr>
                      <m:e>
                        <m:r>
                          <a:rPr lang="en-US" altLang="zh-CN" sz="3200" i="1">
                            <a:latin typeface="Cambria Math" panose="02040503050406030204" pitchFamily="18" charset="0"/>
                          </a:rPr>
                          <m:t>𝑡</m:t>
                        </m:r>
                      </m:e>
                      <m:sub>
                        <m:r>
                          <a:rPr lang="en-US" altLang="zh-CN" sz="3200" i="1">
                            <a:latin typeface="Cambria Math" panose="02040503050406030204" pitchFamily="18" charset="0"/>
                          </a:rPr>
                          <m:t>1</m:t>
                        </m:r>
                      </m:sub>
                      <m:sup>
                        <m:r>
                          <a:rPr lang="en-US" altLang="zh-CN" sz="3200" i="1">
                            <a:latin typeface="Cambria Math" panose="02040503050406030204" pitchFamily="18" charset="0"/>
                          </a:rPr>
                          <m:t>−</m:t>
                        </m:r>
                        <m:r>
                          <a:rPr lang="en-US" altLang="zh-CN" sz="3200" i="1">
                            <a:latin typeface="Cambria Math" panose="02040503050406030204" pitchFamily="18" charset="0"/>
                          </a:rPr>
                          <m:t>1</m:t>
                        </m:r>
                      </m:sup>
                    </m:sSubSup>
                  </m:oMath>
                </a14:m>
                <a:r>
                  <a:rPr lang="zh-CN" altLang="zh-CN" sz="3600"/>
                  <a:t>，所以</a:t>
                </a:r>
                <a:endParaRPr lang="zh-CN" altLang="zh-CN" sz="3600"/>
              </a:p>
              <a:p>
                <a:pPr indent="914400">
                  <a:lnSpc>
                    <a:spcPct val="120000"/>
                  </a:lnSpc>
                </a:pPr>
                <a:r>
                  <a:rPr lang="en-US" altLang="zh-CN" sz="3600"/>
                  <a:t>	</a:t>
                </a:r>
                <a14:m>
                  <m:oMath xmlns:m="http://schemas.openxmlformats.org/officeDocument/2006/math">
                    <m:sSup>
                      <m:sSupPr>
                        <m:ctrlPr>
                          <a:rPr lang="zh-CN" altLang="zh-CN" sz="3200" i="1"/>
                        </m:ctrlPr>
                      </m:sSupPr>
                      <m:e>
                        <m:r>
                          <a:rPr lang="en-US" altLang="zh-CN" sz="3200" i="1">
                            <a:latin typeface="Cambria Math" panose="02040503050406030204" pitchFamily="18" charset="0"/>
                          </a:rPr>
                          <m:t>𝑤</m:t>
                        </m:r>
                      </m:e>
                      <m:sup>
                        <m:r>
                          <a:rPr lang="en-US" altLang="zh-CN" sz="3200" i="1">
                            <a:latin typeface="Cambria Math" panose="02040503050406030204" pitchFamily="18" charset="0"/>
                          </a:rPr>
                          <m:t>′</m:t>
                        </m:r>
                      </m:sup>
                    </m:sSup>
                    <m:r>
                      <a:rPr lang="en-US" altLang="zh-CN" sz="3200" i="1">
                        <a:latin typeface="Cambria Math" panose="02040503050406030204" pitchFamily="18" charset="0"/>
                      </a:rPr>
                      <m:t>=</m:t>
                    </m:r>
                    <m:r>
                      <a:rPr lang="en-US" altLang="zh-CN" sz="3200" i="1">
                        <a:latin typeface="Cambria Math" panose="02040503050406030204" pitchFamily="18" charset="0"/>
                      </a:rPr>
                      <m:t>𝑒</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1</m:t>
                        </m:r>
                      </m:sub>
                    </m:sSub>
                    <m:r>
                      <a:rPr lang="zh-CN"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2</m:t>
                        </m:r>
                      </m:sub>
                    </m:sSub>
                    <m:sSup>
                      <m:sSupPr>
                        <m:ctrlPr>
                          <a:rPr lang="zh-CN" altLang="zh-CN" sz="3200" i="1"/>
                        </m:ctrlPr>
                      </m:sSupPr>
                      <m:e>
                        <m:r>
                          <a:rPr lang="en-US" altLang="zh-CN" sz="3200" i="1">
                            <a:latin typeface="Cambria Math" panose="02040503050406030204" pitchFamily="18" charset="0"/>
                          </a:rPr>
                          <m:t>)</m:t>
                        </m:r>
                      </m:e>
                      <m:sup>
                        <m:r>
                          <a:rPr lang="en-US" altLang="zh-CN" sz="3200" i="1">
                            <a:latin typeface="Cambria Math" panose="02040503050406030204" pitchFamily="18" charset="0"/>
                          </a:rPr>
                          <m:t>𝑙</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𝑡</m:t>
                            </m:r>
                          </m:e>
                          <m:sub>
                            <m:r>
                              <a:rPr lang="en-US" altLang="zh-CN" sz="3200" i="1">
                                <a:latin typeface="Cambria Math" panose="02040503050406030204" pitchFamily="18" charset="0"/>
                              </a:rPr>
                              <m:t>2</m:t>
                            </m:r>
                          </m:sub>
                        </m:sSub>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ℎ</m:t>
                            </m:r>
                          </m:e>
                          <m:sub>
                            <m:r>
                              <a:rPr lang="en-US" altLang="zh-CN" sz="3200" i="1">
                                <a:latin typeface="Cambria Math" panose="02040503050406030204" pitchFamily="18" charset="0"/>
                              </a:rPr>
                              <m:t>1</m:t>
                            </m:r>
                          </m:sub>
                        </m:sSub>
                        <m:r>
                          <a:rPr lang="en-US" altLang="zh-CN" sz="3200" i="1">
                            <a:latin typeface="Cambria Math" panose="02040503050406030204" pitchFamily="18" charset="0"/>
                          </a:rPr>
                          <m:t>+</m:t>
                        </m:r>
                        <m:r>
                          <m:rPr>
                            <m:nor/>
                          </m:rPr>
                          <a:rPr lang="en-US" altLang="zh-CN" sz="3200">
                            <a:latin typeface="Cambria Math" panose="02040503050406030204" pitchFamily="18" charset="0"/>
                          </a:rPr>
                          <m:t>ks</m:t>
                        </m:r>
                        <m:r>
                          <a:rPr lang="en-US" altLang="zh-CN" sz="3200">
                            <a:latin typeface="Cambria Math" panose="02040503050406030204" pitchFamily="18" charset="0"/>
                          </a:rPr>
                          <m:t>)+</m:t>
                        </m:r>
                        <m:r>
                          <m:rPr>
                            <m:nor/>
                          </m:rPr>
                          <a:rPr lang="en-US" altLang="zh-CN" sz="3200">
                            <a:latin typeface="Cambria Math" panose="02040503050406030204" pitchFamily="18" charset="0"/>
                          </a:rPr>
                          <m:t>ks</m:t>
                        </m:r>
                        <m:r>
                          <a:rPr lang="en-US" altLang="zh-CN" sz="3200">
                            <a:latin typeface="Cambria Math" panose="02040503050406030204" pitchFamily="18" charset="0"/>
                          </a:rPr>
                          <m:t>⋅</m:t>
                        </m:r>
                        <m:r>
                          <a:rPr lang="en-US" altLang="zh-CN" sz="3200" i="1">
                            <a:latin typeface="Cambria Math" panose="02040503050406030204" pitchFamily="18" charset="0"/>
                          </a:rPr>
                          <m:t>ℎ</m:t>
                        </m:r>
                      </m:sup>
                    </m:sSup>
                    <m:r>
                      <a:rPr lang="en-US" altLang="zh-CN" sz="3200" i="1">
                        <a:latin typeface="Cambria Math" panose="02040503050406030204" pitchFamily="18" charset="0"/>
                      </a:rPr>
                      <m:t>=</m:t>
                    </m:r>
                    <m:r>
                      <a:rPr lang="en-US" altLang="zh-CN" sz="3200" i="1">
                        <a:latin typeface="Cambria Math" panose="02040503050406030204" pitchFamily="18" charset="0"/>
                      </a:rPr>
                      <m:t>𝑒</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1</m:t>
                        </m:r>
                      </m:sub>
                    </m:sSub>
                    <m:r>
                      <a:rPr lang="zh-CN"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2</m:t>
                        </m:r>
                      </m:sub>
                    </m:sSub>
                    <m:sSup>
                      <m:sSupPr>
                        <m:ctrlPr>
                          <a:rPr lang="zh-CN" altLang="zh-CN" sz="3200" i="1"/>
                        </m:ctrlPr>
                      </m:sSupPr>
                      <m:e>
                        <m:r>
                          <a:rPr lang="en-US" altLang="zh-CN" sz="3200" i="1">
                            <a:latin typeface="Cambria Math" panose="02040503050406030204" pitchFamily="18" charset="0"/>
                          </a:rPr>
                          <m:t>)</m:t>
                        </m:r>
                      </m:e>
                      <m:sup>
                        <m:r>
                          <a:rPr lang="en-US" altLang="zh-CN" sz="3200" i="1">
                            <a:latin typeface="Cambria Math" panose="02040503050406030204" pitchFamily="18" charset="0"/>
                          </a:rPr>
                          <m:t>𝑙</m:t>
                        </m:r>
                        <m:r>
                          <a:rPr lang="en-US" altLang="zh-CN" sz="3200" i="1">
                            <a:latin typeface="Cambria Math" panose="02040503050406030204" pitchFamily="18" charset="0"/>
                          </a:rPr>
                          <m:t>⋅</m:t>
                        </m:r>
                        <m:r>
                          <m:rPr>
                            <m:nor/>
                          </m:rPr>
                          <a:rPr lang="en-US" altLang="zh-CN" sz="3200">
                            <a:latin typeface="Cambria Math" panose="02040503050406030204" pitchFamily="18" charset="0"/>
                          </a:rPr>
                          <m:t>ks</m:t>
                        </m:r>
                        <m:r>
                          <a:rPr lang="en-US" altLang="zh-CN" sz="3200">
                            <a:latin typeface="Cambria Math" panose="02040503050406030204" pitchFamily="18" charset="0"/>
                          </a:rPr>
                          <m:t>+</m:t>
                        </m:r>
                        <m:r>
                          <m:rPr>
                            <m:nor/>
                          </m:rPr>
                          <a:rPr lang="en-US" altLang="zh-CN" sz="3200">
                            <a:latin typeface="Cambria Math" panose="02040503050406030204" pitchFamily="18" charset="0"/>
                          </a:rPr>
                          <m:t>ks</m:t>
                        </m:r>
                        <m:r>
                          <a:rPr lang="en-US" altLang="zh-CN" sz="3200">
                            <a:latin typeface="Cambria Math" panose="02040503050406030204" pitchFamily="18" charset="0"/>
                          </a:rPr>
                          <m:t>⋅</m:t>
                        </m:r>
                        <m:r>
                          <a:rPr lang="en-US" altLang="zh-CN" sz="3200" i="1">
                            <a:latin typeface="Cambria Math" panose="02040503050406030204" pitchFamily="18" charset="0"/>
                          </a:rPr>
                          <m:t>ℎ</m:t>
                        </m:r>
                      </m:sup>
                    </m:sSup>
                    <m:r>
                      <a:rPr lang="en-US" altLang="zh-CN" sz="3200" i="1">
                        <a:latin typeface="Cambria Math" panose="02040503050406030204" pitchFamily="18" charset="0"/>
                      </a:rPr>
                      <m:t>=</m:t>
                    </m:r>
                    <m:r>
                      <a:rPr lang="en-US" altLang="zh-CN" sz="3200" i="1">
                        <a:latin typeface="Cambria Math" panose="02040503050406030204" pitchFamily="18" charset="0"/>
                      </a:rPr>
                      <m:t>𝑒</m:t>
                    </m:r>
                    <m:r>
                      <a:rPr lang="en-US"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1</m:t>
                        </m:r>
                      </m:sub>
                    </m:sSub>
                    <m:r>
                      <a:rPr lang="zh-CN" altLang="zh-CN" sz="3200" i="1">
                        <a:latin typeface="Cambria Math" panose="02040503050406030204" pitchFamily="18" charset="0"/>
                      </a:rPr>
                      <m:t>，</m:t>
                    </m:r>
                    <m:sSub>
                      <m:sSubPr>
                        <m:ctrlPr>
                          <a:rPr lang="zh-CN" altLang="zh-CN" sz="3200" i="1"/>
                        </m:ctrlPr>
                      </m:sSubPr>
                      <m:e>
                        <m:r>
                          <a:rPr lang="en-US" altLang="zh-CN" sz="3200" i="1">
                            <a:latin typeface="Cambria Math" panose="02040503050406030204" pitchFamily="18" charset="0"/>
                          </a:rPr>
                          <m:t>𝑃</m:t>
                        </m:r>
                      </m:e>
                      <m:sub>
                        <m:r>
                          <a:rPr lang="en-US" altLang="zh-CN" sz="3200" i="1">
                            <a:latin typeface="Cambria Math" panose="02040503050406030204" pitchFamily="18" charset="0"/>
                          </a:rPr>
                          <m:t>2</m:t>
                        </m:r>
                      </m:sub>
                    </m:sSub>
                    <m:sSup>
                      <m:sSupPr>
                        <m:ctrlPr>
                          <a:rPr lang="zh-CN" altLang="zh-CN" sz="3200" i="1"/>
                        </m:ctrlPr>
                      </m:sSupPr>
                      <m:e>
                        <m:r>
                          <a:rPr lang="en-US" altLang="zh-CN" sz="3200" i="1">
                            <a:latin typeface="Cambria Math" panose="02040503050406030204" pitchFamily="18" charset="0"/>
                          </a:rPr>
                          <m:t>)</m:t>
                        </m:r>
                      </m:e>
                      <m:sup>
                        <m:r>
                          <m:rPr>
                            <m:nor/>
                          </m:rPr>
                          <a:rPr lang="en-US" altLang="zh-CN" sz="3200">
                            <a:latin typeface="Cambria Math" panose="02040503050406030204" pitchFamily="18" charset="0"/>
                          </a:rPr>
                          <m:t>ks</m:t>
                        </m:r>
                        <m:r>
                          <a:rPr lang="en-US" altLang="zh-CN" sz="3200">
                            <a:latin typeface="Cambria Math" panose="02040503050406030204" pitchFamily="18" charset="0"/>
                          </a:rPr>
                          <m:t>⋅(</m:t>
                        </m:r>
                        <m:r>
                          <a:rPr lang="en-US" altLang="zh-CN" sz="3200" i="1">
                            <a:latin typeface="Cambria Math" panose="02040503050406030204" pitchFamily="18" charset="0"/>
                          </a:rPr>
                          <m:t>𝑙</m:t>
                        </m:r>
                        <m:r>
                          <a:rPr lang="en-US" altLang="zh-CN" sz="3200">
                            <a:latin typeface="Cambria Math" panose="02040503050406030204" pitchFamily="18" charset="0"/>
                          </a:rPr>
                          <m:t>+</m:t>
                        </m:r>
                        <m:r>
                          <a:rPr lang="en-US" altLang="zh-CN" sz="3200" i="1">
                            <a:latin typeface="Cambria Math" panose="02040503050406030204" pitchFamily="18" charset="0"/>
                          </a:rPr>
                          <m:t>ℎ</m:t>
                        </m:r>
                        <m:r>
                          <a:rPr lang="en-US" altLang="zh-CN" sz="3200">
                            <a:latin typeface="Cambria Math" panose="02040503050406030204" pitchFamily="18" charset="0"/>
                          </a:rPr>
                          <m:t>)</m:t>
                        </m:r>
                      </m:sup>
                    </m:sSup>
                  </m:oMath>
                </a14:m>
                <a:r>
                  <a:rPr lang="en-US" altLang="zh-CN" sz="3600"/>
                  <a:t>	</a:t>
                </a:r>
                <a:r>
                  <a:rPr lang="zh-CN" altLang="zh-CN" sz="3600"/>
                  <a:t>由</a:t>
                </a:r>
                <a14:m>
                  <m:oMath xmlns:m="http://schemas.openxmlformats.org/officeDocument/2006/math">
                    <m:r>
                      <a:rPr lang="en-US" altLang="zh-CN" sz="3200" i="1">
                        <a:latin typeface="Cambria Math" panose="02040503050406030204" pitchFamily="18" charset="0"/>
                      </a:rPr>
                      <m:t>𝑙</m:t>
                    </m:r>
                    <m:r>
                      <a:rPr lang="en-US" altLang="zh-CN" sz="3200" i="1">
                        <a:latin typeface="Cambria Math" panose="02040503050406030204" pitchFamily="18" charset="0"/>
                      </a:rPr>
                      <m:t>=</m:t>
                    </m:r>
                    <m:d>
                      <m:dPr>
                        <m:ctrlPr>
                          <a:rPr lang="zh-CN" altLang="zh-CN" sz="3200" i="1"/>
                        </m:ctrlPr>
                      </m:dPr>
                      <m:e>
                        <m:r>
                          <a:rPr lang="en-US" altLang="zh-CN" sz="3200" i="1">
                            <a:latin typeface="Cambria Math" panose="02040503050406030204" pitchFamily="18" charset="0"/>
                          </a:rPr>
                          <m:t>𝑟</m:t>
                        </m:r>
                        <m:r>
                          <a:rPr lang="en-US" altLang="zh-CN" sz="3200" i="1">
                            <a:latin typeface="Cambria Math" panose="02040503050406030204" pitchFamily="18" charset="0"/>
                          </a:rPr>
                          <m:t>−</m:t>
                        </m:r>
                        <m:r>
                          <a:rPr lang="en-US" altLang="zh-CN" sz="3200" i="1">
                            <a:latin typeface="Cambria Math" panose="02040503050406030204" pitchFamily="18" charset="0"/>
                          </a:rPr>
                          <m:t>ℎ</m:t>
                        </m:r>
                      </m:e>
                    </m:d>
                    <m:func>
                      <m:funcPr>
                        <m:ctrlPr>
                          <a:rPr lang="zh-CN" altLang="zh-CN" sz="3200" i="1"/>
                        </m:ctrlPr>
                      </m:funcPr>
                      <m:fName>
                        <m:r>
                          <a:rPr lang="en-US" altLang="zh-CN" sz="3200" i="1">
                            <a:latin typeface="Cambria Math" panose="02040503050406030204" pitchFamily="18" charset="0"/>
                          </a:rPr>
                          <m:t>𝑚𝑜𝑑</m:t>
                        </m:r>
                      </m:fName>
                      <m:e>
                        <m:r>
                          <a:rPr lang="en-US" altLang="zh-CN" sz="3200" i="1">
                            <a:latin typeface="Cambria Math" panose="02040503050406030204" pitchFamily="18" charset="0"/>
                          </a:rPr>
                          <m:t>𝑁</m:t>
                        </m:r>
                      </m:e>
                    </m:func>
                  </m:oMath>
                </a14:m>
                <a:r>
                  <a:rPr lang="zh-CN" altLang="zh-CN" sz="3600"/>
                  <a:t>得</a:t>
                </a:r>
                <a:endParaRPr lang="zh-CN" altLang="zh-CN" sz="3600"/>
              </a:p>
              <a:p>
                <a:pPr indent="914400">
                  <a:lnSpc>
                    <a:spcPct val="120000"/>
                  </a:lnSpc>
                </a:pPr>
                <a14:m>
                  <m:oMathPara xmlns:m="http://schemas.openxmlformats.org/officeDocument/2006/math">
                    <m:oMathParaPr>
                      <m:jc m:val="centerGroup"/>
                    </m:oMathParaPr>
                    <m:oMath xmlns:m="http://schemas.openxmlformats.org/officeDocument/2006/math">
                      <m:r>
                        <a:rPr lang="en-US" altLang="zh-CN" sz="3200" i="1">
                          <a:latin typeface="Cambria Math" panose="02040503050406030204" pitchFamily="18" charset="0"/>
                        </a:rPr>
                        <m:t>𝑤</m:t>
                      </m:r>
                      <m:r>
                        <a:rPr lang="en-US" altLang="zh-CN" sz="3200" i="1">
                          <a:latin typeface="Cambria Math" panose="02040503050406030204" pitchFamily="18" charset="0"/>
                        </a:rPr>
                        <m:t>=</m:t>
                      </m:r>
                      <m:sSup>
                        <m:sSupPr>
                          <m:ctrlPr>
                            <a:rPr lang="zh-CN" altLang="zh-CN" sz="3200" i="1"/>
                          </m:ctrlPr>
                        </m:sSupPr>
                        <m:e>
                          <m:r>
                            <a:rPr lang="en-US" altLang="zh-CN" sz="3200" i="1">
                              <a:latin typeface="Cambria Math" panose="02040503050406030204" pitchFamily="18" charset="0"/>
                            </a:rPr>
                            <m:t>𝑤</m:t>
                          </m:r>
                        </m:e>
                        <m:sup>
                          <m:r>
                            <a:rPr lang="en-US" altLang="zh-CN" sz="3200" i="1">
                              <a:latin typeface="Cambria Math" panose="02040503050406030204" pitchFamily="18" charset="0"/>
                            </a:rPr>
                            <m:t>′</m:t>
                          </m:r>
                        </m:sup>
                      </m:sSup>
                    </m:oMath>
                  </m:oMathPara>
                </a14:m>
                <a:endParaRPr lang="zh-CN" altLang="zh-CN" sz="3200"/>
              </a:p>
              <a:p>
                <a:pPr indent="914400">
                  <a:lnSpc>
                    <a:spcPct val="120000"/>
                  </a:lnSpc>
                </a:pPr>
                <a:r>
                  <a:rPr lang="zh-CN" altLang="zh-CN" sz="3600"/>
                  <a:t>因此，验证通过。</a:t>
                </a:r>
                <a:endParaRPr kumimoji="0" lang="zh-CN"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26" name="文本框 25"/>
              <p:cNvSpPr txBox="1">
                <a:spLocks noRot="1" noChangeAspect="1" noMove="1" noResize="1" noEditPoints="1" noAdjustHandles="1" noChangeArrowheads="1" noChangeShapeType="1" noTextEdit="1"/>
              </p:cNvSpPr>
              <p:nvPr/>
            </p:nvSpPr>
            <p:spPr>
              <a:xfrm>
                <a:off x="1374592" y="1894886"/>
                <a:ext cx="14856007" cy="6723957"/>
              </a:xfrm>
              <a:prstGeom prst="rect">
                <a:avLst/>
              </a:prstGeom>
              <a:blipFill rotWithShape="1">
                <a:blip r:embed="rId2"/>
                <a:stretch>
                  <a:fillRect l="-3" t="-1" r="4" b="-661"/>
                </a:stretch>
              </a:blipFill>
            </p:spPr>
            <p:txBody>
              <a:bodyPr/>
              <a:lstStyle/>
              <a:p>
                <a:r>
                  <a:rPr lang="zh-CN" altLang="en-US">
                    <a:noFill/>
                  </a:rPr>
                  <a:t> </a:t>
                </a:r>
              </a:p>
            </p:txBody>
          </p:sp>
        </mc:Fallback>
      </mc:AlternateContent>
      <p:graphicFrame>
        <p:nvGraphicFramePr>
          <p:cNvPr id="37" name="对象 36"/>
          <p:cNvGraphicFramePr>
            <a:graphicFrameLocks noChangeAspect="1"/>
          </p:cNvGraphicFramePr>
          <p:nvPr/>
        </p:nvGraphicFramePr>
        <p:xfrm>
          <a:off x="4930986" y="3924299"/>
          <a:ext cx="9479283" cy="1371601"/>
        </p:xfrm>
        <a:graphic>
          <a:graphicData uri="http://schemas.openxmlformats.org/presentationml/2006/ole">
            <mc:AlternateContent xmlns:mc="http://schemas.openxmlformats.org/markup-compatibility/2006">
              <mc:Choice xmlns:v="urn:schemas-microsoft-com:vml" Requires="v">
                <p:oleObj spid="_x0000_s0" name="" r:id="rId3" imgW="2959100" imgH="419100" progId="Equation.DSMT4">
                  <p:embed/>
                </p:oleObj>
              </mc:Choice>
              <mc:Fallback>
                <p:oleObj name="" r:id="rId3" imgW="2959100" imgH="419100" progId="Equation.DSMT4">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0986" y="3924299"/>
                        <a:ext cx="9479283" cy="1371601"/>
                      </a:xfrm>
                      <a:prstGeom prst="rect">
                        <a:avLst/>
                      </a:prstGeom>
                      <a:noFill/>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kumimoji="0" lang="en-US" sz="12200" b="0" i="0" u="none" strike="noStrike" kern="1200" cap="none" spc="0" normalizeH="0" baseline="0" noProof="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13.5</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5735"/>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kumimoji="0" lang="zh-CN" altLang="en-US" sz="9600" b="1" i="0" u="none" strike="noStrike" kern="1200" cap="none" spc="0" normalizeH="0" baseline="0" noProof="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数字密签</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34904" y="1689394"/>
            <a:ext cx="14818191" cy="3260380"/>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在密码体制中，加密用来保证信息的机密性，数字签名可以确保消息的真实性、完整性和不可否认性，两者独立存在，并分别被研究。</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而数字签密能同时实现加密和数字签名的功能，具有唯一性、高效性和安全性，可以简化需要同时达到保密和认证要求的密码协议的设计。数字签密算法可以形式化定义为以下几部分。</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9" name="Group 2"/>
          <p:cNvGrpSpPr/>
          <p:nvPr/>
        </p:nvGrpSpPr>
        <p:grpSpPr>
          <a:xfrm>
            <a:off x="412090" y="1028700"/>
            <a:ext cx="7800783" cy="275915"/>
            <a:chOff x="0" y="0"/>
            <a:chExt cx="2054527" cy="72669"/>
          </a:xfrm>
        </p:grpSpPr>
        <p:sp>
          <p:nvSpPr>
            <p:cNvPr id="10"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11"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2" name="TextBox 30"/>
          <p:cNvSpPr txBox="1"/>
          <p:nvPr/>
        </p:nvSpPr>
        <p:spPr>
          <a:xfrm>
            <a:off x="2608081" y="504797"/>
            <a:ext cx="5088119" cy="625171"/>
          </a:xfrm>
          <a:prstGeom prst="rect">
            <a:avLst/>
          </a:prstGeom>
        </p:spPr>
        <p:txBody>
          <a:bodyPr wrap="square" lIns="0" tIns="0" rIns="0" bIns="0" rtlCol="0" anchor="t">
            <a:spAutoFit/>
          </a:bodyPr>
          <a:lstStyle/>
          <a:p>
            <a:pPr algn="l">
              <a:lnSpc>
                <a:spcPts val="5600"/>
              </a:lnSpc>
            </a:pP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数字密签</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13.5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4"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7" name="图片 16"/>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29"/>
              <p:cNvSpPr txBox="1"/>
              <p:nvPr/>
            </p:nvSpPr>
            <p:spPr>
              <a:xfrm>
                <a:off x="1734904" y="1689394"/>
                <a:ext cx="14818191" cy="3925177"/>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val="200" checksum="797548545"/>
                    </a:ext>
                  </a:extLst>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．系统的初始化过程</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KGC</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产生收发双方的公私密钥对。设发送方的密钥对为</a:t>
                </a:r>
                <a:r>
                  <a:rPr lang="en-US" altLang="zh-CN" sz="3200"/>
                  <a:t>(</a:t>
                </a:r>
                <a14:m>
                  <m:oMath xmlns:m="http://schemas.openxmlformats.org/officeDocument/2006/math">
                    <m:r>
                      <a:rPr lang="en-US" altLang="zh-CN" sz="3200" i="1">
                        <a:latin typeface="Cambria Math" panose="02040503050406030204" pitchFamily="18" charset="0"/>
                      </a:rPr>
                      <m:t>𝑝</m:t>
                    </m:r>
                    <m:sSub>
                      <m:sSubPr>
                        <m:ctrlPr>
                          <a:rPr lang="zh-CN" altLang="zh-CN" sz="3200" i="1"/>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𝑠</m:t>
                        </m:r>
                      </m:sub>
                    </m:sSub>
                  </m:oMath>
                </a14:m>
                <a:r>
                  <a:rPr lang="zh-CN" altLang="zh-CN" sz="3200"/>
                  <a:t>，</a:t>
                </a:r>
                <a14:m>
                  <m:oMath xmlns:m="http://schemas.openxmlformats.org/officeDocument/2006/math">
                    <m:r>
                      <a:rPr lang="en-US" altLang="zh-CN" sz="3200" i="1">
                        <a:latin typeface="Cambria Math" panose="02040503050406030204" pitchFamily="18" charset="0"/>
                      </a:rPr>
                      <m:t>𝑠</m:t>
                    </m:r>
                    <m:sSub>
                      <m:sSubPr>
                        <m:ctrlPr>
                          <a:rPr lang="zh-CN" altLang="zh-CN" sz="3200" i="1"/>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𝑠</m:t>
                        </m:r>
                      </m:sub>
                    </m:sSub>
                  </m:oMath>
                </a14:m>
                <a:r>
                  <a:rPr lang="en-US" altLang="zh-CN" sz="3200"/>
                  <a:t>) </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，接收方的密钥对为</a:t>
                </a:r>
                <a:r>
                  <a:rPr lang="en-US" altLang="zh-CN" sz="3200"/>
                  <a:t>(</a:t>
                </a:r>
                <a14:m>
                  <m:oMath xmlns:m="http://schemas.openxmlformats.org/officeDocument/2006/math">
                    <m:r>
                      <a:rPr lang="en-US" altLang="zh-CN" sz="3200" i="1">
                        <a:latin typeface="Cambria Math" panose="02040503050406030204" pitchFamily="18" charset="0"/>
                      </a:rPr>
                      <m:t>𝑝</m:t>
                    </m:r>
                    <m:sSub>
                      <m:sSubPr>
                        <m:ctrlPr>
                          <a:rPr lang="zh-CN" altLang="zh-CN" sz="3200" i="1"/>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𝑟</m:t>
                        </m:r>
                      </m:sub>
                    </m:sSub>
                  </m:oMath>
                </a14:m>
                <a:r>
                  <a:rPr lang="zh-CN" altLang="zh-CN" sz="3200"/>
                  <a:t>，</a:t>
                </a:r>
                <a14:m>
                  <m:oMath xmlns:m="http://schemas.openxmlformats.org/officeDocument/2006/math">
                    <m:r>
                      <a:rPr lang="en-US" altLang="zh-CN" sz="3200" i="1">
                        <a:latin typeface="Cambria Math" panose="02040503050406030204" pitchFamily="18" charset="0"/>
                      </a:rPr>
                      <m:t>𝑠</m:t>
                    </m:r>
                    <m:sSub>
                      <m:sSubPr>
                        <m:ctrlPr>
                          <a:rPr lang="zh-CN" altLang="zh-CN" sz="3200" i="1"/>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𝑟</m:t>
                        </m:r>
                      </m:sub>
                    </m:sSub>
                  </m:oMath>
                </a14:m>
                <a:r>
                  <a:rPr lang="en-US" altLang="zh-CN" sz="3200"/>
                  <a:t>) </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．签密过程</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输入一个明文消息</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、一个发送方的私钥</a:t>
                </a:r>
                <a14:m>
                  <m:oMath xmlns:m="http://schemas.openxmlformats.org/officeDocument/2006/math">
                    <m:r>
                      <a:rPr lang="en-US" altLang="zh-CN" sz="3200" i="1">
                        <a:latin typeface="Cambria Math" panose="02040503050406030204" pitchFamily="18" charset="0"/>
                      </a:rPr>
                      <m:t>𝑠</m:t>
                    </m:r>
                    <m:sSub>
                      <m:sSubPr>
                        <m:ctrlPr>
                          <a:rPr lang="zh-CN" altLang="zh-CN" sz="3200" i="1"/>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𝑠</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和一个接收方的公钥</a:t>
                </a:r>
                <a14:m>
                  <m:oMath xmlns:m="http://schemas.openxmlformats.org/officeDocument/2006/math">
                    <m:r>
                      <a:rPr lang="en-US" altLang="zh-CN" sz="3200" i="1">
                        <a:latin typeface="Cambria Math" panose="02040503050406030204" pitchFamily="18" charset="0"/>
                      </a:rPr>
                      <m:t>𝑝</m:t>
                    </m:r>
                    <m:sSub>
                      <m:sSubPr>
                        <m:ctrlPr>
                          <a:rPr lang="zh-CN" altLang="zh-CN" sz="3200" i="1"/>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𝑟</m:t>
                        </m:r>
                      </m:sub>
                    </m:sSub>
                    <m:r>
                      <a:rPr lang="en-US" altLang="zh-CN" sz="32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，然后输出一个密文</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c</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，签密算法可表示为</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c=signcrypt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en-US" altLang="zh-CN" sz="3600"/>
                  <a:t> </a:t>
                </a:r>
                <a14:m>
                  <m:oMath xmlns:m="http://schemas.openxmlformats.org/officeDocument/2006/math">
                    <m:r>
                      <a:rPr lang="en-US" altLang="zh-CN" sz="3200" i="1">
                        <a:latin typeface="Cambria Math" panose="02040503050406030204" pitchFamily="18" charset="0"/>
                      </a:rPr>
                      <m:t>𝑠</m:t>
                    </m:r>
                    <m:sSub>
                      <m:sSubPr>
                        <m:ctrlPr>
                          <a:rPr lang="zh-CN" altLang="zh-CN" sz="3200" i="1">
                            <a:latin typeface="Cambria Math" panose="02040503050406030204" pitchFamily="18" charset="0"/>
                          </a:rPr>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𝑠</m:t>
                        </m:r>
                      </m:sub>
                    </m:sSub>
                  </m:oMath>
                </a14:m>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t> </a:t>
                </a:r>
                <a14:m>
                  <m:oMath xmlns:m="http://schemas.openxmlformats.org/officeDocument/2006/math">
                    <m:r>
                      <a:rPr lang="en-US" altLang="zh-CN" sz="3200" i="1">
                        <a:latin typeface="Cambria Math" panose="02040503050406030204" pitchFamily="18" charset="0"/>
                      </a:rPr>
                      <m:t>𝑝</m:t>
                    </m:r>
                    <m:sSub>
                      <m:sSubPr>
                        <m:ctrlPr>
                          <a:rPr lang="zh-CN" altLang="zh-CN" sz="3200" i="1">
                            <a:latin typeface="Cambria Math" panose="02040503050406030204" pitchFamily="18" charset="0"/>
                          </a:rPr>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𝑟</m:t>
                        </m:r>
                      </m:sub>
                    </m:sSub>
                  </m:oMath>
                </a14:m>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5" name="TextBox 29"/>
              <p:cNvSpPr txBox="1">
                <a:spLocks noRot="1" noChangeAspect="1" noMove="1" noResize="1" noEditPoints="1" noAdjustHandles="1" noChangeArrowheads="1" noChangeShapeType="1" noTextEdit="1"/>
              </p:cNvSpPr>
              <p:nvPr/>
            </p:nvSpPr>
            <p:spPr>
              <a:xfrm>
                <a:off x="1734904" y="1689394"/>
                <a:ext cx="14818191" cy="3925177"/>
              </a:xfrm>
              <a:prstGeom prst="rect">
                <a:avLst/>
              </a:prstGeom>
              <a:blipFill rotWithShape="1">
                <a:blip r:embed="rId1"/>
                <a:stretch>
                  <a:fillRect l="-1" t="-7" r="-343" b="-553"/>
                </a:stretch>
              </a:blipFill>
            </p:spPr>
            <p:txBody>
              <a:bodyPr/>
              <a:lstStyle/>
              <a:p>
                <a:r>
                  <a:rPr lang="zh-CN" altLang="en-US">
                    <a:noFill/>
                  </a:rPr>
                  <a:t> </a:t>
                </a:r>
              </a:p>
            </p:txBody>
          </p:sp>
        </mc:Fallback>
      </mc:AlternateContent>
      <p:sp>
        <p:nvSpPr>
          <p:cNvPr id="8" name="灯片编号占位符 7"/>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5" name="组合 14"/>
          <p:cNvGrpSpPr/>
          <p:nvPr/>
        </p:nvGrpSpPr>
        <p:grpSpPr>
          <a:xfrm>
            <a:off x="13639786" y="733421"/>
            <a:ext cx="3700052" cy="416951"/>
            <a:chOff x="13811849" y="507954"/>
            <a:chExt cx="3700052" cy="416951"/>
          </a:xfrm>
        </p:grpSpPr>
        <p:sp>
          <p:nvSpPr>
            <p:cNvPr id="16" name="文本框 15"/>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7" name="图片 16"/>
            <p:cNvPicPr>
              <a:picLocks noChangeAspect="1"/>
            </p:cNvPicPr>
            <p:nvPr/>
          </p:nvPicPr>
          <p:blipFill>
            <a:blip r:embed="rId2"/>
            <a:stretch>
              <a:fillRect/>
            </a:stretch>
          </p:blipFill>
          <p:spPr>
            <a:xfrm>
              <a:off x="13944600" y="877286"/>
              <a:ext cx="2771429" cy="47619"/>
            </a:xfrm>
            <a:prstGeom prst="rect">
              <a:avLst/>
            </a:prstGeom>
          </p:spPr>
        </p:pic>
      </p:grpSp>
      <p:grpSp>
        <p:nvGrpSpPr>
          <p:cNvPr id="21" name="Group 2"/>
          <p:cNvGrpSpPr/>
          <p:nvPr/>
        </p:nvGrpSpPr>
        <p:grpSpPr>
          <a:xfrm>
            <a:off x="412090" y="1028700"/>
            <a:ext cx="7800783" cy="275915"/>
            <a:chOff x="0" y="0"/>
            <a:chExt cx="2054527" cy="72669"/>
          </a:xfrm>
        </p:grpSpPr>
        <p:sp>
          <p:nvSpPr>
            <p:cNvPr id="22"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23"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24" name="TextBox 30"/>
          <p:cNvSpPr txBox="1"/>
          <p:nvPr/>
        </p:nvSpPr>
        <p:spPr>
          <a:xfrm>
            <a:off x="2608081" y="504797"/>
            <a:ext cx="5088119" cy="625171"/>
          </a:xfrm>
          <a:prstGeom prst="rect">
            <a:avLst/>
          </a:prstGeom>
        </p:spPr>
        <p:txBody>
          <a:bodyPr wrap="square" lIns="0" tIns="0" rIns="0" bIns="0" rtlCol="0" anchor="t">
            <a:spAutoFit/>
          </a:bodyPr>
          <a:lstStyle/>
          <a:p>
            <a:pPr algn="l">
              <a:lnSpc>
                <a:spcPts val="5600"/>
              </a:lnSpc>
            </a:pP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数字密签</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25"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13.5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26"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29"/>
              <p:cNvSpPr txBox="1"/>
              <p:nvPr/>
            </p:nvSpPr>
            <p:spPr>
              <a:xfrm>
                <a:off x="1734904" y="1689394"/>
                <a:ext cx="15029096" cy="7323030"/>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val="200" checksum="797548545"/>
                    </a:ext>
                  </a:extLst>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．解签密过程</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输入一个密文、一个发送方的公钥</a:t>
                </a:r>
                <a14:m>
                  <m:oMath xmlns:m="http://schemas.openxmlformats.org/officeDocument/2006/math">
                    <m:r>
                      <a:rPr lang="en-US" altLang="zh-CN" sz="3200" i="1">
                        <a:latin typeface="Cambria Math" panose="02040503050406030204" pitchFamily="18" charset="0"/>
                      </a:rPr>
                      <m:t>𝑝</m:t>
                    </m:r>
                    <m:sSub>
                      <m:sSubPr>
                        <m:ctrlPr>
                          <a:rPr lang="zh-CN" altLang="zh-CN" sz="3200" i="1">
                            <a:latin typeface="Cambria Math" panose="02040503050406030204" pitchFamily="18" charset="0"/>
                          </a:rPr>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𝑠</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和一个接收方的私钥</a:t>
                </a:r>
                <a14:m>
                  <m:oMath xmlns:m="http://schemas.openxmlformats.org/officeDocument/2006/math">
                    <m:r>
                      <a:rPr lang="en-US" altLang="zh-CN" sz="3200" i="1">
                        <a:latin typeface="Cambria Math" panose="02040503050406030204" pitchFamily="18" charset="0"/>
                      </a:rPr>
                      <m:t>𝑠</m:t>
                    </m:r>
                    <m:sSub>
                      <m:sSubPr>
                        <m:ctrlPr>
                          <a:rPr lang="zh-CN" altLang="zh-CN" sz="3200" i="1">
                            <a:latin typeface="Cambria Math" panose="02040503050406030204" pitchFamily="18" charset="0"/>
                          </a:rPr>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𝑟</m:t>
                        </m:r>
                      </m:sub>
                    </m:sSub>
                    <m:r>
                      <a:rPr lang="en-US" altLang="zh-CN" sz="32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。最后可以输出一个明文消息</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或者解签密的错误符号（密文是不合法的）。解签密算法可以表示为</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m=unsigncrypt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c</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14:m>
                  <m:oMath xmlns:m="http://schemas.openxmlformats.org/officeDocument/2006/math">
                    <m:r>
                      <a:rPr lang="en-US" altLang="zh-CN" sz="3200" i="1">
                        <a:latin typeface="Cambria Math" panose="02040503050406030204" pitchFamily="18" charset="0"/>
                      </a:rPr>
                      <m:t>𝑠</m:t>
                    </m:r>
                    <m:sSub>
                      <m:sSubPr>
                        <m:ctrlPr>
                          <a:rPr lang="zh-CN" altLang="zh-CN" sz="3200" i="1">
                            <a:latin typeface="Cambria Math" panose="02040503050406030204" pitchFamily="18" charset="0"/>
                          </a:rPr>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𝑟</m:t>
                        </m:r>
                      </m:sub>
                    </m:sSub>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14:m>
                  <m:oMath xmlns:m="http://schemas.openxmlformats.org/officeDocument/2006/math">
                    <m:r>
                      <a:rPr lang="en-US" altLang="zh-CN" sz="3200" i="1">
                        <a:latin typeface="Cambria Math" panose="02040503050406030204" pitchFamily="18" charset="0"/>
                      </a:rPr>
                      <m:t>𝑝</m:t>
                    </m:r>
                    <m:sSub>
                      <m:sSubPr>
                        <m:ctrlPr>
                          <a:rPr lang="zh-CN" altLang="zh-CN" sz="3200" i="1">
                            <a:latin typeface="Cambria Math" panose="02040503050406030204" pitchFamily="18" charset="0"/>
                          </a:rPr>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𝑠</m:t>
                        </m:r>
                      </m:sub>
                    </m:sSub>
                  </m:oMath>
                </a14:m>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算法必须满足签密体制的一致性约束。如果</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c=signcrypt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m</a:t>
                </a:r>
                <a:r>
                  <a:rPr lang="en-US" altLang="zh-CN" sz="4000" i="1">
                    <a:solidFill>
                      <a:srgbClr val="000000"/>
                    </a:solidFill>
                    <a:latin typeface="Times New Roman" panose="02020603050405020304" pitchFamily="18" charset="0"/>
                    <a:cs typeface="字由点字典黑 2"/>
                    <a:sym typeface="字由点字典黑 2"/>
                  </a:rPr>
                  <a:t>,</a:t>
                </a:r>
                <a14:m>
                  <m:oMath xmlns:m="http://schemas.openxmlformats.org/officeDocument/2006/math">
                    <m:r>
                      <a:rPr lang="en-US" altLang="zh-CN" sz="3200" i="1">
                        <a:latin typeface="Cambria Math" panose="02040503050406030204" pitchFamily="18" charset="0"/>
                      </a:rPr>
                      <m:t>𝑠</m:t>
                    </m:r>
                    <m:sSub>
                      <m:sSubPr>
                        <m:ctrlPr>
                          <a:rPr lang="zh-CN" altLang="zh-CN" sz="3200" i="1">
                            <a:latin typeface="Cambria Math" panose="02040503050406030204" pitchFamily="18" charset="0"/>
                          </a:rPr>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𝑠</m:t>
                        </m:r>
                      </m:sub>
                    </m:sSub>
                  </m:oMath>
                </a14:m>
                <a:r>
                  <a:rPr lang="en-US" altLang="zh-CN" sz="4000" i="1">
                    <a:solidFill>
                      <a:srgbClr val="000000"/>
                    </a:solidFill>
                    <a:latin typeface="Times New Roman" panose="02020603050405020304" pitchFamily="18" charset="0"/>
                    <a:cs typeface="字由点字典黑 2"/>
                    <a:sym typeface="字由点字典黑 2"/>
                  </a:rPr>
                  <a:t>,</a:t>
                </a:r>
                <a:r>
                  <a:rPr lang="en-US" altLang="zh-CN" sz="4000"/>
                  <a:t> </a:t>
                </a:r>
                <a14:m>
                  <m:oMath xmlns:m="http://schemas.openxmlformats.org/officeDocument/2006/math">
                    <m:r>
                      <a:rPr lang="en-US" altLang="zh-CN" sz="3200" i="1">
                        <a:latin typeface="Cambria Math" panose="02040503050406030204" pitchFamily="18" charset="0"/>
                      </a:rPr>
                      <m:t>𝑝</m:t>
                    </m:r>
                    <m:sSub>
                      <m:sSubPr>
                        <m:ctrlPr>
                          <a:rPr lang="zh-CN" altLang="zh-CN" sz="3200" i="1">
                            <a:latin typeface="Cambria Math" panose="02040503050406030204" pitchFamily="18" charset="0"/>
                          </a:rPr>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𝑟</m:t>
                        </m:r>
                      </m:sub>
                    </m:sSub>
                  </m:oMath>
                </a14:m>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，那么一定满足</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m=unsigncrypt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i="1">
                    <a:solidFill>
                      <a:srgbClr val="000000"/>
                    </a:solidFill>
                    <a:latin typeface="Times New Roman" panose="02020603050405020304" pitchFamily="18" charset="0"/>
                    <a:ea typeface="宋体" panose="02010600030101010101" pitchFamily="2" charset="-122"/>
                    <a:cs typeface="字由点字典黑 2"/>
                    <a:sym typeface="字由点字典黑 2"/>
                  </a:rPr>
                  <a:t>c</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 </a:t>
                </a:r>
                <a14:m>
                  <m:oMath xmlns:m="http://schemas.openxmlformats.org/officeDocument/2006/math">
                    <m:r>
                      <a:rPr lang="en-US" altLang="zh-CN" sz="3200" i="1">
                        <a:latin typeface="Cambria Math" panose="02040503050406030204" pitchFamily="18" charset="0"/>
                      </a:rPr>
                      <m:t>𝑠</m:t>
                    </m:r>
                    <m:sSub>
                      <m:sSubPr>
                        <m:ctrlPr>
                          <a:rPr lang="zh-CN" altLang="zh-CN" sz="3200" i="1">
                            <a:latin typeface="Cambria Math" panose="02040503050406030204" pitchFamily="18" charset="0"/>
                          </a:rPr>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𝑟</m:t>
                        </m:r>
                      </m:sub>
                    </m:sSub>
                  </m:oMath>
                </a14:m>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 </a:t>
                </a:r>
                <a14:m>
                  <m:oMath xmlns:m="http://schemas.openxmlformats.org/officeDocument/2006/math">
                    <m:r>
                      <a:rPr lang="en-US" altLang="zh-CN" sz="3200" i="1">
                        <a:latin typeface="Cambria Math" panose="02040503050406030204" pitchFamily="18" charset="0"/>
                      </a:rPr>
                      <m:t>𝑝</m:t>
                    </m:r>
                    <m:sSub>
                      <m:sSubPr>
                        <m:ctrlPr>
                          <a:rPr lang="zh-CN" altLang="zh-CN" sz="3200" i="1">
                            <a:latin typeface="Cambria Math" panose="02040503050406030204" pitchFamily="18" charset="0"/>
                          </a:rPr>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𝑠</m:t>
                        </m:r>
                      </m:sub>
                    </m:sSub>
                    <m:r>
                      <a:rPr lang="en-US" altLang="zh-CN" sz="3200" i="1">
                        <a:latin typeface="Cambria Math" panose="02040503050406030204" pitchFamily="18" charset="0"/>
                      </a:rPr>
                      <m:t> </m:t>
                    </m:r>
                  </m:oMath>
                </a14:m>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签密是同时实现消息传递机密性和认证性的方法，一个安全的签密算法满足以下特性。</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1</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）机密性，即攻击者想要从密文中获知明文的部分信息是不可行的。</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）不可伪造性，即攻击者产生一个合法的密文是不可行的。</a:t>
                </a:r>
                <a:endPar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3</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）不可否认性，即发送者不可否认自己对消息进行过签密。</a:t>
                </a:r>
                <a:endParaRPr lang="zh-CN" altLang="en-US"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mc:Choice>
        <mc:Fallback>
          <p:sp>
            <p:nvSpPr>
              <p:cNvPr id="5" name="TextBox 29"/>
              <p:cNvSpPr txBox="1">
                <a:spLocks noRot="1" noChangeAspect="1" noMove="1" noResize="1" noEditPoints="1" noAdjustHandles="1" noChangeArrowheads="1" noChangeShapeType="1" noTextEdit="1"/>
              </p:cNvSpPr>
              <p:nvPr/>
            </p:nvSpPr>
            <p:spPr>
              <a:xfrm>
                <a:off x="1734904" y="1689394"/>
                <a:ext cx="15029096" cy="7323030"/>
              </a:xfrm>
              <a:prstGeom prst="rect">
                <a:avLst/>
              </a:prstGeom>
              <a:blipFill rotWithShape="1">
                <a:blip r:embed="rId1"/>
                <a:stretch>
                  <a:fillRect l="-1" t="-4" r="-1910" b="7"/>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rPr>
                <a:t>◆◆◆</a:t>
              </a:r>
              <a:r>
                <a:rPr lang="zh-CN" altLang="zh-CN" dirty="0">
                  <a:solidFill>
                    <a:schemeClr val="accent1"/>
                  </a:solidFill>
                </a:rPr>
                <a:t> </a:t>
              </a:r>
              <a:r>
                <a:rPr lang="zh-CN" altLang="zh-CN" b="1" dirty="0">
                  <a:solidFill>
                    <a:schemeClr val="tx2"/>
                  </a:solidFill>
                  <a:latin typeface="仿宋" panose="02010609060101010101" pitchFamily="49" charset="-122"/>
                  <a:ea typeface="仿宋" panose="02010609060101010101" pitchFamily="49" charset="-122"/>
                </a:rPr>
                <a:t>密码学——基础理论与应用</a:t>
              </a:r>
              <a:endParaRPr lang="zh-CN" altLang="zh-CN" b="1" dirty="0">
                <a:solidFill>
                  <a:schemeClr val="tx2"/>
                </a:solidFill>
                <a:latin typeface="仿宋" panose="02010609060101010101" pitchFamily="49" charset="-122"/>
                <a:ea typeface="仿宋" panose="02010609060101010101" pitchFamily="49" charset="-122"/>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endParaRPr lang="zh-CN" altLang="en-US"/>
            </a:p>
          </p:txBody>
        </p:sp>
        <p:sp>
          <p:nvSpPr>
            <p:cNvPr id="4" name="TextBox 4"/>
            <p:cNvSpPr txBox="1"/>
            <p:nvPr/>
          </p:nvSpPr>
          <p:spPr>
            <a:xfrm>
              <a:off x="0" y="0"/>
              <a:ext cx="2054527" cy="72669"/>
            </a:xfrm>
            <a:prstGeom prst="rect">
              <a:avLst/>
            </a:prstGeom>
          </p:spPr>
          <p:txBody>
            <a:bodyPr lIns="50800" tIns="50800" rIns="50800" bIns="50800" rtlCol="0" anchor="ctr"/>
            <a:lstStyle/>
            <a:p>
              <a:pPr algn="ctr">
                <a:lnSpc>
                  <a:spcPts val="2880"/>
                </a:lnSpc>
              </a:pPr>
            </a:p>
          </p:txBody>
        </p:sp>
      </p:grpSp>
      <p:sp>
        <p:nvSpPr>
          <p:cNvPr id="16" name="TextBox 30"/>
          <p:cNvSpPr txBox="1"/>
          <p:nvPr/>
        </p:nvSpPr>
        <p:spPr>
          <a:xfrm>
            <a:off x="2608081" y="504797"/>
            <a:ext cx="5088119" cy="625171"/>
          </a:xfrm>
          <a:prstGeom prst="rect">
            <a:avLst/>
          </a:prstGeom>
        </p:spPr>
        <p:txBody>
          <a:bodyPr wrap="square" lIns="0" tIns="0" rIns="0" bIns="0" rtlCol="0" anchor="t">
            <a:spAutoFit/>
          </a:bodyPr>
          <a:lstStyle/>
          <a:p>
            <a:pPr algn="l">
              <a:lnSpc>
                <a:spcPts val="5600"/>
              </a:lnSpc>
            </a:pPr>
            <a:r>
              <a:rPr lang="zh-CN" altLang="en-US" sz="4000" b="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数字密签</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7" name="TextBox 31"/>
          <p:cNvSpPr txBox="1"/>
          <p:nvPr/>
        </p:nvSpPr>
        <p:spPr>
          <a:xfrm>
            <a:off x="1295400" y="429424"/>
            <a:ext cx="1373952" cy="775918"/>
          </a:xfrm>
          <a:prstGeom prst="rect">
            <a:avLst/>
          </a:prstGeom>
        </p:spPr>
        <p:txBody>
          <a:bodyPr wrap="square" lIns="0" tIns="0" rIns="0" bIns="0" rtlCol="0" anchor="t">
            <a:spAutoFit/>
          </a:bodyPr>
          <a:lstStyle/>
          <a:p>
            <a:pPr algn="ctr">
              <a:lnSpc>
                <a:spcPts val="6575"/>
              </a:lnSpc>
            </a:pPr>
            <a:r>
              <a:rPr lang="en-US" sz="4695">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13.5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8" name="图片 2"/>
          <p:cNvPicPr>
            <a:picLocks noChangeAspect="1"/>
          </p:cNvPicPr>
          <p:nvPr/>
        </p:nvPicPr>
        <p:blipFill>
          <a:blip r:embed="rId3">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0" name="TextBox 30"/>
          <p:cNvSpPr txBox="1"/>
          <p:nvPr/>
        </p:nvSpPr>
        <p:spPr>
          <a:xfrm>
            <a:off x="7781241" y="2834725"/>
            <a:ext cx="2725514" cy="2011384"/>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pPr>
            <a:r>
              <a:rPr kumimoji="0" lang="en-US" sz="12200" b="0" i="0" u="none" strike="noStrike" kern="1200" cap="none" spc="0" normalizeH="0" baseline="0" noProof="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1</a:t>
            </a:r>
            <a:r>
              <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3</a:t>
            </a:r>
            <a:r>
              <a:rPr kumimoji="0" lang="en-US" sz="12200" b="0" i="0" u="none" strike="noStrike" kern="1200" cap="none" spc="0" normalizeH="0" baseline="0" noProof="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rPr>
              <a:t>.6</a:t>
            </a:r>
            <a:endParaRPr kumimoji="0" lang="en-US" sz="12200" b="0" i="0" u="none" strike="noStrike" kern="1200" cap="none" spc="0" normalizeH="0" baseline="0" noProof="0" dirty="0">
              <a:ln>
                <a:noFill/>
              </a:ln>
              <a:solidFill>
                <a:srgbClr val="004AAD"/>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字由文艺黑" panose="00020600040101010101" charset="-122"/>
            </a:endParaRPr>
          </a:p>
        </p:txBody>
      </p:sp>
      <p:sp>
        <p:nvSpPr>
          <p:cNvPr id="31" name="TextBox 31"/>
          <p:cNvSpPr txBox="1"/>
          <p:nvPr/>
        </p:nvSpPr>
        <p:spPr>
          <a:xfrm>
            <a:off x="3428998" y="5143500"/>
            <a:ext cx="11429999" cy="1436291"/>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pPr>
            <a:r>
              <a:rPr lang="zh-CN" altLang="en-US" sz="9600" b="1" dirty="0">
                <a:solidFill>
                  <a:srgbClr val="004AAD"/>
                </a:solidFill>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endParaRPr kumimoji="0" lang="zh-CN" altLang="en-US" sz="9600" b="1" i="0" u="none" strike="noStrike" kern="1200" cap="none" spc="0" normalizeH="0" baseline="0" noProof="0" dirty="0">
              <a:ln>
                <a:noFill/>
              </a:ln>
              <a:solidFill>
                <a:srgbClr val="004AAD"/>
              </a:solidFill>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grpSp>
        <p:nvGrpSpPr>
          <p:cNvPr id="37" name="Group 37"/>
          <p:cNvGrpSpPr/>
          <p:nvPr/>
        </p:nvGrpSpPr>
        <p:grpSpPr>
          <a:xfrm>
            <a:off x="-1299970" y="9030575"/>
            <a:ext cx="21159211" cy="1394613"/>
            <a:chOff x="0" y="0"/>
            <a:chExt cx="28212281" cy="1859484"/>
          </a:xfrm>
        </p:grpSpPr>
        <p:grpSp>
          <p:nvGrpSpPr>
            <p:cNvPr id="38" name="Group 38"/>
            <p:cNvGrpSpPr/>
            <p:nvPr/>
          </p:nvGrpSpPr>
          <p:grpSpPr>
            <a:xfrm>
              <a:off x="361694" y="0"/>
              <a:ext cx="27850587" cy="1462963"/>
              <a:chOff x="0" y="0"/>
              <a:chExt cx="5501351" cy="288980"/>
            </a:xfrm>
          </p:grpSpPr>
          <p:sp>
            <p:nvSpPr>
              <p:cNvPr id="39"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0"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1" name="Group 41"/>
            <p:cNvGrpSpPr/>
            <p:nvPr/>
          </p:nvGrpSpPr>
          <p:grpSpPr>
            <a:xfrm>
              <a:off x="0" y="203803"/>
              <a:ext cx="27850587" cy="1655681"/>
              <a:chOff x="0" y="0"/>
              <a:chExt cx="5501351" cy="327048"/>
            </a:xfrm>
          </p:grpSpPr>
          <p:sp>
            <p:nvSpPr>
              <p:cNvPr id="42"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3"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33"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Calibri" panose="020F0502020204030204"/>
                <a:ea typeface="+mn-ea"/>
                <a:cs typeface="+mn-cs"/>
              </a:rPr>
            </a:fld>
            <a:endParaRPr kumimoji="0" lang="en-US" sz="1400" b="0"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grpSp>
        <p:nvGrpSpPr>
          <p:cNvPr id="44" name="组合 43"/>
          <p:cNvGrpSpPr/>
          <p:nvPr/>
        </p:nvGrpSpPr>
        <p:grpSpPr>
          <a:xfrm>
            <a:off x="958201" y="563241"/>
            <a:ext cx="3700052" cy="416951"/>
            <a:chOff x="13811849" y="507954"/>
            <a:chExt cx="3700052" cy="416951"/>
          </a:xfrm>
        </p:grpSpPr>
        <p:sp>
          <p:nvSpPr>
            <p:cNvPr id="34"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36" name="图片 35"/>
            <p:cNvPicPr>
              <a:picLocks noChangeAspect="1"/>
            </p:cNvPicPr>
            <p:nvPr/>
          </p:nvPicPr>
          <p:blipFill>
            <a:blip r:embed="rId1"/>
            <a:stretch>
              <a:fillRect/>
            </a:stretch>
          </p:blipFill>
          <p:spPr>
            <a:xfrm>
              <a:off x="13944600" y="877286"/>
              <a:ext cx="2771429" cy="47619"/>
            </a:xfrm>
            <a:prstGeom prst="rect">
              <a:avLst/>
            </a:prstGeom>
          </p:spPr>
        </p:pic>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9"/>
          <p:cNvSpPr txBox="1"/>
          <p:nvPr/>
        </p:nvSpPr>
        <p:spPr>
          <a:xfrm>
            <a:off x="1734904" y="1757630"/>
            <a:ext cx="14818191" cy="5254772"/>
          </a:xfrm>
          <a:prstGeom prst="rect">
            <a:avLst/>
          </a:prstGeom>
        </p:spPr>
        <p:txBody>
          <a:bodyPr wrap="square" lIns="0" tIns="0" rIns="0" bIns="0" rtlCol="0" anchor="t">
            <a:spAutoFit/>
          </a:bodyPr>
          <a:lstStyle/>
          <a:p>
            <a:pPr indent="914400"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本章介绍了密码学中的数字签名技术，其中着重介绍了数字签名方案设计的思路和要求，并对现阶段国内外著名的数字签名方案进行了详细介绍。</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SM2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数字签名算法与同是基于离散对数困难问题的</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ECDSA</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方案相比，其实现效率更高。</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SM9</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数字签名算法由于其双线性对的结构，安全性很高，并且随着计算能力的增长，双线性对的运算速度也会进一步提升。</a:t>
            </a:r>
            <a:endPar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endParaRPr>
          </a:p>
          <a:p>
            <a:pPr indent="914400" fontAlgn="auto" latinLnBrk="1">
              <a:lnSpc>
                <a:spcPct val="120000"/>
              </a:lnSpc>
              <a:extLst>
                <a:ext uri="{35155182-B16C-46BC-9424-99874614C6A1}">
                  <wpsdc:indentchars xmlns:wpsdc="http://www.wps.cn/officeDocument/2017/drawingmlCustomData" val="200" checksum="797548545"/>
                </a:ext>
              </a:extLst>
            </a:pP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因此，</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SM2</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数字签名算法与</a:t>
            </a:r>
            <a:r>
              <a:rPr lang="en-US" altLang="zh-CN" sz="3600">
                <a:solidFill>
                  <a:srgbClr val="000000"/>
                </a:solidFill>
                <a:latin typeface="Times New Roman" panose="02020603050405020304" pitchFamily="18" charset="0"/>
                <a:ea typeface="宋体" panose="02010600030101010101" pitchFamily="2" charset="-122"/>
                <a:cs typeface="字由点字典黑 2"/>
                <a:sym typeface="字由点字典黑 2"/>
              </a:rPr>
              <a:t>SM9</a:t>
            </a:r>
            <a:r>
              <a:rPr lang="zh-CN" altLang="en-US" sz="3600">
                <a:solidFill>
                  <a:srgbClr val="000000"/>
                </a:solidFill>
                <a:latin typeface="Times New Roman" panose="02020603050405020304" pitchFamily="18" charset="0"/>
                <a:ea typeface="宋体" panose="02010600030101010101" pitchFamily="2" charset="-122"/>
                <a:cs typeface="字由点字典黑 2"/>
                <a:sym typeface="字由点字典黑 2"/>
              </a:rPr>
              <a:t>数字签名算法有着很广泛的应用前景。</a:t>
            </a:r>
            <a:endParaRPr lang="de-DE" altLang="zh-CN" sz="3600" dirty="0">
              <a:solidFill>
                <a:srgbClr val="000000"/>
              </a:solidFill>
              <a:latin typeface="Times New Roman" panose="02020603050405020304" pitchFamily="18" charset="0"/>
              <a:ea typeface="宋体" panose="02010600030101010101" pitchFamily="2" charset="-122"/>
              <a:cs typeface="字由点字典黑 2"/>
              <a:sym typeface="字由点字典黑 2"/>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fld>
            <a:endParaRPr lang="en-US" sz="1400" baseline="0">
              <a:solidFill>
                <a:srgbClr val="FFC000"/>
              </a:solidFill>
            </a:endParaRPr>
          </a:p>
        </p:txBody>
      </p:sp>
      <p:grpSp>
        <p:nvGrpSpPr>
          <p:cNvPr id="7" name="Group 2"/>
          <p:cNvGrpSpPr/>
          <p:nvPr/>
        </p:nvGrpSpPr>
        <p:grpSpPr>
          <a:xfrm>
            <a:off x="412090" y="1028700"/>
            <a:ext cx="7800783" cy="275915"/>
            <a:chOff x="0" y="0"/>
            <a:chExt cx="2054527" cy="72669"/>
          </a:xfrm>
        </p:grpSpPr>
        <p:sp>
          <p:nvSpPr>
            <p:cNvPr id="8"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 name="TextBox 30"/>
          <p:cNvSpPr txBox="1"/>
          <p:nvPr/>
        </p:nvSpPr>
        <p:spPr>
          <a:xfrm>
            <a:off x="2210043" y="509179"/>
            <a:ext cx="9458717" cy="625171"/>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本章小结</a:t>
            </a:r>
            <a:endPar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1" name="TextBox 31"/>
          <p:cNvSpPr txBox="1"/>
          <p:nvPr/>
        </p:nvSpPr>
        <p:spPr>
          <a:xfrm>
            <a:off x="1216848" y="429424"/>
            <a:ext cx="1049507" cy="842645"/>
          </a:xfrm>
          <a:prstGeom prst="rect">
            <a:avLst/>
          </a:prstGeom>
        </p:spPr>
        <p:txBody>
          <a:bodyPr lIns="0" tIns="0" rIns="0" bIns="0" rtlCol="0" anchor="t">
            <a:spAutoFit/>
          </a:bodyPr>
          <a:lstStyle/>
          <a:p>
            <a:pPr marL="0" marR="0" lvl="0" indent="0" algn="ctr" defTabSz="914400" rtl="0" eaLnBrk="1" fontAlgn="auto" latinLnBrk="0" hangingPunct="1">
              <a:lnSpc>
                <a:spcPts val="6575"/>
              </a:lnSpc>
              <a:spcBef>
                <a:spcPts val="0"/>
              </a:spcBef>
              <a:spcAft>
                <a:spcPts val="0"/>
              </a:spcAft>
              <a:buClrTx/>
              <a:buSzTx/>
              <a:buFontTx/>
              <a:buNone/>
              <a:defRPr/>
            </a:pPr>
            <a:r>
              <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13.</a:t>
            </a: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6</a:t>
            </a:r>
            <a:endParaRPr kumimoji="0" lang="en-US" sz="4695" b="0"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endParaRPr>
          </a:p>
        </p:txBody>
      </p:sp>
      <p:pic>
        <p:nvPicPr>
          <p:cNvPr id="12" name="图片 2"/>
          <p:cNvPicPr>
            <a:picLocks noChangeAspect="1"/>
          </p:cNvPicPr>
          <p:nvPr/>
        </p:nvPicPr>
        <p:blipFill>
          <a:blip r:embed="rId1">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13" name="组合 12"/>
          <p:cNvGrpSpPr/>
          <p:nvPr/>
        </p:nvGrpSpPr>
        <p:grpSpPr>
          <a:xfrm>
            <a:off x="13639786" y="733421"/>
            <a:ext cx="3700052" cy="416951"/>
            <a:chOff x="13811849" y="507954"/>
            <a:chExt cx="3700052" cy="416951"/>
          </a:xfrm>
        </p:grpSpPr>
        <p:sp>
          <p:nvSpPr>
            <p:cNvPr id="14" name="文本框 1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Calibri" panose="020F0502020204030204"/>
                  <a:ea typeface="宋体" panose="02010600030101010101" pitchFamily="2" charset="-122"/>
                  <a:cs typeface="+mn-cs"/>
                </a:rPr>
                <a:t>◆◆◆</a:t>
              </a:r>
              <a:r>
                <a:rPr kumimoji="0" lang="zh-CN" altLang="zh-CN" sz="1800" b="0" i="0" u="none" strike="noStrike" kern="1200" cap="none" spc="0" normalizeH="0" baseline="0" noProof="0" dirty="0">
                  <a:ln>
                    <a:noFill/>
                  </a:ln>
                  <a:solidFill>
                    <a:srgbClr val="4F81BD"/>
                  </a:solidFill>
                  <a:effectLst/>
                  <a:uLnTx/>
                  <a:uFillTx/>
                  <a:latin typeface="Calibri" panose="020F0502020204030204"/>
                  <a:ea typeface="宋体" panose="02010600030101010101" pitchFamily="2" charset="-122"/>
                  <a:cs typeface="+mn-cs"/>
                </a:rPr>
                <a:t> </a:t>
              </a:r>
              <a:r>
                <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rPr>
                <a:t>密码学——基础理论与应用</a:t>
              </a:r>
              <a:endParaRPr kumimoji="0" lang="zh-CN" altLang="zh-CN" sz="1800" b="1" i="0" u="none" strike="noStrike" kern="1200" cap="none" spc="0" normalizeH="0" baseline="0" noProof="0" dirty="0">
                <a:ln>
                  <a:noFill/>
                </a:ln>
                <a:solidFill>
                  <a:srgbClr val="1F497D"/>
                </a:solidFill>
                <a:effectLst/>
                <a:uLnTx/>
                <a:uFillTx/>
                <a:latin typeface="仿宋" panose="02010609060101010101" pitchFamily="49" charset="-122"/>
                <a:ea typeface="仿宋" panose="02010609060101010101" pitchFamily="49" charset="-122"/>
                <a:cs typeface="+mn-cs"/>
              </a:endParaRPr>
            </a:p>
          </p:txBody>
        </p:sp>
        <p:pic>
          <p:nvPicPr>
            <p:cNvPr id="15" name="图片 14"/>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tags/tag1.xml><?xml version="1.0" encoding="utf-8"?>
<p:tagLst xmlns:p="http://schemas.openxmlformats.org/presentationml/2006/main">
  <p:tag name="KSO_WM_DIAGRAM_VIRTUALLY_FRAME" val="{&quot;height&quot;:495.75,&quot;left&quot;:526.7677952755906,&quot;top&quot;:109.19661417322831,&quot;width&quot;:676.0322047244093}"/>
</p:tagLst>
</file>

<file path=ppt/tags/tag2.xml><?xml version="1.0" encoding="utf-8"?>
<p:tagLst xmlns:p="http://schemas.openxmlformats.org/presentationml/2006/main">
  <p:tag name="KSO_WM_DIAGRAM_VIRTUALLY_FRAME" val="{&quot;height&quot;:495.75,&quot;left&quot;:526.7677952755906,&quot;top&quot;:109.19661417322831,&quot;width&quot;:676.0322047244093}"/>
</p:tagLst>
</file>

<file path=ppt/tags/tag3.xml><?xml version="1.0" encoding="utf-8"?>
<p:tagLst xmlns:p="http://schemas.openxmlformats.org/presentationml/2006/main">
  <p:tag name="KSO_WM_DIAGRAM_VIRTUALLY_FRAME" val="{&quot;height&quot;:495.75,&quot;left&quot;:526.7677952755906,&quot;top&quot;:109.19661417322831,&quot;width&quot;:676.0322047244093}"/>
</p:tagLst>
</file>

<file path=ppt/tags/tag4.xml><?xml version="1.0" encoding="utf-8"?>
<p:tagLst xmlns:p="http://schemas.openxmlformats.org/presentationml/2006/main">
  <p:tag name="KSO_WM_DIAGRAM_VIRTUALLY_FRAME" val="{&quot;height&quot;:495.75,&quot;left&quot;:526.7677952755906,&quot;top&quot;:109.19661417322831,&quot;width&quot;:676.0322047244093}"/>
</p:tagLst>
</file>

<file path=ppt/tags/tag5.xml><?xml version="1.0" encoding="utf-8"?>
<p:tagLst xmlns:p="http://schemas.openxmlformats.org/presentationml/2006/main">
  <p:tag name="KSO_WM_DIAGRAM_VIRTUALLY_FRAME" val="{&quot;height&quot;:495.75,&quot;left&quot;:526.7677952755906,&quot;top&quot;:109.19661417322831,&quot;width&quot;:676.0322047244093}"/>
</p:tagLst>
</file>

<file path=ppt/tags/tag6.xml><?xml version="1.0" encoding="utf-8"?>
<p:tagLst xmlns:p="http://schemas.openxmlformats.org/presentationml/2006/main">
  <p:tag name="KSO_WM_DIAGRAM_VIRTUALLY_FRAME" val="{&quot;height&quot;:495.75,&quot;left&quot;:526.7677952755906,&quot;top&quot;:109.19661417322831,&quot;width&quot;:676.0322047244093}"/>
</p:tagLst>
</file>

<file path=ppt/tags/tag7.xml><?xml version="1.0" encoding="utf-8"?>
<p:tagLst xmlns:p="http://schemas.openxmlformats.org/presentationml/2006/main">
  <p:tag name="KSO_WM_DIAGRAM_VIRTUALLY_FRAME" val="{&quot;height&quot;:495.75,&quot;left&quot;:526.7677952755906,&quot;top&quot;:109.19661417322831,&quot;width&quot;:676.0322047244093}"/>
</p:tagLst>
</file>

<file path=ppt/tags/tag8.xml><?xml version="1.0" encoding="utf-8"?>
<p:tagLst xmlns:p="http://schemas.openxmlformats.org/presentationml/2006/main">
  <p:tag name="KSO_WM_DIAGRAM_VIRTUALLY_FRAME" val="{&quot;height&quot;:495.75,&quot;left&quot;:526.7677952755906,&quot;top&quot;:109.19661417322831,&quot;width&quot;:676.0322047244093}"/>
</p:tagLst>
</file>

<file path=ppt/tags/tag9.xml><?xml version="1.0" encoding="utf-8"?>
<p:tagLst xmlns:p="http://schemas.openxmlformats.org/presentationml/2006/main">
  <p:tag name="KSO_WM_DIAGRAM_VIRTUALLY_FRAME" val="{&quot;height&quot;:495.75,&quot;left&quot;:526.7677952755906,&quot;top&quot;:109.19661417322831,&quot;width&quot;:676.0322047244093}"/>
</p:tagLst>
</file>

<file path=ppt/tags/tag10.xml><?xml version="1.0" encoding="utf-8"?>
<p:tagLst xmlns:p="http://schemas.openxmlformats.org/presentationml/2006/main">
  <p:tag name="KSO_WM_DIAGRAM_VIRTUALLY_FRAME" val="{&quot;height&quot;:495.75,&quot;left&quot;:526.7677952755906,&quot;top&quot;:109.19661417322831,&quot;width&quot;:676.0322047244093}"/>
</p:tagLst>
</file>

<file path=ppt/tags/tag11.xml><?xml version="1.0" encoding="utf-8"?>
<p:tagLst xmlns:p="http://schemas.openxmlformats.org/presentationml/2006/main">
  <p:tag name="KSO_WM_DIAGRAM_VIRTUALLY_FRAME" val="{&quot;height&quot;:495.75,&quot;left&quot;:526.7677952755906,&quot;top&quot;:109.19661417322831,&quot;width&quot;:676.0322047244093}"/>
</p:tagLst>
</file>

<file path=ppt/tags/tag12.xml><?xml version="1.0" encoding="utf-8"?>
<p:tagLst xmlns:p="http://schemas.openxmlformats.org/presentationml/2006/main">
  <p:tag name="KSO_WM_DIAGRAM_VIRTUALLY_FRAME" val="{&quot;height&quot;:495.75,&quot;left&quot;:526.7677952755906,&quot;top&quot;:109.19661417322831,&quot;width&quot;:676.032204724409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10431</Words>
  <Application>WPS 演示</Application>
  <PresentationFormat>自定义</PresentationFormat>
  <Paragraphs>541</Paragraphs>
  <Slides>40</Slides>
  <Notes>1</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17</vt:i4>
      </vt:variant>
      <vt:variant>
        <vt:lpstr>幻灯片标题</vt:lpstr>
      </vt:variant>
      <vt:variant>
        <vt:i4>40</vt:i4>
      </vt:variant>
    </vt:vector>
  </HeadingPairs>
  <TitlesOfParts>
    <vt:vector size="75" baseType="lpstr">
      <vt:lpstr>Arial</vt:lpstr>
      <vt:lpstr>宋体</vt:lpstr>
      <vt:lpstr>Wingdings</vt:lpstr>
      <vt:lpstr>仿宋</vt:lpstr>
      <vt:lpstr>字由文艺黑</vt:lpstr>
      <vt:lpstr>Times New Roman</vt:lpstr>
      <vt:lpstr>微软雅黑</vt:lpstr>
      <vt:lpstr>Calibri</vt:lpstr>
      <vt:lpstr>字由点字典黑 2</vt:lpstr>
      <vt:lpstr>黑体</vt:lpstr>
      <vt:lpstr>Arial Unicode MS</vt:lpstr>
      <vt:lpstr>等线</vt:lpstr>
      <vt:lpstr>Cambria Math</vt:lpstr>
      <vt:lpstr>Calibri</vt:lpstr>
      <vt:lpstr>字由点字典黑 2</vt:lpstr>
      <vt:lpstr>字由点字典黑 55J</vt:lpstr>
      <vt:lpstr>Office Theme</vt:lpstr>
      <vt:lpstr>1_Office Theme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蓝色简约毕业论文答辩演示文稿</dc:title>
  <dc:creator>snow jiang</dc:creator>
  <cp:lastModifiedBy>杨妮</cp:lastModifiedBy>
  <cp:revision>202</cp:revision>
  <dcterms:created xsi:type="dcterms:W3CDTF">2006-08-16T00:00:00Z</dcterms:created>
  <dcterms:modified xsi:type="dcterms:W3CDTF">2026-10-26T03:12:53Z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409F442B1D3B4158A0B9737FA8136271_13</vt:lpwstr>
  </property>
  <property fmtid="{D5CDD505-2E9C-101B-9397-08002B2CF9AE}" pid="3" name="KSOProductBuildVer">
    <vt:lpwstr>2052-12.1.0.29161</vt:lpwstr>
  </property>
</Properties>
</file>