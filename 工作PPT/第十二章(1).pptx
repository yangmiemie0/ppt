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  <p:sldMasterId id="2147483660" r:id="rId3"/>
  </p:sldMasterIdLst>
  <p:notesMasterIdLst>
    <p:notesMasterId r:id="rId36"/>
  </p:notesMasterIdLst>
  <p:sldIdLst>
    <p:sldId id="256" r:id="rId4"/>
    <p:sldId id="257" r:id="rId5"/>
    <p:sldId id="342" r:id="rId6"/>
    <p:sldId id="259" r:id="rId7"/>
    <p:sldId id="263" r:id="rId8"/>
    <p:sldId id="265" r:id="rId9"/>
    <p:sldId id="266" r:id="rId10"/>
    <p:sldId id="344" r:id="rId11"/>
    <p:sldId id="267" r:id="rId12"/>
    <p:sldId id="268" r:id="rId13"/>
    <p:sldId id="270" r:id="rId14"/>
    <p:sldId id="271" r:id="rId15"/>
    <p:sldId id="272" r:id="rId16"/>
    <p:sldId id="343" r:id="rId17"/>
    <p:sldId id="273" r:id="rId18"/>
    <p:sldId id="345" r:id="rId19"/>
    <p:sldId id="349" r:id="rId20"/>
    <p:sldId id="275" r:id="rId21"/>
    <p:sldId id="274" r:id="rId22"/>
    <p:sldId id="276" r:id="rId23"/>
    <p:sldId id="278" r:id="rId24"/>
    <p:sldId id="284" r:id="rId25"/>
    <p:sldId id="350" r:id="rId26"/>
    <p:sldId id="279" r:id="rId27"/>
    <p:sldId id="346" r:id="rId28"/>
    <p:sldId id="280" r:id="rId29"/>
    <p:sldId id="347" r:id="rId30"/>
    <p:sldId id="281" r:id="rId31"/>
    <p:sldId id="282" r:id="rId32"/>
    <p:sldId id="283" r:id="rId33"/>
    <p:sldId id="348" r:id="rId34"/>
    <p:sldId id="285" r:id="rId35"/>
  </p:sldIdLst>
  <p:sldSz cx="18288000" cy="10287000"/>
  <p:notesSz cx="6858000" cy="9144000"/>
  <p:embeddedFontLst>
    <p:embeddedFont>
      <p:font typeface="仿宋" panose="02010609060101010101" pitchFamily="49" charset="-122"/>
      <p:regular r:id="rId40"/>
    </p:embeddedFont>
    <p:embeddedFont>
      <p:font typeface="字由文艺黑" panose="00020600040101010101" charset="-122"/>
      <p:regular r:id="rId41"/>
    </p:embeddedFont>
    <p:embeddedFont>
      <p:font typeface="微软雅黑" panose="020B0503020204020204" pitchFamily="34" charset="-122"/>
      <p:regular r:id="rId42"/>
      <p:bold r:id="rId43"/>
    </p:embeddedFont>
    <p:embeddedFont>
      <p:font typeface="Calibri" panose="020F0502020204030204"/>
      <p:regular r:id="rId44"/>
      <p:bold r:id="rId45"/>
      <p:italic r:id="rId46"/>
      <p:boldItalic r:id="rId47"/>
    </p:embeddedFont>
    <p:embeddedFont>
      <p:font typeface="Cambria Math" panose="02040503050406030204" pitchFamily="18" charset="0"/>
      <p:regular r:id="rId48"/>
    </p:embeddedFont>
    <p:embeddedFont>
      <p:font typeface="等线" panose="02010600030101010101" charset="-122"/>
      <p:regular r:id="rId49"/>
      <p:bold r:id="rId5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7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61" autoAdjust="0"/>
    <p:restoredTop sz="93772" autoAdjust="0"/>
  </p:normalViewPr>
  <p:slideViewPr>
    <p:cSldViewPr showGuides="1">
      <p:cViewPr>
        <p:scale>
          <a:sx n="50" d="100"/>
          <a:sy n="50" d="100"/>
        </p:scale>
        <p:origin x="1032" y="288"/>
      </p:cViewPr>
      <p:guideLst>
        <p:guide orient="horz" pos="227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0" Type="http://schemas.openxmlformats.org/officeDocument/2006/relationships/font" Target="fonts/font11.fntdata"/><Relationship Id="rId5" Type="http://schemas.openxmlformats.org/officeDocument/2006/relationships/slide" Target="slides/slide2.xml"/><Relationship Id="rId49" Type="http://schemas.openxmlformats.org/officeDocument/2006/relationships/font" Target="fonts/font10.fntdata"/><Relationship Id="rId48" Type="http://schemas.openxmlformats.org/officeDocument/2006/relationships/font" Target="fonts/font9.fntdata"/><Relationship Id="rId47" Type="http://schemas.openxmlformats.org/officeDocument/2006/relationships/font" Target="fonts/font8.fntdata"/><Relationship Id="rId46" Type="http://schemas.openxmlformats.org/officeDocument/2006/relationships/font" Target="fonts/font7.fntdata"/><Relationship Id="rId45" Type="http://schemas.openxmlformats.org/officeDocument/2006/relationships/font" Target="fonts/font6.fntdata"/><Relationship Id="rId44" Type="http://schemas.openxmlformats.org/officeDocument/2006/relationships/font" Target="fonts/font5.fntdata"/><Relationship Id="rId43" Type="http://schemas.openxmlformats.org/officeDocument/2006/relationships/font" Target="fonts/font4.fntdata"/><Relationship Id="rId42" Type="http://schemas.openxmlformats.org/officeDocument/2006/relationships/font" Target="fonts/font3.fntdata"/><Relationship Id="rId41" Type="http://schemas.openxmlformats.org/officeDocument/2006/relationships/font" Target="fonts/font2.fntdata"/><Relationship Id="rId40" Type="http://schemas.openxmlformats.org/officeDocument/2006/relationships/font" Target="fonts/font1.fntdata"/><Relationship Id="rId4" Type="http://schemas.openxmlformats.org/officeDocument/2006/relationships/slide" Target="slides/slide1.xml"/><Relationship Id="rId39" Type="http://schemas.openxmlformats.org/officeDocument/2006/relationships/tableStyles" Target="tableStyles.xml"/><Relationship Id="rId38" Type="http://schemas.openxmlformats.org/officeDocument/2006/relationships/viewProps" Target="viewProps.xml"/><Relationship Id="rId37" Type="http://schemas.openxmlformats.org/officeDocument/2006/relationships/presProps" Target="presProps.xml"/><Relationship Id="rId36" Type="http://schemas.openxmlformats.org/officeDocument/2006/relationships/notesMaster" Target="notesMasters/notesMaster1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E3807-13F1-414E-9D90-B8B02AA7D69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F29F18-BE30-4173-ABC4-195AE047BC1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74AE42-7364-4267-B40A-343A49EA74EA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E76DB-3201-458E-97E8-1F529B41C87D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AF40B-7C5C-460D-B1B7-FD4D67B22822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2BC249-EC5F-4986-8EE3-885490FF7370}" type="datetime1">
              <a:rPr lang="en-US" altLang="zh-C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9AF8E-3BE7-493F-A109-C39C54E959C7}" type="datetime1">
              <a:rPr lang="en-US" altLang="zh-C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23C8F6-EBAB-4B52-9D57-25C21C0BFF09}" type="datetime1">
              <a:rPr lang="en-US" altLang="zh-CN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7A945-3C13-407B-9418-BB51BE003E6B}" type="datetime1">
              <a:rPr lang="en-US" altLang="zh-CN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392400" y="9334500"/>
            <a:ext cx="2133600" cy="365125"/>
          </a:xfrm>
        </p:spPr>
        <p:txBody>
          <a:bodyPr vert="horz" lIns="91440" tIns="45720" rIns="91440" bIns="45720" rtlCol="0" anchor="ctr"/>
          <a:lstStyle>
            <a:lvl1pPr>
              <a:defRPr lang="en-US" sz="1400" baseline="0" smtClean="0">
                <a:solidFill>
                  <a:srgbClr val="FFC000"/>
                </a:solidFill>
              </a:defRPr>
            </a:lvl1pPr>
          </a:lstStyle>
          <a:p>
            <a:fld id="{B6F15528-21DE-4FAA-801E-634DDDAF4B2B}" type="slidenum">
              <a:rPr lang="en-US" altLang="zh-CN" smtClean="0"/>
            </a:fld>
            <a:endParaRPr lang="en-US" sz="1400" baseline="0">
              <a:solidFill>
                <a:srgbClr val="FFC000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82B25-0626-400A-8A18-CC4B9FA85174}" type="datetime1">
              <a:rPr lang="en-US" altLang="zh-C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421BD-7A71-43B0-8A82-BF5BCB45934A}" type="datetime1">
              <a:rPr lang="en-US" altLang="zh-C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16864D-7324-47AC-8E77-C23354FBA014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2510EF-AB01-495B-8DFE-96ADBB7A23CB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84A4E1-68D3-457C-9DF7-FAAF7B219705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63347B-E742-4F12-885F-5E4081DB62CE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677153-82C0-4DA3-BB40-C41B58F36C94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0583E-33EF-48DF-99E0-0EC147C04ED4}" type="datetime1">
              <a:rPr lang="en-US" altLang="zh-C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1121F8-F7C1-415E-BA42-DA2C903C3780}" type="datetime1">
              <a:rPr lang="en-US" altLang="zh-CN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E6E35-BFA5-4DAE-A373-BA0868FCAE04}" type="datetime1">
              <a:rPr lang="en-US" altLang="zh-CN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 txBox="1"/>
          <p:nvPr userDrawn="1"/>
        </p:nvSpPr>
        <p:spPr>
          <a:xfrm>
            <a:off x="15544800" y="9563100"/>
            <a:ext cx="2133600" cy="4413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400" kern="1200" baseline="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1FD4-909A-4019-85EC-21470F318FE5}" type="datetime1">
              <a:rPr lang="en-US" altLang="zh-CN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5544800" y="9410700"/>
            <a:ext cx="2133600" cy="441325"/>
          </a:xfrm>
        </p:spPr>
        <p:txBody>
          <a:bodyPr/>
          <a:lstStyle>
            <a:lvl1pPr algn="r">
              <a:defRPr sz="1400" baseline="0">
                <a:solidFill>
                  <a:srgbClr val="FFC000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D61E49-541A-48A6-B824-8EC6E6FD9E28}" type="datetime1">
              <a:rPr lang="en-US" altLang="zh-C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BB387F-E303-44E8-BCDC-5060DB4C336A}" type="datetime1">
              <a:rPr lang="en-US" altLang="zh-CN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77BF4-DAD9-47E2-BD23-30C3D9EC0D19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3C6FC-8182-4F45-A424-178F0CA4B71E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>
                <a:alpha val="0"/>
              </a:srgbClr>
            </a:gs>
            <a:gs pos="100000">
              <a:srgbClr val="DEE9FF">
                <a:alpha val="100000"/>
              </a:srgb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54004D-81DD-4821-82CF-FFE7163D5201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>
                <a:alpha val="0"/>
              </a:srgbClr>
            </a:gs>
            <a:gs pos="100000">
              <a:srgbClr val="DEE9FF">
                <a:alpha val="100000"/>
              </a:srgbClr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8A1A17-90E3-437B-803D-9C909D3BC32A}" type="datetime1">
              <a:rPr lang="en-US" altLang="zh-CN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kumimoji="0" lang="en-US" altLang="zh-CN" sz="1400" b="0" i="0" u="none" strike="noStrike" kern="1200" cap="none" spc="0" normalizeH="0" baseline="0" noProof="1" smtClean="0">
                <a:solidFill>
                  <a:srgbClr val="FFC000"/>
                </a:solidFill>
                <a:latin typeface="+mn-lt"/>
                <a:ea typeface="+mn-ea"/>
                <a:cs typeface="+mn-cs"/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image" Target="../media/image1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8.tiff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8.xml"/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5340279" y="765907"/>
            <a:ext cx="7607443" cy="7607443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DDEEF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80296" y="3604350"/>
            <a:ext cx="16727408" cy="1438536"/>
            <a:chOff x="0" y="0"/>
            <a:chExt cx="22303210" cy="1918048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237212" cy="237212"/>
              <a:chOff x="0" y="0"/>
              <a:chExt cx="812800" cy="812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0" y="560278"/>
              <a:ext cx="237212" cy="237212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1120557"/>
              <a:ext cx="237212" cy="237212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0" y="1680835"/>
              <a:ext cx="237212" cy="237212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2065998" y="0"/>
              <a:ext cx="237212" cy="237212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22065998" y="560278"/>
              <a:ext cx="237212" cy="237212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22065998" y="1120557"/>
              <a:ext cx="237212" cy="237212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22065998" y="1680835"/>
              <a:ext cx="237212" cy="237212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-1299970" y="8495193"/>
            <a:ext cx="21159211" cy="1929995"/>
            <a:chOff x="0" y="0"/>
            <a:chExt cx="28212281" cy="2573326"/>
          </a:xfrm>
        </p:grpSpPr>
        <p:grpSp>
          <p:nvGrpSpPr>
            <p:cNvPr id="42" name="Group 42"/>
            <p:cNvGrpSpPr/>
            <p:nvPr/>
          </p:nvGrpSpPr>
          <p:grpSpPr>
            <a:xfrm>
              <a:off x="361694" y="0"/>
              <a:ext cx="27850587" cy="2024584"/>
              <a:chOff x="0" y="0"/>
              <a:chExt cx="5501351" cy="399918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5501351" cy="399918"/>
              </a:xfrm>
              <a:custGeom>
                <a:avLst/>
                <a:gdLst/>
                <a:ahLst/>
                <a:cxnLst/>
                <a:rect l="l" t="t" r="r" b="b"/>
                <a:pathLst>
                  <a:path w="5501351" h="399918">
                    <a:moveTo>
                      <a:pt x="18903" y="0"/>
                    </a:moveTo>
                    <a:lnTo>
                      <a:pt x="5482448" y="0"/>
                    </a:lnTo>
                    <a:cubicBezTo>
                      <a:pt x="5487461" y="0"/>
                      <a:pt x="5492269" y="1992"/>
                      <a:pt x="5495814" y="5536"/>
                    </a:cubicBezTo>
                    <a:cubicBezTo>
                      <a:pt x="5499359" y="9081"/>
                      <a:pt x="5501351" y="13889"/>
                      <a:pt x="5501351" y="18903"/>
                    </a:cubicBezTo>
                    <a:lnTo>
                      <a:pt x="5501351" y="381015"/>
                    </a:lnTo>
                    <a:cubicBezTo>
                      <a:pt x="5501351" y="391455"/>
                      <a:pt x="5492888" y="399918"/>
                      <a:pt x="5482448" y="399918"/>
                    </a:cubicBezTo>
                    <a:lnTo>
                      <a:pt x="18903" y="399918"/>
                    </a:lnTo>
                    <a:cubicBezTo>
                      <a:pt x="8463" y="399918"/>
                      <a:pt x="0" y="391455"/>
                      <a:pt x="0" y="381015"/>
                    </a:cubicBezTo>
                    <a:lnTo>
                      <a:pt x="0" y="18903"/>
                    </a:lnTo>
                    <a:cubicBezTo>
                      <a:pt x="0" y="8463"/>
                      <a:pt x="8463" y="0"/>
                      <a:pt x="189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AD5C">
                      <a:alpha val="100000"/>
                    </a:srgbClr>
                  </a:gs>
                  <a:gs pos="100000">
                    <a:srgbClr val="FFE1C4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0" y="0"/>
                <a:ext cx="5501351" cy="3999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0" y="282042"/>
              <a:ext cx="27850587" cy="2291284"/>
              <a:chOff x="0" y="0"/>
              <a:chExt cx="5501351" cy="452599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5501351" cy="452599"/>
              </a:xfrm>
              <a:custGeom>
                <a:avLst/>
                <a:gdLst/>
                <a:ahLst/>
                <a:cxnLst/>
                <a:rect l="l" t="t" r="r" b="b"/>
                <a:pathLst>
                  <a:path w="5501351" h="452599">
                    <a:moveTo>
                      <a:pt x="18903" y="0"/>
                    </a:moveTo>
                    <a:lnTo>
                      <a:pt x="5482448" y="0"/>
                    </a:lnTo>
                    <a:cubicBezTo>
                      <a:pt x="5487461" y="0"/>
                      <a:pt x="5492269" y="1992"/>
                      <a:pt x="5495814" y="5536"/>
                    </a:cubicBezTo>
                    <a:cubicBezTo>
                      <a:pt x="5499359" y="9081"/>
                      <a:pt x="5501351" y="13889"/>
                      <a:pt x="5501351" y="18903"/>
                    </a:cubicBezTo>
                    <a:lnTo>
                      <a:pt x="5501351" y="433697"/>
                    </a:lnTo>
                    <a:cubicBezTo>
                      <a:pt x="5501351" y="444136"/>
                      <a:pt x="5492888" y="452599"/>
                      <a:pt x="5482448" y="452599"/>
                    </a:cubicBezTo>
                    <a:lnTo>
                      <a:pt x="18903" y="452599"/>
                    </a:lnTo>
                    <a:cubicBezTo>
                      <a:pt x="8463" y="452599"/>
                      <a:pt x="0" y="444136"/>
                      <a:pt x="0" y="433697"/>
                    </a:cubicBezTo>
                    <a:lnTo>
                      <a:pt x="0" y="18903"/>
                    </a:lnTo>
                    <a:cubicBezTo>
                      <a:pt x="0" y="8463"/>
                      <a:pt x="8463" y="0"/>
                      <a:pt x="18903" y="0"/>
                    </a:cubicBezTo>
                    <a:close/>
                  </a:path>
                </a:pathLst>
              </a:custGeom>
              <a:solidFill>
                <a:srgbClr val="013E7C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0" y="0"/>
                <a:ext cx="5501351" cy="4525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</p:grp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en-US" sz="1400" baseline="0">
              <a:solidFill>
                <a:srgbClr val="FFC000"/>
              </a:solidFill>
            </a:endParaRPr>
          </a:p>
        </p:txBody>
      </p:sp>
      <p:sp>
        <p:nvSpPr>
          <p:cNvPr id="7" name="TextBox 12"/>
          <p:cNvSpPr txBox="1"/>
          <p:nvPr/>
        </p:nvSpPr>
        <p:spPr>
          <a:xfrm>
            <a:off x="1676173" y="2707834"/>
            <a:ext cx="14436775" cy="16559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935"/>
              </a:lnSpc>
            </a:pPr>
            <a:r>
              <a:rPr lang="zh-CN" altLang="en-US" sz="10300" b="1" dirty="0">
                <a:solidFill>
                  <a:srgbClr val="004AAD"/>
                </a:solidFill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密码学</a:t>
            </a:r>
            <a:r>
              <a:rPr lang="en-US" altLang="zh-CN" sz="10300" b="1" dirty="0">
                <a:solidFill>
                  <a:srgbClr val="004AAD"/>
                </a:solidFill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-</a:t>
            </a:r>
            <a:r>
              <a:rPr lang="zh-CN" altLang="en-US" sz="10300" b="1" dirty="0">
                <a:solidFill>
                  <a:srgbClr val="004AAD"/>
                </a:solidFill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基础理论与应用</a:t>
            </a:r>
            <a:endParaRPr lang="zh-CN" altLang="en-US" sz="10300" b="1" dirty="0">
              <a:solidFill>
                <a:srgbClr val="004AAD"/>
              </a:solidFill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  <p:sp>
        <p:nvSpPr>
          <p:cNvPr id="8" name="TextBox 38"/>
          <p:cNvSpPr txBox="1"/>
          <p:nvPr/>
        </p:nvSpPr>
        <p:spPr>
          <a:xfrm>
            <a:off x="1933951" y="5295665"/>
            <a:ext cx="13921220" cy="1230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zh-CN" altLang="en-US" sz="8000" b="1" dirty="0">
                <a:solidFill>
                  <a:srgbClr val="004AAD"/>
                </a:solidFill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第十二章</a:t>
            </a:r>
            <a:r>
              <a:rPr lang="en-US" altLang="zh-CN" sz="8000" b="1" dirty="0">
                <a:solidFill>
                  <a:srgbClr val="004AAD"/>
                </a:solidFill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 SM3</a:t>
            </a:r>
            <a:r>
              <a:rPr lang="zh-CN" altLang="en-US" sz="8000" b="1" dirty="0">
                <a:solidFill>
                  <a:srgbClr val="004AAD"/>
                </a:solidFill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密码杂凑算法</a:t>
            </a:r>
            <a:endParaRPr lang="zh-CN" altLang="en-US" sz="8000" b="1" dirty="0">
              <a:solidFill>
                <a:srgbClr val="004AAD"/>
              </a:solidFill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0296" y="3604350"/>
            <a:ext cx="16727408" cy="1438536"/>
            <a:chOff x="0" y="0"/>
            <a:chExt cx="22303210" cy="19180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7212" cy="23721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560278"/>
              <a:ext cx="237212" cy="237212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1120557"/>
              <a:ext cx="237212" cy="237212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1680835"/>
              <a:ext cx="237212" cy="23721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2065998" y="0"/>
              <a:ext cx="237212" cy="23721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2065998" y="560278"/>
              <a:ext cx="237212" cy="23721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2065998" y="1120557"/>
              <a:ext cx="237212" cy="237212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22065998" y="1680835"/>
              <a:ext cx="237212" cy="23721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</p:grpSp>
      <p:sp>
        <p:nvSpPr>
          <p:cNvPr id="44" name="TextBox 44"/>
          <p:cNvSpPr txBox="1"/>
          <p:nvPr>
            <p:custDataLst>
              <p:tags r:id="rId1"/>
            </p:custDataLst>
          </p:nvPr>
        </p:nvSpPr>
        <p:spPr>
          <a:xfrm>
            <a:off x="9074716" y="3937592"/>
            <a:ext cx="3132637" cy="662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5880"/>
              </a:lnSpc>
              <a:defRPr sz="4200" b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</a:defRPr>
            </a:lvl1pPr>
          </a:lstStyle>
          <a:p>
            <a:r>
              <a:rPr b="1" dirty="0" err="1">
                <a:latin typeface="仿宋" panose="02010609060101010101" pitchFamily="49" charset="-122"/>
              </a:rPr>
              <a:t>设计原理</a:t>
            </a:r>
            <a:endParaRPr b="1" dirty="0">
              <a:latin typeface="仿宋" panose="02010609060101010101" pitchFamily="49" charset="-122"/>
            </a:endParaRPr>
          </a:p>
        </p:txBody>
      </p:sp>
      <p:grpSp>
        <p:nvGrpSpPr>
          <p:cNvPr id="50" name="Group 50"/>
          <p:cNvGrpSpPr/>
          <p:nvPr/>
        </p:nvGrpSpPr>
        <p:grpSpPr>
          <a:xfrm>
            <a:off x="-1299845" y="8692124"/>
            <a:ext cx="21159470" cy="1632976"/>
            <a:chOff x="0" y="0"/>
            <a:chExt cx="28212281" cy="2573326"/>
          </a:xfrm>
        </p:grpSpPr>
        <p:grpSp>
          <p:nvGrpSpPr>
            <p:cNvPr id="51" name="Group 51"/>
            <p:cNvGrpSpPr/>
            <p:nvPr/>
          </p:nvGrpSpPr>
          <p:grpSpPr>
            <a:xfrm>
              <a:off x="361694" y="0"/>
              <a:ext cx="27850587" cy="2024584"/>
              <a:chOff x="0" y="0"/>
              <a:chExt cx="5501351" cy="399918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5501351" cy="399918"/>
              </a:xfrm>
              <a:custGeom>
                <a:avLst/>
                <a:gdLst/>
                <a:ahLst/>
                <a:cxnLst/>
                <a:rect l="l" t="t" r="r" b="b"/>
                <a:pathLst>
                  <a:path w="5501351" h="399918">
                    <a:moveTo>
                      <a:pt x="18903" y="0"/>
                    </a:moveTo>
                    <a:lnTo>
                      <a:pt x="5482448" y="0"/>
                    </a:lnTo>
                    <a:cubicBezTo>
                      <a:pt x="5487461" y="0"/>
                      <a:pt x="5492269" y="1992"/>
                      <a:pt x="5495814" y="5536"/>
                    </a:cubicBezTo>
                    <a:cubicBezTo>
                      <a:pt x="5499359" y="9081"/>
                      <a:pt x="5501351" y="13889"/>
                      <a:pt x="5501351" y="18903"/>
                    </a:cubicBezTo>
                    <a:lnTo>
                      <a:pt x="5501351" y="381015"/>
                    </a:lnTo>
                    <a:cubicBezTo>
                      <a:pt x="5501351" y="391455"/>
                      <a:pt x="5492888" y="399918"/>
                      <a:pt x="5482448" y="399918"/>
                    </a:cubicBezTo>
                    <a:lnTo>
                      <a:pt x="18903" y="399918"/>
                    </a:lnTo>
                    <a:cubicBezTo>
                      <a:pt x="8463" y="399918"/>
                      <a:pt x="0" y="391455"/>
                      <a:pt x="0" y="381015"/>
                    </a:cubicBezTo>
                    <a:lnTo>
                      <a:pt x="0" y="18903"/>
                    </a:lnTo>
                    <a:cubicBezTo>
                      <a:pt x="0" y="8463"/>
                      <a:pt x="8463" y="0"/>
                      <a:pt x="189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AD5C">
                      <a:alpha val="100000"/>
                    </a:srgbClr>
                  </a:gs>
                  <a:gs pos="100000">
                    <a:srgbClr val="FFE1C4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0" y="0"/>
                <a:ext cx="5501351" cy="39991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0" y="282042"/>
              <a:ext cx="27850587" cy="2291284"/>
              <a:chOff x="0" y="0"/>
              <a:chExt cx="5501351" cy="452599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5501351" cy="452599"/>
              </a:xfrm>
              <a:custGeom>
                <a:avLst/>
                <a:gdLst/>
                <a:ahLst/>
                <a:cxnLst/>
                <a:rect l="l" t="t" r="r" b="b"/>
                <a:pathLst>
                  <a:path w="5501351" h="452599">
                    <a:moveTo>
                      <a:pt x="18903" y="0"/>
                    </a:moveTo>
                    <a:lnTo>
                      <a:pt x="5482448" y="0"/>
                    </a:lnTo>
                    <a:cubicBezTo>
                      <a:pt x="5487461" y="0"/>
                      <a:pt x="5492269" y="1992"/>
                      <a:pt x="5495814" y="5536"/>
                    </a:cubicBezTo>
                    <a:cubicBezTo>
                      <a:pt x="5499359" y="9081"/>
                      <a:pt x="5501351" y="13889"/>
                      <a:pt x="5501351" y="18903"/>
                    </a:cubicBezTo>
                    <a:lnTo>
                      <a:pt x="5501351" y="433697"/>
                    </a:lnTo>
                    <a:cubicBezTo>
                      <a:pt x="5501351" y="444136"/>
                      <a:pt x="5492888" y="452599"/>
                      <a:pt x="5482448" y="452599"/>
                    </a:cubicBezTo>
                    <a:lnTo>
                      <a:pt x="18903" y="452599"/>
                    </a:lnTo>
                    <a:cubicBezTo>
                      <a:pt x="8463" y="452599"/>
                      <a:pt x="0" y="444136"/>
                      <a:pt x="0" y="433697"/>
                    </a:cubicBezTo>
                    <a:lnTo>
                      <a:pt x="0" y="18903"/>
                    </a:lnTo>
                    <a:cubicBezTo>
                      <a:pt x="0" y="8463"/>
                      <a:pt x="8463" y="0"/>
                      <a:pt x="18903" y="0"/>
                    </a:cubicBezTo>
                    <a:close/>
                  </a:path>
                </a:pathLst>
              </a:custGeom>
              <a:solidFill>
                <a:srgbClr val="013E7C"/>
              </a:solidFill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0" y="0"/>
                <a:ext cx="5501351" cy="4525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80"/>
                  </a:lnSpc>
                </a:pPr>
              </a:p>
            </p:txBody>
          </p:sp>
        </p:grpSp>
      </p:grpSp>
      <p:sp>
        <p:nvSpPr>
          <p:cNvPr id="66" name="TextBox 44"/>
          <p:cNvSpPr txBox="1"/>
          <p:nvPr>
            <p:custDataLst>
              <p:tags r:id="rId2"/>
            </p:custDataLst>
          </p:nvPr>
        </p:nvSpPr>
        <p:spPr>
          <a:xfrm>
            <a:off x="9074716" y="4921842"/>
            <a:ext cx="4766247" cy="658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5880"/>
              </a:lnSpc>
              <a:defRPr sz="4200" b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</a:defRPr>
            </a:lvl1pPr>
          </a:lstStyle>
          <a:p>
            <a:r>
              <a:rPr b="1" dirty="0" err="1">
                <a:latin typeface="仿宋" panose="02010609060101010101" pitchFamily="49" charset="-122"/>
              </a:rPr>
              <a:t>算法特点</a:t>
            </a:r>
            <a:endParaRPr b="1" dirty="0">
              <a:latin typeface="仿宋" panose="02010609060101010101" pitchFamily="49" charset="-122"/>
            </a:endParaRPr>
          </a:p>
        </p:txBody>
      </p:sp>
      <p:sp>
        <p:nvSpPr>
          <p:cNvPr id="57" name="TextBox 44"/>
          <p:cNvSpPr txBox="1"/>
          <p:nvPr>
            <p:custDataLst>
              <p:tags r:id="rId3"/>
            </p:custDataLst>
          </p:nvPr>
        </p:nvSpPr>
        <p:spPr>
          <a:xfrm>
            <a:off x="9074716" y="5906092"/>
            <a:ext cx="5070732" cy="658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5880"/>
              </a:lnSpc>
              <a:defRPr sz="4200" b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</a:defRPr>
            </a:lvl1pPr>
          </a:lstStyle>
          <a:p>
            <a:r>
              <a:rPr b="1" dirty="0" err="1">
                <a:latin typeface="仿宋" panose="02010609060101010101" pitchFamily="49" charset="-122"/>
              </a:rPr>
              <a:t>安全性分析</a:t>
            </a:r>
            <a:endParaRPr b="1" dirty="0">
              <a:latin typeface="仿宋" panose="02010609060101010101" pitchFamily="49" charset="-122"/>
            </a:endParaRPr>
          </a:p>
        </p:txBody>
      </p:sp>
      <p:sp>
        <p:nvSpPr>
          <p:cNvPr id="73" name="TextBox 44"/>
          <p:cNvSpPr txBox="1"/>
          <p:nvPr>
            <p:custDataLst>
              <p:tags r:id="rId4"/>
            </p:custDataLst>
          </p:nvPr>
        </p:nvSpPr>
        <p:spPr>
          <a:xfrm>
            <a:off x="9074716" y="6889072"/>
            <a:ext cx="3810216" cy="658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ts val="5880"/>
              </a:lnSpc>
              <a:defRPr sz="4200" b="1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</a:defRPr>
            </a:lvl1pPr>
          </a:lstStyle>
          <a:p>
            <a:r>
              <a:rPr b="1" dirty="0" err="1">
                <a:latin typeface="仿宋" panose="02010609060101010101" pitchFamily="49" charset="-122"/>
              </a:rPr>
              <a:t>本章小结</a:t>
            </a:r>
            <a:endParaRPr b="1" dirty="0">
              <a:latin typeface="仿宋" panose="02010609060101010101" pitchFamily="49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796975" y="605801"/>
            <a:ext cx="3700052" cy="416951"/>
            <a:chOff x="13811849" y="507954"/>
            <a:chExt cx="3700052" cy="416951"/>
          </a:xfrm>
        </p:grpSpPr>
        <p:sp>
          <p:nvSpPr>
            <p:cNvPr id="31" name="文本框 30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zh-CN" dirty="0">
                  <a:ln w="0"/>
                  <a:gradFill flip="none" rotWithShape="1">
                    <a:gsLst>
                      <a:gs pos="0">
                        <a:schemeClr val="accent1">
                          <a:lumMod val="0"/>
                          <a:lumOff val="100000"/>
                        </a:schemeClr>
                      </a:gs>
                      <a:gs pos="35000">
                        <a:schemeClr val="accent1">
                          <a:lumMod val="0"/>
                          <a:lumOff val="100000"/>
                        </a:schemeClr>
                      </a:gs>
                      <a:gs pos="100000">
                        <a:schemeClr val="accent1">
                          <a:lumMod val="100000"/>
                        </a:scheme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</a:rPr>
                <a:t>◆◆◆</a:t>
              </a:r>
              <a:r>
                <a:rPr lang="zh-CN" altLang="zh-CN" b="1" dirty="0">
                  <a:solidFill>
                    <a:schemeClr val="tx2"/>
                  </a:solidFill>
                  <a:latin typeface="仿宋" panose="02010609060101010101" pitchFamily="49" charset="-122"/>
                  <a:ea typeface="仿宋" panose="02010609060101010101" pitchFamily="49" charset="-122"/>
                </a:rPr>
                <a:t>密码学——基础理论与应用</a:t>
              </a:r>
              <a:endParaRPr lang="zh-CN" altLang="zh-CN" b="1" dirty="0">
                <a:solidFill>
                  <a:schemeClr val="tx2"/>
                </a:solidFill>
                <a:latin typeface="仿宋" panose="02010609060101010101" pitchFamily="49" charset="-122"/>
                <a:ea typeface="仿宋" panose="02010609060101010101" pitchFamily="49" charset="-122"/>
              </a:endParaRPr>
            </a:p>
          </p:txBody>
        </p:sp>
        <p:pic>
          <p:nvPicPr>
            <p:cNvPr id="32" name="图片 3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p:sp>
        <p:nvSpPr>
          <p:cNvPr id="35" name="灯片编号占位符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altLang="zh-CN" smtClean="0"/>
            </a:fld>
            <a:endParaRPr lang="en-US" sz="1400" baseline="0" dirty="0">
              <a:solidFill>
                <a:srgbClr val="FFC000"/>
              </a:solidFill>
            </a:endParaRPr>
          </a:p>
        </p:txBody>
      </p:sp>
      <p:sp>
        <p:nvSpPr>
          <p:cNvPr id="37" name="TextBox 33"/>
          <p:cNvSpPr txBox="1"/>
          <p:nvPr>
            <p:custDataLst>
              <p:tags r:id="rId6"/>
            </p:custDataLst>
          </p:nvPr>
        </p:nvSpPr>
        <p:spPr>
          <a:xfrm>
            <a:off x="7530112" y="1968457"/>
            <a:ext cx="1324250" cy="6588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1" dirty="0">
                <a:solidFill>
                  <a:srgbClr val="004A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字由文艺黑" panose="00020600040101010101" charset="-122"/>
              </a:rPr>
              <a:t>12.1</a:t>
            </a:r>
            <a:endParaRPr lang="en-US" sz="4000" b="1" dirty="0">
              <a:solidFill>
                <a:srgbClr val="004AAD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39" name="TextBox 38"/>
          <p:cNvSpPr txBox="1"/>
          <p:nvPr>
            <p:custDataLst>
              <p:tags r:id="rId7"/>
            </p:custDataLst>
          </p:nvPr>
        </p:nvSpPr>
        <p:spPr>
          <a:xfrm>
            <a:off x="7730377" y="2953342"/>
            <a:ext cx="923721" cy="658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5600"/>
              </a:lnSpc>
              <a:defRPr sz="4000" b="1">
                <a:solidFill>
                  <a:srgbClr val="004A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ym typeface="字由文艺黑" panose="00020600040101010101" charset="-122"/>
              </a:rPr>
              <a:t>12.2</a:t>
            </a:r>
            <a:endParaRPr lang="en-US" dirty="0">
              <a:sym typeface="字由文艺黑" panose="00020600040101010101" charset="-122"/>
            </a:endParaRPr>
          </a:p>
        </p:txBody>
      </p:sp>
      <p:sp>
        <p:nvSpPr>
          <p:cNvPr id="40" name="TextBox 43"/>
          <p:cNvSpPr txBox="1"/>
          <p:nvPr>
            <p:custDataLst>
              <p:tags r:id="rId8"/>
            </p:custDataLst>
          </p:nvPr>
        </p:nvSpPr>
        <p:spPr>
          <a:xfrm>
            <a:off x="7730377" y="3937592"/>
            <a:ext cx="923721" cy="658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5600"/>
              </a:lnSpc>
              <a:defRPr sz="4000" b="1">
                <a:solidFill>
                  <a:srgbClr val="004A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ym typeface="字由文艺黑" panose="00020600040101010101" charset="-122"/>
              </a:rPr>
              <a:t>12.3</a:t>
            </a:r>
            <a:endParaRPr lang="en-US" dirty="0">
              <a:sym typeface="字由文艺黑" panose="00020600040101010101" charset="-122"/>
            </a:endParaRPr>
          </a:p>
        </p:txBody>
      </p:sp>
      <p:sp>
        <p:nvSpPr>
          <p:cNvPr id="45" name="TextBox 43"/>
          <p:cNvSpPr txBox="1"/>
          <p:nvPr>
            <p:custDataLst>
              <p:tags r:id="rId9"/>
            </p:custDataLst>
          </p:nvPr>
        </p:nvSpPr>
        <p:spPr>
          <a:xfrm>
            <a:off x="7730377" y="4921842"/>
            <a:ext cx="923721" cy="658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5600"/>
              </a:lnSpc>
              <a:defRPr sz="4000" b="1">
                <a:solidFill>
                  <a:srgbClr val="004A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ym typeface="字由文艺黑" panose="00020600040101010101" charset="-122"/>
              </a:rPr>
              <a:t>12.4</a:t>
            </a:r>
            <a:endParaRPr lang="en-US" dirty="0">
              <a:sym typeface="字由文艺黑" panose="00020600040101010101" charset="-122"/>
            </a:endParaRPr>
          </a:p>
        </p:txBody>
      </p:sp>
      <p:sp>
        <p:nvSpPr>
          <p:cNvPr id="47" name="TextBox 43"/>
          <p:cNvSpPr txBox="1"/>
          <p:nvPr>
            <p:custDataLst>
              <p:tags r:id="rId10"/>
            </p:custDataLst>
          </p:nvPr>
        </p:nvSpPr>
        <p:spPr>
          <a:xfrm>
            <a:off x="7730377" y="5906092"/>
            <a:ext cx="923721" cy="658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5600"/>
              </a:lnSpc>
              <a:defRPr sz="4000" b="1">
                <a:solidFill>
                  <a:srgbClr val="004A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ym typeface="字由文艺黑" panose="00020600040101010101" charset="-122"/>
              </a:rPr>
              <a:t>12.5</a:t>
            </a:r>
            <a:endParaRPr lang="en-US" dirty="0">
              <a:sym typeface="字由文艺黑" panose="00020600040101010101" charset="-122"/>
            </a:endParaRPr>
          </a:p>
        </p:txBody>
      </p:sp>
      <p:sp>
        <p:nvSpPr>
          <p:cNvPr id="49" name="TextBox 43"/>
          <p:cNvSpPr txBox="1"/>
          <p:nvPr>
            <p:custDataLst>
              <p:tags r:id="rId11"/>
            </p:custDataLst>
          </p:nvPr>
        </p:nvSpPr>
        <p:spPr>
          <a:xfrm>
            <a:off x="7730377" y="6889072"/>
            <a:ext cx="923721" cy="6588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5600"/>
              </a:lnSpc>
              <a:defRPr sz="4000" b="1">
                <a:solidFill>
                  <a:srgbClr val="004A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en-US" dirty="0">
                <a:sym typeface="字由文艺黑" panose="00020600040101010101" charset="-122"/>
              </a:rPr>
              <a:t>12.6</a:t>
            </a:r>
            <a:endParaRPr lang="en-US" dirty="0">
              <a:sym typeface="字由文艺黑" panose="00020600040101010101" charset="-122"/>
            </a:endParaRPr>
          </a:p>
        </p:txBody>
      </p:sp>
      <p:sp>
        <p:nvSpPr>
          <p:cNvPr id="60" name="TextBox 28"/>
          <p:cNvSpPr txBox="1"/>
          <p:nvPr/>
        </p:nvSpPr>
        <p:spPr>
          <a:xfrm>
            <a:off x="2414940" y="3196873"/>
            <a:ext cx="2336788" cy="31758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4AAD"/>
                </a:solidFill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目录</a:t>
            </a:r>
            <a:endParaRPr lang="en-US" sz="9200" b="1" dirty="0">
              <a:solidFill>
                <a:srgbClr val="004AAD"/>
              </a:solidFill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  <p:sp>
        <p:nvSpPr>
          <p:cNvPr id="63" name="TextBox 29"/>
          <p:cNvSpPr txBox="1"/>
          <p:nvPr/>
        </p:nvSpPr>
        <p:spPr>
          <a:xfrm>
            <a:off x="2211223" y="4610383"/>
            <a:ext cx="2745105" cy="4941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4AAD"/>
                </a:solidFill>
                <a:latin typeface="Times New Roman" panose="02020603050405020304" pitchFamily="18" charset="0"/>
                <a:ea typeface="字由文艺黑" panose="00020600040101010101" charset="-122"/>
                <a:cs typeface="Times New Roman" panose="02020603050405020304" pitchFamily="18" charset="0"/>
                <a:sym typeface="字由文艺黑" panose="00020600040101010101" charset="-122"/>
              </a:rPr>
              <a:t>CONTENTS</a:t>
            </a:r>
            <a:endParaRPr lang="en-US" sz="3000" dirty="0">
              <a:solidFill>
                <a:srgbClr val="004AAD"/>
              </a:solidFill>
              <a:latin typeface="Times New Roman" panose="02020603050405020304" pitchFamily="18" charset="0"/>
              <a:ea typeface="字由文艺黑" panose="00020600040101010101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65" name="TextBox 34"/>
          <p:cNvSpPr txBox="1"/>
          <p:nvPr>
            <p:custDataLst>
              <p:tags r:id="rId12"/>
            </p:custDataLst>
          </p:nvPr>
        </p:nvSpPr>
        <p:spPr>
          <a:xfrm>
            <a:off x="9074716" y="1968457"/>
            <a:ext cx="3482941" cy="658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zh-CN" altLang="en-US" sz="42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算法基础</a:t>
            </a:r>
            <a:endParaRPr lang="zh-CN" altLang="en-US" sz="42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  <p:sp>
        <p:nvSpPr>
          <p:cNvPr id="68" name="TextBox 34"/>
          <p:cNvSpPr txBox="1"/>
          <p:nvPr>
            <p:custDataLst>
              <p:tags r:id="rId13"/>
            </p:custDataLst>
          </p:nvPr>
        </p:nvSpPr>
        <p:spPr>
          <a:xfrm>
            <a:off x="9054627" y="2959186"/>
            <a:ext cx="2980533" cy="6583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zh-CN" altLang="en-US" sz="4200" b="1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算法描述</a:t>
            </a:r>
            <a:endParaRPr lang="zh-CN" altLang="en-US" sz="4200" b="1" dirty="0">
              <a:solidFill>
                <a:srgbClr val="000000"/>
              </a:solidFill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0296" y="3604350"/>
            <a:ext cx="16727408" cy="1438536"/>
            <a:chOff x="0" y="0"/>
            <a:chExt cx="22303210" cy="19180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7212" cy="23721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560278"/>
              <a:ext cx="237212" cy="237212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1120557"/>
              <a:ext cx="237212" cy="237212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1680835"/>
              <a:ext cx="237212" cy="23721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2065998" y="0"/>
              <a:ext cx="237212" cy="23721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2065998" y="560278"/>
              <a:ext cx="237212" cy="23721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2065998" y="1120557"/>
              <a:ext cx="237212" cy="237212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22065998" y="1680835"/>
              <a:ext cx="237212" cy="23721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 rot="-10800000">
            <a:off x="5340277" y="802276"/>
            <a:ext cx="7607443" cy="7607443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DDEEF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781241" y="2834725"/>
            <a:ext cx="2725514" cy="2011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7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200" dirty="0">
                <a:solidFill>
                  <a:srgbClr val="004A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字由文艺黑" panose="00020600040101010101" charset="-122"/>
              </a:rPr>
              <a:t>12.1</a:t>
            </a:r>
            <a:endParaRPr kumimoji="0" lang="en-US" sz="12200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428998" y="5143500"/>
            <a:ext cx="11429999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600" b="1" dirty="0">
                <a:solidFill>
                  <a:srgbClr val="004AAD"/>
                </a:solidFill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算法基础</a:t>
            </a:r>
            <a:endParaRPr kumimoji="0" lang="zh-CN" altLang="en-US" sz="96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-1299970" y="9030575"/>
            <a:ext cx="21159211" cy="1394613"/>
            <a:chOff x="0" y="0"/>
            <a:chExt cx="28212281" cy="1859484"/>
          </a:xfrm>
        </p:grpSpPr>
        <p:grpSp>
          <p:nvGrpSpPr>
            <p:cNvPr id="38" name="Group 38"/>
            <p:cNvGrpSpPr/>
            <p:nvPr/>
          </p:nvGrpSpPr>
          <p:grpSpPr>
            <a:xfrm>
              <a:off x="361694" y="0"/>
              <a:ext cx="27850587" cy="1462963"/>
              <a:chOff x="0" y="0"/>
              <a:chExt cx="5501351" cy="28898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5501351" cy="288980"/>
              </a:xfrm>
              <a:custGeom>
                <a:avLst/>
                <a:gdLst/>
                <a:ahLst/>
                <a:cxnLst/>
                <a:rect l="l" t="t" r="r" b="b"/>
                <a:pathLst>
                  <a:path w="5501351" h="288980">
                    <a:moveTo>
                      <a:pt x="18903" y="0"/>
                    </a:moveTo>
                    <a:lnTo>
                      <a:pt x="5482448" y="0"/>
                    </a:lnTo>
                    <a:cubicBezTo>
                      <a:pt x="5487461" y="0"/>
                      <a:pt x="5492269" y="1992"/>
                      <a:pt x="5495814" y="5536"/>
                    </a:cubicBezTo>
                    <a:cubicBezTo>
                      <a:pt x="5499359" y="9081"/>
                      <a:pt x="5501351" y="13889"/>
                      <a:pt x="5501351" y="18903"/>
                    </a:cubicBezTo>
                    <a:lnTo>
                      <a:pt x="5501351" y="270078"/>
                    </a:lnTo>
                    <a:cubicBezTo>
                      <a:pt x="5501351" y="280517"/>
                      <a:pt x="5492888" y="288980"/>
                      <a:pt x="5482448" y="288980"/>
                    </a:cubicBezTo>
                    <a:lnTo>
                      <a:pt x="18903" y="288980"/>
                    </a:lnTo>
                    <a:cubicBezTo>
                      <a:pt x="8463" y="288980"/>
                      <a:pt x="0" y="280517"/>
                      <a:pt x="0" y="270078"/>
                    </a:cubicBezTo>
                    <a:lnTo>
                      <a:pt x="0" y="18903"/>
                    </a:lnTo>
                    <a:cubicBezTo>
                      <a:pt x="0" y="8463"/>
                      <a:pt x="8463" y="0"/>
                      <a:pt x="189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AD5C">
                      <a:alpha val="100000"/>
                    </a:srgbClr>
                  </a:gs>
                  <a:gs pos="100000">
                    <a:srgbClr val="FFE1C4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0"/>
                <a:ext cx="5501351" cy="2889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0" y="203803"/>
              <a:ext cx="27850587" cy="1655681"/>
              <a:chOff x="0" y="0"/>
              <a:chExt cx="5501351" cy="32704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5501351" cy="327048"/>
              </a:xfrm>
              <a:custGeom>
                <a:avLst/>
                <a:gdLst/>
                <a:ahLst/>
                <a:cxnLst/>
                <a:rect l="l" t="t" r="r" b="b"/>
                <a:pathLst>
                  <a:path w="5501351" h="327048">
                    <a:moveTo>
                      <a:pt x="18903" y="0"/>
                    </a:moveTo>
                    <a:lnTo>
                      <a:pt x="5482448" y="0"/>
                    </a:lnTo>
                    <a:cubicBezTo>
                      <a:pt x="5487461" y="0"/>
                      <a:pt x="5492269" y="1992"/>
                      <a:pt x="5495814" y="5536"/>
                    </a:cubicBezTo>
                    <a:cubicBezTo>
                      <a:pt x="5499359" y="9081"/>
                      <a:pt x="5501351" y="13889"/>
                      <a:pt x="5501351" y="18903"/>
                    </a:cubicBezTo>
                    <a:lnTo>
                      <a:pt x="5501351" y="308145"/>
                    </a:lnTo>
                    <a:cubicBezTo>
                      <a:pt x="5501351" y="318585"/>
                      <a:pt x="5492888" y="327048"/>
                      <a:pt x="5482448" y="327048"/>
                    </a:cubicBezTo>
                    <a:lnTo>
                      <a:pt x="18903" y="327048"/>
                    </a:lnTo>
                    <a:cubicBezTo>
                      <a:pt x="8463" y="327048"/>
                      <a:pt x="0" y="318585"/>
                      <a:pt x="0" y="308145"/>
                    </a:cubicBezTo>
                    <a:lnTo>
                      <a:pt x="0" y="18903"/>
                    </a:lnTo>
                    <a:cubicBezTo>
                      <a:pt x="0" y="8463"/>
                      <a:pt x="8463" y="0"/>
                      <a:pt x="18903" y="0"/>
                    </a:cubicBezTo>
                    <a:close/>
                  </a:path>
                </a:pathLst>
              </a:custGeom>
              <a:solidFill>
                <a:srgbClr val="013E7C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0"/>
                <a:ext cx="5501351" cy="3270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>
          <a:xfrm>
            <a:off x="15374104" y="9522714"/>
            <a:ext cx="2133600" cy="4413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6F15528-21DE-4FAA-801E-634DDDAF4B2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958201" y="563241"/>
            <a:ext cx="3700052" cy="416951"/>
            <a:chOff x="13811849" y="507954"/>
            <a:chExt cx="3700052" cy="416951"/>
          </a:xfrm>
        </p:grpSpPr>
        <p:sp>
          <p:nvSpPr>
            <p:cNvPr id="34" name="文本框 33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57200" y="1021042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1633422" y="1753476"/>
            <a:ext cx="15685634" cy="7361555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2010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年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月，国家密码管理局发布为密码行业标准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（GM/T0004—2012）。2016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年发布为国家标准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（GB/T32905—2016）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2014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年，我国提出将SM3密码杂凑算法纳入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ISO/</a:t>
            </a:r>
            <a:r>
              <a:rPr sz="3600" dirty="0" err="1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IEC</a:t>
            </a:r>
            <a:r>
              <a:rPr sz="3600" dirty="0" err="1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标准的意见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sz="3600" dirty="0">
              <a:solidFill>
                <a:srgbClr val="19191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2017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年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月，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SM3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密码杂凑算法进入最终国际标准草案阶段，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SC27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工作组投票通过后将正式成为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ISO/IEC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国际标准。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2018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年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月，含有我国《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SM3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密码杂凑算法》的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ISO/IEC10118-3：2018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《信息安全技术杂凑函数第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部分：专用杂凑函数》第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版由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ISO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发布，《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SM3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密码杂凑算法》正式成为国际标准。</a:t>
            </a:r>
            <a:endParaRPr lang="en-US" sz="3600" dirty="0">
              <a:solidFill>
                <a:srgbClr val="19191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SM3</a:t>
            </a:r>
            <a:r>
              <a:rPr lang="zh-CN" altLang="zh-CN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密码杂凑算法可用于数字签名、完整性保护、安全认证、口令保护等。在实现上，</a:t>
            </a:r>
            <a:r>
              <a:rPr lang="en-US" altLang="zh-CN" sz="3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SM3</a:t>
            </a:r>
            <a:r>
              <a:rPr lang="zh-CN" altLang="zh-CN" sz="3600" dirty="0">
                <a:latin typeface="Times New Roman" panose="02020603050405020304" pitchFamily="18" charset="0"/>
                <a:ea typeface="宋体" panose="02010600030101010101" pitchFamily="2" charset="-122"/>
              </a:rPr>
              <a:t>密码杂凑算法运算速率高、支持跨平台的高效实现，具有较好的实现效能。</a:t>
            </a:r>
            <a:endParaRPr lang="zh-CN" altLang="zh-CN" sz="36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sz="3600" dirty="0">
              <a:solidFill>
                <a:srgbClr val="191919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826230" y="9336024"/>
            <a:ext cx="27305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4</a:t>
            </a:r>
            <a:endParaRPr lang="en-US" altLang="zh-CN" sz="1400" smtClean="0">
              <a:solidFill>
                <a:srgbClr val="FFC000"/>
              </a:solidFill>
              <a:sym typeface="+mn-ea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3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.1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10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算法基础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156401" y="1632881"/>
                <a:ext cx="14408347" cy="5522602"/>
              </a:xfrm>
              <a:prstGeom prst="rect">
                <a:avLst/>
              </a:prstGeom>
              <a:noFill/>
            </p:spPr>
            <p:txBody>
              <a:bodyPr wrap="square" lIns="73152" tIns="27432" rIns="73152" bIns="27432" anchor="t">
                <a:spAutoFit/>
              </a:bodyPr>
              <a:lstStyle/>
              <a:p>
                <a:pPr indent="457200" algn="just" fontAlgn="auto">
                  <a:lnSpc>
                    <a:spcPct val="120000"/>
                  </a:lnSpc>
                  <a:spcAft>
                    <a:spcPts val="0"/>
                  </a:spcAft>
                </a:pPr>
                <a:r>
                  <a:rPr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SM3</a:t>
                </a:r>
                <a:r>
                  <a:rPr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密码杂凑算法的初始变量</a:t>
                </a:r>
                <a:r>
                  <a:rPr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IV</a:t>
                </a:r>
                <a:r>
                  <a:rPr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共</a:t>
                </a:r>
                <a:r>
                  <a:rPr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256bit</a:t>
                </a:r>
                <a:r>
                  <a:rPr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，用于确定压缩函数寄存器的初态，具体值为</a:t>
                </a:r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：</a:t>
                </a:r>
                <a:endParaRPr lang="en-US" altLang="zh-CN" sz="3600" dirty="0">
                  <a:solidFill>
                    <a:srgbClr val="19191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en-US" altLang="zh-CN" sz="3600" dirty="0">
                    <a:solidFill>
                      <a:srgbClr val="14233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IV=(7380166F,4914B2B9,172442D7,DA8A0600,A96F30BC,163138AA,E38DEE4D,B0FB0E4E)</a:t>
                </a:r>
                <a:endParaRPr lang="en-US" altLang="zh-CN" sz="36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457200" algn="just" fontAlgn="auto">
                  <a:lnSpc>
                    <a:spcPct val="120000"/>
                  </a:lnSpc>
                  <a:spcAft>
                    <a:spcPts val="0"/>
                  </a:spcAft>
                </a:pPr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对</a:t>
                </a:r>
                <a:r>
                  <a:rPr lang="en-US" altLang="zh-CN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SM3</a:t>
                </a:r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密码杂凑算法的常量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zh-CN" sz="3600" i="1" dirty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定义为：</a:t>
                </a:r>
                <a:endParaRPr lang="en-US" altLang="zh-CN" sz="3600" dirty="0">
                  <a:solidFill>
                    <a:srgbClr val="19191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360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3600" i="1" dirty="0" smtClean="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3600" i="1" dirty="0" smtClean="0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3600" i="1" smtClean="0">
                              <a:solidFill>
                                <a:srgbClr val="191919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360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79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𝐶𝐶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4519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     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3600" i="1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360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879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𝐷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   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16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sz="3600" b="0" i="1" smtClean="0">
                                  <a:solidFill>
                                    <a:srgbClr val="191919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63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36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457200" algn="just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endParaRPr sz="3600" dirty="0">
                  <a:solidFill>
                    <a:srgbClr val="19191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401" y="1632881"/>
                <a:ext cx="14408347" cy="5522602"/>
              </a:xfrm>
              <a:prstGeom prst="rect">
                <a:avLst/>
              </a:prstGeom>
              <a:blipFill rotWithShape="1">
                <a:blip r:embed="rId2"/>
                <a:stretch>
                  <a:fillRect l="-4" t="-5" r="1" b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16826230" y="9336024"/>
            <a:ext cx="27305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5</a:t>
            </a:r>
            <a:endParaRPr lang="en-US" altLang="zh-CN" sz="1400" smtClean="0">
              <a:solidFill>
                <a:srgbClr val="FFC000"/>
              </a:solidFill>
              <a:sym typeface="+mn-ea"/>
            </a:endParaRPr>
          </a:p>
        </p:txBody>
      </p:sp>
      <p:pic>
        <p:nvPicPr>
          <p:cNvPr id="4" name="图片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10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.1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21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算法基础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831975" y="2095500"/>
                <a:ext cx="14859000" cy="4350935"/>
              </a:xfrm>
              <a:prstGeom prst="rect">
                <a:avLst/>
              </a:prstGeom>
              <a:noFill/>
            </p:spPr>
            <p:txBody>
              <a:bodyPr wrap="square" lIns="73152" tIns="27432" rIns="73152" bIns="27432" anchor="t">
                <a:spAutoFit/>
              </a:bodyPr>
              <a:lstStyle/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SM3</a:t>
                </a:r>
                <a:r>
                  <a:rPr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密码杂凑算法使用布尔函数</a:t>
                </a:r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定义为</a:t>
                </a:r>
                <a:endParaRPr lang="en-US" altLang="zh-CN" sz="3600" dirty="0">
                  <a:solidFill>
                    <a:srgbClr val="19191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altLang="zh-CN" sz="3600" i="1" dirty="0" smtClean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pl-PL" altLang="zh-CN" sz="3600" i="1" dirty="0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altLang="zh-CN" sz="3600" i="1" dirty="0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l-PL" altLang="zh-CN" sz="3600" i="1" dirty="0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pl-PL" altLang="zh-CN" sz="3600" i="1" dirty="0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altLang="zh-CN" sz="3600" i="1" dirty="0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altLang="zh-CN" sz="3600" i="1" dirty="0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pl-PL" altLang="zh-CN" sz="3600" i="1" dirty="0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𝑌</m:t>
                          </m:r>
                          <m:r>
                            <a:rPr lang="pl-PL" altLang="zh-CN" sz="3600" i="1" dirty="0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pl-PL" altLang="zh-CN" sz="3600" i="1" dirty="0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pl-PL" altLang="zh-CN" sz="3600" i="1" dirty="0" smtClean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l-PL" altLang="zh-CN" sz="3600" i="1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altLang="zh-CN" sz="3600" i="1" smtClean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⊕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⊕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Z</m:t>
                              </m:r>
                              <m:r>
                                <m:rPr>
                                  <m:nor/>
                                </m:rPr>
                                <a:rPr lang="zh-CN" altLang="en-US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，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b="0" i="0" dirty="0" smtClean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                      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)∨(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Z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)∨(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Z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zh-CN" altLang="en-US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，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16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63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3600" i="1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altLang="zh-CN" sz="3600" i="1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pl-PL" altLang="zh-CN" sz="3600" i="1" dirty="0" smtClean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𝐺</m:t>
                      </m:r>
                      <m:sSub>
                        <m:sSubPr>
                          <m:ctrlPr>
                            <a:rPr lang="pl-PL" altLang="zh-CN" sz="3600" i="1" dirty="0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altLang="zh-CN" sz="3600" i="1" dirty="0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pl-PL" altLang="zh-CN" sz="3600" i="1" dirty="0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pl-PL" altLang="zh-CN" sz="3600" i="1" dirty="0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altLang="zh-CN" sz="3600" i="1" dirty="0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𝑋</m:t>
                          </m:r>
                          <m:r>
                            <a:rPr lang="pl-PL" altLang="zh-CN" sz="3600" i="1" dirty="0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pl-PL" altLang="zh-CN" sz="3600" i="1" dirty="0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𝑌</m:t>
                          </m:r>
                          <m:r>
                            <a:rPr lang="pl-PL" altLang="zh-CN" sz="3600" i="1" dirty="0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pl-PL" altLang="zh-CN" sz="3600" i="1" dirty="0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pl-PL" altLang="zh-CN" sz="3600" i="1" dirty="0" smtClean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l-PL" altLang="zh-CN" sz="3600" i="1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l-PL" altLang="zh-CN" sz="3600" i="1" smtClean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⊕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⊕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Z</m:t>
                              </m:r>
                              <m:r>
                                <m:rPr>
                                  <m:nor/>
                                </m:rPr>
                                <a:rPr lang="zh-CN" altLang="en-US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，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b="0" i="0" dirty="0" smtClean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               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15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)∨(¬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Z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)</m:t>
                              </m:r>
                              <m:r>
                                <m:rPr>
                                  <m:nor/>
                                </m:rPr>
                                <a:rPr lang="zh-CN" altLang="en-US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，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16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j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m:rPr>
                                  <m:nor/>
                                </m:rPr>
                                <a:rPr lang="en-US" altLang="zh-CN" sz="3600" dirty="0">
                                  <a:solidFill>
                                    <a:srgbClr val="142337"/>
                                  </a:solidFill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63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sz="3600" dirty="0">
                  <a:solidFill>
                    <a:srgbClr val="19191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1975" y="2095500"/>
                <a:ext cx="14859000" cy="4350935"/>
              </a:xfrm>
              <a:prstGeom prst="rect">
                <a:avLst/>
              </a:prstGeom>
              <a:blipFill rotWithShape="1">
                <a:blip r:embed="rId2"/>
                <a:stretch>
                  <a:fillRect b="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16826230" y="9336024"/>
            <a:ext cx="27305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6</a:t>
            </a:r>
            <a:endParaRPr lang="en-US" altLang="zh-CN" sz="1400" smtClean="0">
              <a:solidFill>
                <a:srgbClr val="FFC000"/>
              </a:solidFill>
              <a:sym typeface="+mn-ea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3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.1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10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算法基础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2261062" y="2628900"/>
                <a:ext cx="14859000" cy="3375660"/>
              </a:xfrm>
              <a:prstGeom prst="rect">
                <a:avLst/>
              </a:prstGeom>
              <a:noFill/>
            </p:spPr>
            <p:txBody>
              <a:bodyPr wrap="square" lIns="73152" tIns="27432" rIns="73152" bIns="27432" anchor="t">
                <a:spAutoFit/>
              </a:bodyPr>
              <a:lstStyle/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SM3密码杂凑算法的置换函数定义为：</a:t>
                </a:r>
                <a:endParaRPr lang="en-US" sz="3600" dirty="0">
                  <a:solidFill>
                    <a:srgbClr val="19191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3600" dirty="0">
                    <a:solidFill>
                      <a:srgbClr val="14233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P₀(X)=X⊕(X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423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⋘</m:t>
                    </m:r>
                  </m:oMath>
                </a14:m>
                <a:r>
                  <a:rPr lang="en-US" altLang="zh-CN" sz="3600" dirty="0">
                    <a:solidFill>
                      <a:srgbClr val="14233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9)⊕(X</a:t>
                </a:r>
                <a:r>
                  <a:rPr lang="en-US" altLang="zh-CN" sz="3600" dirty="0">
                    <a:solidFill>
                      <a:srgbClr val="142337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600" i="1" dirty="0">
                        <a:solidFill>
                          <a:srgbClr val="1423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⋘ </m:t>
                    </m:r>
                  </m:oMath>
                </a14:m>
                <a:r>
                  <a:rPr lang="en-US" altLang="zh-CN" sz="3600" dirty="0">
                    <a:solidFill>
                      <a:srgbClr val="14233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17)</a:t>
                </a:r>
                <a:endParaRPr lang="en-US" altLang="zh-CN" sz="36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3600" dirty="0">
                    <a:solidFill>
                      <a:srgbClr val="14233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P₁(X)=X⊕(X</a:t>
                </a:r>
                <a:r>
                  <a:rPr lang="en-US" altLang="zh-CN" sz="3600" dirty="0">
                    <a:solidFill>
                      <a:srgbClr val="142337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600" i="1" dirty="0">
                        <a:solidFill>
                          <a:srgbClr val="1423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⋘ </m:t>
                    </m:r>
                  </m:oMath>
                </a14:m>
                <a:r>
                  <a:rPr lang="en-US" altLang="zh-CN" sz="3600" dirty="0">
                    <a:solidFill>
                      <a:srgbClr val="14233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15)⊕(X</a:t>
                </a:r>
                <a:r>
                  <a:rPr lang="en-US" altLang="zh-CN" sz="3600" dirty="0">
                    <a:solidFill>
                      <a:srgbClr val="142337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600" i="1" dirty="0">
                        <a:solidFill>
                          <a:srgbClr val="1423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⋘ </m:t>
                    </m:r>
                  </m:oMath>
                </a14:m>
                <a:r>
                  <a:rPr lang="en-US" altLang="zh-CN" sz="3600" dirty="0">
                    <a:solidFill>
                      <a:srgbClr val="14233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23)</a:t>
                </a:r>
                <a:endParaRPr lang="en-US" altLang="zh-CN" sz="36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其中，</a:t>
                </a:r>
                <a:r>
                  <a:rPr lang="en-US" altLang="zh-CN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Y</a:t>
                </a:r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Z</a:t>
                </a:r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为字；</a:t>
                </a:r>
                <a14:m>
                  <m:oMath xmlns:m="http://schemas.openxmlformats.org/officeDocument/2006/math">
                    <m:r>
                      <a:rPr lang="zh-CN" altLang="en-US" sz="360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zh-CN" altLang="en-US" sz="3600" i="1" dirty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360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¬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zh-CN" altLang="en-US" sz="3600" i="1" dirty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⊕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分别表示与、或、非和异或操作；</a:t>
                </a:r>
                <a:r>
                  <a:rPr lang="en-US" altLang="zh-CN" sz="3600" dirty="0">
                    <a:solidFill>
                      <a:srgbClr val="142337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600" i="1" dirty="0">
                        <a:solidFill>
                          <a:srgbClr val="1423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⋘ </m:t>
                    </m:r>
                  </m:oMath>
                </a14:m>
                <a:r>
                  <a:rPr lang="en-US" altLang="zh-CN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k</a:t>
                </a:r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表示循环左移</a:t>
                </a:r>
                <a:r>
                  <a:rPr lang="en-US" altLang="zh-CN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kbit</a:t>
                </a:r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运算。</a:t>
                </a:r>
                <a:endParaRPr sz="3600" dirty="0">
                  <a:solidFill>
                    <a:srgbClr val="19191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062" y="2628900"/>
                <a:ext cx="14859000" cy="3375660"/>
              </a:xfrm>
              <a:prstGeom prst="rect">
                <a:avLst/>
              </a:prstGeom>
              <a:blipFill rotWithShape="1">
                <a:blip r:embed="rId2"/>
                <a:stretch>
                  <a:fillRect l="-3" r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16826230" y="9336024"/>
            <a:ext cx="27305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7</a:t>
            </a:r>
            <a:endParaRPr lang="en-US" altLang="zh-CN" sz="1400" smtClean="0">
              <a:solidFill>
                <a:srgbClr val="FFC000"/>
              </a:solidFill>
              <a:sym typeface="+mn-ea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3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.1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10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算法基础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0296" y="3604350"/>
            <a:ext cx="16727408" cy="1438536"/>
            <a:chOff x="0" y="0"/>
            <a:chExt cx="22303210" cy="19180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7212" cy="23721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560278"/>
              <a:ext cx="237212" cy="237212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1120557"/>
              <a:ext cx="237212" cy="237212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1680835"/>
              <a:ext cx="237212" cy="23721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2065998" y="0"/>
              <a:ext cx="237212" cy="23721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2065998" y="560278"/>
              <a:ext cx="237212" cy="23721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2065998" y="1120557"/>
              <a:ext cx="237212" cy="237212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22065998" y="1680835"/>
              <a:ext cx="237212" cy="23721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 rot="-10800000">
            <a:off x="5340277" y="802276"/>
            <a:ext cx="7607443" cy="7607443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DDEEF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781241" y="2834725"/>
            <a:ext cx="2725514" cy="2011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7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200" dirty="0">
                <a:solidFill>
                  <a:srgbClr val="004A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字由文艺黑" panose="00020600040101010101" charset="-122"/>
              </a:rPr>
              <a:t>12.2</a:t>
            </a:r>
            <a:endParaRPr kumimoji="0" lang="en-US" sz="12200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428998" y="5143500"/>
            <a:ext cx="11429999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600" b="1" dirty="0">
                <a:solidFill>
                  <a:srgbClr val="004AAD"/>
                </a:solidFill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算法描述</a:t>
            </a:r>
            <a:endParaRPr kumimoji="0" lang="zh-CN" altLang="en-US" sz="96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-1299970" y="9030575"/>
            <a:ext cx="21159211" cy="1394613"/>
            <a:chOff x="0" y="0"/>
            <a:chExt cx="28212281" cy="1859484"/>
          </a:xfrm>
        </p:grpSpPr>
        <p:grpSp>
          <p:nvGrpSpPr>
            <p:cNvPr id="38" name="Group 38"/>
            <p:cNvGrpSpPr/>
            <p:nvPr/>
          </p:nvGrpSpPr>
          <p:grpSpPr>
            <a:xfrm>
              <a:off x="361694" y="0"/>
              <a:ext cx="27850587" cy="1462963"/>
              <a:chOff x="0" y="0"/>
              <a:chExt cx="5501351" cy="28898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5501351" cy="288980"/>
              </a:xfrm>
              <a:custGeom>
                <a:avLst/>
                <a:gdLst/>
                <a:ahLst/>
                <a:cxnLst/>
                <a:rect l="l" t="t" r="r" b="b"/>
                <a:pathLst>
                  <a:path w="5501351" h="288980">
                    <a:moveTo>
                      <a:pt x="18903" y="0"/>
                    </a:moveTo>
                    <a:lnTo>
                      <a:pt x="5482448" y="0"/>
                    </a:lnTo>
                    <a:cubicBezTo>
                      <a:pt x="5487461" y="0"/>
                      <a:pt x="5492269" y="1992"/>
                      <a:pt x="5495814" y="5536"/>
                    </a:cubicBezTo>
                    <a:cubicBezTo>
                      <a:pt x="5499359" y="9081"/>
                      <a:pt x="5501351" y="13889"/>
                      <a:pt x="5501351" y="18903"/>
                    </a:cubicBezTo>
                    <a:lnTo>
                      <a:pt x="5501351" y="270078"/>
                    </a:lnTo>
                    <a:cubicBezTo>
                      <a:pt x="5501351" y="280517"/>
                      <a:pt x="5492888" y="288980"/>
                      <a:pt x="5482448" y="288980"/>
                    </a:cubicBezTo>
                    <a:lnTo>
                      <a:pt x="18903" y="288980"/>
                    </a:lnTo>
                    <a:cubicBezTo>
                      <a:pt x="8463" y="288980"/>
                      <a:pt x="0" y="280517"/>
                      <a:pt x="0" y="270078"/>
                    </a:cubicBezTo>
                    <a:lnTo>
                      <a:pt x="0" y="18903"/>
                    </a:lnTo>
                    <a:cubicBezTo>
                      <a:pt x="0" y="8463"/>
                      <a:pt x="8463" y="0"/>
                      <a:pt x="189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AD5C">
                      <a:alpha val="100000"/>
                    </a:srgbClr>
                  </a:gs>
                  <a:gs pos="100000">
                    <a:srgbClr val="FFE1C4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0"/>
                <a:ext cx="5501351" cy="2889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0" y="203803"/>
              <a:ext cx="27850587" cy="1655681"/>
              <a:chOff x="0" y="0"/>
              <a:chExt cx="5501351" cy="32704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5501351" cy="327048"/>
              </a:xfrm>
              <a:custGeom>
                <a:avLst/>
                <a:gdLst/>
                <a:ahLst/>
                <a:cxnLst/>
                <a:rect l="l" t="t" r="r" b="b"/>
                <a:pathLst>
                  <a:path w="5501351" h="327048">
                    <a:moveTo>
                      <a:pt x="18903" y="0"/>
                    </a:moveTo>
                    <a:lnTo>
                      <a:pt x="5482448" y="0"/>
                    </a:lnTo>
                    <a:cubicBezTo>
                      <a:pt x="5487461" y="0"/>
                      <a:pt x="5492269" y="1992"/>
                      <a:pt x="5495814" y="5536"/>
                    </a:cubicBezTo>
                    <a:cubicBezTo>
                      <a:pt x="5499359" y="9081"/>
                      <a:pt x="5501351" y="13889"/>
                      <a:pt x="5501351" y="18903"/>
                    </a:cubicBezTo>
                    <a:lnTo>
                      <a:pt x="5501351" y="308145"/>
                    </a:lnTo>
                    <a:cubicBezTo>
                      <a:pt x="5501351" y="318585"/>
                      <a:pt x="5492888" y="327048"/>
                      <a:pt x="5482448" y="327048"/>
                    </a:cubicBezTo>
                    <a:lnTo>
                      <a:pt x="18903" y="327048"/>
                    </a:lnTo>
                    <a:cubicBezTo>
                      <a:pt x="8463" y="327048"/>
                      <a:pt x="0" y="318585"/>
                      <a:pt x="0" y="308145"/>
                    </a:cubicBezTo>
                    <a:lnTo>
                      <a:pt x="0" y="18903"/>
                    </a:lnTo>
                    <a:cubicBezTo>
                      <a:pt x="0" y="8463"/>
                      <a:pt x="8463" y="0"/>
                      <a:pt x="18903" y="0"/>
                    </a:cubicBezTo>
                    <a:close/>
                  </a:path>
                </a:pathLst>
              </a:custGeom>
              <a:solidFill>
                <a:srgbClr val="013E7C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0"/>
                <a:ext cx="5501351" cy="3270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>
          <a:xfrm>
            <a:off x="15374104" y="9522714"/>
            <a:ext cx="2133600" cy="4413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6F15528-21DE-4FAA-801E-634DDDAF4B2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958201" y="563241"/>
            <a:ext cx="3700052" cy="416951"/>
            <a:chOff x="13811849" y="507954"/>
            <a:chExt cx="3700052" cy="416951"/>
          </a:xfrm>
        </p:grpSpPr>
        <p:sp>
          <p:nvSpPr>
            <p:cNvPr id="34" name="文本框 33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1714500" y="2388963"/>
            <a:ext cx="14859000" cy="271145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SM3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密码杂凑算法基于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MD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结构，杂凑函数H可将一个任意有限比特长度的消息m压缩到某一固定长度为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nbit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的杂凑值h，即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H(m)=h。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SM3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密码杂凑算法是对长度为</a:t>
            </a:r>
            <a:r>
              <a:rPr lang="en-US"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lbit（l&lt;2⁶⁴）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的消息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进行填充和迭代压缩生成杂凑值，杂凑值长度为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256bit。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826230" y="9336024"/>
            <a:ext cx="27305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9</a:t>
            </a:r>
            <a:endParaRPr lang="en-US" altLang="zh-CN" sz="1400" smtClean="0">
              <a:solidFill>
                <a:srgbClr val="FFC000"/>
              </a:solidFill>
              <a:sym typeface="+mn-ea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3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.2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10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算法描述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903763" y="2247900"/>
                <a:ext cx="13728192" cy="3375660"/>
              </a:xfrm>
              <a:prstGeom prst="rect">
                <a:avLst/>
              </a:prstGeom>
              <a:noFill/>
            </p:spPr>
            <p:txBody>
              <a:bodyPr wrap="square" lIns="73152" tIns="27432" rIns="73152" bIns="27432" anchor="t">
                <a:spAutoFit/>
              </a:bodyPr>
              <a:lstStyle/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假设消息</a:t>
                </a: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的长度为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bit</a:t>
                </a: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。首先将比特“</a:t>
                </a: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”添加到消息末尾，再添加</a:t>
                </a: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k</a:t>
                </a: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个“</a:t>
                </a: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”，</a:t>
                </a: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k</a:t>
                </a: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为满足下式的最小非负整数：</a:t>
                </a:r>
                <a:endParaRPr sz="3600" dirty="0">
                  <a:solidFill>
                    <a:srgbClr val="191919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ctr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3600" i="1" dirty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+1+k≡448(mod512)</a:t>
                </a:r>
                <a:endParaRPr lang="en-US" sz="3600" dirty="0">
                  <a:solidFill>
                    <a:srgbClr val="191919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的最小非负整数</a:t>
                </a: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然后再添加一个</a:t>
                </a: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64bit</a:t>
                </a: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的比特串，该比特串是原始消息</a:t>
                </a:r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长</a:t>
                </a:r>
                <a:r>
                  <a:rPr sz="3600" dirty="0" err="1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度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3600" dirty="0" err="1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的二进制表示。填充后消息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3600" i="1" dirty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的比特长度为</a:t>
                </a: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512</a:t>
                </a: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的倍数。</a:t>
                </a:r>
                <a:endParaRPr sz="3600" dirty="0">
                  <a:solidFill>
                    <a:srgbClr val="191919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3763" y="2247900"/>
                <a:ext cx="13728192" cy="3375660"/>
              </a:xfrm>
              <a:prstGeom prst="rect">
                <a:avLst/>
              </a:prstGeom>
              <a:blipFill rotWithShape="1">
                <a:blip r:embed="rId2"/>
                <a:stretch>
                  <a:fillRect r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6736060" y="9336024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10</a:t>
            </a:r>
            <a:endParaRPr lang="en-US" altLang="zh-CN" sz="1400" smtClean="0">
              <a:solidFill>
                <a:srgbClr val="FFC000"/>
              </a:solidFill>
              <a:sym typeface="+mn-ea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3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.2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4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算法描述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143000" y="1597025"/>
                <a:ext cx="15984855" cy="7802329"/>
              </a:xfrm>
              <a:prstGeom prst="rect">
                <a:avLst/>
              </a:prstGeom>
              <a:noFill/>
            </p:spPr>
            <p:txBody>
              <a:bodyPr wrap="square" lIns="73152" tIns="27432" rIns="73152" bIns="27432" anchor="t">
                <a:spAutoFit/>
              </a:bodyPr>
              <a:lstStyle/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将填充后的消息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按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512</m:t>
                    </m:r>
                    <m:r>
                      <a:rPr lang="en-US" sz="3600" i="1" dirty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𝑏𝑖𝑡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进行分组，设为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3600" i="1" dirty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d>
                          <m:dPr>
                            <m:ctrlPr>
                              <a:rPr lang="en-US" altLang="zh-CN" sz="3600" i="1" dirty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600" i="1" dirty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  <m:sSup>
                      <m:sSupPr>
                        <m:ctrlPr>
                          <a:rPr lang="en-US" altLang="zh-CN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d>
                          <m:dPr>
                            <m:ctrlPr>
                              <a:rPr lang="en-US" altLang="zh-CN" sz="3600" i="1" dirty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600" i="1" dirty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  <m:r>
                      <a:rPr lang="en-US" altLang="zh-CN" sz="3600" i="1" dirty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𝐾</m:t>
                    </m:r>
                    <m:sSup>
                      <m:sSupPr>
                        <m:ctrlPr>
                          <a:rPr lang="en-US" altLang="zh-CN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d>
                          <m:dPr>
                            <m:ctrlPr>
                              <a:rPr lang="en-US" altLang="zh-CN" sz="3600" i="1" dirty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600" i="1" dirty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3600" i="1" dirty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3600" i="1" dirty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其中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sz="3600" i="1" dirty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𝑙</m:t>
                        </m:r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𝑘</m:t>
                        </m:r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65</m:t>
                        </m:r>
                      </m:e>
                    </m:d>
                    <m:r>
                      <m:rPr>
                        <m:lit/>
                      </m:rPr>
                      <a:rPr lang="en-US" sz="3600" i="1" dirty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/</m:t>
                    </m:r>
                    <m:r>
                      <a:rPr lang="en-US" sz="3600" i="1" dirty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512</m:t>
                    </m:r>
                  </m:oMath>
                </a14:m>
                <a:r>
                  <a:rPr 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。</a:t>
                </a:r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将消息分组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d>
                          <m:dPr>
                            <m:ctrlPr>
                              <a:rPr lang="en-US" sz="3600" i="1" dirty="0" smtClean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i="1" dirty="0" err="1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按照以下方式扩展成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132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个字，即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600" i="1" dirty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i="1" dirty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sz="3600" b="0" i="1" dirty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𝐾</m:t>
                    </m:r>
                    <m:r>
                      <a:rPr lang="en-US" sz="3600" i="1" dirty="0" err="1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 err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67</m:t>
                        </m:r>
                      </m:sub>
                    </m:sSub>
                    <m:r>
                      <a:rPr lang="en-US" sz="3600" i="1" dirty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3600" i="1" dirty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3600" i="1" dirty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sz="3600" b="0" i="1" dirty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𝐾</m:t>
                    </m:r>
                    <m:r>
                      <a:rPr lang="en-US" sz="3600" i="1" dirty="0" err="1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3600" i="1" dirty="0" err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63</m:t>
                        </m:r>
                      </m:sub>
                      <m:sup>
                        <m:r>
                          <a:rPr lang="en-US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sz="3600" i="1" dirty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。</m:t>
                    </m:r>
                  </m:oMath>
                </a14:m>
                <a:endParaRPr lang="en-US" sz="3600" dirty="0">
                  <a:solidFill>
                    <a:srgbClr val="19191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（1）</a:t>
                </a:r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将消息分组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d>
                          <m:dPr>
                            <m:ctrlPr>
                              <a:rPr lang="en-US" sz="3600" i="1" dirty="0" smtClean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i="1" dirty="0" err="1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划分为</a:t>
                </a:r>
                <a:r>
                  <a:rPr lang="en-US" altLang="zh-CN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16</a:t>
                </a:r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个字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3600" i="1" dirty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600" i="1" dirty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en-US" sz="3600" b="0" i="1" dirty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𝐾</m:t>
                    </m:r>
                    <m:r>
                      <a:rPr lang="en-US" sz="3600" i="1" dirty="0" err="1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 err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15</m:t>
                        </m:r>
                      </m:sub>
                    </m:sSub>
                    <m:r>
                      <a:rPr lang="en-US" sz="3600" i="1" dirty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。</m:t>
                    </m:r>
                  </m:oMath>
                </a14:m>
                <a:endParaRPr lang="en-US" sz="3600" dirty="0">
                  <a:solidFill>
                    <a:srgbClr val="19191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（2）</a:t>
                </a:r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执行循环生成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en-US" sz="3600" i="1" dirty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17</m:t>
                        </m:r>
                      </m:sub>
                    </m:sSub>
                    <m:r>
                      <a:rPr lang="en-US" sz="3600" i="1" dirty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,…</m:t>
                    </m:r>
                    <m:r>
                      <a:rPr lang="en-US" sz="3600" i="1" dirty="0" err="1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600" i="1" dirty="0" err="1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sz="3600" i="1" dirty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67</m:t>
                        </m:r>
                      </m:sub>
                    </m:sSub>
                    <m:r>
                      <a:rPr lang="en-US" sz="3600" i="1" dirty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；</m:t>
                    </m:r>
                  </m:oMath>
                </a14:m>
                <a:endParaRPr lang="en-US" altLang="zh-CN" sz="36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457200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b="0" i="1" dirty="0" smtClean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𝑓</m:t>
                      </m:r>
                      <m:r>
                        <a:rPr lang="en-US" altLang="zh-CN" sz="3600" i="1" dirty="0" smtClean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𝑜𝑟</m:t>
                      </m:r>
                      <m:r>
                        <a:rPr lang="en-US" altLang="zh-CN" sz="3600" b="0" i="1" dirty="0" smtClean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</m:t>
                      </m:r>
                      <m:r>
                        <a:rPr lang="en-US" altLang="zh-CN" sz="3600" i="1" dirty="0" smtClean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3600" i="1" dirty="0" smtClean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i="1" dirty="0" smtClean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16</m:t>
                      </m:r>
                      <m:r>
                        <a:rPr lang="en-US" altLang="zh-CN" sz="3600" b="0" i="1" dirty="0" smtClean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  </m:t>
                      </m:r>
                      <m:r>
                        <a:rPr lang="en-US" altLang="zh-CN" sz="3600" i="1" dirty="0" smtClean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𝑡𝑜</m:t>
                      </m:r>
                      <m:r>
                        <a:rPr lang="en-US" altLang="zh-CN" sz="3600" b="0" i="1" dirty="0" smtClean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</m:t>
                      </m:r>
                      <m:r>
                        <a:rPr lang="en-US" altLang="zh-CN" sz="3600" i="1" dirty="0" smtClean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67</m:t>
                      </m:r>
                    </m:oMath>
                  </m:oMathPara>
                </a14:m>
                <a:endParaRPr lang="en-US" altLang="zh-CN" sz="36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42337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   </m:t>
                    </m:r>
                    <m:sSub>
                      <m:sSubPr>
                        <m:ctrlPr>
                          <a:rPr lang="en-US" altLang="zh-CN" sz="3600" i="1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 i="1" smtClean="0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3600" i="1" smtClean="0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CN" sz="3600" i="1">
                        <a:solidFill>
                          <a:srgbClr val="142337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3600" i="1" dirty="0" smtClean="0">
                        <a:solidFill>
                          <a:srgbClr val="142337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←</m:t>
                    </m:r>
                  </m:oMath>
                </a14:m>
                <a:r>
                  <a:rPr lang="en-US" altLang="zh-CN" sz="3600" dirty="0">
                    <a:solidFill>
                      <a:srgbClr val="142337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3600" b="0" i="1" smtClean="0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3600" dirty="0">
                    <a:solidFill>
                      <a:srgbClr val="14233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 i="1" smtClean="0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3600" i="1" smtClean="0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3600" i="1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3600" b="0" i="1" smtClean="0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  <m:r>
                          <a:rPr lang="en-US" altLang="zh-CN" sz="3600" i="1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CN" sz="3600" i="1">
                        <a:solidFill>
                          <a:srgbClr val="142337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3600" i="1" dirty="0" smtClean="0">
                        <a:solidFill>
                          <a:srgbClr val="1423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⊕</m:t>
                    </m:r>
                  </m:oMath>
                </a14:m>
                <a:r>
                  <a:rPr lang="en-US" altLang="zh-CN" sz="3600" dirty="0">
                    <a:solidFill>
                      <a:srgbClr val="142337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 i="1" smtClean="0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3600" i="1" smtClean="0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3600" i="1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3600" b="0" i="1" smtClean="0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</m:t>
                        </m:r>
                      </m:sub>
                    </m:sSub>
                    <m:r>
                      <a:rPr lang="en-US" altLang="zh-CN" sz="3600" i="1">
                        <a:solidFill>
                          <a:srgbClr val="142337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3600" i="1" dirty="0" smtClean="0">
                        <a:solidFill>
                          <a:srgbClr val="1423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⊕</m:t>
                    </m:r>
                  </m:oMath>
                </a14:m>
                <a:r>
                  <a:rPr lang="en-US" altLang="zh-CN" sz="3600" dirty="0">
                    <a:solidFill>
                      <a:srgbClr val="14233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 i="1" smtClean="0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3600" i="1" smtClean="0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3600" i="1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3600" b="0" i="1" smtClean="0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sz="3600" i="1">
                        <a:solidFill>
                          <a:srgbClr val="142337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3600" dirty="0">
                    <a:solidFill>
                      <a:srgbClr val="14233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&lt;&lt;&lt;15))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423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⊕</m:t>
                    </m:r>
                  </m:oMath>
                </a14:m>
                <a:r>
                  <a:rPr lang="en-US" altLang="zh-CN" sz="3600" dirty="0">
                    <a:solidFill>
                      <a:srgbClr val="14233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 i="1" smtClean="0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3600" i="1" smtClean="0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3600" i="1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3600" b="0" i="1" smtClean="0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13</m:t>
                        </m:r>
                      </m:sub>
                    </m:sSub>
                    <m:r>
                      <a:rPr lang="en-US" altLang="zh-CN" sz="3600" i="1">
                        <a:solidFill>
                          <a:srgbClr val="142337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zh-CN" sz="3600" dirty="0">
                    <a:solidFill>
                      <a:srgbClr val="14233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&lt;&lt;&lt;7)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42337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⊕</m:t>
                    </m:r>
                    <m:sSub>
                      <m:sSubPr>
                        <m:ctrlPr>
                          <a:rPr lang="en-US" altLang="zh-CN" sz="3600" i="1" smtClean="0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smtClean="0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CN" sz="3600" i="1" smtClean="0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𝑗</m:t>
                        </m:r>
                        <m:r>
                          <a:rPr lang="en-US" altLang="zh-CN" sz="3600" i="1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3600" b="0" i="1" smtClean="0">
                            <a:solidFill>
                              <a:srgbClr val="142337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zh-CN" altLang="en-US" sz="3600" dirty="0">
                    <a:solidFill>
                      <a:srgbClr val="14233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endParaRPr lang="en-US" altLang="zh-CN" sz="36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i="1" dirty="0" smtClean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𝑒𝑛𝑑𝑓𝑜</m:t>
                      </m:r>
                      <m:r>
                        <a:rPr lang="en-US" sz="3600" i="1" dirty="0" err="1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altLang="zh-CN" sz="36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（3）</a:t>
                </a:r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执行循环生成</a:t>
                </a:r>
                <a:endParaRPr lang="en-US" altLang="zh-CN" sz="36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3600" i="1" dirty="0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</m:ctrlPr>
                        </m:sSubSupPr>
                        <m:e>
                          <m:r>
                            <a:rPr lang="en-US" altLang="zh-CN" sz="3600" b="0" i="1" dirty="0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𝑊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36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</a:rPr>
                            <m:t>j</m:t>
                          </m:r>
                        </m:sub>
                        <m:sup>
                          <m:r>
                            <a:rPr lang="en-US" altLang="zh-CN" sz="3600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m:rPr>
                          <m:nor/>
                        </m:rPr>
                        <a:rPr lang="en-US" altLang="zh-CN" sz="3600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3600" i="1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i="1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3600" i="1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36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altLang="zh-CN" sz="3600" i="1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3600" i="1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3600" i="1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𝑗</m:t>
                          </m:r>
                          <m:r>
                            <a:rPr lang="en-US" altLang="zh-CN" sz="3600" b="0" i="1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3600" b="0" i="1" smtClean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en-US" sz="3600" dirty="0">
                  <a:solidFill>
                    <a:srgbClr val="19191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𝑒𝑛𝑑𝑓𝑜</m:t>
                      </m:r>
                      <m:r>
                        <a:rPr lang="en-US" altLang="zh-CN" sz="3600" i="1" dirty="0" err="1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sz="3600" dirty="0">
                  <a:solidFill>
                    <a:srgbClr val="19191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1597025"/>
                <a:ext cx="15984855" cy="7802329"/>
              </a:xfrm>
              <a:prstGeom prst="rect">
                <a:avLst/>
              </a:prstGeom>
              <a:blipFill rotWithShape="1">
                <a:blip r:embed="rId2"/>
                <a:stretch>
                  <a:fillRect b="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16736060" y="9336024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1</a:t>
            </a: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1</a:t>
            </a:r>
            <a:endParaRPr lang="en-US" altLang="zh-CN" sz="1400" smtClean="0">
              <a:solidFill>
                <a:srgbClr val="FFC000"/>
              </a:solidFill>
              <a:sym typeface="+mn-ea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3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.2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4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算法描述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1664208" y="1572768"/>
            <a:ext cx="14859000" cy="71882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SM3消息扩展过程如图12.1所示</a:t>
            </a:r>
            <a:r>
              <a:rPr sz="30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sz="30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736060" y="9336024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altLang="zh-CN" sz="1400" smtClean="0">
                <a:solidFill>
                  <a:srgbClr val="FFC000"/>
                </a:solidFill>
              </a:rPr>
              <a:t>12</a:t>
            </a:r>
            <a:endParaRPr sz="1400" dirty="0">
              <a:solidFill>
                <a:srgbClr val="646464"/>
              </a:solidFill>
              <a:latin typeface="Times New Roman" panose="02020603050405020304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3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.2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4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算法描述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  <p:pic>
        <p:nvPicPr>
          <p:cNvPr id="48" name="图片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3086100"/>
            <a:ext cx="15611475" cy="39852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172200" y="7429500"/>
            <a:ext cx="6096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图12.1　</a:t>
            </a:r>
            <a:r>
              <a:rPr lang="en-US" altLang="zh-CN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SM3</a:t>
            </a:r>
            <a:r>
              <a:rPr lang="zh-CN" altLang="en-US" sz="160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消息扩展过程</a:t>
            </a:r>
            <a:endParaRPr lang="zh-CN" altLang="en-US" sz="160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684655" y="1562100"/>
                <a:ext cx="14859000" cy="7446645"/>
              </a:xfrm>
              <a:prstGeom prst="rect">
                <a:avLst/>
              </a:prstGeom>
              <a:noFill/>
            </p:spPr>
            <p:txBody>
              <a:bodyPr wrap="square" lIns="73152" tIns="27432" rIns="73152" bIns="27432" anchor="t">
                <a:spAutoFit/>
              </a:bodyPr>
              <a:lstStyle/>
              <a:p>
                <a:pPr indent="457200" algn="ctr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令A、B、C、D、E、F、G、H为字寄存器，SS1、SS2、TT1、TT2为中间变量。</a:t>
                </a:r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压缩函数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36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US" altLang="zh-CN" sz="36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i</m:t>
                        </m:r>
                        <m:r>
                          <a:rPr lang="en-US" altLang="zh-CN" sz="36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6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36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3600" b="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𝐶𝐹</m:t>
                    </m:r>
                    <m:d>
                      <m:dPr>
                        <m:ctrlPr>
                          <a:rPr lang="en-US" altLang="zh-CN" sz="36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sz="3600" b="0" i="1" smtClean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3600" b="0" i="1" smtClean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V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3600" b="0" i="1" smtClean="0">
                                    <a:solidFill>
                                      <a:srgbClr val="191919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600" b="0" i="1" smtClean="0">
                                    <a:solidFill>
                                      <a:srgbClr val="191919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altLang="zh-CN" sz="3600" b="0" i="1" smtClean="0">
                            <a:solidFill>
                              <a:srgbClr val="191919"/>
                            </a:solidFill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3600" b="0" i="1" smtClean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sz="3600" b="0" i="1" smtClean="0">
                                <a:solidFill>
                                  <a:srgbClr val="191919"/>
                                </a:solidFill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d>
                              <m:dPr>
                                <m:ctrlPr>
                                  <a:rPr lang="en-US" altLang="zh-CN" sz="3600" b="0" i="1" smtClean="0">
                                    <a:solidFill>
                                      <a:srgbClr val="191919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3600" b="0" i="1" smtClean="0">
                                    <a:solidFill>
                                      <a:srgbClr val="191919"/>
                                    </a:solidFill>
                                    <a:latin typeface="Cambria Math" panose="02040503050406030204" pitchFamily="18" charset="0"/>
                                    <a:ea typeface="宋体" panose="02010600030101010101" pitchFamily="2" charset="-122"/>
                                    <a:cs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</m:e>
                    </m:d>
                  </m:oMath>
                </a14:m>
                <a:r>
                  <a:rPr 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,0</a:t>
                </a:r>
                <a14:m>
                  <m:oMath xmlns:m="http://schemas.openxmlformats.org/officeDocument/2006/math">
                    <m:r>
                      <a:rPr lang="en-US" sz="3600" i="1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sz="3600" i="1" dirty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𝑖</m:t>
                    </m:r>
                    <m:r>
                      <a:rPr lang="en-US" altLang="zh-CN" sz="3600" i="1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≤</m:t>
                    </m:r>
                    <m:r>
                      <a:rPr lang="en-US" sz="3600" i="1" dirty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𝑛</m:t>
                    </m:r>
                    <m:r>
                      <a:rPr lang="en-US" sz="3600" i="1" dirty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−</m:t>
                    </m:r>
                    <m:r>
                      <a:rPr lang="en-US" sz="3600" i="1" dirty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1</m:t>
                    </m:r>
                    <m:r>
                      <a:rPr lang="en-US" sz="3600" i="1" dirty="0" smtClean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,</m:t>
                    </m:r>
                    <m:r>
                      <a:rPr lang="zh-CN" altLang="en-US" sz="3600" i="1" dirty="0">
                        <a:solidFill>
                          <a:srgbClr val="191919"/>
                        </a:solidFill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具体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过程如下</a:t>
                </a:r>
                <a:r>
                  <a:rPr lang="en-US" altLang="zh-CN" sz="3600" dirty="0">
                    <a:solidFill>
                      <a:srgbClr val="142337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 </a:t>
                </a:r>
                <a:endParaRPr lang="en-US" altLang="zh-CN" sz="36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sz="3600" dirty="0" err="1">
                  <a:solidFill>
                    <a:srgbClr val="19191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sz="3600" dirty="0" err="1">
                  <a:solidFill>
                    <a:srgbClr val="19191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sz="3600" dirty="0" err="1">
                  <a:solidFill>
                    <a:srgbClr val="19191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sz="3600" dirty="0" err="1">
                  <a:solidFill>
                    <a:srgbClr val="19191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sz="3600" dirty="0" err="1">
                  <a:solidFill>
                    <a:srgbClr val="19191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sz="3600" dirty="0" err="1">
                  <a:solidFill>
                    <a:srgbClr val="19191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sz="3600" dirty="0" err="1">
                  <a:solidFill>
                    <a:srgbClr val="19191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sz="3600" dirty="0" err="1">
                  <a:solidFill>
                    <a:srgbClr val="19191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600" dirty="0" err="1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其中</a:t>
                </a:r>
                <a:r>
                  <a:rPr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，“+”表示模2³²算术加运算；“←”</a:t>
                </a:r>
                <a:r>
                  <a:rPr sz="3600" dirty="0" err="1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是左向赋值运算符</a:t>
                </a:r>
                <a:r>
                  <a:rPr sz="3600" dirty="0">
                    <a:solidFill>
                      <a:srgbClr val="191919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。</a:t>
                </a:r>
                <a:endParaRPr sz="3600" dirty="0">
                  <a:solidFill>
                    <a:srgbClr val="191919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655" y="1562100"/>
                <a:ext cx="14859000" cy="744664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16736060" y="9336024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altLang="zh-CN" sz="1400" smtClean="0">
                <a:solidFill>
                  <a:srgbClr val="FFC000"/>
                </a:solidFill>
              </a:rPr>
              <a:t>13</a:t>
            </a:r>
            <a:endParaRPr sz="1400" dirty="0">
              <a:solidFill>
                <a:srgbClr val="646464"/>
              </a:solidFill>
              <a:latin typeface="Times New Roman" panose="02020603050405020304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3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12.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2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4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算法描述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8305800" y="3086100"/>
                <a:ext cx="7549515" cy="47129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457200" algn="ctr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&lt;&lt;&lt;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US" altLang="zh-CN" sz="28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ctr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altLang="zh-CN" sz="28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ctr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𝑇𝑇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CN" sz="28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ctr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altLang="zh-CN" sz="28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ctr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&lt;&lt;&lt;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19</m:t>
                      </m:r>
                    </m:oMath>
                  </m:oMathPara>
                </a14:m>
                <a:endParaRPr lang="en-US" altLang="zh-CN" sz="28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ctr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altLang="zh-CN" sz="28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ctr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𝑇𝑇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ctr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𝑒𝑛𝑑𝑓𝑜𝑟</m:t>
                      </m:r>
                    </m:oMath>
                  </m:oMathPara>
                </a14:m>
                <a:endParaRPr lang="en-US" altLang="zh-CN" sz="28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ctr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𝐴𝐵𝐶𝐷𝐸𝐹𝐺𝐻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⊕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altLang="zh-CN" sz="28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5800" y="3086100"/>
                <a:ext cx="7549515" cy="471297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/>
              <p:cNvSpPr txBox="1"/>
              <p:nvPr/>
            </p:nvSpPr>
            <p:spPr>
              <a:xfrm>
                <a:off x="1143000" y="3619500"/>
                <a:ext cx="8322945" cy="36861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indent="457200" algn="ctr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𝐴𝐵𝐶𝐷𝐸𝐹𝐺𝐻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←</m:t>
                      </m:r>
                      <m:sSup>
                        <m:sSupPr>
                          <m:ctrlP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altLang="zh-CN" sz="28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457200" algn="ctr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𝑓𝑜𝑟𝑗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0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𝑡𝑜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63</m:t>
                      </m:r>
                    </m:oMath>
                  </m:oMathPara>
                </a14:m>
                <a:endParaRPr lang="en-US" altLang="zh-CN" sz="28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457200" algn="ctr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𝑆𝑆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←((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&lt;&lt;&lt;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12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)+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&lt;&lt;&lt;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𝑗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))&lt;&lt;&lt;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altLang="zh-CN" sz="28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457200" algn="ctr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𝑆𝑆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𝑆𝑆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⊕(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&lt;&lt;&lt;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12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457200" algn="ctr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𝑇𝑇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𝐹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𝐶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)+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𝑆𝑆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'</m:t>
                      </m:r>
                    </m:oMath>
                  </m:oMathPara>
                </a14:m>
                <a:endParaRPr lang="en-US" altLang="zh-CN" sz="28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457200" algn="ctr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𝑇𝑇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2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𝐺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𝐸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,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)+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𝐻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𝑆𝑆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1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sz="2800" i="1" dirty="0">
                              <a:solidFill>
                                <a:srgbClr val="142337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altLang="zh-CN" sz="28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457200" algn="ctr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𝐷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←</m:t>
                      </m:r>
                      <m:r>
                        <a:rPr lang="en-US" altLang="zh-CN" sz="2800" i="1" dirty="0">
                          <a:solidFill>
                            <a:srgbClr val="142337"/>
                          </a:solidFill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altLang="zh-CN" sz="2800" dirty="0">
                  <a:solidFill>
                    <a:srgbClr val="142337"/>
                  </a:solidFill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000" y="3619500"/>
                <a:ext cx="8322945" cy="368617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1664208" y="1572768"/>
            <a:ext cx="14859000" cy="71882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SM3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压缩函数过程如图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12.2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所示。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736060" y="9336024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altLang="zh-CN" sz="1400" smtClean="0">
                <a:solidFill>
                  <a:srgbClr val="FFC000"/>
                </a:solidFill>
              </a:rPr>
              <a:t>14</a:t>
            </a:r>
            <a:endParaRPr sz="1400" dirty="0">
              <a:solidFill>
                <a:srgbClr val="646464"/>
              </a:solidFill>
              <a:latin typeface="Times New Roman" panose="02020603050405020304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3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.2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4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算法描述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 b="11569"/>
          <a:stretch>
            <a:fillRect/>
          </a:stretch>
        </p:blipFill>
        <p:spPr>
          <a:xfrm>
            <a:off x="3564023" y="2298513"/>
            <a:ext cx="11601155" cy="641572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093808" y="8996690"/>
            <a:ext cx="4276789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1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12.2 SM3</a:t>
            </a:r>
            <a:r>
              <a:rPr lang="zh-CN" altLang="en-US" sz="1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压缩函数过程</a:t>
            </a:r>
            <a:endParaRPr lang="zh-CN" altLang="en-US" sz="1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664208" y="1572768"/>
                <a:ext cx="14859000" cy="4831715"/>
              </a:xfrm>
              <a:prstGeom prst="rect">
                <a:avLst/>
              </a:prstGeom>
              <a:noFill/>
            </p:spPr>
            <p:txBody>
              <a:bodyPr wrap="square" lIns="73152" tIns="27432" rIns="73152" bIns="27432" anchor="t">
                <a:spAutoFit/>
              </a:bodyPr>
              <a:lstStyle/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600" dirty="0" err="1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迭代</a:t>
                </a:r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过程：</a:t>
                </a:r>
                <a:endParaRPr lang="en-US" altLang="zh-CN" sz="3600" dirty="0">
                  <a:solidFill>
                    <a:srgbClr val="191919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对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按照下列方式进行迭代：</a:t>
                </a:r>
                <a:endParaRPr lang="zh-CN" altLang="en-US" sz="3600" dirty="0">
                  <a:solidFill>
                    <a:srgbClr val="191919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600" i="1" dirty="0" smtClean="0">
                              <a:solidFill>
                                <a:srgbClr val="191919"/>
                              </a:solidFill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600" i="1" dirty="0">
                              <a:solidFill>
                                <a:srgbClr val="191919"/>
                              </a:solidFill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3600" i="1" dirty="0">
                                  <a:solidFill>
                                    <a:srgbClr val="191919"/>
                                  </a:solidFill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600" i="1" dirty="0">
                                  <a:solidFill>
                                    <a:srgbClr val="191919"/>
                                  </a:solidFill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CN" sz="3600" i="1" dirty="0">
                                  <a:solidFill>
                                    <a:srgbClr val="191919"/>
                                  </a:solidFill>
                                  <a:uFillTx/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3600" i="1" dirty="0">
                                  <a:solidFill>
                                    <a:srgbClr val="191919"/>
                                  </a:solidFill>
                                  <a:uFillTx/>
                                  <a:latin typeface="Cambria Math" panose="02040503050406030204" pitchFamily="18" charset="0"/>
                                  <a:ea typeface="MS Mincho" charset="0"/>
                                  <a:cs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p>
                      <m:r>
                        <a:rPr lang="en-US" altLang="zh-CN" sz="3600" i="1" dirty="0">
                          <a:solidFill>
                            <a:srgbClr val="191919"/>
                          </a:solidFill>
                          <a:uFillTx/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i="1" dirty="0">
                          <a:solidFill>
                            <a:srgbClr val="191919"/>
                          </a:solidFill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𝐶𝐹</m:t>
                      </m:r>
                      <m:r>
                        <a:rPr lang="en-US" altLang="zh-CN" sz="3600" i="1" dirty="0">
                          <a:solidFill>
                            <a:srgbClr val="191919"/>
                          </a:solidFill>
                          <a:uFillTx/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altLang="zh-CN" sz="3600" i="1" dirty="0" smtClean="0">
                              <a:solidFill>
                                <a:srgbClr val="191919"/>
                              </a:solidFill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600" i="1" dirty="0">
                              <a:solidFill>
                                <a:srgbClr val="191919"/>
                              </a:solidFill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3600" i="1" dirty="0">
                                  <a:solidFill>
                                    <a:srgbClr val="191919"/>
                                  </a:solidFill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600" i="1" dirty="0" err="1">
                                  <a:solidFill>
                                    <a:srgbClr val="191919"/>
                                  </a:solidFill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m:rPr>
                          <m:lit/>
                        </m:rPr>
                        <a:rPr lang="en-US" altLang="zh-CN" sz="3600" i="1" dirty="0">
                          <a:solidFill>
                            <a:srgbClr val="191919"/>
                          </a:solidFill>
                          <a:uFillTx/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altLang="zh-CN" sz="3600" i="1" dirty="0" smtClean="0">
                              <a:solidFill>
                                <a:srgbClr val="191919"/>
                              </a:solidFill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3600" i="1" dirty="0">
                              <a:solidFill>
                                <a:srgbClr val="191919"/>
                              </a:solidFill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d>
                            <m:dPr>
                              <m:ctrlPr>
                                <a:rPr lang="en-US" altLang="zh-CN" sz="3600" i="1" dirty="0">
                                  <a:solidFill>
                                    <a:srgbClr val="191919"/>
                                  </a:solidFill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600" i="1" dirty="0" err="1">
                                  <a:solidFill>
                                    <a:srgbClr val="191919"/>
                                  </a:solidFill>
                                  <a:uFillTx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sup>
                      </m:sSup>
                      <m:r>
                        <a:rPr lang="zh-CN" altLang="en-US" sz="3600" i="1" dirty="0">
                          <a:solidFill>
                            <a:srgbClr val="191919"/>
                          </a:solidFill>
                          <a:uFillTx/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）</m:t>
                      </m:r>
                      <m:r>
                        <a:rPr lang="en-US" altLang="zh-CN" sz="3600" i="1" dirty="0">
                          <a:solidFill>
                            <a:srgbClr val="191919"/>
                          </a:solidFill>
                          <a:uFillTx/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US" altLang="zh-CN" sz="3600" i="1" dirty="0">
                  <a:solidFill>
                    <a:srgbClr val="191919"/>
                  </a:solidFill>
                  <a:uFillTx/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600" i="1" dirty="0" smtClean="0">
                          <a:solidFill>
                            <a:srgbClr val="191919"/>
                          </a:solidFill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𝑓𝑜𝑟</m:t>
                      </m:r>
                      <m:r>
                        <a:rPr lang="en-US" altLang="zh-CN" sz="3600" b="0" i="1" dirty="0" smtClean="0">
                          <a:solidFill>
                            <a:srgbClr val="191919"/>
                          </a:solidFill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</m:t>
                      </m:r>
                      <m:r>
                        <a:rPr lang="en-US" altLang="zh-CN" sz="3600" i="1" dirty="0" err="1">
                          <a:solidFill>
                            <a:srgbClr val="191919"/>
                          </a:solidFill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3600" i="1" dirty="0">
                          <a:solidFill>
                            <a:srgbClr val="191919"/>
                          </a:solidFill>
                          <a:uFillTx/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r>
                        <a:rPr lang="en-US" altLang="zh-CN" sz="3600" i="1" dirty="0">
                          <a:solidFill>
                            <a:srgbClr val="191919"/>
                          </a:solidFill>
                          <a:uFillTx/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0</m:t>
                      </m:r>
                      <m:r>
                        <a:rPr lang="en-US" altLang="zh-CN" sz="3600" b="0" i="1" dirty="0" smtClean="0">
                          <a:solidFill>
                            <a:srgbClr val="191919"/>
                          </a:solidFill>
                          <a:uFillTx/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  </m:t>
                      </m:r>
                      <m:r>
                        <a:rPr lang="en-US" altLang="zh-CN" sz="3600" i="1" dirty="0">
                          <a:solidFill>
                            <a:srgbClr val="191919"/>
                          </a:solidFill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𝑡𝑜</m:t>
                      </m:r>
                      <m:r>
                        <a:rPr lang="en-US" altLang="zh-CN" sz="3600" b="0" i="1" dirty="0" smtClean="0">
                          <a:solidFill>
                            <a:srgbClr val="191919"/>
                          </a:solidFill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  </m:t>
                      </m:r>
                      <m:d>
                        <m:dPr>
                          <m:ctrlPr>
                            <a:rPr lang="en-US" altLang="zh-CN" sz="3600" i="1" dirty="0">
                              <a:solidFill>
                                <a:srgbClr val="191919"/>
                              </a:solidFill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600" i="1" dirty="0">
                              <a:solidFill>
                                <a:srgbClr val="191919"/>
                              </a:solidFill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sz="3600" i="1" dirty="0">
                              <a:solidFill>
                                <a:srgbClr val="191919"/>
                              </a:solidFill>
                              <a:uFillTx/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3600" i="1" dirty="0">
                              <a:solidFill>
                                <a:srgbClr val="191919"/>
                              </a:solidFill>
                              <a:uFillTx/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CN" sz="3600" i="1" dirty="0" err="1">
                          <a:solidFill>
                            <a:srgbClr val="191919"/>
                          </a:solidFill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 </m:t>
                      </m:r>
                      <m:r>
                        <a:rPr lang="en-US" altLang="zh-CN" sz="3600" i="1" dirty="0" err="1">
                          <a:solidFill>
                            <a:srgbClr val="191919"/>
                          </a:solidFill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Cambria Math" panose="02040503050406030204" pitchFamily="18" charset="0"/>
                        </a:rPr>
                        <m:t>𝑒𝑛𝑑𝑓𝑜𝑟</m:t>
                      </m:r>
                    </m:oMath>
                  </m:oMathPara>
                </a14:m>
                <a:endParaRPr lang="en-US" altLang="zh-CN" sz="3600" dirty="0">
                  <a:solidFill>
                    <a:srgbClr val="191919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其中，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3600" i="0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CF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为压缩函数；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d>
                          <m:dPr>
                            <m:ctrlPr>
                              <a:rPr lang="en-US" altLang="zh-CN" sz="3600" i="1" dirty="0" smtClean="0">
                                <a:solidFill>
                                  <a:srgbClr val="191919"/>
                                </a:solidFill>
                                <a:uFillTx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600" i="1" dirty="0">
                                <a:solidFill>
                                  <a:srgbClr val="191919"/>
                                </a:solidFill>
                                <a:uFillTx/>
                                <a:latin typeface="Cambria Math" panose="02040503050406030204" pitchFamily="18" charset="0"/>
                                <a:ea typeface="MS Mincho" charset="0"/>
                                <a:cs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256</m:t>
                    </m:r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𝑏𝑖𝑡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初始变量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3600" i="0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IV</m:t>
                    </m:r>
                    <m:r>
                      <a:rPr lang="zh-CN" altLang="en-US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；</m:t>
                    </m:r>
                    <m:sSup>
                      <m:sSupPr>
                        <m:ctrlPr>
                          <a:rPr lang="en-US" altLang="zh-CN" sz="3600" i="1" dirty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d>
                          <m:dPr>
                            <m:ctrlPr>
                              <a:rPr lang="en-US" altLang="zh-CN" sz="3600" i="1" dirty="0" smtClean="0">
                                <a:solidFill>
                                  <a:srgbClr val="191919"/>
                                </a:solidFill>
                                <a:uFillTx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600" i="1" dirty="0" err="1">
                                <a:solidFill>
                                  <a:srgbClr val="191919"/>
                                </a:solidFill>
                                <a:uFillTx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为填充后的消息分组；迭代压缩的结果为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d>
                          <m:dPr>
                            <m:ctrlPr>
                              <a:rPr lang="en-US" altLang="zh-CN" sz="3600" i="1" dirty="0" smtClean="0">
                                <a:solidFill>
                                  <a:srgbClr val="191919"/>
                                </a:solidFill>
                                <a:uFillTx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600" i="1" dirty="0">
                                <a:solidFill>
                                  <a:srgbClr val="191919"/>
                                </a:solidFill>
                                <a:uFillTx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en-US" sz="3600" dirty="0">
                  <a:solidFill>
                    <a:srgbClr val="191919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3600" i="0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ABCDEFGH</m:t>
                    </m:r>
                    <m:r>
                      <a:rPr lang="en-US" altLang="zh-CN" sz="3600" i="1" dirty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←</m:t>
                    </m:r>
                    <m:sSup>
                      <m:sSupPr>
                        <m:ctrlPr>
                          <a:rPr lang="en-US" altLang="zh-CN" sz="3600" i="1" dirty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 dirty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d>
                          <m:dPr>
                            <m:ctrlPr>
                              <a:rPr lang="en-US" altLang="zh-CN" sz="3600" i="1" dirty="0">
                                <a:solidFill>
                                  <a:srgbClr val="191919"/>
                                </a:solidFill>
                                <a:uFillTx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600" i="1" dirty="0">
                                <a:solidFill>
                                  <a:srgbClr val="191919"/>
                                </a:solidFill>
                                <a:uFillTx/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sup>
                    </m:sSup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，输出</a:t>
                </a:r>
                <a14:m>
                  <m:oMath xmlns:m="http://schemas.openxmlformats.org/officeDocument/2006/math">
                    <m:r>
                      <a:rPr lang="en-US" altLang="zh-CN" sz="3600" i="1" dirty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256</m:t>
                    </m:r>
                    <m:r>
                      <a:rPr lang="en-US" altLang="zh-CN" sz="3600" i="1" dirty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𝑏𝑖𝑡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的杂凑值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𝑦</m:t>
                    </m:r>
                    <m:r>
                      <a:rPr lang="en-US" altLang="zh-CN" sz="3600" i="1" dirty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altLang="zh-CN" sz="3600" i="0" dirty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ABCDEFGH</m:t>
                    </m:r>
                    <m:r>
                      <a:rPr lang="zh-CN" altLang="en-US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。</m:t>
                    </m:r>
                  </m:oMath>
                </a14:m>
                <a:endParaRPr lang="zh-CN" altLang="en-US" sz="3600" i="1" dirty="0">
                  <a:solidFill>
                    <a:srgbClr val="191919"/>
                  </a:solidFill>
                  <a:uFillTx/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208" y="1572768"/>
                <a:ext cx="14859000" cy="4831715"/>
              </a:xfrm>
              <a:prstGeom prst="rect">
                <a:avLst/>
              </a:prstGeom>
              <a:blipFill rotWithShape="1">
                <a:blip r:embed="rId2"/>
                <a:stretch>
                  <a:fillRect l="-3" t="-11" r="3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16736060" y="9336024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altLang="zh-CN" sz="1400" smtClean="0">
                <a:solidFill>
                  <a:srgbClr val="FFC000"/>
                </a:solidFill>
              </a:rPr>
              <a:t>15</a:t>
            </a:r>
            <a:endParaRPr sz="1400" dirty="0">
              <a:solidFill>
                <a:srgbClr val="646464"/>
              </a:solidFill>
              <a:latin typeface="Times New Roman" panose="02020603050405020304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3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.2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4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算法描述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0296" y="3604350"/>
            <a:ext cx="16727408" cy="1438536"/>
            <a:chOff x="0" y="0"/>
            <a:chExt cx="22303210" cy="19180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7212" cy="23721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560278"/>
              <a:ext cx="237212" cy="237212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1120557"/>
              <a:ext cx="237212" cy="237212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1680835"/>
              <a:ext cx="237212" cy="23721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2065998" y="0"/>
              <a:ext cx="237212" cy="23721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2065998" y="560278"/>
              <a:ext cx="237212" cy="23721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2065998" y="1120557"/>
              <a:ext cx="237212" cy="237212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22065998" y="1680835"/>
              <a:ext cx="237212" cy="23721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 rot="-10800000">
            <a:off x="5340277" y="802276"/>
            <a:ext cx="7607443" cy="7607443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DDEEF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781241" y="2834725"/>
            <a:ext cx="2725514" cy="2011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7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200" dirty="0">
                <a:solidFill>
                  <a:srgbClr val="004A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字由文艺黑" panose="00020600040101010101" charset="-122"/>
              </a:rPr>
              <a:t>12.3</a:t>
            </a:r>
            <a:endParaRPr kumimoji="0" lang="en-US" sz="12200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428998" y="5143500"/>
            <a:ext cx="11429999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设计原理</a:t>
            </a:r>
            <a:endParaRPr kumimoji="0" lang="zh-CN" altLang="en-US" sz="96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-1299970" y="9030575"/>
            <a:ext cx="21159211" cy="1394613"/>
            <a:chOff x="0" y="0"/>
            <a:chExt cx="28212281" cy="1859484"/>
          </a:xfrm>
        </p:grpSpPr>
        <p:grpSp>
          <p:nvGrpSpPr>
            <p:cNvPr id="38" name="Group 38"/>
            <p:cNvGrpSpPr/>
            <p:nvPr/>
          </p:nvGrpSpPr>
          <p:grpSpPr>
            <a:xfrm>
              <a:off x="361694" y="0"/>
              <a:ext cx="27850587" cy="1462963"/>
              <a:chOff x="0" y="0"/>
              <a:chExt cx="5501351" cy="28898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5501351" cy="288980"/>
              </a:xfrm>
              <a:custGeom>
                <a:avLst/>
                <a:gdLst/>
                <a:ahLst/>
                <a:cxnLst/>
                <a:rect l="l" t="t" r="r" b="b"/>
                <a:pathLst>
                  <a:path w="5501351" h="288980">
                    <a:moveTo>
                      <a:pt x="18903" y="0"/>
                    </a:moveTo>
                    <a:lnTo>
                      <a:pt x="5482448" y="0"/>
                    </a:lnTo>
                    <a:cubicBezTo>
                      <a:pt x="5487461" y="0"/>
                      <a:pt x="5492269" y="1992"/>
                      <a:pt x="5495814" y="5536"/>
                    </a:cubicBezTo>
                    <a:cubicBezTo>
                      <a:pt x="5499359" y="9081"/>
                      <a:pt x="5501351" y="13889"/>
                      <a:pt x="5501351" y="18903"/>
                    </a:cubicBezTo>
                    <a:lnTo>
                      <a:pt x="5501351" y="270078"/>
                    </a:lnTo>
                    <a:cubicBezTo>
                      <a:pt x="5501351" y="280517"/>
                      <a:pt x="5492888" y="288980"/>
                      <a:pt x="5482448" y="288980"/>
                    </a:cubicBezTo>
                    <a:lnTo>
                      <a:pt x="18903" y="288980"/>
                    </a:lnTo>
                    <a:cubicBezTo>
                      <a:pt x="8463" y="288980"/>
                      <a:pt x="0" y="280517"/>
                      <a:pt x="0" y="270078"/>
                    </a:cubicBezTo>
                    <a:lnTo>
                      <a:pt x="0" y="18903"/>
                    </a:lnTo>
                    <a:cubicBezTo>
                      <a:pt x="0" y="8463"/>
                      <a:pt x="8463" y="0"/>
                      <a:pt x="189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AD5C">
                      <a:alpha val="100000"/>
                    </a:srgbClr>
                  </a:gs>
                  <a:gs pos="100000">
                    <a:srgbClr val="FFE1C4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0"/>
                <a:ext cx="5501351" cy="2889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0" y="203803"/>
              <a:ext cx="27850587" cy="1655681"/>
              <a:chOff x="0" y="0"/>
              <a:chExt cx="5501351" cy="32704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5501351" cy="327048"/>
              </a:xfrm>
              <a:custGeom>
                <a:avLst/>
                <a:gdLst/>
                <a:ahLst/>
                <a:cxnLst/>
                <a:rect l="l" t="t" r="r" b="b"/>
                <a:pathLst>
                  <a:path w="5501351" h="327048">
                    <a:moveTo>
                      <a:pt x="18903" y="0"/>
                    </a:moveTo>
                    <a:lnTo>
                      <a:pt x="5482448" y="0"/>
                    </a:lnTo>
                    <a:cubicBezTo>
                      <a:pt x="5487461" y="0"/>
                      <a:pt x="5492269" y="1992"/>
                      <a:pt x="5495814" y="5536"/>
                    </a:cubicBezTo>
                    <a:cubicBezTo>
                      <a:pt x="5499359" y="9081"/>
                      <a:pt x="5501351" y="13889"/>
                      <a:pt x="5501351" y="18903"/>
                    </a:cubicBezTo>
                    <a:lnTo>
                      <a:pt x="5501351" y="308145"/>
                    </a:lnTo>
                    <a:cubicBezTo>
                      <a:pt x="5501351" y="318585"/>
                      <a:pt x="5492888" y="327048"/>
                      <a:pt x="5482448" y="327048"/>
                    </a:cubicBezTo>
                    <a:lnTo>
                      <a:pt x="18903" y="327048"/>
                    </a:lnTo>
                    <a:cubicBezTo>
                      <a:pt x="8463" y="327048"/>
                      <a:pt x="0" y="318585"/>
                      <a:pt x="0" y="308145"/>
                    </a:cubicBezTo>
                    <a:lnTo>
                      <a:pt x="0" y="18903"/>
                    </a:lnTo>
                    <a:cubicBezTo>
                      <a:pt x="0" y="8463"/>
                      <a:pt x="8463" y="0"/>
                      <a:pt x="18903" y="0"/>
                    </a:cubicBezTo>
                    <a:close/>
                  </a:path>
                </a:pathLst>
              </a:custGeom>
              <a:solidFill>
                <a:srgbClr val="013E7C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0"/>
                <a:ext cx="5501351" cy="3270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>
          <a:xfrm>
            <a:off x="15374104" y="9522714"/>
            <a:ext cx="2133600" cy="4413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6F15528-21DE-4FAA-801E-634DDDAF4B2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958201" y="563241"/>
            <a:ext cx="3700052" cy="416951"/>
            <a:chOff x="13811849" y="507954"/>
            <a:chExt cx="3700052" cy="416951"/>
          </a:xfrm>
        </p:grpSpPr>
        <p:sp>
          <p:nvSpPr>
            <p:cNvPr id="34" name="文本框 33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1739622" y="2207494"/>
            <a:ext cx="15675630" cy="271145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SM3密码杂凑算法的设计主要遵循以下原则。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（1）能够有效抵抗比特追踪法及其他分析方法。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（2）软硬件实现需求合理。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（3）在保障安全性的前提下，综合性能指标与SHA-256同等条件下相当。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736060" y="9336024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altLang="zh-CN" sz="1400" smtClean="0">
                <a:solidFill>
                  <a:srgbClr val="FFC000"/>
                </a:solidFill>
              </a:rPr>
              <a:t>17</a:t>
            </a:r>
            <a:endParaRPr sz="1400">
              <a:solidFill>
                <a:srgbClr val="646464"/>
              </a:solidFill>
              <a:latin typeface="Times New Roman" panose="02020603050405020304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3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.3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4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设计原理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944880" y="1472085"/>
            <a:ext cx="16154400" cy="8025765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压缩函数的设计需要有强雪崩效应，即消息的微小变化会对杂凑值产生巨大影响。设计技术包括：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（1）消息双字介入。输入的双字消息从消息扩展算法产生的消息字中选出，</a:t>
            </a:r>
            <a:r>
              <a:rPr lang="zh-CN" altLang="en-US"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为了使介入消息尽快产生雪崩效应，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采用模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2³²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算术加运算和P置换等。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（2）每一步操作将上一步介入的消息比特非线性迅速扩散，使每个消息比特快速参与下一步扩散和混合。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（3）采用来自不同群运算的混合方法：模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2³²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算术加运算、异或运算、三元布尔函数和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置换。</a:t>
            </a:r>
            <a:endParaRPr lang="en-US"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）在保证算法安全性的前提下，为兼顾算法简洁和软件、智能卡实现的有效性，非线性运算主要采用布尔运算和算术加运算。</a:t>
            </a:r>
            <a:endParaRPr lang="zh-CN" altLang="en-US"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5</a:t>
            </a:r>
            <a:r>
              <a:rPr lang="zh-CN" altLang="en-US"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）压缩函数参数的选取应使压缩函数满足扩散的完全性、雪崩速度快的特点。</a:t>
            </a:r>
            <a:endParaRPr lang="zh-CN" altLang="en-US"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736060" y="9336024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altLang="zh-CN" sz="1400" smtClean="0">
                <a:solidFill>
                  <a:srgbClr val="FFC000"/>
                </a:solidFill>
              </a:rPr>
              <a:t>18</a:t>
            </a:r>
            <a:endParaRPr sz="1400">
              <a:solidFill>
                <a:srgbClr val="646464"/>
              </a:solidFill>
              <a:latin typeface="Times New Roman" panose="02020603050405020304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3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.3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4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设计原理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811193" y="2514663"/>
                <a:ext cx="15675630" cy="2711450"/>
              </a:xfrm>
              <a:prstGeom prst="rect">
                <a:avLst/>
              </a:prstGeom>
              <a:noFill/>
            </p:spPr>
            <p:txBody>
              <a:bodyPr wrap="square" lIns="73152" tIns="27432" rIns="73152" bIns="27432" anchor="t">
                <a:spAutoFit/>
              </a:bodyPr>
              <a:lstStyle/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3600" b="0" i="1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P</m:t>
                        </m:r>
                      </m:e>
                      <m:sub>
                        <m:r>
                          <a:rPr lang="en-US" altLang="zh-CN" sz="3600" b="0" i="1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置换的参数选取：</a:t>
                </a:r>
                <a:endParaRPr lang="en-US" altLang="zh-CN" sz="3600" dirty="0">
                  <a:solidFill>
                    <a:srgbClr val="191919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en-US" altLang="zh-CN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P₀</a:t>
                </a:r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置换选取循环移位常量</a:t>
                </a:r>
                <a:r>
                  <a:rPr lang="en-US" altLang="zh-CN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9</a:t>
                </a:r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:r>
                  <a:rPr lang="en-US" altLang="zh-CN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17</a:t>
                </a:r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，以综合考虑算法安全性、软件和智能卡实现效率。</a:t>
                </a:r>
                <a:endParaRPr lang="zh-CN" altLang="en-US" sz="3600" dirty="0">
                  <a:solidFill>
                    <a:srgbClr val="191919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>
                  <a:lnSpc>
                    <a:spcPct val="120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endParaRPr lang="zh-CN" altLang="en-US" sz="3600" dirty="0">
                  <a:solidFill>
                    <a:srgbClr val="191919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1193" y="2514663"/>
                <a:ext cx="15675630" cy="2711450"/>
              </a:xfrm>
              <a:prstGeom prst="rect">
                <a:avLst/>
              </a:prstGeom>
              <a:blipFill rotWithShape="1">
                <a:blip r:embed="rId2"/>
                <a:stretch>
                  <a:fillRect l="-1" t="-2" r="1" b="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6736060" y="9336024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altLang="zh-CN" sz="1400" smtClean="0">
                <a:solidFill>
                  <a:srgbClr val="FFC000"/>
                </a:solidFill>
              </a:rPr>
              <a:t>19</a:t>
            </a:r>
            <a:endParaRPr sz="1400" dirty="0">
              <a:solidFill>
                <a:srgbClr val="646464"/>
              </a:solidFill>
              <a:latin typeface="Times New Roman" panose="02020603050405020304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3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.3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4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设计原理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1664208" y="1572768"/>
            <a:ext cx="14859000" cy="5368925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 err="1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布尔函数的选取主要用于防止比特追踪、提高非线性特性和减少差分特征遗传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（1）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～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步布尔函数采用全异或运算，以防止比特追踪法分析。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（2）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16～63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步采用非线性运算，提高算法非线性特性；并满足差分分布均匀的条件，与压缩函数中的移位运算结合，减少输入和输出间的差分特征遗传。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（3）布尔函数必须是非退化和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0、1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平衡布尔函数</a:t>
            </a:r>
            <a:r>
              <a:rPr lang="zh-CN" altLang="en-US"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en-US" altLang="zh-CN"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</a:t>
            </a:r>
            <a:r>
              <a:rPr lang="en-US" altLang="zh-CN"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4</a:t>
            </a:r>
            <a:r>
              <a:rPr lang="zh-CN" altLang="en-US"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）布尔函数</a:t>
            </a:r>
            <a:r>
              <a:rPr sz="3600" dirty="0" err="1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形式清晰、简洁，易于实现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lang="zh-CN" altLang="en-US"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736060" y="9336024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lang="en-US" altLang="zh-CN" sz="1400" smtClean="0">
                <a:solidFill>
                  <a:srgbClr val="FFC000"/>
                </a:solidFill>
              </a:rPr>
              <a:t>20</a:t>
            </a:r>
            <a:endParaRPr sz="1400">
              <a:solidFill>
                <a:srgbClr val="646464"/>
              </a:solidFill>
              <a:latin typeface="Times New Roman" panose="02020603050405020304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3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.3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4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设计原理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845830" y="2247900"/>
                <a:ext cx="14859000" cy="3375660"/>
              </a:xfrm>
              <a:prstGeom prst="rect">
                <a:avLst/>
              </a:prstGeom>
              <a:noFill/>
            </p:spPr>
            <p:txBody>
              <a:bodyPr wrap="square" lIns="73152" tIns="27432" rIns="73152" bIns="27432" anchor="t">
                <a:spAutoFit/>
              </a:bodyPr>
              <a:lstStyle/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循环移位常量的选取需要满足以下要求：</a:t>
                </a:r>
                <a:endParaRPr sz="3600" dirty="0">
                  <a:solidFill>
                    <a:srgbClr val="191919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（1）当变量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遍历</a:t>
                </a: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0～15</a:t>
                </a: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时，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𝑅</m:t>
                    </m:r>
                    <m:r>
                      <a:rPr lang="en-US" sz="3600" i="1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∙</m:t>
                    </m:r>
                    <m:r>
                      <a:rPr lang="en-US" altLang="zh-CN" sz="3600" i="1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mod32</a:t>
                </a:r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i="1" dirty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b="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3600" i="1" dirty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3600" i="1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∙</m:t>
                    </m:r>
                    <m:r>
                      <a:rPr lang="en-US" altLang="zh-CN" sz="3600" i="1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𝑥𝑚𝑜𝑑</m:t>
                    </m:r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32</m:t>
                    </m:r>
                    <m:r>
                      <a:rPr lang="zh-CN" altLang="en-US" sz="3600" i="1" dirty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、</m:t>
                    </m:r>
                    <m:sSup>
                      <m:sSupPr>
                        <m:ctrlPr>
                          <a:rPr lang="en-US" altLang="zh-CN" sz="3600" i="1" dirty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（</m:t>
                        </m:r>
                        <m:r>
                          <a:rPr lang="en-US" altLang="zh-CN" sz="3600" i="1" dirty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  <m:r>
                          <a:rPr lang="en-US" altLang="zh-CN" sz="3600" b="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3600" i="1" dirty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3600" i="1" dirty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zh-CN" altLang="en-US" sz="3600" i="1" dirty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）</m:t>
                    </m:r>
                    <m:r>
                      <a:rPr lang="en-US" altLang="zh-CN" sz="3600" i="1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∙</m:t>
                    </m:r>
                    <m:r>
                      <a:rPr lang="en-US" altLang="zh-CN" sz="3600" i="1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𝑥𝑚𝑜𝑑</m:t>
                    </m:r>
                    <m:r>
                      <a:rPr lang="en-US" altLang="zh-CN" sz="3600" i="1" dirty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在</a:t>
                </a: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rPr>
                  <a:t>0～32</a:t>
                </a: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均匀分布，使消息扩散更加均匀。</a:t>
                </a:r>
                <a:endParaRPr sz="3600" dirty="0">
                  <a:solidFill>
                    <a:srgbClr val="191919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（2）循环移位常量</a:t>
                </a:r>
                <a14:m>
                  <m:oMath xmlns:m="http://schemas.openxmlformats.org/officeDocument/2006/math">
                    <m:r>
                      <a:rPr lang="en-US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i="1" dirty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3600" b="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en-US" altLang="zh-CN" sz="3600" i="1" dirty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及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b="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3600" b="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相结合，使算法对消息比特的扩散速度加快。</a:t>
                </a:r>
                <a:endParaRPr sz="3600" dirty="0">
                  <a:solidFill>
                    <a:srgbClr val="191919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5830" y="2247900"/>
                <a:ext cx="14859000" cy="3375660"/>
              </a:xfrm>
              <a:prstGeom prst="rect">
                <a:avLst/>
              </a:prstGeom>
              <a:blipFill rotWithShape="1">
                <a:blip r:embed="rId2"/>
                <a:stretch>
                  <a:fillRect l="-3" r="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6736060" y="9336024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21</a:t>
            </a:r>
            <a:endParaRPr lang="en-US" altLang="zh-CN" sz="1400" smtClean="0">
              <a:solidFill>
                <a:srgbClr val="FFC000"/>
              </a:solidFill>
              <a:sym typeface="+mn-ea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3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.3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4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设计原理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1664208" y="1572768"/>
                <a:ext cx="14859000" cy="6033135"/>
              </a:xfrm>
              <a:prstGeom prst="rect">
                <a:avLst/>
              </a:prstGeom>
              <a:noFill/>
            </p:spPr>
            <p:txBody>
              <a:bodyPr wrap="square" lIns="73152" tIns="27432" rIns="73152" bIns="27432" anchor="t">
                <a:spAutoFit/>
              </a:bodyPr>
              <a:lstStyle/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循环移位常量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𝑆</m:t>
                    </m:r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的选取</a:t>
                </a:r>
                <a:endParaRPr lang="en-US" altLang="zh-CN" sz="3600" dirty="0">
                  <a:solidFill>
                    <a:srgbClr val="191919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循环移位常量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 dirty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的作用是加速消息比特扩散，增加布尔函数</a:t>
                </a:r>
                <a:r>
                  <a:rPr lang="en-US" altLang="zh-CN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个输入变量间的混合，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的选取需要满足以下要求。</a:t>
                </a:r>
                <a:endParaRPr lang="zh-CN" altLang="en-US" sz="3600" dirty="0">
                  <a:solidFill>
                    <a:srgbClr val="191919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（</a:t>
                </a:r>
                <a:r>
                  <a:rPr lang="en-US" altLang="zh-CN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差的绝对值在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左右，且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为素数，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为间距较远的奇数，使消息扩散更加均匀。</a:t>
                </a:r>
                <a:endParaRPr lang="zh-CN" altLang="en-US" sz="3600" dirty="0">
                  <a:solidFill>
                    <a:srgbClr val="191919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（</a:t>
                </a:r>
                <a:r>
                  <a:rPr lang="en-US" altLang="zh-CN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）与循环移位常量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相结合，使算法对消息比特的扩散速度加快。</a:t>
                </a:r>
                <a:endParaRPr lang="zh-CN" altLang="en-US" sz="3600" dirty="0">
                  <a:solidFill>
                    <a:srgbClr val="191919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（</a:t>
                </a:r>
                <a:r>
                  <a:rPr lang="en-US" altLang="zh-CN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3</a:t>
                </a:r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）所选的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便于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8</m:t>
                    </m:r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𝑏𝑖𝑡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智能卡实现。</a:t>
                </a:r>
                <a:endParaRPr lang="zh-CN" altLang="en-US" sz="3600" dirty="0">
                  <a:solidFill>
                    <a:srgbClr val="191919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  <a:p>
                <a:pPr indent="457200" algn="just" fontAlgn="auto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（</a:t>
                </a:r>
                <a:r>
                  <a:rPr lang="en-US" altLang="zh-CN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4</a:t>
                </a:r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solidFill>
                          <a:srgbClr val="191919"/>
                        </a:solidFill>
                        <a:uFillTx/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和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3600" i="1" dirty="0" smtClean="0">
                            <a:solidFill>
                              <a:srgbClr val="191919"/>
                            </a:solidFill>
                            <a:uFillTx/>
                            <a:latin typeface="Cambria Math" panose="02040503050406030204" pitchFamily="18" charset="0"/>
                            <a:ea typeface="MS Mincho" charset="0"/>
                            <a:cs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3600" dirty="0">
                    <a:solidFill>
                      <a:srgbClr val="191919"/>
                    </a:solidFill>
                    <a:uFillTx/>
                    <a:latin typeface="Times New Roman" panose="02020603050405020304" pitchFamily="18" charset="0"/>
                    <a:ea typeface="宋体" panose="02010600030101010101" pitchFamily="2" charset="-122"/>
                  </a:rPr>
                  <a:t>置换的循环移位参数所产生的作用（尤其是雪崩效应）不相互抵消。</a:t>
                </a:r>
                <a:endParaRPr lang="zh-CN" altLang="en-US" sz="3600" dirty="0">
                  <a:solidFill>
                    <a:srgbClr val="191919"/>
                  </a:solidFill>
                  <a:uFillTx/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mc:Choice>
        <mc:Fallback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4208" y="1572768"/>
                <a:ext cx="14859000" cy="6033135"/>
              </a:xfrm>
              <a:prstGeom prst="rect">
                <a:avLst/>
              </a:prstGeom>
              <a:blipFill rotWithShape="1">
                <a:blip r:embed="rId2"/>
                <a:stretch>
                  <a:fillRect l="-3" t="-8" r="-2244" b="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6736060" y="9336024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22</a:t>
            </a:r>
            <a:endParaRPr lang="en-US" altLang="zh-CN" sz="1400" smtClean="0">
              <a:solidFill>
                <a:srgbClr val="FFC000"/>
              </a:solidFill>
              <a:sym typeface="+mn-ea"/>
            </a:endParaRPr>
          </a:p>
        </p:txBody>
      </p:sp>
      <p:pic>
        <p:nvPicPr>
          <p:cNvPr id="4" name="图片 2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10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.3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17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设计原理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1664208" y="1572768"/>
            <a:ext cx="14859000" cy="403987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加法常量</a:t>
            </a:r>
            <a:r>
              <a:rPr lang="zh-CN" altLang="en-US"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的选取</a:t>
            </a:r>
            <a:endParaRPr lang="en-US" altLang="zh-CN"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加法常量起随机化作用。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对模2³²算术加运算而言，加法常量可以减少输入和输出间的线性和差分遗传概率。选取要求如下：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（1）加法常量的二进制表示中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0、1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基本平稳。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（2）加法常量的二进制表示中最长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游程小于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游程小于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（3）加法常量的数学表达形式明确，便于记忆。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736060" y="9336024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2</a:t>
            </a: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3</a:t>
            </a:r>
            <a:endParaRPr lang="en-US" altLang="zh-CN" sz="1400" smtClean="0">
              <a:solidFill>
                <a:srgbClr val="FFC000"/>
              </a:solidFill>
              <a:sym typeface="+mn-ea"/>
            </a:endParaRPr>
          </a:p>
        </p:txBody>
      </p:sp>
      <p:pic>
        <p:nvPicPr>
          <p:cNvPr id="4" name="图片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10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.3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17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设计原理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1664208" y="1572768"/>
            <a:ext cx="14859000" cy="6033135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消息扩展算法将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512bit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的消息分组扩展成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4224bit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的消息分组。通过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LFSR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来实现消息扩展，在较少的运算量下达到较好的扩展效果。消息扩展算法的作用是加强消息比特间的相关性，减小通过消息扩展弱点攻击杂凑算法的可能性。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 err="1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消息扩展算法的要求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（1）</a:t>
            </a:r>
            <a:r>
              <a:rPr lang="zh-CN" altLang="en-US"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消息扩展算法</a:t>
            </a:r>
            <a:r>
              <a:rPr sz="3600" dirty="0" err="1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满足保熵性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（2）对消息进行线性扩展，使扩展后的消息之间具有良好的相关性。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（3）具有较快的雪崩效应。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（4）适合软硬件和智能卡实现。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736060" y="9336024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2</a:t>
            </a: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4</a:t>
            </a:r>
            <a:endParaRPr lang="en-US" altLang="zh-CN" sz="1400" smtClean="0">
              <a:solidFill>
                <a:srgbClr val="FFC000"/>
              </a:solidFill>
              <a:sym typeface="+mn-ea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3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.3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4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设计原理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0296" y="3604350"/>
            <a:ext cx="16727408" cy="1438536"/>
            <a:chOff x="0" y="0"/>
            <a:chExt cx="22303210" cy="19180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7212" cy="23721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560278"/>
              <a:ext cx="237212" cy="237212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1120557"/>
              <a:ext cx="237212" cy="237212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1680835"/>
              <a:ext cx="237212" cy="23721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2065998" y="0"/>
              <a:ext cx="237212" cy="23721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2065998" y="560278"/>
              <a:ext cx="237212" cy="23721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2065998" y="1120557"/>
              <a:ext cx="237212" cy="237212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22065998" y="1680835"/>
              <a:ext cx="237212" cy="23721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 rot="-10800000">
            <a:off x="5340277" y="802276"/>
            <a:ext cx="7607443" cy="7607443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DDEEF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781241" y="2834725"/>
            <a:ext cx="2725514" cy="2011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7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200" dirty="0">
                <a:solidFill>
                  <a:srgbClr val="004A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字由文艺黑" panose="00020600040101010101" charset="-122"/>
              </a:rPr>
              <a:t>12.4</a:t>
            </a:r>
            <a:endParaRPr kumimoji="0" lang="en-US" sz="12200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428998" y="5143500"/>
            <a:ext cx="11429999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600" b="1" dirty="0">
                <a:solidFill>
                  <a:srgbClr val="004AAD"/>
                </a:solidFill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算法特点</a:t>
            </a:r>
            <a:endParaRPr kumimoji="0" lang="zh-CN" altLang="en-US" sz="96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-1299970" y="9030575"/>
            <a:ext cx="21159211" cy="1394613"/>
            <a:chOff x="0" y="0"/>
            <a:chExt cx="28212281" cy="1859484"/>
          </a:xfrm>
        </p:grpSpPr>
        <p:grpSp>
          <p:nvGrpSpPr>
            <p:cNvPr id="38" name="Group 38"/>
            <p:cNvGrpSpPr/>
            <p:nvPr/>
          </p:nvGrpSpPr>
          <p:grpSpPr>
            <a:xfrm>
              <a:off x="361694" y="0"/>
              <a:ext cx="27850587" cy="1462963"/>
              <a:chOff x="0" y="0"/>
              <a:chExt cx="5501351" cy="28898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5501351" cy="288980"/>
              </a:xfrm>
              <a:custGeom>
                <a:avLst/>
                <a:gdLst/>
                <a:ahLst/>
                <a:cxnLst/>
                <a:rect l="l" t="t" r="r" b="b"/>
                <a:pathLst>
                  <a:path w="5501351" h="288980">
                    <a:moveTo>
                      <a:pt x="18903" y="0"/>
                    </a:moveTo>
                    <a:lnTo>
                      <a:pt x="5482448" y="0"/>
                    </a:lnTo>
                    <a:cubicBezTo>
                      <a:pt x="5487461" y="0"/>
                      <a:pt x="5492269" y="1992"/>
                      <a:pt x="5495814" y="5536"/>
                    </a:cubicBezTo>
                    <a:cubicBezTo>
                      <a:pt x="5499359" y="9081"/>
                      <a:pt x="5501351" y="13889"/>
                      <a:pt x="5501351" y="18903"/>
                    </a:cubicBezTo>
                    <a:lnTo>
                      <a:pt x="5501351" y="270078"/>
                    </a:lnTo>
                    <a:cubicBezTo>
                      <a:pt x="5501351" y="280517"/>
                      <a:pt x="5492888" y="288980"/>
                      <a:pt x="5482448" y="288980"/>
                    </a:cubicBezTo>
                    <a:lnTo>
                      <a:pt x="18903" y="288980"/>
                    </a:lnTo>
                    <a:cubicBezTo>
                      <a:pt x="8463" y="288980"/>
                      <a:pt x="0" y="280517"/>
                      <a:pt x="0" y="270078"/>
                    </a:cubicBezTo>
                    <a:lnTo>
                      <a:pt x="0" y="18903"/>
                    </a:lnTo>
                    <a:cubicBezTo>
                      <a:pt x="0" y="8463"/>
                      <a:pt x="8463" y="0"/>
                      <a:pt x="189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AD5C">
                      <a:alpha val="100000"/>
                    </a:srgbClr>
                  </a:gs>
                  <a:gs pos="100000">
                    <a:srgbClr val="FFE1C4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0"/>
                <a:ext cx="5501351" cy="2889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0" y="203803"/>
              <a:ext cx="27850587" cy="1655681"/>
              <a:chOff x="0" y="0"/>
              <a:chExt cx="5501351" cy="32704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5501351" cy="327048"/>
              </a:xfrm>
              <a:custGeom>
                <a:avLst/>
                <a:gdLst/>
                <a:ahLst/>
                <a:cxnLst/>
                <a:rect l="l" t="t" r="r" b="b"/>
                <a:pathLst>
                  <a:path w="5501351" h="327048">
                    <a:moveTo>
                      <a:pt x="18903" y="0"/>
                    </a:moveTo>
                    <a:lnTo>
                      <a:pt x="5482448" y="0"/>
                    </a:lnTo>
                    <a:cubicBezTo>
                      <a:pt x="5487461" y="0"/>
                      <a:pt x="5492269" y="1992"/>
                      <a:pt x="5495814" y="5536"/>
                    </a:cubicBezTo>
                    <a:cubicBezTo>
                      <a:pt x="5499359" y="9081"/>
                      <a:pt x="5501351" y="13889"/>
                      <a:pt x="5501351" y="18903"/>
                    </a:cubicBezTo>
                    <a:lnTo>
                      <a:pt x="5501351" y="308145"/>
                    </a:lnTo>
                    <a:cubicBezTo>
                      <a:pt x="5501351" y="318585"/>
                      <a:pt x="5492888" y="327048"/>
                      <a:pt x="5482448" y="327048"/>
                    </a:cubicBezTo>
                    <a:lnTo>
                      <a:pt x="18903" y="327048"/>
                    </a:lnTo>
                    <a:cubicBezTo>
                      <a:pt x="8463" y="327048"/>
                      <a:pt x="0" y="318585"/>
                      <a:pt x="0" y="308145"/>
                    </a:cubicBezTo>
                    <a:lnTo>
                      <a:pt x="0" y="18903"/>
                    </a:lnTo>
                    <a:cubicBezTo>
                      <a:pt x="0" y="8463"/>
                      <a:pt x="8463" y="0"/>
                      <a:pt x="18903" y="0"/>
                    </a:cubicBezTo>
                    <a:close/>
                  </a:path>
                </a:pathLst>
              </a:custGeom>
              <a:solidFill>
                <a:srgbClr val="013E7C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0"/>
                <a:ext cx="5501351" cy="3270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>
          <a:xfrm>
            <a:off x="15374104" y="9522714"/>
            <a:ext cx="2133600" cy="4413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6F15528-21DE-4FAA-801E-634DDDAF4B2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958201" y="563241"/>
            <a:ext cx="3700052" cy="416951"/>
            <a:chOff x="13811849" y="507954"/>
            <a:chExt cx="3700052" cy="416951"/>
          </a:xfrm>
        </p:grpSpPr>
        <p:sp>
          <p:nvSpPr>
            <p:cNvPr id="34" name="文本框 33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1664208" y="1572768"/>
            <a:ext cx="14859000" cy="5368925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SM3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密码杂凑算法压缩函数整体结构与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SHA-256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相似，但是增加了多种新的设计技术，包括增加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步全异或操作、消息双字介入、增加快速雪崩效应的P置换等。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SM3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能够有效地避免高概率的局部碰撞，抵抗强碰撞性的差分分析、弱碰撞性的线性分析和比特追踪法等密码分析。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SM3</a:t>
            </a:r>
            <a:r>
              <a:rPr lang="zh-CN" altLang="en-US"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</a:rPr>
              <a:t>密码杂凑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算法合理使用字加运算，构成进位加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级流水；采用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P₀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置换加速雪崩效应，提高运算效率。算法采用适合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32bit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微处理器和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8bit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智能卡实现的基本运算，具有跨平台的高效性和广泛适用性。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736060" y="9336024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2</a:t>
            </a: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6</a:t>
            </a:r>
            <a:endParaRPr lang="en-US" altLang="zh-CN" sz="1400" smtClean="0">
              <a:solidFill>
                <a:srgbClr val="FFC000"/>
              </a:solidFill>
              <a:sym typeface="+mn-ea"/>
            </a:endParaRPr>
          </a:p>
        </p:txBody>
      </p:sp>
      <p:pic>
        <p:nvPicPr>
          <p:cNvPr id="4" name="图片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10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.4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17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算法特点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0296" y="3604350"/>
            <a:ext cx="16727408" cy="1438536"/>
            <a:chOff x="0" y="0"/>
            <a:chExt cx="22303210" cy="19180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7212" cy="23721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560278"/>
              <a:ext cx="237212" cy="237212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1120557"/>
              <a:ext cx="237212" cy="237212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1680835"/>
              <a:ext cx="237212" cy="23721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2065998" y="0"/>
              <a:ext cx="237212" cy="23721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2065998" y="560278"/>
              <a:ext cx="237212" cy="23721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2065998" y="1120557"/>
              <a:ext cx="237212" cy="237212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22065998" y="1680835"/>
              <a:ext cx="237212" cy="23721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 rot="-10800000">
            <a:off x="5340277" y="802276"/>
            <a:ext cx="7607443" cy="7607443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DDEEF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781241" y="2834725"/>
            <a:ext cx="2725514" cy="2011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7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200" dirty="0">
                <a:solidFill>
                  <a:srgbClr val="004A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字由文艺黑" panose="00020600040101010101" charset="-122"/>
              </a:rPr>
              <a:t>12.5</a:t>
            </a:r>
            <a:endParaRPr kumimoji="0" lang="en-US" sz="12200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428998" y="5143500"/>
            <a:ext cx="11429999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安全性分析</a:t>
            </a:r>
            <a:endParaRPr kumimoji="0" lang="zh-CN" altLang="en-US" sz="96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-1299970" y="9030575"/>
            <a:ext cx="21159211" cy="1394613"/>
            <a:chOff x="0" y="0"/>
            <a:chExt cx="28212281" cy="1859484"/>
          </a:xfrm>
        </p:grpSpPr>
        <p:grpSp>
          <p:nvGrpSpPr>
            <p:cNvPr id="38" name="Group 38"/>
            <p:cNvGrpSpPr/>
            <p:nvPr/>
          </p:nvGrpSpPr>
          <p:grpSpPr>
            <a:xfrm>
              <a:off x="361694" y="0"/>
              <a:ext cx="27850587" cy="1462963"/>
              <a:chOff x="0" y="0"/>
              <a:chExt cx="5501351" cy="28898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5501351" cy="288980"/>
              </a:xfrm>
              <a:custGeom>
                <a:avLst/>
                <a:gdLst/>
                <a:ahLst/>
                <a:cxnLst/>
                <a:rect l="l" t="t" r="r" b="b"/>
                <a:pathLst>
                  <a:path w="5501351" h="288980">
                    <a:moveTo>
                      <a:pt x="18903" y="0"/>
                    </a:moveTo>
                    <a:lnTo>
                      <a:pt x="5482448" y="0"/>
                    </a:lnTo>
                    <a:cubicBezTo>
                      <a:pt x="5487461" y="0"/>
                      <a:pt x="5492269" y="1992"/>
                      <a:pt x="5495814" y="5536"/>
                    </a:cubicBezTo>
                    <a:cubicBezTo>
                      <a:pt x="5499359" y="9081"/>
                      <a:pt x="5501351" y="13889"/>
                      <a:pt x="5501351" y="18903"/>
                    </a:cubicBezTo>
                    <a:lnTo>
                      <a:pt x="5501351" y="270078"/>
                    </a:lnTo>
                    <a:cubicBezTo>
                      <a:pt x="5501351" y="280517"/>
                      <a:pt x="5492888" y="288980"/>
                      <a:pt x="5482448" y="288980"/>
                    </a:cubicBezTo>
                    <a:lnTo>
                      <a:pt x="18903" y="288980"/>
                    </a:lnTo>
                    <a:cubicBezTo>
                      <a:pt x="8463" y="288980"/>
                      <a:pt x="0" y="280517"/>
                      <a:pt x="0" y="270078"/>
                    </a:cubicBezTo>
                    <a:lnTo>
                      <a:pt x="0" y="18903"/>
                    </a:lnTo>
                    <a:cubicBezTo>
                      <a:pt x="0" y="8463"/>
                      <a:pt x="8463" y="0"/>
                      <a:pt x="189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AD5C">
                      <a:alpha val="100000"/>
                    </a:srgbClr>
                  </a:gs>
                  <a:gs pos="100000">
                    <a:srgbClr val="FFE1C4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0"/>
                <a:ext cx="5501351" cy="2889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0" y="203803"/>
              <a:ext cx="27850587" cy="1655681"/>
              <a:chOff x="0" y="0"/>
              <a:chExt cx="5501351" cy="32704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5501351" cy="327048"/>
              </a:xfrm>
              <a:custGeom>
                <a:avLst/>
                <a:gdLst/>
                <a:ahLst/>
                <a:cxnLst/>
                <a:rect l="l" t="t" r="r" b="b"/>
                <a:pathLst>
                  <a:path w="5501351" h="327048">
                    <a:moveTo>
                      <a:pt x="18903" y="0"/>
                    </a:moveTo>
                    <a:lnTo>
                      <a:pt x="5482448" y="0"/>
                    </a:lnTo>
                    <a:cubicBezTo>
                      <a:pt x="5487461" y="0"/>
                      <a:pt x="5492269" y="1992"/>
                      <a:pt x="5495814" y="5536"/>
                    </a:cubicBezTo>
                    <a:cubicBezTo>
                      <a:pt x="5499359" y="9081"/>
                      <a:pt x="5501351" y="13889"/>
                      <a:pt x="5501351" y="18903"/>
                    </a:cubicBezTo>
                    <a:lnTo>
                      <a:pt x="5501351" y="308145"/>
                    </a:lnTo>
                    <a:cubicBezTo>
                      <a:pt x="5501351" y="318585"/>
                      <a:pt x="5492888" y="327048"/>
                      <a:pt x="5482448" y="327048"/>
                    </a:cubicBezTo>
                    <a:lnTo>
                      <a:pt x="18903" y="327048"/>
                    </a:lnTo>
                    <a:cubicBezTo>
                      <a:pt x="8463" y="327048"/>
                      <a:pt x="0" y="318585"/>
                      <a:pt x="0" y="308145"/>
                    </a:cubicBezTo>
                    <a:lnTo>
                      <a:pt x="0" y="18903"/>
                    </a:lnTo>
                    <a:cubicBezTo>
                      <a:pt x="0" y="8463"/>
                      <a:pt x="8463" y="0"/>
                      <a:pt x="18903" y="0"/>
                    </a:cubicBezTo>
                    <a:close/>
                  </a:path>
                </a:pathLst>
              </a:custGeom>
              <a:solidFill>
                <a:srgbClr val="013E7C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0"/>
                <a:ext cx="5501351" cy="3270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>
          <a:xfrm>
            <a:off x="15374104" y="9522714"/>
            <a:ext cx="2133600" cy="4413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6F15528-21DE-4FAA-801E-634DDDAF4B2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958201" y="563241"/>
            <a:ext cx="3700052" cy="416951"/>
            <a:chOff x="13811849" y="507954"/>
            <a:chExt cx="3700052" cy="416951"/>
          </a:xfrm>
        </p:grpSpPr>
        <p:sp>
          <p:nvSpPr>
            <p:cNvPr id="34" name="文本框 33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1938399" y="2171700"/>
            <a:ext cx="14859000" cy="4039870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目前已公开发表的针对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SM3</a:t>
            </a:r>
            <a:r>
              <a:rPr sz="3600" dirty="0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密码杂凑算法的安全性分析主要集中在碰撞攻击、原像攻击和区分攻击</a:t>
            </a:r>
            <a:r>
              <a:rPr sz="3600" dirty="0">
                <a:solidFill>
                  <a:srgbClr val="191919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sz="3600" dirty="0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个方面。</a:t>
            </a:r>
            <a:endParaRPr sz="3600" dirty="0">
              <a:solidFill>
                <a:srgbClr val="19191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 err="1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比特追踪法是寻找杂凑算法碰撞最常用的方法</a:t>
            </a:r>
            <a:r>
              <a:rPr lang="zh-CN" altLang="en-US" sz="3600" dirty="0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sz="3600" dirty="0" err="1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原像攻击主要采用中间相遇攻击及其改进方法</a:t>
            </a:r>
            <a:r>
              <a:rPr lang="zh-CN" altLang="en-US" sz="3600" dirty="0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sz="3600" dirty="0" err="1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区分攻击主要使用飞去来器攻击</a:t>
            </a:r>
            <a:r>
              <a:rPr sz="3600" dirty="0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sz="3600" dirty="0">
              <a:solidFill>
                <a:srgbClr val="19191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比较数据中的“步（轮）数”表示能够攻击成功的最大步（轮）数；百分比表示攻击成功的步（轮）数占算法总步（轮）数的比值。</a:t>
            </a:r>
            <a:endParaRPr sz="3600" dirty="0">
              <a:solidFill>
                <a:srgbClr val="191919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736060" y="9336024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2</a:t>
            </a: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8</a:t>
            </a:r>
            <a:endParaRPr lang="en-US" altLang="zh-CN" sz="1400" smtClean="0">
              <a:solidFill>
                <a:srgbClr val="FFC000"/>
              </a:solidFill>
              <a:sym typeface="+mn-ea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3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.5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4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安全性分析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2567940" y="2247900"/>
          <a:ext cx="13152120" cy="7291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8030"/>
                <a:gridCol w="3288030"/>
                <a:gridCol w="3288030"/>
                <a:gridCol w="3288030"/>
              </a:tblGrid>
              <a:tr h="12369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1" dirty="0" err="1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算法</a:t>
                      </a:r>
                      <a:endParaRPr sz="2400" b="1" dirty="0" err="1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1" dirty="0" err="1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攻击类型</a:t>
                      </a:r>
                      <a:endParaRPr sz="2400" b="1" dirty="0" err="1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1" dirty="0" err="1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步（轮）数</a:t>
                      </a:r>
                      <a:endParaRPr sz="2400" b="1" dirty="0" err="1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1" dirty="0" err="1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百分比</a:t>
                      </a:r>
                      <a:r>
                        <a:rPr sz="2400" b="1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/%</a:t>
                      </a:r>
                      <a:endParaRPr sz="2400" b="1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</a:tr>
              <a:tr h="1210945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SM3</a:t>
                      </a:r>
                      <a:endParaRPr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碰撞</a:t>
                      </a:r>
                      <a:r>
                        <a:rPr lang="zh-CN" altLang="en-US"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攻击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原像</a:t>
                      </a:r>
                      <a:r>
                        <a:rPr lang="zh-CN" altLang="en-US"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攻击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区分</a:t>
                      </a:r>
                      <a:r>
                        <a:rPr lang="zh-CN" altLang="en-US"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攻击</a:t>
                      </a:r>
                      <a:endParaRPr lang="zh-CN" alt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30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37</a:t>
                      </a:r>
                      <a:endParaRPr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31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47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58</a:t>
                      </a:r>
                      <a:endParaRPr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</a:tr>
              <a:tr h="1210945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SHA-1</a:t>
                      </a:r>
                      <a:endParaRPr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碰撞</a:t>
                      </a:r>
                      <a:r>
                        <a:rPr lang="zh-CN" altLang="en-US"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攻击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原像</a:t>
                      </a:r>
                      <a:r>
                        <a:rPr lang="zh-CN" altLang="en-US"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攻击</a:t>
                      </a:r>
                      <a:endParaRPr lang="zh-CN" alt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62</a:t>
                      </a:r>
                      <a:endParaRPr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77.5</a:t>
                      </a:r>
                      <a:endParaRPr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</a:tr>
              <a:tr h="1210945">
                <a:tc>
                  <a:txBody>
                    <a:bodyPr/>
                    <a:lstStyle/>
                    <a:p>
                      <a:pPr lvl="0"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SHA-256</a:t>
                      </a:r>
                      <a:endParaRPr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碰撞</a:t>
                      </a:r>
                      <a:r>
                        <a:rPr lang="zh-CN" altLang="en-US"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攻击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原像</a:t>
                      </a:r>
                      <a:r>
                        <a:rPr lang="zh-CN" altLang="en-US"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攻击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区分</a:t>
                      </a:r>
                      <a:r>
                        <a:rPr lang="zh-CN" altLang="en-US"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攻击</a:t>
                      </a:r>
                      <a:endParaRPr lang="zh-CN" alt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31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45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47</a:t>
                      </a:r>
                      <a:endParaRPr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48.4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70.3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73.4</a:t>
                      </a:r>
                      <a:endParaRPr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</a:tr>
              <a:tr h="1210945">
                <a:tc>
                  <a:txBody>
                    <a:bodyPr/>
                    <a:lstStyle/>
                    <a:p>
                      <a:pPr algn="ctr">
                        <a:lnSpc>
                          <a:spcPct val="25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Keccak-256</a:t>
                      </a:r>
                      <a:endParaRPr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碰撞</a:t>
                      </a:r>
                      <a:r>
                        <a:rPr lang="zh-CN" altLang="en-US"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攻击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原像</a:t>
                      </a:r>
                      <a:r>
                        <a:rPr lang="zh-CN" altLang="en-US"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攻击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区分</a:t>
                      </a:r>
                      <a:r>
                        <a:rPr lang="zh-CN" altLang="en-US"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攻击</a:t>
                      </a:r>
                      <a:endParaRPr lang="zh-CN" alt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5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24</a:t>
                      </a:r>
                      <a:endParaRPr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20.8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</a:tr>
              <a:tr h="1210945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Keccak-512</a:t>
                      </a:r>
                      <a:endParaRPr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碰撞</a:t>
                      </a:r>
                      <a:r>
                        <a:rPr lang="zh-CN" altLang="en-US"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攻击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区分</a:t>
                      </a:r>
                      <a:r>
                        <a:rPr lang="zh-CN" altLang="en-US"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攻击</a:t>
                      </a:r>
                      <a:endParaRPr lang="zh-CN" alt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3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24</a:t>
                      </a:r>
                      <a:endParaRPr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12.5</a:t>
                      </a:r>
                      <a:endParaRPr lang="en-US"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2400" b="0" dirty="0">
                          <a:solidFill>
                            <a:srgbClr val="19283C"/>
                          </a:solidFill>
                          <a:uFillTx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100</a:t>
                      </a:r>
                      <a:endParaRPr sz="2400" b="0" dirty="0">
                        <a:solidFill>
                          <a:srgbClr val="19283C"/>
                        </a:solidFill>
                        <a:uFillTx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73152" marR="73152" marT="36576" marB="36576" anchor="ctr"/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6736060" y="9336024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2</a:t>
            </a: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9</a:t>
            </a:r>
            <a:endParaRPr lang="en-US" altLang="zh-CN" sz="1400" smtClean="0">
              <a:solidFill>
                <a:srgbClr val="FFC000"/>
              </a:solidFill>
              <a:sym typeface="+mn-ea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3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.5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4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安全性分析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647931" y="1638194"/>
            <a:ext cx="9458717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表</a:t>
            </a:r>
            <a:r>
              <a:rPr lang="en-US" altLang="zh-CN" sz="28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12.1SM3</a:t>
            </a:r>
            <a:r>
              <a:rPr lang="zh-CN" altLang="en-US" sz="28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密码杂凑算法和其他杂凑标准对比</a:t>
            </a:r>
            <a:endParaRPr lang="zh-CN" altLang="en-US" sz="28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1664208" y="1572768"/>
            <a:ext cx="14859000" cy="4704715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从表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12.1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可以得出：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（1）碰撞攻击方面，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SM3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的攻击百分比仅比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Keccak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算法高，比其他杂凑标准都低，在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SHA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类算法中最低，仅占总步数的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31%。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（2）原像攻击方面，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SM3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的攻击百分比仅比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Keccak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算法高，比其他杂凑标准都低，在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SHA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类算法中最低，占总步数的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47%。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（3）区分攻击方面，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SM3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均比其他杂凑标准低，仅占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58%，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约占总步数的一半。这些分析结果体现了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SM3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密码杂凑算法的高安全性。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736060" y="9336024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30</a:t>
            </a:r>
            <a:endParaRPr lang="en-US" altLang="zh-CN" sz="1400" smtClean="0">
              <a:solidFill>
                <a:srgbClr val="FFC000"/>
              </a:solidFill>
              <a:sym typeface="+mn-ea"/>
            </a:endParaRPr>
          </a:p>
        </p:txBody>
      </p:sp>
      <p:pic>
        <p:nvPicPr>
          <p:cNvPr id="4" name="图片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10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.5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17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安全性分析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80296" y="3604350"/>
            <a:ext cx="16727408" cy="1438536"/>
            <a:chOff x="0" y="0"/>
            <a:chExt cx="22303210" cy="1918048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237212" cy="237212"/>
              <a:chOff x="0" y="0"/>
              <a:chExt cx="812800" cy="8128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0" y="560278"/>
              <a:ext cx="237212" cy="237212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9" name="Group 9"/>
            <p:cNvGrpSpPr/>
            <p:nvPr/>
          </p:nvGrpSpPr>
          <p:grpSpPr>
            <a:xfrm>
              <a:off x="0" y="1120557"/>
              <a:ext cx="237212" cy="237212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0" y="1680835"/>
              <a:ext cx="237212" cy="23721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2065998" y="0"/>
              <a:ext cx="237212" cy="23721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2065998" y="560278"/>
              <a:ext cx="237212" cy="23721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22065998" y="1120557"/>
              <a:ext cx="237212" cy="237212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C38D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22065998" y="1680835"/>
              <a:ext cx="237212" cy="23721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CDFF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27" name="Group 27"/>
          <p:cNvGrpSpPr/>
          <p:nvPr/>
        </p:nvGrpSpPr>
        <p:grpSpPr>
          <a:xfrm rot="-10800000">
            <a:off x="5340277" y="802276"/>
            <a:ext cx="7607443" cy="7607443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DDEEFF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7781241" y="2834725"/>
            <a:ext cx="2725514" cy="20113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708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200" dirty="0">
                <a:solidFill>
                  <a:srgbClr val="004AAD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字由文艺黑" panose="00020600040101010101" charset="-122"/>
              </a:rPr>
              <a:t>12.6</a:t>
            </a:r>
            <a:endParaRPr kumimoji="0" lang="en-US" sz="12200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3428998" y="5143500"/>
            <a:ext cx="11429999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9600" b="1" dirty="0">
                <a:solidFill>
                  <a:srgbClr val="004AAD"/>
                </a:solidFill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本章小结</a:t>
            </a:r>
            <a:endParaRPr kumimoji="0" lang="zh-CN" altLang="en-US" sz="96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-1299970" y="9030575"/>
            <a:ext cx="21159211" cy="1394613"/>
            <a:chOff x="0" y="0"/>
            <a:chExt cx="28212281" cy="1859484"/>
          </a:xfrm>
        </p:grpSpPr>
        <p:grpSp>
          <p:nvGrpSpPr>
            <p:cNvPr id="38" name="Group 38"/>
            <p:cNvGrpSpPr/>
            <p:nvPr/>
          </p:nvGrpSpPr>
          <p:grpSpPr>
            <a:xfrm>
              <a:off x="361694" y="0"/>
              <a:ext cx="27850587" cy="1462963"/>
              <a:chOff x="0" y="0"/>
              <a:chExt cx="5501351" cy="28898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5501351" cy="288980"/>
              </a:xfrm>
              <a:custGeom>
                <a:avLst/>
                <a:gdLst/>
                <a:ahLst/>
                <a:cxnLst/>
                <a:rect l="l" t="t" r="r" b="b"/>
                <a:pathLst>
                  <a:path w="5501351" h="288980">
                    <a:moveTo>
                      <a:pt x="18903" y="0"/>
                    </a:moveTo>
                    <a:lnTo>
                      <a:pt x="5482448" y="0"/>
                    </a:lnTo>
                    <a:cubicBezTo>
                      <a:pt x="5487461" y="0"/>
                      <a:pt x="5492269" y="1992"/>
                      <a:pt x="5495814" y="5536"/>
                    </a:cubicBezTo>
                    <a:cubicBezTo>
                      <a:pt x="5499359" y="9081"/>
                      <a:pt x="5501351" y="13889"/>
                      <a:pt x="5501351" y="18903"/>
                    </a:cubicBezTo>
                    <a:lnTo>
                      <a:pt x="5501351" y="270078"/>
                    </a:lnTo>
                    <a:cubicBezTo>
                      <a:pt x="5501351" y="280517"/>
                      <a:pt x="5492888" y="288980"/>
                      <a:pt x="5482448" y="288980"/>
                    </a:cubicBezTo>
                    <a:lnTo>
                      <a:pt x="18903" y="288980"/>
                    </a:lnTo>
                    <a:cubicBezTo>
                      <a:pt x="8463" y="288980"/>
                      <a:pt x="0" y="280517"/>
                      <a:pt x="0" y="270078"/>
                    </a:cubicBezTo>
                    <a:lnTo>
                      <a:pt x="0" y="18903"/>
                    </a:lnTo>
                    <a:cubicBezTo>
                      <a:pt x="0" y="8463"/>
                      <a:pt x="8463" y="0"/>
                      <a:pt x="18903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FFAD5C">
                      <a:alpha val="100000"/>
                    </a:srgbClr>
                  </a:gs>
                  <a:gs pos="100000">
                    <a:srgbClr val="FFE1C4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0" y="0"/>
                <a:ext cx="5501351" cy="28898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0" y="203803"/>
              <a:ext cx="27850587" cy="1655681"/>
              <a:chOff x="0" y="0"/>
              <a:chExt cx="5501351" cy="327048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0" y="0"/>
                <a:ext cx="5501351" cy="327048"/>
              </a:xfrm>
              <a:custGeom>
                <a:avLst/>
                <a:gdLst/>
                <a:ahLst/>
                <a:cxnLst/>
                <a:rect l="l" t="t" r="r" b="b"/>
                <a:pathLst>
                  <a:path w="5501351" h="327048">
                    <a:moveTo>
                      <a:pt x="18903" y="0"/>
                    </a:moveTo>
                    <a:lnTo>
                      <a:pt x="5482448" y="0"/>
                    </a:lnTo>
                    <a:cubicBezTo>
                      <a:pt x="5487461" y="0"/>
                      <a:pt x="5492269" y="1992"/>
                      <a:pt x="5495814" y="5536"/>
                    </a:cubicBezTo>
                    <a:cubicBezTo>
                      <a:pt x="5499359" y="9081"/>
                      <a:pt x="5501351" y="13889"/>
                      <a:pt x="5501351" y="18903"/>
                    </a:cubicBezTo>
                    <a:lnTo>
                      <a:pt x="5501351" y="308145"/>
                    </a:lnTo>
                    <a:cubicBezTo>
                      <a:pt x="5501351" y="318585"/>
                      <a:pt x="5492888" y="327048"/>
                      <a:pt x="5482448" y="327048"/>
                    </a:cubicBezTo>
                    <a:lnTo>
                      <a:pt x="18903" y="327048"/>
                    </a:lnTo>
                    <a:cubicBezTo>
                      <a:pt x="8463" y="327048"/>
                      <a:pt x="0" y="318585"/>
                      <a:pt x="0" y="308145"/>
                    </a:cubicBezTo>
                    <a:lnTo>
                      <a:pt x="0" y="18903"/>
                    </a:lnTo>
                    <a:cubicBezTo>
                      <a:pt x="0" y="8463"/>
                      <a:pt x="8463" y="0"/>
                      <a:pt x="18903" y="0"/>
                    </a:cubicBezTo>
                    <a:close/>
                  </a:path>
                </a:pathLst>
              </a:custGeom>
              <a:solidFill>
                <a:srgbClr val="013E7C"/>
              </a:solidFill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0" y="0"/>
                <a:ext cx="5501351" cy="32704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ts val="288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33" name="灯片编号占位符 32"/>
          <p:cNvSpPr>
            <a:spLocks noGrp="1"/>
          </p:cNvSpPr>
          <p:nvPr>
            <p:ph type="sldNum" sz="quarter" idx="12"/>
          </p:nvPr>
        </p:nvSpPr>
        <p:spPr>
          <a:xfrm>
            <a:off x="15374104" y="9522714"/>
            <a:ext cx="2133600" cy="4413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6F15528-21DE-4FAA-801E-634DDDAF4B2B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958201" y="563241"/>
            <a:ext cx="3700052" cy="416951"/>
            <a:chOff x="13811849" y="507954"/>
            <a:chExt cx="3700052" cy="416951"/>
          </a:xfrm>
        </p:grpSpPr>
        <p:sp>
          <p:nvSpPr>
            <p:cNvPr id="34" name="文本框 33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36" name="图片 3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>
          <a:xfrm>
            <a:off x="412090" y="1028700"/>
            <a:ext cx="7800783" cy="275915"/>
            <a:chOff x="0" y="0"/>
            <a:chExt cx="2054527" cy="72669"/>
          </a:xfrm>
        </p:grpSpPr>
        <p:sp>
          <p:nvSpPr>
            <p:cNvPr id="6" name="Freeform 3"/>
            <p:cNvSpPr/>
            <p:nvPr/>
          </p:nvSpPr>
          <p:spPr>
            <a:xfrm>
              <a:off x="0" y="0"/>
              <a:ext cx="2054527" cy="72669"/>
            </a:xfrm>
            <a:custGeom>
              <a:avLst/>
              <a:gdLst/>
              <a:ahLst/>
              <a:cxnLst/>
              <a:rect l="l" t="t" r="r" b="b"/>
              <a:pathLst>
                <a:path w="2054527" h="72669">
                  <a:moveTo>
                    <a:pt x="36335" y="0"/>
                  </a:moveTo>
                  <a:lnTo>
                    <a:pt x="2018193" y="0"/>
                  </a:lnTo>
                  <a:cubicBezTo>
                    <a:pt x="2027829" y="0"/>
                    <a:pt x="2037071" y="3828"/>
                    <a:pt x="2043885" y="10642"/>
                  </a:cubicBezTo>
                  <a:cubicBezTo>
                    <a:pt x="2050699" y="17456"/>
                    <a:pt x="2054527" y="26698"/>
                    <a:pt x="2054527" y="36335"/>
                  </a:cubicBezTo>
                  <a:lnTo>
                    <a:pt x="2054527" y="36335"/>
                  </a:lnTo>
                  <a:cubicBezTo>
                    <a:pt x="2054527" y="45971"/>
                    <a:pt x="2050699" y="55213"/>
                    <a:pt x="2043885" y="62027"/>
                  </a:cubicBezTo>
                  <a:cubicBezTo>
                    <a:pt x="2037071" y="68841"/>
                    <a:pt x="2027829" y="72669"/>
                    <a:pt x="2018193" y="72669"/>
                  </a:cubicBezTo>
                  <a:lnTo>
                    <a:pt x="36335" y="72669"/>
                  </a:lnTo>
                  <a:cubicBezTo>
                    <a:pt x="26698" y="72669"/>
                    <a:pt x="17456" y="68841"/>
                    <a:pt x="10642" y="62027"/>
                  </a:cubicBezTo>
                  <a:cubicBezTo>
                    <a:pt x="3828" y="55213"/>
                    <a:pt x="0" y="45971"/>
                    <a:pt x="0" y="36335"/>
                  </a:cubicBezTo>
                  <a:lnTo>
                    <a:pt x="0" y="36335"/>
                  </a:lnTo>
                  <a:cubicBezTo>
                    <a:pt x="0" y="26698"/>
                    <a:pt x="3828" y="17456"/>
                    <a:pt x="10642" y="10642"/>
                  </a:cubicBezTo>
                  <a:cubicBezTo>
                    <a:pt x="17456" y="3828"/>
                    <a:pt x="26698" y="0"/>
                    <a:pt x="3633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DEEFF">
                    <a:alpha val="10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0"/>
            </a:gradFill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TextBox 4"/>
            <p:cNvSpPr txBox="1"/>
            <p:nvPr/>
          </p:nvSpPr>
          <p:spPr>
            <a:xfrm>
              <a:off x="0" y="0"/>
              <a:ext cx="2054527" cy="726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28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3639786" y="733421"/>
            <a:ext cx="3700052" cy="416951"/>
            <a:chOff x="13811849" y="507954"/>
            <a:chExt cx="3700052" cy="416951"/>
          </a:xfrm>
        </p:grpSpPr>
        <p:sp>
          <p:nvSpPr>
            <p:cNvPr id="12" name="文本框 11"/>
            <p:cNvSpPr txBox="1"/>
            <p:nvPr/>
          </p:nvSpPr>
          <p:spPr>
            <a:xfrm>
              <a:off x="13811849" y="507954"/>
              <a:ext cx="37000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800" b="0" i="0" u="none" strike="noStrike" kern="1200" cap="none" spc="0" normalizeH="0" baseline="0" noProof="0" dirty="0">
                  <a:ln w="0"/>
                  <a:gradFill flip="none" rotWithShape="1">
                    <a:gsLst>
                      <a:gs pos="0">
                        <a:srgbClr val="4F81BD">
                          <a:lumMod val="0"/>
                          <a:lumOff val="100000"/>
                        </a:srgbClr>
                      </a:gs>
                      <a:gs pos="35000">
                        <a:srgbClr val="4F81BD">
                          <a:lumMod val="0"/>
                          <a:lumOff val="100000"/>
                        </a:srgbClr>
                      </a:gs>
                      <a:gs pos="100000">
                        <a:srgbClr val="4F81BD">
                          <a:lumMod val="100000"/>
                        </a:srgbClr>
                      </a:gs>
                    </a:gsLst>
                    <a:path path="shape">
                      <a:fillToRect l="50000" t="50000" r="50000" b="50000"/>
                    </a:path>
                    <a:tileRect/>
                  </a:gra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◆◆◆</a:t>
              </a:r>
              <a:r>
                <a:rPr kumimoji="0" lang="zh-CN" altLang="zh-CN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密码学——基础理论与应用</a:t>
              </a:r>
              <a:endParaRPr kumimoji="0" lang="zh-CN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endParaRPr>
            </a:p>
          </p:txBody>
        </p:sp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944600" y="877286"/>
              <a:ext cx="2771429" cy="47619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1664208" y="1572768"/>
            <a:ext cx="14859000" cy="6033135"/>
          </a:xfrm>
          <a:prstGeom prst="rect">
            <a:avLst/>
          </a:prstGeom>
          <a:noFill/>
        </p:spPr>
        <p:txBody>
          <a:bodyPr wrap="square" lIns="73152" tIns="27432" rIns="73152" bIns="27432" anchor="t">
            <a:spAutoFit/>
          </a:bodyPr>
          <a:lstStyle/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SM3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密码杂凑算法为国产密码杂凑算法，其消息分组长度为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512bit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，输出摘要长度为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256bit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，适用于数字签名与验证、消息认证码的生成与验证及随机数的生成。本章对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SM3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密码杂凑算法进行了介绍，包括算法基础和详细的算法描述，并介绍了算法的设计原理、算法特点和安全性分析。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45720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当前，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SM3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密码杂凑算法已成为我国电子认证、网络安全通信、云计算与大数据安全等领域的基础性密码算法。截至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2017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年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月，支持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SM3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密码杂凑算法的商用密码产品已达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1400</a:t>
            </a:r>
            <a:r>
              <a:rPr sz="3600" dirty="0">
                <a:solidFill>
                  <a:srgbClr val="191919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多款，包括安全芯片、终端设备和应用系统等多种类型，为促进商用密码发展、保障我国网络与信息安全发挥了巨大作用。</a:t>
            </a:r>
            <a:endParaRPr sz="3600" dirty="0">
              <a:solidFill>
                <a:srgbClr val="191919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6736060" y="9336024"/>
            <a:ext cx="363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r">
              <a:buClrTx/>
              <a:buSzTx/>
              <a:buFontTx/>
            </a:pPr>
            <a:r>
              <a:rPr lang="en-US" altLang="zh-CN" sz="1400" smtClean="0">
                <a:solidFill>
                  <a:srgbClr val="FFC000"/>
                </a:solidFill>
                <a:sym typeface="+mn-ea"/>
              </a:rPr>
              <a:t>32</a:t>
            </a:r>
            <a:endParaRPr lang="en-US" altLang="zh-CN" sz="1400" smtClean="0">
              <a:solidFill>
                <a:srgbClr val="FFC000"/>
              </a:solidFill>
              <a:sym typeface="+mn-ea"/>
            </a:endParaRPr>
          </a:p>
        </p:txBody>
      </p:sp>
      <p:pic>
        <p:nvPicPr>
          <p:cNvPr id="2" name="图片 2"/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762000" y="494030"/>
            <a:ext cx="1069975" cy="6565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0000" endA="300" endPos="55000" dir="5400000" sy="-100000" algn="bl" rotWithShape="0"/>
          </a:effectLst>
        </p:spPr>
      </p:pic>
      <p:sp>
        <p:nvSpPr>
          <p:cNvPr id="3" name="TextBox 31"/>
          <p:cNvSpPr txBox="1"/>
          <p:nvPr/>
        </p:nvSpPr>
        <p:spPr>
          <a:xfrm>
            <a:off x="1413646" y="408886"/>
            <a:ext cx="1049507" cy="775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65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4695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12</a:t>
            </a:r>
            <a:r>
              <a:rPr kumimoji="0" lang="en-US" sz="4695" b="0" i="0" u="none" strike="noStrike" kern="1200" cap="none" spc="0" normalizeH="0" baseline="0" noProof="0" dirty="0">
                <a:ln>
                  <a:noFill/>
                </a:ln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  <a:sym typeface="字由文艺黑" panose="00020600040101010101" charset="-122"/>
              </a:rPr>
              <a:t>.6</a:t>
            </a:r>
            <a:endParaRPr kumimoji="0" lang="en-US" sz="4695" b="0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Times New Roman" panose="02020603050405020304" pitchFamily="18" charset="0"/>
              <a:ea typeface="仿宋" panose="02010609060101010101" pitchFamily="49" charset="-122"/>
              <a:cs typeface="Times New Roman" panose="02020603050405020304" pitchFamily="18" charset="0"/>
              <a:sym typeface="字由文艺黑" panose="00020600040101010101" charset="-122"/>
            </a:endParaRPr>
          </a:p>
        </p:txBody>
      </p:sp>
      <p:sp>
        <p:nvSpPr>
          <p:cNvPr id="4" name="TextBox 30"/>
          <p:cNvSpPr txBox="1"/>
          <p:nvPr/>
        </p:nvSpPr>
        <p:spPr>
          <a:xfrm>
            <a:off x="2690933" y="490358"/>
            <a:ext cx="9458717" cy="6251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srgbClr val="004AAD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60000" endA="900" endPos="58000" dir="5400000" sy="-100000" algn="bl" rotWithShape="0"/>
                </a:effectLst>
                <a:latin typeface="仿宋" panose="02010609060101010101" pitchFamily="49" charset="-122"/>
                <a:ea typeface="仿宋" panose="02010609060101010101" pitchFamily="49" charset="-122"/>
                <a:cs typeface="字由文艺黑" panose="00020600040101010101" charset="-122"/>
                <a:sym typeface="字由文艺黑" panose="00020600040101010101" charset="-122"/>
              </a:rPr>
              <a:t>本章小结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rgbClr val="004AAD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60000" endA="900" endPos="58000" dir="5400000" sy="-100000" algn="bl" rotWithShape="0"/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字由文艺黑" panose="00020600040101010101" charset="-122"/>
              <a:sym typeface="字由文艺黑" panose="00020600040101010101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95.75,&quot;left&quot;:526.7677952755906,&quot;top&quot;:109.19661417322831,&quot;width&quot;:676.0322047244093}"/>
</p:tagLst>
</file>

<file path=ppt/tags/tag2.xml><?xml version="1.0" encoding="utf-8"?>
<p:tagLst xmlns:p="http://schemas.openxmlformats.org/presentationml/2006/main">
  <p:tag name="KSO_WM_DIAGRAM_VIRTUALLY_FRAME" val="{&quot;height&quot;:495.75,&quot;left&quot;:526.7677952755906,&quot;top&quot;:109.19661417322831,&quot;width&quot;:676.0322047244093}"/>
</p:tagLst>
</file>

<file path=ppt/tags/tag3.xml><?xml version="1.0" encoding="utf-8"?>
<p:tagLst xmlns:p="http://schemas.openxmlformats.org/presentationml/2006/main">
  <p:tag name="KSO_WM_DIAGRAM_VIRTUALLY_FRAME" val="{&quot;height&quot;:495.75,&quot;left&quot;:526.7677952755906,&quot;top&quot;:109.19661417322831,&quot;width&quot;:676.0322047244093}"/>
</p:tagLst>
</file>

<file path=ppt/tags/tag4.xml><?xml version="1.0" encoding="utf-8"?>
<p:tagLst xmlns:p="http://schemas.openxmlformats.org/presentationml/2006/main">
  <p:tag name="KSO_WM_DIAGRAM_VIRTUALLY_FRAME" val="{&quot;height&quot;:495.75,&quot;left&quot;:526.7677952755906,&quot;top&quot;:109.19661417322831,&quot;width&quot;:676.0322047244093}"/>
</p:tagLst>
</file>

<file path=ppt/tags/tag5.xml><?xml version="1.0" encoding="utf-8"?>
<p:tagLst xmlns:p="http://schemas.openxmlformats.org/presentationml/2006/main">
  <p:tag name="KSO_WM_DIAGRAM_VIRTUALLY_FRAME" val="{&quot;height&quot;:495.75,&quot;left&quot;:526.7677952755906,&quot;top&quot;:109.19661417322831,&quot;width&quot;:676.0322047244093}"/>
</p:tagLst>
</file>

<file path=ppt/tags/tag6.xml><?xml version="1.0" encoding="utf-8"?>
<p:tagLst xmlns:p="http://schemas.openxmlformats.org/presentationml/2006/main">
  <p:tag name="KSO_WM_DIAGRAM_VIRTUALLY_FRAME" val="{&quot;height&quot;:495.75,&quot;left&quot;:526.7677952755906,&quot;top&quot;:109.19661417322831,&quot;width&quot;:676.0322047244093}"/>
</p:tagLst>
</file>

<file path=ppt/tags/tag7.xml><?xml version="1.0" encoding="utf-8"?>
<p:tagLst xmlns:p="http://schemas.openxmlformats.org/presentationml/2006/main">
  <p:tag name="KSO_WM_DIAGRAM_VIRTUALLY_FRAME" val="{&quot;height&quot;:495.75,&quot;left&quot;:526.7677952755906,&quot;top&quot;:109.19661417322831,&quot;width&quot;:676.0322047244093}"/>
</p:tagLst>
</file>

<file path=ppt/tags/tag8.xml><?xml version="1.0" encoding="utf-8"?>
<p:tagLst xmlns:p="http://schemas.openxmlformats.org/presentationml/2006/main">
  <p:tag name="KSO_WM_DIAGRAM_VIRTUALLY_FRAME" val="{&quot;height&quot;:495.75,&quot;left&quot;:526.7677952755906,&quot;top&quot;:109.19661417322831,&quot;width&quot;:676.0322047244093}"/>
</p:tagLst>
</file>

<file path=ppt/tags/tag9.xml><?xml version="1.0" encoding="utf-8"?>
<p:tagLst xmlns:p="http://schemas.openxmlformats.org/presentationml/2006/main">
  <p:tag name="KSO_WM_DIAGRAM_VIRTUALLY_FRAME" val="{&quot;height&quot;:495.75,&quot;left&quot;:526.7677952755906,&quot;top&quot;:109.19661417322831,&quot;width&quot;:676.0322047244093}"/>
</p:tagLst>
</file>

<file path=ppt/tags/tag10.xml><?xml version="1.0" encoding="utf-8"?>
<p:tagLst xmlns:p="http://schemas.openxmlformats.org/presentationml/2006/main">
  <p:tag name="KSO_WM_DIAGRAM_VIRTUALLY_FRAME" val="{&quot;height&quot;:495.75,&quot;left&quot;:526.7677952755906,&quot;top&quot;:109.19661417322831,&quot;width&quot;:676.0322047244093}"/>
</p:tagLst>
</file>

<file path=ppt/tags/tag11.xml><?xml version="1.0" encoding="utf-8"?>
<p:tagLst xmlns:p="http://schemas.openxmlformats.org/presentationml/2006/main">
  <p:tag name="KSO_WM_DIAGRAM_VIRTUALLY_FRAME" val="{&quot;height&quot;:495.75,&quot;left&quot;:526.7677952755906,&quot;top&quot;:109.19661417322831,&quot;width&quot;:676.0322047244093}"/>
</p:tagLst>
</file>

<file path=ppt/tags/tag12.xml><?xml version="1.0" encoding="utf-8"?>
<p:tagLst xmlns:p="http://schemas.openxmlformats.org/presentationml/2006/main">
  <p:tag name="KSO_WM_DIAGRAM_VIRTUALLY_FRAME" val="{&quot;height&quot;:495.75,&quot;left&quot;:526.7677952755906,&quot;top&quot;:109.19661417322831,&quot;width&quot;:676.0322047244093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5481</Words>
  <Application>WPS 演示</Application>
  <PresentationFormat>自定义</PresentationFormat>
  <Paragraphs>496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32</vt:i4>
      </vt:variant>
    </vt:vector>
  </HeadingPairs>
  <TitlesOfParts>
    <vt:vector size="51" baseType="lpstr">
      <vt:lpstr>Arial</vt:lpstr>
      <vt:lpstr>宋体</vt:lpstr>
      <vt:lpstr>Wingdings</vt:lpstr>
      <vt:lpstr>仿宋</vt:lpstr>
      <vt:lpstr>字由文艺黑</vt:lpstr>
      <vt:lpstr>Times New Roman</vt:lpstr>
      <vt:lpstr>微软雅黑</vt:lpstr>
      <vt:lpstr>Calibri</vt:lpstr>
      <vt:lpstr>Times New Roman</vt:lpstr>
      <vt:lpstr>Cambria Math</vt:lpstr>
      <vt:lpstr>MS Mincho</vt:lpstr>
      <vt:lpstr>Segoe Print</vt:lpstr>
      <vt:lpstr>Arial Unicode MS</vt:lpstr>
      <vt:lpstr>等线</vt:lpstr>
      <vt:lpstr>Calibri</vt:lpstr>
      <vt:lpstr>MS PGothic</vt:lpstr>
      <vt:lpstr>Ms.Luce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蓝色简约毕业论文答辩演示文稿</dc:title>
  <dc:creator>snow jiang</dc:creator>
  <cp:lastModifiedBy>杨妮</cp:lastModifiedBy>
  <cp:revision>198</cp:revision>
  <dcterms:created xsi:type="dcterms:W3CDTF">2006-08-16T00:00:00Z</dcterms:created>
  <dcterms:modified xsi:type="dcterms:W3CDTF">2026-10-26T02:52:32Z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05D393CF086F4A508123957415B1E313_13</vt:lpwstr>
  </property>
  <property fmtid="{D5CDD505-2E9C-101B-9397-08002B2CF9AE}" pid="3" name="KSOProductBuildVer">
    <vt:lpwstr>2052-12.1.0.29161</vt:lpwstr>
  </property>
</Properties>
</file>