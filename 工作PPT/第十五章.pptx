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3"/>
  </p:sldMasterIdLst>
  <p:notesMasterIdLst>
    <p:notesMasterId r:id="rId137"/>
  </p:notesMasterIdLst>
  <p:sldIdLst>
    <p:sldId id="256" r:id="rId4"/>
    <p:sldId id="257" r:id="rId5"/>
    <p:sldId id="259" r:id="rId6"/>
    <p:sldId id="260"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8" r:id="rId43"/>
    <p:sldId id="299" r:id="rId44"/>
    <p:sldId id="300" r:id="rId45"/>
    <p:sldId id="301" r:id="rId46"/>
    <p:sldId id="302" r:id="rId47"/>
    <p:sldId id="303" r:id="rId48"/>
    <p:sldId id="304" r:id="rId49"/>
    <p:sldId id="305" r:id="rId50"/>
    <p:sldId id="306" r:id="rId51"/>
    <p:sldId id="308"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407" r:id="rId72"/>
    <p:sldId id="329"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60" r:id="rId102"/>
    <p:sldId id="361" r:id="rId103"/>
    <p:sldId id="362" r:id="rId104"/>
    <p:sldId id="363" r:id="rId105"/>
    <p:sldId id="364" r:id="rId106"/>
    <p:sldId id="365" r:id="rId107"/>
    <p:sldId id="366" r:id="rId108"/>
    <p:sldId id="367" r:id="rId109"/>
    <p:sldId id="368" r:id="rId110"/>
    <p:sldId id="369" r:id="rId111"/>
    <p:sldId id="370" r:id="rId112"/>
    <p:sldId id="371" r:id="rId113"/>
    <p:sldId id="372" r:id="rId114"/>
    <p:sldId id="373" r:id="rId115"/>
    <p:sldId id="374" r:id="rId116"/>
    <p:sldId id="375" r:id="rId117"/>
    <p:sldId id="376" r:id="rId118"/>
    <p:sldId id="377" r:id="rId119"/>
    <p:sldId id="378" r:id="rId120"/>
    <p:sldId id="379" r:id="rId121"/>
    <p:sldId id="380" r:id="rId122"/>
    <p:sldId id="382" r:id="rId123"/>
    <p:sldId id="384" r:id="rId124"/>
    <p:sldId id="385" r:id="rId125"/>
    <p:sldId id="386" r:id="rId126"/>
    <p:sldId id="387" r:id="rId127"/>
    <p:sldId id="388" r:id="rId128"/>
    <p:sldId id="390" r:id="rId129"/>
    <p:sldId id="392" r:id="rId130"/>
    <p:sldId id="394" r:id="rId131"/>
    <p:sldId id="396" r:id="rId132"/>
    <p:sldId id="397" r:id="rId133"/>
    <p:sldId id="398" r:id="rId134"/>
    <p:sldId id="399" r:id="rId135"/>
    <p:sldId id="400" r:id="rId136"/>
  </p:sldIdLst>
  <p:sldSz cx="18288000" cy="10287000"/>
  <p:notesSz cx="6858000" cy="9144000"/>
  <p:embeddedFontLst>
    <p:embeddedFont>
      <p:font typeface="仿宋" panose="02010609060101010101" pitchFamily="49" charset="-122"/>
      <p:regular r:id="rId141"/>
    </p:embeddedFont>
    <p:embeddedFont>
      <p:font typeface="字由文艺黑" panose="00020600040101010101" charset="-122"/>
      <p:regular r:id="rId142"/>
    </p:embeddedFont>
    <p:embeddedFont>
      <p:font typeface="微软雅黑" panose="020B0503020204020204" pitchFamily="34" charset="-122"/>
      <p:regular r:id="rId143"/>
      <p:bold r:id="rId144"/>
    </p:embeddedFont>
    <p:embeddedFont>
      <p:font typeface="Calibri" panose="020F0502020204030204"/>
      <p:regular r:id="rId145"/>
      <p:bold r:id="rId146"/>
      <p:italic r:id="rId147"/>
      <p:boldItalic r:id="rId148"/>
    </p:embeddedFont>
    <p:embeddedFont>
      <p:font typeface="等线" panose="02010600030101010101" charset="-122"/>
      <p:regular r:id="rId149"/>
      <p:bold r:id="rId1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1" autoAdjust="0"/>
    <p:restoredTop sz="93772" autoAdjust="0"/>
  </p:normalViewPr>
  <p:slideViewPr>
    <p:cSldViewPr showGuides="1">
      <p:cViewPr varScale="1">
        <p:scale>
          <a:sx n="52" d="100"/>
          <a:sy n="52" d="100"/>
        </p:scale>
        <p:origin x="840" y="43"/>
      </p:cViewPr>
      <p:guideLst>
        <p:guide orient="horz" pos="227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0" Type="http://schemas.openxmlformats.org/officeDocument/2006/relationships/font" Target="fonts/font10.fntdata"/><Relationship Id="rId15" Type="http://schemas.openxmlformats.org/officeDocument/2006/relationships/slide" Target="slides/slide12.xml"/><Relationship Id="rId149" Type="http://schemas.openxmlformats.org/officeDocument/2006/relationships/font" Target="fonts/font9.fntdata"/><Relationship Id="rId148" Type="http://schemas.openxmlformats.org/officeDocument/2006/relationships/font" Target="fonts/font8.fntdata"/><Relationship Id="rId147" Type="http://schemas.openxmlformats.org/officeDocument/2006/relationships/font" Target="fonts/font7.fntdata"/><Relationship Id="rId146" Type="http://schemas.openxmlformats.org/officeDocument/2006/relationships/font" Target="fonts/font6.fntdata"/><Relationship Id="rId145" Type="http://schemas.openxmlformats.org/officeDocument/2006/relationships/font" Target="fonts/font5.fntdata"/><Relationship Id="rId144" Type="http://schemas.openxmlformats.org/officeDocument/2006/relationships/font" Target="fonts/font4.fntdata"/><Relationship Id="rId143" Type="http://schemas.openxmlformats.org/officeDocument/2006/relationships/font" Target="fonts/font3.fntdata"/><Relationship Id="rId142" Type="http://schemas.openxmlformats.org/officeDocument/2006/relationships/font" Target="fonts/font2.fntdata"/><Relationship Id="rId141" Type="http://schemas.openxmlformats.org/officeDocument/2006/relationships/font" Target="fonts/font1.fntdata"/><Relationship Id="rId140" Type="http://schemas.openxmlformats.org/officeDocument/2006/relationships/tableStyles" Target="tableStyles.xml"/><Relationship Id="rId14" Type="http://schemas.openxmlformats.org/officeDocument/2006/relationships/slide" Target="slides/slide11.xml"/><Relationship Id="rId139" Type="http://schemas.openxmlformats.org/officeDocument/2006/relationships/viewProps" Target="viewProps.xml"/><Relationship Id="rId138" Type="http://schemas.openxmlformats.org/officeDocument/2006/relationships/presProps" Target="presProps.xml"/><Relationship Id="rId137" Type="http://schemas.openxmlformats.org/officeDocument/2006/relationships/notesMaster" Target="notesMasters/notesMaster1.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D174AE42-7364-4267-B40A-343A49EA74EA}"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3BE76DB-3201-458E-97E8-1F529B41C87D}"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6BAF40B-7C5C-460D-B1B7-FD4D67B22822}"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E2BC249-EC5F-4986-8EE3-885490FF7370}"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4F9AF8E-3BE7-493F-A109-C39C54E959C7}" type="datetime1">
              <a:rPr lang="en-US" altLang="zh-C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123C8F6-EBAB-4B52-9D57-25C21C0BFF09}" type="datetime1">
              <a:rPr lang="en-US" altLang="zh-C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47A945-3C13-407B-9418-BB51BE003E6B}" type="datetime1">
              <a:rPr lang="en-US" altLang="zh-C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392400" y="9334500"/>
            <a:ext cx="2133600" cy="365125"/>
          </a:xfrm>
        </p:spPr>
        <p:txBody>
          <a:bodyPr vert="horz" lIns="91440" tIns="45720" rIns="91440" bIns="45720" rtlCol="0" anchor="ctr"/>
          <a:lstStyle>
            <a:lvl1pPr>
              <a:defRPr lang="en-US" sz="1400" baseline="0" smtClean="0">
                <a:solidFill>
                  <a:srgbClr val="FFC000"/>
                </a:solidFill>
              </a:defRPr>
            </a:lvl1pPr>
          </a:lstStyle>
          <a:p>
            <a:fld id="{B6F15528-21DE-4FAA-801E-634DDDAF4B2B}" type="slidenum">
              <a:rPr lang="en-US" altLang="zh-CN" smtClean="0"/>
            </a:fld>
            <a:endParaRPr lang="en-US" sz="1400" baseline="0">
              <a:solidFill>
                <a:srgbClr val="FFC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E82B25-0626-400A-8A18-CC4B9FA85174}"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F9421BD-7A71-43B0-8A82-BF5BCB45934A}"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F16864D-7324-47AC-8E77-C23354FBA014}"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72510EF-AB01-495B-8DFE-96ADBB7A23CB}"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B84A4E1-68D3-457C-9DF7-FAAF7B219705}"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63347B-E742-4F12-885F-5E4081DB62CE}"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5677153-82C0-4DA3-BB40-C41B58F36C94}"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630583E-33EF-48DF-99E0-0EC147C04ED4}"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01121F8-F7C1-415E-BA42-DA2C903C3780}" type="datetime1">
              <a:rPr lang="en-US" altLang="zh-C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3DE6E35-BFA5-4DAE-A373-BA0868FCAE04}" type="datetime1">
              <a:rPr lang="en-US" altLang="zh-CN" smtClean="0"/>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3"/>
          <p:cNvSpPr txBox="1"/>
          <p:nvPr userDrawn="1"/>
        </p:nvSpPr>
        <p:spPr>
          <a:xfrm>
            <a:off x="15544800" y="9563100"/>
            <a:ext cx="2133600" cy="441325"/>
          </a:xfrm>
          <a:prstGeom prst="rect">
            <a:avLst/>
          </a:prstGeom>
        </p:spPr>
        <p:txBody>
          <a:bodyPr vert="horz" lIns="91440" tIns="45720" rIns="91440" bIns="45720" rtlCol="0" anchor="ctr"/>
          <a:lstStyle>
            <a:defPPr>
              <a:defRPr lang="en-US"/>
            </a:defPPr>
            <a:lvl1pPr marL="0" algn="r" defTabSz="914400" rtl="0" eaLnBrk="1" latinLnBrk="0" hangingPunct="1">
              <a:defRPr sz="1400" kern="1200" baseline="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F15528-21DE-4FAA-801E-634DDDAF4B2B}" type="slidenum">
              <a:rPr lang="en-US" smtClean="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751FD4-909A-4019-85EC-21470F318FE5}" type="datetime1">
              <a:rPr lang="en-US" altLang="zh-C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544800" y="9410700"/>
            <a:ext cx="2133600" cy="441325"/>
          </a:xfrm>
        </p:spPr>
        <p:txBody>
          <a:bodyPr/>
          <a:lstStyle>
            <a:lvl1pPr algn="r">
              <a:defRPr sz="1400" baseline="0">
                <a:solidFill>
                  <a:srgbClr val="FFC000"/>
                </a:solidFill>
              </a:defRPr>
            </a:lvl1pPr>
          </a:lstStyle>
          <a:p>
            <a:fld id="{B6F15528-21DE-4FAA-801E-634DDDAF4B2B}"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BD61E49-541A-48A6-B824-8EC6E6FD9E28}"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BBB387F-E303-44E8-BCDC-5060DB4C336A}"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C377BF4-DAD9-47E2-BD23-30C3D9EC0D19}"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03C6FC-8182-4F45-A424-178F0CA4B71E}"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54004D-81DD-4821-82CF-FFE7163D5201}" type="datetime1">
              <a:rPr lang="en-US" altLang="zh-CN"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8A1A17-90E3-437B-803D-9C909D3BC32A}" type="datetime1">
              <a:rPr lang="en-US" altLang="zh-CN"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7.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image" Target="../media/image1.png"/><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image" Target="../media/image2.png"/></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image" Target="../media/image2.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8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microsoft.com/office/2007/relationships/hdphoto" Target="../media/image34.wdp"/><Relationship Id="rId7" Type="http://schemas.openxmlformats.org/officeDocument/2006/relationships/image" Target="../media/image33.png"/><Relationship Id="rId6" Type="http://schemas.microsoft.com/office/2007/relationships/hdphoto" Target="../media/image32.wdp"/><Relationship Id="rId5" Type="http://schemas.openxmlformats.org/officeDocument/2006/relationships/image" Target="../media/image31.png"/><Relationship Id="rId4" Type="http://schemas.microsoft.com/office/2007/relationships/hdphoto" Target="../media/image30.wdp"/><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image" Target="../media/image2.png"/></Relationships>
</file>

<file path=ppt/slides/_rels/slide82.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1.png"/><Relationship Id="rId14" Type="http://schemas.openxmlformats.org/officeDocument/2006/relationships/slideLayout" Target="../slideLayouts/slideLayout7.xml"/><Relationship Id="rId13" Type="http://schemas.microsoft.com/office/2007/relationships/hdphoto" Target="../media/image45.wdp"/><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image" Target="../media/image42.png"/><Relationship Id="rId1" Type="http://schemas.openxmlformats.org/officeDocument/2006/relationships/image" Target="../media/image2.png"/></Relationships>
</file>

<file path=ppt/slides/_rels/slide83.xml.rels><?xml version="1.0" encoding="UTF-8" standalone="yes"?>
<Relationships xmlns="http://schemas.openxmlformats.org/package/2006/relationships"><Relationship Id="rId9" Type="http://schemas.openxmlformats.org/officeDocument/2006/relationships/image" Target="../media/image52.png"/><Relationship Id="rId8" Type="http://schemas.microsoft.com/office/2007/relationships/hdphoto" Target="../media/image51.wdp"/><Relationship Id="rId7" Type="http://schemas.openxmlformats.org/officeDocument/2006/relationships/image" Target="../media/image50.png"/><Relationship Id="rId6" Type="http://schemas.microsoft.com/office/2007/relationships/hdphoto" Target="../media/image49.wdp"/><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1.png"/><Relationship Id="rId17" Type="http://schemas.openxmlformats.org/officeDocument/2006/relationships/slideLayout" Target="../slideLayouts/slideLayout7.xml"/><Relationship Id="rId16" Type="http://schemas.microsoft.com/office/2007/relationships/hdphoto" Target="../media/image59.wdp"/><Relationship Id="rId15" Type="http://schemas.openxmlformats.org/officeDocument/2006/relationships/image" Target="../media/image58.png"/><Relationship Id="rId14" Type="http://schemas.microsoft.com/office/2007/relationships/hdphoto" Target="../media/image57.wdp"/><Relationship Id="rId13" Type="http://schemas.openxmlformats.org/officeDocument/2006/relationships/image" Target="../media/image56.png"/><Relationship Id="rId12" Type="http://schemas.microsoft.com/office/2007/relationships/hdphoto" Target="../media/image55.wdp"/><Relationship Id="rId11" Type="http://schemas.openxmlformats.org/officeDocument/2006/relationships/image" Target="../media/image54.png"/><Relationship Id="rId10" Type="http://schemas.microsoft.com/office/2007/relationships/hdphoto" Target="../media/image53.wdp"/><Relationship Id="rId1" Type="http://schemas.openxmlformats.org/officeDocument/2006/relationships/image" Target="../media/image2.png"/></Relationships>
</file>

<file path=ppt/slides/_rels/slide8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image" Target="../media/image2.png"/></Relationships>
</file>

<file path=ppt/slides/_rels/slide8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6.png"/><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image" Target="../media/image2.png"/></Relationships>
</file>

<file path=ppt/slides/_rels/slide8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image" Target="../media/image42.png"/><Relationship Id="rId4" Type="http://schemas.openxmlformats.org/officeDocument/2006/relationships/image" Target="../media/image67.png"/><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image" Target="../media/image2.png"/></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microsoft.com/office/2007/relationships/hdphoto" Target="../media/image71.wdp"/><Relationship Id="rId3"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image" Target="../media/image2.png"/></Relationships>
</file>

<file path=ppt/slides/_rels/slide88.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image" Target="../media/image74.png"/><Relationship Id="rId7" Type="http://schemas.openxmlformats.org/officeDocument/2006/relationships/image" Target="../media/image67.png"/><Relationship Id="rId6" Type="http://schemas.openxmlformats.org/officeDocument/2006/relationships/image" Target="../media/image73.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72.png"/><Relationship Id="rId2" Type="http://schemas.openxmlformats.org/officeDocument/2006/relationships/image" Target="../media/image1.png"/><Relationship Id="rId17" Type="http://schemas.openxmlformats.org/officeDocument/2006/relationships/slideLayout" Target="../slideLayouts/slideLayout7.xml"/><Relationship Id="rId16" Type="http://schemas.openxmlformats.org/officeDocument/2006/relationships/image" Target="../media/image80.png"/><Relationship Id="rId15" Type="http://schemas.microsoft.com/office/2007/relationships/hdphoto" Target="../media/image79.wdp"/><Relationship Id="rId14" Type="http://schemas.openxmlformats.org/officeDocument/2006/relationships/image" Target="../media/image78.png"/><Relationship Id="rId13" Type="http://schemas.microsoft.com/office/2007/relationships/hdphoto" Target="../media/image77.wdp"/><Relationship Id="rId12" Type="http://schemas.openxmlformats.org/officeDocument/2006/relationships/image" Target="../media/image76.png"/><Relationship Id="rId11" Type="http://schemas.openxmlformats.org/officeDocument/2006/relationships/image" Target="../media/image42.png"/><Relationship Id="rId10" Type="http://schemas.openxmlformats.org/officeDocument/2006/relationships/image" Target="../media/image41.png"/><Relationship Id="rId1" Type="http://schemas.openxmlformats.org/officeDocument/2006/relationships/image" Target="../media/image2.png"/></Relationships>
</file>

<file path=ppt/slides/_rels/slide8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9.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1.png"/><Relationship Id="rId1" Type="http://schemas.openxmlformats.org/officeDocument/2006/relationships/image" Target="../media/image2.png"/></Relationships>
</file>

<file path=ppt/slides/_rels/slide90.xml.rels><?xml version="1.0" encoding="UTF-8" standalone="yes"?>
<Relationships xmlns="http://schemas.openxmlformats.org/package/2006/relationships"><Relationship Id="rId9" Type="http://schemas.openxmlformats.org/officeDocument/2006/relationships/image" Target="../media/image33.png"/><Relationship Id="rId8" Type="http://schemas.microsoft.com/office/2007/relationships/hdphoto" Target="../media/image30.wdp"/><Relationship Id="rId7" Type="http://schemas.openxmlformats.org/officeDocument/2006/relationships/image" Target="../media/image29.png"/><Relationship Id="rId6" Type="http://schemas.microsoft.com/office/2007/relationships/hdphoto" Target="../media/image32.wdp"/><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83.png"/><Relationship Id="rId2" Type="http://schemas.openxmlformats.org/officeDocument/2006/relationships/image" Target="../media/image1.png"/><Relationship Id="rId11" Type="http://schemas.openxmlformats.org/officeDocument/2006/relationships/slideLayout" Target="../slideLayouts/slideLayout7.xml"/><Relationship Id="rId10" Type="http://schemas.microsoft.com/office/2007/relationships/hdphoto" Target="../media/image34.wdp"/><Relationship Id="rId1" Type="http://schemas.openxmlformats.org/officeDocument/2006/relationships/image" Target="../media/image2.png"/></Relationships>
</file>

<file path=ppt/slides/_rels/slide91.xml.rels><?xml version="1.0" encoding="UTF-8" standalone="yes"?>
<Relationships xmlns="http://schemas.openxmlformats.org/package/2006/relationships"><Relationship Id="rId9" Type="http://schemas.openxmlformats.org/officeDocument/2006/relationships/image" Target="../media/image92.png"/><Relationship Id="rId8" Type="http://schemas.openxmlformats.org/officeDocument/2006/relationships/image" Target="../media/image91.png"/><Relationship Id="rId7" Type="http://schemas.openxmlformats.org/officeDocument/2006/relationships/image" Target="../media/image90.png"/><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1.png"/><Relationship Id="rId18" Type="http://schemas.openxmlformats.org/officeDocument/2006/relationships/slideLayout" Target="../slideLayouts/slideLayout7.xml"/><Relationship Id="rId17" Type="http://schemas.microsoft.com/office/2007/relationships/hdphoto" Target="../media/image100.wdp"/><Relationship Id="rId16" Type="http://schemas.openxmlformats.org/officeDocument/2006/relationships/image" Target="../media/image99.png"/><Relationship Id="rId15" Type="http://schemas.openxmlformats.org/officeDocument/2006/relationships/image" Target="../media/image98.png"/><Relationship Id="rId14" Type="http://schemas.microsoft.com/office/2007/relationships/hdphoto" Target="../media/image97.wdp"/><Relationship Id="rId13" Type="http://schemas.openxmlformats.org/officeDocument/2006/relationships/image" Target="../media/image96.png"/><Relationship Id="rId12" Type="http://schemas.openxmlformats.org/officeDocument/2006/relationships/image" Target="../media/image95.png"/><Relationship Id="rId11" Type="http://schemas.openxmlformats.org/officeDocument/2006/relationships/image" Target="../media/image94.png"/><Relationship Id="rId10" Type="http://schemas.openxmlformats.org/officeDocument/2006/relationships/image" Target="../media/image93.png"/><Relationship Id="rId1" Type="http://schemas.openxmlformats.org/officeDocument/2006/relationships/image" Target="../media/image2.png"/></Relationships>
</file>

<file path=ppt/slides/_rels/slide92.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104.png"/><Relationship Id="rId7" Type="http://schemas.openxmlformats.org/officeDocument/2006/relationships/image" Target="../media/image103.png"/><Relationship Id="rId6" Type="http://schemas.openxmlformats.org/officeDocument/2006/relationships/image" Target="../media/image94.png"/><Relationship Id="rId5" Type="http://schemas.openxmlformats.org/officeDocument/2006/relationships/image" Target="../media/image102.png"/><Relationship Id="rId4" Type="http://schemas.openxmlformats.org/officeDocument/2006/relationships/image" Target="../media/image98.png"/><Relationship Id="rId3" Type="http://schemas.openxmlformats.org/officeDocument/2006/relationships/image" Target="../media/image101.png"/><Relationship Id="rId2" Type="http://schemas.openxmlformats.org/officeDocument/2006/relationships/image" Target="../media/image1.png"/><Relationship Id="rId11" Type="http://schemas.openxmlformats.org/officeDocument/2006/relationships/slideLayout" Target="../slideLayouts/slideLayout7.xml"/><Relationship Id="rId10" Type="http://schemas.openxmlformats.org/officeDocument/2006/relationships/image" Target="../media/image105.png"/><Relationship Id="rId1" Type="http://schemas.openxmlformats.org/officeDocument/2006/relationships/image" Target="../media/image2.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95.xml.rels><?xml version="1.0" encoding="UTF-8" standalone="yes"?>
<Relationships xmlns="http://schemas.openxmlformats.org/package/2006/relationships"><Relationship Id="rId9" Type="http://schemas.openxmlformats.org/officeDocument/2006/relationships/image" Target="../media/image112.png"/><Relationship Id="rId8" Type="http://schemas.microsoft.com/office/2007/relationships/hdphoto" Target="../media/image111.wdp"/><Relationship Id="rId7" Type="http://schemas.openxmlformats.org/officeDocument/2006/relationships/image" Target="../media/image110.png"/><Relationship Id="rId6" Type="http://schemas.microsoft.com/office/2007/relationships/hdphoto" Target="../media/image109.wdp"/><Relationship Id="rId5" Type="http://schemas.openxmlformats.org/officeDocument/2006/relationships/image" Target="../media/image108.png"/><Relationship Id="rId4" Type="http://schemas.microsoft.com/office/2007/relationships/hdphoto" Target="../media/image107.wdp"/><Relationship Id="rId3" Type="http://schemas.openxmlformats.org/officeDocument/2006/relationships/image" Target="../media/image106.png"/><Relationship Id="rId2" Type="http://schemas.openxmlformats.org/officeDocument/2006/relationships/image" Target="../media/image1.png"/><Relationship Id="rId13" Type="http://schemas.openxmlformats.org/officeDocument/2006/relationships/slideLayout" Target="../slideLayouts/slideLayout7.xml"/><Relationship Id="rId12" Type="http://schemas.microsoft.com/office/2007/relationships/hdphoto" Target="../media/image115.wdp"/><Relationship Id="rId11" Type="http://schemas.openxmlformats.org/officeDocument/2006/relationships/image" Target="../media/image114.png"/><Relationship Id="rId10" Type="http://schemas.microsoft.com/office/2007/relationships/hdphoto" Target="../media/image113.wdp"/><Relationship Id="rId1" Type="http://schemas.openxmlformats.org/officeDocument/2006/relationships/image" Target="../media/image2.png"/></Relationships>
</file>

<file path=ppt/slides/_rels/slide9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 Id="rId3" Type="http://schemas.openxmlformats.org/officeDocument/2006/relationships/image" Target="../media/image116.png"/><Relationship Id="rId2" Type="http://schemas.openxmlformats.org/officeDocument/2006/relationships/image" Target="../media/image1.png"/><Relationship Id="rId1" Type="http://schemas.openxmlformats.org/officeDocument/2006/relationships/image" Target="../media/image2.png"/></Relationships>
</file>

<file path=ppt/slides/_rels/slide9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20.png"/><Relationship Id="rId2" Type="http://schemas.openxmlformats.org/officeDocument/2006/relationships/image" Target="../media/image1.png"/><Relationship Id="rId1" Type="http://schemas.openxmlformats.org/officeDocument/2006/relationships/image" Target="../media/image2.png"/></Relationships>
</file>

<file path=ppt/slides/_rels/slide98.xml.rels><?xml version="1.0" encoding="UTF-8" standalone="yes"?>
<Relationships xmlns="http://schemas.openxmlformats.org/package/2006/relationships"><Relationship Id="rId9" Type="http://schemas.openxmlformats.org/officeDocument/2006/relationships/image" Target="../media/image130.png"/><Relationship Id="rId8" Type="http://schemas.microsoft.com/office/2007/relationships/hdphoto" Target="../media/image129.wdp"/><Relationship Id="rId7" Type="http://schemas.openxmlformats.org/officeDocument/2006/relationships/image" Target="../media/image128.png"/><Relationship Id="rId6" Type="http://schemas.microsoft.com/office/2007/relationships/hdphoto" Target="../media/image127.wdp"/><Relationship Id="rId5" Type="http://schemas.openxmlformats.org/officeDocument/2006/relationships/image" Target="../media/image126.png"/><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png"/><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100.xml.rels><?xml version="1.0" encoding="UTF-8" standalone="yes"?>
<Relationships xmlns="http://schemas.openxmlformats.org/package/2006/relationships"><Relationship Id="rId9" Type="http://schemas.openxmlformats.org/officeDocument/2006/relationships/image" Target="../media/image137.png"/><Relationship Id="rId8" Type="http://schemas.openxmlformats.org/officeDocument/2006/relationships/image" Target="../media/image136.png"/><Relationship Id="rId7" Type="http://schemas.openxmlformats.org/officeDocument/2006/relationships/image" Target="../media/image135.png"/><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1.png"/><Relationship Id="rId11" Type="http://schemas.openxmlformats.org/officeDocument/2006/relationships/slideLayout" Target="../slideLayouts/slideLayout7.xml"/><Relationship Id="rId10" Type="http://schemas.openxmlformats.org/officeDocument/2006/relationships/image" Target="../media/image138.png"/><Relationship Id="rId1"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0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9.png"/><Relationship Id="rId2" Type="http://schemas.openxmlformats.org/officeDocument/2006/relationships/image" Target="../media/image1.png"/><Relationship Id="rId1" Type="http://schemas.openxmlformats.org/officeDocument/2006/relationships/image" Target="../media/image2.png"/></Relationships>
</file>

<file path=ppt/slides/_rels/slide103.xml.rels><?xml version="1.0" encoding="UTF-8" standalone="yes"?>
<Relationships xmlns="http://schemas.openxmlformats.org/package/2006/relationships"><Relationship Id="rId9" Type="http://schemas.openxmlformats.org/officeDocument/2006/relationships/image" Target="../media/image146.png"/><Relationship Id="rId8" Type="http://schemas.openxmlformats.org/officeDocument/2006/relationships/image" Target="../media/image145.png"/><Relationship Id="rId7" Type="http://schemas.openxmlformats.org/officeDocument/2006/relationships/image" Target="../media/image144.png"/><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3" Type="http://schemas.openxmlformats.org/officeDocument/2006/relationships/image" Target="../media/image140.png"/><Relationship Id="rId2" Type="http://schemas.openxmlformats.org/officeDocument/2006/relationships/image" Target="../media/image1.png"/><Relationship Id="rId12" Type="http://schemas.openxmlformats.org/officeDocument/2006/relationships/slideLayout" Target="../slideLayouts/slideLayout7.xml"/><Relationship Id="rId11" Type="http://schemas.openxmlformats.org/officeDocument/2006/relationships/image" Target="../media/image148.png"/><Relationship Id="rId10" Type="http://schemas.openxmlformats.org/officeDocument/2006/relationships/image" Target="../media/image147.png"/><Relationship Id="rId1" Type="http://schemas.openxmlformats.org/officeDocument/2006/relationships/image" Target="../media/image2.png"/></Relationships>
</file>

<file path=ppt/slides/_rels/slide104.xml.rels><?xml version="1.0" encoding="UTF-8" standalone="yes"?>
<Relationships xmlns="http://schemas.openxmlformats.org/package/2006/relationships"><Relationship Id="rId9" Type="http://schemas.openxmlformats.org/officeDocument/2006/relationships/image" Target="../media/image154.png"/><Relationship Id="rId8" Type="http://schemas.openxmlformats.org/officeDocument/2006/relationships/image" Target="../media/image153.png"/><Relationship Id="rId7" Type="http://schemas.openxmlformats.org/officeDocument/2006/relationships/image" Target="../media/image152.png"/><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 Id="rId3" Type="http://schemas.openxmlformats.org/officeDocument/2006/relationships/image" Target="../media/image141.png"/><Relationship Id="rId2" Type="http://schemas.openxmlformats.org/officeDocument/2006/relationships/image" Target="../media/image1.png"/><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105.xml.rels><?xml version="1.0" encoding="UTF-8" standalone="yes"?>
<Relationships xmlns="http://schemas.openxmlformats.org/package/2006/relationships"><Relationship Id="rId9" Type="http://schemas.openxmlformats.org/officeDocument/2006/relationships/image" Target="../media/image157.png"/><Relationship Id="rId8" Type="http://schemas.openxmlformats.org/officeDocument/2006/relationships/image" Target="../media/image156.png"/><Relationship Id="rId7" Type="http://schemas.openxmlformats.org/officeDocument/2006/relationships/image" Target="../media/image145.png"/><Relationship Id="rId6" Type="http://schemas.openxmlformats.org/officeDocument/2006/relationships/image" Target="../media/image144.png"/><Relationship Id="rId5" Type="http://schemas.openxmlformats.org/officeDocument/2006/relationships/image" Target="../media/image155.png"/><Relationship Id="rId4" Type="http://schemas.openxmlformats.org/officeDocument/2006/relationships/image" Target="../media/image149.png"/><Relationship Id="rId3" Type="http://schemas.openxmlformats.org/officeDocument/2006/relationships/image" Target="../media/image141.png"/><Relationship Id="rId2" Type="http://schemas.openxmlformats.org/officeDocument/2006/relationships/image" Target="../media/image1.png"/><Relationship Id="rId11" Type="http://schemas.openxmlformats.org/officeDocument/2006/relationships/slideLayout" Target="../slideLayouts/slideLayout7.xml"/><Relationship Id="rId10" Type="http://schemas.openxmlformats.org/officeDocument/2006/relationships/image" Target="../media/image95.png"/><Relationship Id="rId1" Type="http://schemas.openxmlformats.org/officeDocument/2006/relationships/image" Target="../media/image2.png"/></Relationships>
</file>

<file path=ppt/slides/_rels/slide106.xml.rels><?xml version="1.0" encoding="UTF-8" standalone="yes"?>
<Relationships xmlns="http://schemas.openxmlformats.org/package/2006/relationships"><Relationship Id="rId9" Type="http://schemas.openxmlformats.org/officeDocument/2006/relationships/image" Target="../media/image162.png"/><Relationship Id="rId8" Type="http://schemas.openxmlformats.org/officeDocument/2006/relationships/image" Target="../media/image161.png"/><Relationship Id="rId7" Type="http://schemas.openxmlformats.org/officeDocument/2006/relationships/image" Target="../media/image160.png"/><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145.png"/><Relationship Id="rId3" Type="http://schemas.openxmlformats.org/officeDocument/2006/relationships/image" Target="../media/image144.png"/><Relationship Id="rId2" Type="http://schemas.openxmlformats.org/officeDocument/2006/relationships/image" Target="../media/image1.png"/><Relationship Id="rId14" Type="http://schemas.openxmlformats.org/officeDocument/2006/relationships/slideLayout" Target="../slideLayouts/slideLayout7.xml"/><Relationship Id="rId13" Type="http://schemas.openxmlformats.org/officeDocument/2006/relationships/image" Target="../media/image163.png"/><Relationship Id="rId12" Type="http://schemas.openxmlformats.org/officeDocument/2006/relationships/image" Target="../media/image150.png"/><Relationship Id="rId11" Type="http://schemas.openxmlformats.org/officeDocument/2006/relationships/image" Target="../media/image149.png"/><Relationship Id="rId10" Type="http://schemas.openxmlformats.org/officeDocument/2006/relationships/image" Target="../media/image141.png"/><Relationship Id="rId1" Type="http://schemas.openxmlformats.org/officeDocument/2006/relationships/image" Target="../media/image2.png"/></Relationships>
</file>

<file path=ppt/slides/_rels/slide107.xml.rels><?xml version="1.0" encoding="UTF-8" standalone="yes"?>
<Relationships xmlns="http://schemas.openxmlformats.org/package/2006/relationships"><Relationship Id="rId9" Type="http://schemas.openxmlformats.org/officeDocument/2006/relationships/image" Target="../media/image164.png"/><Relationship Id="rId8" Type="http://schemas.openxmlformats.org/officeDocument/2006/relationships/image" Target="../media/image156.png"/><Relationship Id="rId7" Type="http://schemas.openxmlformats.org/officeDocument/2006/relationships/image" Target="../media/image145.png"/><Relationship Id="rId6" Type="http://schemas.openxmlformats.org/officeDocument/2006/relationships/image" Target="../media/image144.png"/><Relationship Id="rId5" Type="http://schemas.openxmlformats.org/officeDocument/2006/relationships/image" Target="../media/image155.png"/><Relationship Id="rId4" Type="http://schemas.openxmlformats.org/officeDocument/2006/relationships/image" Target="../media/image149.png"/><Relationship Id="rId3" Type="http://schemas.openxmlformats.org/officeDocument/2006/relationships/image" Target="../media/image141.png"/><Relationship Id="rId2" Type="http://schemas.openxmlformats.org/officeDocument/2006/relationships/image" Target="../media/image1.png"/><Relationship Id="rId13" Type="http://schemas.openxmlformats.org/officeDocument/2006/relationships/slideLayout" Target="../slideLayouts/slideLayout7.xml"/><Relationship Id="rId12" Type="http://schemas.openxmlformats.org/officeDocument/2006/relationships/image" Target="../media/image167.png"/><Relationship Id="rId11" Type="http://schemas.openxmlformats.org/officeDocument/2006/relationships/image" Target="../media/image166.png"/><Relationship Id="rId10" Type="http://schemas.openxmlformats.org/officeDocument/2006/relationships/image" Target="../media/image165.png"/><Relationship Id="rId1" Type="http://schemas.openxmlformats.org/officeDocument/2006/relationships/image" Target="../media/image2.png"/></Relationships>
</file>

<file path=ppt/slides/_rels/slide10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69.png"/><Relationship Id="rId3" Type="http://schemas.openxmlformats.org/officeDocument/2006/relationships/image" Target="../media/image168.png"/><Relationship Id="rId2" Type="http://schemas.openxmlformats.org/officeDocument/2006/relationships/image" Target="../media/image1.png"/><Relationship Id="rId1" Type="http://schemas.openxmlformats.org/officeDocument/2006/relationships/image" Target="../media/image2.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12.xml.rels><?xml version="1.0" encoding="UTF-8" standalone="yes"?>
<Relationships xmlns="http://schemas.openxmlformats.org/package/2006/relationships"><Relationship Id="rId9" Type="http://schemas.microsoft.com/office/2007/relationships/hdphoto" Target="../media/image176.wdp"/><Relationship Id="rId8" Type="http://schemas.openxmlformats.org/officeDocument/2006/relationships/image" Target="../media/image175.png"/><Relationship Id="rId7" Type="http://schemas.microsoft.com/office/2007/relationships/hdphoto" Target="../media/image174.wdp"/><Relationship Id="rId6" Type="http://schemas.openxmlformats.org/officeDocument/2006/relationships/image" Target="../media/image173.png"/><Relationship Id="rId5" Type="http://schemas.microsoft.com/office/2007/relationships/hdphoto" Target="../media/image172.wdp"/><Relationship Id="rId4" Type="http://schemas.openxmlformats.org/officeDocument/2006/relationships/image" Target="../media/image171.png"/><Relationship Id="rId3" Type="http://schemas.openxmlformats.org/officeDocument/2006/relationships/image" Target="../media/image170.png"/><Relationship Id="rId2" Type="http://schemas.openxmlformats.org/officeDocument/2006/relationships/image" Target="../media/image1.png"/><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1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7.png"/><Relationship Id="rId2" Type="http://schemas.openxmlformats.org/officeDocument/2006/relationships/image" Target="../media/image1.png"/><Relationship Id="rId1" Type="http://schemas.openxmlformats.org/officeDocument/2006/relationships/image" Target="../media/image2.png"/></Relationships>
</file>

<file path=ppt/slides/_rels/slide114.xml.rels><?xml version="1.0" encoding="UTF-8" standalone="yes"?>
<Relationships xmlns="http://schemas.openxmlformats.org/package/2006/relationships"><Relationship Id="rId9" Type="http://schemas.openxmlformats.org/officeDocument/2006/relationships/image" Target="../media/image184.png"/><Relationship Id="rId8" Type="http://schemas.openxmlformats.org/officeDocument/2006/relationships/image" Target="../media/image183.png"/><Relationship Id="rId7" Type="http://schemas.openxmlformats.org/officeDocument/2006/relationships/image" Target="../media/image182.png"/><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 Id="rId3" Type="http://schemas.openxmlformats.org/officeDocument/2006/relationships/image" Target="../media/image178.png"/><Relationship Id="rId2" Type="http://schemas.openxmlformats.org/officeDocument/2006/relationships/image" Target="../media/image1.png"/><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1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86.png"/><Relationship Id="rId3" Type="http://schemas.openxmlformats.org/officeDocument/2006/relationships/image" Target="../media/image185.png"/><Relationship Id="rId2" Type="http://schemas.openxmlformats.org/officeDocument/2006/relationships/image" Target="../media/image1.png"/><Relationship Id="rId1" Type="http://schemas.openxmlformats.org/officeDocument/2006/relationships/image" Target="../media/image2.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18.xml.rels><?xml version="1.0" encoding="UTF-8" standalone="yes"?>
<Relationships xmlns="http://schemas.openxmlformats.org/package/2006/relationships"><Relationship Id="rId9" Type="http://schemas.openxmlformats.org/officeDocument/2006/relationships/image" Target="../media/image193.png"/><Relationship Id="rId8" Type="http://schemas.openxmlformats.org/officeDocument/2006/relationships/image" Target="../media/image192.png"/><Relationship Id="rId7" Type="http://schemas.openxmlformats.org/officeDocument/2006/relationships/image" Target="../media/image191.png"/><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 Id="rId3" Type="http://schemas.openxmlformats.org/officeDocument/2006/relationships/image" Target="../media/image187.png"/><Relationship Id="rId2" Type="http://schemas.openxmlformats.org/officeDocument/2006/relationships/image" Target="../media/image1.png"/><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11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90.png"/><Relationship Id="rId5" Type="http://schemas.openxmlformats.org/officeDocument/2006/relationships/image" Target="../media/image188.png"/><Relationship Id="rId4" Type="http://schemas.openxmlformats.org/officeDocument/2006/relationships/image" Target="../media/image84.png"/><Relationship Id="rId3" Type="http://schemas.openxmlformats.org/officeDocument/2006/relationships/image" Target="../media/image193.png"/><Relationship Id="rId2" Type="http://schemas.openxmlformats.org/officeDocument/2006/relationships/image" Target="../media/image1.png"/><Relationship Id="rId1" Type="http://schemas.openxmlformats.org/officeDocument/2006/relationships/image" Target="../media/image2.png"/></Relationships>
</file>

<file path=ppt/slides/_rels/slide120.xml.rels><?xml version="1.0" encoding="UTF-8" standalone="yes"?>
<Relationships xmlns="http://schemas.openxmlformats.org/package/2006/relationships"><Relationship Id="rId9" Type="http://schemas.openxmlformats.org/officeDocument/2006/relationships/image" Target="../media/image197.png"/><Relationship Id="rId8" Type="http://schemas.openxmlformats.org/officeDocument/2006/relationships/image" Target="../media/image188.png"/><Relationship Id="rId7" Type="http://schemas.openxmlformats.org/officeDocument/2006/relationships/image" Target="../media/image196.png"/><Relationship Id="rId6" Type="http://schemas.openxmlformats.org/officeDocument/2006/relationships/image" Target="../media/image195.png"/><Relationship Id="rId5" Type="http://schemas.openxmlformats.org/officeDocument/2006/relationships/image" Target="../media/image194.png"/><Relationship Id="rId4" Type="http://schemas.openxmlformats.org/officeDocument/2006/relationships/image" Target="../media/image84.png"/><Relationship Id="rId3" Type="http://schemas.openxmlformats.org/officeDocument/2006/relationships/image" Target="../media/image192.png"/><Relationship Id="rId2" Type="http://schemas.openxmlformats.org/officeDocument/2006/relationships/image" Target="../media/image1.png"/><Relationship Id="rId17" Type="http://schemas.openxmlformats.org/officeDocument/2006/relationships/slideLayout" Target="../slideLayouts/slideLayout7.xml"/><Relationship Id="rId16" Type="http://schemas.openxmlformats.org/officeDocument/2006/relationships/image" Target="../media/image204.png"/><Relationship Id="rId15" Type="http://schemas.openxmlformats.org/officeDocument/2006/relationships/image" Target="../media/image203.png"/><Relationship Id="rId14" Type="http://schemas.microsoft.com/office/2007/relationships/hdphoto" Target="../media/image202.wdp"/><Relationship Id="rId13" Type="http://schemas.openxmlformats.org/officeDocument/2006/relationships/image" Target="../media/image201.png"/><Relationship Id="rId12" Type="http://schemas.openxmlformats.org/officeDocument/2006/relationships/image" Target="../media/image200.png"/><Relationship Id="rId11" Type="http://schemas.microsoft.com/office/2007/relationships/hdphoto" Target="../media/image199.wdp"/><Relationship Id="rId10" Type="http://schemas.openxmlformats.org/officeDocument/2006/relationships/image" Target="../media/image198.png"/><Relationship Id="rId1" Type="http://schemas.openxmlformats.org/officeDocument/2006/relationships/image" Target="../media/image2.png"/></Relationships>
</file>

<file path=ppt/slides/_rels/slide12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08.png"/><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05.png"/><Relationship Id="rId3" Type="http://schemas.openxmlformats.org/officeDocument/2006/relationships/image" Target="../media/image190.png"/><Relationship Id="rId2" Type="http://schemas.openxmlformats.org/officeDocument/2006/relationships/image" Target="../media/image1.png"/><Relationship Id="rId1" Type="http://schemas.openxmlformats.org/officeDocument/2006/relationships/image" Target="../media/image2.png"/></Relationships>
</file>

<file path=ppt/slides/_rels/slide12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10.png"/><Relationship Id="rId4" Type="http://schemas.openxmlformats.org/officeDocument/2006/relationships/image" Target="../media/image209.png"/><Relationship Id="rId3" Type="http://schemas.openxmlformats.org/officeDocument/2006/relationships/image" Target="../media/image190.png"/><Relationship Id="rId2" Type="http://schemas.openxmlformats.org/officeDocument/2006/relationships/image" Target="../media/image1.png"/><Relationship Id="rId1" Type="http://schemas.openxmlformats.org/officeDocument/2006/relationships/image" Target="../media/image2.png"/></Relationships>
</file>

<file path=ppt/slides/_rels/slide12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6.png"/><Relationship Id="rId7" Type="http://schemas.openxmlformats.org/officeDocument/2006/relationships/image" Target="../media/image215.png"/><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 Id="rId3" Type="http://schemas.openxmlformats.org/officeDocument/2006/relationships/image" Target="../media/image211.png"/><Relationship Id="rId2" Type="http://schemas.openxmlformats.org/officeDocument/2006/relationships/image" Target="../media/image1.png"/><Relationship Id="rId1" Type="http://schemas.openxmlformats.org/officeDocument/2006/relationships/image" Target="../media/image2.png"/></Relationships>
</file>

<file path=ppt/slides/_rels/slide124.xml.rels><?xml version="1.0" encoding="UTF-8" standalone="yes"?>
<Relationships xmlns="http://schemas.openxmlformats.org/package/2006/relationships"><Relationship Id="rId9" Type="http://schemas.openxmlformats.org/officeDocument/2006/relationships/image" Target="../media/image200.png"/><Relationship Id="rId8" Type="http://schemas.openxmlformats.org/officeDocument/2006/relationships/image" Target="../media/image218.png"/><Relationship Id="rId7" Type="http://schemas.openxmlformats.org/officeDocument/2006/relationships/image" Target="../media/image190.png"/><Relationship Id="rId6" Type="http://schemas.openxmlformats.org/officeDocument/2006/relationships/image" Target="../media/image204.png"/><Relationship Id="rId5" Type="http://schemas.openxmlformats.org/officeDocument/2006/relationships/image" Target="../media/image192.png"/><Relationship Id="rId4" Type="http://schemas.openxmlformats.org/officeDocument/2006/relationships/image" Target="../media/image205.png"/><Relationship Id="rId3" Type="http://schemas.openxmlformats.org/officeDocument/2006/relationships/image" Target="../media/image217.png"/><Relationship Id="rId2" Type="http://schemas.openxmlformats.org/officeDocument/2006/relationships/image" Target="../media/image1.png"/><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125.xml.rels><?xml version="1.0" encoding="UTF-8" standalone="yes"?>
<Relationships xmlns="http://schemas.openxmlformats.org/package/2006/relationships"><Relationship Id="rId9" Type="http://schemas.openxmlformats.org/officeDocument/2006/relationships/image" Target="../media/image224.png"/><Relationship Id="rId8" Type="http://schemas.openxmlformats.org/officeDocument/2006/relationships/image" Target="../media/image223.png"/><Relationship Id="rId7" Type="http://schemas.openxmlformats.org/officeDocument/2006/relationships/image" Target="../media/image222.png"/><Relationship Id="rId6" Type="http://schemas.openxmlformats.org/officeDocument/2006/relationships/image" Target="../media/image84.png"/><Relationship Id="rId5" Type="http://schemas.openxmlformats.org/officeDocument/2006/relationships/image" Target="../media/image221.png"/><Relationship Id="rId4" Type="http://schemas.openxmlformats.org/officeDocument/2006/relationships/image" Target="../media/image220.png"/><Relationship Id="rId3" Type="http://schemas.openxmlformats.org/officeDocument/2006/relationships/image" Target="../media/image219.png"/><Relationship Id="rId2" Type="http://schemas.openxmlformats.org/officeDocument/2006/relationships/image" Target="../media/image1.png"/><Relationship Id="rId14" Type="http://schemas.openxmlformats.org/officeDocument/2006/relationships/slideLayout" Target="../slideLayouts/slideLayout7.xml"/><Relationship Id="rId13" Type="http://schemas.openxmlformats.org/officeDocument/2006/relationships/image" Target="../media/image226.png"/><Relationship Id="rId12" Type="http://schemas.openxmlformats.org/officeDocument/2006/relationships/image" Target="../media/image206.png"/><Relationship Id="rId11" Type="http://schemas.openxmlformats.org/officeDocument/2006/relationships/image" Target="../media/image225.png"/><Relationship Id="rId10" Type="http://schemas.openxmlformats.org/officeDocument/2006/relationships/image" Target="../media/image190.png"/><Relationship Id="rId1" Type="http://schemas.openxmlformats.org/officeDocument/2006/relationships/image" Target="../media/image2.png"/></Relationships>
</file>

<file path=ppt/slides/_rels/slide126.xml.rels><?xml version="1.0" encoding="UTF-8" standalone="yes"?>
<Relationships xmlns="http://schemas.openxmlformats.org/package/2006/relationships"><Relationship Id="rId9" Type="http://schemas.openxmlformats.org/officeDocument/2006/relationships/image" Target="../media/image230.png"/><Relationship Id="rId8" Type="http://schemas.openxmlformats.org/officeDocument/2006/relationships/image" Target="../media/image229.png"/><Relationship Id="rId7" Type="http://schemas.openxmlformats.org/officeDocument/2006/relationships/image" Target="../media/image188.png"/><Relationship Id="rId6" Type="http://schemas.openxmlformats.org/officeDocument/2006/relationships/image" Target="../media/image228.png"/><Relationship Id="rId5" Type="http://schemas.openxmlformats.org/officeDocument/2006/relationships/image" Target="../media/image227.png"/><Relationship Id="rId4" Type="http://schemas.openxmlformats.org/officeDocument/2006/relationships/image" Target="../media/image89.png"/><Relationship Id="rId3" Type="http://schemas.openxmlformats.org/officeDocument/2006/relationships/image" Target="../media/image193.png"/><Relationship Id="rId2" Type="http://schemas.openxmlformats.org/officeDocument/2006/relationships/image" Target="../media/image1.png"/><Relationship Id="rId12" Type="http://schemas.openxmlformats.org/officeDocument/2006/relationships/slideLayout" Target="../slideLayouts/slideLayout7.xml"/><Relationship Id="rId11" Type="http://schemas.openxmlformats.org/officeDocument/2006/relationships/image" Target="../media/image232.png"/><Relationship Id="rId10" Type="http://schemas.openxmlformats.org/officeDocument/2006/relationships/image" Target="../media/image231.png"/><Relationship Id="rId1" Type="http://schemas.openxmlformats.org/officeDocument/2006/relationships/image" Target="../media/image2.png"/></Relationships>
</file>

<file path=ppt/slides/_rels/slide127.xml.rels><?xml version="1.0" encoding="UTF-8" standalone="yes"?>
<Relationships xmlns="http://schemas.openxmlformats.org/package/2006/relationships"><Relationship Id="rId9" Type="http://schemas.openxmlformats.org/officeDocument/2006/relationships/image" Target="../media/image236.png"/><Relationship Id="rId8" Type="http://schemas.openxmlformats.org/officeDocument/2006/relationships/image" Target="../media/image235.png"/><Relationship Id="rId7" Type="http://schemas.openxmlformats.org/officeDocument/2006/relationships/image" Target="../media/image234.png"/><Relationship Id="rId6" Type="http://schemas.openxmlformats.org/officeDocument/2006/relationships/image" Target="../media/image192.png"/><Relationship Id="rId5" Type="http://schemas.openxmlformats.org/officeDocument/2006/relationships/image" Target="../media/image233.png"/><Relationship Id="rId4" Type="http://schemas.openxmlformats.org/officeDocument/2006/relationships/image" Target="../media/image188.png"/><Relationship Id="rId3" Type="http://schemas.openxmlformats.org/officeDocument/2006/relationships/image" Target="../media/image228.png"/><Relationship Id="rId2" Type="http://schemas.openxmlformats.org/officeDocument/2006/relationships/image" Target="../media/image1.png"/><Relationship Id="rId16" Type="http://schemas.openxmlformats.org/officeDocument/2006/relationships/slideLayout" Target="../slideLayouts/slideLayout7.xml"/><Relationship Id="rId15" Type="http://schemas.openxmlformats.org/officeDocument/2006/relationships/image" Target="../media/image193.png"/><Relationship Id="rId14" Type="http://schemas.openxmlformats.org/officeDocument/2006/relationships/image" Target="../media/image241.png"/><Relationship Id="rId13" Type="http://schemas.openxmlformats.org/officeDocument/2006/relationships/image" Target="../media/image240.png"/><Relationship Id="rId12" Type="http://schemas.openxmlformats.org/officeDocument/2006/relationships/image" Target="../media/image239.png"/><Relationship Id="rId11" Type="http://schemas.openxmlformats.org/officeDocument/2006/relationships/image" Target="../media/image238.png"/><Relationship Id="rId10" Type="http://schemas.openxmlformats.org/officeDocument/2006/relationships/image" Target="../media/image237.png"/><Relationship Id="rId1" Type="http://schemas.openxmlformats.org/officeDocument/2006/relationships/image" Target="../media/image2.png"/></Relationships>
</file>

<file path=ppt/slides/_rels/slide128.xml.rels><?xml version="1.0" encoding="UTF-8" standalone="yes"?>
<Relationships xmlns="http://schemas.openxmlformats.org/package/2006/relationships"><Relationship Id="rId9" Type="http://schemas.openxmlformats.org/officeDocument/2006/relationships/image" Target="../media/image247.png"/><Relationship Id="rId8" Type="http://schemas.openxmlformats.org/officeDocument/2006/relationships/image" Target="../media/image246.png"/><Relationship Id="rId7" Type="http://schemas.openxmlformats.org/officeDocument/2006/relationships/image" Target="../media/image245.png"/><Relationship Id="rId6" Type="http://schemas.openxmlformats.org/officeDocument/2006/relationships/image" Target="../media/image244.png"/><Relationship Id="rId5" Type="http://schemas.openxmlformats.org/officeDocument/2006/relationships/image" Target="../media/image243.png"/><Relationship Id="rId4" Type="http://schemas.openxmlformats.org/officeDocument/2006/relationships/image" Target="../media/image242.png"/><Relationship Id="rId3" Type="http://schemas.openxmlformats.org/officeDocument/2006/relationships/image" Target="../media/image190.png"/><Relationship Id="rId2" Type="http://schemas.openxmlformats.org/officeDocument/2006/relationships/image" Target="../media/image1.png"/><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129.xml.rels><?xml version="1.0" encoding="UTF-8" standalone="yes"?>
<Relationships xmlns="http://schemas.openxmlformats.org/package/2006/relationships"><Relationship Id="rId9" Type="http://schemas.openxmlformats.org/officeDocument/2006/relationships/image" Target="../media/image251.png"/><Relationship Id="rId8" Type="http://schemas.openxmlformats.org/officeDocument/2006/relationships/image" Target="../media/image240.png"/><Relationship Id="rId7" Type="http://schemas.openxmlformats.org/officeDocument/2006/relationships/image" Target="../media/image192.png"/><Relationship Id="rId6" Type="http://schemas.openxmlformats.org/officeDocument/2006/relationships/image" Target="../media/image250.png"/><Relationship Id="rId5" Type="http://schemas.openxmlformats.org/officeDocument/2006/relationships/image" Target="../media/image249.png"/><Relationship Id="rId4" Type="http://schemas.openxmlformats.org/officeDocument/2006/relationships/image" Target="../media/image248.png"/><Relationship Id="rId3" Type="http://schemas.openxmlformats.org/officeDocument/2006/relationships/image" Target="../media/image190.png"/><Relationship Id="rId2" Type="http://schemas.openxmlformats.org/officeDocument/2006/relationships/image" Target="../media/image1.png"/><Relationship Id="rId13" Type="http://schemas.openxmlformats.org/officeDocument/2006/relationships/slideLayout" Target="../slideLayouts/slideLayout7.xml"/><Relationship Id="rId12" Type="http://schemas.openxmlformats.org/officeDocument/2006/relationships/image" Target="../media/image254.png"/><Relationship Id="rId11" Type="http://schemas.openxmlformats.org/officeDocument/2006/relationships/image" Target="../media/image253.png"/><Relationship Id="rId10" Type="http://schemas.openxmlformats.org/officeDocument/2006/relationships/image" Target="../media/image252.png"/><Relationship Id="rId1" Type="http://schemas.openxmlformats.org/officeDocument/2006/relationships/image" Target="../media/image2.png"/></Relationships>
</file>

<file path=ppt/slides/_rels/slide130.xml.rels><?xml version="1.0" encoding="UTF-8" standalone="yes"?>
<Relationships xmlns="http://schemas.openxmlformats.org/package/2006/relationships"><Relationship Id="rId9" Type="http://schemas.openxmlformats.org/officeDocument/2006/relationships/image" Target="../media/image260.png"/><Relationship Id="rId8" Type="http://schemas.openxmlformats.org/officeDocument/2006/relationships/image" Target="../media/image259.png"/><Relationship Id="rId7" Type="http://schemas.openxmlformats.org/officeDocument/2006/relationships/image" Target="../media/image258.png"/><Relationship Id="rId6" Type="http://schemas.openxmlformats.org/officeDocument/2006/relationships/image" Target="../media/image257.png"/><Relationship Id="rId5" Type="http://schemas.openxmlformats.org/officeDocument/2006/relationships/image" Target="../media/image254.png"/><Relationship Id="rId4" Type="http://schemas.openxmlformats.org/officeDocument/2006/relationships/image" Target="../media/image256.png"/><Relationship Id="rId3" Type="http://schemas.openxmlformats.org/officeDocument/2006/relationships/image" Target="../media/image255.png"/><Relationship Id="rId2" Type="http://schemas.openxmlformats.org/officeDocument/2006/relationships/image" Target="../media/image1.png"/><Relationship Id="rId11" Type="http://schemas.openxmlformats.org/officeDocument/2006/relationships/slideLayout" Target="../slideLayouts/slideLayout7.xml"/><Relationship Id="rId10" Type="http://schemas.openxmlformats.org/officeDocument/2006/relationships/image" Target="../media/image89.png"/><Relationship Id="rId1" Type="http://schemas.openxmlformats.org/officeDocument/2006/relationships/image" Target="../media/image2.png"/></Relationships>
</file>

<file path=ppt/slides/_rels/slide1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1.png"/><Relationship Id="rId2" Type="http://schemas.openxmlformats.org/officeDocument/2006/relationships/image" Target="../media/image1.png"/><Relationship Id="rId1" Type="http://schemas.openxmlformats.org/officeDocument/2006/relationships/image" Target="../media/image2.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12" name="TextBox 12"/>
          <p:cNvSpPr txBox="1"/>
          <p:nvPr/>
        </p:nvSpPr>
        <p:spPr>
          <a:xfrm>
            <a:off x="1676173" y="2707834"/>
            <a:ext cx="14436775" cy="1655966"/>
          </a:xfrm>
          <a:prstGeom prst="rect">
            <a:avLst/>
          </a:prstGeom>
        </p:spPr>
        <p:txBody>
          <a:bodyPr wrap="square" lIns="0" tIns="0" rIns="0" bIns="0" rtlCol="0" anchor="t">
            <a:spAutoFit/>
          </a:bodyPr>
          <a:lstStyle/>
          <a:p>
            <a:pPr algn="ctr">
              <a:lnSpc>
                <a:spcPts val="14935"/>
              </a:lnSpc>
            </a:pP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a:t>
            </a:r>
            <a:r>
              <a:rPr lang="en-US" altLang="zh-CN"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t>
            </a: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基础理论与应用</a:t>
            </a:r>
            <a:endPar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34" name="TextBox 3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7" name="TextBox 3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sp>
        <p:nvSpPr>
          <p:cNvPr id="38" name="TextBox 38"/>
          <p:cNvSpPr txBox="1"/>
          <p:nvPr/>
        </p:nvSpPr>
        <p:spPr>
          <a:xfrm>
            <a:off x="1933951" y="5295665"/>
            <a:ext cx="13921220" cy="1231106"/>
          </a:xfrm>
          <a:prstGeom prst="rect">
            <a:avLst/>
          </a:prstGeom>
        </p:spPr>
        <p:txBody>
          <a:bodyPr lIns="0" tIns="0" rIns="0" bIns="0" rtlCol="0" anchor="t">
            <a:spAutoFit/>
          </a:bodyPr>
          <a:lstStyle/>
          <a:p>
            <a:pPr algn="ctr">
              <a:lnSpc>
                <a:spcPts val="9600"/>
              </a:lnSpc>
            </a:pPr>
            <a:r>
              <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第十五章 密钥管理</a:t>
            </a:r>
            <a:endPar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4" name="TextBox 44"/>
              <p:cNvSpPr txBox="1"/>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7" name="TextBox 47"/>
              <p:cNvSpPr txBox="1"/>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a:off x="22112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目录</a:t>
              </a:r>
              <a:endParaRPr lang="en-US" sz="92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rPr>
                <a:t>CONTENTS</a:t>
              </a:r>
              <a:endPar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endParaRPr>
            </a:p>
          </p:txBody>
        </p:sp>
      </p:grpSp>
      <p:sp>
        <p:nvSpPr>
          <p:cNvPr id="33" name="TextBox 33"/>
          <p:cNvSpPr txBox="1"/>
          <p:nvPr>
            <p:custDataLst>
              <p:tags r:id="rId1"/>
            </p:custDataLst>
          </p:nvPr>
        </p:nvSpPr>
        <p:spPr>
          <a:xfrm>
            <a:off x="7530652" y="1172598"/>
            <a:ext cx="1270000" cy="717550"/>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15.1</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4" name="TextBox 34"/>
          <p:cNvSpPr txBox="1"/>
          <p:nvPr>
            <p:custDataLst>
              <p:tags r:id="rId2"/>
            </p:custDataLst>
          </p:nvPr>
        </p:nvSpPr>
        <p:spPr>
          <a:xfrm>
            <a:off x="8874991" y="1172598"/>
            <a:ext cx="8229600" cy="753745"/>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8" name="TextBox 38"/>
          <p:cNvSpPr txBox="1"/>
          <p:nvPr>
            <p:custDataLst>
              <p:tags r:id="rId3"/>
            </p:custDataLst>
          </p:nvPr>
        </p:nvSpPr>
        <p:spPr>
          <a:xfrm>
            <a:off x="7530652" y="2157483"/>
            <a:ext cx="1270000"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15.2</a:t>
            </a:r>
            <a:endParaRPr lang="en-US" dirty="0">
              <a:sym typeface="字由文艺黑" panose="00020600040101010101" charset="-122"/>
            </a:endParaRPr>
          </a:p>
        </p:txBody>
      </p:sp>
      <p:sp>
        <p:nvSpPr>
          <p:cNvPr id="43" name="TextBox 43"/>
          <p:cNvSpPr txBox="1"/>
          <p:nvPr>
            <p:custDataLst>
              <p:tags r:id="rId4"/>
            </p:custDataLst>
          </p:nvPr>
        </p:nvSpPr>
        <p:spPr>
          <a:xfrm>
            <a:off x="7530652" y="3141733"/>
            <a:ext cx="1270000"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15.3</a:t>
            </a:r>
            <a:endParaRPr lang="en-US" dirty="0">
              <a:sym typeface="字由文艺黑" panose="00020600040101010101" charset="-122"/>
            </a:endParaRPr>
          </a:p>
        </p:txBody>
      </p:sp>
      <p:sp>
        <p:nvSpPr>
          <p:cNvPr id="44" name="TextBox 44"/>
          <p:cNvSpPr txBox="1"/>
          <p:nvPr>
            <p:custDataLst>
              <p:tags r:id="rId5"/>
            </p:custDataLst>
          </p:nvPr>
        </p:nvSpPr>
        <p:spPr>
          <a:xfrm>
            <a:off x="8874991" y="3141733"/>
            <a:ext cx="8229600"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密钥协商</a:t>
            </a:r>
            <a:endParaRPr lang="zh-CN" altLang="en-US" dirty="0">
              <a:sym typeface="字由文艺黑" panose="00020600040101010101" charset="-122"/>
            </a:endParaRPr>
          </a:p>
        </p:txBody>
      </p:sp>
      <p:grpSp>
        <p:nvGrpSpPr>
          <p:cNvPr id="50" name="Group 50"/>
          <p:cNvGrpSpPr/>
          <p:nvPr/>
        </p:nvGrpSpPr>
        <p:grpSpPr>
          <a:xfrm>
            <a:off x="-1299845" y="8692124"/>
            <a:ext cx="21159470" cy="1632976"/>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66" name="TextBox 44"/>
          <p:cNvSpPr txBox="1"/>
          <p:nvPr>
            <p:custDataLst>
              <p:tags r:id="rId6"/>
            </p:custDataLst>
          </p:nvPr>
        </p:nvSpPr>
        <p:spPr>
          <a:xfrm>
            <a:off x="8874991" y="4125983"/>
            <a:ext cx="8229600"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SM2密钥交换协议</a:t>
            </a:r>
            <a:endParaRPr lang="zh-CN" altLang="en-US" dirty="0">
              <a:sym typeface="字由文艺黑" panose="00020600040101010101" charset="-122"/>
            </a:endParaRPr>
          </a:p>
        </p:txBody>
      </p:sp>
      <p:sp>
        <p:nvSpPr>
          <p:cNvPr id="67" name="TextBox 43"/>
          <p:cNvSpPr txBox="1"/>
          <p:nvPr>
            <p:custDataLst>
              <p:tags r:id="rId7"/>
            </p:custDataLst>
          </p:nvPr>
        </p:nvSpPr>
        <p:spPr>
          <a:xfrm>
            <a:off x="7530652" y="4125983"/>
            <a:ext cx="1270000"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15.4</a:t>
            </a:r>
            <a:endParaRPr lang="en-US" dirty="0">
              <a:sym typeface="字由文艺黑" panose="00020600040101010101" charset="-122"/>
            </a:endParaRPr>
          </a:p>
        </p:txBody>
      </p:sp>
      <p:sp>
        <p:nvSpPr>
          <p:cNvPr id="62" name="TextBox 34"/>
          <p:cNvSpPr txBox="1"/>
          <p:nvPr>
            <p:custDataLst>
              <p:tags r:id="rId8"/>
            </p:custDataLst>
          </p:nvPr>
        </p:nvSpPr>
        <p:spPr>
          <a:xfrm>
            <a:off x="8874991" y="2157483"/>
            <a:ext cx="8229600" cy="753745"/>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密钥分配技术</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57" name="TextBox 44"/>
          <p:cNvSpPr txBox="1"/>
          <p:nvPr>
            <p:custDataLst>
              <p:tags r:id="rId9"/>
            </p:custDataLst>
          </p:nvPr>
        </p:nvSpPr>
        <p:spPr>
          <a:xfrm>
            <a:off x="8874991" y="5110233"/>
            <a:ext cx="8229600"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SM9密钥交换协议</a:t>
            </a:r>
            <a:endParaRPr lang="zh-CN" altLang="en-US" dirty="0">
              <a:sym typeface="字由文艺黑" panose="00020600040101010101" charset="-122"/>
            </a:endParaRPr>
          </a:p>
        </p:txBody>
      </p:sp>
      <p:sp>
        <p:nvSpPr>
          <p:cNvPr id="58" name="TextBox 43"/>
          <p:cNvSpPr txBox="1"/>
          <p:nvPr>
            <p:custDataLst>
              <p:tags r:id="rId10"/>
            </p:custDataLst>
          </p:nvPr>
        </p:nvSpPr>
        <p:spPr>
          <a:xfrm>
            <a:off x="7530652" y="5110233"/>
            <a:ext cx="1270000"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15.5</a:t>
            </a:r>
            <a:endParaRPr lang="en-US" dirty="0">
              <a:sym typeface="字由文艺黑" panose="00020600040101010101" charset="-122"/>
            </a:endParaRPr>
          </a:p>
        </p:txBody>
      </p:sp>
      <p:grpSp>
        <p:nvGrpSpPr>
          <p:cNvPr id="30" name="组合 29"/>
          <p:cNvGrpSpPr/>
          <p:nvPr/>
        </p:nvGrpSpPr>
        <p:grpSpPr>
          <a:xfrm>
            <a:off x="796975" y="605801"/>
            <a:ext cx="3700052" cy="416951"/>
            <a:chOff x="13811849" y="507954"/>
            <a:chExt cx="3700052" cy="416951"/>
          </a:xfrm>
        </p:grpSpPr>
        <p:sp>
          <p:nvSpPr>
            <p:cNvPr id="31" name="文本框 30"/>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2" name="图片 31"/>
            <p:cNvPicPr>
              <a:picLocks noChangeAspect="1"/>
            </p:cNvPicPr>
            <p:nvPr/>
          </p:nvPicPr>
          <p:blipFill>
            <a:blip r:embed="rId11"/>
            <a:stretch>
              <a:fillRect/>
            </a:stretch>
          </p:blipFill>
          <p:spPr>
            <a:xfrm>
              <a:off x="13944600" y="877286"/>
              <a:ext cx="2771429" cy="47619"/>
            </a:xfrm>
            <a:prstGeom prst="rect">
              <a:avLst/>
            </a:prstGeom>
          </p:spPr>
        </p:pic>
      </p:grpSp>
      <p:sp>
        <p:nvSpPr>
          <p:cNvPr id="35" name="灯片编号占位符 34"/>
          <p:cNvSpPr>
            <a:spLocks noGrp="1"/>
          </p:cNvSpPr>
          <p:nvPr>
            <p:ph type="sldNum" sz="quarter" idx="12"/>
          </p:nvPr>
        </p:nvSpPr>
        <p:spPr/>
        <p:txBody>
          <a:bodyPr/>
          <a:lstStyle/>
          <a:p>
            <a:fld id="{B6F15528-21DE-4FAA-801E-634DDDAF4B2B}" type="slidenum">
              <a:rPr lang="en-US" altLang="zh-CN" smtClean="0"/>
            </a:fld>
            <a:endParaRPr lang="en-US" sz="1400" baseline="0" dirty="0">
              <a:solidFill>
                <a:srgbClr val="FFC000"/>
              </a:solidFill>
            </a:endParaRPr>
          </a:p>
        </p:txBody>
      </p:sp>
      <p:sp>
        <p:nvSpPr>
          <p:cNvPr id="36" name="TextBox 33"/>
          <p:cNvSpPr txBox="1"/>
          <p:nvPr>
            <p:custDataLst>
              <p:tags r:id="rId12"/>
            </p:custDataLst>
          </p:nvPr>
        </p:nvSpPr>
        <p:spPr>
          <a:xfrm>
            <a:off x="7530652" y="6082463"/>
            <a:ext cx="1270000" cy="717550"/>
          </a:xfrm>
          <a:prstGeom prst="rect">
            <a:avLst/>
          </a:prstGeom>
        </p:spPr>
        <p:txBody>
          <a:bodyPr lIns="0" tIns="0" rIns="0" bIns="0" rtlCol="0" anchor="t">
            <a:spAutoFit/>
          </a:bodyPr>
          <a:lstStyle/>
          <a:p>
            <a:pPr algn="ctr">
              <a:lnSpc>
                <a:spcPts val="5600"/>
              </a:lnSpc>
            </a:pP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15.6</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7" name="TextBox 34"/>
          <p:cNvSpPr txBox="1"/>
          <p:nvPr>
            <p:custDataLst>
              <p:tags r:id="rId13"/>
            </p:custDataLst>
          </p:nvPr>
        </p:nvSpPr>
        <p:spPr>
          <a:xfrm>
            <a:off x="8874991" y="6082463"/>
            <a:ext cx="8229600" cy="753745"/>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秘密共享技术</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9" name="TextBox 38"/>
          <p:cNvSpPr txBox="1"/>
          <p:nvPr>
            <p:custDataLst>
              <p:tags r:id="rId14"/>
            </p:custDataLst>
          </p:nvPr>
        </p:nvSpPr>
        <p:spPr>
          <a:xfrm>
            <a:off x="7530652" y="7067348"/>
            <a:ext cx="1270000" cy="717550"/>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dirty="0">
                <a:sym typeface="字由文艺黑" panose="00020600040101010101" charset="-122"/>
              </a:rPr>
              <a:t>15.7</a:t>
            </a:r>
            <a:endParaRPr lang="en-US" dirty="0">
              <a:sym typeface="字由文艺黑" panose="00020600040101010101" charset="-122"/>
            </a:endParaRPr>
          </a:p>
        </p:txBody>
      </p:sp>
      <p:sp>
        <p:nvSpPr>
          <p:cNvPr id="40" name="TextBox 34"/>
          <p:cNvSpPr txBox="1"/>
          <p:nvPr>
            <p:custDataLst>
              <p:tags r:id="rId15"/>
            </p:custDataLst>
          </p:nvPr>
        </p:nvSpPr>
        <p:spPr>
          <a:xfrm>
            <a:off x="8874991" y="7067348"/>
            <a:ext cx="8229600" cy="753745"/>
          </a:xfrm>
          <a:prstGeom prst="rect">
            <a:avLst/>
          </a:prstGeom>
        </p:spPr>
        <p:txBody>
          <a:bodyPr wrap="square" lIns="0" tIns="0" rIns="0" bIns="0" rtlCol="0" anchor="t">
            <a:spAutoFit/>
          </a:bodyPr>
          <a:lstStyle/>
          <a:p>
            <a:pPr algn="l">
              <a:lnSpc>
                <a:spcPts val="5880"/>
              </a:lnSpc>
            </a:pPr>
            <a:r>
              <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line1"/>
          <p:cNvSpPr>
            <a:spLocks noGrp="1"/>
          </p:cNvSpPr>
          <p:nvPr/>
        </p:nvSpPr>
        <p:spPr>
          <a:xfrm>
            <a:off x="2667000" y="1800225"/>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密钥管理是指根据安全策略，在密码系统生命周期内，对密钥从产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生、分发、存储、使用、更新、备份、归档到销毁的全生命周期，进行规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范化、安全化、可控化的一系列技术、制度与流程的总称；核心目标是保</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0" name="p2-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证密钥的机密性、完整性、可用性、可追溯性，防止密钥泄露、篡改、丢</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失、滥用，支撑密码算法和安全机制正常可信运行。密钥是密码安全的核</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心基石。密码算法本身公开安全，密钥是唯一安全边界，密钥一旦泄露，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line7"/>
          <p:cNvSpPr>
            <a:spLocks noGrp="1"/>
          </p:cNvSpPr>
          <p:nvPr/>
        </p:nvSpPr>
        <p:spPr>
          <a:xfrm>
            <a:off x="1752600" y="6065901"/>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所有加密、认证、签名全部失效。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TextBox 31"/>
          <p:cNvSpPr txBox="1"/>
          <p:nvPr/>
        </p:nvSpPr>
        <p:spPr>
          <a:xfrm>
            <a:off x="1394918" y="46390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326989" y="2834725"/>
            <a:ext cx="3634019"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15.1</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5-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密钥是密码系统中的可变部分。在现代密码体制中，密码算法是可以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5-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公开评估的，因而整个密码系统的安全性并不取决于对密码算法的保密或</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4" name="p5-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者对密码设备的保护，决定整个密码体制安全性的因素是密钥的保密性。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5-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也就是说，在考虑密码系统的设计时，需要解决的核心问题是密钥管理问</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7" name="p5-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题，而不是密码算法问题。由此带来的好处为：在密码系统中不用担心算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5-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法的安全性，只要保护好密钥就可以了，显然保护密钥比保护算法要容易</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5-line7"/>
          <p:cNvSpPr>
            <a:spLocks noGrp="1"/>
          </p:cNvSpPr>
          <p:nvPr/>
        </p:nvSpPr>
        <p:spPr>
          <a:xfrm>
            <a:off x="1752600" y="60659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得多。再者，可以使用不同的密钥保护不同的秘密，这意味着当攻击者攻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5-line8"/>
          <p:cNvSpPr>
            <a:spLocks noGrp="1"/>
          </p:cNvSpPr>
          <p:nvPr/>
        </p:nvSpPr>
        <p:spPr>
          <a:xfrm>
            <a:off x="1752600" y="67768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破了一个密钥时，受威胁的只是这个被攻破密钥所保护的秘密，其他的秘</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5-line9"/>
          <p:cNvSpPr>
            <a:spLocks noGrp="1"/>
          </p:cNvSpPr>
          <p:nvPr/>
        </p:nvSpPr>
        <p:spPr>
          <a:xfrm>
            <a:off x="1752600" y="748779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密依然是安全的。由此可见，密码系统的安全性是由密钥的安全性决定</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5-line10"/>
          <p:cNvSpPr>
            <a:spLocks noGrp="1"/>
          </p:cNvSpPr>
          <p:nvPr/>
        </p:nvSpPr>
        <p:spPr>
          <a:xfrm>
            <a:off x="1752600" y="819873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6-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密钥管理就是在授权各方之间实现密钥关系的建立和维护的一整套技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6-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术和程序。密钥管理是密码学的一个重要分支，也是密码学最重要、最困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6-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难的部分，在一定的安全策略指导下，负责密钥从产生到最终销毁的整个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6-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过程，包括密钥的生成、存储、分发与协商、使用、备份与恢复、更新、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6-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撤销和销毁等。密钥管理是密码学许多技术（如机密性、实体身份验证、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6-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数据源认证、数据完整性和数据签名等）的基础，在整个密码系统中占有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6-line7"/>
          <p:cNvSpPr>
            <a:spLocks noGrp="1"/>
          </p:cNvSpPr>
          <p:nvPr/>
        </p:nvSpPr>
        <p:spPr>
          <a:xfrm>
            <a:off x="1752600" y="6065901"/>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极其重要的地位。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7-line1"/>
          <p:cNvSpPr>
            <a:spLocks noGrp="1"/>
          </p:cNvSpPr>
          <p:nvPr/>
        </p:nvSpPr>
        <p:spPr>
          <a:xfrm>
            <a:off x="2667000" y="6891147"/>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下面介绍密钥管理的基本含义和作用。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8-line1"/>
          <p:cNvSpPr>
            <a:spLocks noGrp="1"/>
          </p:cNvSpPr>
          <p:nvPr/>
        </p:nvSpPr>
        <p:spPr>
          <a:xfrm>
            <a:off x="1752600" y="1800225"/>
            <a:ext cx="4014978"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1．密钥生成和检验</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9-line1"/>
          <p:cNvSpPr>
            <a:spLocks noGrp="1"/>
          </p:cNvSpPr>
          <p:nvPr/>
        </p:nvSpPr>
        <p:spPr>
          <a:xfrm>
            <a:off x="2667000" y="262547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密钥生成是密钥管理的首要环节，如何产生好的密钥是保证密码系统</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9-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安全的关键。密钥产生设备主要是密钥生成器，一般使用性能良好的生成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9-line3"/>
          <p:cNvSpPr>
            <a:spLocks noGrp="1"/>
          </p:cNvSpPr>
          <p:nvPr/>
        </p:nvSpPr>
        <p:spPr>
          <a:xfrm>
            <a:off x="1752600" y="40473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器装置产生伪随机序列，以确保所产生密钥的随机性。好的密钥生成器应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9-line4"/>
          <p:cNvSpPr>
            <a:spLocks noGrp="1"/>
          </p:cNvSpPr>
          <p:nvPr/>
        </p:nvSpPr>
        <p:spPr>
          <a:xfrm>
            <a:off x="1752600" y="4758309"/>
            <a:ext cx="11487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做到：生成的密钥是随机等概率的、避免弱密钥的使用。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0-line1"/>
          <p:cNvSpPr>
            <a:spLocks noGrp="1"/>
          </p:cNvSpPr>
          <p:nvPr/>
        </p:nvSpPr>
        <p:spPr>
          <a:xfrm>
            <a:off x="1752600" y="1800225"/>
            <a:ext cx="4014978"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2．密钥交换和协商</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11-line1"/>
          <p:cNvSpPr>
            <a:spLocks noGrp="1"/>
          </p:cNvSpPr>
          <p:nvPr/>
        </p:nvSpPr>
        <p:spPr>
          <a:xfrm>
            <a:off x="2667000" y="2625471"/>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典型的密钥交换主要有两种形式：集中式交换方案和分布式交换方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1-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案。前者主要依靠网络中的“密钥管理中心”根据用户要求来分配密钥，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1-line3"/>
          <p:cNvSpPr>
            <a:spLocks noGrp="1"/>
          </p:cNvSpPr>
          <p:nvPr/>
        </p:nvSpPr>
        <p:spPr>
          <a:xfrm>
            <a:off x="1752600" y="40473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后者则是根据网络中各主机相互间协商来生成共同密钥。生成的密钥可以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1-line4"/>
          <p:cNvSpPr>
            <a:spLocks noGrp="1"/>
          </p:cNvSpPr>
          <p:nvPr/>
        </p:nvSpPr>
        <p:spPr>
          <a:xfrm>
            <a:off x="1752600" y="4758309"/>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通过手工方式或安全信道秘密传送。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2-line1"/>
          <p:cNvSpPr>
            <a:spLocks noGrp="1"/>
          </p:cNvSpPr>
          <p:nvPr/>
        </p:nvSpPr>
        <p:spPr>
          <a:xfrm>
            <a:off x="1752600" y="1800225"/>
            <a:ext cx="4014978"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3．密钥保护和存储</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13-line1"/>
          <p:cNvSpPr>
            <a:spLocks noGrp="1"/>
          </p:cNvSpPr>
          <p:nvPr/>
        </p:nvSpPr>
        <p:spPr>
          <a:xfrm>
            <a:off x="2667000" y="262547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对所有的密钥必须有强力有效的保护措施，提供密码服务的密钥装置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3-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要求绝对安全，密钥存储要保证密钥的机密性、认证性和完整性，而且要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3-line3"/>
          <p:cNvSpPr>
            <a:spLocks noGrp="1"/>
          </p:cNvSpPr>
          <p:nvPr/>
        </p:nvSpPr>
        <p:spPr>
          <a:xfrm>
            <a:off x="1752600" y="4047363"/>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尽可能减少系统中驻留的密钥量。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4-line1"/>
          <p:cNvSpPr>
            <a:spLocks noGrp="1"/>
          </p:cNvSpPr>
          <p:nvPr/>
        </p:nvSpPr>
        <p:spPr>
          <a:xfrm>
            <a:off x="2667000" y="4872609"/>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密钥在存储、交换、装入和传送过程中的核心是保密，其密钥信息流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4-line2"/>
          <p:cNvSpPr>
            <a:spLocks noGrp="1"/>
          </p:cNvSpPr>
          <p:nvPr/>
        </p:nvSpPr>
        <p:spPr>
          <a:xfrm>
            <a:off x="1752600" y="5583555"/>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动应是密文形式。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5-line1"/>
          <p:cNvSpPr>
            <a:spLocks noGrp="1"/>
          </p:cNvSpPr>
          <p:nvPr/>
        </p:nvSpPr>
        <p:spPr>
          <a:xfrm>
            <a:off x="1752600" y="1800225"/>
            <a:ext cx="4014978"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4．密钥更换和装入</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16-line1"/>
          <p:cNvSpPr>
            <a:spLocks noGrp="1"/>
          </p:cNvSpPr>
          <p:nvPr/>
        </p:nvSpPr>
        <p:spPr>
          <a:xfrm>
            <a:off x="2667000" y="262547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任何密钥的使用都应遵循密钥的生存周期，绝不能超期使用，因为密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6-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钥使用时间越长，重复概率越大，外泄可能性越大，被破译的危险性就越</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6-line3"/>
          <p:cNvSpPr>
            <a:spLocks noGrp="1"/>
          </p:cNvSpPr>
          <p:nvPr/>
        </p:nvSpPr>
        <p:spPr>
          <a:xfrm>
            <a:off x="1752600" y="40473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大。此外，密钥一旦外泄，必须更换与撤销。密钥装入可通过键盘、密钥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6-line4"/>
          <p:cNvSpPr>
            <a:spLocks noGrp="1"/>
          </p:cNvSpPr>
          <p:nvPr/>
        </p:nvSpPr>
        <p:spPr>
          <a:xfrm>
            <a:off x="1752600" y="47583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注入器、磁卡等介质及智能卡、系统安全模块（具备密钥交换功能）等设</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6-line5"/>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备实现。密钥装入可分为主机主密钥装入、终端机主密钥装入，二者均可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6-line6"/>
          <p:cNvSpPr>
            <a:spLocks noGrp="1"/>
          </p:cNvSpPr>
          <p:nvPr/>
        </p:nvSpPr>
        <p:spPr>
          <a:xfrm>
            <a:off x="1752600" y="6180201"/>
            <a:ext cx="10572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由保密员或专用设备装入，一旦装入就不可再读取。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密钥管理概述</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7-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密钥管理是一项综合性的系统工程，要求管理与技术并重，除了技术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7-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性因素，它还与人的因素密切相关，包括密钥管理相关的行政管理制度和</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4" name="p17-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密钥管理人员的素质等。密码系统的安全强度总是取决于系统最薄弱的环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7-line4"/>
          <p:cNvSpPr>
            <a:spLocks noGrp="1"/>
          </p:cNvSpPr>
          <p:nvPr/>
        </p:nvSpPr>
        <p:spPr>
          <a:xfrm>
            <a:off x="1752600" y="393306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节，因此再好的技术，如果失去了必要管理的支持，终将使技术毫无意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7-line5"/>
          <p:cNvSpPr>
            <a:spLocks noGrp="1"/>
          </p:cNvSpPr>
          <p:nvPr/>
        </p:nvSpPr>
        <p:spPr>
          <a:xfrm>
            <a:off x="1752600" y="464400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1-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由于应用需求和功能上的差异，密码系统中所使用的密钥的种类还是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1-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比较多的。例如，按照加密内容的不同，密钥可以分为用于一般数据加密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1-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的密钥和用于密钥加密的密钥；按照所完成的功能上的差异，密钥可以分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1-line4"/>
          <p:cNvSpPr>
            <a:spLocks noGrp="1"/>
          </p:cNvSpPr>
          <p:nvPr/>
        </p:nvSpPr>
        <p:spPr>
          <a:xfrm>
            <a:off x="1752600" y="393306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为用于验证数据签名的密钥（公钥）和用于实现数据签名的密钥（私钥</a:t>
            </a:r>
            <a:r>
              <a:rPr lang="zh-CN" altLang="en-US"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7" name="p21-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根据不同种类密钥所起的作用和重要性的不同，现有的密码系统的设</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8" name="p21-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计大都采用了层次化的密钥结构，这种层次化结构与对系统的密钥控制关</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1-line7"/>
          <p:cNvSpPr>
            <a:spLocks noGrp="1"/>
          </p:cNvSpPr>
          <p:nvPr/>
        </p:nvSpPr>
        <p:spPr>
          <a:xfrm>
            <a:off x="1752600" y="6065901"/>
            <a:ext cx="14573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系是对应的，三层密钥管理的层次结构如图15.1所示，表示一个常用（三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1-line8"/>
          <p:cNvSpPr>
            <a:spLocks noGrp="1"/>
          </p:cNvSpPr>
          <p:nvPr/>
        </p:nvSpPr>
        <p:spPr>
          <a:xfrm>
            <a:off x="1752600" y="6776847"/>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级）的简化密钥管理的层次结构。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6145346" y="1762125"/>
            <a:ext cx="5997307" cy="6381750"/>
          </a:xfrm>
          <a:prstGeom prst="rect">
            <a:avLst/>
          </a:prstGeom>
        </p:spPr>
      </p:pic>
      <p:sp>
        <p:nvSpPr>
          <p:cNvPr id="2" name="p20-line1"/>
          <p:cNvSpPr>
            <a:spLocks noGrp="1"/>
          </p:cNvSpPr>
          <p:nvPr/>
        </p:nvSpPr>
        <p:spPr>
          <a:xfrm>
            <a:off x="5772150" y="8372475"/>
            <a:ext cx="6800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图15.1　三层密钥管理的层次结构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2-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在一般情况下，按照密钥的生存周期、功能和保密级别，可以将密钥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2-line2"/>
          <p:cNvSpPr>
            <a:spLocks noGrp="1"/>
          </p:cNvSpPr>
          <p:nvPr/>
        </p:nvSpPr>
        <p:spPr>
          <a:xfrm>
            <a:off x="1752600" y="2511171"/>
            <a:ext cx="14458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分为3类：会话密钥、密钥加密密钥和主密钥。系统使用主密钥通过某种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2-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密码算法保护密钥加密密钥，再使用密钥加密密钥通过密码算法保护会话</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2-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密钥，不过密钥加密密钥可能不止一个层次，最后会话密钥基于某种加密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2-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解密算法来保护明文数据。在整个密钥层次体系中，各层密钥的使用由相</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2-line6"/>
          <p:cNvSpPr>
            <a:spLocks noGrp="1"/>
          </p:cNvSpPr>
          <p:nvPr/>
        </p:nvSpPr>
        <p:spPr>
          <a:xfrm>
            <a:off x="1752600" y="5354955"/>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应层次的密钥协议控制。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3-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（1）会话密钥。两个通信终端用户交换数据时使用的密钥称为会话</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3-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密钥，也称数据加密密钥。会话密钥的生存周期非常短，通常在会话建立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3-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初生成，在会话结束后销毁，主要用来对传输的数据进行保护，即使会话</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3-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密钥泄露，造成的直接损失也不会太大。一方面，会话密钥更换越频繁，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3-line5"/>
          <p:cNvSpPr>
            <a:spLocks noGrp="1"/>
          </p:cNvSpPr>
          <p:nvPr/>
        </p:nvSpPr>
        <p:spPr>
          <a:xfrm>
            <a:off x="1752600" y="4644009"/>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通信就越安全，因为攻击者所能获得的破获密钥的信息就越少；另一方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3-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面，频繁更换会话密钥将给密钥管理带来更多的负担。从来源上讲，会话</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3-line7"/>
          <p:cNvSpPr>
            <a:spLocks noGrp="1"/>
          </p:cNvSpPr>
          <p:nvPr/>
        </p:nvSpPr>
        <p:spPr>
          <a:xfrm>
            <a:off x="1752600" y="60659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密钥可由通信双方协商得到，也可由密钥分配中心分配；从产生机制上来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3-line8"/>
          <p:cNvSpPr>
            <a:spLocks noGrp="1"/>
          </p:cNvSpPr>
          <p:nvPr/>
        </p:nvSpPr>
        <p:spPr>
          <a:xfrm>
            <a:off x="1752600" y="67768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讲，会话密钥可在密钥加密密钥作用下通过某种加密算法动态产生，如用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3-line9"/>
          <p:cNvSpPr>
            <a:spLocks noGrp="1"/>
          </p:cNvSpPr>
          <p:nvPr/>
        </p:nvSpPr>
        <p:spPr>
          <a:xfrm>
            <a:off x="1752600" y="748779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初始密钥控制非线性移位寄存器或用密钥加密密钥控制分组密码算法产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3-line10"/>
          <p:cNvSpPr>
            <a:spLocks noGrp="1"/>
          </p:cNvSpPr>
          <p:nvPr/>
        </p:nvSpPr>
        <p:spPr>
          <a:xfrm>
            <a:off x="1752600" y="8198739"/>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生。它大多数是临时的、动态生成的，因此大大降低了密钥的存储量。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4-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（2）密钥加密密钥。密钥加密密钥主要用于对要传送的会话密钥进</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4-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行加密，也称二级密钥、次主密钥或辅助密钥。通信网中每个节点都分配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4-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密钥加密密钥（为了安全，各节点的密钥加密密钥应互不相同）。密钥加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4-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密密钥的生存周期相对较长，因为它主要用来协商或传送会话密钥，所以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4-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一旦泄露可能导致在其使用周期内的所有会话密钥泄露。因此，密钥加密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4-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密钥的保密级别较高，在主机和一些密码设备中，存储这种密钥的装置应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4-line7"/>
          <p:cNvSpPr>
            <a:spLocks noGrp="1"/>
          </p:cNvSpPr>
          <p:nvPr/>
        </p:nvSpPr>
        <p:spPr>
          <a:xfrm>
            <a:off x="1752600" y="60659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有断电保护、认证和防窜扰、防欺诈等控制功能。可用随机数发生器生成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4-line8"/>
          <p:cNvSpPr>
            <a:spLocks noGrp="1"/>
          </p:cNvSpPr>
          <p:nvPr/>
        </p:nvSpPr>
        <p:spPr>
          <a:xfrm>
            <a:off x="1752600" y="6776847"/>
            <a:ext cx="10572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这类密钥，也可用主密钥控制下的某种算法来产生。</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0" name="p25-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（3）主密钥。主密钥对应于层次化密钥结构中的最高层次，它是由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5-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用户选定或由系统分配给用户的、可在较长时间内由用户所专有的秘密密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5-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钥。在某种程度上，主密钥还起到标识用户的作用。主密钥主要用于对密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5-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钥加密密钥或会话密钥的保护，使得这些密钥可以实现在线分发。它的生</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5-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存周期最长，而且泄露主密钥所带来的危害无法估量，因此一般保存在网</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5-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络中心、主节点、主处理机或专用硬件设备中，受到严格的保护。此外，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5-line7"/>
          <p:cNvSpPr>
            <a:spLocks noGrp="1"/>
          </p:cNvSpPr>
          <p:nvPr/>
        </p:nvSpPr>
        <p:spPr>
          <a:xfrm>
            <a:off x="1752600" y="60659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对于主密钥的分配传送往往采用人工的方式，由可信的邮差、保密人员进</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5-line8"/>
          <p:cNvSpPr>
            <a:spLocks noGrp="1"/>
          </p:cNvSpPr>
          <p:nvPr/>
        </p:nvSpPr>
        <p:spPr>
          <a:xfrm>
            <a:off x="1752600" y="67768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行传送。主密钥控制产生其他加密密钥，而且长时间保持不变，因此它的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5-line9"/>
          <p:cNvSpPr>
            <a:spLocks noGrp="1"/>
          </p:cNvSpPr>
          <p:nvPr/>
        </p:nvSpPr>
        <p:spPr>
          <a:xfrm>
            <a:off x="1752600" y="7487793"/>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安全性是至关重要的。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6-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密钥的分级系统大大提高了密钥的安全性。一般来说，越低级的密钥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6-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更换速度越快，底层的密钥可以做到一次一换。在分级结构中，低级密钥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6-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具有相对独立性。一方面，它们被破译不会影响上级密钥的安全；另一方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6-line4"/>
          <p:cNvSpPr>
            <a:spLocks noGrp="1"/>
          </p:cNvSpPr>
          <p:nvPr/>
        </p:nvSpPr>
        <p:spPr>
          <a:xfrm>
            <a:off x="1752600" y="3933063"/>
            <a:ext cx="1285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面，它们的生成方式、结构、内容可以根据某种协议不断变换。</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7-line1"/>
          <p:cNvSpPr>
            <a:spLocks noGrp="1"/>
          </p:cNvSpPr>
          <p:nvPr/>
        </p:nvSpPr>
        <p:spPr>
          <a:xfrm>
            <a:off x="2667000" y="4758309"/>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对于攻击者，密钥的分级系统意味着其所攻击的是一个动态系统。对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7-line2"/>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于静态密钥系统，一份报文的破译就可以导致使用该密钥的所有报文的泄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7-line3"/>
          <p:cNvSpPr>
            <a:spLocks noGrp="1"/>
          </p:cNvSpPr>
          <p:nvPr/>
        </p:nvSpPr>
        <p:spPr>
          <a:xfrm>
            <a:off x="1752600" y="61802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露。而对于动态密钥系统，由于低级密钥是在不断变化中的，因而一份报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7-line4"/>
          <p:cNvSpPr>
            <a:spLocks noGrp="1"/>
          </p:cNvSpPr>
          <p:nvPr/>
        </p:nvSpPr>
        <p:spPr>
          <a:xfrm>
            <a:off x="1752600" y="68911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文的破译造成的影响有限。然而直接对主密钥发起攻击也是很困难的，一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7-line5"/>
          <p:cNvSpPr>
            <a:spLocks noGrp="1"/>
          </p:cNvSpPr>
          <p:nvPr/>
        </p:nvSpPr>
        <p:spPr>
          <a:xfrm>
            <a:off x="1752600" y="760209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方面对主密钥保护是相当严格的，采取了各种物理手段；另一方面主密钥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7-line6"/>
          <p:cNvSpPr>
            <a:spLocks noGrp="1"/>
          </p:cNvSpPr>
          <p:nvPr/>
        </p:nvSpPr>
        <p:spPr>
          <a:xfrm>
            <a:off x="1752600" y="8313039"/>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的使用次数很少。</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密钥管理的层次结构</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8-line1"/>
          <p:cNvSpPr>
            <a:spLocks noGrp="1"/>
          </p:cNvSpPr>
          <p:nvPr/>
        </p:nvSpPr>
        <p:spPr>
          <a:xfrm>
            <a:off x="2667000" y="1800225"/>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密钥的分级系统更大的优点还在于，它使得密钥管理自动化成为可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8-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能。对于一个大型密码系统而言，其需要的密钥数量是庞大的，都采用人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8-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工交换的方式来获得密钥已经不可能。在分级系统中，只有主密钥需要人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8-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工装入，其他各级密钥均可以由密钥管理系统按照某些协议来进行自动地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8-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分配、更换、撤销等。这既提高了工作效率，也提高了安全性。管理人员</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8-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掌握着核心密钥，他们不直接接触普通用户使用的密钥与明文数据，普通</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8-line7"/>
          <p:cNvSpPr>
            <a:spLocks noGrp="1"/>
          </p:cNvSpPr>
          <p:nvPr/>
        </p:nvSpPr>
        <p:spPr>
          <a:xfrm>
            <a:off x="1752600" y="6065901"/>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用户也无法接触到核心密钥，这使得核心密钥的扩散面减到最小。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密钥管理的原则</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0-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密钥管理是一个庞大且烦琐的系统工程，必须从整体上考虑，从细节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30-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着手，严密细致地进行设计、实施，充分、完善地进行测试、维护，才能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0-line3"/>
          <p:cNvSpPr>
            <a:spLocks noGrp="1"/>
          </p:cNvSpPr>
          <p:nvPr/>
        </p:nvSpPr>
        <p:spPr>
          <a:xfrm>
            <a:off x="1752600" y="3222117"/>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较好地解决密钥管理问题。为此，密钥管理应遵循一些基本原则。</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31-line1"/>
          <p:cNvSpPr>
            <a:spLocks noGrp="1"/>
          </p:cNvSpPr>
          <p:nvPr/>
        </p:nvSpPr>
        <p:spPr>
          <a:xfrm>
            <a:off x="2667000" y="4047363"/>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（1）区分密钥管理的策略和机制。密钥管理策略是密钥管理系统的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31-line2"/>
          <p:cNvSpPr>
            <a:spLocks noGrp="1"/>
          </p:cNvSpPr>
          <p:nvPr/>
        </p:nvSpPr>
        <p:spPr>
          <a:xfrm>
            <a:off x="1752600" y="47583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高级指导，策略着重原则指导，而不着重具体实现；而机制是具体的、复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31-line3"/>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杂烦琐的。密钥管理机制是实现和执行策略的技术机构和方法。没有好的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31-line4"/>
          <p:cNvSpPr>
            <a:spLocks noGrp="1"/>
          </p:cNvSpPr>
          <p:nvPr/>
        </p:nvSpPr>
        <p:spPr>
          <a:xfrm>
            <a:off x="1752600" y="61802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管理策略，再好的机制也不能确保密钥的安全；相反，没有好的机制，再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31-line5"/>
          <p:cNvSpPr>
            <a:spLocks noGrp="1"/>
          </p:cNvSpPr>
          <p:nvPr/>
        </p:nvSpPr>
        <p:spPr>
          <a:xfrm>
            <a:off x="1752600" y="6891147"/>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好的策略也没有实际意义。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密钥管理的原则</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0" name="p32-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（2）完全安全原则。该原则是指必须在密钥的产生、存储、分发、</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32-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装入、备份、更换和销毁等全过程中对密钥采取妥善的安全管理。只有各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32-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个阶段都安全时，密钥才是安全的。否则，只要其中一个环节出问题，密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2-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钥便不安全，也就是说，密钥的安全性是由密钥整个阶段中安全性最低的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32-line5"/>
          <p:cNvSpPr>
            <a:spLocks noGrp="1"/>
          </p:cNvSpPr>
          <p:nvPr/>
        </p:nvSpPr>
        <p:spPr>
          <a:xfrm>
            <a:off x="1752600" y="4644009"/>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阶段决定的。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33-line1"/>
          <p:cNvSpPr>
            <a:spLocks noGrp="1"/>
          </p:cNvSpPr>
          <p:nvPr/>
        </p:nvSpPr>
        <p:spPr>
          <a:xfrm>
            <a:off x="2667000" y="546925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（3）最小权利原则。该原则是指只分配给用户进行某一事务处理所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33-line2"/>
          <p:cNvSpPr>
            <a:spLocks noGrp="1"/>
          </p:cNvSpPr>
          <p:nvPr/>
        </p:nvSpPr>
        <p:spPr>
          <a:xfrm>
            <a:off x="1752600" y="61802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需要的最小的密钥集合。因为用户获得的密钥越多，他的权利就越大，所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33-line3"/>
          <p:cNvSpPr>
            <a:spLocks noGrp="1"/>
          </p:cNvSpPr>
          <p:nvPr/>
        </p:nvSpPr>
        <p:spPr>
          <a:xfrm>
            <a:off x="1752600" y="68911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能获得的信息就越多。如果用户不诚实，那么可能发生危害信息安全的事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33-line4"/>
          <p:cNvSpPr>
            <a:spLocks noGrp="1"/>
          </p:cNvSpPr>
          <p:nvPr/>
        </p:nvSpPr>
        <p:spPr>
          <a:xfrm>
            <a:off x="1752600" y="760209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密钥管理的原则</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4-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（4）责任分离原则。该原则是指一个密钥应当专职一种功能，不要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34-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让一个密钥兼任几种功能。例如，用于数据加密的密钥不应同时用于用户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4-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认证，用于文件加密的密钥不应同时用于通信加密。正确的做法是一个密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34-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钥用于数据加密，另一个密钥用于用户认证；一个密钥用于文件加密，另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34-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一个密钥用于通信加密。密钥专职的好处在于即使密钥泄露，也只会影响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34-line6"/>
          <p:cNvSpPr>
            <a:spLocks noGrp="1"/>
          </p:cNvSpPr>
          <p:nvPr/>
        </p:nvSpPr>
        <p:spPr>
          <a:xfrm>
            <a:off x="1752600" y="5354955"/>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一种安全，从而使损失最小化。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密钥管理的原则</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5-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（5）密钥分级原则。该原则是指对于一个大的系统（如网络），所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35-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需要的密钥的种类和数量都很多，应当采用密钥分级策略，根据密钥的职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5-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责和重要性，把密钥划分为几个级别。用高级密钥保护低级密钥，最高级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35-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的密钥由安全的物理设施保护。这样做的好处是既可减少受保护的密钥的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35-line5"/>
          <p:cNvSpPr>
            <a:spLocks noGrp="1"/>
          </p:cNvSpPr>
          <p:nvPr/>
        </p:nvSpPr>
        <p:spPr>
          <a:xfrm>
            <a:off x="1752600" y="4644009"/>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数量，又可简化密钥的管理工作。</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36-line1"/>
          <p:cNvSpPr>
            <a:spLocks noGrp="1"/>
          </p:cNvSpPr>
          <p:nvPr/>
        </p:nvSpPr>
        <p:spPr>
          <a:xfrm>
            <a:off x="2667000" y="546925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（6）密钥更换原则。该原则是指密钥必须按时更换，否则即使采用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36-line2"/>
          <p:cNvSpPr>
            <a:spLocks noGrp="1"/>
          </p:cNvSpPr>
          <p:nvPr/>
        </p:nvSpPr>
        <p:spPr>
          <a:xfrm>
            <a:off x="1752600" y="61802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很强的密码算法，只要攻击者截获足够多的密文，密钥被破译的可能性就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36-line3"/>
          <p:cNvSpPr>
            <a:spLocks noGrp="1"/>
          </p:cNvSpPr>
          <p:nvPr/>
        </p:nvSpPr>
        <p:spPr>
          <a:xfrm>
            <a:off x="1752600" y="68911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非常大。理想情况是一个密钥只使用一次，但一次一密是不现实的。密钥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36-line4"/>
          <p:cNvSpPr>
            <a:spLocks noGrp="1"/>
          </p:cNvSpPr>
          <p:nvPr/>
        </p:nvSpPr>
        <p:spPr>
          <a:xfrm>
            <a:off x="1752600" y="760209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更换的频率越高，越有利于安全，但是密钥的管理就越复杂。实际应用时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36-line5"/>
          <p:cNvSpPr>
            <a:spLocks noGrp="1"/>
          </p:cNvSpPr>
          <p:nvPr/>
        </p:nvSpPr>
        <p:spPr>
          <a:xfrm>
            <a:off x="1752600" y="8313039"/>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应当在安全和效率之间折中选取。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密钥管理的原则</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7-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（7）密钥应当有足够的长度。密码安全的一个必要条件是密钥应当</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37-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有足够的长度。密钥越长，密钥空间就越大，攻击就越困难，因而也就越</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7-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安全；但密钥越长，用软硬件实现所消耗的资源就越多。因此，密钥管理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37-line4"/>
          <p:cNvSpPr>
            <a:spLocks noGrp="1"/>
          </p:cNvSpPr>
          <p:nvPr/>
        </p:nvSpPr>
        <p:spPr>
          <a:xfrm>
            <a:off x="1752600" y="3933063"/>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策略也要在安全和效率方面折中选取。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38-line1"/>
          <p:cNvSpPr>
            <a:spLocks noGrp="1"/>
          </p:cNvSpPr>
          <p:nvPr/>
        </p:nvSpPr>
        <p:spPr>
          <a:xfrm>
            <a:off x="2667000" y="4758309"/>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（8）密码体制不同，密钥管理也不同。传统密码体制与公开密钥密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38-line2"/>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码体制是性质不同的两种密码，因此它们在密钥管理方面有很大的不同。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40-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密钥的生命周期是指密钥从产生到最终销毁的整个过程。在这个生命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40-line2"/>
          <p:cNvSpPr>
            <a:spLocks noGrp="1"/>
          </p:cNvSpPr>
          <p:nvPr/>
        </p:nvSpPr>
        <p:spPr>
          <a:xfrm>
            <a:off x="1752600" y="2511171"/>
            <a:ext cx="14458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周期中，密钥处于4种不同的状态：使用前状态，密钥不能用于正常的密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40-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码操作；使用状态，密钥是可用的，并处于正常使用中；使用后状态，密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40-line4"/>
          <p:cNvSpPr>
            <a:spLocks noGrp="1"/>
          </p:cNvSpPr>
          <p:nvPr/>
        </p:nvSpPr>
        <p:spPr>
          <a:xfrm>
            <a:off x="1752600" y="393306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钥不再正常使用，但为了某种目的对其进行离线访问是可行的；过期状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40-line5"/>
          <p:cNvSpPr>
            <a:spLocks noGrp="1"/>
          </p:cNvSpPr>
          <p:nvPr/>
        </p:nvSpPr>
        <p:spPr>
          <a:xfrm>
            <a:off x="1752600" y="4644009"/>
            <a:ext cx="1364475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态，密钥不再使用，所有的密钥记录已被删除。Menezes、Orschot和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40-line6"/>
          <p:cNvSpPr>
            <a:spLocks noGrp="1"/>
          </p:cNvSpPr>
          <p:nvPr/>
        </p:nvSpPr>
        <p:spPr>
          <a:xfrm>
            <a:off x="1752600" y="5354955"/>
            <a:ext cx="1458544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Vanstone提出了一个比较全面的密钥生命周期阶段图，密钥生命周期阶段</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40-line7"/>
          <p:cNvSpPr>
            <a:spLocks noGrp="1"/>
          </p:cNvSpPr>
          <p:nvPr/>
        </p:nvSpPr>
        <p:spPr>
          <a:xfrm>
            <a:off x="1752600" y="6065901"/>
            <a:ext cx="109156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如图15.2所示，密钥生命周期包括以下12个重要阶段。</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4849634" y="1762125"/>
            <a:ext cx="8588732" cy="6381750"/>
          </a:xfrm>
          <a:prstGeom prst="rect">
            <a:avLst/>
          </a:prstGeom>
        </p:spPr>
      </p:pic>
      <p:sp>
        <p:nvSpPr>
          <p:cNvPr id="2" name="p42-line1"/>
          <p:cNvSpPr>
            <a:spLocks noGrp="1"/>
          </p:cNvSpPr>
          <p:nvPr/>
        </p:nvSpPr>
        <p:spPr>
          <a:xfrm>
            <a:off x="6457950" y="8372475"/>
            <a:ext cx="5429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图15.2　密钥生命周期阶段</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43-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（1）用户登记。一个实体成为一个安全域中的授权成员。这一阶段</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43-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包括初始密钥材料（所谓密钥材料是指用于生成密钥的一些系统要素，比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43-line3"/>
          <p:cNvSpPr>
            <a:spLocks noGrp="1"/>
          </p:cNvSpPr>
          <p:nvPr/>
        </p:nvSpPr>
        <p:spPr>
          <a:xfrm>
            <a:off x="1752600" y="3222117"/>
            <a:ext cx="145098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如共享的口令、PIN等）的获取、创建和交换。密钥材料的获取应该通过</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43-line4"/>
          <p:cNvSpPr>
            <a:spLocks noGrp="1"/>
          </p:cNvSpPr>
          <p:nvPr/>
        </p:nvSpPr>
        <p:spPr>
          <a:xfrm>
            <a:off x="1752600" y="3933063"/>
            <a:ext cx="10572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安全的一次性技术实现，如当面交换、可信邮差等。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44-line1"/>
          <p:cNvSpPr>
            <a:spLocks noGrp="1"/>
          </p:cNvSpPr>
          <p:nvPr/>
        </p:nvSpPr>
        <p:spPr>
          <a:xfrm>
            <a:off x="2667000" y="4758309"/>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（2）用户初始化。用户建立用于安全操作的系统。这一阶段包括安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44-line2"/>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装和初始化各种需要的软件和硬件，并使用或安装用户登记阶段获得的密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44-line3"/>
          <p:cNvSpPr>
            <a:spLocks noGrp="1"/>
          </p:cNvSpPr>
          <p:nvPr/>
        </p:nvSpPr>
        <p:spPr>
          <a:xfrm>
            <a:off x="1752600" y="6180201"/>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钥材料。</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45-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（3）密钥生成。一般首先通过密钥生成器借助于某种噪声源产生具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45-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有较好统计分析特性的序列，以保障生成密钥的随机性和不可预测性，然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45-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后再对这些序列进行各种随机性检验，以确保其具有较好的密码特性。不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45-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同的密码体制或密钥类型，其密钥的具体生成方法一般是不同的，与相应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45-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的密码体制或标准相联系。密钥可能由用户自己选择生成也可能由可信的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45-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系统分发。算法的安全性依赖于密钥，如果密钥的生成方法不好，那么整</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45-line7"/>
          <p:cNvSpPr>
            <a:spLocks noGrp="1"/>
          </p:cNvSpPr>
          <p:nvPr/>
        </p:nvSpPr>
        <p:spPr>
          <a:xfrm>
            <a:off x="1752600" y="60659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个系统都将面临安全威胁。因此，对于一个密码系统，如何产生好的密钥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45-line8"/>
          <p:cNvSpPr>
            <a:spLocks noGrp="1"/>
          </p:cNvSpPr>
          <p:nvPr/>
        </p:nvSpPr>
        <p:spPr>
          <a:xfrm>
            <a:off x="1752600" y="6776847"/>
            <a:ext cx="9658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很关键，密钥生成是密钥生命周期的基础阶段。</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46-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（4）密钥安装。将密钥材料安装在一个实体的软件或硬件中，以便</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46-line2"/>
          <p:cNvSpPr>
            <a:spLocks noGrp="1"/>
          </p:cNvSpPr>
          <p:nvPr/>
        </p:nvSpPr>
        <p:spPr>
          <a:xfrm>
            <a:off x="1752600" y="2511171"/>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使用。这一过程其实就是密钥的静态存储，其安全性尤为重要。一般来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46-line3"/>
          <p:cNvSpPr>
            <a:spLocks noGrp="1"/>
          </p:cNvSpPr>
          <p:nvPr/>
        </p:nvSpPr>
        <p:spPr>
          <a:xfrm>
            <a:off x="1752600" y="3222117"/>
            <a:ext cx="145098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说，安装常采用以下技术：手工输入口令或者PIN、磁盘交换、只读存储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46-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设备、芯片卡等。初始密钥材料可用于建立安全的在线会话，从而建立工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46-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作密钥。在此后的更新中，理想的方式是通过一种安全的在线更新技术，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46-line6"/>
          <p:cNvSpPr>
            <a:spLocks noGrp="1"/>
          </p:cNvSpPr>
          <p:nvPr/>
        </p:nvSpPr>
        <p:spPr>
          <a:xfrm>
            <a:off x="1752600" y="5354955"/>
            <a:ext cx="8743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安装新的密钥材料来代替正在使用的密钥。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47-line1"/>
          <p:cNvSpPr>
            <a:spLocks noGrp="1"/>
          </p:cNvSpPr>
          <p:nvPr/>
        </p:nvSpPr>
        <p:spPr>
          <a:xfrm>
            <a:off x="2667000" y="6180201"/>
            <a:ext cx="13087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（5）密钥登记。密钥材料被正式记录在案，并同一定实体绑定起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47-line2"/>
          <p:cNvSpPr>
            <a:spLocks noGrp="1"/>
          </p:cNvSpPr>
          <p:nvPr/>
        </p:nvSpPr>
        <p:spPr>
          <a:xfrm>
            <a:off x="1752600" y="68911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来。一般绑定实体的身份，也可以包括其他属性（如认证信息或权限）。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47-line3"/>
          <p:cNvSpPr>
            <a:spLocks noGrp="1"/>
          </p:cNvSpPr>
          <p:nvPr/>
        </p:nvSpPr>
        <p:spPr>
          <a:xfrm>
            <a:off x="1752600" y="760209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例如，公钥证书可以由一个证书颁发机构创建，并通过一个公开目录或其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47-line4"/>
          <p:cNvSpPr>
            <a:spLocks noGrp="1"/>
          </p:cNvSpPr>
          <p:nvPr/>
        </p:nvSpPr>
        <p:spPr>
          <a:xfrm>
            <a:off x="1752600" y="8313039"/>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他方式使其他用户查询。</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48-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（6）密钥的正常使用。利用密钥进行正常的密码操作，如加密、解</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48-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密、签名、验证等。密钥生命周期的目的就是要方便密钥材料的使用，一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48-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般来说，在有效期内密钥都可以使用。在密钥使用中密钥必须以明文形式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48-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出现，因此这阶段往往是攻击者重点关注阶段之一，通常需要对密钥使用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48-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环境进行保护。当然，密钥使用也可以进一步细分。例如，对于非对称密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48-line6"/>
          <p:cNvSpPr>
            <a:spLocks noGrp="1"/>
          </p:cNvSpPr>
          <p:nvPr/>
        </p:nvSpPr>
        <p:spPr>
          <a:xfrm>
            <a:off x="1752600" y="5354955"/>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钥对而言，某些时刻公钥对于加密不再有效，然而私钥对于解密仍然有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48-line7"/>
          <p:cNvSpPr>
            <a:spLocks noGrp="1"/>
          </p:cNvSpPr>
          <p:nvPr/>
        </p:nvSpPr>
        <p:spPr>
          <a:xfrm>
            <a:off x="1752600" y="6065901"/>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0" name="p49-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（7）密钥更新。在密钥有效期截止之前，使用中的密钥材料被新的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49-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密钥材料替代。更新的原因可能是密钥使用有效期将到，也可能是正在使</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49-line3"/>
          <p:cNvSpPr>
            <a:spLocks noGrp="1"/>
          </p:cNvSpPr>
          <p:nvPr/>
        </p:nvSpPr>
        <p:spPr>
          <a:xfrm>
            <a:off x="1752600" y="3222117"/>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用的密钥出现泄露。密钥更新的两种常用方法：一种是重新生成新的密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49-line4"/>
          <p:cNvSpPr>
            <a:spLocks noGrp="1"/>
          </p:cNvSpPr>
          <p:nvPr/>
        </p:nvSpPr>
        <p:spPr>
          <a:xfrm>
            <a:off x="1752600" y="3933063"/>
            <a:ext cx="9658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钥，另一种是在原有密钥基础上生成新的密钥。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50-line1"/>
          <p:cNvSpPr>
            <a:spLocks noGrp="1"/>
          </p:cNvSpPr>
          <p:nvPr/>
        </p:nvSpPr>
        <p:spPr>
          <a:xfrm>
            <a:off x="2667000" y="4758309"/>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（8）密钥备份。将密钥材料存储在独立、安全的介质上，以便需要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50-line2"/>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时恢复密钥。备份是密钥处于使用状态时的短期存储，为密钥的恢复提供</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50-line3"/>
          <p:cNvSpPr>
            <a:spLocks noGrp="1"/>
          </p:cNvSpPr>
          <p:nvPr/>
        </p:nvSpPr>
        <p:spPr>
          <a:xfrm>
            <a:off x="1752600" y="61802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密钥源，要求以安全的方式存储密钥，防止密钥泄露，且不同等级和类型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50-line4"/>
          <p:cNvSpPr>
            <a:spLocks noGrp="1"/>
          </p:cNvSpPr>
          <p:nvPr/>
        </p:nvSpPr>
        <p:spPr>
          <a:xfrm>
            <a:off x="1752600" y="68911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的密钥采取不同的方法。密钥备份主要有两种方法：一种是使用秘密共享</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50-line5"/>
          <p:cNvSpPr>
            <a:spLocks noGrp="1"/>
          </p:cNvSpPr>
          <p:nvPr/>
        </p:nvSpPr>
        <p:spPr>
          <a:xfrm>
            <a:off x="1752600" y="7602093"/>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协议，另一种是进行密钥托管。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51-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（9）密钥恢复。从备份或档案中检索密钥材料，将其恢复。如果密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51-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钥材料遗失的同时没有安全威胁的风险（如设备损坏或者口令遗忘），那</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51-line3"/>
          <p:cNvSpPr>
            <a:spLocks noGrp="1"/>
          </p:cNvSpPr>
          <p:nvPr/>
        </p:nvSpPr>
        <p:spPr>
          <a:xfrm>
            <a:off x="1752600" y="3222117"/>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么可以从原有的安全备份中恢复密钥。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52-line1"/>
          <p:cNvSpPr>
            <a:spLocks noGrp="1"/>
          </p:cNvSpPr>
          <p:nvPr/>
        </p:nvSpPr>
        <p:spPr>
          <a:xfrm>
            <a:off x="2667000" y="4047363"/>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（10）密钥存档。当密钥不再正常时，需要对其进行存档，以便在某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52-line2"/>
          <p:cNvSpPr>
            <a:spLocks noGrp="1"/>
          </p:cNvSpPr>
          <p:nvPr/>
        </p:nvSpPr>
        <p:spPr>
          <a:xfrm>
            <a:off x="1752600" y="47583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种情况下特别需要时（如解决争议）能够对其进行检索并在需要时恢复密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52-line3"/>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钥。存档是指对过了有效期的密钥进行长期的离线保存，处于密钥的使用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52-line4"/>
          <p:cNvSpPr>
            <a:spLocks noGrp="1"/>
          </p:cNvSpPr>
          <p:nvPr/>
        </p:nvSpPr>
        <p:spPr>
          <a:xfrm>
            <a:off x="1752600" y="6180201"/>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后的状态。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53-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（11）密钥撤销。在原定的密钥有效期截止之前，如果出现密钥泄露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53-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或任务中止，那么需要将正在使用的密钥置为无效，即撤销。但若需要继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53-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续进行任务，则将重新生成密钥；若用该密钥保密的信息没过期，则需要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53-line4"/>
          <p:cNvSpPr>
            <a:spLocks noGrp="1"/>
          </p:cNvSpPr>
          <p:nvPr/>
        </p:nvSpPr>
        <p:spPr>
          <a:xfrm>
            <a:off x="1752600" y="3933063"/>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把此密钥备份。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54-line1"/>
          <p:cNvSpPr>
            <a:spLocks noGrp="1"/>
          </p:cNvSpPr>
          <p:nvPr/>
        </p:nvSpPr>
        <p:spPr>
          <a:xfrm>
            <a:off x="2667000" y="4758309"/>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（12）密钥注销与销毁。当不再需要保留密钥或者保留与密钥相关联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54-line2"/>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的内容的时候，这个密钥应当注销，并销毁密钥的所有副本，清除所有与</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54-line3"/>
          <p:cNvSpPr>
            <a:spLocks noGrp="1"/>
          </p:cNvSpPr>
          <p:nvPr/>
        </p:nvSpPr>
        <p:spPr>
          <a:xfrm>
            <a:off x="1752600" y="6180201"/>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这个密钥相关的痕迹。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55-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在密钥生命周期中，初始密钥生成、密钥更新过程中都会使用一种重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55-line2"/>
          <p:cNvSpPr>
            <a:spLocks noGrp="1"/>
          </p:cNvSpPr>
          <p:nvPr/>
        </p:nvSpPr>
        <p:spPr>
          <a:xfrm>
            <a:off x="1752600" y="2511171"/>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要的密钥协议，即密钥建立协议，密钥建立协议包括密钥分发和密钥协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55-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商。密钥分发是指一方生成一个密钥后，通过某种方式将其发放给其他参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55-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与者。密钥协商是指参与保密通信的各方通过协商谈判生成一个密钥。密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55-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钥建立协议是密钥管理的核心部分，同时也是密码学研究的重要领域，本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55-line6"/>
          <p:cNvSpPr>
            <a:spLocks noGrp="1"/>
          </p:cNvSpPr>
          <p:nvPr/>
        </p:nvSpPr>
        <p:spPr>
          <a:xfrm>
            <a:off x="1752600" y="5354955"/>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章将重点介绍这方面内容。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密钥管理全过程</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15.1.3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56-line1"/>
          <p:cNvSpPr>
            <a:spLocks noGrp="1"/>
          </p:cNvSpPr>
          <p:nvPr/>
        </p:nvSpPr>
        <p:spPr>
          <a:xfrm>
            <a:off x="2667000" y="1800225"/>
            <a:ext cx="1365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需要指出的是，图15.2描述的生命周期主要应用于公私钥对，尤其公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56-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钥目录就是针对公钥的真实性而建立的，具体的内容请参阅有关数字证书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56-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的内容。对称密钥的生命周期（包括密钥加密和会话密钥）一般不会太复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56-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杂，如会话密钥一般无须注册、备份、撤销或归档。另外，需要指出，图</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56-line5"/>
          <p:cNvSpPr>
            <a:spLocks noGrp="1"/>
          </p:cNvSpPr>
          <p:nvPr/>
        </p:nvSpPr>
        <p:spPr>
          <a:xfrm>
            <a:off x="1752600" y="4644009"/>
            <a:ext cx="81724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15.2描述的生命周期仅涉及单一参与方。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326989" y="2834725"/>
            <a:ext cx="3634019"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15.2</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密钥分配技术</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密钥分配技术</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58-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密钥分配是指系统中的一个成员先选择一个秘密密钥，然后将它传送</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 name="p58-line2"/>
          <p:cNvSpPr>
            <a:spLocks noGrp="1"/>
          </p:cNvSpPr>
          <p:nvPr/>
        </p:nvSpPr>
        <p:spPr>
          <a:xfrm>
            <a:off x="1752600" y="2511171"/>
            <a:ext cx="11029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给另外一个成员。在下面的一些方案中，有一个可信方</a:t>
            </a:r>
            <a:r>
              <a:rPr lang="zh-CN" altLang="es-ES" dirty="0"/>
              <a:t>（</a:t>
            </a:r>
            <a:r>
              <a:rPr lang="es-ES" altLang="zh-CN" dirty="0"/>
              <a:t>Trusted Authority</a:t>
            </a:r>
            <a:r>
              <a:rPr lang="zh-CN" altLang="es-ES" dirty="0"/>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4" name="p58-line3"/>
          <p:cNvSpPr>
            <a:spLocks noGrp="1"/>
          </p:cNvSpPr>
          <p:nvPr/>
        </p:nvSpPr>
        <p:spPr>
          <a:xfrm>
            <a:off x="1752600" y="3222117"/>
            <a:ext cx="1447095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记为TA，负责验证用户身份、选择和传送密钥给</a:t>
            </a:r>
            <a:r>
              <a:rPr lang="zh-CN" altLang="en-US" dirty="0"/>
              <a:t>用户等。</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密钥分配技术</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0" name="p59-line1"/>
          <p:cNvSpPr>
            <a:spLocks noGrp="1"/>
          </p:cNvSpPr>
          <p:nvPr/>
        </p:nvSpPr>
        <p:spPr>
          <a:xfrm>
            <a:off x="2667000" y="1800225"/>
            <a:ext cx="10572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首先介绍一个最简单的密钥预分配方案。设想一个有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59-line1"/>
          <p:cNvSpPr>
            <a:spLocks noGrp="1"/>
          </p:cNvSpPr>
          <p:nvPr/>
        </p:nvSpPr>
        <p:spPr>
          <a:xfrm>
            <a:off x="13182600" y="1800225"/>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 name="p59-line1"/>
          <p:cNvSpPr>
            <a:spLocks noGrp="1"/>
          </p:cNvSpPr>
          <p:nvPr/>
        </p:nvSpPr>
        <p:spPr>
          <a:xfrm>
            <a:off x="13411200" y="1800225"/>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个用户的不安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59-line2"/>
          <p:cNvSpPr>
            <a:spLocks noGrp="1"/>
          </p:cNvSpPr>
          <p:nvPr/>
        </p:nvSpPr>
        <p:spPr>
          <a:xfrm>
            <a:off x="1752600" y="2511171"/>
            <a:ext cx="1473784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全网络，当用户U、V想进行保密通信时，先向TA提出申请，TA为他们随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59-line3"/>
          <p:cNvSpPr>
            <a:spLocks noGrp="1"/>
          </p:cNvSpPr>
          <p:nvPr/>
        </p:nvSpPr>
        <p:spPr>
          <a:xfrm>
            <a:off x="1752600" y="3222117"/>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机选择一个会话密钥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59-line3"/>
          <p:cNvSpPr>
            <a:spLocks noGrp="1"/>
          </p:cNvSpPr>
          <p:nvPr/>
        </p:nvSpPr>
        <p:spPr>
          <a:xfrm>
            <a:off x="5867400" y="32221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8" name="p59-line3"/>
          <p:cNvSpPr>
            <a:spLocks noGrp="1"/>
          </p:cNvSpPr>
          <p:nvPr/>
        </p:nvSpPr>
        <p:spPr>
          <a:xfrm>
            <a:off x="6197536" y="3222117"/>
            <a:ext cx="10115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，并通过一个安全信道（密钥的传送可以不在网络</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59-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上进行，因为网络是不安全的）传送给他们。这个方法是无条件安全的，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59-line5"/>
          <p:cNvSpPr>
            <a:spLocks noGrp="1"/>
          </p:cNvSpPr>
          <p:nvPr/>
        </p:nvSpPr>
        <p:spPr>
          <a:xfrm>
            <a:off x="1752600" y="4644009"/>
            <a:ext cx="148397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但需要TA和网络上的每个用户之间共享一个安全信道。而且每个用户必须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59-line6"/>
          <p:cNvSpPr>
            <a:spLocks noGrp="1"/>
          </p:cNvSpPr>
          <p:nvPr/>
        </p:nvSpPr>
        <p:spPr>
          <a:xfrm>
            <a:off x="1752600" y="542375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存储</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3">
            <a:clrChange>
              <a:clrFrom>
                <a:srgbClr val="FFFFFF"/>
              </a:clrFrom>
              <a:clrTo>
                <a:srgbClr val="FFFFFF">
                  <a:alpha val="0"/>
                </a:srgbClr>
              </a:clrTo>
            </a:clrChange>
          </a:blip>
          <a:stretch>
            <a:fillRect/>
          </a:stretch>
        </p:blipFill>
        <p:spPr>
          <a:xfrm>
            <a:off x="2705644" y="5452926"/>
            <a:ext cx="842010" cy="481149"/>
          </a:xfrm>
          <a:prstGeom prst="rect">
            <a:avLst/>
          </a:prstGeom>
        </p:spPr>
      </p:pic>
      <p:sp>
        <p:nvSpPr>
          <p:cNvPr id="24" name="p59-line6"/>
          <p:cNvSpPr>
            <a:spLocks noGrp="1"/>
          </p:cNvSpPr>
          <p:nvPr/>
        </p:nvSpPr>
        <p:spPr>
          <a:xfrm>
            <a:off x="3586299" y="5423753"/>
            <a:ext cx="56957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个密钥，TA需要安全地传送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4">
            <a:clrChange>
              <a:clrFrom>
                <a:srgbClr val="FFFFFF"/>
              </a:clrFrom>
              <a:clrTo>
                <a:srgbClr val="FFFFFF">
                  <a:alpha val="0"/>
                </a:srgbClr>
              </a:clrTo>
            </a:clrChange>
          </a:blip>
          <a:stretch>
            <a:fillRect/>
          </a:stretch>
        </p:blipFill>
        <p:spPr>
          <a:xfrm>
            <a:off x="9253483" y="5361615"/>
            <a:ext cx="1637211" cy="663772"/>
          </a:xfrm>
          <a:prstGeom prst="rect">
            <a:avLst/>
          </a:prstGeom>
        </p:spPr>
      </p:pic>
      <p:sp>
        <p:nvSpPr>
          <p:cNvPr id="26" name="p59-line6"/>
          <p:cNvSpPr>
            <a:spLocks noGrp="1"/>
          </p:cNvSpPr>
          <p:nvPr/>
        </p:nvSpPr>
        <p:spPr>
          <a:xfrm>
            <a:off x="10919269" y="5423753"/>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个密钥（有时称为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5">
            <a:clrChange>
              <a:clrFrom>
                <a:srgbClr val="FFFFFF"/>
              </a:clrFrom>
              <a:clrTo>
                <a:srgbClr val="FFFFFF">
                  <a:alpha val="0"/>
                </a:srgbClr>
              </a:clrTo>
            </a:clrChange>
          </a:blip>
          <a:stretch>
            <a:fillRect/>
          </a:stretch>
        </p:blipFill>
        <p:spPr>
          <a:xfrm>
            <a:off x="14605444" y="5412831"/>
            <a:ext cx="481149" cy="561340"/>
          </a:xfrm>
          <a:prstGeom prst="rect">
            <a:avLst/>
          </a:prstGeom>
        </p:spPr>
      </p:pic>
      <p:sp>
        <p:nvSpPr>
          <p:cNvPr id="28" name="p59-line6"/>
          <p:cNvSpPr>
            <a:spLocks noGrp="1"/>
          </p:cNvSpPr>
          <p:nvPr/>
        </p:nvSpPr>
        <p:spPr>
          <a:xfrm>
            <a:off x="15115168" y="542375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问题</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59-line7"/>
          <p:cNvSpPr>
            <a:spLocks noGrp="1"/>
          </p:cNvSpPr>
          <p:nvPr/>
        </p:nvSpPr>
        <p:spPr>
          <a:xfrm>
            <a:off x="1752600" y="6203496"/>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）。甚至对一个相当小的网络，也可能代价变得很大，因此不是一个实际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59-line8"/>
          <p:cNvSpPr>
            <a:spLocks noGrp="1"/>
          </p:cNvSpPr>
          <p:nvPr/>
        </p:nvSpPr>
        <p:spPr>
          <a:xfrm>
            <a:off x="1752600" y="6914442"/>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的解决方案。显然，试图减少安全信道的数目和每个用户需要存储的密钥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59-line9"/>
          <p:cNvSpPr>
            <a:spLocks noGrp="1"/>
          </p:cNvSpPr>
          <p:nvPr/>
        </p:nvSpPr>
        <p:spPr>
          <a:xfrm>
            <a:off x="1752600" y="7625388"/>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量是人们关心的问题。</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60-line1"/>
          <p:cNvSpPr>
            <a:spLocks noGrp="1"/>
          </p:cNvSpPr>
          <p:nvPr/>
        </p:nvSpPr>
        <p:spPr>
          <a:xfrm>
            <a:off x="2667000" y="8402689"/>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当考虑密钥分配所使用的密码技术时，通常区分为对称密码体制与公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60-line2"/>
          <p:cNvSpPr>
            <a:spLocks noGrp="1"/>
          </p:cNvSpPr>
          <p:nvPr/>
        </p:nvSpPr>
        <p:spPr>
          <a:xfrm>
            <a:off x="1752600" y="9113635"/>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钥密码体制</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0" name="p62-line1"/>
          <p:cNvSpPr>
            <a:spLocks noGrp="1"/>
          </p:cNvSpPr>
          <p:nvPr/>
        </p:nvSpPr>
        <p:spPr>
          <a:xfrm>
            <a:off x="1752600" y="1800225"/>
            <a:ext cx="4947285"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1．密钥分配的基本方法</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2" name="p63-line1"/>
          <p:cNvSpPr>
            <a:spLocks noGrp="1"/>
          </p:cNvSpPr>
          <p:nvPr/>
        </p:nvSpPr>
        <p:spPr>
          <a:xfrm>
            <a:off x="2667000" y="262547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两个用户（如主机、进程、应用程序）在用对称密码体制进行保密通</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63-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信时，首先必须有一个共享的秘密密钥，且为防止攻击者得到密钥，还必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63-line3"/>
          <p:cNvSpPr>
            <a:spLocks noGrp="1"/>
          </p:cNvSpPr>
          <p:nvPr/>
        </p:nvSpPr>
        <p:spPr>
          <a:xfrm>
            <a:off x="1752600" y="4047363"/>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须时常更新密钥。因此，密码系统的强度也依赖于密钥分配技术。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64-line1"/>
          <p:cNvSpPr>
            <a:spLocks noGrp="1"/>
          </p:cNvSpPr>
          <p:nvPr/>
        </p:nvSpPr>
        <p:spPr>
          <a:xfrm>
            <a:off x="2667000" y="4872609"/>
            <a:ext cx="9836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两个用户A和B获得共享密钥的方法有以下几种。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65-line1"/>
          <p:cNvSpPr>
            <a:spLocks noGrp="1"/>
          </p:cNvSpPr>
          <p:nvPr/>
        </p:nvSpPr>
        <p:spPr>
          <a:xfrm>
            <a:off x="2667000" y="5697855"/>
            <a:ext cx="9150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（1）密钥由A选取并通过物理手段发送给B。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66-line1"/>
          <p:cNvSpPr>
            <a:spLocks noGrp="1"/>
          </p:cNvSpPr>
          <p:nvPr/>
        </p:nvSpPr>
        <p:spPr>
          <a:xfrm>
            <a:off x="2667000" y="6523101"/>
            <a:ext cx="10979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（2）密钥由第三方选取并通过物理手段发送给A和B。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67-line1"/>
          <p:cNvSpPr>
            <a:spLocks noGrp="1"/>
          </p:cNvSpPr>
          <p:nvPr/>
        </p:nvSpPr>
        <p:spPr>
          <a:xfrm>
            <a:off x="2667000" y="7348347"/>
            <a:ext cx="13722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（3）如果A、B事先已有一个密钥，其中一方选取新密钥后，用已有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67-line2"/>
          <p:cNvSpPr>
            <a:spLocks noGrp="1"/>
          </p:cNvSpPr>
          <p:nvPr/>
        </p:nvSpPr>
        <p:spPr>
          <a:xfrm>
            <a:off x="1752600" y="8059293"/>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的密钥加密新密钥并发送给另一方。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68-line1"/>
          <p:cNvSpPr>
            <a:spLocks noGrp="1"/>
          </p:cNvSpPr>
          <p:nvPr/>
        </p:nvSpPr>
        <p:spPr>
          <a:xfrm>
            <a:off x="2667000" y="1800225"/>
            <a:ext cx="1359598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（4）如果A和B与第三方C分别有一个保密信道，那么C为A、B选取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68-line2"/>
          <p:cNvSpPr>
            <a:spLocks noGrp="1"/>
          </p:cNvSpPr>
          <p:nvPr/>
        </p:nvSpPr>
        <p:spPr>
          <a:xfrm>
            <a:off x="1752600" y="2511171"/>
            <a:ext cx="9379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密钥后，分别在两个保密信道上发送给A、B。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69-line1"/>
          <p:cNvSpPr>
            <a:spLocks noGrp="1"/>
          </p:cNvSpPr>
          <p:nvPr/>
        </p:nvSpPr>
        <p:spPr>
          <a:xfrm>
            <a:off x="2667000" y="3336417"/>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前两种方法称为人工发送。在通信网中，若只有个别用户想进行保密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69-line2"/>
          <p:cNvSpPr>
            <a:spLocks noGrp="1"/>
          </p:cNvSpPr>
          <p:nvPr/>
        </p:nvSpPr>
        <p:spPr>
          <a:xfrm>
            <a:off x="1752600" y="40473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通信，密钥的人工发送还是可行的。然而如果所有用户都要求支持加密服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69-line3"/>
          <p:cNvSpPr>
            <a:spLocks noGrp="1"/>
          </p:cNvSpPr>
          <p:nvPr/>
        </p:nvSpPr>
        <p:spPr>
          <a:xfrm>
            <a:off x="1752600" y="4758309"/>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务，那么任意一对希望通信的用户都必须有一个共享密钥。如果有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69-line3"/>
          <p:cNvSpPr>
            <a:spLocks noGrp="1"/>
          </p:cNvSpPr>
          <p:nvPr/>
        </p:nvSpPr>
        <p:spPr>
          <a:xfrm>
            <a:off x="15011400" y="4758309"/>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9" name="p69-line3"/>
          <p:cNvSpPr>
            <a:spLocks noGrp="1"/>
          </p:cNvSpPr>
          <p:nvPr/>
        </p:nvSpPr>
        <p:spPr>
          <a:xfrm>
            <a:off x="15240000" y="475830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69-line4"/>
          <p:cNvSpPr>
            <a:spLocks noGrp="1"/>
          </p:cNvSpPr>
          <p:nvPr/>
        </p:nvSpPr>
        <p:spPr>
          <a:xfrm>
            <a:off x="1752600" y="5552204"/>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户，那么密钥数目为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3">
            <a:clrChange>
              <a:clrFrom>
                <a:srgbClr val="FFFFFF"/>
              </a:clrFrom>
              <a:clrTo>
                <a:srgbClr val="FFFFFF">
                  <a:alpha val="0"/>
                </a:srgbClr>
              </a:clrTo>
            </a:clrChange>
          </a:blip>
          <a:stretch>
            <a:fillRect/>
          </a:stretch>
        </p:blipFill>
        <p:spPr>
          <a:xfrm>
            <a:off x="5945250" y="5469255"/>
            <a:ext cx="1950142" cy="705394"/>
          </a:xfrm>
          <a:prstGeom prst="rect">
            <a:avLst/>
          </a:prstGeom>
        </p:spPr>
      </p:pic>
      <p:sp>
        <p:nvSpPr>
          <p:cNvPr id="22" name="p69-line4"/>
          <p:cNvSpPr>
            <a:spLocks noGrp="1"/>
          </p:cNvSpPr>
          <p:nvPr/>
        </p:nvSpPr>
        <p:spPr>
          <a:xfrm>
            <a:off x="7973241" y="555220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。因此，当</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69-line4"/>
          <p:cNvSpPr>
            <a:spLocks noGrp="1"/>
          </p:cNvSpPr>
          <p:nvPr/>
        </p:nvSpPr>
        <p:spPr>
          <a:xfrm>
            <a:off x="10259241" y="5552204"/>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4" name="p69-line4"/>
          <p:cNvSpPr>
            <a:spLocks noGrp="1"/>
          </p:cNvSpPr>
          <p:nvPr/>
        </p:nvSpPr>
        <p:spPr>
          <a:xfrm>
            <a:off x="10487841" y="5552204"/>
            <a:ext cx="6000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很大时，密钥分配的代价非常</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69-line5"/>
          <p:cNvSpPr>
            <a:spLocks noGrp="1"/>
          </p:cNvSpPr>
          <p:nvPr/>
        </p:nvSpPr>
        <p:spPr>
          <a:xfrm>
            <a:off x="1752600" y="6346099"/>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大，密钥的人工发送是不可行的。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70-line1"/>
          <p:cNvSpPr>
            <a:spLocks noGrp="1"/>
          </p:cNvSpPr>
          <p:nvPr/>
        </p:nvSpPr>
        <p:spPr>
          <a:xfrm>
            <a:off x="2667000" y="717134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对于（3），攻击者一旦获得一个密钥就可获取以后所有的密钥，而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70-line2"/>
          <p:cNvSpPr>
            <a:spLocks noGrp="1"/>
          </p:cNvSpPr>
          <p:nvPr/>
        </p:nvSpPr>
        <p:spPr>
          <a:xfrm>
            <a:off x="1752600" y="7882291"/>
            <a:ext cx="1194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且用这种方法对所有用户分配初始密钥时，代价仍然很大。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71-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（4）比较常用，其中的第三方通常是一个负责为用户分配密钥的密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71-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钥分配中心。这时每个用户必须和密钥分配中心有一个共享密钥，称为主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71-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密钥。通过主密钥分配给一对用户的密钥称为会话密钥，用于这一对用户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71-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之间的保密通信。通信完成后，会话密钥即被销毁。如上所述，如果用户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71-line5"/>
          <p:cNvSpPr>
            <a:spLocks noGrp="1"/>
          </p:cNvSpPr>
          <p:nvPr/>
        </p:nvSpPr>
        <p:spPr>
          <a:xfrm>
            <a:off x="1752600" y="4726958"/>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71-line5"/>
          <p:cNvSpPr>
            <a:spLocks noGrp="1"/>
          </p:cNvSpPr>
          <p:nvPr/>
        </p:nvSpPr>
        <p:spPr>
          <a:xfrm>
            <a:off x="2667000" y="4726958"/>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9" name="p71-line5"/>
          <p:cNvSpPr>
            <a:spLocks noGrp="1"/>
          </p:cNvSpPr>
          <p:nvPr/>
        </p:nvSpPr>
        <p:spPr>
          <a:xfrm>
            <a:off x="2895600" y="4726958"/>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，那么会话密钥数为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3">
            <a:clrChange>
              <a:clrFrom>
                <a:srgbClr val="FFFFFF"/>
              </a:clrFrom>
              <a:clrTo>
                <a:srgbClr val="FFFFFF">
                  <a:alpha val="0"/>
                </a:srgbClr>
              </a:clrTo>
            </a:clrChange>
          </a:blip>
          <a:stretch>
            <a:fillRect/>
          </a:stretch>
        </p:blipFill>
        <p:spPr>
          <a:xfrm>
            <a:off x="7108932" y="4644009"/>
            <a:ext cx="1950142" cy="705394"/>
          </a:xfrm>
          <a:prstGeom prst="rect">
            <a:avLst/>
          </a:prstGeom>
        </p:spPr>
      </p:pic>
      <p:sp>
        <p:nvSpPr>
          <p:cNvPr id="21" name="p71-line5"/>
          <p:cNvSpPr>
            <a:spLocks noGrp="1"/>
          </p:cNvSpPr>
          <p:nvPr/>
        </p:nvSpPr>
        <p:spPr>
          <a:xfrm>
            <a:off x="9157607" y="4726958"/>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，但主密钥数却只需要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71-line5"/>
          <p:cNvSpPr>
            <a:spLocks noGrp="1"/>
          </p:cNvSpPr>
          <p:nvPr/>
        </p:nvSpPr>
        <p:spPr>
          <a:xfrm>
            <a:off x="13729607" y="4726958"/>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3" name="p71-line5"/>
          <p:cNvSpPr>
            <a:spLocks noGrp="1"/>
          </p:cNvSpPr>
          <p:nvPr/>
        </p:nvSpPr>
        <p:spPr>
          <a:xfrm>
            <a:off x="13958207" y="4726958"/>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个，因此主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71-line6"/>
          <p:cNvSpPr>
            <a:spLocks noGrp="1"/>
          </p:cNvSpPr>
          <p:nvPr/>
        </p:nvSpPr>
        <p:spPr>
          <a:xfrm>
            <a:off x="1752600" y="5520853"/>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密钥可通过物理手段发送。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72-line1"/>
          <p:cNvSpPr>
            <a:spLocks noGrp="1"/>
          </p:cNvSpPr>
          <p:nvPr/>
        </p:nvSpPr>
        <p:spPr>
          <a:xfrm>
            <a:off x="1752600" y="1800225"/>
            <a:ext cx="3548824"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2．密钥分配实例</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73-line1"/>
          <p:cNvSpPr>
            <a:spLocks noGrp="1"/>
          </p:cNvSpPr>
          <p:nvPr/>
        </p:nvSpPr>
        <p:spPr>
          <a:xfrm>
            <a:off x="2667000" y="2625471"/>
            <a:ext cx="138367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密钥分配实例如图15.3所示。假定两个用户A、B分别与密钥分配中心</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73-line2"/>
          <p:cNvSpPr>
            <a:spLocks noGrp="1"/>
          </p:cNvSpPr>
          <p:nvPr/>
        </p:nvSpPr>
        <p:spPr>
          <a:xfrm>
            <a:off x="1752600" y="3336417"/>
            <a:ext cx="51372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KDC有一个共享的主密钥</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0" name="p73-line2"/>
          <p:cNvSpPr>
            <a:spLocks noGrp="1"/>
          </p:cNvSpPr>
          <p:nvPr/>
        </p:nvSpPr>
        <p:spPr>
          <a:xfrm>
            <a:off x="6832664" y="33364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dirty="0">
                <a:latin typeface="Times New Roman" panose="02020603050405020304" pitchFamily="18" charset="0"/>
                <a:ea typeface="宋体" panose="02010600030101010101" pitchFamily="2" charset="-122"/>
                <a:cs typeface="字由点字典黑 2"/>
                <a:sym typeface="字由点字典黑 2"/>
              </a:rPr>
              <a:t>K</a:t>
            </a:r>
            <a:endParaRPr sz="3600" b="0" i="1" dirty="0">
              <a:latin typeface="Times New Roman" panose="02020603050405020304" pitchFamily="18" charset="0"/>
              <a:ea typeface="宋体" panose="02010600030101010101" pitchFamily="2" charset="-122"/>
              <a:cs typeface="字由点字典黑 2"/>
              <a:sym typeface="字由点字典黑 2"/>
            </a:endParaRPr>
          </a:p>
        </p:txBody>
      </p:sp>
      <p:sp>
        <p:nvSpPr>
          <p:cNvPr id="17" name="p73-line2-subscript"/>
          <p:cNvSpPr>
            <a:spLocks noGrp="1"/>
          </p:cNvSpPr>
          <p:nvPr/>
        </p:nvSpPr>
        <p:spPr>
          <a:xfrm>
            <a:off x="7148406" y="3543300"/>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A</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8" name="p73-line2"/>
          <p:cNvSpPr>
            <a:spLocks noGrp="1"/>
          </p:cNvSpPr>
          <p:nvPr/>
        </p:nvSpPr>
        <p:spPr>
          <a:xfrm>
            <a:off x="7380690" y="333641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和</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9" name="p73-line2"/>
          <p:cNvSpPr>
            <a:spLocks noGrp="1"/>
          </p:cNvSpPr>
          <p:nvPr/>
        </p:nvSpPr>
        <p:spPr>
          <a:xfrm>
            <a:off x="7837890" y="33364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0" name="p73-line2-subscript"/>
          <p:cNvSpPr>
            <a:spLocks noGrp="1"/>
          </p:cNvSpPr>
          <p:nvPr/>
        </p:nvSpPr>
        <p:spPr>
          <a:xfrm>
            <a:off x="8161698" y="3603117"/>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B</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1" name="p73-line2"/>
          <p:cNvSpPr>
            <a:spLocks noGrp="1"/>
          </p:cNvSpPr>
          <p:nvPr/>
        </p:nvSpPr>
        <p:spPr>
          <a:xfrm>
            <a:off x="8369320" y="3336417"/>
            <a:ext cx="8007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，A希望与B建立一个共享的一次性会话</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73-line3"/>
          <p:cNvSpPr>
            <a:spLocks noGrp="1"/>
          </p:cNvSpPr>
          <p:nvPr/>
        </p:nvSpPr>
        <p:spPr>
          <a:xfrm>
            <a:off x="1752600" y="4047363"/>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密钥，可通过以下几步来完成。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3390478" y="1762125"/>
            <a:ext cx="11507044" cy="6381750"/>
          </a:xfrm>
          <a:prstGeom prst="rect">
            <a:avLst/>
          </a:prstGeom>
        </p:spPr>
      </p:pic>
      <p:sp>
        <p:nvSpPr>
          <p:cNvPr id="2" name="p75-line1"/>
          <p:cNvSpPr>
            <a:spLocks noGrp="1"/>
          </p:cNvSpPr>
          <p:nvPr/>
        </p:nvSpPr>
        <p:spPr>
          <a:xfrm>
            <a:off x="6915150" y="8372475"/>
            <a:ext cx="4514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图15.3　密钥分配实例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0" name="p76-line1"/>
          <p:cNvSpPr>
            <a:spLocks noGrp="1"/>
          </p:cNvSpPr>
          <p:nvPr/>
        </p:nvSpPr>
        <p:spPr>
          <a:xfrm>
            <a:off x="2667000" y="1800225"/>
            <a:ext cx="13811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① A向KDC发出会话密钥请求。表示请求的消息由两个数据项组成，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76-line2"/>
          <p:cNvSpPr>
            <a:spLocks noGrp="1"/>
          </p:cNvSpPr>
          <p:nvPr/>
        </p:nvSpPr>
        <p:spPr>
          <a:xfrm>
            <a:off x="1752600" y="2511171"/>
            <a:ext cx="107506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第1项是A和B的身份，第2项是这次业务的唯一识别符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76-line2"/>
          <p:cNvSpPr>
            <a:spLocks noGrp="1"/>
          </p:cNvSpPr>
          <p:nvPr/>
        </p:nvSpPr>
        <p:spPr>
          <a:xfrm>
            <a:off x="12446127" y="251117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 name="p76-line2-subscript"/>
          <p:cNvSpPr>
            <a:spLocks noGrp="1"/>
          </p:cNvSpPr>
          <p:nvPr/>
        </p:nvSpPr>
        <p:spPr>
          <a:xfrm>
            <a:off x="12776264" y="264833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76-line2"/>
          <p:cNvSpPr>
            <a:spLocks noGrp="1"/>
          </p:cNvSpPr>
          <p:nvPr/>
        </p:nvSpPr>
        <p:spPr>
          <a:xfrm>
            <a:off x="12927140" y="2511171"/>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76-line2"/>
          <p:cNvSpPr>
            <a:spLocks noGrp="1"/>
          </p:cNvSpPr>
          <p:nvPr/>
        </p:nvSpPr>
        <p:spPr>
          <a:xfrm>
            <a:off x="13841540" y="251117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8" name="p76-line2-subscript"/>
          <p:cNvSpPr>
            <a:spLocks noGrp="1"/>
          </p:cNvSpPr>
          <p:nvPr/>
        </p:nvSpPr>
        <p:spPr>
          <a:xfrm>
            <a:off x="14171676" y="264833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76-line2"/>
          <p:cNvSpPr>
            <a:spLocks noGrp="1"/>
          </p:cNvSpPr>
          <p:nvPr/>
        </p:nvSpPr>
        <p:spPr>
          <a:xfrm>
            <a:off x="14322552" y="2511171"/>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为一次性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76-line3"/>
          <p:cNvSpPr>
            <a:spLocks noGrp="1"/>
          </p:cNvSpPr>
          <p:nvPr/>
        </p:nvSpPr>
        <p:spPr>
          <a:xfrm>
            <a:off x="1752600" y="3222117"/>
            <a:ext cx="1194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随机数，可以是时间戳、计数器或随机数。每次请求所用的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76-line3"/>
          <p:cNvSpPr>
            <a:spLocks noGrp="1"/>
          </p:cNvSpPr>
          <p:nvPr/>
        </p:nvSpPr>
        <p:spPr>
          <a:xfrm>
            <a:off x="13639800" y="32221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2" name="p76-line3-subscript"/>
          <p:cNvSpPr>
            <a:spLocks noGrp="1"/>
          </p:cNvSpPr>
          <p:nvPr/>
        </p:nvSpPr>
        <p:spPr>
          <a:xfrm>
            <a:off x="13969936" y="335927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76-line3"/>
          <p:cNvSpPr>
            <a:spLocks noGrp="1"/>
          </p:cNvSpPr>
          <p:nvPr/>
        </p:nvSpPr>
        <p:spPr>
          <a:xfrm>
            <a:off x="14120812" y="3222117"/>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都应不同，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76-line4"/>
          <p:cNvSpPr>
            <a:spLocks noGrp="1"/>
          </p:cNvSpPr>
          <p:nvPr/>
        </p:nvSpPr>
        <p:spPr>
          <a:xfrm>
            <a:off x="1752600" y="3933063"/>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且为防止假冒，应使敌手对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76-line4"/>
          <p:cNvSpPr>
            <a:spLocks noGrp="1"/>
          </p:cNvSpPr>
          <p:nvPr/>
        </p:nvSpPr>
        <p:spPr>
          <a:xfrm>
            <a:off x="7239000" y="393306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6" name="p76-line4-subscript"/>
          <p:cNvSpPr>
            <a:spLocks noGrp="1"/>
          </p:cNvSpPr>
          <p:nvPr/>
        </p:nvSpPr>
        <p:spPr>
          <a:xfrm>
            <a:off x="7569136" y="4070223"/>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76-line4"/>
          <p:cNvSpPr>
            <a:spLocks noGrp="1"/>
          </p:cNvSpPr>
          <p:nvPr/>
        </p:nvSpPr>
        <p:spPr>
          <a:xfrm>
            <a:off x="7720012" y="3933063"/>
            <a:ext cx="8743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难以猜测。因此，用随机数作为这个识别符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76-line5"/>
          <p:cNvSpPr>
            <a:spLocks noGrp="1"/>
          </p:cNvSpPr>
          <p:nvPr/>
        </p:nvSpPr>
        <p:spPr>
          <a:xfrm>
            <a:off x="1752600" y="4644009"/>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最为合适。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77-line1"/>
          <p:cNvSpPr>
            <a:spLocks noGrp="1"/>
          </p:cNvSpPr>
          <p:nvPr/>
        </p:nvSpPr>
        <p:spPr>
          <a:xfrm>
            <a:off x="2667000" y="5469255"/>
            <a:ext cx="78676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 KDC对A的请求发出应答。应答是由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77-line1"/>
          <p:cNvSpPr>
            <a:spLocks noGrp="1"/>
          </p:cNvSpPr>
          <p:nvPr/>
        </p:nvSpPr>
        <p:spPr>
          <a:xfrm>
            <a:off x="10477500" y="546925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2" name="p77-line1-subscript"/>
          <p:cNvSpPr>
            <a:spLocks noGrp="1"/>
          </p:cNvSpPr>
          <p:nvPr/>
        </p:nvSpPr>
        <p:spPr>
          <a:xfrm>
            <a:off x="10807637" y="5687116"/>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A</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3" name="p77-line1"/>
          <p:cNvSpPr>
            <a:spLocks noGrp="1"/>
          </p:cNvSpPr>
          <p:nvPr/>
        </p:nvSpPr>
        <p:spPr>
          <a:xfrm>
            <a:off x="11025527" y="5469255"/>
            <a:ext cx="5416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加密的消息，因此只有A才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77-line2"/>
          <p:cNvSpPr>
            <a:spLocks noGrp="1"/>
          </p:cNvSpPr>
          <p:nvPr/>
        </p:nvSpPr>
        <p:spPr>
          <a:xfrm>
            <a:off x="1752600" y="6180201"/>
            <a:ext cx="14611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能成功地对这一消息解密，并且A可相信这一消息的确是由KDC发出的。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77-line3"/>
          <p:cNvSpPr>
            <a:spLocks noGrp="1"/>
          </p:cNvSpPr>
          <p:nvPr/>
        </p:nvSpPr>
        <p:spPr>
          <a:xfrm>
            <a:off x="1752600" y="6891147"/>
            <a:ext cx="10445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消息中包括A希望得到的两项内容：一次性会话密钥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6" name="p77-line3"/>
          <p:cNvSpPr>
            <a:spLocks noGrp="1"/>
          </p:cNvSpPr>
          <p:nvPr/>
        </p:nvSpPr>
        <p:spPr>
          <a:xfrm>
            <a:off x="12141136" y="689114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7" name="p77-line3-subscript"/>
          <p:cNvSpPr>
            <a:spLocks noGrp="1"/>
          </p:cNvSpPr>
          <p:nvPr/>
        </p:nvSpPr>
        <p:spPr>
          <a:xfrm>
            <a:off x="12471273" y="7122033"/>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S</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8" name="p77-line3"/>
          <p:cNvSpPr>
            <a:spLocks noGrp="1"/>
          </p:cNvSpPr>
          <p:nvPr/>
        </p:nvSpPr>
        <p:spPr>
          <a:xfrm>
            <a:off x="12639123" y="6891147"/>
            <a:ext cx="38675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；B的身份（如B的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77-line4"/>
          <p:cNvSpPr>
            <a:spLocks noGrp="1"/>
          </p:cNvSpPr>
          <p:nvPr/>
        </p:nvSpPr>
        <p:spPr>
          <a:xfrm>
            <a:off x="1752600" y="7602093"/>
            <a:ext cx="28254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网络地址）ID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77-line4-subscript"/>
          <p:cNvSpPr>
            <a:spLocks noGrp="1"/>
          </p:cNvSpPr>
          <p:nvPr/>
        </p:nvSpPr>
        <p:spPr>
          <a:xfrm>
            <a:off x="4517566" y="7892415"/>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B</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41" name="p77-line4"/>
          <p:cNvSpPr>
            <a:spLocks noGrp="1"/>
          </p:cNvSpPr>
          <p:nvPr/>
        </p:nvSpPr>
        <p:spPr>
          <a:xfrm>
            <a:off x="4722240" y="760209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9" name="p78-line1"/>
          <p:cNvSpPr>
            <a:spLocks noGrp="1"/>
          </p:cNvSpPr>
          <p:nvPr/>
        </p:nvSpPr>
        <p:spPr>
          <a:xfrm>
            <a:off x="2667000" y="1800225"/>
            <a:ext cx="8616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A在步骤①中发出的请求包括一次性随机数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78-line1"/>
          <p:cNvSpPr>
            <a:spLocks noGrp="1"/>
          </p:cNvSpPr>
          <p:nvPr/>
        </p:nvSpPr>
        <p:spPr>
          <a:xfrm>
            <a:off x="11226736" y="180022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 name="p78-line1-subscript"/>
          <p:cNvSpPr>
            <a:spLocks noGrp="1"/>
          </p:cNvSpPr>
          <p:nvPr/>
        </p:nvSpPr>
        <p:spPr>
          <a:xfrm>
            <a:off x="11556873" y="1937385"/>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78-line1"/>
          <p:cNvSpPr>
            <a:spLocks noGrp="1"/>
          </p:cNvSpPr>
          <p:nvPr/>
        </p:nvSpPr>
        <p:spPr>
          <a:xfrm>
            <a:off x="11707749" y="1800225"/>
            <a:ext cx="4502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，目的是使A将收到的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78-line2"/>
          <p:cNvSpPr>
            <a:spLocks noGrp="1"/>
          </p:cNvSpPr>
          <p:nvPr/>
        </p:nvSpPr>
        <p:spPr>
          <a:xfrm>
            <a:off x="1797562" y="2630805"/>
            <a:ext cx="1456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应答与发出的请求相比较，判断是否匹配。因此，A能验证自己发出的请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78-line3"/>
          <p:cNvSpPr>
            <a:spLocks noGrp="1"/>
          </p:cNvSpPr>
          <p:nvPr/>
        </p:nvSpPr>
        <p:spPr>
          <a:xfrm>
            <a:off x="1829517" y="3428201"/>
            <a:ext cx="14611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求在被KDC收到之前是否被他人篡改，而且A还能根据一次性随机数相信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78-line4"/>
          <p:cNvSpPr>
            <a:spLocks noGrp="1"/>
          </p:cNvSpPr>
          <p:nvPr/>
        </p:nvSpPr>
        <p:spPr>
          <a:xfrm>
            <a:off x="1800020" y="4248188"/>
            <a:ext cx="14535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自己收到的应答不是重放的过去的应答。此外，消息中还有B希望得到的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78-line5"/>
          <p:cNvSpPr>
            <a:spLocks noGrp="1"/>
          </p:cNvSpPr>
          <p:nvPr/>
        </p:nvSpPr>
        <p:spPr>
          <a:xfrm>
            <a:off x="1804936" y="5072272"/>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两项内容：一次性会话密钥</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1" name="p78-line5"/>
          <p:cNvSpPr>
            <a:spLocks noGrp="1"/>
          </p:cNvSpPr>
          <p:nvPr/>
        </p:nvSpPr>
        <p:spPr>
          <a:xfrm>
            <a:off x="7291336" y="507227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2" name="p78-line5-subscript"/>
          <p:cNvSpPr>
            <a:spLocks noGrp="1"/>
          </p:cNvSpPr>
          <p:nvPr/>
        </p:nvSpPr>
        <p:spPr>
          <a:xfrm>
            <a:off x="7621472" y="5324494"/>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S</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3" name="p78-line5"/>
          <p:cNvSpPr>
            <a:spLocks noGrp="1"/>
          </p:cNvSpPr>
          <p:nvPr/>
        </p:nvSpPr>
        <p:spPr>
          <a:xfrm>
            <a:off x="7789322" y="5072272"/>
            <a:ext cx="66861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；A的身份（如A的网络地址）ID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78-line5-subscript"/>
          <p:cNvSpPr>
            <a:spLocks noGrp="1"/>
          </p:cNvSpPr>
          <p:nvPr/>
        </p:nvSpPr>
        <p:spPr>
          <a:xfrm>
            <a:off x="14418341" y="5274583"/>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A</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5" name="p78-line5"/>
          <p:cNvSpPr>
            <a:spLocks noGrp="1"/>
          </p:cNvSpPr>
          <p:nvPr/>
        </p:nvSpPr>
        <p:spPr>
          <a:xfrm>
            <a:off x="14636231" y="5072272"/>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。这两项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78-line6"/>
          <p:cNvSpPr>
            <a:spLocks noGrp="1"/>
          </p:cNvSpPr>
          <p:nvPr/>
        </p:nvSpPr>
        <p:spPr>
          <a:xfrm>
            <a:off x="1790651" y="587287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78-line6"/>
          <p:cNvSpPr>
            <a:spLocks noGrp="1"/>
          </p:cNvSpPr>
          <p:nvPr/>
        </p:nvSpPr>
        <p:spPr>
          <a:xfrm>
            <a:off x="2247851" y="587287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8" name="p78-line6-subscript"/>
          <p:cNvSpPr>
            <a:spLocks noGrp="1"/>
          </p:cNvSpPr>
          <p:nvPr/>
        </p:nvSpPr>
        <p:spPr>
          <a:xfrm>
            <a:off x="2560843" y="6092076"/>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B</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9" name="p78-line6"/>
          <p:cNvSpPr>
            <a:spLocks noGrp="1"/>
          </p:cNvSpPr>
          <p:nvPr/>
        </p:nvSpPr>
        <p:spPr>
          <a:xfrm>
            <a:off x="2779281" y="5872874"/>
            <a:ext cx="138497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加密，将由A转发给B，以建立A、B之间的连接并用于向B证明A的身</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78-line7"/>
          <p:cNvSpPr>
            <a:spLocks noGrp="1"/>
          </p:cNvSpPr>
          <p:nvPr/>
        </p:nvSpPr>
        <p:spPr>
          <a:xfrm>
            <a:off x="1790651" y="6583820"/>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1" name="p79-line1"/>
          <p:cNvSpPr>
            <a:spLocks noGrp="1"/>
          </p:cNvSpPr>
          <p:nvPr/>
        </p:nvSpPr>
        <p:spPr>
          <a:xfrm>
            <a:off x="2667000" y="1904946"/>
            <a:ext cx="76645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③ A存储一次性会话密钥，并向B转发</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10290461" y="1861022"/>
            <a:ext cx="2537541" cy="748937"/>
          </a:xfrm>
          <a:prstGeom prst="rect">
            <a:avLst/>
          </a:prstGeom>
        </p:spPr>
      </p:pic>
      <p:sp>
        <p:nvSpPr>
          <p:cNvPr id="3" name="p79-line1"/>
          <p:cNvSpPr>
            <a:spLocks noGrp="1"/>
          </p:cNvSpPr>
          <p:nvPr/>
        </p:nvSpPr>
        <p:spPr>
          <a:xfrm>
            <a:off x="13013817" y="1904946"/>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。因为转发的是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79-line2"/>
          <p:cNvSpPr>
            <a:spLocks noGrp="1"/>
          </p:cNvSpPr>
          <p:nvPr/>
        </p:nvSpPr>
        <p:spPr>
          <a:xfrm>
            <a:off x="1752600" y="272061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79-line2"/>
          <p:cNvSpPr>
            <a:spLocks noGrp="1"/>
          </p:cNvSpPr>
          <p:nvPr/>
        </p:nvSpPr>
        <p:spPr>
          <a:xfrm>
            <a:off x="2209800" y="272061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7" name="p79-line2-subscript"/>
          <p:cNvSpPr>
            <a:spLocks noGrp="1"/>
          </p:cNvSpPr>
          <p:nvPr/>
        </p:nvSpPr>
        <p:spPr>
          <a:xfrm>
            <a:off x="2539936" y="2857772"/>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79-line2"/>
          <p:cNvSpPr>
            <a:spLocks noGrp="1"/>
          </p:cNvSpPr>
          <p:nvPr/>
        </p:nvSpPr>
        <p:spPr>
          <a:xfrm>
            <a:off x="2741230" y="2720612"/>
            <a:ext cx="13620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加密后的密文，所以转发过程不会被窃听。B收到密文后，可得到一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79-line3"/>
          <p:cNvSpPr>
            <a:spLocks noGrp="1"/>
          </p:cNvSpPr>
          <p:nvPr/>
        </p:nvSpPr>
        <p:spPr>
          <a:xfrm>
            <a:off x="1752600" y="3514507"/>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次性会话密钥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79-line3"/>
          <p:cNvSpPr>
            <a:spLocks noGrp="1"/>
          </p:cNvSpPr>
          <p:nvPr/>
        </p:nvSpPr>
        <p:spPr>
          <a:xfrm>
            <a:off x="4495800" y="351450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dirty="0">
                <a:latin typeface="Times New Roman" panose="02020603050405020304" pitchFamily="18" charset="0"/>
                <a:ea typeface="宋体" panose="02010600030101010101" pitchFamily="2" charset="-122"/>
                <a:cs typeface="字由点字典黑 2"/>
                <a:sym typeface="字由点字典黑 2"/>
              </a:rPr>
              <a:t>K</a:t>
            </a:r>
            <a:endParaRPr sz="3600" b="0" i="1" dirty="0">
              <a:latin typeface="Times New Roman" panose="02020603050405020304" pitchFamily="18" charset="0"/>
              <a:ea typeface="宋体" panose="02010600030101010101" pitchFamily="2" charset="-122"/>
              <a:cs typeface="字由点字典黑 2"/>
              <a:sym typeface="字由点字典黑 2"/>
            </a:endParaRPr>
          </a:p>
        </p:txBody>
      </p:sp>
      <p:sp>
        <p:nvSpPr>
          <p:cNvPr id="21" name="p79-line3-subscript"/>
          <p:cNvSpPr>
            <a:spLocks noGrp="1"/>
          </p:cNvSpPr>
          <p:nvPr/>
        </p:nvSpPr>
        <p:spPr>
          <a:xfrm>
            <a:off x="4825936" y="3737606"/>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S</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2" name="p79-line3"/>
          <p:cNvSpPr>
            <a:spLocks noGrp="1"/>
          </p:cNvSpPr>
          <p:nvPr/>
        </p:nvSpPr>
        <p:spPr>
          <a:xfrm>
            <a:off x="4993786" y="3514507"/>
            <a:ext cx="19110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a:t>
            </a:r>
            <a:r>
              <a:rPr sz="3600" b="0" i="0" dirty="0" err="1">
                <a:latin typeface="Times New Roman" panose="02020603050405020304" pitchFamily="18" charset="0"/>
                <a:ea typeface="宋体" panose="02010600030101010101" pitchFamily="2" charset="-122"/>
                <a:cs typeface="字由点字典黑 2"/>
                <a:sym typeface="字由点字典黑 2"/>
              </a:rPr>
              <a:t>并从ID</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3" name="p79-line3-subscript"/>
          <p:cNvSpPr>
            <a:spLocks noGrp="1"/>
          </p:cNvSpPr>
          <p:nvPr/>
        </p:nvSpPr>
        <p:spPr>
          <a:xfrm>
            <a:off x="6847732" y="3651667"/>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79-line3"/>
          <p:cNvSpPr>
            <a:spLocks noGrp="1"/>
          </p:cNvSpPr>
          <p:nvPr/>
        </p:nvSpPr>
        <p:spPr>
          <a:xfrm>
            <a:off x="7065622" y="3514507"/>
            <a:ext cx="5416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可知另一方是A，而且还从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4">
            <a:clrChange>
              <a:clrFrom>
                <a:srgbClr val="FFFFFF"/>
              </a:clrFrom>
              <a:clrTo>
                <a:srgbClr val="FFFFFF">
                  <a:alpha val="0"/>
                </a:srgbClr>
              </a:clrTo>
            </a:clrChange>
          </a:blip>
          <a:stretch>
            <a:fillRect/>
          </a:stretch>
        </p:blipFill>
        <p:spPr>
          <a:xfrm>
            <a:off x="12454558" y="3458990"/>
            <a:ext cx="746888" cy="705394"/>
          </a:xfrm>
          <a:prstGeom prst="rect">
            <a:avLst/>
          </a:prstGeom>
        </p:spPr>
      </p:pic>
      <p:sp>
        <p:nvSpPr>
          <p:cNvPr id="26" name="p79-line3"/>
          <p:cNvSpPr>
            <a:spLocks noGrp="1"/>
          </p:cNvSpPr>
          <p:nvPr/>
        </p:nvSpPr>
        <p:spPr>
          <a:xfrm>
            <a:off x="13231046" y="3514507"/>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判断</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79-line3"/>
          <p:cNvSpPr>
            <a:spLocks noGrp="1"/>
          </p:cNvSpPr>
          <p:nvPr/>
        </p:nvSpPr>
        <p:spPr>
          <a:xfrm>
            <a:off x="14145446" y="351450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dirty="0">
                <a:latin typeface="Times New Roman" panose="02020603050405020304" pitchFamily="18" charset="0"/>
                <a:ea typeface="宋体" panose="02010600030101010101" pitchFamily="2" charset="-122"/>
                <a:cs typeface="字由点字典黑 2"/>
                <a:sym typeface="字由点字典黑 2"/>
              </a:rPr>
              <a:t>K</a:t>
            </a:r>
            <a:endParaRPr sz="3600" b="0" i="1" dirty="0">
              <a:latin typeface="Times New Roman" panose="02020603050405020304" pitchFamily="18" charset="0"/>
              <a:ea typeface="宋体" panose="02010600030101010101" pitchFamily="2" charset="-122"/>
              <a:cs typeface="字由点字典黑 2"/>
              <a:sym typeface="字由点字典黑 2"/>
            </a:endParaRPr>
          </a:p>
        </p:txBody>
      </p:sp>
      <p:sp>
        <p:nvSpPr>
          <p:cNvPr id="28" name="p79-line3-subscript"/>
          <p:cNvSpPr>
            <a:spLocks noGrp="1"/>
          </p:cNvSpPr>
          <p:nvPr/>
        </p:nvSpPr>
        <p:spPr>
          <a:xfrm>
            <a:off x="14475968" y="3779683"/>
            <a:ext cx="224228"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S</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9" name="p79-line3"/>
          <p:cNvSpPr>
            <a:spLocks noGrp="1"/>
          </p:cNvSpPr>
          <p:nvPr/>
        </p:nvSpPr>
        <p:spPr>
          <a:xfrm>
            <a:off x="14643432" y="3514507"/>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的确来自</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0" name="p79-line4"/>
          <p:cNvSpPr>
            <a:spLocks noGrp="1"/>
          </p:cNvSpPr>
          <p:nvPr/>
        </p:nvSpPr>
        <p:spPr>
          <a:xfrm>
            <a:off x="1752600" y="4308402"/>
            <a:ext cx="14459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KDC。这一步完成后，会话密钥就安全地分配给了A、B。然而还能继续</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1" name="p79-line5"/>
          <p:cNvSpPr>
            <a:spLocks noGrp="1"/>
          </p:cNvSpPr>
          <p:nvPr/>
        </p:nvSpPr>
        <p:spPr>
          <a:xfrm>
            <a:off x="1752600" y="5019348"/>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以下两步工作。</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80-line1"/>
          <p:cNvSpPr>
            <a:spLocks noGrp="1"/>
          </p:cNvSpPr>
          <p:nvPr/>
        </p:nvSpPr>
        <p:spPr>
          <a:xfrm>
            <a:off x="2667000" y="5844594"/>
            <a:ext cx="45912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④ </a:t>
            </a:r>
            <a:r>
              <a:rPr sz="3600" b="0" i="0" dirty="0" err="1">
                <a:latin typeface="Times New Roman" panose="02020603050405020304" pitchFamily="18" charset="0"/>
                <a:ea typeface="宋体" panose="02010600030101010101" pitchFamily="2" charset="-122"/>
                <a:cs typeface="字由点字典黑 2"/>
                <a:sym typeface="字由点字典黑 2"/>
              </a:rPr>
              <a:t>B用一次性会话密钥</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3" name="p80-line1"/>
          <p:cNvSpPr>
            <a:spLocks noGrp="1"/>
          </p:cNvSpPr>
          <p:nvPr/>
        </p:nvSpPr>
        <p:spPr>
          <a:xfrm>
            <a:off x="7201091" y="584459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4" name="p80-line1-subscript"/>
          <p:cNvSpPr>
            <a:spLocks noGrp="1"/>
          </p:cNvSpPr>
          <p:nvPr/>
        </p:nvSpPr>
        <p:spPr>
          <a:xfrm>
            <a:off x="7531227" y="6086910"/>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S</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5" name="p80-line1"/>
          <p:cNvSpPr>
            <a:spLocks noGrp="1"/>
          </p:cNvSpPr>
          <p:nvPr/>
        </p:nvSpPr>
        <p:spPr>
          <a:xfrm>
            <a:off x="7699077" y="5844594"/>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加密另一个一次性随机数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6" name="p80-line1"/>
          <p:cNvSpPr>
            <a:spLocks noGrp="1"/>
          </p:cNvSpPr>
          <p:nvPr/>
        </p:nvSpPr>
        <p:spPr>
          <a:xfrm>
            <a:off x="12728277" y="584459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7" name="p80-line1-subscript"/>
          <p:cNvSpPr>
            <a:spLocks noGrp="1"/>
          </p:cNvSpPr>
          <p:nvPr/>
        </p:nvSpPr>
        <p:spPr>
          <a:xfrm>
            <a:off x="13058413" y="5981754"/>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80-line1"/>
          <p:cNvSpPr>
            <a:spLocks noGrp="1"/>
          </p:cNvSpPr>
          <p:nvPr/>
        </p:nvSpPr>
        <p:spPr>
          <a:xfrm>
            <a:off x="13209289" y="5844594"/>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，并将加密结果</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80-line2"/>
          <p:cNvSpPr>
            <a:spLocks noGrp="1"/>
          </p:cNvSpPr>
          <p:nvPr/>
        </p:nvSpPr>
        <p:spPr>
          <a:xfrm>
            <a:off x="1752600" y="6555540"/>
            <a:ext cx="2216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81-line1"/>
          <p:cNvSpPr>
            <a:spLocks noGrp="1"/>
          </p:cNvSpPr>
          <p:nvPr/>
        </p:nvSpPr>
        <p:spPr>
          <a:xfrm>
            <a:off x="2667000" y="7380786"/>
            <a:ext cx="14159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⑤ A以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81-line1"/>
          <p:cNvSpPr>
            <a:spLocks noGrp="1"/>
          </p:cNvSpPr>
          <p:nvPr/>
        </p:nvSpPr>
        <p:spPr>
          <a:xfrm>
            <a:off x="4025836" y="7380786"/>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f</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3" name="p81-line1"/>
          <p:cNvSpPr>
            <a:spLocks noGrp="1"/>
          </p:cNvSpPr>
          <p:nvPr/>
        </p:nvSpPr>
        <p:spPr>
          <a:xfrm>
            <a:off x="4178046" y="7380786"/>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4" name="p81-line1"/>
          <p:cNvSpPr>
            <a:spLocks noGrp="1"/>
          </p:cNvSpPr>
          <p:nvPr/>
        </p:nvSpPr>
        <p:spPr>
          <a:xfrm>
            <a:off x="4330255" y="7380786"/>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5" name="p81-line1-subscript"/>
          <p:cNvSpPr>
            <a:spLocks noGrp="1"/>
          </p:cNvSpPr>
          <p:nvPr/>
        </p:nvSpPr>
        <p:spPr>
          <a:xfrm>
            <a:off x="4660392" y="7517946"/>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6" name="p81-line1"/>
          <p:cNvSpPr>
            <a:spLocks noGrp="1"/>
          </p:cNvSpPr>
          <p:nvPr/>
        </p:nvSpPr>
        <p:spPr>
          <a:xfrm>
            <a:off x="4811268" y="7380786"/>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)作为对B的应答，其中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7" name="p81-line1"/>
          <p:cNvSpPr>
            <a:spLocks noGrp="1"/>
          </p:cNvSpPr>
          <p:nvPr/>
        </p:nvSpPr>
        <p:spPr>
          <a:xfrm>
            <a:off x="9383268" y="7380786"/>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f</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8" name="p81-line1"/>
          <p:cNvSpPr>
            <a:spLocks noGrp="1"/>
          </p:cNvSpPr>
          <p:nvPr/>
        </p:nvSpPr>
        <p:spPr>
          <a:xfrm>
            <a:off x="9535477" y="7380786"/>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9" name="p81-line1"/>
          <p:cNvSpPr>
            <a:spLocks noGrp="1"/>
          </p:cNvSpPr>
          <p:nvPr/>
        </p:nvSpPr>
        <p:spPr>
          <a:xfrm>
            <a:off x="10449877" y="7380786"/>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0" name="p81-line1-subscript"/>
          <p:cNvSpPr>
            <a:spLocks noGrp="1"/>
          </p:cNvSpPr>
          <p:nvPr/>
        </p:nvSpPr>
        <p:spPr>
          <a:xfrm>
            <a:off x="10780014" y="7517946"/>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1" name="p81-line1"/>
          <p:cNvSpPr>
            <a:spLocks noGrp="1"/>
          </p:cNvSpPr>
          <p:nvPr/>
        </p:nvSpPr>
        <p:spPr>
          <a:xfrm>
            <a:off x="10930890" y="7380786"/>
            <a:ext cx="5314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进行某种变换（如加1）的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2" name="p81-line2"/>
          <p:cNvSpPr>
            <a:spLocks noGrp="1"/>
          </p:cNvSpPr>
          <p:nvPr/>
        </p:nvSpPr>
        <p:spPr>
          <a:xfrm>
            <a:off x="1752600" y="8091732"/>
            <a:ext cx="9048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函数，并将应答用会话密钥加密后发送给B。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 name="p82-line1"/>
          <p:cNvSpPr>
            <a:spLocks noGrp="1"/>
          </p:cNvSpPr>
          <p:nvPr/>
        </p:nvSpPr>
        <p:spPr>
          <a:xfrm>
            <a:off x="2667000" y="1800225"/>
            <a:ext cx="12249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步骤④和步骤⑤可使B相信步骤③收到的消息不是一个重放。</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83-line1"/>
          <p:cNvSpPr>
            <a:spLocks noGrp="1"/>
          </p:cNvSpPr>
          <p:nvPr/>
        </p:nvSpPr>
        <p:spPr>
          <a:xfrm>
            <a:off x="2667000" y="262547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注：步骤③已完成密钥分配，步骤④和步骤⑤结合步骤③执行的是认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83-line2"/>
          <p:cNvSpPr>
            <a:spLocks noGrp="1"/>
          </p:cNvSpPr>
          <p:nvPr/>
        </p:nvSpPr>
        <p:spPr>
          <a:xfrm>
            <a:off x="1752600" y="3336417"/>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证功能。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84-line1"/>
          <p:cNvSpPr>
            <a:spLocks noGrp="1"/>
          </p:cNvSpPr>
          <p:nvPr/>
        </p:nvSpPr>
        <p:spPr>
          <a:xfrm>
            <a:off x="1752600" y="1800225"/>
            <a:ext cx="4014978"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3．密钥的分层控制</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85-line1"/>
          <p:cNvSpPr>
            <a:spLocks noGrp="1"/>
          </p:cNvSpPr>
          <p:nvPr/>
        </p:nvSpPr>
        <p:spPr>
          <a:xfrm>
            <a:off x="2667000" y="2625471"/>
            <a:ext cx="138240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网络中如果用户数目非常多而且分布的地域非常广，一个KDC无法承</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85-line2"/>
          <p:cNvSpPr>
            <a:spLocks noGrp="1"/>
          </p:cNvSpPr>
          <p:nvPr/>
        </p:nvSpPr>
        <p:spPr>
          <a:xfrm>
            <a:off x="1752600" y="3336417"/>
            <a:ext cx="147384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担为用户分配密钥的重任。问题的解决方法是使用多个KDC的分层结构。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85-line3"/>
          <p:cNvSpPr>
            <a:spLocks noGrp="1"/>
          </p:cNvSpPr>
          <p:nvPr/>
        </p:nvSpPr>
        <p:spPr>
          <a:xfrm>
            <a:off x="1752600" y="4047363"/>
            <a:ext cx="142554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例如，在每个小范围（如一个LAN或一个建筑物）内，都建立一个本地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85-line4"/>
          <p:cNvSpPr>
            <a:spLocks noGrp="1"/>
          </p:cNvSpPr>
          <p:nvPr/>
        </p:nvSpPr>
        <p:spPr>
          <a:xfrm>
            <a:off x="1752600" y="4758309"/>
            <a:ext cx="14789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KDC。同一范围的用户在进行保密通信时，由本地KDC为他们分配密钥。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85-line5"/>
          <p:cNvSpPr>
            <a:spLocks noGrp="1"/>
          </p:cNvSpPr>
          <p:nvPr/>
        </p:nvSpPr>
        <p:spPr>
          <a:xfrm>
            <a:off x="1752600" y="5469255"/>
            <a:ext cx="147384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若两个不同范围的用户想获得共享密钥，则可通过各自的本地KDC，而两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85-line6"/>
          <p:cNvSpPr>
            <a:spLocks noGrp="1"/>
          </p:cNvSpPr>
          <p:nvPr/>
        </p:nvSpPr>
        <p:spPr>
          <a:xfrm>
            <a:off x="1752600" y="6180201"/>
            <a:ext cx="14382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个本地KDC的沟通又需要经过一个全局KDC，这样就建立了两层KDC。</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85-line7"/>
          <p:cNvSpPr>
            <a:spLocks noGrp="1"/>
          </p:cNvSpPr>
          <p:nvPr/>
        </p:nvSpPr>
        <p:spPr>
          <a:xfrm>
            <a:off x="1752600" y="6891147"/>
            <a:ext cx="145098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类似地，根据网络中用户的数目及分布的地域，可建立3层或多层KDC。</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86-line1"/>
          <p:cNvSpPr>
            <a:spLocks noGrp="1"/>
          </p:cNvSpPr>
          <p:nvPr/>
        </p:nvSpPr>
        <p:spPr>
          <a:xfrm>
            <a:off x="2667000" y="7775829"/>
            <a:ext cx="138240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分层结构可减少主密钥的分布，因为大多数主密钥是在本地KDC和本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86-line2"/>
          <p:cNvSpPr>
            <a:spLocks noGrp="1"/>
          </p:cNvSpPr>
          <p:nvPr/>
        </p:nvSpPr>
        <p:spPr>
          <a:xfrm>
            <a:off x="1752600" y="8486775"/>
            <a:ext cx="147384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地用户之间共享。再者，分层结构还可将虚假KDC的危害限制到一个局部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86-line3"/>
          <p:cNvSpPr>
            <a:spLocks noGrp="1"/>
          </p:cNvSpPr>
          <p:nvPr/>
        </p:nvSpPr>
        <p:spPr>
          <a:xfrm>
            <a:off x="1752600" y="9197721"/>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区域。</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87-line1"/>
          <p:cNvSpPr>
            <a:spLocks noGrp="1"/>
          </p:cNvSpPr>
          <p:nvPr/>
        </p:nvSpPr>
        <p:spPr>
          <a:xfrm>
            <a:off x="1752600" y="1800225"/>
            <a:ext cx="4481131"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4．会话密钥的有效期</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88-line1"/>
          <p:cNvSpPr>
            <a:spLocks noGrp="1"/>
          </p:cNvSpPr>
          <p:nvPr/>
        </p:nvSpPr>
        <p:spPr>
          <a:xfrm>
            <a:off x="2679290" y="2413020"/>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会话密钥更换越频繁，系统的安全性就越高。因为即使敌手获得一个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88-line2"/>
          <p:cNvSpPr>
            <a:spLocks noGrp="1"/>
          </p:cNvSpPr>
          <p:nvPr/>
        </p:nvSpPr>
        <p:spPr>
          <a:xfrm>
            <a:off x="1764890" y="3123966"/>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会话密钥，也只能获得很少的密文。但是，会话密钥更换太频繁，又将延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88-line3"/>
          <p:cNvSpPr>
            <a:spLocks noGrp="1"/>
          </p:cNvSpPr>
          <p:nvPr/>
        </p:nvSpPr>
        <p:spPr>
          <a:xfrm>
            <a:off x="1764890" y="3834912"/>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迟用户之间的交换，同时还造成网络负担。因此，在决定会话密钥的有效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88-line4"/>
          <p:cNvSpPr>
            <a:spLocks noGrp="1"/>
          </p:cNvSpPr>
          <p:nvPr/>
        </p:nvSpPr>
        <p:spPr>
          <a:xfrm>
            <a:off x="1764890" y="4545858"/>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期时，应权衡矛盾的两个方面。对面向连接的协议，在连接未建立前或断</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88-line5"/>
          <p:cNvSpPr>
            <a:spLocks noGrp="1"/>
          </p:cNvSpPr>
          <p:nvPr/>
        </p:nvSpPr>
        <p:spPr>
          <a:xfrm>
            <a:off x="1764890" y="5256804"/>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开时，会话密钥的有效期可以很长。而每次建立连接时，都应使用新的会</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88-line6"/>
          <p:cNvSpPr>
            <a:spLocks noGrp="1"/>
          </p:cNvSpPr>
          <p:nvPr/>
        </p:nvSpPr>
        <p:spPr>
          <a:xfrm>
            <a:off x="1764890" y="5967750"/>
            <a:ext cx="1194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话密钥。若逻辑连接的时间很长，则应定期更换会话密钥。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89-line1"/>
          <p:cNvSpPr>
            <a:spLocks noGrp="1"/>
          </p:cNvSpPr>
          <p:nvPr/>
        </p:nvSpPr>
        <p:spPr>
          <a:xfrm>
            <a:off x="2526890" y="6692031"/>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无连接协议（如面向业务的协议），无法明确地决定更换密钥的频</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89-line2"/>
          <p:cNvSpPr>
            <a:spLocks noGrp="1"/>
          </p:cNvSpPr>
          <p:nvPr/>
        </p:nvSpPr>
        <p:spPr>
          <a:xfrm>
            <a:off x="1612490" y="740297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率。为安全起见，用户每进行一次交换，都用新的会话密钥。然而这又失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89-line3"/>
          <p:cNvSpPr>
            <a:spLocks noGrp="1"/>
          </p:cNvSpPr>
          <p:nvPr/>
        </p:nvSpPr>
        <p:spPr>
          <a:xfrm>
            <a:off x="1612490" y="811392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去了无连接协议主要的优势，即对每个业务都有最少的费用和最短的延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89-line4"/>
          <p:cNvSpPr>
            <a:spLocks noGrp="1"/>
          </p:cNvSpPr>
          <p:nvPr/>
        </p:nvSpPr>
        <p:spPr>
          <a:xfrm>
            <a:off x="1612490" y="8740140"/>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迟。比较好的方案是在某一固定周期内或对一定数目的业务使用同一会话</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4" name="p89-line5"/>
          <p:cNvSpPr>
            <a:spLocks noGrp="1"/>
          </p:cNvSpPr>
          <p:nvPr/>
        </p:nvSpPr>
        <p:spPr>
          <a:xfrm>
            <a:off x="1576430" y="9366357"/>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密钥</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90-line1"/>
          <p:cNvSpPr>
            <a:spLocks noGrp="1"/>
          </p:cNvSpPr>
          <p:nvPr/>
        </p:nvSpPr>
        <p:spPr>
          <a:xfrm>
            <a:off x="1752600" y="1800225"/>
            <a:ext cx="4481131"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5．无中心的密钥控制</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91-line1"/>
          <p:cNvSpPr>
            <a:spLocks noGrp="1"/>
          </p:cNvSpPr>
          <p:nvPr/>
        </p:nvSpPr>
        <p:spPr>
          <a:xfrm>
            <a:off x="2667000" y="2625471"/>
            <a:ext cx="138240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用密钥分配中心为用户分配密钥时，要求所有用户都信任KDC，同时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91-line2"/>
          <p:cNvSpPr>
            <a:spLocks noGrp="1"/>
          </p:cNvSpPr>
          <p:nvPr/>
        </p:nvSpPr>
        <p:spPr>
          <a:xfrm>
            <a:off x="1752600" y="3336417"/>
            <a:ext cx="147384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还要求对KDC加以保护。如果密钥的分配是无中心的，那么不必有以上两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91-line3"/>
          <p:cNvSpPr>
            <a:spLocks noGrp="1"/>
          </p:cNvSpPr>
          <p:nvPr/>
        </p:nvSpPr>
        <p:spPr>
          <a:xfrm>
            <a:off x="1752600" y="40473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个要求。然而如果每个用户都能和自己想与之建立联系的另一用户安全地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91-line4"/>
          <p:cNvSpPr>
            <a:spLocks noGrp="1"/>
          </p:cNvSpPr>
          <p:nvPr/>
        </p:nvSpPr>
        <p:spPr>
          <a:xfrm>
            <a:off x="1752600" y="4841258"/>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通信，那么对有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91-line4"/>
          <p:cNvSpPr>
            <a:spLocks noGrp="1"/>
          </p:cNvSpPr>
          <p:nvPr/>
        </p:nvSpPr>
        <p:spPr>
          <a:xfrm>
            <a:off x="4953000" y="4841258"/>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9" name="p91-line4"/>
          <p:cNvSpPr>
            <a:spLocks noGrp="1"/>
          </p:cNvSpPr>
          <p:nvPr/>
        </p:nvSpPr>
        <p:spPr>
          <a:xfrm>
            <a:off x="5181600" y="4841258"/>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个用户的网络来说，主密钥多达</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3">
            <a:clrChange>
              <a:clrFrom>
                <a:srgbClr val="FFFFFF"/>
              </a:clrFrom>
              <a:clrTo>
                <a:srgbClr val="FFFFFF">
                  <a:alpha val="0"/>
                </a:srgbClr>
              </a:clrTo>
            </a:clrChange>
          </a:blip>
          <a:stretch>
            <a:fillRect/>
          </a:stretch>
        </p:blipFill>
        <p:spPr>
          <a:xfrm>
            <a:off x="11680932" y="4758309"/>
            <a:ext cx="1950142" cy="705394"/>
          </a:xfrm>
          <a:prstGeom prst="rect">
            <a:avLst/>
          </a:prstGeom>
        </p:spPr>
      </p:pic>
      <p:sp>
        <p:nvSpPr>
          <p:cNvPr id="21" name="p91-line4"/>
          <p:cNvSpPr>
            <a:spLocks noGrp="1"/>
          </p:cNvSpPr>
          <p:nvPr/>
        </p:nvSpPr>
        <p:spPr>
          <a:xfrm>
            <a:off x="13729607" y="4841258"/>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个。当</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91-line4"/>
          <p:cNvSpPr>
            <a:spLocks noGrp="1"/>
          </p:cNvSpPr>
          <p:nvPr/>
        </p:nvSpPr>
        <p:spPr>
          <a:xfrm>
            <a:off x="15101207" y="4841258"/>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3" name="p91-line4"/>
          <p:cNvSpPr>
            <a:spLocks noGrp="1"/>
          </p:cNvSpPr>
          <p:nvPr/>
        </p:nvSpPr>
        <p:spPr>
          <a:xfrm>
            <a:off x="15329807" y="4841258"/>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很大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91-line5"/>
          <p:cNvSpPr>
            <a:spLocks noGrp="1"/>
          </p:cNvSpPr>
          <p:nvPr/>
        </p:nvSpPr>
        <p:spPr>
          <a:xfrm>
            <a:off x="1752600" y="5635153"/>
            <a:ext cx="1331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时，这种方案无实用价值，但在整个网络的局部范围却非常有用。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92-line1"/>
          <p:cNvSpPr>
            <a:spLocks noGrp="1"/>
          </p:cNvSpPr>
          <p:nvPr/>
        </p:nvSpPr>
        <p:spPr>
          <a:xfrm>
            <a:off x="2667000" y="6460399"/>
            <a:ext cx="134938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在进行无中心的密钥分配时，两个用户A和B建立会话密钥需要经过</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92-line2"/>
          <p:cNvSpPr>
            <a:spLocks noGrp="1"/>
          </p:cNvSpPr>
          <p:nvPr/>
        </p:nvSpPr>
        <p:spPr>
          <a:xfrm>
            <a:off x="1752600" y="7171345"/>
            <a:ext cx="8858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以下3步，无中心的密钥分配如图15.4所示。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1752600" y="2040162"/>
            <a:ext cx="14782800" cy="5825676"/>
          </a:xfrm>
          <a:prstGeom prst="rect">
            <a:avLst/>
          </a:prstGeom>
        </p:spPr>
      </p:pic>
      <p:sp>
        <p:nvSpPr>
          <p:cNvPr id="2" name="p94-line1"/>
          <p:cNvSpPr>
            <a:spLocks noGrp="1"/>
          </p:cNvSpPr>
          <p:nvPr/>
        </p:nvSpPr>
        <p:spPr>
          <a:xfrm>
            <a:off x="6457950" y="8372475"/>
            <a:ext cx="5429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图15.4　无中心的密钥分配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6" name="p95-line1"/>
          <p:cNvSpPr>
            <a:spLocks noGrp="1"/>
          </p:cNvSpPr>
          <p:nvPr/>
        </p:nvSpPr>
        <p:spPr>
          <a:xfrm>
            <a:off x="2667000" y="1800225"/>
            <a:ext cx="108649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① A向B发出建立会话密钥的请求和一个一次性随机数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95-line1"/>
          <p:cNvSpPr>
            <a:spLocks noGrp="1"/>
          </p:cNvSpPr>
          <p:nvPr/>
        </p:nvSpPr>
        <p:spPr>
          <a:xfrm>
            <a:off x="13474827" y="180022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 name="p95-line1-subscript"/>
          <p:cNvSpPr>
            <a:spLocks noGrp="1"/>
          </p:cNvSpPr>
          <p:nvPr/>
        </p:nvSpPr>
        <p:spPr>
          <a:xfrm>
            <a:off x="13804964" y="1937385"/>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95-line1"/>
          <p:cNvSpPr>
            <a:spLocks noGrp="1"/>
          </p:cNvSpPr>
          <p:nvPr/>
        </p:nvSpPr>
        <p:spPr>
          <a:xfrm>
            <a:off x="13955840" y="1800225"/>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96-line1"/>
          <p:cNvSpPr>
            <a:spLocks noGrp="1"/>
          </p:cNvSpPr>
          <p:nvPr/>
        </p:nvSpPr>
        <p:spPr>
          <a:xfrm>
            <a:off x="2667000" y="2625471"/>
            <a:ext cx="56580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 B用与A共享的主密钥MK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96-line1-subscript"/>
          <p:cNvSpPr>
            <a:spLocks noGrp="1"/>
          </p:cNvSpPr>
          <p:nvPr/>
        </p:nvSpPr>
        <p:spPr>
          <a:xfrm>
            <a:off x="8267891" y="2762631"/>
            <a:ext cx="291888"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m</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96-line1"/>
          <p:cNvSpPr>
            <a:spLocks noGrp="1"/>
          </p:cNvSpPr>
          <p:nvPr/>
        </p:nvSpPr>
        <p:spPr>
          <a:xfrm>
            <a:off x="8502628" y="2625471"/>
            <a:ext cx="7702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对应答的消息加密，并发送给A。应答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96-line2"/>
          <p:cNvSpPr>
            <a:spLocks noGrp="1"/>
          </p:cNvSpPr>
          <p:nvPr/>
        </p:nvSpPr>
        <p:spPr>
          <a:xfrm>
            <a:off x="1752600" y="3336417"/>
            <a:ext cx="84395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的消息中有B选取的会话密钥、B的身份、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96-line2"/>
          <p:cNvSpPr>
            <a:spLocks noGrp="1"/>
          </p:cNvSpPr>
          <p:nvPr/>
        </p:nvSpPr>
        <p:spPr>
          <a:xfrm>
            <a:off x="10134981" y="3336417"/>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f</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1" name="p96-line2"/>
          <p:cNvSpPr>
            <a:spLocks noGrp="1"/>
          </p:cNvSpPr>
          <p:nvPr/>
        </p:nvSpPr>
        <p:spPr>
          <a:xfrm>
            <a:off x="10287191" y="3336417"/>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96-line2"/>
          <p:cNvSpPr>
            <a:spLocks noGrp="1"/>
          </p:cNvSpPr>
          <p:nvPr/>
        </p:nvSpPr>
        <p:spPr>
          <a:xfrm>
            <a:off x="10439400" y="33364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3" name="p96-line2-subscript"/>
          <p:cNvSpPr>
            <a:spLocks noGrp="1"/>
          </p:cNvSpPr>
          <p:nvPr/>
        </p:nvSpPr>
        <p:spPr>
          <a:xfrm>
            <a:off x="10769536" y="347357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96-line2"/>
          <p:cNvSpPr>
            <a:spLocks noGrp="1"/>
          </p:cNvSpPr>
          <p:nvPr/>
        </p:nvSpPr>
        <p:spPr>
          <a:xfrm>
            <a:off x="10920412" y="3336417"/>
            <a:ext cx="4781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)和另一个一次性随机数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96-line3"/>
          <p:cNvSpPr>
            <a:spLocks noGrp="1"/>
          </p:cNvSpPr>
          <p:nvPr/>
        </p:nvSpPr>
        <p:spPr>
          <a:xfrm>
            <a:off x="1752600" y="404736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7" name="p96-line3-subscript"/>
          <p:cNvSpPr>
            <a:spLocks noGrp="1"/>
          </p:cNvSpPr>
          <p:nvPr/>
        </p:nvSpPr>
        <p:spPr>
          <a:xfrm>
            <a:off x="2082736" y="4184523"/>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96-line3"/>
          <p:cNvSpPr>
            <a:spLocks noGrp="1"/>
          </p:cNvSpPr>
          <p:nvPr/>
        </p:nvSpPr>
        <p:spPr>
          <a:xfrm>
            <a:off x="2233612" y="404736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97-line1"/>
          <p:cNvSpPr>
            <a:spLocks noGrp="1"/>
          </p:cNvSpPr>
          <p:nvPr/>
        </p:nvSpPr>
        <p:spPr>
          <a:xfrm>
            <a:off x="2667000" y="4872609"/>
            <a:ext cx="55307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③ A使用新建立的会话密钥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97-line1"/>
          <p:cNvSpPr>
            <a:spLocks noGrp="1"/>
          </p:cNvSpPr>
          <p:nvPr/>
        </p:nvSpPr>
        <p:spPr>
          <a:xfrm>
            <a:off x="8140636" y="4872609"/>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1" name="p97-line1-subscript"/>
          <p:cNvSpPr>
            <a:spLocks noGrp="1"/>
          </p:cNvSpPr>
          <p:nvPr/>
        </p:nvSpPr>
        <p:spPr>
          <a:xfrm>
            <a:off x="8470773" y="5009769"/>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97-line1"/>
          <p:cNvSpPr>
            <a:spLocks noGrp="1"/>
          </p:cNvSpPr>
          <p:nvPr/>
        </p:nvSpPr>
        <p:spPr>
          <a:xfrm>
            <a:off x="8638623" y="487260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97-line1"/>
          <p:cNvSpPr>
            <a:spLocks noGrp="1"/>
          </p:cNvSpPr>
          <p:nvPr/>
        </p:nvSpPr>
        <p:spPr>
          <a:xfrm>
            <a:off x="9095823" y="4872609"/>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f</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4" name="p97-line1"/>
          <p:cNvSpPr>
            <a:spLocks noGrp="1"/>
          </p:cNvSpPr>
          <p:nvPr/>
        </p:nvSpPr>
        <p:spPr>
          <a:xfrm>
            <a:off x="9248032" y="4872609"/>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97-line1"/>
          <p:cNvSpPr>
            <a:spLocks noGrp="1"/>
          </p:cNvSpPr>
          <p:nvPr/>
        </p:nvSpPr>
        <p:spPr>
          <a:xfrm>
            <a:off x="9400242" y="4872609"/>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6" name="p97-line1-subscript"/>
          <p:cNvSpPr>
            <a:spLocks noGrp="1"/>
          </p:cNvSpPr>
          <p:nvPr/>
        </p:nvSpPr>
        <p:spPr>
          <a:xfrm>
            <a:off x="9730378" y="5009769"/>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97-line1"/>
          <p:cNvSpPr>
            <a:spLocks noGrp="1"/>
          </p:cNvSpPr>
          <p:nvPr/>
        </p:nvSpPr>
        <p:spPr>
          <a:xfrm>
            <a:off x="9881254" y="4872609"/>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)加密后返回给B。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98-line1"/>
          <p:cNvSpPr>
            <a:spLocks noGrp="1"/>
          </p:cNvSpPr>
          <p:nvPr/>
        </p:nvSpPr>
        <p:spPr>
          <a:xfrm>
            <a:off x="1752600" y="1800225"/>
            <a:ext cx="4014978"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6．密钥的控制使用</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99-line1"/>
          <p:cNvSpPr>
            <a:spLocks noGrp="1"/>
          </p:cNvSpPr>
          <p:nvPr/>
        </p:nvSpPr>
        <p:spPr>
          <a:xfrm>
            <a:off x="2667000" y="262547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密钥根据其不同用途可分为会话密钥和主密钥两种类型，会话密钥又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99-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称数据加密密钥，主密钥又称密钥加密密钥。因为密钥的用途不同，所以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99-line3"/>
          <p:cNvSpPr>
            <a:spLocks noGrp="1"/>
          </p:cNvSpPr>
          <p:nvPr/>
        </p:nvSpPr>
        <p:spPr>
          <a:xfrm>
            <a:off x="1752600" y="4047363"/>
            <a:ext cx="8286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对密钥的使用方式也希望加以某种控制。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00-line1"/>
          <p:cNvSpPr>
            <a:spLocks noGrp="1"/>
          </p:cNvSpPr>
          <p:nvPr/>
        </p:nvSpPr>
        <p:spPr>
          <a:xfrm>
            <a:off x="2667000" y="4872609"/>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如果主密钥泄露了，那么相应的会话密钥也将泄露，因此主密钥的安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00-line2"/>
          <p:cNvSpPr>
            <a:spLocks noGrp="1"/>
          </p:cNvSpPr>
          <p:nvPr/>
        </p:nvSpPr>
        <p:spPr>
          <a:xfrm>
            <a:off x="1752600" y="55835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全性应高于会话密钥的安全性。一般在密钥分配中心及终端系统中主密钥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00-line3"/>
          <p:cNvSpPr>
            <a:spLocks noGrp="1"/>
          </p:cNvSpPr>
          <p:nvPr/>
        </p:nvSpPr>
        <p:spPr>
          <a:xfrm>
            <a:off x="1752600" y="62945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都是物理上安全的，如果把主密钥当作会话密钥注入加密设备，那么其安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00-line4"/>
          <p:cNvSpPr>
            <a:spLocks noGrp="1"/>
          </p:cNvSpPr>
          <p:nvPr/>
        </p:nvSpPr>
        <p:spPr>
          <a:xfrm>
            <a:off x="1752600" y="7005447"/>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全性就会降低。</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01-line1"/>
          <p:cNvSpPr>
            <a:spLocks noGrp="1"/>
          </p:cNvSpPr>
          <p:nvPr/>
        </p:nvSpPr>
        <p:spPr>
          <a:xfrm>
            <a:off x="1752600" y="1800225"/>
            <a:ext cx="7278052"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7．对称密码体制中的密钥控制技术</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102-line1"/>
          <p:cNvSpPr>
            <a:spLocks noGrp="1"/>
          </p:cNvSpPr>
          <p:nvPr/>
        </p:nvSpPr>
        <p:spPr>
          <a:xfrm>
            <a:off x="2667000" y="2625471"/>
            <a:ext cx="134687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密钥标签。用于DES的密钥控制，将DES的64bit（比特）密钥中的8</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02-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个校验位作为控制使用这一密钥的标签。标签中各比特的含义为：一个比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02-line3"/>
          <p:cNvSpPr>
            <a:spLocks noGrp="1"/>
          </p:cNvSpPr>
          <p:nvPr/>
        </p:nvSpPr>
        <p:spPr>
          <a:xfrm>
            <a:off x="1752600" y="40473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特表示这个密钥是会话密钥还是主密钥；一个比特表示这个密钥是否能用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02-line4"/>
          <p:cNvSpPr>
            <a:spLocks noGrp="1"/>
          </p:cNvSpPr>
          <p:nvPr/>
        </p:nvSpPr>
        <p:spPr>
          <a:xfrm>
            <a:off x="1752600" y="47583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于加密；一个比特表示这个密钥是否能用于解密；其他比特无特定含义，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02-line5"/>
          <p:cNvSpPr>
            <a:spLocks noGrp="1"/>
          </p:cNvSpPr>
          <p:nvPr/>
        </p:nvSpPr>
        <p:spPr>
          <a:xfrm>
            <a:off x="1752600" y="5469255"/>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留待以后使用。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03-line1"/>
          <p:cNvSpPr>
            <a:spLocks noGrp="1"/>
          </p:cNvSpPr>
          <p:nvPr/>
        </p:nvSpPr>
        <p:spPr>
          <a:xfrm>
            <a:off x="2667000" y="629450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标签是在密钥之中，在分配密钥时，标签与密钥一起被加密，因此可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03-line2"/>
          <p:cNvSpPr>
            <a:spLocks noGrp="1"/>
          </p:cNvSpPr>
          <p:nvPr/>
        </p:nvSpPr>
        <p:spPr>
          <a:xfrm>
            <a:off x="1752600" y="7005447"/>
            <a:ext cx="14484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对标签起到保护作用。本方案的缺点：第一，标签的长度被限制为8bit，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03-line3"/>
          <p:cNvSpPr>
            <a:spLocks noGrp="1"/>
          </p:cNvSpPr>
          <p:nvPr/>
        </p:nvSpPr>
        <p:spPr>
          <a:xfrm>
            <a:off x="1752600" y="771639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限制了它的灵活性和功能；第二，标签是以密文形式传送的，只有解密后</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03-line4"/>
          <p:cNvSpPr>
            <a:spLocks noGrp="1"/>
          </p:cNvSpPr>
          <p:nvPr/>
        </p:nvSpPr>
        <p:spPr>
          <a:xfrm>
            <a:off x="1752600" y="8427339"/>
            <a:ext cx="9658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才能使用，因而限制了对密钥使用的控制方式。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04-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控制矢量。这一方案比上一方案灵活。方案中对每个会话密钥都指定</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04-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了一个相应的控制矢量，控制矢量分为若干字段，分别用于说明在不同情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04-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况下密钥被允许使用还是不被允许使用，且控制矢量的长度可变。控制矢</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04-line4"/>
          <p:cNvSpPr>
            <a:spLocks noGrp="1"/>
          </p:cNvSpPr>
          <p:nvPr/>
        </p:nvSpPr>
        <p:spPr>
          <a:xfrm>
            <a:off x="1752600" y="3933063"/>
            <a:ext cx="146241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量是在KDC产生密钥时加在密钥之中的，控制矢量的使用方式如图15.5所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04-line5"/>
          <p:cNvSpPr>
            <a:spLocks noGrp="1"/>
          </p:cNvSpPr>
          <p:nvPr/>
        </p:nvSpPr>
        <p:spPr>
          <a:xfrm>
            <a:off x="1752600" y="464400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3436634" y="1762125"/>
            <a:ext cx="11414733" cy="6381750"/>
          </a:xfrm>
          <a:prstGeom prst="rect">
            <a:avLst/>
          </a:prstGeom>
        </p:spPr>
      </p:pic>
      <p:sp>
        <p:nvSpPr>
          <p:cNvPr id="2" name="p106-line1"/>
          <p:cNvSpPr>
            <a:spLocks noGrp="1"/>
          </p:cNvSpPr>
          <p:nvPr/>
        </p:nvSpPr>
        <p:spPr>
          <a:xfrm>
            <a:off x="6229350" y="8372475"/>
            <a:ext cx="58864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图15.5　控制矢量的使用方式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8" name="p107-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首先，由一个杂凑函数将控制矢量压缩到与加密密钥等长，然后与主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107-line2"/>
          <p:cNvSpPr>
            <a:spLocks noGrp="1"/>
          </p:cNvSpPr>
          <p:nvPr/>
        </p:nvSpPr>
        <p:spPr>
          <a:xfrm>
            <a:off x="1752600" y="2511171"/>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密钥异或后作为加密的会话密钥，即</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08-line1"/>
          <p:cNvSpPr>
            <a:spLocks noGrp="1"/>
          </p:cNvSpPr>
          <p:nvPr/>
        </p:nvSpPr>
        <p:spPr>
          <a:xfrm>
            <a:off x="2667000" y="4132380"/>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3">
            <a:clrChange>
              <a:clrFrom>
                <a:srgbClr val="FFFFFF"/>
              </a:clrFrom>
              <a:clrTo>
                <a:srgbClr val="FFFFFF">
                  <a:alpha val="0"/>
                </a:srgbClr>
              </a:clrTo>
            </a:clrChange>
          </a:blip>
          <a:stretch>
            <a:fillRect/>
          </a:stretch>
        </p:blipFill>
        <p:spPr>
          <a:xfrm>
            <a:off x="4106536" y="3336417"/>
            <a:ext cx="3239244" cy="2131423"/>
          </a:xfrm>
          <a:prstGeom prst="rect">
            <a:avLst/>
          </a:prstGeom>
        </p:spPr>
      </p:pic>
      <p:sp>
        <p:nvSpPr>
          <p:cNvPr id="10" name="p108-line1"/>
          <p:cNvSpPr>
            <a:spLocks noGrp="1"/>
          </p:cNvSpPr>
          <p:nvPr/>
        </p:nvSpPr>
        <p:spPr>
          <a:xfrm>
            <a:off x="7413716" y="4132380"/>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（15.1）</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09-line1"/>
          <p:cNvSpPr>
            <a:spLocks noGrp="1"/>
          </p:cNvSpPr>
          <p:nvPr/>
        </p:nvSpPr>
        <p:spPr>
          <a:xfrm>
            <a:off x="2667000" y="5753590"/>
            <a:ext cx="4807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其中，CV是控制矢量；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09-line1"/>
          <p:cNvSpPr>
            <a:spLocks noGrp="1"/>
          </p:cNvSpPr>
          <p:nvPr/>
        </p:nvSpPr>
        <p:spPr>
          <a:xfrm>
            <a:off x="7416927" y="5753590"/>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0" name="p109-line1"/>
          <p:cNvSpPr>
            <a:spLocks noGrp="1"/>
          </p:cNvSpPr>
          <p:nvPr/>
        </p:nvSpPr>
        <p:spPr>
          <a:xfrm>
            <a:off x="7645527" y="5753590"/>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是杂凑函数；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09-line1"/>
          <p:cNvSpPr>
            <a:spLocks noGrp="1"/>
          </p:cNvSpPr>
          <p:nvPr/>
        </p:nvSpPr>
        <p:spPr>
          <a:xfrm>
            <a:off x="10388727" y="5753590"/>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dirty="0">
                <a:latin typeface="Times New Roman" panose="02020603050405020304" pitchFamily="18" charset="0"/>
                <a:ea typeface="宋体" panose="02010600030101010101" pitchFamily="2" charset="-122"/>
                <a:cs typeface="字由点字典黑 2"/>
                <a:sym typeface="字由点字典黑 2"/>
              </a:rPr>
              <a:t>K</a:t>
            </a:r>
            <a:endParaRPr sz="3600" b="0" i="1" dirty="0">
              <a:latin typeface="Times New Roman" panose="02020603050405020304" pitchFamily="18" charset="0"/>
              <a:ea typeface="宋体" panose="02010600030101010101" pitchFamily="2" charset="-122"/>
              <a:cs typeface="字由点字典黑 2"/>
              <a:sym typeface="字由点字典黑 2"/>
            </a:endParaRPr>
          </a:p>
        </p:txBody>
      </p:sp>
      <p:sp>
        <p:nvSpPr>
          <p:cNvPr id="22" name="p109-line1-subscript"/>
          <p:cNvSpPr>
            <a:spLocks noGrp="1"/>
          </p:cNvSpPr>
          <p:nvPr/>
        </p:nvSpPr>
        <p:spPr>
          <a:xfrm>
            <a:off x="10703888" y="5995344"/>
            <a:ext cx="291888"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m</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3" name="p109-line1"/>
          <p:cNvSpPr>
            <a:spLocks noGrp="1"/>
          </p:cNvSpPr>
          <p:nvPr/>
        </p:nvSpPr>
        <p:spPr>
          <a:xfrm>
            <a:off x="10953601" y="5753590"/>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是主密钥，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109-line1"/>
          <p:cNvSpPr>
            <a:spLocks noGrp="1"/>
          </p:cNvSpPr>
          <p:nvPr/>
        </p:nvSpPr>
        <p:spPr>
          <a:xfrm>
            <a:off x="13239601" y="5753590"/>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5" name="p109-line1-subscript"/>
          <p:cNvSpPr>
            <a:spLocks noGrp="1"/>
          </p:cNvSpPr>
          <p:nvPr/>
        </p:nvSpPr>
        <p:spPr>
          <a:xfrm>
            <a:off x="13569737" y="6019802"/>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S</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6" name="p109-line1"/>
          <p:cNvSpPr>
            <a:spLocks noGrp="1"/>
          </p:cNvSpPr>
          <p:nvPr/>
        </p:nvSpPr>
        <p:spPr>
          <a:xfrm>
            <a:off x="13737587" y="5753590"/>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109-line2"/>
          <p:cNvSpPr>
            <a:spLocks noGrp="1"/>
          </p:cNvSpPr>
          <p:nvPr/>
        </p:nvSpPr>
        <p:spPr>
          <a:xfrm>
            <a:off x="1752600" y="6547485"/>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控制矢量的使用方式表示为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4">
            <a:clrChange>
              <a:clrFrom>
                <a:srgbClr val="FFFFFF"/>
              </a:clrFrom>
              <a:clrTo>
                <a:srgbClr val="FFFFFF">
                  <a:alpha val="0"/>
                </a:srgbClr>
              </a:clrTo>
            </a:clrChange>
          </a:blip>
          <a:stretch>
            <a:fillRect/>
          </a:stretch>
        </p:blipFill>
        <p:spPr>
          <a:xfrm>
            <a:off x="7369969" y="6464536"/>
            <a:ext cx="4271419" cy="705394"/>
          </a:xfrm>
          <a:prstGeom prst="rect">
            <a:avLst/>
          </a:prstGeom>
        </p:spPr>
      </p:pic>
      <p:sp>
        <p:nvSpPr>
          <p:cNvPr id="29" name="p109-line2"/>
          <p:cNvSpPr>
            <a:spLocks noGrp="1"/>
          </p:cNvSpPr>
          <p:nvPr/>
        </p:nvSpPr>
        <p:spPr>
          <a:xfrm>
            <a:off x="11772356" y="6547485"/>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对称密码体制的密钥分配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10-line1"/>
          <p:cNvSpPr>
            <a:spLocks noGrp="1"/>
          </p:cNvSpPr>
          <p:nvPr/>
        </p:nvSpPr>
        <p:spPr>
          <a:xfrm>
            <a:off x="1752600" y="1800225"/>
            <a:ext cx="4014978"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8．控制矢量的使用</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111-line1"/>
          <p:cNvSpPr>
            <a:spLocks noGrp="1"/>
          </p:cNvSpPr>
          <p:nvPr/>
        </p:nvSpPr>
        <p:spPr>
          <a:xfrm>
            <a:off x="2667000" y="2625471"/>
            <a:ext cx="138240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KDC在向用户发送会话密钥时，同时以明文形式发送控制矢量。用户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11-line2"/>
          <p:cNvSpPr>
            <a:spLocks noGrp="1"/>
          </p:cNvSpPr>
          <p:nvPr/>
        </p:nvSpPr>
        <p:spPr>
          <a:xfrm>
            <a:off x="1752600" y="3336417"/>
            <a:ext cx="14332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只有使用与KDC共享的主密钥及KDC发送来的控制矢量才能恢复会话密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11-line3"/>
          <p:cNvSpPr>
            <a:spLocks noGrp="1"/>
          </p:cNvSpPr>
          <p:nvPr/>
        </p:nvSpPr>
        <p:spPr>
          <a:xfrm>
            <a:off x="1752600" y="4047363"/>
            <a:ext cx="1285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钥，因此还必须保留会话密钥和它的控制矢量之间的对应关系。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12-line1"/>
          <p:cNvSpPr>
            <a:spLocks noGrp="1"/>
          </p:cNvSpPr>
          <p:nvPr/>
        </p:nvSpPr>
        <p:spPr>
          <a:xfrm>
            <a:off x="2667000" y="4872609"/>
            <a:ext cx="13570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与使用8bit的密钥标签相比，使用控制矢量有两个优点：第一，控制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12-line2"/>
          <p:cNvSpPr>
            <a:spLocks noGrp="1"/>
          </p:cNvSpPr>
          <p:nvPr/>
        </p:nvSpPr>
        <p:spPr>
          <a:xfrm>
            <a:off x="1752600" y="55835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矢量的长度没有限制，因此可对密钥的使用施加任意复杂的控制；第二，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12-line3"/>
          <p:cNvSpPr>
            <a:spLocks noGrp="1"/>
          </p:cNvSpPr>
          <p:nvPr/>
        </p:nvSpPr>
        <p:spPr>
          <a:xfrm>
            <a:off x="1752600" y="6294501"/>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控制矢量始终以明文形式存在，因此可在任意阶段对密钥的使用施加控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12-line4"/>
          <p:cNvSpPr>
            <a:spLocks noGrp="1"/>
          </p:cNvSpPr>
          <p:nvPr/>
        </p:nvSpPr>
        <p:spPr>
          <a:xfrm>
            <a:off x="1752600" y="7005447"/>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14-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前面介绍了对称密码体制的密钥分配问题，而公钥加密的一个主要用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14-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途是分配对称密码体制使用的密钥。本节介绍两方面内容：一是公钥密码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14-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体制所用的公开密钥的分配，二是如何用公钥密码体制来分配对称密码体</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14-line4"/>
          <p:cNvSpPr>
            <a:spLocks noGrp="1"/>
          </p:cNvSpPr>
          <p:nvPr/>
        </p:nvSpPr>
        <p:spPr>
          <a:xfrm>
            <a:off x="1752600" y="3933063"/>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制所需要的密钥。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15-line1"/>
          <p:cNvSpPr>
            <a:spLocks noGrp="1"/>
          </p:cNvSpPr>
          <p:nvPr/>
        </p:nvSpPr>
        <p:spPr>
          <a:xfrm>
            <a:off x="1752600" y="1800225"/>
            <a:ext cx="3082671"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1．公钥的分配</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116-line1"/>
          <p:cNvSpPr>
            <a:spLocks noGrp="1"/>
          </p:cNvSpPr>
          <p:nvPr/>
        </p:nvSpPr>
        <p:spPr>
          <a:xfrm>
            <a:off x="2667000" y="2625471"/>
            <a:ext cx="2571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1）公开发布</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17-line1"/>
          <p:cNvSpPr>
            <a:spLocks noGrp="1"/>
          </p:cNvSpPr>
          <p:nvPr/>
        </p:nvSpPr>
        <p:spPr>
          <a:xfrm>
            <a:off x="2667000" y="3450717"/>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公开发布是指用户将自己的公钥发给其他每个用户，或向某一团体广</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17-line2"/>
          <p:cNvSpPr>
            <a:spLocks noGrp="1"/>
          </p:cNvSpPr>
          <p:nvPr/>
        </p:nvSpPr>
        <p:spPr>
          <a:xfrm>
            <a:off x="1752600" y="4161663"/>
            <a:ext cx="146625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播。例如，PGP（Pretty Good Privacy）中采用了RSA算法，它的很多用户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17-line3"/>
          <p:cNvSpPr>
            <a:spLocks noGrp="1"/>
          </p:cNvSpPr>
          <p:nvPr/>
        </p:nvSpPr>
        <p:spPr>
          <a:xfrm>
            <a:off x="1752600" y="48726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都是将自己的公钥附加到消息上，然后发送到公开（公共）区域，如互联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17-line4"/>
          <p:cNvSpPr>
            <a:spLocks noGrp="1"/>
          </p:cNvSpPr>
          <p:nvPr/>
        </p:nvSpPr>
        <p:spPr>
          <a:xfrm>
            <a:off x="1752600" y="5583555"/>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网上电子邮件列表。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0" name="p118-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这种方法虽然简单，但有一个非常大的缺点，即任何人都可伪造这种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118-line2"/>
          <p:cNvSpPr>
            <a:spLocks noGrp="1"/>
          </p:cNvSpPr>
          <p:nvPr/>
        </p:nvSpPr>
        <p:spPr>
          <a:xfrm>
            <a:off x="1752600" y="2511171"/>
            <a:ext cx="144334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公开发布。如果某个用户假装是用户A并以A的名义向另一用户发送或广</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18-line3"/>
          <p:cNvSpPr>
            <a:spLocks noGrp="1"/>
          </p:cNvSpPr>
          <p:nvPr/>
        </p:nvSpPr>
        <p:spPr>
          <a:xfrm>
            <a:off x="1752600" y="3222117"/>
            <a:ext cx="1456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播自己的公钥，那么在A发现假冒者以前，这一假冒者可解读所有将要发</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18-line4"/>
          <p:cNvSpPr>
            <a:spLocks noGrp="1"/>
          </p:cNvSpPr>
          <p:nvPr/>
        </p:nvSpPr>
        <p:spPr>
          <a:xfrm>
            <a:off x="1752600" y="3933063"/>
            <a:ext cx="118172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向A的加密消息，而且假冒者还能用伪造的密钥获得认证。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19-line1"/>
          <p:cNvSpPr>
            <a:spLocks noGrp="1"/>
          </p:cNvSpPr>
          <p:nvPr/>
        </p:nvSpPr>
        <p:spPr>
          <a:xfrm>
            <a:off x="2667000" y="4758309"/>
            <a:ext cx="3028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2）公用目录表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20-line1"/>
          <p:cNvSpPr>
            <a:spLocks noGrp="1"/>
          </p:cNvSpPr>
          <p:nvPr/>
        </p:nvSpPr>
        <p:spPr>
          <a:xfrm>
            <a:off x="2667000" y="558355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公用目录表是指一个公用的公钥动态目录表，公用目录表的建立、维</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20-line2"/>
          <p:cNvSpPr>
            <a:spLocks noGrp="1"/>
          </p:cNvSpPr>
          <p:nvPr/>
        </p:nvSpPr>
        <p:spPr>
          <a:xfrm>
            <a:off x="1752600" y="62945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护及公钥的分布由某个可信的实体或组织承担，称这个实体或组织为公用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20-line3"/>
          <p:cNvSpPr>
            <a:spLocks noGrp="1"/>
          </p:cNvSpPr>
          <p:nvPr/>
        </p:nvSpPr>
        <p:spPr>
          <a:xfrm>
            <a:off x="1752600" y="70054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目录的管理员。与公开发布分配方法相比，这种方法的安全性更高。该方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20-line4"/>
          <p:cNvSpPr>
            <a:spLocks noGrp="1"/>
          </p:cNvSpPr>
          <p:nvPr/>
        </p:nvSpPr>
        <p:spPr>
          <a:xfrm>
            <a:off x="1752600" y="7716393"/>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案有以下一些组成部分。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21-line1"/>
          <p:cNvSpPr>
            <a:spLocks noGrp="1"/>
          </p:cNvSpPr>
          <p:nvPr/>
        </p:nvSpPr>
        <p:spPr>
          <a:xfrm>
            <a:off x="2667000" y="1800225"/>
            <a:ext cx="13430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① 管理员为每个用户在目录表中建立一个目录，目录中有两个数据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21-line2"/>
          <p:cNvSpPr>
            <a:spLocks noGrp="1"/>
          </p:cNvSpPr>
          <p:nvPr/>
        </p:nvSpPr>
        <p:spPr>
          <a:xfrm>
            <a:off x="1752600" y="2511171"/>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项：一是用户名，二是用户的公钥。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22-line1"/>
          <p:cNvSpPr>
            <a:spLocks noGrp="1"/>
          </p:cNvSpPr>
          <p:nvPr/>
        </p:nvSpPr>
        <p:spPr>
          <a:xfrm>
            <a:off x="2667000" y="3336417"/>
            <a:ext cx="138874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 每个用户都亲自或以某种安全的认证通信在管理者那里为自己的公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22-line2"/>
          <p:cNvSpPr>
            <a:spLocks noGrp="1"/>
          </p:cNvSpPr>
          <p:nvPr/>
        </p:nvSpPr>
        <p:spPr>
          <a:xfrm>
            <a:off x="1752600" y="4047363"/>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钥注册。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23-line1"/>
          <p:cNvSpPr>
            <a:spLocks noGrp="1"/>
          </p:cNvSpPr>
          <p:nvPr/>
        </p:nvSpPr>
        <p:spPr>
          <a:xfrm>
            <a:off x="2667000" y="4872609"/>
            <a:ext cx="138874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③ 若用户自己的公钥用过的次数太多或与公钥相关的私钥已被泄露，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23-line2"/>
          <p:cNvSpPr>
            <a:spLocks noGrp="1"/>
          </p:cNvSpPr>
          <p:nvPr/>
        </p:nvSpPr>
        <p:spPr>
          <a:xfrm>
            <a:off x="1752600" y="5583555"/>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则可随时用新密钥替换现有的密钥。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24-line1"/>
          <p:cNvSpPr>
            <a:spLocks noGrp="1"/>
          </p:cNvSpPr>
          <p:nvPr/>
        </p:nvSpPr>
        <p:spPr>
          <a:xfrm>
            <a:off x="2667000" y="6408801"/>
            <a:ext cx="138874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④ 管理员定期公布或定期更新目录表。例如，像电话号码本一样公布</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24-line2"/>
          <p:cNvSpPr>
            <a:spLocks noGrp="1"/>
          </p:cNvSpPr>
          <p:nvPr/>
        </p:nvSpPr>
        <p:spPr>
          <a:xfrm>
            <a:off x="1752600" y="7119747"/>
            <a:ext cx="10572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目录表或在发行量很大的报纸上公布目录表的更新。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25-line1"/>
          <p:cNvSpPr>
            <a:spLocks noGrp="1"/>
          </p:cNvSpPr>
          <p:nvPr/>
        </p:nvSpPr>
        <p:spPr>
          <a:xfrm>
            <a:off x="2667000" y="1800225"/>
            <a:ext cx="138874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⑤ 用户可通过电子手段访问目录表，这时从管理员到用户必须有安全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25-line2"/>
          <p:cNvSpPr>
            <a:spLocks noGrp="1"/>
          </p:cNvSpPr>
          <p:nvPr/>
        </p:nvSpPr>
        <p:spPr>
          <a:xfrm>
            <a:off x="1752600" y="2511171"/>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的认证通信。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26-line1"/>
          <p:cNvSpPr>
            <a:spLocks noGrp="1"/>
          </p:cNvSpPr>
          <p:nvPr/>
        </p:nvSpPr>
        <p:spPr>
          <a:xfrm>
            <a:off x="2667000" y="3336417"/>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本方案的安全性虽然高于公开发布的安全性，但仍易受攻击。如果敌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26-line2"/>
          <p:cNvSpPr>
            <a:spLocks noGrp="1"/>
          </p:cNvSpPr>
          <p:nvPr/>
        </p:nvSpPr>
        <p:spPr>
          <a:xfrm>
            <a:off x="1752600" y="40473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手成功地获取管理员的私钥，就可伪造一个公钥目录表，以后既可假冒任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26-line3"/>
          <p:cNvSpPr>
            <a:spLocks noGrp="1"/>
          </p:cNvSpPr>
          <p:nvPr/>
        </p:nvSpPr>
        <p:spPr>
          <a:xfrm>
            <a:off x="1752600" y="47583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意用户又能监听发往任意用户的消息，而且公用目录表还易受到敌手的窜</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26-line4"/>
          <p:cNvSpPr>
            <a:spLocks noGrp="1"/>
          </p:cNvSpPr>
          <p:nvPr/>
        </p:nvSpPr>
        <p:spPr>
          <a:xfrm>
            <a:off x="1752600" y="5469255"/>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9497" y="4940794"/>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28-line1"/>
          <p:cNvSpPr>
            <a:spLocks noGrp="1"/>
          </p:cNvSpPr>
          <p:nvPr/>
        </p:nvSpPr>
        <p:spPr>
          <a:xfrm>
            <a:off x="2458064" y="2437579"/>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如果在公钥目录表中对公钥的分配施加更严密的控制，安全性将会更</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28-line2"/>
          <p:cNvSpPr>
            <a:spLocks noGrp="1"/>
          </p:cNvSpPr>
          <p:nvPr/>
        </p:nvSpPr>
        <p:spPr>
          <a:xfrm>
            <a:off x="1543664" y="314852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强。与公用目录表类似，这里假定有一个公钥管理机构来为各用户建立、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28-line3"/>
          <p:cNvSpPr>
            <a:spLocks noGrp="1"/>
          </p:cNvSpPr>
          <p:nvPr/>
        </p:nvSpPr>
        <p:spPr>
          <a:xfrm>
            <a:off x="1543664" y="38594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维护动态的公钥目录，但同时对系统提出以下要求，即每个用户都知道管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28-line4"/>
          <p:cNvSpPr>
            <a:spLocks noGrp="1"/>
          </p:cNvSpPr>
          <p:nvPr/>
        </p:nvSpPr>
        <p:spPr>
          <a:xfrm>
            <a:off x="1543664" y="4570417"/>
            <a:ext cx="11029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理机构的公钥，而只有管理机构自己知道相应的私钥。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29-line1"/>
          <p:cNvSpPr>
            <a:spLocks noGrp="1"/>
          </p:cNvSpPr>
          <p:nvPr/>
        </p:nvSpPr>
        <p:spPr>
          <a:xfrm>
            <a:off x="2458064" y="5395663"/>
            <a:ext cx="12287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公钥管理机构分配公钥如图15.6所示，公钥的分配步骤如下。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30-line1"/>
          <p:cNvSpPr>
            <a:spLocks noGrp="1"/>
          </p:cNvSpPr>
          <p:nvPr/>
        </p:nvSpPr>
        <p:spPr>
          <a:xfrm>
            <a:off x="2458064" y="6220909"/>
            <a:ext cx="137603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① 用户A向公钥管理机构发送一个带时间戳的消息，消息中有获取用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30-line2"/>
          <p:cNvSpPr>
            <a:spLocks noGrp="1"/>
          </p:cNvSpPr>
          <p:nvPr/>
        </p:nvSpPr>
        <p:spPr>
          <a:xfrm>
            <a:off x="1543664" y="6931855"/>
            <a:ext cx="4934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户B的当前公钥的请求。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27-line1"/>
          <p:cNvSpPr>
            <a:spLocks noGrp="1"/>
          </p:cNvSpPr>
          <p:nvPr/>
        </p:nvSpPr>
        <p:spPr>
          <a:xfrm>
            <a:off x="2458064" y="1722507"/>
            <a:ext cx="3486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3）公钥管理机构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7" name="p131-line1"/>
          <p:cNvSpPr>
            <a:spLocks noGrp="1"/>
          </p:cNvSpPr>
          <p:nvPr/>
        </p:nvSpPr>
        <p:spPr>
          <a:xfrm>
            <a:off x="2667000" y="1800225"/>
            <a:ext cx="137603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 公钥管理机构对A的请求做出应答，应答由一个消息表示，该消息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131-line2"/>
          <p:cNvSpPr>
            <a:spLocks noGrp="1"/>
          </p:cNvSpPr>
          <p:nvPr/>
        </p:nvSpPr>
        <p:spPr>
          <a:xfrm>
            <a:off x="1752600" y="2511171"/>
            <a:ext cx="65852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由公钥管理机构用自己的私钥SK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31-line2-subscript"/>
          <p:cNvSpPr>
            <a:spLocks noGrp="1"/>
          </p:cNvSpPr>
          <p:nvPr/>
        </p:nvSpPr>
        <p:spPr>
          <a:xfrm>
            <a:off x="8280654" y="2648331"/>
            <a:ext cx="49293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AU</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31-line2"/>
          <p:cNvSpPr>
            <a:spLocks noGrp="1"/>
          </p:cNvSpPr>
          <p:nvPr/>
        </p:nvSpPr>
        <p:spPr>
          <a:xfrm>
            <a:off x="8716434" y="2511171"/>
            <a:ext cx="7702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加密，因此A能用公钥管理机构的公钥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31-line3"/>
          <p:cNvSpPr>
            <a:spLocks noGrp="1"/>
          </p:cNvSpPr>
          <p:nvPr/>
        </p:nvSpPr>
        <p:spPr>
          <a:xfrm>
            <a:off x="1752600" y="3222117"/>
            <a:ext cx="10902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解密，并使A相信这个消息的确来源于公钥管理机构。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32-line1"/>
          <p:cNvSpPr>
            <a:spLocks noGrp="1"/>
          </p:cNvSpPr>
          <p:nvPr/>
        </p:nvSpPr>
        <p:spPr>
          <a:xfrm>
            <a:off x="2667000" y="4047363"/>
            <a:ext cx="78045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应答的消息中有以下几项：B的公钥PK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32-line1-subscript"/>
          <p:cNvSpPr>
            <a:spLocks noGrp="1"/>
          </p:cNvSpPr>
          <p:nvPr/>
        </p:nvSpPr>
        <p:spPr>
          <a:xfrm>
            <a:off x="10414445" y="4184523"/>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32-line1"/>
          <p:cNvSpPr>
            <a:spLocks noGrp="1"/>
          </p:cNvSpPr>
          <p:nvPr/>
        </p:nvSpPr>
        <p:spPr>
          <a:xfrm>
            <a:off x="10615738" y="4047363"/>
            <a:ext cx="5721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，A可用之对将发往B的消息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32-line2"/>
          <p:cNvSpPr>
            <a:spLocks noGrp="1"/>
          </p:cNvSpPr>
          <p:nvPr/>
        </p:nvSpPr>
        <p:spPr>
          <a:xfrm>
            <a:off x="1752600" y="4758309"/>
            <a:ext cx="144334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加密；A的请求，用于A验证收到的应答的确是对相应请求的应答，且还</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32-line3"/>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能验证自己最初发出的请求在被管理机构收到以前是否被篡改；最初的时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32-line4"/>
          <p:cNvSpPr>
            <a:spLocks noGrp="1"/>
          </p:cNvSpPr>
          <p:nvPr/>
        </p:nvSpPr>
        <p:spPr>
          <a:xfrm>
            <a:off x="1752600" y="6180201"/>
            <a:ext cx="1456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间戳，以使A相信管理机构发来的消息不是一个旧消息，因此消息中的公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132-line5"/>
          <p:cNvSpPr>
            <a:spLocks noGrp="1"/>
          </p:cNvSpPr>
          <p:nvPr/>
        </p:nvSpPr>
        <p:spPr>
          <a:xfrm>
            <a:off x="1752600" y="6891147"/>
            <a:ext cx="4934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钥的确是B当前的公钥。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133-line1"/>
          <p:cNvSpPr>
            <a:spLocks noGrp="1"/>
          </p:cNvSpPr>
          <p:nvPr/>
        </p:nvSpPr>
        <p:spPr>
          <a:xfrm>
            <a:off x="2667000" y="7716393"/>
            <a:ext cx="135830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③ 用B的公钥对一个消息加密后发往B，这个消息有两个数据项：一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133-line2"/>
          <p:cNvSpPr>
            <a:spLocks noGrp="1"/>
          </p:cNvSpPr>
          <p:nvPr/>
        </p:nvSpPr>
        <p:spPr>
          <a:xfrm>
            <a:off x="1752600" y="8427339"/>
            <a:ext cx="269843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是A的身份ID</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7" name="p133-line2-subscript"/>
          <p:cNvSpPr>
            <a:spLocks noGrp="1"/>
          </p:cNvSpPr>
          <p:nvPr/>
        </p:nvSpPr>
        <p:spPr>
          <a:xfrm>
            <a:off x="4393882" y="8564499"/>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A</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8" name="p133-line2"/>
          <p:cNvSpPr>
            <a:spLocks noGrp="1"/>
          </p:cNvSpPr>
          <p:nvPr/>
        </p:nvSpPr>
        <p:spPr>
          <a:xfrm>
            <a:off x="4611773" y="842733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3812124" y="1762125"/>
            <a:ext cx="10663752" cy="6381750"/>
          </a:xfrm>
          <a:prstGeom prst="rect">
            <a:avLst/>
          </a:prstGeom>
        </p:spPr>
      </p:pic>
      <p:sp>
        <p:nvSpPr>
          <p:cNvPr id="2" name="p135-line1"/>
          <p:cNvSpPr>
            <a:spLocks noGrp="1"/>
          </p:cNvSpPr>
          <p:nvPr/>
        </p:nvSpPr>
        <p:spPr>
          <a:xfrm>
            <a:off x="6000750" y="8372475"/>
            <a:ext cx="63436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图15.6　公钥管理机构分配公钥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7" name="p136-line1"/>
          <p:cNvSpPr>
            <a:spLocks noGrp="1"/>
          </p:cNvSpPr>
          <p:nvPr/>
        </p:nvSpPr>
        <p:spPr>
          <a:xfrm>
            <a:off x="2667000" y="1800225"/>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lang="zh-CN" altLang="en-US" sz="3600" b="0" i="0" dirty="0">
                <a:latin typeface="Times New Roman" panose="02020603050405020304" pitchFamily="18" charset="0"/>
                <a:ea typeface="宋体" panose="02010600030101010101" pitchFamily="2" charset="-122"/>
                <a:cs typeface="字由点字典黑 2"/>
                <a:sym typeface="字由点字典黑 2"/>
              </a:rPr>
              <a:t>二</a:t>
            </a:r>
            <a:r>
              <a:rPr sz="3600" b="0" i="0" dirty="0" err="1">
                <a:latin typeface="Times New Roman" panose="02020603050405020304" pitchFamily="18" charset="0"/>
                <a:ea typeface="宋体" panose="02010600030101010101" pitchFamily="2" charset="-122"/>
                <a:cs typeface="字由点字典黑 2"/>
                <a:sym typeface="字由点字典黑 2"/>
              </a:rPr>
              <a:t>是一个一次性随机数</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 name="p136-line1"/>
          <p:cNvSpPr>
            <a:spLocks noGrp="1"/>
          </p:cNvSpPr>
          <p:nvPr/>
        </p:nvSpPr>
        <p:spPr>
          <a:xfrm>
            <a:off x="7293292" y="178384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dirty="0">
                <a:latin typeface="Times New Roman" panose="02020603050405020304" pitchFamily="18" charset="0"/>
                <a:ea typeface="宋体" panose="02010600030101010101" pitchFamily="2" charset="-122"/>
                <a:cs typeface="字由点字典黑 2"/>
                <a:sym typeface="字由点字典黑 2"/>
              </a:rPr>
              <a:t>N</a:t>
            </a:r>
            <a:endParaRPr sz="3600" b="0" i="1" dirty="0">
              <a:latin typeface="Times New Roman" panose="02020603050405020304" pitchFamily="18" charset="0"/>
              <a:ea typeface="宋体" panose="02010600030101010101" pitchFamily="2" charset="-122"/>
              <a:cs typeface="字由点字典黑 2"/>
              <a:sym typeface="字由点字典黑 2"/>
            </a:endParaRPr>
          </a:p>
        </p:txBody>
      </p:sp>
      <p:sp>
        <p:nvSpPr>
          <p:cNvPr id="3" name="p136-line1-subscript"/>
          <p:cNvSpPr>
            <a:spLocks noGrp="1"/>
          </p:cNvSpPr>
          <p:nvPr/>
        </p:nvSpPr>
        <p:spPr>
          <a:xfrm>
            <a:off x="7623428" y="1921002"/>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1</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4" name="p136-line1"/>
          <p:cNvSpPr>
            <a:spLocks noGrp="1"/>
          </p:cNvSpPr>
          <p:nvPr/>
        </p:nvSpPr>
        <p:spPr>
          <a:xfrm>
            <a:off x="7262812" y="1800225"/>
            <a:ext cx="6000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lang="en-US" sz="3600" b="0" i="0" dirty="0">
                <a:latin typeface="Times New Roman" panose="02020603050405020304" pitchFamily="18" charset="0"/>
                <a:ea typeface="宋体" panose="02010600030101010101" pitchFamily="2" charset="-122"/>
                <a:cs typeface="字由点字典黑 2"/>
                <a:sym typeface="字由点字典黑 2"/>
              </a:rPr>
              <a:t>    </a:t>
            </a:r>
            <a:r>
              <a:rPr sz="3600" b="0" i="0" dirty="0">
                <a:latin typeface="Times New Roman" panose="02020603050405020304" pitchFamily="18" charset="0"/>
                <a:ea typeface="宋体" panose="02010600030101010101" pitchFamily="2" charset="-122"/>
                <a:cs typeface="字由点字典黑 2"/>
                <a:sym typeface="字由点字典黑 2"/>
              </a:rPr>
              <a:t>，</a:t>
            </a:r>
            <a:r>
              <a:rPr sz="3600" b="0" i="0" dirty="0" err="1">
                <a:latin typeface="Times New Roman" panose="02020603050405020304" pitchFamily="18" charset="0"/>
                <a:ea typeface="宋体" panose="02010600030101010101" pitchFamily="2" charset="-122"/>
                <a:cs typeface="字由点字典黑 2"/>
                <a:sym typeface="字由点字典黑 2"/>
              </a:rPr>
              <a:t>用于唯一地标识这次业务</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0" name="p137-line1"/>
          <p:cNvSpPr>
            <a:spLocks noGrp="1"/>
          </p:cNvSpPr>
          <p:nvPr/>
        </p:nvSpPr>
        <p:spPr>
          <a:xfrm>
            <a:off x="2667000" y="2625471"/>
            <a:ext cx="137603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④ 以相同方式从公钥公钥管理机构获取A的公钥（与①、②类似）。</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37-line2"/>
          <p:cNvSpPr>
            <a:spLocks noGrp="1"/>
          </p:cNvSpPr>
          <p:nvPr/>
        </p:nvSpPr>
        <p:spPr>
          <a:xfrm>
            <a:off x="1752600" y="3336417"/>
            <a:ext cx="13951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这时，A和B都已经安全得到了对方的公钥，因此可进行保密通信。然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37-line3"/>
          <p:cNvSpPr>
            <a:spLocks noGrp="1"/>
          </p:cNvSpPr>
          <p:nvPr/>
        </p:nvSpPr>
        <p:spPr>
          <a:xfrm>
            <a:off x="1752600" y="4047363"/>
            <a:ext cx="9658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而，他们也许还希望有以下两步，以认证对方。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38-line1"/>
          <p:cNvSpPr>
            <a:spLocks noGrp="1"/>
          </p:cNvSpPr>
          <p:nvPr/>
        </p:nvSpPr>
        <p:spPr>
          <a:xfrm>
            <a:off x="2667000" y="4872609"/>
            <a:ext cx="16703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⑤ 用PK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38-line1-subscript"/>
          <p:cNvSpPr>
            <a:spLocks noGrp="1"/>
          </p:cNvSpPr>
          <p:nvPr/>
        </p:nvSpPr>
        <p:spPr>
          <a:xfrm>
            <a:off x="4280154" y="5009769"/>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38-line1"/>
          <p:cNvSpPr>
            <a:spLocks noGrp="1"/>
          </p:cNvSpPr>
          <p:nvPr/>
        </p:nvSpPr>
        <p:spPr>
          <a:xfrm>
            <a:off x="4498044" y="4872609"/>
            <a:ext cx="116902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对一个消息加密后发往A，该消息的数据项有A的一次性随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38-line2"/>
          <p:cNvSpPr>
            <a:spLocks noGrp="1"/>
          </p:cNvSpPr>
          <p:nvPr/>
        </p:nvSpPr>
        <p:spPr>
          <a:xfrm>
            <a:off x="1752600" y="5583555"/>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38-line2"/>
          <p:cNvSpPr>
            <a:spLocks noGrp="1"/>
          </p:cNvSpPr>
          <p:nvPr/>
        </p:nvSpPr>
        <p:spPr>
          <a:xfrm>
            <a:off x="2667000" y="558355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4" name="p138-line2-subscript"/>
          <p:cNvSpPr>
            <a:spLocks noGrp="1"/>
          </p:cNvSpPr>
          <p:nvPr/>
        </p:nvSpPr>
        <p:spPr>
          <a:xfrm>
            <a:off x="2997136" y="5720715"/>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138-line2"/>
          <p:cNvSpPr>
            <a:spLocks noGrp="1"/>
          </p:cNvSpPr>
          <p:nvPr/>
        </p:nvSpPr>
        <p:spPr>
          <a:xfrm>
            <a:off x="3148012" y="5583555"/>
            <a:ext cx="5848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和B产生的一个一次性随机数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138-line2"/>
          <p:cNvSpPr>
            <a:spLocks noGrp="1"/>
          </p:cNvSpPr>
          <p:nvPr/>
        </p:nvSpPr>
        <p:spPr>
          <a:xfrm>
            <a:off x="8939403" y="558355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8" name="p138-line2-subscript"/>
          <p:cNvSpPr>
            <a:spLocks noGrp="1"/>
          </p:cNvSpPr>
          <p:nvPr/>
        </p:nvSpPr>
        <p:spPr>
          <a:xfrm>
            <a:off x="9269540" y="5720715"/>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138-line2"/>
          <p:cNvSpPr>
            <a:spLocks noGrp="1"/>
          </p:cNvSpPr>
          <p:nvPr/>
        </p:nvSpPr>
        <p:spPr>
          <a:xfrm>
            <a:off x="9420416" y="5583555"/>
            <a:ext cx="6762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。因为只有B能解密③的消息，所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138-line3"/>
          <p:cNvSpPr>
            <a:spLocks noGrp="1"/>
          </p:cNvSpPr>
          <p:nvPr/>
        </p:nvSpPr>
        <p:spPr>
          <a:xfrm>
            <a:off x="1752600" y="6294501"/>
            <a:ext cx="4044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以A收到的消息中的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138-line3"/>
          <p:cNvSpPr>
            <a:spLocks noGrp="1"/>
          </p:cNvSpPr>
          <p:nvPr/>
        </p:nvSpPr>
        <p:spPr>
          <a:xfrm>
            <a:off x="5740336" y="62945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2" name="p138-line3-subscript"/>
          <p:cNvSpPr>
            <a:spLocks noGrp="1"/>
          </p:cNvSpPr>
          <p:nvPr/>
        </p:nvSpPr>
        <p:spPr>
          <a:xfrm>
            <a:off x="6070473" y="643166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138-line3"/>
          <p:cNvSpPr>
            <a:spLocks noGrp="1"/>
          </p:cNvSpPr>
          <p:nvPr/>
        </p:nvSpPr>
        <p:spPr>
          <a:xfrm>
            <a:off x="6221349" y="6294501"/>
            <a:ext cx="7220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可使其相信通信的另一方的确是B。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139-line1"/>
          <p:cNvSpPr>
            <a:spLocks noGrp="1"/>
          </p:cNvSpPr>
          <p:nvPr/>
        </p:nvSpPr>
        <p:spPr>
          <a:xfrm>
            <a:off x="2667000" y="7119747"/>
            <a:ext cx="32196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⑥ 用B的公钥对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139-line1"/>
          <p:cNvSpPr>
            <a:spLocks noGrp="1"/>
          </p:cNvSpPr>
          <p:nvPr/>
        </p:nvSpPr>
        <p:spPr>
          <a:xfrm>
            <a:off x="5829491" y="711974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6" name="p139-line1-subscript"/>
          <p:cNvSpPr>
            <a:spLocks noGrp="1"/>
          </p:cNvSpPr>
          <p:nvPr/>
        </p:nvSpPr>
        <p:spPr>
          <a:xfrm>
            <a:off x="6159627" y="725690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139-line1"/>
          <p:cNvSpPr>
            <a:spLocks noGrp="1"/>
          </p:cNvSpPr>
          <p:nvPr/>
        </p:nvSpPr>
        <p:spPr>
          <a:xfrm>
            <a:off x="6310503" y="7119747"/>
            <a:ext cx="98111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加密后返回给B，可使B相信通信的另一方的确是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139-line2"/>
          <p:cNvSpPr>
            <a:spLocks noGrp="1"/>
          </p:cNvSpPr>
          <p:nvPr/>
        </p:nvSpPr>
        <p:spPr>
          <a:xfrm>
            <a:off x="1752600" y="7830693"/>
            <a:ext cx="844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40-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以上过程共发送了6个消息，其中前4个消息用于获取对方的公钥。用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40-line2"/>
          <p:cNvSpPr>
            <a:spLocks noGrp="1"/>
          </p:cNvSpPr>
          <p:nvPr/>
        </p:nvSpPr>
        <p:spPr>
          <a:xfrm>
            <a:off x="1752600" y="2511171"/>
            <a:ext cx="14458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户得到对方的公钥后保存起来可供以后使用，这样就不必再发送前4个消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40-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息了，然而还必须定期地通过公钥管理机构获取通信对方的公钥，以免对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40-line4"/>
          <p:cNvSpPr>
            <a:spLocks noGrp="1"/>
          </p:cNvSpPr>
          <p:nvPr/>
        </p:nvSpPr>
        <p:spPr>
          <a:xfrm>
            <a:off x="1752600" y="3933063"/>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方的公钥更新后无法保证当前的通信。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7" name="p141-line1"/>
          <p:cNvSpPr>
            <a:spLocks noGrp="1"/>
          </p:cNvSpPr>
          <p:nvPr/>
        </p:nvSpPr>
        <p:spPr>
          <a:xfrm>
            <a:off x="2175387" y="1585735"/>
            <a:ext cx="2571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4）公钥证书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42-line1"/>
          <p:cNvSpPr>
            <a:spLocks noGrp="1"/>
          </p:cNvSpPr>
          <p:nvPr/>
        </p:nvSpPr>
        <p:spPr>
          <a:xfrm>
            <a:off x="2175387" y="241098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上述公钥管理机构分配公钥时也有缺点，因为每个用户要想和他人联</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42-line2"/>
          <p:cNvSpPr>
            <a:spLocks noGrp="1"/>
          </p:cNvSpPr>
          <p:nvPr/>
        </p:nvSpPr>
        <p:spPr>
          <a:xfrm>
            <a:off x="1260987" y="3121927"/>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系都需要求助于公钥管理机构，所以公钥管理机构有可能成为系统的瓶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42-line3"/>
          <p:cNvSpPr>
            <a:spLocks noGrp="1"/>
          </p:cNvSpPr>
          <p:nvPr/>
        </p:nvSpPr>
        <p:spPr>
          <a:xfrm>
            <a:off x="1260987" y="3832873"/>
            <a:ext cx="1240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颈，而且由公钥管理机构维护的公钥目录表也易被敌手窜扰。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43-line1"/>
          <p:cNvSpPr>
            <a:spLocks noGrp="1"/>
          </p:cNvSpPr>
          <p:nvPr/>
        </p:nvSpPr>
        <p:spPr>
          <a:xfrm>
            <a:off x="2301925" y="465368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分配公钥的另一种方法是公钥证书，用户通过公钥证书来互相交换自</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43-line2"/>
          <p:cNvSpPr>
            <a:spLocks noGrp="1"/>
          </p:cNvSpPr>
          <p:nvPr/>
        </p:nvSpPr>
        <p:spPr>
          <a:xfrm>
            <a:off x="1387525" y="5364627"/>
            <a:ext cx="1440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己的公钥而无须与公钥管理机构联系。公钥证书由证书管理机构CA为用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43-line3"/>
          <p:cNvSpPr>
            <a:spLocks noGrp="1"/>
          </p:cNvSpPr>
          <p:nvPr/>
        </p:nvSpPr>
        <p:spPr>
          <a:xfrm>
            <a:off x="1387525" y="607557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户建立，其中的数据项有与该用户的私钥相匹配的公钥及用户的身份和时</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4" name="p143-line4"/>
          <p:cNvSpPr>
            <a:spLocks noGrp="1"/>
          </p:cNvSpPr>
          <p:nvPr/>
        </p:nvSpPr>
        <p:spPr>
          <a:xfrm>
            <a:off x="1387525" y="6786519"/>
            <a:ext cx="1440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间戳等，所有的数据项经CA用自己的私钥签字后就形成证书，即证书的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143-line5"/>
          <p:cNvSpPr>
            <a:spLocks noGrp="1"/>
          </p:cNvSpPr>
          <p:nvPr/>
        </p:nvSpPr>
        <p:spPr>
          <a:xfrm>
            <a:off x="1387525" y="758041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形式为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3">
            <a:clrChange>
              <a:clrFrom>
                <a:srgbClr val="FFFFFF"/>
              </a:clrFrom>
              <a:clrTo>
                <a:srgbClr val="FFFFFF">
                  <a:alpha val="0"/>
                </a:srgbClr>
              </a:clrTo>
            </a:clrChange>
          </a:blip>
          <a:stretch>
            <a:fillRect/>
          </a:stretch>
        </p:blipFill>
        <p:spPr>
          <a:xfrm>
            <a:off x="2908081" y="7497465"/>
            <a:ext cx="4729655" cy="705394"/>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8" name="p143-line5"/>
          <p:cNvSpPr>
            <a:spLocks noGrp="1"/>
          </p:cNvSpPr>
          <p:nvPr/>
        </p:nvSpPr>
        <p:spPr>
          <a:xfrm>
            <a:off x="1570919" y="1983236"/>
            <a:ext cx="19110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其中ID</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9" name="p143-line5-subscript"/>
          <p:cNvSpPr>
            <a:spLocks noGrp="1"/>
          </p:cNvSpPr>
          <p:nvPr/>
        </p:nvSpPr>
        <p:spPr>
          <a:xfrm>
            <a:off x="3041859" y="2120396"/>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A</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0" name="p143-line5"/>
          <p:cNvSpPr>
            <a:spLocks noGrp="1"/>
          </p:cNvSpPr>
          <p:nvPr/>
        </p:nvSpPr>
        <p:spPr>
          <a:xfrm>
            <a:off x="3259749" y="1983236"/>
            <a:ext cx="4172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是用户A的身份，PK</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1" name="p143-line5-subscript"/>
          <p:cNvSpPr>
            <a:spLocks noGrp="1"/>
          </p:cNvSpPr>
          <p:nvPr/>
        </p:nvSpPr>
        <p:spPr>
          <a:xfrm>
            <a:off x="7374740" y="2120396"/>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43-line5"/>
          <p:cNvSpPr>
            <a:spLocks noGrp="1"/>
          </p:cNvSpPr>
          <p:nvPr/>
        </p:nvSpPr>
        <p:spPr>
          <a:xfrm>
            <a:off x="7592630" y="1983236"/>
            <a:ext cx="1758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是A的公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43-line6"/>
          <p:cNvSpPr>
            <a:spLocks noGrp="1"/>
          </p:cNvSpPr>
          <p:nvPr/>
        </p:nvSpPr>
        <p:spPr>
          <a:xfrm>
            <a:off x="9321927" y="1983236"/>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143-line6"/>
          <p:cNvSpPr>
            <a:spLocks noGrp="1"/>
          </p:cNvSpPr>
          <p:nvPr/>
        </p:nvSpPr>
        <p:spPr>
          <a:xfrm>
            <a:off x="10236327" y="1983236"/>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T</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5" name="p143-line6"/>
          <p:cNvSpPr>
            <a:spLocks noGrp="1"/>
          </p:cNvSpPr>
          <p:nvPr/>
        </p:nvSpPr>
        <p:spPr>
          <a:xfrm>
            <a:off x="10515600" y="1983236"/>
            <a:ext cx="38420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是当前时间戳，SK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143-line6-subscript"/>
          <p:cNvSpPr>
            <a:spLocks noGrp="1"/>
          </p:cNvSpPr>
          <p:nvPr/>
        </p:nvSpPr>
        <p:spPr>
          <a:xfrm>
            <a:off x="14280176" y="2204248"/>
            <a:ext cx="47633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CA</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8" name="p143-line6"/>
          <p:cNvSpPr>
            <a:spLocks noGrp="1"/>
          </p:cNvSpPr>
          <p:nvPr/>
        </p:nvSpPr>
        <p:spPr>
          <a:xfrm>
            <a:off x="1529291" y="2677613"/>
            <a:ext cx="297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是CA的私钥</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9" name="p143-line6"/>
          <p:cNvSpPr>
            <a:spLocks noGrp="1"/>
          </p:cNvSpPr>
          <p:nvPr/>
        </p:nvSpPr>
        <p:spPr>
          <a:xfrm>
            <a:off x="4282948" y="2649175"/>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C</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0" name="p143-line6-subscript"/>
          <p:cNvSpPr>
            <a:spLocks noGrp="1"/>
          </p:cNvSpPr>
          <p:nvPr/>
        </p:nvSpPr>
        <p:spPr>
          <a:xfrm>
            <a:off x="4587938" y="278633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143-line6"/>
          <p:cNvSpPr>
            <a:spLocks noGrp="1"/>
          </p:cNvSpPr>
          <p:nvPr/>
        </p:nvSpPr>
        <p:spPr>
          <a:xfrm>
            <a:off x="4805828" y="2649175"/>
            <a:ext cx="5873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是为用户A产生的证书。用户</a:t>
            </a:r>
            <a:r>
              <a:rPr lang="zh-CN" altLang="en-US" dirty="0"/>
              <a:t>可将自己的公钥通过公钥证书</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2" name="p143-line7"/>
          <p:cNvSpPr>
            <a:spLocks noGrp="1"/>
          </p:cNvSpPr>
          <p:nvPr/>
        </p:nvSpPr>
        <p:spPr>
          <a:xfrm>
            <a:off x="1459948" y="3372395"/>
            <a:ext cx="140783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lang="zh-CN" altLang="en-US" dirty="0"/>
              <a:t>发给另一用户，</a:t>
            </a:r>
            <a:r>
              <a:rPr lang="zh-CN" altLang="en-US" sz="3600" b="0" i="0" dirty="0">
                <a:latin typeface="Times New Roman" panose="02020603050405020304" pitchFamily="18" charset="0"/>
                <a:ea typeface="宋体" panose="02010600030101010101" pitchFamily="2" charset="-122"/>
                <a:cs typeface="字由点字典黑 2"/>
                <a:sym typeface="字由点字典黑 2"/>
              </a:rPr>
              <a:t>接收方可用</a:t>
            </a:r>
            <a:r>
              <a:rPr lang="en-US" altLang="zh-CN" sz="3600" b="0" i="0" dirty="0">
                <a:latin typeface="Times New Roman" panose="02020603050405020304" pitchFamily="18" charset="0"/>
                <a:ea typeface="宋体" panose="02010600030101010101" pitchFamily="2" charset="-122"/>
                <a:cs typeface="字由点字典黑 2"/>
                <a:sym typeface="字由点字典黑 2"/>
              </a:rPr>
              <a:t>CA</a:t>
            </a:r>
            <a:r>
              <a:rPr lang="zh-CN" altLang="en-US" sz="3600" b="0" i="0" dirty="0">
                <a:latin typeface="Times New Roman" panose="02020603050405020304" pitchFamily="18" charset="0"/>
                <a:ea typeface="宋体" panose="02010600030101010101" pitchFamily="2" charset="-122"/>
                <a:cs typeface="字由点字典黑 2"/>
                <a:sym typeface="字由点字典黑 2"/>
              </a:rPr>
              <a:t>的公钥</a:t>
            </a:r>
            <a:r>
              <a:rPr lang="en-US" altLang="zh-CN" sz="3600" b="0" i="0" dirty="0">
                <a:latin typeface="Times New Roman" panose="02020603050405020304" pitchFamily="18" charset="0"/>
                <a:ea typeface="宋体" panose="02010600030101010101" pitchFamily="2" charset="-122"/>
                <a:cs typeface="字由点字典黑 2"/>
                <a:sym typeface="字由点字典黑 2"/>
              </a:rPr>
              <a:t>PK</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3" name="p143-line7-subscript"/>
          <p:cNvSpPr>
            <a:spLocks noGrp="1"/>
          </p:cNvSpPr>
          <p:nvPr/>
        </p:nvSpPr>
        <p:spPr>
          <a:xfrm>
            <a:off x="9569535" y="3627120"/>
            <a:ext cx="47633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CA</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4" name="p143-line8"/>
          <p:cNvSpPr>
            <a:spLocks noGrp="1"/>
          </p:cNvSpPr>
          <p:nvPr/>
        </p:nvSpPr>
        <p:spPr>
          <a:xfrm>
            <a:off x="10039213" y="3380695"/>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对证书加以验证，即</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3">
            <a:clrChange>
              <a:clrFrom>
                <a:srgbClr val="FFFFFF"/>
              </a:clrFrom>
              <a:clrTo>
                <a:srgbClr val="FFFFFF">
                  <a:alpha val="0"/>
                </a:srgbClr>
              </a:clrTo>
            </a:clrChange>
          </a:blip>
          <a:stretch>
            <a:fillRect/>
          </a:stretch>
        </p:blipFill>
        <p:spPr>
          <a:xfrm>
            <a:off x="4587938" y="4073524"/>
            <a:ext cx="2386149" cy="780611"/>
          </a:xfrm>
          <a:prstGeom prst="rect">
            <a:avLst/>
          </a:prstGeom>
        </p:spPr>
      </p:pic>
      <p:pic>
        <p:nvPicPr>
          <p:cNvPr id="36" name="图片 35"/>
          <p:cNvPicPr>
            <a:picLocks noChangeAspect="1"/>
          </p:cNvPicPr>
          <p:nvPr/>
        </p:nvPicPr>
        <p:blipFill>
          <a:blip r:embed="rId4">
            <a:clrChange>
              <a:clrFrom>
                <a:srgbClr val="FFFFFF"/>
              </a:clrFrom>
              <a:clrTo>
                <a:srgbClr val="FFFFFF">
                  <a:alpha val="0"/>
                </a:srgbClr>
              </a:clrTo>
            </a:clrChange>
          </a:blip>
          <a:stretch>
            <a:fillRect/>
          </a:stretch>
        </p:blipFill>
        <p:spPr>
          <a:xfrm>
            <a:off x="6974087" y="4031927"/>
            <a:ext cx="8735122" cy="818606"/>
          </a:xfrm>
          <a:prstGeom prst="rect">
            <a:avLst/>
          </a:prstGeom>
        </p:spPr>
      </p:pic>
      <p:sp>
        <p:nvSpPr>
          <p:cNvPr id="38" name="p144-line1"/>
          <p:cNvSpPr>
            <a:spLocks noGrp="1"/>
          </p:cNvSpPr>
          <p:nvPr/>
        </p:nvSpPr>
        <p:spPr>
          <a:xfrm>
            <a:off x="2742587" y="5214879"/>
            <a:ext cx="134938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因为只有用CA的公钥才能解读证书，接收方从而验证了证书的确是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144-line2"/>
          <p:cNvSpPr>
            <a:spLocks noGrp="1"/>
          </p:cNvSpPr>
          <p:nvPr/>
        </p:nvSpPr>
        <p:spPr>
          <a:xfrm>
            <a:off x="1828187" y="5925825"/>
            <a:ext cx="89470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由CA发放的，而且也获得了发送方的身份ID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144-line2-subscript"/>
          <p:cNvSpPr>
            <a:spLocks noGrp="1"/>
          </p:cNvSpPr>
          <p:nvPr/>
        </p:nvSpPr>
        <p:spPr>
          <a:xfrm>
            <a:off x="10718060" y="60629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1" name="p144-line2"/>
          <p:cNvSpPr>
            <a:spLocks noGrp="1"/>
          </p:cNvSpPr>
          <p:nvPr/>
        </p:nvSpPr>
        <p:spPr>
          <a:xfrm>
            <a:off x="10935950" y="5925825"/>
            <a:ext cx="20132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和公钥PK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144-line2-subscript"/>
          <p:cNvSpPr>
            <a:spLocks noGrp="1"/>
          </p:cNvSpPr>
          <p:nvPr/>
        </p:nvSpPr>
        <p:spPr>
          <a:xfrm>
            <a:off x="12892004" y="60629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3" name="p144-line2"/>
          <p:cNvSpPr>
            <a:spLocks noGrp="1"/>
          </p:cNvSpPr>
          <p:nvPr/>
        </p:nvSpPr>
        <p:spPr>
          <a:xfrm>
            <a:off x="13109894" y="5925825"/>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。时间戳</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4" name="p144-line2"/>
          <p:cNvSpPr>
            <a:spLocks noGrp="1"/>
          </p:cNvSpPr>
          <p:nvPr/>
        </p:nvSpPr>
        <p:spPr>
          <a:xfrm>
            <a:off x="14938694" y="5925825"/>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T</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5" name="p144-line2"/>
          <p:cNvSpPr>
            <a:spLocks noGrp="1"/>
          </p:cNvSpPr>
          <p:nvPr/>
        </p:nvSpPr>
        <p:spPr>
          <a:xfrm>
            <a:off x="15217967" y="5925825"/>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为接收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6" name="p144-line3"/>
          <p:cNvSpPr>
            <a:spLocks noGrp="1"/>
          </p:cNvSpPr>
          <p:nvPr/>
        </p:nvSpPr>
        <p:spPr>
          <a:xfrm>
            <a:off x="1828187" y="6636771"/>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方保证了收到的证书的新鲜性，用以防止发送方或敌方重放旧证书。因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7" name="p144-line4"/>
          <p:cNvSpPr>
            <a:spLocks noGrp="1"/>
          </p:cNvSpPr>
          <p:nvPr/>
        </p:nvSpPr>
        <p:spPr>
          <a:xfrm>
            <a:off x="1828187" y="7347717"/>
            <a:ext cx="1194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此，时间戳可被当作截止日期，证书如果过旧，则被吊销。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45-line1"/>
          <p:cNvSpPr>
            <a:spLocks noGrp="1"/>
          </p:cNvSpPr>
          <p:nvPr/>
        </p:nvSpPr>
        <p:spPr>
          <a:xfrm>
            <a:off x="1752600" y="1800225"/>
            <a:ext cx="8210359"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2．用公钥加密分配对称密码体制的密钥</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146-line1"/>
          <p:cNvSpPr>
            <a:spLocks noGrp="1"/>
          </p:cNvSpPr>
          <p:nvPr/>
        </p:nvSpPr>
        <p:spPr>
          <a:xfrm>
            <a:off x="2667000" y="2625471"/>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公钥分配完成后，用户就可用公钥加密体制进行保密通信。然而公钥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46-line2"/>
          <p:cNvSpPr>
            <a:spLocks noGrp="1"/>
          </p:cNvSpPr>
          <p:nvPr/>
        </p:nvSpPr>
        <p:spPr>
          <a:xfrm>
            <a:off x="1752600" y="33364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加密的速度过慢，以此进行保密通信不太合适，但用于分配对称密码体制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46-line3"/>
          <p:cNvSpPr>
            <a:spLocks noGrp="1"/>
          </p:cNvSpPr>
          <p:nvPr/>
        </p:nvSpPr>
        <p:spPr>
          <a:xfrm>
            <a:off x="1752600" y="4047363"/>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的密钥却非常合适。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47-line1"/>
          <p:cNvSpPr>
            <a:spLocks noGrp="1"/>
          </p:cNvSpPr>
          <p:nvPr/>
        </p:nvSpPr>
        <p:spPr>
          <a:xfrm>
            <a:off x="2667000" y="4872609"/>
            <a:ext cx="2571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1）简单分配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48-line1"/>
          <p:cNvSpPr>
            <a:spLocks noGrp="1"/>
          </p:cNvSpPr>
          <p:nvPr/>
        </p:nvSpPr>
        <p:spPr>
          <a:xfrm>
            <a:off x="2667000" y="5697855"/>
            <a:ext cx="1365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简单使用公钥加密算法建立会话密钥如图15.7所示，表示简单使用公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48-line2"/>
          <p:cNvSpPr>
            <a:spLocks noGrp="1"/>
          </p:cNvSpPr>
          <p:nvPr/>
        </p:nvSpPr>
        <p:spPr>
          <a:xfrm>
            <a:off x="1752600" y="6408801"/>
            <a:ext cx="1440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钥加密算法建立会话密钥的过程，如果A希望与B通信，可通过以下几步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48-line3"/>
          <p:cNvSpPr>
            <a:spLocks noGrp="1"/>
          </p:cNvSpPr>
          <p:nvPr/>
        </p:nvSpPr>
        <p:spPr>
          <a:xfrm>
            <a:off x="1752600" y="7119747"/>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建立会话密钥。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1752600" y="1850838"/>
            <a:ext cx="14782800" cy="6204324"/>
          </a:xfrm>
          <a:prstGeom prst="rect">
            <a:avLst/>
          </a:prstGeom>
        </p:spPr>
      </p:pic>
      <p:sp>
        <p:nvSpPr>
          <p:cNvPr id="2" name="p150-line1"/>
          <p:cNvSpPr>
            <a:spLocks noGrp="1"/>
          </p:cNvSpPr>
          <p:nvPr/>
        </p:nvSpPr>
        <p:spPr>
          <a:xfrm>
            <a:off x="4629150" y="8372475"/>
            <a:ext cx="9086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图15.7　简单使用公钥加密算法建立会话密钥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3" name="p151-line1"/>
          <p:cNvSpPr>
            <a:spLocks noGrp="1"/>
          </p:cNvSpPr>
          <p:nvPr/>
        </p:nvSpPr>
        <p:spPr>
          <a:xfrm>
            <a:off x="2667000" y="1800225"/>
            <a:ext cx="587749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① A产生自己的一对密钥{PK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151-line1-subscript"/>
          <p:cNvSpPr>
            <a:spLocks noGrp="1"/>
          </p:cNvSpPr>
          <p:nvPr/>
        </p:nvSpPr>
        <p:spPr>
          <a:xfrm>
            <a:off x="8487347" y="19373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51-line1"/>
          <p:cNvSpPr>
            <a:spLocks noGrp="1"/>
          </p:cNvSpPr>
          <p:nvPr/>
        </p:nvSpPr>
        <p:spPr>
          <a:xfrm>
            <a:off x="8705237" y="1800225"/>
            <a:ext cx="10988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，SK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51-line1-subscript"/>
          <p:cNvSpPr>
            <a:spLocks noGrp="1"/>
          </p:cNvSpPr>
          <p:nvPr/>
        </p:nvSpPr>
        <p:spPr>
          <a:xfrm>
            <a:off x="9746891" y="19373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51-line1"/>
          <p:cNvSpPr>
            <a:spLocks noGrp="1"/>
          </p:cNvSpPr>
          <p:nvPr/>
        </p:nvSpPr>
        <p:spPr>
          <a:xfrm>
            <a:off x="9964781" y="1800225"/>
            <a:ext cx="345205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}，并向B发送PK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51-line1-subscript"/>
          <p:cNvSpPr>
            <a:spLocks noGrp="1"/>
          </p:cNvSpPr>
          <p:nvPr/>
        </p:nvSpPr>
        <p:spPr>
          <a:xfrm>
            <a:off x="13359681" y="19373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51-line1"/>
          <p:cNvSpPr>
            <a:spLocks noGrp="1"/>
          </p:cNvSpPr>
          <p:nvPr/>
        </p:nvSpPr>
        <p:spPr>
          <a:xfrm>
            <a:off x="13577571" y="1800225"/>
            <a:ext cx="72256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51-line1-subscript"/>
          <p:cNvSpPr>
            <a:spLocks noGrp="1"/>
          </p:cNvSpPr>
          <p:nvPr/>
        </p:nvSpPr>
        <p:spPr>
          <a:xfrm>
            <a:off x="14242988" y="19373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51-line1"/>
          <p:cNvSpPr>
            <a:spLocks noGrp="1"/>
          </p:cNvSpPr>
          <p:nvPr/>
        </p:nvSpPr>
        <p:spPr>
          <a:xfrm>
            <a:off x="14460878" y="1800225"/>
            <a:ext cx="19110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51-line1-subscript"/>
          <p:cNvSpPr>
            <a:spLocks noGrp="1"/>
          </p:cNvSpPr>
          <p:nvPr/>
        </p:nvSpPr>
        <p:spPr>
          <a:xfrm>
            <a:off x="16314824" y="19373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51-line2"/>
          <p:cNvSpPr>
            <a:spLocks noGrp="1"/>
          </p:cNvSpPr>
          <p:nvPr/>
        </p:nvSpPr>
        <p:spPr>
          <a:xfrm>
            <a:off x="1752600" y="2511171"/>
            <a:ext cx="313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表示A的身份。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52-line1"/>
          <p:cNvSpPr>
            <a:spLocks noGrp="1"/>
          </p:cNvSpPr>
          <p:nvPr/>
        </p:nvSpPr>
        <p:spPr>
          <a:xfrm>
            <a:off x="2667000" y="3336417"/>
            <a:ext cx="36768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 B产生会话密钥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152-line1"/>
          <p:cNvSpPr>
            <a:spLocks noGrp="1"/>
          </p:cNvSpPr>
          <p:nvPr/>
        </p:nvSpPr>
        <p:spPr>
          <a:xfrm>
            <a:off x="6286691" y="33364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5" name="p152-line1-subscript"/>
          <p:cNvSpPr>
            <a:spLocks noGrp="1"/>
          </p:cNvSpPr>
          <p:nvPr/>
        </p:nvSpPr>
        <p:spPr>
          <a:xfrm>
            <a:off x="6616827" y="3473577"/>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152-line1"/>
          <p:cNvSpPr>
            <a:spLocks noGrp="1"/>
          </p:cNvSpPr>
          <p:nvPr/>
        </p:nvSpPr>
        <p:spPr>
          <a:xfrm>
            <a:off x="6784677" y="3336417"/>
            <a:ext cx="3714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，并用A的公钥PK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152-line1-subscript"/>
          <p:cNvSpPr>
            <a:spLocks noGrp="1"/>
          </p:cNvSpPr>
          <p:nvPr/>
        </p:nvSpPr>
        <p:spPr>
          <a:xfrm>
            <a:off x="10442467" y="3473577"/>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152-line1"/>
          <p:cNvSpPr>
            <a:spLocks noGrp="1"/>
          </p:cNvSpPr>
          <p:nvPr/>
        </p:nvSpPr>
        <p:spPr>
          <a:xfrm>
            <a:off x="10660357" y="333641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152-line1"/>
          <p:cNvSpPr>
            <a:spLocks noGrp="1"/>
          </p:cNvSpPr>
          <p:nvPr/>
        </p:nvSpPr>
        <p:spPr>
          <a:xfrm>
            <a:off x="11117557" y="33364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0" name="p152-line1-subscript"/>
          <p:cNvSpPr>
            <a:spLocks noGrp="1"/>
          </p:cNvSpPr>
          <p:nvPr/>
        </p:nvSpPr>
        <p:spPr>
          <a:xfrm>
            <a:off x="11447694" y="3473577"/>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152-line1"/>
          <p:cNvSpPr>
            <a:spLocks noGrp="1"/>
          </p:cNvSpPr>
          <p:nvPr/>
        </p:nvSpPr>
        <p:spPr>
          <a:xfrm>
            <a:off x="11615543" y="3336417"/>
            <a:ext cx="313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加密后发往A。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153-line1"/>
          <p:cNvSpPr>
            <a:spLocks noGrp="1"/>
          </p:cNvSpPr>
          <p:nvPr/>
        </p:nvSpPr>
        <p:spPr>
          <a:xfrm>
            <a:off x="2667000" y="4280535"/>
            <a:ext cx="14159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③ A由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3" name="图片 32"/>
          <p:cNvPicPr>
            <a:picLocks noChangeAspect="1"/>
          </p:cNvPicPr>
          <p:nvPr/>
        </p:nvPicPr>
        <p:blipFill>
          <a:blip r:embed="rId3">
            <a:clrChange>
              <a:clrFrom>
                <a:srgbClr val="FFFFFF"/>
              </a:clrFrom>
              <a:clrTo>
                <a:srgbClr val="FFFFFF">
                  <a:alpha val="0"/>
                </a:srgbClr>
              </a:clrTo>
            </a:clrChange>
          </a:blip>
          <a:stretch>
            <a:fillRect/>
          </a:stretch>
        </p:blipFill>
        <p:spPr>
          <a:xfrm>
            <a:off x="4163737" y="4161663"/>
            <a:ext cx="2986103" cy="777240"/>
          </a:xfrm>
          <a:prstGeom prst="rect">
            <a:avLst/>
          </a:prstGeom>
        </p:spPr>
      </p:pic>
      <p:sp>
        <p:nvSpPr>
          <p:cNvPr id="34" name="p153-line1"/>
          <p:cNvSpPr>
            <a:spLocks noGrp="1"/>
          </p:cNvSpPr>
          <p:nvPr/>
        </p:nvSpPr>
        <p:spPr>
          <a:xfrm>
            <a:off x="7287741" y="4280535"/>
            <a:ext cx="6788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恢复会话密钥。因为只有A能解读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153-line1"/>
          <p:cNvSpPr>
            <a:spLocks noGrp="1"/>
          </p:cNvSpPr>
          <p:nvPr/>
        </p:nvSpPr>
        <p:spPr>
          <a:xfrm>
            <a:off x="14018677" y="428053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6" name="p153-line1-subscript"/>
          <p:cNvSpPr>
            <a:spLocks noGrp="1"/>
          </p:cNvSpPr>
          <p:nvPr/>
        </p:nvSpPr>
        <p:spPr>
          <a:xfrm>
            <a:off x="14348814" y="4417695"/>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153-line1"/>
          <p:cNvSpPr>
            <a:spLocks noGrp="1"/>
          </p:cNvSpPr>
          <p:nvPr/>
        </p:nvSpPr>
        <p:spPr>
          <a:xfrm>
            <a:off x="14516663" y="4280535"/>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，所以仅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153-line2"/>
          <p:cNvSpPr>
            <a:spLocks noGrp="1"/>
          </p:cNvSpPr>
          <p:nvPr/>
        </p:nvSpPr>
        <p:spPr>
          <a:xfrm>
            <a:off x="1752600" y="5110353"/>
            <a:ext cx="5264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A、B知道这一共享密钥。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154-line1"/>
          <p:cNvSpPr>
            <a:spLocks noGrp="1"/>
          </p:cNvSpPr>
          <p:nvPr/>
        </p:nvSpPr>
        <p:spPr>
          <a:xfrm>
            <a:off x="2667000" y="5935599"/>
            <a:ext cx="267709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④ A销毁{PK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154-line1-subscript"/>
          <p:cNvSpPr>
            <a:spLocks noGrp="1"/>
          </p:cNvSpPr>
          <p:nvPr/>
        </p:nvSpPr>
        <p:spPr>
          <a:xfrm>
            <a:off x="5286947" y="6072759"/>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1" name="p154-line1"/>
          <p:cNvSpPr>
            <a:spLocks noGrp="1"/>
          </p:cNvSpPr>
          <p:nvPr/>
        </p:nvSpPr>
        <p:spPr>
          <a:xfrm>
            <a:off x="5504837" y="5935599"/>
            <a:ext cx="10988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，SK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154-line1-subscript"/>
          <p:cNvSpPr>
            <a:spLocks noGrp="1"/>
          </p:cNvSpPr>
          <p:nvPr/>
        </p:nvSpPr>
        <p:spPr>
          <a:xfrm>
            <a:off x="6546491" y="6072759"/>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4" name="p154-line1"/>
          <p:cNvSpPr>
            <a:spLocks noGrp="1"/>
          </p:cNvSpPr>
          <p:nvPr/>
        </p:nvSpPr>
        <p:spPr>
          <a:xfrm>
            <a:off x="6764381" y="5935599"/>
            <a:ext cx="253765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}，B销毁PK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5" name="p154-line1-subscript"/>
          <p:cNvSpPr>
            <a:spLocks noGrp="1"/>
          </p:cNvSpPr>
          <p:nvPr/>
        </p:nvSpPr>
        <p:spPr>
          <a:xfrm>
            <a:off x="9244881" y="6072759"/>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6" name="p154-line1"/>
          <p:cNvSpPr>
            <a:spLocks noGrp="1"/>
          </p:cNvSpPr>
          <p:nvPr/>
        </p:nvSpPr>
        <p:spPr>
          <a:xfrm>
            <a:off x="9462771" y="593559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7" name="p155-line1"/>
          <p:cNvSpPr>
            <a:spLocks noGrp="1"/>
          </p:cNvSpPr>
          <p:nvPr/>
        </p:nvSpPr>
        <p:spPr>
          <a:xfrm>
            <a:off x="2667000" y="6760845"/>
            <a:ext cx="66358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A、B现在可以用对称加密算法以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8" name="p155-line1"/>
          <p:cNvSpPr>
            <a:spLocks noGrp="1"/>
          </p:cNvSpPr>
          <p:nvPr/>
        </p:nvSpPr>
        <p:spPr>
          <a:xfrm>
            <a:off x="9245727" y="676084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9" name="p155-line1-subscript"/>
          <p:cNvSpPr>
            <a:spLocks noGrp="1"/>
          </p:cNvSpPr>
          <p:nvPr/>
        </p:nvSpPr>
        <p:spPr>
          <a:xfrm>
            <a:off x="9575864" y="6898005"/>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0" name="p155-line1"/>
          <p:cNvSpPr>
            <a:spLocks noGrp="1"/>
          </p:cNvSpPr>
          <p:nvPr/>
        </p:nvSpPr>
        <p:spPr>
          <a:xfrm>
            <a:off x="9743713" y="6760845"/>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作为会话密钥进行保密通信，通</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1" name="p155-line2"/>
          <p:cNvSpPr>
            <a:spLocks noGrp="1"/>
          </p:cNvSpPr>
          <p:nvPr/>
        </p:nvSpPr>
        <p:spPr>
          <a:xfrm>
            <a:off x="1752600" y="7471791"/>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信完成后，又都将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2" name="p155-line2"/>
          <p:cNvSpPr>
            <a:spLocks noGrp="1"/>
          </p:cNvSpPr>
          <p:nvPr/>
        </p:nvSpPr>
        <p:spPr>
          <a:xfrm>
            <a:off x="5410200" y="747179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3" name="p155-line2-subscript"/>
          <p:cNvSpPr>
            <a:spLocks noGrp="1"/>
          </p:cNvSpPr>
          <p:nvPr/>
        </p:nvSpPr>
        <p:spPr>
          <a:xfrm>
            <a:off x="5740336" y="7608951"/>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4" name="p155-line2"/>
          <p:cNvSpPr>
            <a:spLocks noGrp="1"/>
          </p:cNvSpPr>
          <p:nvPr/>
        </p:nvSpPr>
        <p:spPr>
          <a:xfrm>
            <a:off x="5908186" y="7471791"/>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销毁。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0" name="p156-line1"/>
          <p:cNvSpPr>
            <a:spLocks noGrp="1"/>
          </p:cNvSpPr>
          <p:nvPr/>
        </p:nvSpPr>
        <p:spPr>
          <a:xfrm>
            <a:off x="2667000" y="1800225"/>
            <a:ext cx="134938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尽管这种分配方法简单，但A、B双方在通信前和完成通信后，都未</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156-line2"/>
          <p:cNvSpPr>
            <a:spLocks noGrp="1"/>
          </p:cNvSpPr>
          <p:nvPr/>
        </p:nvSpPr>
        <p:spPr>
          <a:xfrm>
            <a:off x="1752600" y="2511171"/>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存储密钥，因此密钥泄露的危险性最小，且可防止双方的通信被敌手监</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56-line3"/>
          <p:cNvSpPr>
            <a:spLocks noGrp="1"/>
          </p:cNvSpPr>
          <p:nvPr/>
        </p:nvSpPr>
        <p:spPr>
          <a:xfrm>
            <a:off x="1752600" y="3222117"/>
            <a:ext cx="17716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听。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57-line1"/>
          <p:cNvSpPr>
            <a:spLocks noGrp="1"/>
          </p:cNvSpPr>
          <p:nvPr/>
        </p:nvSpPr>
        <p:spPr>
          <a:xfrm>
            <a:off x="2667000" y="4047363"/>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这一协议易受到主动攻击，如果敌手E已接入A、B双方的通信信道，</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57-line2"/>
          <p:cNvSpPr>
            <a:spLocks noGrp="1"/>
          </p:cNvSpPr>
          <p:nvPr/>
        </p:nvSpPr>
        <p:spPr>
          <a:xfrm>
            <a:off x="1752600" y="4758309"/>
            <a:ext cx="10572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那么就可通过以下不被察觉的方式截获双方的通信。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58-line1"/>
          <p:cNvSpPr>
            <a:spLocks noGrp="1"/>
          </p:cNvSpPr>
          <p:nvPr/>
        </p:nvSpPr>
        <p:spPr>
          <a:xfrm>
            <a:off x="2667000" y="5583555"/>
            <a:ext cx="4286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① 与前面的①相同。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59-line1"/>
          <p:cNvSpPr>
            <a:spLocks noGrp="1"/>
          </p:cNvSpPr>
          <p:nvPr/>
        </p:nvSpPr>
        <p:spPr>
          <a:xfrm>
            <a:off x="2667000" y="6408801"/>
            <a:ext cx="935717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 E截获A的发送后，建立自己的一对密钥{PK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59-line1-subscript"/>
          <p:cNvSpPr>
            <a:spLocks noGrp="1"/>
          </p:cNvSpPr>
          <p:nvPr/>
        </p:nvSpPr>
        <p:spPr>
          <a:xfrm>
            <a:off x="11967020" y="6545961"/>
            <a:ext cx="24147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E</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59-line1"/>
          <p:cNvSpPr>
            <a:spLocks noGrp="1"/>
          </p:cNvSpPr>
          <p:nvPr/>
        </p:nvSpPr>
        <p:spPr>
          <a:xfrm>
            <a:off x="12151340" y="6408801"/>
            <a:ext cx="10988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，SK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59-line1-subscript"/>
          <p:cNvSpPr>
            <a:spLocks noGrp="1"/>
          </p:cNvSpPr>
          <p:nvPr/>
        </p:nvSpPr>
        <p:spPr>
          <a:xfrm>
            <a:off x="13192994" y="6545961"/>
            <a:ext cx="24147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E</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59-line1"/>
          <p:cNvSpPr>
            <a:spLocks noGrp="1"/>
          </p:cNvSpPr>
          <p:nvPr/>
        </p:nvSpPr>
        <p:spPr>
          <a:xfrm>
            <a:off x="13377314" y="6408801"/>
            <a:ext cx="164820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3">
            <a:clrChange>
              <a:clrFrom>
                <a:srgbClr val="FFFFFF"/>
              </a:clrFrom>
              <a:clrTo>
                <a:srgbClr val="FFFFFF">
                  <a:alpha val="0"/>
                </a:srgbClr>
              </a:clrTo>
            </a:clrChange>
          </a:blip>
          <a:stretch>
            <a:fillRect/>
          </a:stretch>
        </p:blipFill>
        <p:spPr>
          <a:xfrm>
            <a:off x="1781175" y="7128432"/>
            <a:ext cx="1935480" cy="659722"/>
          </a:xfrm>
          <a:prstGeom prst="rect">
            <a:avLst/>
          </a:prstGeom>
        </p:spPr>
      </p:pic>
      <p:sp>
        <p:nvSpPr>
          <p:cNvPr id="25" name="p159-line2"/>
          <p:cNvSpPr>
            <a:spLocks noGrp="1"/>
          </p:cNvSpPr>
          <p:nvPr/>
        </p:nvSpPr>
        <p:spPr>
          <a:xfrm>
            <a:off x="3745230" y="7188545"/>
            <a:ext cx="2190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160-line1"/>
          <p:cNvSpPr>
            <a:spLocks noGrp="1"/>
          </p:cNvSpPr>
          <p:nvPr/>
        </p:nvSpPr>
        <p:spPr>
          <a:xfrm>
            <a:off x="2667000" y="8165538"/>
            <a:ext cx="36768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③ B产生会话密钥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160-line1"/>
          <p:cNvSpPr>
            <a:spLocks noGrp="1"/>
          </p:cNvSpPr>
          <p:nvPr/>
        </p:nvSpPr>
        <p:spPr>
          <a:xfrm>
            <a:off x="6286691" y="8165538"/>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8" name="p160-line1-subscript"/>
          <p:cNvSpPr>
            <a:spLocks noGrp="1"/>
          </p:cNvSpPr>
          <p:nvPr/>
        </p:nvSpPr>
        <p:spPr>
          <a:xfrm>
            <a:off x="6616827" y="8302698"/>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160-line1"/>
          <p:cNvSpPr>
            <a:spLocks noGrp="1"/>
          </p:cNvSpPr>
          <p:nvPr/>
        </p:nvSpPr>
        <p:spPr>
          <a:xfrm>
            <a:off x="6784677" y="8165538"/>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后，将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4">
            <a:clrChange>
              <a:clrFrom>
                <a:srgbClr val="FFFFFF"/>
              </a:clrFrom>
              <a:clrTo>
                <a:srgbClr val="FFFFFF">
                  <a:alpha val="0"/>
                </a:srgbClr>
              </a:clrTo>
            </a:clrChange>
          </a:blip>
          <a:stretch>
            <a:fillRect/>
          </a:stretch>
        </p:blipFill>
        <p:spPr>
          <a:xfrm>
            <a:off x="8230466" y="8082588"/>
            <a:ext cx="1659194" cy="705394"/>
          </a:xfrm>
          <a:prstGeom prst="rect">
            <a:avLst/>
          </a:prstGeom>
        </p:spPr>
      </p:pic>
      <p:sp>
        <p:nvSpPr>
          <p:cNvPr id="31" name="p160-line1"/>
          <p:cNvSpPr>
            <a:spLocks noGrp="1"/>
          </p:cNvSpPr>
          <p:nvPr/>
        </p:nvSpPr>
        <p:spPr>
          <a:xfrm>
            <a:off x="9963849" y="8165538"/>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发送出去。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4" name="p161-line1"/>
          <p:cNvSpPr>
            <a:spLocks noGrp="1"/>
          </p:cNvSpPr>
          <p:nvPr/>
        </p:nvSpPr>
        <p:spPr>
          <a:xfrm>
            <a:off x="2667000" y="1883174"/>
            <a:ext cx="57849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④ E截获B发送的消息后，由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8494960" y="1800225"/>
            <a:ext cx="2737118" cy="705394"/>
          </a:xfrm>
          <a:prstGeom prst="rect">
            <a:avLst/>
          </a:prstGeom>
        </p:spPr>
      </p:pic>
      <p:sp>
        <p:nvSpPr>
          <p:cNvPr id="3" name="p161-line1"/>
          <p:cNvSpPr>
            <a:spLocks noGrp="1"/>
          </p:cNvSpPr>
          <p:nvPr/>
        </p:nvSpPr>
        <p:spPr>
          <a:xfrm>
            <a:off x="11332274" y="188317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解读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61-line1"/>
          <p:cNvSpPr>
            <a:spLocks noGrp="1"/>
          </p:cNvSpPr>
          <p:nvPr/>
        </p:nvSpPr>
        <p:spPr>
          <a:xfrm>
            <a:off x="12246674" y="188317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0" name="p161-line1-subscript"/>
          <p:cNvSpPr>
            <a:spLocks noGrp="1"/>
          </p:cNvSpPr>
          <p:nvPr/>
        </p:nvSpPr>
        <p:spPr>
          <a:xfrm>
            <a:off x="12576810" y="2020334"/>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61-line1"/>
          <p:cNvSpPr>
            <a:spLocks noGrp="1"/>
          </p:cNvSpPr>
          <p:nvPr/>
        </p:nvSpPr>
        <p:spPr>
          <a:xfrm>
            <a:off x="12744660" y="188317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62-line1"/>
          <p:cNvSpPr>
            <a:spLocks noGrp="1"/>
          </p:cNvSpPr>
          <p:nvPr/>
        </p:nvSpPr>
        <p:spPr>
          <a:xfrm>
            <a:off x="2667000" y="2874318"/>
            <a:ext cx="18223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⑤ E再将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4">
            <a:clrChange>
              <a:clrFrom>
                <a:srgbClr val="FFFFFF"/>
              </a:clrFrom>
              <a:clrTo>
                <a:srgbClr val="FFFFFF">
                  <a:alpha val="0"/>
                </a:srgbClr>
              </a:clrTo>
            </a:clrChange>
          </a:blip>
          <a:stretch>
            <a:fillRect/>
          </a:stretch>
        </p:blipFill>
        <p:spPr>
          <a:xfrm>
            <a:off x="4506980" y="2791369"/>
            <a:ext cx="1701502" cy="705394"/>
          </a:xfrm>
          <a:prstGeom prst="rect">
            <a:avLst/>
          </a:prstGeom>
        </p:spPr>
      </p:pic>
      <p:sp>
        <p:nvSpPr>
          <p:cNvPr id="20" name="p162-line1"/>
          <p:cNvSpPr>
            <a:spLocks noGrp="1"/>
          </p:cNvSpPr>
          <p:nvPr/>
        </p:nvSpPr>
        <p:spPr>
          <a:xfrm>
            <a:off x="6283289" y="2874318"/>
            <a:ext cx="1758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发往A。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63-line1"/>
          <p:cNvSpPr>
            <a:spLocks noGrp="1"/>
          </p:cNvSpPr>
          <p:nvPr/>
        </p:nvSpPr>
        <p:spPr>
          <a:xfrm>
            <a:off x="2667000" y="3782514"/>
            <a:ext cx="297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现在A和B知道</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63-line1"/>
          <p:cNvSpPr>
            <a:spLocks noGrp="1"/>
          </p:cNvSpPr>
          <p:nvPr/>
        </p:nvSpPr>
        <p:spPr>
          <a:xfrm>
            <a:off x="5588127" y="378251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3" name="p163-line1-subscript"/>
          <p:cNvSpPr>
            <a:spLocks noGrp="1"/>
          </p:cNvSpPr>
          <p:nvPr/>
        </p:nvSpPr>
        <p:spPr>
          <a:xfrm>
            <a:off x="5918264" y="3919674"/>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163-line1"/>
          <p:cNvSpPr>
            <a:spLocks noGrp="1"/>
          </p:cNvSpPr>
          <p:nvPr/>
        </p:nvSpPr>
        <p:spPr>
          <a:xfrm>
            <a:off x="6086113" y="3782514"/>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，但并未意识到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163-line1"/>
          <p:cNvSpPr>
            <a:spLocks noGrp="1"/>
          </p:cNvSpPr>
          <p:nvPr/>
        </p:nvSpPr>
        <p:spPr>
          <a:xfrm>
            <a:off x="9286513" y="378251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7" name="p163-line1-subscript"/>
          <p:cNvSpPr>
            <a:spLocks noGrp="1"/>
          </p:cNvSpPr>
          <p:nvPr/>
        </p:nvSpPr>
        <p:spPr>
          <a:xfrm>
            <a:off x="9616650" y="3919674"/>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163-line1"/>
          <p:cNvSpPr>
            <a:spLocks noGrp="1"/>
          </p:cNvSpPr>
          <p:nvPr/>
        </p:nvSpPr>
        <p:spPr>
          <a:xfrm>
            <a:off x="9784499" y="3782514"/>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已被E截获。A、B在用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163-line1"/>
          <p:cNvSpPr>
            <a:spLocks noGrp="1"/>
          </p:cNvSpPr>
          <p:nvPr/>
        </p:nvSpPr>
        <p:spPr>
          <a:xfrm>
            <a:off x="14356499" y="378251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0" name="p163-line1-subscript"/>
          <p:cNvSpPr>
            <a:spLocks noGrp="1"/>
          </p:cNvSpPr>
          <p:nvPr/>
        </p:nvSpPr>
        <p:spPr>
          <a:xfrm>
            <a:off x="14686636" y="3919674"/>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163-line1"/>
          <p:cNvSpPr>
            <a:spLocks noGrp="1"/>
          </p:cNvSpPr>
          <p:nvPr/>
        </p:nvSpPr>
        <p:spPr>
          <a:xfrm>
            <a:off x="14854485" y="378251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通信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163-line2"/>
          <p:cNvSpPr>
            <a:spLocks noGrp="1"/>
          </p:cNvSpPr>
          <p:nvPr/>
        </p:nvSpPr>
        <p:spPr>
          <a:xfrm>
            <a:off x="1752600" y="4493460"/>
            <a:ext cx="49084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时，E就可以实施监听。</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165-line1"/>
          <p:cNvSpPr>
            <a:spLocks noGrp="1"/>
          </p:cNvSpPr>
          <p:nvPr/>
        </p:nvSpPr>
        <p:spPr>
          <a:xfrm>
            <a:off x="2667000" y="5318706"/>
            <a:ext cx="7143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2）具有保密性和认证性的密钥分配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166-line1"/>
          <p:cNvSpPr>
            <a:spLocks noGrp="1"/>
          </p:cNvSpPr>
          <p:nvPr/>
        </p:nvSpPr>
        <p:spPr>
          <a:xfrm>
            <a:off x="2667000" y="6143952"/>
            <a:ext cx="1365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具有保密性和认证性的密钥分配如图15.8所示，该密钥分配过程具有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166-line2"/>
          <p:cNvSpPr>
            <a:spLocks noGrp="1"/>
          </p:cNvSpPr>
          <p:nvPr/>
        </p:nvSpPr>
        <p:spPr>
          <a:xfrm>
            <a:off x="1752600" y="6854898"/>
            <a:ext cx="1285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保密性和认证性，因此既可防止被动攻击，又可防止主动攻击。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2366120" y="1762125"/>
            <a:ext cx="13555760" cy="6381750"/>
          </a:xfrm>
          <a:prstGeom prst="rect">
            <a:avLst/>
          </a:prstGeom>
        </p:spPr>
      </p:pic>
      <p:sp>
        <p:nvSpPr>
          <p:cNvPr id="2" name="p168-line1"/>
          <p:cNvSpPr>
            <a:spLocks noGrp="1"/>
          </p:cNvSpPr>
          <p:nvPr/>
        </p:nvSpPr>
        <p:spPr>
          <a:xfrm>
            <a:off x="5086350" y="8372475"/>
            <a:ext cx="81724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图15.8　具有保密性和认证性的密钥分配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1" name="p169-line1"/>
          <p:cNvSpPr>
            <a:spLocks noGrp="1"/>
          </p:cNvSpPr>
          <p:nvPr/>
        </p:nvSpPr>
        <p:spPr>
          <a:xfrm>
            <a:off x="2667000" y="1800225"/>
            <a:ext cx="130366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假定A、B双方已经完成公钥交换，可按以下步骤建立共享会话密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169-line2"/>
          <p:cNvSpPr>
            <a:spLocks noGrp="1"/>
          </p:cNvSpPr>
          <p:nvPr/>
        </p:nvSpPr>
        <p:spPr>
          <a:xfrm>
            <a:off x="1752600" y="2511171"/>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70-line1"/>
          <p:cNvSpPr>
            <a:spLocks noGrp="1"/>
          </p:cNvSpPr>
          <p:nvPr/>
        </p:nvSpPr>
        <p:spPr>
          <a:xfrm>
            <a:off x="2667000" y="3336417"/>
            <a:ext cx="58609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① 用B的公钥加密A的身份ID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70-line1-subscript"/>
          <p:cNvSpPr>
            <a:spLocks noGrp="1"/>
          </p:cNvSpPr>
          <p:nvPr/>
        </p:nvSpPr>
        <p:spPr>
          <a:xfrm>
            <a:off x="8470773" y="3473577"/>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70-line1"/>
          <p:cNvSpPr>
            <a:spLocks noGrp="1"/>
          </p:cNvSpPr>
          <p:nvPr/>
        </p:nvSpPr>
        <p:spPr>
          <a:xfrm>
            <a:off x="8688663" y="3336417"/>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和一个一次性随机数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70-line1"/>
          <p:cNvSpPr>
            <a:spLocks noGrp="1"/>
          </p:cNvSpPr>
          <p:nvPr/>
        </p:nvSpPr>
        <p:spPr>
          <a:xfrm>
            <a:off x="12803463" y="333641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8" name="p170-line1-subscript"/>
          <p:cNvSpPr>
            <a:spLocks noGrp="1"/>
          </p:cNvSpPr>
          <p:nvPr/>
        </p:nvSpPr>
        <p:spPr>
          <a:xfrm>
            <a:off x="13133600" y="347357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70-line1"/>
          <p:cNvSpPr>
            <a:spLocks noGrp="1"/>
          </p:cNvSpPr>
          <p:nvPr/>
        </p:nvSpPr>
        <p:spPr>
          <a:xfrm>
            <a:off x="13284476" y="3336417"/>
            <a:ext cx="3105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后发往B，其中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70-line2"/>
          <p:cNvSpPr>
            <a:spLocks noGrp="1"/>
          </p:cNvSpPr>
          <p:nvPr/>
        </p:nvSpPr>
        <p:spPr>
          <a:xfrm>
            <a:off x="1752600" y="404736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1" name="p170-line2-subscript"/>
          <p:cNvSpPr>
            <a:spLocks noGrp="1"/>
          </p:cNvSpPr>
          <p:nvPr/>
        </p:nvSpPr>
        <p:spPr>
          <a:xfrm>
            <a:off x="2082736" y="4184523"/>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70-line2"/>
          <p:cNvSpPr>
            <a:spLocks noGrp="1"/>
          </p:cNvSpPr>
          <p:nvPr/>
        </p:nvSpPr>
        <p:spPr>
          <a:xfrm>
            <a:off x="2233612" y="4047363"/>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用于唯一标识这一业务。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71-line1"/>
          <p:cNvSpPr>
            <a:spLocks noGrp="1"/>
          </p:cNvSpPr>
          <p:nvPr/>
        </p:nvSpPr>
        <p:spPr>
          <a:xfrm>
            <a:off x="2667000" y="4872609"/>
            <a:ext cx="33720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 用A的公钥PK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171-line1-subscript"/>
          <p:cNvSpPr>
            <a:spLocks noGrp="1"/>
          </p:cNvSpPr>
          <p:nvPr/>
        </p:nvSpPr>
        <p:spPr>
          <a:xfrm>
            <a:off x="5981891" y="5009769"/>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171-line1"/>
          <p:cNvSpPr>
            <a:spLocks noGrp="1"/>
          </p:cNvSpPr>
          <p:nvPr/>
        </p:nvSpPr>
        <p:spPr>
          <a:xfrm>
            <a:off x="6199781" y="4872609"/>
            <a:ext cx="4502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加密A的一次性随机数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171-line1"/>
          <p:cNvSpPr>
            <a:spLocks noGrp="1"/>
          </p:cNvSpPr>
          <p:nvPr/>
        </p:nvSpPr>
        <p:spPr>
          <a:xfrm>
            <a:off x="10644717" y="4872609"/>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7" name="p171-line1-subscript"/>
          <p:cNvSpPr>
            <a:spLocks noGrp="1"/>
          </p:cNvSpPr>
          <p:nvPr/>
        </p:nvSpPr>
        <p:spPr>
          <a:xfrm>
            <a:off x="10974854" y="5009769"/>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171-line1"/>
          <p:cNvSpPr>
            <a:spLocks noGrp="1"/>
          </p:cNvSpPr>
          <p:nvPr/>
        </p:nvSpPr>
        <p:spPr>
          <a:xfrm>
            <a:off x="11125730" y="4872609"/>
            <a:ext cx="5391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和B新产生的一次性随机数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171-line2"/>
          <p:cNvSpPr>
            <a:spLocks noGrp="1"/>
          </p:cNvSpPr>
          <p:nvPr/>
        </p:nvSpPr>
        <p:spPr>
          <a:xfrm>
            <a:off x="1752600" y="558355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0" name="p171-line2-subscript"/>
          <p:cNvSpPr>
            <a:spLocks noGrp="1"/>
          </p:cNvSpPr>
          <p:nvPr/>
        </p:nvSpPr>
        <p:spPr>
          <a:xfrm>
            <a:off x="2082736" y="5720715"/>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171-line2"/>
          <p:cNvSpPr>
            <a:spLocks noGrp="1"/>
          </p:cNvSpPr>
          <p:nvPr/>
        </p:nvSpPr>
        <p:spPr>
          <a:xfrm>
            <a:off x="2233612" y="5583555"/>
            <a:ext cx="1242726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后发往A。因为只有B能解读①中的加密，所以B发来的消息中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171-line2"/>
          <p:cNvSpPr>
            <a:spLocks noGrp="1"/>
          </p:cNvSpPr>
          <p:nvPr/>
        </p:nvSpPr>
        <p:spPr>
          <a:xfrm>
            <a:off x="14603730" y="558355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4" name="p171-line2-subscript"/>
          <p:cNvSpPr>
            <a:spLocks noGrp="1"/>
          </p:cNvSpPr>
          <p:nvPr/>
        </p:nvSpPr>
        <p:spPr>
          <a:xfrm>
            <a:off x="14933867" y="5720715"/>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171-line2"/>
          <p:cNvSpPr>
            <a:spLocks noGrp="1"/>
          </p:cNvSpPr>
          <p:nvPr/>
        </p:nvSpPr>
        <p:spPr>
          <a:xfrm>
            <a:off x="15084743" y="5583555"/>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的存在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6" name="p171-line3"/>
          <p:cNvSpPr>
            <a:spLocks noGrp="1"/>
          </p:cNvSpPr>
          <p:nvPr/>
        </p:nvSpPr>
        <p:spPr>
          <a:xfrm>
            <a:off x="1752600" y="6294501"/>
            <a:ext cx="5264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可使A相信对方的确是B。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0" y="3518037"/>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公钥密码体制的密钥分配</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15.2.2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73-line1"/>
          <p:cNvSpPr>
            <a:spLocks noGrp="1"/>
          </p:cNvSpPr>
          <p:nvPr/>
        </p:nvSpPr>
        <p:spPr>
          <a:xfrm>
            <a:off x="2748832" y="2981729"/>
            <a:ext cx="38290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④ 选一个会话密钥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73-line1"/>
          <p:cNvSpPr>
            <a:spLocks noGrp="1"/>
          </p:cNvSpPr>
          <p:nvPr/>
        </p:nvSpPr>
        <p:spPr>
          <a:xfrm>
            <a:off x="6520732" y="2981729"/>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 name="p173-line1-subscript"/>
          <p:cNvSpPr>
            <a:spLocks noGrp="1"/>
          </p:cNvSpPr>
          <p:nvPr/>
        </p:nvSpPr>
        <p:spPr>
          <a:xfrm>
            <a:off x="6850868" y="3118889"/>
            <a:ext cx="22500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S</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73-line1"/>
          <p:cNvSpPr>
            <a:spLocks noGrp="1"/>
          </p:cNvSpPr>
          <p:nvPr/>
        </p:nvSpPr>
        <p:spPr>
          <a:xfrm>
            <a:off x="7018718" y="2981729"/>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，然后将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3">
            <a:clrChange>
              <a:clrFrom>
                <a:srgbClr val="FFFFFF"/>
              </a:clrFrom>
              <a:clrTo>
                <a:srgbClr val="FFFFFF">
                  <a:alpha val="0"/>
                </a:srgbClr>
              </a:clrTo>
            </a:clrChange>
          </a:blip>
          <a:stretch>
            <a:fillRect/>
          </a:stretch>
        </p:blipFill>
        <p:spPr>
          <a:xfrm>
            <a:off x="8971652" y="2862857"/>
            <a:ext cx="3762573" cy="777240"/>
          </a:xfrm>
          <a:prstGeom prst="rect">
            <a:avLst/>
          </a:prstGeom>
        </p:spPr>
      </p:pic>
      <p:sp>
        <p:nvSpPr>
          <p:cNvPr id="18" name="p173-line1"/>
          <p:cNvSpPr>
            <a:spLocks noGrp="1"/>
          </p:cNvSpPr>
          <p:nvPr/>
        </p:nvSpPr>
        <p:spPr>
          <a:xfrm>
            <a:off x="12858359" y="2981729"/>
            <a:ext cx="34103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发给B，其中用B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73-line2"/>
          <p:cNvSpPr>
            <a:spLocks noGrp="1"/>
          </p:cNvSpPr>
          <p:nvPr/>
        </p:nvSpPr>
        <p:spPr>
          <a:xfrm>
            <a:off x="1834432" y="3811547"/>
            <a:ext cx="1440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的公钥加密是为保证只有B能解读加密结果，用A的私钥加密是保证该加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73-line3"/>
          <p:cNvSpPr>
            <a:spLocks noGrp="1"/>
          </p:cNvSpPr>
          <p:nvPr/>
        </p:nvSpPr>
        <p:spPr>
          <a:xfrm>
            <a:off x="1834432" y="4522493"/>
            <a:ext cx="4502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密结果只有A能发送。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74-line1"/>
          <p:cNvSpPr>
            <a:spLocks noGrp="1"/>
          </p:cNvSpPr>
          <p:nvPr/>
        </p:nvSpPr>
        <p:spPr>
          <a:xfrm>
            <a:off x="2748832" y="5466611"/>
            <a:ext cx="1085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⑤ 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4">
            <a:clrChange>
              <a:clrFrom>
                <a:srgbClr val="FFFFFF"/>
              </a:clrFrom>
              <a:clrTo>
                <a:srgbClr val="FFFFFF">
                  <a:alpha val="0"/>
                </a:srgbClr>
              </a:clrTo>
            </a:clrChange>
          </a:blip>
          <a:stretch>
            <a:fillRect/>
          </a:stretch>
        </p:blipFill>
        <p:spPr>
          <a:xfrm>
            <a:off x="3901604" y="5347739"/>
            <a:ext cx="2944091" cy="777240"/>
          </a:xfrm>
          <a:prstGeom prst="rect">
            <a:avLst/>
          </a:prstGeom>
        </p:spPr>
      </p:pic>
      <p:sp>
        <p:nvSpPr>
          <p:cNvPr id="23" name="p174-line1"/>
          <p:cNvSpPr>
            <a:spLocks noGrp="1"/>
          </p:cNvSpPr>
          <p:nvPr/>
        </p:nvSpPr>
        <p:spPr>
          <a:xfrm>
            <a:off x="6969768" y="5466611"/>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恢复会话密钥。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172-line1"/>
          <p:cNvSpPr>
            <a:spLocks noGrp="1"/>
          </p:cNvSpPr>
          <p:nvPr/>
        </p:nvSpPr>
        <p:spPr>
          <a:xfrm>
            <a:off x="2748833" y="2193557"/>
            <a:ext cx="33468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③ 用B的公钥PK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172-line1-subscript"/>
          <p:cNvSpPr>
            <a:spLocks noGrp="1"/>
          </p:cNvSpPr>
          <p:nvPr/>
        </p:nvSpPr>
        <p:spPr>
          <a:xfrm>
            <a:off x="6038578" y="2330717"/>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172-line1"/>
          <p:cNvSpPr>
            <a:spLocks noGrp="1"/>
          </p:cNvSpPr>
          <p:nvPr/>
        </p:nvSpPr>
        <p:spPr>
          <a:xfrm>
            <a:off x="6239871" y="219355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172-line1"/>
          <p:cNvSpPr>
            <a:spLocks noGrp="1"/>
          </p:cNvSpPr>
          <p:nvPr/>
        </p:nvSpPr>
        <p:spPr>
          <a:xfrm>
            <a:off x="6697071" y="219355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1" name="p172-line1-subscript"/>
          <p:cNvSpPr>
            <a:spLocks noGrp="1"/>
          </p:cNvSpPr>
          <p:nvPr/>
        </p:nvSpPr>
        <p:spPr>
          <a:xfrm>
            <a:off x="7027208" y="233071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172-line1"/>
          <p:cNvSpPr>
            <a:spLocks noGrp="1"/>
          </p:cNvSpPr>
          <p:nvPr/>
        </p:nvSpPr>
        <p:spPr>
          <a:xfrm>
            <a:off x="7178084" y="2193557"/>
            <a:ext cx="876966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加密后返回给B，以使B相信对方的确是A。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326989" y="2834725"/>
            <a:ext cx="3634019"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15.3</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密钥协商</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密钥协商</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76-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密钥协商是现代网络通信的一种常见协议，是指两个或多个实体通过</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76-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相互传送一些消息来共同建立一个共享的秘密密钥的协议，且各个实体无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76-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法预先确定这个秘密密钥的值，其目的是通信双方在网络中通过交换信息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76-line4"/>
          <p:cNvSpPr>
            <a:spLocks noGrp="1"/>
          </p:cNvSpPr>
          <p:nvPr/>
        </p:nvSpPr>
        <p:spPr>
          <a:xfrm>
            <a:off x="1752600" y="3933063"/>
            <a:ext cx="1476241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来生成一个双方共享的会话密钥。典型的密钥协商协议是Diffie-Hellman密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76-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钥交换协议，该协议是一个无身份认证要求的双方密钥协商方案，在这个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76-line6"/>
          <p:cNvSpPr>
            <a:spLocks noGrp="1"/>
          </p:cNvSpPr>
          <p:nvPr/>
        </p:nvSpPr>
        <p:spPr>
          <a:xfrm>
            <a:off x="1752600" y="5354955"/>
            <a:ext cx="147254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协议基础上改进的端对端协议（Station-To-Station Protocol）是一个更安全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76-line7"/>
          <p:cNvSpPr>
            <a:spLocks noGrp="1"/>
          </p:cNvSpPr>
          <p:nvPr/>
        </p:nvSpPr>
        <p:spPr>
          <a:xfrm>
            <a:off x="1752600" y="6065901"/>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的密钥协商协议。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1" name="p178-line1"/>
          <p:cNvSpPr>
            <a:spLocks noGrp="1"/>
          </p:cNvSpPr>
          <p:nvPr/>
        </p:nvSpPr>
        <p:spPr>
          <a:xfrm>
            <a:off x="2667000" y="1800225"/>
            <a:ext cx="1379524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1976年，Whitfield Diffie和Martin Hellman共同提出了Diffie-Hellman密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178-line2"/>
          <p:cNvSpPr>
            <a:spLocks noGrp="1"/>
          </p:cNvSpPr>
          <p:nvPr/>
        </p:nvSpPr>
        <p:spPr>
          <a:xfrm>
            <a:off x="1752600" y="2511171"/>
            <a:ext cx="1458563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钥交换协议（简称D-H协议），它是第一个实用的在非保护信道中建立共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178-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享密钥的方法，其安全性依赖于计算离散对数的困难程度。该协议可以让</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78-line4"/>
          <p:cNvSpPr>
            <a:spLocks noGrp="1"/>
          </p:cNvSpPr>
          <p:nvPr/>
        </p:nvSpPr>
        <p:spPr>
          <a:xfrm>
            <a:off x="1752600" y="393306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双方在完全没有对方任何预先信息的条件下通过不安全信道建立一个密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178-line5"/>
          <p:cNvSpPr>
            <a:spLocks noGrp="1"/>
          </p:cNvSpPr>
          <p:nvPr/>
        </p:nvSpPr>
        <p:spPr>
          <a:xfrm>
            <a:off x="1752600" y="4644009"/>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钥，这个密钥可以在后续的通信中作为对称密钥来加密通信内容。2002</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178-line6"/>
          <p:cNvSpPr>
            <a:spLocks noGrp="1"/>
          </p:cNvSpPr>
          <p:nvPr/>
        </p:nvSpPr>
        <p:spPr>
          <a:xfrm>
            <a:off x="1752600" y="5354955"/>
            <a:ext cx="1460868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年，Hellman建议将该算法改名为Diffie-Hellman-Merkle密钥交换协议，以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78-line7"/>
          <p:cNvSpPr>
            <a:spLocks noGrp="1"/>
          </p:cNvSpPr>
          <p:nvPr/>
        </p:nvSpPr>
        <p:spPr>
          <a:xfrm>
            <a:off x="1752600" y="6065901"/>
            <a:ext cx="1466011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表明 Ralph Merkle对公钥加密算法的贡献。下面介绍Diffie-Hellman密钥交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178-line8"/>
          <p:cNvSpPr>
            <a:spLocks noGrp="1"/>
          </p:cNvSpPr>
          <p:nvPr/>
        </p:nvSpPr>
        <p:spPr>
          <a:xfrm>
            <a:off x="1752600" y="6776847"/>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换协议实现过程。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179-line1"/>
          <p:cNvSpPr>
            <a:spLocks noGrp="1"/>
          </p:cNvSpPr>
          <p:nvPr/>
        </p:nvSpPr>
        <p:spPr>
          <a:xfrm>
            <a:off x="2667000" y="768504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设</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156948" y="7714216"/>
            <a:ext cx="400957" cy="481149"/>
          </a:xfrm>
          <a:prstGeom prst="rect">
            <a:avLst/>
          </a:prstGeom>
        </p:spPr>
      </p:pic>
      <p:sp>
        <p:nvSpPr>
          <p:cNvPr id="23" name="p179-line1"/>
          <p:cNvSpPr>
            <a:spLocks noGrp="1"/>
          </p:cNvSpPr>
          <p:nvPr/>
        </p:nvSpPr>
        <p:spPr>
          <a:xfrm>
            <a:off x="3590653" y="7685042"/>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是一个大素数</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9963" b="89984" l="9429" r="90000">
                        <a14:foregroundMark x1="11743" y1="42260" x2="15457" y2="63149"/>
                        <a14:foregroundMark x1="11286" y1="37868" x2="19171" y2="71826"/>
                        <a14:foregroundMark x1="12686" y1="37868" x2="15914" y2="75308"/>
                        <a14:foregroundMark x1="47486" y1="32673" x2="45629" y2="52705"/>
                        <a14:foregroundMark x1="45629" y1="42260" x2="44257" y2="54419"/>
                        <a14:foregroundMark x1="45171" y1="42260" x2="42400" y2="50937"/>
                        <a14:foregroundMark x1="47971" y1="37868" x2="40057" y2="47456"/>
                        <a14:foregroundMark x1="47971" y1="46599" x2="49829" y2="56186"/>
                        <a14:foregroundMark x1="13143" y1="46599" x2="9429" y2="54419"/>
                        <a14:foregroundMark x1="15000" y1="47456" x2="10343" y2="66631"/>
                        <a14:foregroundMark x1="23829" y1="40493" x2="23829" y2="36154"/>
                        <a14:foregroundMark x1="49829" y1="37868" x2="49371" y2="45742"/>
                      </a14:backgroundRemoval>
                    </a14:imgEffect>
                  </a14:imgLayer>
                </a14:imgProps>
              </a:ext>
            </a:extLst>
          </a:blip>
          <a:stretch>
            <a:fillRect/>
          </a:stretch>
        </p:blipFill>
        <p:spPr>
          <a:xfrm>
            <a:off x="6819628" y="7604643"/>
            <a:ext cx="1312817" cy="700294"/>
          </a:xfrm>
          <a:prstGeom prst="rect">
            <a:avLst/>
          </a:prstGeom>
        </p:spPr>
      </p:pic>
      <p:sp>
        <p:nvSpPr>
          <p:cNvPr id="25" name="p179-line1"/>
          <p:cNvSpPr>
            <a:spLocks noGrp="1"/>
          </p:cNvSpPr>
          <p:nvPr/>
        </p:nvSpPr>
        <p:spPr>
          <a:xfrm>
            <a:off x="8161020" y="7685042"/>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是模</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9108168" y="7714216"/>
            <a:ext cx="400957" cy="481149"/>
          </a:xfrm>
          <a:prstGeom prst="rect">
            <a:avLst/>
          </a:prstGeom>
        </p:spPr>
      </p:pic>
      <p:sp>
        <p:nvSpPr>
          <p:cNvPr id="27" name="p179-line1"/>
          <p:cNvSpPr>
            <a:spLocks noGrp="1"/>
          </p:cNvSpPr>
          <p:nvPr/>
        </p:nvSpPr>
        <p:spPr>
          <a:xfrm>
            <a:off x="9541873" y="7685042"/>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的一个本原元，</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12775021" y="7714216"/>
            <a:ext cx="400957" cy="481149"/>
          </a:xfrm>
          <a:prstGeom prst="rect">
            <a:avLst/>
          </a:prstGeom>
        </p:spPr>
      </p:pic>
      <p:sp>
        <p:nvSpPr>
          <p:cNvPr id="29" name="p179-line1"/>
          <p:cNvSpPr>
            <a:spLocks noGrp="1"/>
          </p:cNvSpPr>
          <p:nvPr/>
        </p:nvSpPr>
        <p:spPr>
          <a:xfrm>
            <a:off x="13208726" y="768504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13698674" y="7714216"/>
            <a:ext cx="400957" cy="481149"/>
          </a:xfrm>
          <a:prstGeom prst="rect">
            <a:avLst/>
          </a:prstGeom>
        </p:spPr>
      </p:pic>
      <p:sp>
        <p:nvSpPr>
          <p:cNvPr id="31" name="p179-line1"/>
          <p:cNvSpPr>
            <a:spLocks noGrp="1"/>
          </p:cNvSpPr>
          <p:nvPr/>
        </p:nvSpPr>
        <p:spPr>
          <a:xfrm>
            <a:off x="14132379" y="7685042"/>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公开，并可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179-line2"/>
          <p:cNvSpPr>
            <a:spLocks noGrp="1"/>
          </p:cNvSpPr>
          <p:nvPr/>
        </p:nvSpPr>
        <p:spPr>
          <a:xfrm>
            <a:off x="1752600" y="8478937"/>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为所有用户共用。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5" name="p180-line1"/>
          <p:cNvSpPr>
            <a:spLocks noGrp="1"/>
          </p:cNvSpPr>
          <p:nvPr/>
        </p:nvSpPr>
        <p:spPr>
          <a:xfrm>
            <a:off x="2667000" y="1848340"/>
            <a:ext cx="6559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（1）通信方A随机选取一个大数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9218377" y="1913436"/>
            <a:ext cx="368373" cy="409303"/>
          </a:xfrm>
          <a:prstGeom prst="rect">
            <a:avLst/>
          </a:prstGeom>
        </p:spPr>
      </p:pic>
      <p:sp>
        <p:nvSpPr>
          <p:cNvPr id="3" name="p180-line1"/>
          <p:cNvSpPr>
            <a:spLocks noGrp="1"/>
          </p:cNvSpPr>
          <p:nvPr/>
        </p:nvSpPr>
        <p:spPr>
          <a:xfrm>
            <a:off x="9635789" y="184834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10121564" y="1816209"/>
            <a:ext cx="2542903" cy="603758"/>
          </a:xfrm>
          <a:prstGeom prst="rect">
            <a:avLst/>
          </a:prstGeom>
        </p:spPr>
      </p:pic>
      <p:sp>
        <p:nvSpPr>
          <p:cNvPr id="10" name="p180-line1"/>
          <p:cNvSpPr>
            <a:spLocks noGrp="1"/>
          </p:cNvSpPr>
          <p:nvPr/>
        </p:nvSpPr>
        <p:spPr>
          <a:xfrm>
            <a:off x="12693042" y="1848340"/>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1781175" y="2608472"/>
            <a:ext cx="2725783" cy="703252"/>
          </a:xfrm>
          <a:prstGeom prst="rect">
            <a:avLst/>
          </a:prstGeom>
        </p:spPr>
      </p:pic>
      <p:sp>
        <p:nvSpPr>
          <p:cNvPr id="18" name="p180-line2"/>
          <p:cNvSpPr>
            <a:spLocks noGrp="1"/>
          </p:cNvSpPr>
          <p:nvPr/>
        </p:nvSpPr>
        <p:spPr>
          <a:xfrm>
            <a:off x="4535533" y="2690350"/>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，并将结果</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6">
            <a:clrChange>
              <a:clrFrom>
                <a:srgbClr val="FFFFFF"/>
              </a:clrFrom>
              <a:clrTo>
                <a:srgbClr val="FFFFFF">
                  <a:alpha val="0"/>
                </a:srgbClr>
              </a:clrTo>
            </a:clrChange>
          </a:blip>
          <a:stretch>
            <a:fillRect/>
          </a:stretch>
        </p:blipFill>
        <p:spPr>
          <a:xfrm>
            <a:off x="6850108" y="2634782"/>
            <a:ext cx="563880" cy="650631"/>
          </a:xfrm>
          <a:prstGeom prst="rect">
            <a:avLst/>
          </a:prstGeom>
        </p:spPr>
      </p:pic>
      <p:sp>
        <p:nvSpPr>
          <p:cNvPr id="20" name="p180-line2"/>
          <p:cNvSpPr>
            <a:spLocks noGrp="1"/>
          </p:cNvSpPr>
          <p:nvPr/>
        </p:nvSpPr>
        <p:spPr>
          <a:xfrm>
            <a:off x="7442563" y="2690350"/>
            <a:ext cx="3562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传送给通信方B。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81-line1"/>
          <p:cNvSpPr>
            <a:spLocks noGrp="1"/>
          </p:cNvSpPr>
          <p:nvPr/>
        </p:nvSpPr>
        <p:spPr>
          <a:xfrm>
            <a:off x="2667000" y="3681494"/>
            <a:ext cx="5162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（2）B随机选取一个大数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7">
            <a:clrChange>
              <a:clrFrom>
                <a:srgbClr val="FFFFFF"/>
              </a:clrFrom>
              <a:clrTo>
                <a:srgbClr val="FFFFFF">
                  <a:alpha val="0"/>
                </a:srgbClr>
              </a:clrTo>
            </a:clrChange>
          </a:blip>
          <a:stretch>
            <a:fillRect/>
          </a:stretch>
        </p:blipFill>
        <p:spPr>
          <a:xfrm>
            <a:off x="7810628" y="3669302"/>
            <a:ext cx="390378" cy="563880"/>
          </a:xfrm>
          <a:prstGeom prst="rect">
            <a:avLst/>
          </a:prstGeom>
        </p:spPr>
      </p:pic>
      <p:sp>
        <p:nvSpPr>
          <p:cNvPr id="23" name="p181-line1"/>
          <p:cNvSpPr>
            <a:spLocks noGrp="1"/>
          </p:cNvSpPr>
          <p:nvPr/>
        </p:nvSpPr>
        <p:spPr>
          <a:xfrm>
            <a:off x="8239043" y="368149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8">
            <a:clrChange>
              <a:clrFrom>
                <a:srgbClr val="FFFFFF"/>
              </a:clrFrom>
              <a:clrTo>
                <a:srgbClr val="FFFFFF">
                  <a:alpha val="0"/>
                </a:srgbClr>
              </a:clrTo>
            </a:clrChange>
          </a:blip>
          <a:stretch>
            <a:fillRect/>
          </a:stretch>
        </p:blipFill>
        <p:spPr>
          <a:xfrm>
            <a:off x="8724818" y="3622481"/>
            <a:ext cx="2542903" cy="657522"/>
          </a:xfrm>
          <a:prstGeom prst="rect">
            <a:avLst/>
          </a:prstGeom>
        </p:spPr>
      </p:pic>
      <p:sp>
        <p:nvSpPr>
          <p:cNvPr id="26" name="p181-line1"/>
          <p:cNvSpPr>
            <a:spLocks noGrp="1"/>
          </p:cNvSpPr>
          <p:nvPr/>
        </p:nvSpPr>
        <p:spPr>
          <a:xfrm>
            <a:off x="11296296" y="368149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，然后计算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9">
            <a:clrChange>
              <a:clrFrom>
                <a:srgbClr val="FFFFFF"/>
              </a:clrFrom>
              <a:clrTo>
                <a:srgbClr val="FFFFFF">
                  <a:alpha val="0"/>
                </a:srgbClr>
              </a:clrTo>
            </a:clrChange>
          </a:blip>
          <a:stretch>
            <a:fillRect/>
          </a:stretch>
        </p:blipFill>
        <p:spPr>
          <a:xfrm>
            <a:off x="1781175" y="4462309"/>
            <a:ext cx="2725783" cy="703252"/>
          </a:xfrm>
          <a:prstGeom prst="rect">
            <a:avLst/>
          </a:prstGeom>
        </p:spPr>
      </p:pic>
      <p:sp>
        <p:nvSpPr>
          <p:cNvPr id="28" name="p181-line2"/>
          <p:cNvSpPr>
            <a:spLocks noGrp="1"/>
          </p:cNvSpPr>
          <p:nvPr/>
        </p:nvSpPr>
        <p:spPr>
          <a:xfrm>
            <a:off x="4535533" y="4544187"/>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，并将结果</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10">
            <a:clrChange>
              <a:clrFrom>
                <a:srgbClr val="FFFFFF"/>
              </a:clrFrom>
              <a:clrTo>
                <a:srgbClr val="FFFFFF">
                  <a:alpha val="0"/>
                </a:srgbClr>
              </a:clrTo>
            </a:clrChange>
          </a:blip>
          <a:stretch>
            <a:fillRect/>
          </a:stretch>
        </p:blipFill>
        <p:spPr>
          <a:xfrm>
            <a:off x="6850108" y="4488620"/>
            <a:ext cx="563880" cy="650631"/>
          </a:xfrm>
          <a:prstGeom prst="rect">
            <a:avLst/>
          </a:prstGeom>
        </p:spPr>
      </p:pic>
      <p:sp>
        <p:nvSpPr>
          <p:cNvPr id="30" name="p181-line2"/>
          <p:cNvSpPr>
            <a:spLocks noGrp="1"/>
          </p:cNvSpPr>
          <p:nvPr/>
        </p:nvSpPr>
        <p:spPr>
          <a:xfrm>
            <a:off x="7442563" y="4544187"/>
            <a:ext cx="2216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传送给A。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182-line1"/>
          <p:cNvSpPr>
            <a:spLocks noGrp="1"/>
          </p:cNvSpPr>
          <p:nvPr/>
        </p:nvSpPr>
        <p:spPr>
          <a:xfrm>
            <a:off x="2667000" y="5521180"/>
            <a:ext cx="2444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（3）A计算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11">
            <a:clrChange>
              <a:clrFrom>
                <a:srgbClr val="FFFFFF"/>
              </a:clrFrom>
              <a:clrTo>
                <a:srgbClr val="FFFFFF">
                  <a:alpha val="0"/>
                </a:srgbClr>
              </a:clrTo>
            </a:clrChange>
          </a:blip>
          <a:stretch>
            <a:fillRect/>
          </a:stretch>
        </p:blipFill>
        <p:spPr>
          <a:xfrm>
            <a:off x="5083111" y="5446106"/>
            <a:ext cx="2457994" cy="689643"/>
          </a:xfrm>
          <a:prstGeom prst="rect">
            <a:avLst/>
          </a:prstGeom>
        </p:spPr>
      </p:pic>
      <p:sp>
        <p:nvSpPr>
          <p:cNvPr id="33" name="p182-line1"/>
          <p:cNvSpPr>
            <a:spLocks noGrp="1"/>
          </p:cNvSpPr>
          <p:nvPr/>
        </p:nvSpPr>
        <p:spPr>
          <a:xfrm>
            <a:off x="7569681" y="552118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183-line1"/>
          <p:cNvSpPr>
            <a:spLocks noGrp="1"/>
          </p:cNvSpPr>
          <p:nvPr/>
        </p:nvSpPr>
        <p:spPr>
          <a:xfrm>
            <a:off x="2667000" y="6512324"/>
            <a:ext cx="241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（4）B计算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12">
            <a:clrChange>
              <a:clrFrom>
                <a:srgbClr val="FFFFFF"/>
              </a:clrFrom>
              <a:clrTo>
                <a:srgbClr val="FFFFFF">
                  <a:alpha val="0"/>
                </a:srgbClr>
              </a:clrTo>
            </a:clrChange>
            <a:extLst>
              <a:ext uri="{BEBA8EAE-BF5A-486C-A8C5-ECC9F3942E4B}">
                <a14:imgProps xmlns:a14="http://schemas.microsoft.com/office/drawing/2010/main">
                  <a14:imgLayer r:embed="rId13">
                    <a14:imgEffect>
                      <a14:backgroundRemoval t="9980" b="89919" l="5629" r="94314">
                        <a14:foregroundMark x1="6571" y1="36660" x2="27343" y2="51018"/>
                        <a14:foregroundMark x1="45029" y1="28921" x2="39743" y2="84216"/>
                        <a14:foregroundMark x1="41000" y1="28921" x2="46571" y2="46640"/>
                        <a14:foregroundMark x1="52771" y1="51018" x2="78743" y2="44705"/>
                        <a14:foregroundMark x1="78743" y1="44705" x2="81600" y2="45519"/>
                        <a14:foregroundMark x1="5657" y1="40020" x2="12457" y2="65479"/>
                        <a14:foregroundMark x1="89343" y1="48880" x2="94000" y2="43381"/>
                        <a14:foregroundMark x1="89971" y1="45519" x2="94314" y2="56619"/>
                      </a14:backgroundRemoval>
                    </a14:imgEffect>
                  </a14:imgLayer>
                </a14:imgProps>
              </a:ext>
            </a:extLst>
          </a:blip>
          <a:stretch>
            <a:fillRect/>
          </a:stretch>
        </p:blipFill>
        <p:spPr>
          <a:xfrm>
            <a:off x="5057966" y="6437251"/>
            <a:ext cx="2457994" cy="689643"/>
          </a:xfrm>
          <a:prstGeom prst="rect">
            <a:avLst/>
          </a:prstGeom>
        </p:spPr>
      </p:pic>
      <p:sp>
        <p:nvSpPr>
          <p:cNvPr id="36" name="p183-line1"/>
          <p:cNvSpPr>
            <a:spLocks noGrp="1"/>
          </p:cNvSpPr>
          <p:nvPr/>
        </p:nvSpPr>
        <p:spPr>
          <a:xfrm>
            <a:off x="7544535" y="651232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7" name="p184-line1"/>
          <p:cNvSpPr>
            <a:spLocks noGrp="1"/>
          </p:cNvSpPr>
          <p:nvPr/>
        </p:nvSpPr>
        <p:spPr>
          <a:xfrm>
            <a:off x="2667000" y="197570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3757484" y="1800225"/>
            <a:ext cx="10973873" cy="890451"/>
          </a:xfrm>
          <a:prstGeom prst="rect">
            <a:avLst/>
          </a:prstGeom>
        </p:spPr>
      </p:pic>
      <p:sp>
        <p:nvSpPr>
          <p:cNvPr id="3" name="p184-line1"/>
          <p:cNvSpPr>
            <a:spLocks noGrp="1"/>
          </p:cNvSpPr>
          <p:nvPr/>
        </p:nvSpPr>
        <p:spPr>
          <a:xfrm>
            <a:off x="14907441" y="197570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，所以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84-line2"/>
          <p:cNvSpPr>
            <a:spLocks noGrp="1"/>
          </p:cNvSpPr>
          <p:nvPr/>
        </p:nvSpPr>
        <p:spPr>
          <a:xfrm>
            <a:off x="1752600" y="2874318"/>
            <a:ext cx="84646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通信双方A和B各自计算出共同的会话密钥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10198164" y="2862126"/>
            <a:ext cx="390378" cy="563880"/>
          </a:xfrm>
          <a:prstGeom prst="rect">
            <a:avLst/>
          </a:prstGeom>
        </p:spPr>
      </p:pic>
      <p:sp>
        <p:nvSpPr>
          <p:cNvPr id="17" name="p184-line2"/>
          <p:cNvSpPr>
            <a:spLocks noGrp="1"/>
          </p:cNvSpPr>
          <p:nvPr/>
        </p:nvSpPr>
        <p:spPr>
          <a:xfrm>
            <a:off x="10626580" y="2874318"/>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，这样他们就可以使用对称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84-line3"/>
          <p:cNvSpPr>
            <a:spLocks noGrp="1"/>
          </p:cNvSpPr>
          <p:nvPr/>
        </p:nvSpPr>
        <p:spPr>
          <a:xfrm>
            <a:off x="1752600" y="3609648"/>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密码体制以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4">
            <a:clrChange>
              <a:clrFrom>
                <a:srgbClr val="FFFFFF"/>
              </a:clrFrom>
              <a:clrTo>
                <a:srgbClr val="FFFFFF">
                  <a:alpha val="0"/>
                </a:srgbClr>
              </a:clrTo>
            </a:clrChange>
          </a:blip>
          <a:stretch>
            <a:fillRect/>
          </a:stretch>
        </p:blipFill>
        <p:spPr>
          <a:xfrm>
            <a:off x="4076637" y="3597456"/>
            <a:ext cx="390378" cy="563880"/>
          </a:xfrm>
          <a:prstGeom prst="rect">
            <a:avLst/>
          </a:prstGeom>
        </p:spPr>
      </p:pic>
      <p:sp>
        <p:nvSpPr>
          <p:cNvPr id="20" name="p184-line3"/>
          <p:cNvSpPr>
            <a:spLocks noGrp="1"/>
          </p:cNvSpPr>
          <p:nvPr/>
        </p:nvSpPr>
        <p:spPr>
          <a:xfrm>
            <a:off x="4505053" y="3609648"/>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为密钥进行保密通信了。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85-line1"/>
          <p:cNvSpPr>
            <a:spLocks noGrp="1"/>
          </p:cNvSpPr>
          <p:nvPr/>
        </p:nvSpPr>
        <p:spPr>
          <a:xfrm>
            <a:off x="2667000" y="4447086"/>
            <a:ext cx="1384801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上述的Diffie-Hellman密钥交换协议很容易扩展到三人密钥协商协议。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85-line2"/>
          <p:cNvSpPr>
            <a:spLocks noGrp="1"/>
          </p:cNvSpPr>
          <p:nvPr/>
        </p:nvSpPr>
        <p:spPr>
          <a:xfrm>
            <a:off x="1752600" y="5158032"/>
            <a:ext cx="922686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下面以A、B、C三方一起产生秘密密钥为例。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86-line1"/>
          <p:cNvSpPr>
            <a:spLocks noGrp="1"/>
          </p:cNvSpPr>
          <p:nvPr/>
        </p:nvSpPr>
        <p:spPr>
          <a:xfrm>
            <a:off x="2667000" y="6066228"/>
            <a:ext cx="5645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（1）A选取一个大随机整数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8284382" y="6109553"/>
            <a:ext cx="407561" cy="452846"/>
          </a:xfrm>
          <a:prstGeom prst="rect">
            <a:avLst/>
          </a:prstGeom>
        </p:spPr>
      </p:pic>
      <p:sp>
        <p:nvSpPr>
          <p:cNvPr id="25" name="p186-line1"/>
          <p:cNvSpPr>
            <a:spLocks noGrp="1"/>
          </p:cNvSpPr>
          <p:nvPr/>
        </p:nvSpPr>
        <p:spPr>
          <a:xfrm>
            <a:off x="8721389" y="6066228"/>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，并且发送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backgroundRemoval t="9913" b="89542" l="2886" r="93086">
                        <a14:foregroundMark x1="7657" y1="27124" x2="45000" y2="72549"/>
                        <a14:foregroundMark x1="45000" y1="72549" x2="76057" y2="59913"/>
                        <a14:foregroundMark x1="76057" y1="59913" x2="57200" y2="47386"/>
                        <a14:foregroundMark x1="57200" y1="47386" x2="91057" y2="66993"/>
                        <a14:foregroundMark x1="89000" y1="51416" x2="84229" y2="66122"/>
                        <a14:foregroundMark x1="14457" y1="34967" x2="9686" y2="44444"/>
                        <a14:foregroundMark x1="90600" y1="49673" x2="93086" y2="52288"/>
                        <a14:foregroundMark x1="83086" y1="19390" x2="49000" y2="50545"/>
                        <a14:foregroundMark x1="43543" y1="30610" x2="44686" y2="26253"/>
                        <a14:foregroundMark x1="35371" y1="38453" x2="27200" y2="56645"/>
                        <a14:foregroundMark x1="17200" y1="73094" x2="26971" y2="49673"/>
                        <a14:foregroundMark x1="45600" y1="22767" x2="46286" y2="38453"/>
                        <a14:foregroundMark x1="47657" y1="27996" x2="50143" y2="30610"/>
                        <a14:foregroundMark x1="47657" y1="22767" x2="46971" y2="34967"/>
                        <a14:foregroundMark x1="34914" y1="65251" x2="36743" y2="67865"/>
                        <a14:foregroundMark x1="39686" y1="84314" x2="35600" y2="77451"/>
                        <a14:foregroundMark x1="10371" y1="33224" x2="7200" y2="54902"/>
                        <a14:foregroundMark x1="2886" y1="66122" x2="16743" y2="67865"/>
                        <a14:foregroundMark x1="19457" y1="67865" x2="21286" y2="73965"/>
                        <a14:foregroundMark x1="38771" y1="49673" x2="39914" y2="52288"/>
                        <a14:foregroundMark x1="41286" y1="54031" x2="29229" y2="54902"/>
                        <a14:backgroundMark x1="9229" y1="15904" x2="27000" y2="16231"/>
                        <a14:backgroundMark x1="27000" y1="16231" x2="7829" y2="6863"/>
                        <a14:backgroundMark x1="7829" y1="6863" x2="75457" y2="18519"/>
                        <a14:backgroundMark x1="75457" y1="18519" x2="78771" y2="14161"/>
                        <a14:backgroundMark x1="29706" y1="56838" x2="27886" y2="81699"/>
                        <a14:backgroundMark x1="32200" y1="22767" x2="30439" y2="46827"/>
                        <a14:backgroundMark x1="7657" y1="91285" x2="28314" y2="99020"/>
                      </a14:backgroundRemoval>
                    </a14:imgEffect>
                  </a14:imgLayer>
                </a14:imgProps>
              </a:ext>
            </a:extLst>
          </a:blip>
          <a:stretch>
            <a:fillRect/>
          </a:stretch>
        </p:blipFill>
        <p:spPr>
          <a:xfrm>
            <a:off x="11035964" y="5984219"/>
            <a:ext cx="2682240" cy="703513"/>
          </a:xfrm>
          <a:prstGeom prst="rect">
            <a:avLst/>
          </a:prstGeom>
        </p:spPr>
      </p:pic>
      <p:sp>
        <p:nvSpPr>
          <p:cNvPr id="28" name="p186-line1"/>
          <p:cNvSpPr>
            <a:spLocks noGrp="1"/>
          </p:cNvSpPr>
          <p:nvPr/>
        </p:nvSpPr>
        <p:spPr>
          <a:xfrm>
            <a:off x="13746779" y="6066228"/>
            <a:ext cx="1276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187-line1"/>
          <p:cNvSpPr>
            <a:spLocks noGrp="1"/>
          </p:cNvSpPr>
          <p:nvPr/>
        </p:nvSpPr>
        <p:spPr>
          <a:xfrm>
            <a:off x="2667000" y="7057372"/>
            <a:ext cx="5619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（2）B选取一个大随机整数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9">
            <a:clrChange>
              <a:clrFrom>
                <a:srgbClr val="FFFFFF"/>
              </a:clrFrom>
              <a:clrTo>
                <a:srgbClr val="FFFFFF">
                  <a:alpha val="0"/>
                </a:srgbClr>
              </a:clrTo>
            </a:clrChange>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8284310" y="7086546"/>
            <a:ext cx="400957" cy="481149"/>
          </a:xfrm>
          <a:prstGeom prst="rect">
            <a:avLst/>
          </a:prstGeom>
        </p:spPr>
      </p:pic>
      <p:sp>
        <p:nvSpPr>
          <p:cNvPr id="31" name="p187-line1"/>
          <p:cNvSpPr>
            <a:spLocks noGrp="1"/>
          </p:cNvSpPr>
          <p:nvPr/>
        </p:nvSpPr>
        <p:spPr>
          <a:xfrm>
            <a:off x="8739786" y="7057372"/>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，并且发送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11">
            <a:clrChange>
              <a:clrFrom>
                <a:srgbClr val="FFFFFF"/>
              </a:clrFrom>
              <a:clrTo>
                <a:srgbClr val="FFFFFF">
                  <a:alpha val="0"/>
                </a:srgbClr>
              </a:clrTo>
            </a:clrChange>
            <a:extLst>
              <a:ext uri="{BEBA8EAE-BF5A-486C-A8C5-ECC9F3942E4B}">
                <a14:imgProps xmlns:a14="http://schemas.microsoft.com/office/drawing/2010/main">
                  <a14:imgLayer r:embed="rId12">
                    <a14:imgEffect>
                      <a14:backgroundRemoval t="9800" b="89779" l="5429" r="94371">
                        <a14:foregroundMark x1="6857" y1="23498" x2="7829" y2="52687"/>
                        <a14:foregroundMark x1="10943" y1="16438" x2="7343" y2="56270"/>
                        <a14:foregroundMark x1="8771" y1="29715" x2="9029" y2="28872"/>
                        <a14:foregroundMark x1="5429" y1="39410" x2="13800" y2="67756"/>
                        <a14:foregroundMark x1="16943" y1="47418" x2="35200" y2="63962"/>
                        <a14:foregroundMark x1="35200" y1="63962" x2="46886" y2="34141"/>
                        <a14:foregroundMark x1="86686" y1="50053" x2="88857" y2="51844"/>
                        <a14:foregroundMark x1="93629" y1="54478" x2="94371" y2="71233"/>
                        <a14:foregroundMark x1="94371" y1="46470" x2="91486" y2="54478"/>
                        <a14:foregroundMark x1="91714" y1="50896" x2="87400" y2="65964"/>
                        <a14:foregroundMark x1="68457" y1="29715" x2="77571" y2="48261"/>
                        <a14:foregroundMark x1="69429" y1="43836" x2="57914" y2="64173"/>
                        <a14:foregroundMark x1="57200" y1="56270" x2="54800" y2="61538"/>
                        <a14:foregroundMark x1="38257" y1="34984" x2="43771" y2="34984"/>
                        <a14:foregroundMark x1="46171" y1="32350" x2="45229" y2="32350"/>
                        <a14:foregroundMark x1="49771" y1="19073" x2="44971" y2="36776"/>
                        <a14:foregroundMark x1="49543" y1="32350" x2="40429" y2="39410"/>
                      </a14:backgroundRemoval>
                    </a14:imgEffect>
                  </a14:imgLayer>
                </a14:imgProps>
              </a:ext>
            </a:extLst>
          </a:blip>
          <a:stretch>
            <a:fillRect/>
          </a:stretch>
        </p:blipFill>
        <p:spPr>
          <a:xfrm>
            <a:off x="11054361" y="6982375"/>
            <a:ext cx="2542903" cy="689490"/>
          </a:xfrm>
          <a:prstGeom prst="rect">
            <a:avLst/>
          </a:prstGeom>
        </p:spPr>
      </p:pic>
      <p:sp>
        <p:nvSpPr>
          <p:cNvPr id="33" name="p187-line1"/>
          <p:cNvSpPr>
            <a:spLocks noGrp="1"/>
          </p:cNvSpPr>
          <p:nvPr/>
        </p:nvSpPr>
        <p:spPr>
          <a:xfrm>
            <a:off x="13625839" y="7057372"/>
            <a:ext cx="1276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给C。</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188-line1"/>
          <p:cNvSpPr>
            <a:spLocks noGrp="1"/>
          </p:cNvSpPr>
          <p:nvPr/>
        </p:nvSpPr>
        <p:spPr>
          <a:xfrm>
            <a:off x="2667000" y="8048516"/>
            <a:ext cx="5619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（3）C选取一个大随机整数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13">
            <a:clrChange>
              <a:clrFrom>
                <a:srgbClr val="FFFFFF"/>
              </a:clrFrom>
              <a:clrTo>
                <a:srgbClr val="FFFFFF">
                  <a:alpha val="0"/>
                </a:srgbClr>
              </a:clrTo>
            </a:clrChange>
            <a:extLst>
              <a:ext uri="{BEBA8EAE-BF5A-486C-A8C5-ECC9F3942E4B}">
                <a14:imgProps xmlns:a14="http://schemas.microsoft.com/office/drawing/2010/main">
                  <a14:imgLayer r:embed="rId14">
                    <a14:imgEffect>
                      <a14:backgroundRemoval t="10000" b="90000" l="10000" r="90000"/>
                    </a14:imgEffect>
                  </a14:imgLayer>
                </a14:imgProps>
              </a:ext>
            </a:extLst>
          </a:blip>
          <a:stretch>
            <a:fillRect/>
          </a:stretch>
        </p:blipFill>
        <p:spPr>
          <a:xfrm>
            <a:off x="8258366" y="8113613"/>
            <a:ext cx="409303" cy="409303"/>
          </a:xfrm>
          <a:prstGeom prst="rect">
            <a:avLst/>
          </a:prstGeom>
        </p:spPr>
      </p:pic>
      <p:sp>
        <p:nvSpPr>
          <p:cNvPr id="36" name="p188-line1"/>
          <p:cNvSpPr>
            <a:spLocks noGrp="1"/>
          </p:cNvSpPr>
          <p:nvPr/>
        </p:nvSpPr>
        <p:spPr>
          <a:xfrm>
            <a:off x="8696243" y="8048516"/>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，并且发送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7" name="图片 36"/>
          <p:cNvPicPr>
            <a:picLocks noChangeAspect="1"/>
          </p:cNvPicPr>
          <p:nvPr/>
        </p:nvPicPr>
        <p:blipFill>
          <a:blip r:embed="rId15">
            <a:clrChange>
              <a:clrFrom>
                <a:srgbClr val="FFFFFF"/>
              </a:clrFrom>
              <a:clrTo>
                <a:srgbClr val="FFFFFF">
                  <a:alpha val="0"/>
                </a:srgbClr>
              </a:clrTo>
            </a:clrChange>
            <a:extLst>
              <a:ext uri="{BEBA8EAE-BF5A-486C-A8C5-ECC9F3942E4B}">
                <a14:imgProps xmlns:a14="http://schemas.microsoft.com/office/drawing/2010/main">
                  <a14:imgLayer r:embed="rId16">
                    <a14:imgEffect>
                      <a14:backgroundRemoval t="9800" b="89884" l="1829" r="95114">
                        <a14:foregroundMark x1="13371" y1="38883" x2="11943" y2="74289"/>
                        <a14:foregroundMark x1="1857" y1="32771" x2="9057" y2="41517"/>
                        <a14:foregroundMark x1="11457" y1="27397" x2="6657" y2="56586"/>
                        <a14:foregroundMark x1="16971" y1="52160" x2="19114" y2="61855"/>
                        <a14:foregroundMark x1="18400" y1="54795" x2="22486" y2="51317"/>
                        <a14:foregroundMark x1="25114" y1="43309" x2="25114" y2="51317"/>
                        <a14:foregroundMark x1="16971" y1="45943" x2="27029" y2="44257"/>
                        <a14:foregroundMark x1="39486" y1="40674" x2="43571" y2="43309"/>
                        <a14:foregroundMark x1="46943" y1="36249" x2="45486" y2="30032"/>
                        <a14:foregroundMark x1="54600" y1="52160" x2="75800" y2="55848"/>
                        <a14:foregroundMark x1="75800" y1="55848" x2="67057" y2="52160"/>
                        <a14:foregroundMark x1="95114" y1="61012" x2="93429" y2="55743"/>
                      </a14:backgroundRemoval>
                    </a14:imgEffect>
                  </a14:imgLayer>
                </a14:imgProps>
              </a:ext>
            </a:extLst>
          </a:blip>
          <a:stretch>
            <a:fillRect/>
          </a:stretch>
        </p:blipFill>
        <p:spPr>
          <a:xfrm>
            <a:off x="11010818" y="7973519"/>
            <a:ext cx="2542903" cy="689490"/>
          </a:xfrm>
          <a:prstGeom prst="rect">
            <a:avLst/>
          </a:prstGeom>
        </p:spPr>
      </p:pic>
      <p:sp>
        <p:nvSpPr>
          <p:cNvPr id="38" name="p188-line1"/>
          <p:cNvSpPr>
            <a:spLocks noGrp="1"/>
          </p:cNvSpPr>
          <p:nvPr/>
        </p:nvSpPr>
        <p:spPr>
          <a:xfrm>
            <a:off x="13582296" y="8048516"/>
            <a:ext cx="1301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9" name="p189-line1"/>
          <p:cNvSpPr>
            <a:spLocks noGrp="1"/>
          </p:cNvSpPr>
          <p:nvPr/>
        </p:nvSpPr>
        <p:spPr>
          <a:xfrm>
            <a:off x="2667000" y="1883174"/>
            <a:ext cx="2444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（4）A发送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5083111" y="1806913"/>
            <a:ext cx="2682240" cy="692018"/>
          </a:xfrm>
          <a:prstGeom prst="rect">
            <a:avLst/>
          </a:prstGeom>
        </p:spPr>
      </p:pic>
      <p:sp>
        <p:nvSpPr>
          <p:cNvPr id="3" name="p189-line1"/>
          <p:cNvSpPr>
            <a:spLocks noGrp="1"/>
          </p:cNvSpPr>
          <p:nvPr/>
        </p:nvSpPr>
        <p:spPr>
          <a:xfrm>
            <a:off x="7793926" y="1883174"/>
            <a:ext cx="1276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190-line1"/>
          <p:cNvSpPr>
            <a:spLocks noGrp="1"/>
          </p:cNvSpPr>
          <p:nvPr/>
        </p:nvSpPr>
        <p:spPr>
          <a:xfrm>
            <a:off x="2667000" y="2874318"/>
            <a:ext cx="241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（5）B发送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5057966" y="2795131"/>
            <a:ext cx="2880360" cy="697870"/>
          </a:xfrm>
          <a:prstGeom prst="rect">
            <a:avLst/>
          </a:prstGeom>
        </p:spPr>
      </p:pic>
      <p:sp>
        <p:nvSpPr>
          <p:cNvPr id="17" name="p190-line1"/>
          <p:cNvSpPr>
            <a:spLocks noGrp="1"/>
          </p:cNvSpPr>
          <p:nvPr/>
        </p:nvSpPr>
        <p:spPr>
          <a:xfrm>
            <a:off x="7966901" y="2874318"/>
            <a:ext cx="1276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给C。</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91-line1"/>
          <p:cNvSpPr>
            <a:spLocks noGrp="1"/>
          </p:cNvSpPr>
          <p:nvPr/>
        </p:nvSpPr>
        <p:spPr>
          <a:xfrm>
            <a:off x="2667000" y="3865463"/>
            <a:ext cx="241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（6）C发送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5">
            <a:clrChange>
              <a:clrFrom>
                <a:srgbClr val="FFFFFF"/>
              </a:clrFrom>
              <a:clrTo>
                <a:srgbClr val="FFFFFF">
                  <a:alpha val="0"/>
                </a:srgbClr>
              </a:clrTo>
            </a:clrChange>
          </a:blip>
          <a:stretch>
            <a:fillRect/>
          </a:stretch>
        </p:blipFill>
        <p:spPr>
          <a:xfrm>
            <a:off x="5061847" y="3782514"/>
            <a:ext cx="2646174" cy="705394"/>
          </a:xfrm>
          <a:prstGeom prst="rect">
            <a:avLst/>
          </a:prstGeom>
        </p:spPr>
      </p:pic>
      <p:sp>
        <p:nvSpPr>
          <p:cNvPr id="21" name="p191-line1"/>
          <p:cNvSpPr>
            <a:spLocks noGrp="1"/>
          </p:cNvSpPr>
          <p:nvPr/>
        </p:nvSpPr>
        <p:spPr>
          <a:xfrm>
            <a:off x="7740478" y="3865463"/>
            <a:ext cx="1301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92-line1"/>
          <p:cNvSpPr>
            <a:spLocks noGrp="1"/>
          </p:cNvSpPr>
          <p:nvPr/>
        </p:nvSpPr>
        <p:spPr>
          <a:xfrm>
            <a:off x="2667000" y="4856607"/>
            <a:ext cx="2444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（7）A计算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6">
            <a:clrChange>
              <a:clrFrom>
                <a:srgbClr val="FFFFFF"/>
              </a:clrFrom>
              <a:clrTo>
                <a:srgbClr val="FFFFFF">
                  <a:alpha val="0"/>
                </a:srgbClr>
              </a:clrTo>
            </a:clrChange>
          </a:blip>
          <a:stretch>
            <a:fillRect/>
          </a:stretch>
        </p:blipFill>
        <p:spPr>
          <a:xfrm>
            <a:off x="5086993" y="4773658"/>
            <a:ext cx="2646174" cy="705394"/>
          </a:xfrm>
          <a:prstGeom prst="rect">
            <a:avLst/>
          </a:prstGeom>
        </p:spPr>
      </p:pic>
      <p:sp>
        <p:nvSpPr>
          <p:cNvPr id="24" name="p192-line1"/>
          <p:cNvSpPr>
            <a:spLocks noGrp="1"/>
          </p:cNvSpPr>
          <p:nvPr/>
        </p:nvSpPr>
        <p:spPr>
          <a:xfrm>
            <a:off x="7765624" y="485660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193-line1"/>
          <p:cNvSpPr>
            <a:spLocks noGrp="1"/>
          </p:cNvSpPr>
          <p:nvPr/>
        </p:nvSpPr>
        <p:spPr>
          <a:xfrm>
            <a:off x="2667000" y="5847751"/>
            <a:ext cx="241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（8）B计算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7">
            <a:clrChange>
              <a:clrFrom>
                <a:srgbClr val="FFFFFF"/>
              </a:clrFrom>
              <a:clrTo>
                <a:srgbClr val="FFFFFF">
                  <a:alpha val="0"/>
                </a:srgbClr>
              </a:clrTo>
            </a:clrChange>
          </a:blip>
          <a:stretch>
            <a:fillRect/>
          </a:stretch>
        </p:blipFill>
        <p:spPr>
          <a:xfrm>
            <a:off x="5057966" y="5765743"/>
            <a:ext cx="2682240" cy="703513"/>
          </a:xfrm>
          <a:prstGeom prst="rect">
            <a:avLst/>
          </a:prstGeom>
        </p:spPr>
      </p:pic>
      <p:sp>
        <p:nvSpPr>
          <p:cNvPr id="27" name="p193-line1"/>
          <p:cNvSpPr>
            <a:spLocks noGrp="1"/>
          </p:cNvSpPr>
          <p:nvPr/>
        </p:nvSpPr>
        <p:spPr>
          <a:xfrm>
            <a:off x="7768781" y="584775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194-line1"/>
          <p:cNvSpPr>
            <a:spLocks noGrp="1"/>
          </p:cNvSpPr>
          <p:nvPr/>
        </p:nvSpPr>
        <p:spPr>
          <a:xfrm>
            <a:off x="2667000" y="6838896"/>
            <a:ext cx="241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（9）C计算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8">
            <a:clrChange>
              <a:clrFrom>
                <a:srgbClr val="FFFFFF"/>
              </a:clrFrom>
              <a:clrTo>
                <a:srgbClr val="FFFFFF">
                  <a:alpha val="0"/>
                </a:srgbClr>
              </a:clrTo>
            </a:clrChange>
          </a:blip>
          <a:stretch>
            <a:fillRect/>
          </a:stretch>
        </p:blipFill>
        <p:spPr>
          <a:xfrm>
            <a:off x="5057966" y="6762635"/>
            <a:ext cx="2682240" cy="692018"/>
          </a:xfrm>
          <a:prstGeom prst="rect">
            <a:avLst/>
          </a:prstGeom>
        </p:spPr>
      </p:pic>
      <p:sp>
        <p:nvSpPr>
          <p:cNvPr id="30" name="p194-line1"/>
          <p:cNvSpPr>
            <a:spLocks noGrp="1"/>
          </p:cNvSpPr>
          <p:nvPr/>
        </p:nvSpPr>
        <p:spPr>
          <a:xfrm>
            <a:off x="7768781" y="683889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195-line1"/>
          <p:cNvSpPr>
            <a:spLocks noGrp="1"/>
          </p:cNvSpPr>
          <p:nvPr/>
        </p:nvSpPr>
        <p:spPr>
          <a:xfrm>
            <a:off x="2667000" y="1883174"/>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显然，会话密钥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5905437" y="1870982"/>
            <a:ext cx="390378" cy="563880"/>
          </a:xfrm>
          <a:prstGeom prst="rect">
            <a:avLst/>
          </a:prstGeom>
        </p:spPr>
      </p:pic>
      <p:sp>
        <p:nvSpPr>
          <p:cNvPr id="4" name="p195-line1"/>
          <p:cNvSpPr>
            <a:spLocks noGrp="1"/>
          </p:cNvSpPr>
          <p:nvPr/>
        </p:nvSpPr>
        <p:spPr>
          <a:xfrm>
            <a:off x="6333853" y="188317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等于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7286843" y="1800225"/>
            <a:ext cx="2028661" cy="705394"/>
          </a:xfrm>
          <a:prstGeom prst="rect">
            <a:avLst/>
          </a:prstGeom>
        </p:spPr>
      </p:pic>
      <p:sp>
        <p:nvSpPr>
          <p:cNvPr id="17" name="p195-line1"/>
          <p:cNvSpPr>
            <a:spLocks noGrp="1"/>
          </p:cNvSpPr>
          <p:nvPr/>
        </p:nvSpPr>
        <p:spPr>
          <a:xfrm>
            <a:off x="9354094" y="1883174"/>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，除了他们三人，没有其他人能计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195-line2"/>
          <p:cNvSpPr>
            <a:spLocks noGrp="1"/>
          </p:cNvSpPr>
          <p:nvPr/>
        </p:nvSpPr>
        <p:spPr>
          <a:xfrm>
            <a:off x="1752600" y="2689261"/>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算出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3">
            <a:clrChange>
              <a:clrFrom>
                <a:srgbClr val="FFFFFF"/>
              </a:clrFrom>
              <a:clrTo>
                <a:srgbClr val="FFFFFF">
                  <a:alpha val="0"/>
                </a:srgbClr>
              </a:clrTo>
            </a:clrChange>
          </a:blip>
          <a:stretch>
            <a:fillRect/>
          </a:stretch>
        </p:blipFill>
        <p:spPr>
          <a:xfrm>
            <a:off x="2705037" y="2677069"/>
            <a:ext cx="390378" cy="563880"/>
          </a:xfrm>
          <a:prstGeom prst="rect">
            <a:avLst/>
          </a:prstGeom>
        </p:spPr>
      </p:pic>
      <p:sp>
        <p:nvSpPr>
          <p:cNvPr id="20" name="p195-line2"/>
          <p:cNvSpPr>
            <a:spLocks noGrp="1"/>
          </p:cNvSpPr>
          <p:nvPr/>
        </p:nvSpPr>
        <p:spPr>
          <a:xfrm>
            <a:off x="3133453" y="2689261"/>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值。</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196-line1"/>
          <p:cNvSpPr>
            <a:spLocks noGrp="1"/>
          </p:cNvSpPr>
          <p:nvPr/>
        </p:nvSpPr>
        <p:spPr>
          <a:xfrm>
            <a:off x="2667000" y="3526699"/>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这个协议很容易扩展到四人或更多人的密钥协商协议。然而随着人数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96-line2"/>
          <p:cNvSpPr>
            <a:spLocks noGrp="1"/>
          </p:cNvSpPr>
          <p:nvPr/>
        </p:nvSpPr>
        <p:spPr>
          <a:xfrm>
            <a:off x="1752600" y="423764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增加，通信的轮数迅速增加，因此在现实通信中该方法不适合用于群密钥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196-line3"/>
          <p:cNvSpPr>
            <a:spLocks noGrp="1"/>
          </p:cNvSpPr>
          <p:nvPr/>
        </p:nvSpPr>
        <p:spPr>
          <a:xfrm>
            <a:off x="1752600" y="4948591"/>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协商协议。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197-line1"/>
          <p:cNvSpPr>
            <a:spLocks noGrp="1"/>
          </p:cNvSpPr>
          <p:nvPr/>
        </p:nvSpPr>
        <p:spPr>
          <a:xfrm>
            <a:off x="2667000" y="5773837"/>
            <a:ext cx="1384801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Diffie-Hellman密钥交换协议不包含通信双方的身份认证过程，因此处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197-line2"/>
          <p:cNvSpPr>
            <a:spLocks noGrp="1"/>
          </p:cNvSpPr>
          <p:nvPr/>
        </p:nvSpPr>
        <p:spPr>
          <a:xfrm>
            <a:off x="1752600" y="6484783"/>
            <a:ext cx="1440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于通信双方A和B通信中间的攻击者能够截获并替换他们之间的密钥协商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197-line3"/>
          <p:cNvSpPr>
            <a:spLocks noGrp="1"/>
          </p:cNvSpPr>
          <p:nvPr/>
        </p:nvSpPr>
        <p:spPr>
          <a:xfrm>
            <a:off x="1752600" y="7195729"/>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交互的消息，从而监听他们的通信内容，这种攻击被称为中间人攻击。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7" name="p198-line1"/>
          <p:cNvSpPr>
            <a:spLocks noGrp="1"/>
          </p:cNvSpPr>
          <p:nvPr/>
        </p:nvSpPr>
        <p:spPr>
          <a:xfrm>
            <a:off x="2667000" y="1869023"/>
            <a:ext cx="129860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在中间人攻击中，攻击者M截获A发送给B的第一条密钥协商消息</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1781175" y="2676148"/>
            <a:ext cx="563880" cy="650631"/>
          </a:xfrm>
          <a:prstGeom prst="rect">
            <a:avLst/>
          </a:prstGeom>
        </p:spPr>
      </p:pic>
      <p:sp>
        <p:nvSpPr>
          <p:cNvPr id="3" name="p198-line2"/>
          <p:cNvSpPr>
            <a:spLocks noGrp="1"/>
          </p:cNvSpPr>
          <p:nvPr/>
        </p:nvSpPr>
        <p:spPr>
          <a:xfrm>
            <a:off x="2373630" y="2731716"/>
            <a:ext cx="5264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，并伪装成A向B发送消息</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7610916" y="2648766"/>
            <a:ext cx="2864130" cy="705394"/>
          </a:xfrm>
          <a:prstGeom prst="rect">
            <a:avLst/>
          </a:prstGeom>
        </p:spPr>
      </p:pic>
      <p:sp>
        <p:nvSpPr>
          <p:cNvPr id="10" name="p198-line2"/>
          <p:cNvSpPr>
            <a:spLocks noGrp="1"/>
          </p:cNvSpPr>
          <p:nvPr/>
        </p:nvSpPr>
        <p:spPr>
          <a:xfrm>
            <a:off x="10505204" y="2731716"/>
            <a:ext cx="5391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。B将按照协议的规则回复</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5">
            <a:clrChange>
              <a:clrFrom>
                <a:srgbClr val="FFFFFF"/>
              </a:clrFrom>
              <a:clrTo>
                <a:srgbClr val="FFFFFF">
                  <a:alpha val="0"/>
                </a:srgbClr>
              </a:clrTo>
            </a:clrChange>
          </a:blip>
          <a:stretch>
            <a:fillRect/>
          </a:stretch>
        </p:blipFill>
        <p:spPr>
          <a:xfrm>
            <a:off x="15867970" y="2676148"/>
            <a:ext cx="563880" cy="650631"/>
          </a:xfrm>
          <a:prstGeom prst="rect">
            <a:avLst/>
          </a:prstGeom>
        </p:spPr>
      </p:pic>
      <p:sp>
        <p:nvSpPr>
          <p:cNvPr id="19" name="p198-line3"/>
          <p:cNvSpPr>
            <a:spLocks noGrp="1"/>
          </p:cNvSpPr>
          <p:nvPr/>
        </p:nvSpPr>
        <p:spPr>
          <a:xfrm>
            <a:off x="1752600" y="3608560"/>
            <a:ext cx="115637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给A，攻击者M截获这个消息。现在M和B协商了一个密钥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6">
            <a:clrChange>
              <a:clrFrom>
                <a:srgbClr val="FFFFFF"/>
              </a:clrFrom>
              <a:clrTo>
                <a:srgbClr val="FFFFFF">
                  <a:alpha val="0"/>
                </a:srgbClr>
              </a:clrTo>
            </a:clrChange>
          </a:blip>
          <a:stretch>
            <a:fillRect/>
          </a:stretch>
        </p:blipFill>
        <p:spPr>
          <a:xfrm>
            <a:off x="13287756" y="3527049"/>
            <a:ext cx="2020389" cy="702518"/>
          </a:xfrm>
          <a:prstGeom prst="rect">
            <a:avLst/>
          </a:prstGeom>
        </p:spPr>
      </p:pic>
      <p:sp>
        <p:nvSpPr>
          <p:cNvPr id="21" name="p198-line3"/>
          <p:cNvSpPr>
            <a:spLocks noGrp="1"/>
          </p:cNvSpPr>
          <p:nvPr/>
        </p:nvSpPr>
        <p:spPr>
          <a:xfrm>
            <a:off x="15336720" y="3608560"/>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198-line4"/>
          <p:cNvSpPr>
            <a:spLocks noGrp="1"/>
          </p:cNvSpPr>
          <p:nvPr/>
        </p:nvSpPr>
        <p:spPr>
          <a:xfrm>
            <a:off x="1752600" y="4402455"/>
            <a:ext cx="123765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B以为这个密钥就是他和A所共享的密钥。同理，M伪装成B将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4">
            <a:clrChange>
              <a:clrFrom>
                <a:srgbClr val="FFFFFF"/>
              </a:clrFrom>
              <a:clrTo>
                <a:srgbClr val="FFFFFF">
                  <a:alpha val="0"/>
                </a:srgbClr>
              </a:clrTo>
            </a:clrChange>
          </a:blip>
          <a:stretch>
            <a:fillRect/>
          </a:stretch>
        </p:blipFill>
        <p:spPr>
          <a:xfrm>
            <a:off x="1782759" y="5113401"/>
            <a:ext cx="2864130" cy="705394"/>
          </a:xfrm>
          <a:prstGeom prst="rect">
            <a:avLst/>
          </a:prstGeom>
        </p:spPr>
      </p:pic>
      <p:sp>
        <p:nvSpPr>
          <p:cNvPr id="24" name="p198-line5"/>
          <p:cNvSpPr>
            <a:spLocks noGrp="1"/>
          </p:cNvSpPr>
          <p:nvPr/>
        </p:nvSpPr>
        <p:spPr>
          <a:xfrm>
            <a:off x="4677047" y="5196350"/>
            <a:ext cx="706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发送给A，则M和A协商了一个密钥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7">
            <a:clrChange>
              <a:clrFrom>
                <a:srgbClr val="FFFFFF"/>
              </a:clrFrom>
              <a:clrTo>
                <a:srgbClr val="FFFFFF">
                  <a:alpha val="0"/>
                </a:srgbClr>
              </a:clrTo>
            </a:clrChange>
          </a:blip>
          <a:stretch>
            <a:fillRect/>
          </a:stretch>
        </p:blipFill>
        <p:spPr>
          <a:xfrm>
            <a:off x="11716022" y="5114839"/>
            <a:ext cx="2020389" cy="702518"/>
          </a:xfrm>
          <a:prstGeom prst="rect">
            <a:avLst/>
          </a:prstGeom>
        </p:spPr>
      </p:pic>
      <p:sp>
        <p:nvSpPr>
          <p:cNvPr id="26" name="p198-line5"/>
          <p:cNvSpPr>
            <a:spLocks noGrp="1"/>
          </p:cNvSpPr>
          <p:nvPr/>
        </p:nvSpPr>
        <p:spPr>
          <a:xfrm>
            <a:off x="13764986" y="5196350"/>
            <a:ext cx="26732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，而A以为这</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198-line6"/>
          <p:cNvSpPr>
            <a:spLocks noGrp="1"/>
          </p:cNvSpPr>
          <p:nvPr/>
        </p:nvSpPr>
        <p:spPr>
          <a:xfrm>
            <a:off x="1752600" y="5990245"/>
            <a:ext cx="1415300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是他和B共享的密钥（对Diffie-Hellman密钥交换协议的中间人攻击如图</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198-line7"/>
          <p:cNvSpPr>
            <a:spLocks noGrp="1"/>
          </p:cNvSpPr>
          <p:nvPr/>
        </p:nvSpPr>
        <p:spPr>
          <a:xfrm>
            <a:off x="1752600" y="6701191"/>
            <a:ext cx="54292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15.9所示），该过程如下。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3" name="图片 2"/>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49" b="89927" l="176" r="98856">
                        <a14:foregroundMark x1="1937" y1="21429" x2="5458" y2="22527"/>
                        <a14:foregroundMark x1="5458" y1="22527" x2="440" y2="3480"/>
                        <a14:foregroundMark x1="440" y1="3480" x2="88" y2="18132"/>
                        <a14:foregroundMark x1="88" y1="18132" x2="1320" y2="2381"/>
                        <a14:foregroundMark x1="1320" y1="2381" x2="13292" y2="3663"/>
                        <a14:foregroundMark x1="13292" y1="3663" x2="16813" y2="1099"/>
                        <a14:foregroundMark x1="16813" y1="1099" x2="24912" y2="1648"/>
                        <a14:foregroundMark x1="24912" y1="1648" x2="25264" y2="4212"/>
                        <a14:foregroundMark x1="9683" y1="22344" x2="4137" y2="22161"/>
                        <a14:foregroundMark x1="4137" y1="22161" x2="7042" y2="21612"/>
                        <a14:foregroundMark x1="14085" y1="11722" x2="13644" y2="10989"/>
                        <a14:foregroundMark x1="50088" y1="5495" x2="49120" y2="13370"/>
                        <a14:foregroundMark x1="49120" y1="13370" x2="51849" y2="11355"/>
                        <a14:foregroundMark x1="54401" y1="10440" x2="49032" y2="13187"/>
                        <a14:foregroundMark x1="49032" y1="13187" x2="47183" y2="11722"/>
                        <a14:foregroundMark x1="52993" y1="13553" x2="48856" y2="11722"/>
                        <a14:foregroundMark x1="48856" y1="11722" x2="57306" y2="10073"/>
                        <a14:foregroundMark x1="88908" y1="9524" x2="88468" y2="13004"/>
                        <a14:foregroundMark x1="89349" y1="26007" x2="95687" y2="23810"/>
                        <a14:foregroundMark x1="95687" y1="23810" x2="91197" y2="23993"/>
                        <a14:foregroundMark x1="91197" y1="23993" x2="94982" y2="24359"/>
                        <a14:foregroundMark x1="98415" y1="13736" x2="98592" y2="23077"/>
                        <a14:foregroundMark x1="98592" y1="23077" x2="98856" y2="11172"/>
                        <a14:foregroundMark x1="98856" y1="11172" x2="98415" y2="18681"/>
                        <a14:foregroundMark x1="77025" y1="2015" x2="87764" y2="1465"/>
                        <a14:foregroundMark x1="87764" y1="1465" x2="95423" y2="3846"/>
                        <a14:foregroundMark x1="85563" y1="12637" x2="83539" y2="13370"/>
                        <a14:foregroundMark x1="30458" y1="47070" x2="30106" y2="55495"/>
                        <a14:foregroundMark x1="66197" y1="49817" x2="69366" y2="56593"/>
                        <a14:foregroundMark x1="69102" y1="69048" x2="68222" y2="71612"/>
                        <a14:foregroundMark x1="30194" y1="77106" x2="30898" y2="80403"/>
                        <a14:foregroundMark x1="352" y1="4762" x2="792" y2="24542"/>
                        <a14:foregroundMark x1="792" y1="24542" x2="264" y2="15385"/>
                        <a14:foregroundMark x1="264" y1="15385" x2="264" y2="20696"/>
                        <a14:foregroundMark x1="43046" y1="2930" x2="48592" y2="1832"/>
                        <a14:foregroundMark x1="48592" y1="1832" x2="44190" y2="1648"/>
                        <a14:foregroundMark x1="44190" y1="1648" x2="61708" y2="2564"/>
                        <a14:foregroundMark x1="61708" y1="2564" x2="61180" y2="549"/>
                      </a14:backgroundRemoval>
                    </a14:imgEffect>
                  </a14:imgLayer>
                </a14:imgProps>
              </a:ext>
            </a:extLst>
          </a:blip>
          <a:stretch>
            <a:fillRect/>
          </a:stretch>
        </p:blipFill>
        <p:spPr>
          <a:xfrm>
            <a:off x="2505110" y="1762125"/>
            <a:ext cx="13277780" cy="6381750"/>
          </a:xfrm>
          <a:prstGeom prst="rect">
            <a:avLst/>
          </a:prstGeom>
        </p:spPr>
      </p:pic>
      <p:sp>
        <p:nvSpPr>
          <p:cNvPr id="2" name="p200-line1"/>
          <p:cNvSpPr>
            <a:spLocks noGrp="1"/>
          </p:cNvSpPr>
          <p:nvPr/>
        </p:nvSpPr>
        <p:spPr>
          <a:xfrm>
            <a:off x="3905917" y="8372475"/>
            <a:ext cx="1053331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图15.9　对Diffie-Hellman密钥交换协议的中间人攻击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299416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1" name="p201-line1"/>
          <p:cNvSpPr>
            <a:spLocks noGrp="1"/>
          </p:cNvSpPr>
          <p:nvPr/>
        </p:nvSpPr>
        <p:spPr>
          <a:xfrm>
            <a:off x="2667000" y="1883174"/>
            <a:ext cx="2444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（1）A选择</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5083111" y="1829610"/>
            <a:ext cx="2542903" cy="646624"/>
          </a:xfrm>
          <a:prstGeom prst="rect">
            <a:avLst/>
          </a:prstGeom>
        </p:spPr>
      </p:pic>
      <p:sp>
        <p:nvSpPr>
          <p:cNvPr id="3" name="p201-line1"/>
          <p:cNvSpPr>
            <a:spLocks noGrp="1"/>
          </p:cNvSpPr>
          <p:nvPr/>
        </p:nvSpPr>
        <p:spPr>
          <a:xfrm>
            <a:off x="7654589" y="188317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9054764" y="1806913"/>
            <a:ext cx="2682240" cy="692018"/>
          </a:xfrm>
          <a:prstGeom prst="rect">
            <a:avLst/>
          </a:prstGeom>
        </p:spPr>
      </p:pic>
      <p:sp>
        <p:nvSpPr>
          <p:cNvPr id="10" name="p201-line1"/>
          <p:cNvSpPr>
            <a:spLocks noGrp="1"/>
          </p:cNvSpPr>
          <p:nvPr/>
        </p:nvSpPr>
        <p:spPr>
          <a:xfrm>
            <a:off x="11765579" y="188317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13165754" y="1827607"/>
            <a:ext cx="563880" cy="650631"/>
          </a:xfrm>
          <a:prstGeom prst="rect">
            <a:avLst/>
          </a:prstGeom>
        </p:spPr>
      </p:pic>
      <p:sp>
        <p:nvSpPr>
          <p:cNvPr id="18" name="p201-line1"/>
          <p:cNvSpPr>
            <a:spLocks noGrp="1"/>
          </p:cNvSpPr>
          <p:nvPr/>
        </p:nvSpPr>
        <p:spPr>
          <a:xfrm>
            <a:off x="13729634" y="1910395"/>
            <a:ext cx="400000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给M</a:t>
            </a:r>
            <a:r>
              <a:rPr sz="3600" b="0" i="0" dirty="0">
                <a:latin typeface="Times New Roman" panose="02020603050405020304" pitchFamily="18" charset="0"/>
                <a:ea typeface="宋体" panose="02010600030101010101" pitchFamily="2" charset="-122"/>
                <a:cs typeface="字由点字典黑 2"/>
                <a:sym typeface="字由点字典黑 2"/>
              </a:rPr>
              <a:t>(“B”)。</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0" name="p202-line1"/>
          <p:cNvSpPr>
            <a:spLocks noGrp="1"/>
          </p:cNvSpPr>
          <p:nvPr/>
        </p:nvSpPr>
        <p:spPr>
          <a:xfrm>
            <a:off x="2667000" y="2757613"/>
            <a:ext cx="452723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（2）M(“A”)对某个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6">
            <a:clrChange>
              <a:clrFrom>
                <a:srgbClr val="FFFFFF"/>
              </a:clrFrom>
              <a:clrTo>
                <a:srgbClr val="FFFFFF">
                  <a:alpha val="0"/>
                </a:srgbClr>
              </a:clrTo>
            </a:clrChange>
          </a:blip>
          <a:stretch>
            <a:fillRect/>
          </a:stretch>
        </p:blipFill>
        <p:spPr>
          <a:xfrm>
            <a:off x="6664380" y="2747188"/>
            <a:ext cx="2457994" cy="646804"/>
          </a:xfrm>
          <a:prstGeom prst="rect">
            <a:avLst/>
          </a:prstGeom>
        </p:spPr>
      </p:pic>
      <p:sp>
        <p:nvSpPr>
          <p:cNvPr id="22" name="p202-line1"/>
          <p:cNvSpPr>
            <a:spLocks noGrp="1"/>
          </p:cNvSpPr>
          <p:nvPr/>
        </p:nvSpPr>
        <p:spPr>
          <a:xfrm>
            <a:off x="9155796" y="275856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a:t>
            </a:r>
            <a:r>
              <a:rPr sz="3600" b="0" i="0" dirty="0" err="1">
                <a:latin typeface="Times New Roman" panose="02020603050405020304" pitchFamily="18" charset="0"/>
                <a:ea typeface="宋体" panose="02010600030101010101" pitchFamily="2" charset="-122"/>
                <a:cs typeface="字由点字典黑 2"/>
                <a:sym typeface="字由点字典黑 2"/>
              </a:rPr>
              <a:t>计算</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7">
            <a:clrChange>
              <a:clrFrom>
                <a:srgbClr val="FFFFFF"/>
              </a:clrFrom>
              <a:clrTo>
                <a:srgbClr val="FFFFFF">
                  <a:alpha val="0"/>
                </a:srgbClr>
              </a:clrTo>
            </a:clrChange>
          </a:blip>
          <a:stretch>
            <a:fillRect/>
          </a:stretch>
        </p:blipFill>
        <p:spPr>
          <a:xfrm>
            <a:off x="10555971" y="2684072"/>
            <a:ext cx="2795451" cy="688480"/>
          </a:xfrm>
          <a:prstGeom prst="rect">
            <a:avLst/>
          </a:prstGeom>
        </p:spPr>
      </p:pic>
      <p:sp>
        <p:nvSpPr>
          <p:cNvPr id="24" name="p202-line1"/>
          <p:cNvSpPr>
            <a:spLocks noGrp="1"/>
          </p:cNvSpPr>
          <p:nvPr/>
        </p:nvSpPr>
        <p:spPr>
          <a:xfrm>
            <a:off x="13379997" y="275856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8">
            <a:clrChange>
              <a:clrFrom>
                <a:srgbClr val="FFFFFF"/>
              </a:clrFrom>
              <a:clrTo>
                <a:srgbClr val="FFFFFF">
                  <a:alpha val="0"/>
                </a:srgbClr>
              </a:clrTo>
            </a:clrChange>
          </a:blip>
          <a:stretch>
            <a:fillRect/>
          </a:stretch>
        </p:blipFill>
        <p:spPr>
          <a:xfrm>
            <a:off x="14782059" y="2689766"/>
            <a:ext cx="631952" cy="677091"/>
          </a:xfrm>
          <a:prstGeom prst="rect">
            <a:avLst/>
          </a:prstGeom>
        </p:spPr>
      </p:pic>
      <p:sp>
        <p:nvSpPr>
          <p:cNvPr id="26" name="p202-line1"/>
          <p:cNvSpPr>
            <a:spLocks noGrp="1"/>
          </p:cNvSpPr>
          <p:nvPr/>
        </p:nvSpPr>
        <p:spPr>
          <a:xfrm>
            <a:off x="15444473" y="275856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给</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02-line2"/>
          <p:cNvSpPr>
            <a:spLocks noGrp="1"/>
          </p:cNvSpPr>
          <p:nvPr/>
        </p:nvSpPr>
        <p:spPr>
          <a:xfrm>
            <a:off x="16023698" y="2772497"/>
            <a:ext cx="819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B。</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8" name="p203-line1"/>
          <p:cNvSpPr>
            <a:spLocks noGrp="1"/>
          </p:cNvSpPr>
          <p:nvPr/>
        </p:nvSpPr>
        <p:spPr>
          <a:xfrm>
            <a:off x="2667000" y="3529564"/>
            <a:ext cx="241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（3）B选择</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9">
            <a:clrChange>
              <a:clrFrom>
                <a:srgbClr val="FFFFFF"/>
              </a:clrFrom>
              <a:clrTo>
                <a:srgbClr val="FFFFFF">
                  <a:alpha val="0"/>
                </a:srgbClr>
              </a:clrTo>
            </a:clrChange>
          </a:blip>
          <a:stretch>
            <a:fillRect/>
          </a:stretch>
        </p:blipFill>
        <p:spPr>
          <a:xfrm>
            <a:off x="5057966" y="3476000"/>
            <a:ext cx="2542903" cy="646624"/>
          </a:xfrm>
          <a:prstGeom prst="rect">
            <a:avLst/>
          </a:prstGeom>
        </p:spPr>
      </p:pic>
      <p:sp>
        <p:nvSpPr>
          <p:cNvPr id="30" name="p203-line1"/>
          <p:cNvSpPr>
            <a:spLocks noGrp="1"/>
          </p:cNvSpPr>
          <p:nvPr/>
        </p:nvSpPr>
        <p:spPr>
          <a:xfrm>
            <a:off x="7629443" y="352956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10">
            <a:clrChange>
              <a:clrFrom>
                <a:srgbClr val="FFFFFF"/>
              </a:clrFrom>
              <a:clrTo>
                <a:srgbClr val="FFFFFF">
                  <a:alpha val="0"/>
                </a:srgbClr>
              </a:clrTo>
            </a:clrChange>
          </a:blip>
          <a:stretch>
            <a:fillRect/>
          </a:stretch>
        </p:blipFill>
        <p:spPr>
          <a:xfrm>
            <a:off x="9029618" y="3453303"/>
            <a:ext cx="2682240" cy="692018"/>
          </a:xfrm>
          <a:prstGeom prst="rect">
            <a:avLst/>
          </a:prstGeom>
        </p:spPr>
      </p:pic>
      <p:sp>
        <p:nvSpPr>
          <p:cNvPr id="33" name="p203-line1"/>
          <p:cNvSpPr>
            <a:spLocks noGrp="1"/>
          </p:cNvSpPr>
          <p:nvPr/>
        </p:nvSpPr>
        <p:spPr>
          <a:xfrm>
            <a:off x="11740433" y="352956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4" name="图片 33"/>
          <p:cNvPicPr>
            <a:picLocks noChangeAspect="1"/>
          </p:cNvPicPr>
          <p:nvPr/>
        </p:nvPicPr>
        <p:blipFill>
          <a:blip r:embed="rId11">
            <a:clrChange>
              <a:clrFrom>
                <a:srgbClr val="FFFFFF"/>
              </a:clrFrom>
              <a:clrTo>
                <a:srgbClr val="FFFFFF">
                  <a:alpha val="0"/>
                </a:srgbClr>
              </a:clrTo>
            </a:clrChange>
          </a:blip>
          <a:stretch>
            <a:fillRect/>
          </a:stretch>
        </p:blipFill>
        <p:spPr>
          <a:xfrm>
            <a:off x="13140608" y="3473996"/>
            <a:ext cx="563880" cy="650631"/>
          </a:xfrm>
          <a:prstGeom prst="rect">
            <a:avLst/>
          </a:prstGeom>
        </p:spPr>
      </p:pic>
      <p:sp>
        <p:nvSpPr>
          <p:cNvPr id="35" name="p203-line1"/>
          <p:cNvSpPr>
            <a:spLocks noGrp="1"/>
          </p:cNvSpPr>
          <p:nvPr/>
        </p:nvSpPr>
        <p:spPr>
          <a:xfrm>
            <a:off x="13729634" y="3529564"/>
            <a:ext cx="400000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给M</a:t>
            </a:r>
            <a:r>
              <a:rPr sz="3600" b="0" i="0" dirty="0">
                <a:latin typeface="Times New Roman" panose="02020603050405020304" pitchFamily="18" charset="0"/>
                <a:ea typeface="宋体" panose="02010600030101010101" pitchFamily="2" charset="-122"/>
                <a:cs typeface="字由点字典黑 2"/>
                <a:sym typeface="字由点字典黑 2"/>
              </a:rPr>
              <a:t>(“A”)。</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37" name="p204-line1"/>
          <p:cNvSpPr>
            <a:spLocks noGrp="1"/>
          </p:cNvSpPr>
          <p:nvPr/>
        </p:nvSpPr>
        <p:spPr>
          <a:xfrm>
            <a:off x="2644877" y="4304968"/>
            <a:ext cx="48322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（4）M(“B”)向A发送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8" name="图片 37"/>
          <p:cNvPicPr>
            <a:picLocks noChangeAspect="1"/>
          </p:cNvPicPr>
          <p:nvPr/>
        </p:nvPicPr>
        <p:blipFill>
          <a:blip r:embed="rId12">
            <a:clrChange>
              <a:clrFrom>
                <a:srgbClr val="FFFFFF"/>
              </a:clrFrom>
              <a:clrTo>
                <a:srgbClr val="FFFFFF">
                  <a:alpha val="0"/>
                </a:srgbClr>
              </a:clrTo>
            </a:clrChange>
            <a:extLst>
              <a:ext uri="{BEBA8EAE-BF5A-486C-A8C5-ECC9F3942E4B}">
                <a14:imgProps xmlns:a14="http://schemas.microsoft.com/office/drawing/2010/main">
                  <a14:imgLayer r:embed="rId13">
                    <a14:imgEffect>
                      <a14:backgroundRemoval t="10000" b="90000" l="10000" r="90000">
                        <a14:foregroundMark x1="50112" y1="60260" x2="59487" y2="68958"/>
                      </a14:backgroundRemoval>
                    </a14:imgEffect>
                  </a14:imgLayer>
                </a14:imgProps>
              </a:ext>
            </a:extLst>
          </a:blip>
          <a:stretch>
            <a:fillRect/>
          </a:stretch>
        </p:blipFill>
        <p:spPr>
          <a:xfrm>
            <a:off x="6946794" y="4222237"/>
            <a:ext cx="631952" cy="677091"/>
          </a:xfrm>
          <a:prstGeom prst="rect">
            <a:avLst/>
          </a:prstGeom>
        </p:spPr>
      </p:pic>
      <p:sp>
        <p:nvSpPr>
          <p:cNvPr id="39" name="p204-line1"/>
          <p:cNvSpPr>
            <a:spLocks noGrp="1"/>
          </p:cNvSpPr>
          <p:nvPr/>
        </p:nvSpPr>
        <p:spPr>
          <a:xfrm>
            <a:off x="7646158" y="4304968"/>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40" name="p205-line1"/>
          <p:cNvSpPr>
            <a:spLocks noGrp="1"/>
          </p:cNvSpPr>
          <p:nvPr/>
        </p:nvSpPr>
        <p:spPr>
          <a:xfrm>
            <a:off x="2644877" y="5281960"/>
            <a:ext cx="2444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（5）A计算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1" name="图片 40"/>
          <p:cNvPicPr>
            <a:picLocks noChangeAspect="1"/>
          </p:cNvPicPr>
          <p:nvPr/>
        </p:nvPicPr>
        <p:blipFill>
          <a:blip r:embed="rId14">
            <a:clrChange>
              <a:clrFrom>
                <a:srgbClr val="FFFFFF"/>
              </a:clrFrom>
              <a:clrTo>
                <a:srgbClr val="FFFFFF">
                  <a:alpha val="0"/>
                </a:srgbClr>
              </a:clrTo>
            </a:clrChange>
            <a:extLst>
              <a:ext uri="{BEBA8EAE-BF5A-486C-A8C5-ECC9F3942E4B}">
                <a14:imgProps xmlns:a14="http://schemas.microsoft.com/office/drawing/2010/main">
                  <a14:imgLayer r:embed="rId15">
                    <a14:imgEffect>
                      <a14:backgroundRemoval t="9913" b="92919" l="5143" r="93086">
                        <a14:foregroundMark x1="49114" y1="61547" x2="25257" y2="61111"/>
                        <a14:foregroundMark x1="25257" y1="61111" x2="49457" y2="70806"/>
                        <a14:foregroundMark x1="49457" y1="70806" x2="28571" y2="70806"/>
                        <a14:foregroundMark x1="28571" y1="70806" x2="74429" y2="41394"/>
                        <a14:foregroundMark x1="74429" y1="41394" x2="46057" y2="37691"/>
                        <a14:foregroundMark x1="46057" y1="37691" x2="82343" y2="24292"/>
                        <a14:foregroundMark x1="82343" y1="24292" x2="60343" y2="42702"/>
                        <a14:foregroundMark x1="60343" y1="42702" x2="74429" y2="93028"/>
                        <a14:foregroundMark x1="74429" y1="93028" x2="93114" y2="93028"/>
                        <a14:foregroundMark x1="11743" y1="46841" x2="24371" y2="44771"/>
                        <a14:foregroundMark x1="22743" y1="69935" x2="27143" y2="51089"/>
                        <a14:foregroundMark x1="5143" y1="51089" x2="12829" y2="61547"/>
                      </a14:backgroundRemoval>
                    </a14:imgEffect>
                  </a14:imgLayer>
                </a14:imgProps>
              </a:ext>
            </a:extLst>
          </a:blip>
          <a:stretch>
            <a:fillRect/>
          </a:stretch>
        </p:blipFill>
        <p:spPr>
          <a:xfrm>
            <a:off x="5060988" y="5199952"/>
            <a:ext cx="2682240" cy="703513"/>
          </a:xfrm>
          <a:prstGeom prst="rect">
            <a:avLst/>
          </a:prstGeom>
        </p:spPr>
      </p:pic>
      <p:sp>
        <p:nvSpPr>
          <p:cNvPr id="42" name="p205-line1"/>
          <p:cNvSpPr>
            <a:spLocks noGrp="1"/>
          </p:cNvSpPr>
          <p:nvPr/>
        </p:nvSpPr>
        <p:spPr>
          <a:xfrm>
            <a:off x="7771803" y="528196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06-line1"/>
          <p:cNvSpPr>
            <a:spLocks noGrp="1"/>
          </p:cNvSpPr>
          <p:nvPr/>
        </p:nvSpPr>
        <p:spPr>
          <a:xfrm>
            <a:off x="2692145" y="6110928"/>
            <a:ext cx="241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（6）B计算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6" name="图片 35"/>
          <p:cNvPicPr>
            <a:picLocks noChangeAspect="1"/>
          </p:cNvPicPr>
          <p:nvPr/>
        </p:nvPicPr>
        <p:blipFill>
          <a:blip r:embed="rId16">
            <a:clrChange>
              <a:clrFrom>
                <a:srgbClr val="FFFFFF"/>
              </a:clrFrom>
              <a:clrTo>
                <a:srgbClr val="FFFFFF">
                  <a:alpha val="0"/>
                </a:srgbClr>
              </a:clrTo>
            </a:clrChange>
          </a:blip>
          <a:stretch>
            <a:fillRect/>
          </a:stretch>
        </p:blipFill>
        <p:spPr>
          <a:xfrm>
            <a:off x="5083111" y="6034667"/>
            <a:ext cx="2682240" cy="692018"/>
          </a:xfrm>
          <a:prstGeom prst="rect">
            <a:avLst/>
          </a:prstGeom>
        </p:spPr>
      </p:pic>
      <p:sp>
        <p:nvSpPr>
          <p:cNvPr id="43" name="p206-line1"/>
          <p:cNvSpPr>
            <a:spLocks noGrp="1"/>
          </p:cNvSpPr>
          <p:nvPr/>
        </p:nvSpPr>
        <p:spPr>
          <a:xfrm>
            <a:off x="7793926" y="6110928"/>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76201" y="3196507"/>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 name="p207-line1"/>
          <p:cNvSpPr>
            <a:spLocks noGrp="1"/>
          </p:cNvSpPr>
          <p:nvPr/>
        </p:nvSpPr>
        <p:spPr>
          <a:xfrm>
            <a:off x="2514600" y="2132374"/>
            <a:ext cx="9150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上述过程完成之后，攻击者M可以计算出密钥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3">
            <a:clrChange>
              <a:clrFrom>
                <a:srgbClr val="FFFFFF"/>
              </a:clrFrom>
              <a:clrTo>
                <a:srgbClr val="FFFFFF">
                  <a:alpha val="0"/>
                </a:srgbClr>
              </a:clrTo>
            </a:clrChange>
          </a:blip>
          <a:stretch>
            <a:fillRect/>
          </a:stretch>
        </p:blipFill>
        <p:spPr>
          <a:xfrm>
            <a:off x="11636502" y="2093364"/>
            <a:ext cx="452846" cy="617517"/>
          </a:xfrm>
          <a:prstGeom prst="rect">
            <a:avLst/>
          </a:prstGeom>
        </p:spPr>
      </p:pic>
      <p:sp>
        <p:nvSpPr>
          <p:cNvPr id="17" name="p207-line1"/>
          <p:cNvSpPr>
            <a:spLocks noGrp="1"/>
          </p:cNvSpPr>
          <p:nvPr/>
        </p:nvSpPr>
        <p:spPr>
          <a:xfrm>
            <a:off x="12117923" y="213237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4">
            <a:clrChange>
              <a:clrFrom>
                <a:srgbClr val="FFFFFF"/>
              </a:clrFrom>
              <a:clrTo>
                <a:srgbClr val="FFFFFF">
                  <a:alpha val="0"/>
                </a:srgbClr>
              </a:clrTo>
            </a:clrChange>
          </a:blip>
          <a:stretch>
            <a:fillRect/>
          </a:stretch>
        </p:blipFill>
        <p:spPr>
          <a:xfrm>
            <a:off x="12603698" y="2101404"/>
            <a:ext cx="481149" cy="601436"/>
          </a:xfrm>
          <a:prstGeom prst="rect">
            <a:avLst/>
          </a:prstGeom>
        </p:spPr>
      </p:pic>
      <p:sp>
        <p:nvSpPr>
          <p:cNvPr id="19" name="p207-line1"/>
          <p:cNvSpPr>
            <a:spLocks noGrp="1"/>
          </p:cNvSpPr>
          <p:nvPr/>
        </p:nvSpPr>
        <p:spPr>
          <a:xfrm>
            <a:off x="13113421" y="2132374"/>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，并用这两个密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07-line2"/>
          <p:cNvSpPr>
            <a:spLocks noGrp="1"/>
          </p:cNvSpPr>
          <p:nvPr/>
        </p:nvSpPr>
        <p:spPr>
          <a:xfrm>
            <a:off x="1600200" y="2995067"/>
            <a:ext cx="83376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钥就可以监听A和B之间的秘密通信。A用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5">
            <a:clrChange>
              <a:clrFrom>
                <a:srgbClr val="FFFFFF"/>
              </a:clrFrom>
              <a:clrTo>
                <a:srgbClr val="FFFFFF">
                  <a:alpha val="0"/>
                </a:srgbClr>
              </a:clrTo>
            </a:clrChange>
          </a:blip>
          <a:stretch>
            <a:fillRect/>
          </a:stretch>
        </p:blipFill>
        <p:spPr>
          <a:xfrm>
            <a:off x="9919254" y="2912118"/>
            <a:ext cx="2028661" cy="705394"/>
          </a:xfrm>
          <a:prstGeom prst="rect">
            <a:avLst/>
          </a:prstGeom>
        </p:spPr>
      </p:pic>
      <p:sp>
        <p:nvSpPr>
          <p:cNvPr id="23" name="p207-line2"/>
          <p:cNvSpPr>
            <a:spLocks noGrp="1"/>
          </p:cNvSpPr>
          <p:nvPr/>
        </p:nvSpPr>
        <p:spPr>
          <a:xfrm>
            <a:off x="11986505" y="2995067"/>
            <a:ext cx="442626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加密信息发送给B，M</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07-line3"/>
          <p:cNvSpPr>
            <a:spLocks noGrp="1"/>
          </p:cNvSpPr>
          <p:nvPr/>
        </p:nvSpPr>
        <p:spPr>
          <a:xfrm>
            <a:off x="1600200" y="3871911"/>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截取信息的密文并用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3">
            <a:clrChange>
              <a:clrFrom>
                <a:srgbClr val="FFFFFF"/>
              </a:clrFrom>
              <a:clrTo>
                <a:srgbClr val="FFFFFF">
                  <a:alpha val="0"/>
                </a:srgbClr>
              </a:clrTo>
            </a:clrChange>
          </a:blip>
          <a:stretch>
            <a:fillRect/>
          </a:stretch>
        </p:blipFill>
        <p:spPr>
          <a:xfrm>
            <a:off x="5743575" y="3832901"/>
            <a:ext cx="452846" cy="617517"/>
          </a:xfrm>
          <a:prstGeom prst="rect">
            <a:avLst/>
          </a:prstGeom>
        </p:spPr>
      </p:pic>
      <p:sp>
        <p:nvSpPr>
          <p:cNvPr id="26" name="p207-line3"/>
          <p:cNvSpPr>
            <a:spLocks noGrp="1"/>
          </p:cNvSpPr>
          <p:nvPr/>
        </p:nvSpPr>
        <p:spPr>
          <a:xfrm>
            <a:off x="6224996" y="3871911"/>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解密得到信息，随后用密钥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6">
            <a:clrChange>
              <a:clrFrom>
                <a:srgbClr val="FFFFFF"/>
              </a:clrFrom>
              <a:clrTo>
                <a:srgbClr val="FFFFFF">
                  <a:alpha val="0"/>
                </a:srgbClr>
              </a:clrTo>
            </a:clrChange>
          </a:blip>
          <a:stretch>
            <a:fillRect/>
          </a:stretch>
        </p:blipFill>
        <p:spPr>
          <a:xfrm>
            <a:off x="11749986" y="3788962"/>
            <a:ext cx="2028661" cy="705394"/>
          </a:xfrm>
          <a:prstGeom prst="rect">
            <a:avLst/>
          </a:prstGeom>
        </p:spPr>
      </p:pic>
      <p:sp>
        <p:nvSpPr>
          <p:cNvPr id="28" name="p207-line3"/>
          <p:cNvSpPr>
            <a:spLocks noGrp="1"/>
          </p:cNvSpPr>
          <p:nvPr/>
        </p:nvSpPr>
        <p:spPr>
          <a:xfrm>
            <a:off x="13817237" y="3871911"/>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再次加密信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207-line4"/>
          <p:cNvSpPr>
            <a:spLocks noGrp="1"/>
          </p:cNvSpPr>
          <p:nvPr/>
        </p:nvSpPr>
        <p:spPr>
          <a:xfrm>
            <a:off x="1600200" y="4665806"/>
            <a:ext cx="5391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息并传送给B。反之亦然。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208-line1"/>
          <p:cNvSpPr>
            <a:spLocks noGrp="1"/>
          </p:cNvSpPr>
          <p:nvPr/>
        </p:nvSpPr>
        <p:spPr>
          <a:xfrm>
            <a:off x="2514600" y="5491052"/>
            <a:ext cx="123508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因为这个协议没有提供对消息源的认证，所以主动攻击者M对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08-line2"/>
          <p:cNvSpPr>
            <a:spLocks noGrp="1"/>
          </p:cNvSpPr>
          <p:nvPr/>
        </p:nvSpPr>
        <p:spPr>
          <a:xfrm>
            <a:off x="1600200" y="6201998"/>
            <a:ext cx="1476241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Diffie-Hellman密钥交换协议的中间人攻击可以成功。为了抵抗这种攻击，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08-line3"/>
          <p:cNvSpPr>
            <a:spLocks noGrp="1"/>
          </p:cNvSpPr>
          <p:nvPr/>
        </p:nvSpPr>
        <p:spPr>
          <a:xfrm>
            <a:off x="1600200" y="6912944"/>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在协议的运行过程当中，参与者必须确定收到的消息的确来自目标参与</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208-line4"/>
          <p:cNvSpPr>
            <a:spLocks noGrp="1"/>
          </p:cNvSpPr>
          <p:nvPr/>
        </p:nvSpPr>
        <p:spPr>
          <a:xfrm>
            <a:off x="1600200" y="7623890"/>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1" name="p209-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为了克服中间人攻击，最简便的方法就是在双方通信过程中进行身份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09-line2"/>
          <p:cNvSpPr>
            <a:spLocks noGrp="1"/>
          </p:cNvSpPr>
          <p:nvPr/>
        </p:nvSpPr>
        <p:spPr>
          <a:xfrm>
            <a:off x="1752600" y="2511171"/>
            <a:ext cx="9658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认证。下面介绍两种常见的认证密钥协商协议。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10-line1"/>
          <p:cNvSpPr>
            <a:spLocks noGrp="1"/>
          </p:cNvSpPr>
          <p:nvPr/>
        </p:nvSpPr>
        <p:spPr>
          <a:xfrm>
            <a:off x="2667000" y="3336417"/>
            <a:ext cx="1388573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Diffie和Van Orschot等于1992年提出了一种D-H密钥协商协议的改进协</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10-line2"/>
          <p:cNvSpPr>
            <a:spLocks noGrp="1"/>
          </p:cNvSpPr>
          <p:nvPr/>
        </p:nvSpPr>
        <p:spPr>
          <a:xfrm>
            <a:off x="1752600" y="4047363"/>
            <a:ext cx="1456105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议——端对端（STS）协议。该协议基于公钥基础设施引入了数字签名算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10-line3"/>
          <p:cNvSpPr>
            <a:spLocks noGrp="1"/>
          </p:cNvSpPr>
          <p:nvPr/>
        </p:nvSpPr>
        <p:spPr>
          <a:xfrm>
            <a:off x="1752600" y="4827107"/>
            <a:ext cx="84646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法，假定存在可信中心CA，其签名算法用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3">
            <a:clrChange>
              <a:clrFrom>
                <a:srgbClr val="FFFFFF"/>
              </a:clrFrom>
              <a:clrTo>
                <a:srgbClr val="FFFFFF">
                  <a:alpha val="0"/>
                </a:srgbClr>
              </a:clrTo>
            </a:clrChange>
          </a:blip>
          <a:stretch>
            <a:fillRect/>
          </a:stretch>
        </p:blipFill>
        <p:spPr>
          <a:xfrm>
            <a:off x="10194000" y="4758309"/>
            <a:ext cx="993067" cy="677091"/>
          </a:xfrm>
          <a:prstGeom prst="rect">
            <a:avLst/>
          </a:prstGeom>
        </p:spPr>
      </p:pic>
      <p:sp>
        <p:nvSpPr>
          <p:cNvPr id="18" name="p210-line3"/>
          <p:cNvSpPr>
            <a:spLocks noGrp="1"/>
          </p:cNvSpPr>
          <p:nvPr/>
        </p:nvSpPr>
        <p:spPr>
          <a:xfrm>
            <a:off x="11220940" y="4827107"/>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表示，与之对应的签名验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10-line4"/>
          <p:cNvSpPr>
            <a:spLocks noGrp="1"/>
          </p:cNvSpPr>
          <p:nvPr/>
        </p:nvSpPr>
        <p:spPr>
          <a:xfrm>
            <a:off x="1752600" y="5606850"/>
            <a:ext cx="1463630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证算法用Ver表示。域中的每个用户可以事先向CA注册并申请一个公钥证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10-line5"/>
          <p:cNvSpPr>
            <a:spLocks noGrp="1"/>
          </p:cNvSpPr>
          <p:nvPr/>
        </p:nvSpPr>
        <p:spPr>
          <a:xfrm>
            <a:off x="1752600" y="6317796"/>
            <a:ext cx="678865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书，则简化的STS协议描述如下。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11-line1"/>
          <p:cNvSpPr>
            <a:spLocks noGrp="1"/>
          </p:cNvSpPr>
          <p:nvPr/>
        </p:nvSpPr>
        <p:spPr>
          <a:xfrm>
            <a:off x="2667000" y="722599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设</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4">
            <a:clrChange>
              <a:clrFrom>
                <a:srgbClr val="FFFFFF"/>
              </a:clrFrom>
              <a:clrTo>
                <a:srgbClr val="FFFFFF">
                  <a:alpha val="0"/>
                </a:srgbClr>
              </a:clrTo>
            </a:clrChange>
          </a:blip>
          <a:stretch>
            <a:fillRect/>
          </a:stretch>
        </p:blipFill>
        <p:spPr>
          <a:xfrm>
            <a:off x="3178719" y="7255165"/>
            <a:ext cx="400957" cy="481149"/>
          </a:xfrm>
          <a:prstGeom prst="rect">
            <a:avLst/>
          </a:prstGeom>
        </p:spPr>
      </p:pic>
      <p:sp>
        <p:nvSpPr>
          <p:cNvPr id="24" name="p211-line1"/>
          <p:cNvSpPr>
            <a:spLocks noGrp="1"/>
          </p:cNvSpPr>
          <p:nvPr/>
        </p:nvSpPr>
        <p:spPr>
          <a:xfrm>
            <a:off x="3634196" y="7225992"/>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是一个大素数，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9963" b="89984" l="8886" r="90000">
                        <a14:foregroundMark x1="10743" y1="37279" x2="17257" y2="63417"/>
                        <a14:foregroundMark x1="45114" y1="38993" x2="42800" y2="45956"/>
                        <a14:foregroundMark x1="8886" y1="65131" x2="14457" y2="69470"/>
                        <a14:foregroundMark x1="83200" y1="26834" x2="79486" y2="34655"/>
                        <a14:foregroundMark x1="88286" y1="65131" x2="86914" y2="70380"/>
                      </a14:backgroundRemoval>
                    </a14:imgEffect>
                  </a14:imgLayer>
                </a14:imgProps>
              </a:ext>
            </a:extLst>
          </a:blip>
          <a:stretch>
            <a:fillRect/>
          </a:stretch>
        </p:blipFill>
        <p:spPr>
          <a:xfrm>
            <a:off x="6863171" y="7145592"/>
            <a:ext cx="1312817" cy="700294"/>
          </a:xfrm>
          <a:prstGeom prst="rect">
            <a:avLst/>
          </a:prstGeom>
        </p:spPr>
      </p:pic>
      <p:sp>
        <p:nvSpPr>
          <p:cNvPr id="26" name="p211-line1"/>
          <p:cNvSpPr>
            <a:spLocks noGrp="1"/>
          </p:cNvSpPr>
          <p:nvPr/>
        </p:nvSpPr>
        <p:spPr>
          <a:xfrm>
            <a:off x="8204563" y="7225992"/>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是模</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4">
            <a:clrChange>
              <a:clrFrom>
                <a:srgbClr val="FFFFFF"/>
              </a:clrFrom>
              <a:clrTo>
                <a:srgbClr val="FFFFFF">
                  <a:alpha val="0"/>
                </a:srgbClr>
              </a:clrTo>
            </a:clrChange>
          </a:blip>
          <a:stretch>
            <a:fillRect/>
          </a:stretch>
        </p:blipFill>
        <p:spPr>
          <a:xfrm>
            <a:off x="9173482" y="7255165"/>
            <a:ext cx="400957" cy="481149"/>
          </a:xfrm>
          <a:prstGeom prst="rect">
            <a:avLst/>
          </a:prstGeom>
        </p:spPr>
      </p:pic>
      <p:sp>
        <p:nvSpPr>
          <p:cNvPr id="28" name="p211-line1"/>
          <p:cNvSpPr>
            <a:spLocks noGrp="1"/>
          </p:cNvSpPr>
          <p:nvPr/>
        </p:nvSpPr>
        <p:spPr>
          <a:xfrm>
            <a:off x="9628959" y="7225992"/>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的一个本原元，</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12883878" y="7255165"/>
            <a:ext cx="400957" cy="481149"/>
          </a:xfrm>
          <a:prstGeom prst="rect">
            <a:avLst/>
          </a:prstGeom>
        </p:spPr>
      </p:pic>
      <p:sp>
        <p:nvSpPr>
          <p:cNvPr id="30" name="p211-line1"/>
          <p:cNvSpPr>
            <a:spLocks noGrp="1"/>
          </p:cNvSpPr>
          <p:nvPr/>
        </p:nvSpPr>
        <p:spPr>
          <a:xfrm>
            <a:off x="13339354" y="722599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1" name="图片 30"/>
          <p:cNvPicPr>
            <a:picLocks noChangeAspect="1"/>
          </p:cNvPicPr>
          <p:nvPr/>
        </p:nvPicPr>
        <p:blipFill>
          <a:blip r:embed="rId9">
            <a:clrChange>
              <a:clrFrom>
                <a:srgbClr val="FFFFFF"/>
              </a:clrFrom>
              <a:clrTo>
                <a:srgbClr val="FFFFFF">
                  <a:alpha val="0"/>
                </a:srgbClr>
              </a:clrTo>
            </a:clrChange>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13851074" y="7255165"/>
            <a:ext cx="400957" cy="481149"/>
          </a:xfrm>
          <a:prstGeom prst="rect">
            <a:avLst/>
          </a:prstGeom>
        </p:spPr>
      </p:pic>
      <p:sp>
        <p:nvSpPr>
          <p:cNvPr id="32" name="p211-line1"/>
          <p:cNvSpPr>
            <a:spLocks noGrp="1"/>
          </p:cNvSpPr>
          <p:nvPr/>
        </p:nvSpPr>
        <p:spPr>
          <a:xfrm>
            <a:off x="14306550" y="7225992"/>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公开。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4" name="p212-line1"/>
          <p:cNvSpPr>
            <a:spLocks noGrp="1"/>
          </p:cNvSpPr>
          <p:nvPr/>
        </p:nvSpPr>
        <p:spPr>
          <a:xfrm>
            <a:off x="2667000" y="1883174"/>
            <a:ext cx="3359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（1）A随机选取</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5998382" y="1926499"/>
            <a:ext cx="407561" cy="452846"/>
          </a:xfrm>
          <a:prstGeom prst="rect">
            <a:avLst/>
          </a:prstGeom>
        </p:spPr>
      </p:pic>
      <p:sp>
        <p:nvSpPr>
          <p:cNvPr id="3" name="p212-line1"/>
          <p:cNvSpPr>
            <a:spLocks noGrp="1"/>
          </p:cNvSpPr>
          <p:nvPr/>
        </p:nvSpPr>
        <p:spPr>
          <a:xfrm>
            <a:off x="6435389" y="188317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6921164" y="1851043"/>
            <a:ext cx="2542903" cy="603758"/>
          </a:xfrm>
          <a:prstGeom prst="rect">
            <a:avLst/>
          </a:prstGeom>
        </p:spPr>
      </p:pic>
      <p:sp>
        <p:nvSpPr>
          <p:cNvPr id="10" name="p212-line1"/>
          <p:cNvSpPr>
            <a:spLocks noGrp="1"/>
          </p:cNvSpPr>
          <p:nvPr/>
        </p:nvSpPr>
        <p:spPr>
          <a:xfrm>
            <a:off x="9492642" y="188317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10892817" y="1806913"/>
            <a:ext cx="2682240" cy="692018"/>
          </a:xfrm>
          <a:prstGeom prst="rect">
            <a:avLst/>
          </a:prstGeom>
        </p:spPr>
      </p:pic>
      <p:sp>
        <p:nvSpPr>
          <p:cNvPr id="18" name="p212-line1"/>
          <p:cNvSpPr>
            <a:spLocks noGrp="1"/>
          </p:cNvSpPr>
          <p:nvPr/>
        </p:nvSpPr>
        <p:spPr>
          <a:xfrm>
            <a:off x="13603632" y="1883174"/>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，并将结果传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12-line2"/>
          <p:cNvSpPr>
            <a:spLocks noGrp="1"/>
          </p:cNvSpPr>
          <p:nvPr/>
        </p:nvSpPr>
        <p:spPr>
          <a:xfrm>
            <a:off x="1752600" y="2677069"/>
            <a:ext cx="2648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送给用户B。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13-line1"/>
          <p:cNvSpPr>
            <a:spLocks noGrp="1"/>
          </p:cNvSpPr>
          <p:nvPr/>
        </p:nvSpPr>
        <p:spPr>
          <a:xfrm>
            <a:off x="2667000" y="3585264"/>
            <a:ext cx="3333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（2）B随机选取</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6">
            <a:clrChange>
              <a:clrFrom>
                <a:srgbClr val="FFFFFF"/>
              </a:clrFrom>
              <a:clrTo>
                <a:srgbClr val="FFFFFF">
                  <a:alpha val="0"/>
                </a:srgbClr>
              </a:clrTo>
            </a:clrChange>
          </a:blip>
          <a:stretch>
            <a:fillRect/>
          </a:stretch>
        </p:blipFill>
        <p:spPr>
          <a:xfrm>
            <a:off x="5998310" y="3614438"/>
            <a:ext cx="400957" cy="481149"/>
          </a:xfrm>
          <a:prstGeom prst="rect">
            <a:avLst/>
          </a:prstGeom>
        </p:spPr>
      </p:pic>
      <p:sp>
        <p:nvSpPr>
          <p:cNvPr id="22" name="p213-line1"/>
          <p:cNvSpPr>
            <a:spLocks noGrp="1"/>
          </p:cNvSpPr>
          <p:nvPr/>
        </p:nvSpPr>
        <p:spPr>
          <a:xfrm>
            <a:off x="6453786" y="358526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7">
            <a:clrChange>
              <a:clrFrom>
                <a:srgbClr val="FFFFFF"/>
              </a:clrFrom>
              <a:clrTo>
                <a:srgbClr val="FFFFFF">
                  <a:alpha val="0"/>
                </a:srgbClr>
              </a:clrTo>
            </a:clrChange>
          </a:blip>
          <a:stretch>
            <a:fillRect/>
          </a:stretch>
        </p:blipFill>
        <p:spPr>
          <a:xfrm>
            <a:off x="6939561" y="3553134"/>
            <a:ext cx="2542903" cy="603758"/>
          </a:xfrm>
          <a:prstGeom prst="rect">
            <a:avLst/>
          </a:prstGeom>
        </p:spPr>
      </p:pic>
      <p:sp>
        <p:nvSpPr>
          <p:cNvPr id="24" name="p213-line1"/>
          <p:cNvSpPr>
            <a:spLocks noGrp="1"/>
          </p:cNvSpPr>
          <p:nvPr/>
        </p:nvSpPr>
        <p:spPr>
          <a:xfrm>
            <a:off x="9511039" y="358526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8">
            <a:clrChange>
              <a:clrFrom>
                <a:srgbClr val="FFFFFF"/>
              </a:clrFrom>
              <a:clrTo>
                <a:srgbClr val="FFFFFF">
                  <a:alpha val="0"/>
                </a:srgbClr>
              </a:clrTo>
            </a:clrChange>
          </a:blip>
          <a:stretch>
            <a:fillRect/>
          </a:stretch>
        </p:blipFill>
        <p:spPr>
          <a:xfrm>
            <a:off x="10911214" y="3509003"/>
            <a:ext cx="2682240" cy="692018"/>
          </a:xfrm>
          <a:prstGeom prst="rect">
            <a:avLst/>
          </a:prstGeom>
        </p:spPr>
      </p:pic>
      <p:sp>
        <p:nvSpPr>
          <p:cNvPr id="26" name="p213-line1"/>
          <p:cNvSpPr>
            <a:spLocks noGrp="1"/>
          </p:cNvSpPr>
          <p:nvPr/>
        </p:nvSpPr>
        <p:spPr>
          <a:xfrm>
            <a:off x="13622029" y="358526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，然后计算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9">
            <a:clrChange>
              <a:clrFrom>
                <a:srgbClr val="FFFFFF"/>
              </a:clrFrom>
              <a:clrTo>
                <a:srgbClr val="FFFFFF">
                  <a:alpha val="0"/>
                </a:srgbClr>
              </a:clrTo>
            </a:clrChange>
          </a:blip>
          <a:stretch>
            <a:fillRect/>
          </a:stretch>
        </p:blipFill>
        <p:spPr>
          <a:xfrm>
            <a:off x="1860936" y="4415082"/>
            <a:ext cx="3567746" cy="705394"/>
          </a:xfrm>
          <a:prstGeom prst="rect">
            <a:avLst/>
          </a:prstGeom>
        </p:spPr>
      </p:pic>
      <p:sp>
        <p:nvSpPr>
          <p:cNvPr id="28" name="p213-line2"/>
          <p:cNvSpPr>
            <a:spLocks noGrp="1"/>
          </p:cNvSpPr>
          <p:nvPr/>
        </p:nvSpPr>
        <p:spPr>
          <a:xfrm>
            <a:off x="5537019" y="4498032"/>
            <a:ext cx="2190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，用户B将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10">
            <a:clrChange>
              <a:clrFrom>
                <a:srgbClr val="FFFFFF"/>
              </a:clrFrom>
              <a:clrTo>
                <a:srgbClr val="FFFFFF">
                  <a:alpha val="0"/>
                </a:srgbClr>
              </a:clrTo>
            </a:clrChange>
          </a:blip>
          <a:stretch>
            <a:fillRect/>
          </a:stretch>
        </p:blipFill>
        <p:spPr>
          <a:xfrm>
            <a:off x="7794881" y="4379160"/>
            <a:ext cx="2944091" cy="777240"/>
          </a:xfrm>
          <a:prstGeom prst="rect">
            <a:avLst/>
          </a:prstGeom>
        </p:spPr>
      </p:pic>
      <p:sp>
        <p:nvSpPr>
          <p:cNvPr id="30" name="p213-line2"/>
          <p:cNvSpPr>
            <a:spLocks noGrp="1"/>
          </p:cNvSpPr>
          <p:nvPr/>
        </p:nvSpPr>
        <p:spPr>
          <a:xfrm>
            <a:off x="10863045" y="4498032"/>
            <a:ext cx="313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传送给用户A。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14-line1"/>
          <p:cNvSpPr>
            <a:spLocks noGrp="1"/>
          </p:cNvSpPr>
          <p:nvPr/>
        </p:nvSpPr>
        <p:spPr>
          <a:xfrm>
            <a:off x="2667000" y="5525099"/>
            <a:ext cx="38162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（3）用户A先验证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11">
            <a:clrChange>
              <a:clrFrom>
                <a:srgbClr val="FFFFFF"/>
              </a:clrFrom>
              <a:clrTo>
                <a:srgbClr val="FFFFFF">
                  <a:alpha val="0"/>
                </a:srgbClr>
              </a:clrTo>
            </a:clrChange>
          </a:blip>
          <a:stretch>
            <a:fillRect/>
          </a:stretch>
        </p:blipFill>
        <p:spPr>
          <a:xfrm>
            <a:off x="6458489" y="5442150"/>
            <a:ext cx="1078838" cy="705394"/>
          </a:xfrm>
          <a:prstGeom prst="rect">
            <a:avLst/>
          </a:prstGeom>
        </p:spPr>
      </p:pic>
      <p:sp>
        <p:nvSpPr>
          <p:cNvPr id="33" name="p214-line1"/>
          <p:cNvSpPr>
            <a:spLocks noGrp="1"/>
          </p:cNvSpPr>
          <p:nvPr/>
        </p:nvSpPr>
        <p:spPr>
          <a:xfrm>
            <a:off x="7569681" y="5525099"/>
            <a:ext cx="5848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的有效性，然后验证B的签名</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12">
            <a:clrChange>
              <a:clrFrom>
                <a:srgbClr val="FFFFFF"/>
              </a:clrFrom>
              <a:clrTo>
                <a:srgbClr val="FFFFFF">
                  <a:alpha val="0"/>
                </a:srgbClr>
              </a:clrTo>
            </a:clrChange>
          </a:blip>
          <a:stretch>
            <a:fillRect/>
          </a:stretch>
        </p:blipFill>
        <p:spPr>
          <a:xfrm>
            <a:off x="13389646" y="5469531"/>
            <a:ext cx="563880" cy="650631"/>
          </a:xfrm>
          <a:prstGeom prst="rect">
            <a:avLst/>
          </a:prstGeom>
        </p:spPr>
      </p:pic>
      <p:sp>
        <p:nvSpPr>
          <p:cNvPr id="36" name="p214-line1"/>
          <p:cNvSpPr>
            <a:spLocks noGrp="1"/>
          </p:cNvSpPr>
          <p:nvPr/>
        </p:nvSpPr>
        <p:spPr>
          <a:xfrm>
            <a:off x="13982101" y="5525099"/>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的有效性。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214-line2"/>
          <p:cNvSpPr>
            <a:spLocks noGrp="1"/>
          </p:cNvSpPr>
          <p:nvPr/>
        </p:nvSpPr>
        <p:spPr>
          <a:xfrm>
            <a:off x="1752600" y="640194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确认</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8" name="图片 37"/>
          <p:cNvPicPr>
            <a:picLocks noChangeAspect="1"/>
          </p:cNvPicPr>
          <p:nvPr/>
        </p:nvPicPr>
        <p:blipFill>
          <a:blip r:embed="rId12">
            <a:clrChange>
              <a:clrFrom>
                <a:srgbClr val="FFFFFF"/>
              </a:clrFrom>
              <a:clrTo>
                <a:srgbClr val="FFFFFF">
                  <a:alpha val="0"/>
                </a:srgbClr>
              </a:clrTo>
            </a:clrChange>
          </a:blip>
          <a:stretch>
            <a:fillRect/>
          </a:stretch>
        </p:blipFill>
        <p:spPr>
          <a:xfrm>
            <a:off x="2695575" y="6346376"/>
            <a:ext cx="563880" cy="650631"/>
          </a:xfrm>
          <a:prstGeom prst="rect">
            <a:avLst/>
          </a:prstGeom>
        </p:spPr>
      </p:pic>
      <p:sp>
        <p:nvSpPr>
          <p:cNvPr id="39" name="p214-line2"/>
          <p:cNvSpPr>
            <a:spLocks noGrp="1"/>
          </p:cNvSpPr>
          <p:nvPr/>
        </p:nvSpPr>
        <p:spPr>
          <a:xfrm>
            <a:off x="3288030" y="6401943"/>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有效后，计算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0" name="图片 39"/>
          <p:cNvPicPr>
            <a:picLocks noChangeAspect="1"/>
          </p:cNvPicPr>
          <p:nvPr/>
        </p:nvPicPr>
        <p:blipFill>
          <a:blip r:embed="rId13">
            <a:clrChange>
              <a:clrFrom>
                <a:srgbClr val="FFFFFF"/>
              </a:clrFrom>
              <a:clrTo>
                <a:srgbClr val="FFFFFF">
                  <a:alpha val="0"/>
                </a:srgbClr>
              </a:clrTo>
            </a:clrChange>
            <a:extLst>
              <a:ext uri="{BEBA8EAE-BF5A-486C-A8C5-ECC9F3942E4B}">
                <a14:imgProps xmlns:a14="http://schemas.microsoft.com/office/drawing/2010/main">
                  <a14:imgLayer r:embed="rId14">
                    <a14:imgEffect>
                      <a14:backgroundRemoval t="9942" b="89620" l="3829" r="95029">
                        <a14:foregroundMark x1="4657" y1="28947" x2="9743" y2="83626"/>
                        <a14:foregroundMark x1="3829" y1="66374" x2="8886" y2="48977"/>
                        <a14:foregroundMark x1="17057" y1="46199" x2="19600" y2="53363"/>
                        <a14:foregroundMark x1="30000" y1="31725" x2="26057" y2="61988"/>
                        <a14:foregroundMark x1="33371" y1="33187" x2="34800" y2="27485"/>
                        <a14:foregroundMark x1="34229" y1="31725" x2="34514" y2="50439"/>
                        <a14:foregroundMark x1="42657" y1="47661" x2="47743" y2="53363"/>
                        <a14:foregroundMark x1="51114" y1="72076" x2="52800" y2="75000"/>
                        <a14:foregroundMark x1="58714" y1="20175" x2="58143" y2="66374"/>
                        <a14:foregroundMark x1="50257" y1="60526" x2="51686" y2="77924"/>
                        <a14:foregroundMark x1="63486" y1="39035" x2="69686" y2="72076"/>
                        <a14:foregroundMark x1="82629" y1="46199" x2="88543" y2="64912"/>
                        <a14:foregroundMark x1="77000" y1="69152" x2="76714" y2="59064"/>
                        <a14:foregroundMark x1="72229" y1="53363" x2="73629" y2="57749"/>
                        <a14:foregroundMark x1="95029" y1="26023" x2="94171" y2="40351"/>
                      </a14:backgroundRemoval>
                    </a14:imgEffect>
                  </a14:imgLayer>
                </a14:imgProps>
              </a:ext>
            </a:extLst>
          </a:blip>
          <a:stretch>
            <a:fillRect/>
          </a:stretch>
        </p:blipFill>
        <p:spPr>
          <a:xfrm>
            <a:off x="6161157" y="6318994"/>
            <a:ext cx="3609474" cy="705394"/>
          </a:xfrm>
          <a:prstGeom prst="rect">
            <a:avLst/>
          </a:prstGeom>
        </p:spPr>
      </p:pic>
      <p:sp>
        <p:nvSpPr>
          <p:cNvPr id="41" name="p214-line2"/>
          <p:cNvSpPr>
            <a:spLocks noGrp="1"/>
          </p:cNvSpPr>
          <p:nvPr/>
        </p:nvSpPr>
        <p:spPr>
          <a:xfrm>
            <a:off x="9900557" y="6401943"/>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，把自己的公钥证书及签名</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2" name="图片 41"/>
          <p:cNvPicPr>
            <a:picLocks noChangeAspect="1"/>
          </p:cNvPicPr>
          <p:nvPr/>
        </p:nvPicPr>
        <p:blipFill>
          <a:blip r:embed="rId15">
            <a:clrChange>
              <a:clrFrom>
                <a:srgbClr val="FFFFFF"/>
              </a:clrFrom>
              <a:clrTo>
                <a:srgbClr val="FFFFFF">
                  <a:alpha val="0"/>
                </a:srgbClr>
              </a:clrTo>
            </a:clrChange>
          </a:blip>
          <a:stretch>
            <a:fillRect/>
          </a:stretch>
        </p:blipFill>
        <p:spPr>
          <a:xfrm>
            <a:off x="15417419" y="6333145"/>
            <a:ext cx="631952" cy="677091"/>
          </a:xfrm>
          <a:prstGeom prst="rect">
            <a:avLst/>
          </a:prstGeom>
        </p:spPr>
      </p:pic>
      <p:sp>
        <p:nvSpPr>
          <p:cNvPr id="43" name="p214-line3"/>
          <p:cNvSpPr>
            <a:spLocks noGrp="1"/>
          </p:cNvSpPr>
          <p:nvPr/>
        </p:nvSpPr>
        <p:spPr>
          <a:xfrm>
            <a:off x="1752600" y="7278787"/>
            <a:ext cx="4934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发给用户B。最后，计算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4" name="图片 43"/>
          <p:cNvPicPr>
            <a:picLocks noChangeAspect="1"/>
          </p:cNvPicPr>
          <p:nvPr/>
        </p:nvPicPr>
        <p:blipFill>
          <a:blip r:embed="rId16">
            <a:clrChange>
              <a:clrFrom>
                <a:srgbClr val="FFFFFF"/>
              </a:clrFrom>
              <a:clrTo>
                <a:srgbClr val="FFFFFF">
                  <a:alpha val="0"/>
                </a:srgbClr>
              </a:clrTo>
            </a:clrChange>
            <a:extLst>
              <a:ext uri="{BEBA8EAE-BF5A-486C-A8C5-ECC9F3942E4B}">
                <a14:imgProps xmlns:a14="http://schemas.microsoft.com/office/drawing/2010/main">
                  <a14:imgLayer r:embed="rId17">
                    <a14:imgEffect>
                      <a14:backgroundRemoval t="9968" b="89925" l="6629" r="93800">
                        <a14:foregroundMark x1="9714" y1="34191" x2="11629" y2="55841"/>
                        <a14:foregroundMark x1="11629" y1="31297" x2="13171" y2="47160"/>
                        <a14:foregroundMark x1="11629" y1="38478" x2="6629" y2="68810"/>
                        <a14:foregroundMark x1="21229" y1="54341" x2="28514" y2="63023"/>
                        <a14:foregroundMark x1="14314" y1="41372" x2="28514" y2="47160"/>
                        <a14:foregroundMark x1="41200" y1="38478" x2="45029" y2="70204"/>
                        <a14:foregroundMark x1="46943" y1="32797" x2="47714" y2="31297"/>
                        <a14:foregroundMark x1="66914" y1="54341" x2="79600" y2="52947"/>
                        <a14:foregroundMark x1="80743" y1="24116" x2="80743" y2="45766"/>
                        <a14:foregroundMark x1="92257" y1="48660" x2="91886" y2="55841"/>
                        <a14:foregroundMark x1="91486" y1="55841" x2="93800" y2="51447"/>
                      </a14:backgroundRemoval>
                    </a14:imgEffect>
                  </a14:imgLayer>
                </a14:imgProps>
              </a:ext>
            </a:extLst>
          </a:blip>
          <a:stretch>
            <a:fillRect/>
          </a:stretch>
        </p:blipFill>
        <p:spPr>
          <a:xfrm>
            <a:off x="6662047" y="7195838"/>
            <a:ext cx="2646174" cy="705394"/>
          </a:xfrm>
          <a:prstGeom prst="rect">
            <a:avLst/>
          </a:prstGeom>
        </p:spPr>
      </p:pic>
      <p:sp>
        <p:nvSpPr>
          <p:cNvPr id="45" name="p214-line3"/>
          <p:cNvSpPr>
            <a:spLocks noGrp="1"/>
          </p:cNvSpPr>
          <p:nvPr/>
        </p:nvSpPr>
        <p:spPr>
          <a:xfrm>
            <a:off x="9340678" y="7278787"/>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作为会话密钥。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Diffie-Hellman密钥交换协议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1" name="p215-line1"/>
          <p:cNvSpPr>
            <a:spLocks noGrp="1"/>
          </p:cNvSpPr>
          <p:nvPr/>
        </p:nvSpPr>
        <p:spPr>
          <a:xfrm>
            <a:off x="2667000" y="1883174"/>
            <a:ext cx="3791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（4）B同样先验证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6469202" y="1800225"/>
            <a:ext cx="1120332" cy="705394"/>
          </a:xfrm>
          <a:prstGeom prst="rect">
            <a:avLst/>
          </a:prstGeom>
        </p:spPr>
      </p:pic>
      <p:sp>
        <p:nvSpPr>
          <p:cNvPr id="3" name="p215-line1"/>
          <p:cNvSpPr>
            <a:spLocks noGrp="1"/>
          </p:cNvSpPr>
          <p:nvPr/>
        </p:nvSpPr>
        <p:spPr>
          <a:xfrm>
            <a:off x="7657746" y="1883174"/>
            <a:ext cx="5873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的有效性，然后验证A的签名</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13504745" y="1814376"/>
            <a:ext cx="631952" cy="677091"/>
          </a:xfrm>
          <a:prstGeom prst="rect">
            <a:avLst/>
          </a:prstGeom>
        </p:spPr>
      </p:pic>
      <p:sp>
        <p:nvSpPr>
          <p:cNvPr id="10" name="p215-line1"/>
          <p:cNvSpPr>
            <a:spLocks noGrp="1"/>
          </p:cNvSpPr>
          <p:nvPr/>
        </p:nvSpPr>
        <p:spPr>
          <a:xfrm>
            <a:off x="14167158" y="188317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的有效性。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15-line2"/>
          <p:cNvSpPr>
            <a:spLocks noGrp="1"/>
          </p:cNvSpPr>
          <p:nvPr/>
        </p:nvSpPr>
        <p:spPr>
          <a:xfrm>
            <a:off x="1752600" y="2760018"/>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确认</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4">
            <a:clrChange>
              <a:clrFrom>
                <a:srgbClr val="FFFFFF"/>
              </a:clrFrom>
              <a:clrTo>
                <a:srgbClr val="FFFFFF">
                  <a:alpha val="0"/>
                </a:srgbClr>
              </a:clrTo>
            </a:clrChange>
          </a:blip>
          <a:stretch>
            <a:fillRect/>
          </a:stretch>
        </p:blipFill>
        <p:spPr>
          <a:xfrm>
            <a:off x="2697462" y="2691221"/>
            <a:ext cx="631952" cy="677091"/>
          </a:xfrm>
          <a:prstGeom prst="rect">
            <a:avLst/>
          </a:prstGeom>
        </p:spPr>
      </p:pic>
      <p:sp>
        <p:nvSpPr>
          <p:cNvPr id="19" name="p215-line2"/>
          <p:cNvSpPr>
            <a:spLocks noGrp="1"/>
          </p:cNvSpPr>
          <p:nvPr/>
        </p:nvSpPr>
        <p:spPr>
          <a:xfrm>
            <a:off x="3359876" y="2760018"/>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有效后，计算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5">
            <a:clrChange>
              <a:clrFrom>
                <a:srgbClr val="FFFFFF"/>
              </a:clrFrom>
              <a:clrTo>
                <a:srgbClr val="FFFFFF">
                  <a:alpha val="0"/>
                </a:srgbClr>
              </a:clrTo>
            </a:clrChange>
          </a:blip>
          <a:stretch>
            <a:fillRect/>
          </a:stretch>
        </p:blipFill>
        <p:spPr>
          <a:xfrm>
            <a:off x="6135532" y="2677069"/>
            <a:ext cx="2646174" cy="705394"/>
          </a:xfrm>
          <a:prstGeom prst="rect">
            <a:avLst/>
          </a:prstGeom>
        </p:spPr>
      </p:pic>
      <p:sp>
        <p:nvSpPr>
          <p:cNvPr id="21" name="p215-line2"/>
          <p:cNvSpPr>
            <a:spLocks noGrp="1"/>
          </p:cNvSpPr>
          <p:nvPr/>
        </p:nvSpPr>
        <p:spPr>
          <a:xfrm>
            <a:off x="8814163" y="2760018"/>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作为会话密钥。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16-line1"/>
          <p:cNvSpPr>
            <a:spLocks noGrp="1"/>
          </p:cNvSpPr>
          <p:nvPr/>
        </p:nvSpPr>
        <p:spPr>
          <a:xfrm>
            <a:off x="2667000" y="375116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3">
            <a:clrChange>
              <a:clrFrom>
                <a:srgbClr val="FFFFFF"/>
              </a:clrFrom>
              <a:clrTo>
                <a:srgbClr val="FFFFFF">
                  <a:alpha val="0"/>
                </a:srgbClr>
              </a:clrTo>
            </a:clrChange>
          </a:blip>
          <a:stretch>
            <a:fillRect/>
          </a:stretch>
        </p:blipFill>
        <p:spPr>
          <a:xfrm>
            <a:off x="4106812" y="3668214"/>
            <a:ext cx="1120332" cy="705394"/>
          </a:xfrm>
          <a:prstGeom prst="rect">
            <a:avLst/>
          </a:prstGeom>
        </p:spPr>
      </p:pic>
      <p:sp>
        <p:nvSpPr>
          <p:cNvPr id="24" name="p216-line1"/>
          <p:cNvSpPr>
            <a:spLocks noGrp="1"/>
          </p:cNvSpPr>
          <p:nvPr/>
        </p:nvSpPr>
        <p:spPr>
          <a:xfrm>
            <a:off x="5295356" y="375116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6">
            <a:clrChange>
              <a:clrFrom>
                <a:srgbClr val="FFFFFF"/>
              </a:clrFrom>
              <a:clrTo>
                <a:srgbClr val="FFFFFF">
                  <a:alpha val="0"/>
                </a:srgbClr>
              </a:clrTo>
            </a:clrChange>
          </a:blip>
          <a:stretch>
            <a:fillRect/>
          </a:stretch>
        </p:blipFill>
        <p:spPr>
          <a:xfrm>
            <a:off x="5784909" y="3668214"/>
            <a:ext cx="1078838" cy="705394"/>
          </a:xfrm>
          <a:prstGeom prst="rect">
            <a:avLst/>
          </a:prstGeom>
        </p:spPr>
      </p:pic>
      <p:sp>
        <p:nvSpPr>
          <p:cNvPr id="26" name="p216-line1"/>
          <p:cNvSpPr>
            <a:spLocks noGrp="1"/>
          </p:cNvSpPr>
          <p:nvPr/>
        </p:nvSpPr>
        <p:spPr>
          <a:xfrm>
            <a:off x="6896100" y="3751163"/>
            <a:ext cx="5721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分别表示用户A和B的证书，</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7">
            <a:clrChange>
              <a:clrFrom>
                <a:srgbClr val="FFFFFF"/>
              </a:clrFrom>
              <a:clrTo>
                <a:srgbClr val="FFFFFF">
                  <a:alpha val="0"/>
                </a:srgbClr>
              </a:clrTo>
            </a:clrChange>
          </a:blip>
          <a:stretch>
            <a:fillRect/>
          </a:stretch>
        </p:blipFill>
        <p:spPr>
          <a:xfrm>
            <a:off x="12589002" y="3687687"/>
            <a:ext cx="1199606" cy="666448"/>
          </a:xfrm>
          <a:prstGeom prst="rect">
            <a:avLst/>
          </a:prstGeom>
        </p:spPr>
      </p:pic>
      <p:sp>
        <p:nvSpPr>
          <p:cNvPr id="28" name="p216-line1"/>
          <p:cNvSpPr>
            <a:spLocks noGrp="1"/>
          </p:cNvSpPr>
          <p:nvPr/>
        </p:nvSpPr>
        <p:spPr>
          <a:xfrm>
            <a:off x="13817183" y="375116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8">
            <a:clrChange>
              <a:clrFrom>
                <a:srgbClr val="FFFFFF"/>
              </a:clrFrom>
              <a:clrTo>
                <a:srgbClr val="FFFFFF">
                  <a:alpha val="0"/>
                </a:srgbClr>
              </a:clrTo>
            </a:clrChange>
          </a:blip>
          <a:stretch>
            <a:fillRect/>
          </a:stretch>
        </p:blipFill>
        <p:spPr>
          <a:xfrm>
            <a:off x="14302958" y="3687687"/>
            <a:ext cx="1199606" cy="666448"/>
          </a:xfrm>
          <a:prstGeom prst="rect">
            <a:avLst/>
          </a:prstGeom>
        </p:spPr>
      </p:pic>
      <p:sp>
        <p:nvSpPr>
          <p:cNvPr id="30" name="p216-line1"/>
          <p:cNvSpPr>
            <a:spLocks noGrp="1"/>
          </p:cNvSpPr>
          <p:nvPr/>
        </p:nvSpPr>
        <p:spPr>
          <a:xfrm>
            <a:off x="15531138" y="375116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分别</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16-line2"/>
          <p:cNvSpPr>
            <a:spLocks noGrp="1"/>
          </p:cNvSpPr>
          <p:nvPr/>
        </p:nvSpPr>
        <p:spPr>
          <a:xfrm>
            <a:off x="1752600" y="4545058"/>
            <a:ext cx="8007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表示利用A私钥和B私钥进行签名算法。</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217-line1"/>
          <p:cNvSpPr>
            <a:spLocks noGrp="1"/>
          </p:cNvSpPr>
          <p:nvPr/>
        </p:nvSpPr>
        <p:spPr>
          <a:xfrm>
            <a:off x="2667000" y="5370304"/>
            <a:ext cx="1382458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这样，利用简化的STS协议，A和B双方在信道上交换的密钥信息是不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217-line2"/>
          <p:cNvSpPr>
            <a:spLocks noGrp="1"/>
          </p:cNvSpPr>
          <p:nvPr/>
        </p:nvSpPr>
        <p:spPr>
          <a:xfrm>
            <a:off x="1752600" y="6081250"/>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可替换的，显然前面提到的中间人攻击是无效的。本协议没有提供协商的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217-line3"/>
          <p:cNvSpPr>
            <a:spLocks noGrp="1"/>
          </p:cNvSpPr>
          <p:nvPr/>
        </p:nvSpPr>
        <p:spPr>
          <a:xfrm>
            <a:off x="1752600" y="6860994"/>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会话密钥确认，可以通过把这两个签名</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6" name="图片 35"/>
          <p:cNvPicPr>
            <a:picLocks noChangeAspect="1"/>
          </p:cNvPicPr>
          <p:nvPr/>
        </p:nvPicPr>
        <p:blipFill>
          <a:blip r:embed="rId4">
            <a:clrChange>
              <a:clrFrom>
                <a:srgbClr val="FFFFFF"/>
              </a:clrFrom>
              <a:clrTo>
                <a:srgbClr val="FFFFFF">
                  <a:alpha val="0"/>
                </a:srgbClr>
              </a:clrTo>
            </a:clrChange>
          </a:blip>
          <a:stretch>
            <a:fillRect/>
          </a:stretch>
        </p:blipFill>
        <p:spPr>
          <a:xfrm>
            <a:off x="9555462" y="6792196"/>
            <a:ext cx="631952" cy="677091"/>
          </a:xfrm>
          <a:prstGeom prst="rect">
            <a:avLst/>
          </a:prstGeom>
        </p:spPr>
      </p:pic>
      <p:sp>
        <p:nvSpPr>
          <p:cNvPr id="37" name="p217-line3"/>
          <p:cNvSpPr>
            <a:spLocks noGrp="1"/>
          </p:cNvSpPr>
          <p:nvPr/>
        </p:nvSpPr>
        <p:spPr>
          <a:xfrm>
            <a:off x="10217876" y="686099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8" name="图片 37"/>
          <p:cNvPicPr>
            <a:picLocks noChangeAspect="1"/>
          </p:cNvPicPr>
          <p:nvPr/>
        </p:nvPicPr>
        <p:blipFill>
          <a:blip r:embed="rId9">
            <a:clrChange>
              <a:clrFrom>
                <a:srgbClr val="FFFFFF"/>
              </a:clrFrom>
              <a:clrTo>
                <a:srgbClr val="FFFFFF">
                  <a:alpha val="0"/>
                </a:srgbClr>
              </a:clrTo>
            </a:clrChange>
          </a:blip>
          <a:stretch>
            <a:fillRect/>
          </a:stretch>
        </p:blipFill>
        <p:spPr>
          <a:xfrm>
            <a:off x="10703651" y="6805426"/>
            <a:ext cx="563880" cy="650631"/>
          </a:xfrm>
          <a:prstGeom prst="rect">
            <a:avLst/>
          </a:prstGeom>
        </p:spPr>
      </p:pic>
      <p:sp>
        <p:nvSpPr>
          <p:cNvPr id="39" name="p217-line3"/>
          <p:cNvSpPr>
            <a:spLocks noGrp="1"/>
          </p:cNvSpPr>
          <p:nvPr/>
        </p:nvSpPr>
        <p:spPr>
          <a:xfrm>
            <a:off x="11296106" y="686099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再用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0" name="图片 39"/>
          <p:cNvPicPr>
            <a:picLocks noChangeAspect="1"/>
          </p:cNvPicPr>
          <p:nvPr/>
        </p:nvPicPr>
        <p:blipFill>
          <a:blip r:embed="rId10">
            <a:clrChange>
              <a:clrFrom>
                <a:srgbClr val="FFFFFF"/>
              </a:clrFrom>
              <a:clrTo>
                <a:srgbClr val="FFFFFF">
                  <a:alpha val="0"/>
                </a:srgbClr>
              </a:clrTo>
            </a:clrChange>
          </a:blip>
          <a:stretch>
            <a:fillRect/>
          </a:stretch>
        </p:blipFill>
        <p:spPr>
          <a:xfrm>
            <a:off x="12239081" y="6910215"/>
            <a:ext cx="481149" cy="441053"/>
          </a:xfrm>
          <a:prstGeom prst="rect">
            <a:avLst/>
          </a:prstGeom>
        </p:spPr>
      </p:pic>
      <p:sp>
        <p:nvSpPr>
          <p:cNvPr id="41" name="p217-line3"/>
          <p:cNvSpPr>
            <a:spLocks noGrp="1"/>
          </p:cNvSpPr>
          <p:nvPr/>
        </p:nvSpPr>
        <p:spPr>
          <a:xfrm>
            <a:off x="12748804" y="6860994"/>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加密即可达到目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217-line4"/>
          <p:cNvSpPr>
            <a:spLocks noGrp="1"/>
          </p:cNvSpPr>
          <p:nvPr/>
        </p:nvSpPr>
        <p:spPr>
          <a:xfrm>
            <a:off x="1752600" y="7640737"/>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量子密钥协议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19-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量子密码学是量子力学在密码学中进行应用产生的交叉学科。与现代</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19-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密码体制的安全性大多基于复杂的数学难题不同，量子密码的安全性是由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19-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量子力学的基本原理保证的，如量子不可克隆定理、不确定性原理。量子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19-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密码的核心是量子密钥分配，量子密钥分配能够以无条件安全的方式在合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19-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法通信双方之间分发密钥，再结合现代密码体制中的一次一密算法，从而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19-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能够实现无条件安全的保密信息传输。第一个量子密钥分配协议是1984年</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19-line7"/>
          <p:cNvSpPr>
            <a:spLocks noGrp="1"/>
          </p:cNvSpPr>
          <p:nvPr/>
        </p:nvSpPr>
        <p:spPr>
          <a:xfrm>
            <a:off x="1752600" y="6065901"/>
            <a:ext cx="148144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由Bennett和Brassard提出的BB84协议，BB84协议的理论安全性已经得到了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19-line8"/>
          <p:cNvSpPr>
            <a:spLocks noGrp="1"/>
          </p:cNvSpPr>
          <p:nvPr/>
        </p:nvSpPr>
        <p:spPr>
          <a:xfrm>
            <a:off x="1752600" y="67768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严格的证明，在实验上也获得了快速发展，并且开始逐步实用化。但是实</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19-line9"/>
          <p:cNvSpPr>
            <a:spLocks noGrp="1"/>
          </p:cNvSpPr>
          <p:nvPr/>
        </p:nvSpPr>
        <p:spPr>
          <a:xfrm>
            <a:off x="1752600" y="7487793"/>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际系统和理论模型之间总是存在偏差，这些偏差可能带来潜在的安全隐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19-line10"/>
          <p:cNvSpPr>
            <a:spLocks noGrp="1"/>
          </p:cNvSpPr>
          <p:nvPr/>
        </p:nvSpPr>
        <p:spPr>
          <a:xfrm>
            <a:off x="1752600" y="8198739"/>
            <a:ext cx="125543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患。因此，研究BB84协议的实际安全性具有重要的现实意义。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量子密钥协议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20-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量子密码协议不总是像量子密钥分配那样具有无条件安全性，但是在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20-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量子时代，现代密码体制中基于大整数分解等数学难题解决这些密码学任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20-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务的方法将变得十分不安全。因此，仅基于量子力学原理研究这些密码学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20-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任务能够获得多大程度的安全性具有重要的理论意义，从而为量子时代的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20-line5"/>
          <p:cNvSpPr>
            <a:spLocks noGrp="1"/>
          </p:cNvSpPr>
          <p:nvPr/>
        </p:nvSpPr>
        <p:spPr>
          <a:xfrm>
            <a:off x="1752600" y="4644009"/>
            <a:ext cx="1443228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信息安全提供前瞻性指导。Bennett在20世纪70年代从Wisener处得知量子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20-line6"/>
          <p:cNvSpPr>
            <a:spLocks noGrp="1"/>
          </p:cNvSpPr>
          <p:nvPr/>
        </p:nvSpPr>
        <p:spPr>
          <a:xfrm>
            <a:off x="1752600" y="5354955"/>
            <a:ext cx="1468697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货币的想法后，于1979年和Brassard经过5年的时间在1984年构造了闻名至</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20-line7"/>
          <p:cNvSpPr>
            <a:spLocks noGrp="1"/>
          </p:cNvSpPr>
          <p:nvPr/>
        </p:nvSpPr>
        <p:spPr>
          <a:xfrm>
            <a:off x="1752600" y="6065901"/>
            <a:ext cx="1463611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今的第一个量子密钥分配（Quantum Key Distribution，QKD）协议，简称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20-line8"/>
          <p:cNvSpPr>
            <a:spLocks noGrp="1"/>
          </p:cNvSpPr>
          <p:nvPr/>
        </p:nvSpPr>
        <p:spPr>
          <a:xfrm>
            <a:off x="1752600" y="6776847"/>
            <a:ext cx="139259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BB84协议或第一个量子掷币协议，从而正式开启了量子密码的时代。</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20-line9"/>
          <p:cNvSpPr>
            <a:spLocks noGrp="1"/>
          </p:cNvSpPr>
          <p:nvPr/>
        </p:nvSpPr>
        <p:spPr>
          <a:xfrm>
            <a:off x="1752600" y="7487793"/>
            <a:ext cx="147635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QKD协议可以基于量子力学原理实现无条件安全的密钥分发，所以为了在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20-line10"/>
          <p:cNvSpPr>
            <a:spLocks noGrp="1"/>
          </p:cNvSpPr>
          <p:nvPr/>
        </p:nvSpPr>
        <p:spPr>
          <a:xfrm>
            <a:off x="1752600" y="8198739"/>
            <a:ext cx="147635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即将到来的量子时代仍然能够实现安全通信，保护信息安全，人们对QKD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20-line11"/>
          <p:cNvSpPr>
            <a:spLocks noGrp="1"/>
          </p:cNvSpPr>
          <p:nvPr/>
        </p:nvSpPr>
        <p:spPr>
          <a:xfrm>
            <a:off x="1752600" y="8789731"/>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的研究产生了极大的兴趣。</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量子密钥协议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21-line1"/>
          <p:cNvSpPr>
            <a:spLocks noGrp="1"/>
          </p:cNvSpPr>
          <p:nvPr/>
        </p:nvSpPr>
        <p:spPr>
          <a:xfrm>
            <a:off x="2667000" y="2625471"/>
            <a:ext cx="1285817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在QKD协议中，一般称发送者为Alice，接收者为Bob，窃听者为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21-line2"/>
          <p:cNvSpPr>
            <a:spLocks noGrp="1"/>
          </p:cNvSpPr>
          <p:nvPr/>
        </p:nvSpPr>
        <p:spPr>
          <a:xfrm>
            <a:off x="1752600" y="3336417"/>
            <a:ext cx="1440732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Eve。在进行量子密钥分配的过程中，Alice和Bob可以利用量子力学原理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21-line3"/>
          <p:cNvSpPr>
            <a:spLocks noGrp="1"/>
          </p:cNvSpPr>
          <p:nvPr/>
        </p:nvSpPr>
        <p:spPr>
          <a:xfrm>
            <a:off x="1752600" y="4047363"/>
            <a:ext cx="1448390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检测携带密钥的量子态是否被Eve干扰，其中用到的量子力学原理有量子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21-line4"/>
          <p:cNvSpPr>
            <a:spLocks noGrp="1"/>
          </p:cNvSpPr>
          <p:nvPr/>
        </p:nvSpPr>
        <p:spPr>
          <a:xfrm>
            <a:off x="1752600" y="47583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不可克隆原理、测量不确定性原理和测量塌缩原理等。不管在理论还是实</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21-line5"/>
          <p:cNvSpPr>
            <a:spLocks noGrp="1"/>
          </p:cNvSpPr>
          <p:nvPr/>
        </p:nvSpPr>
        <p:spPr>
          <a:xfrm>
            <a:off x="1752600" y="5469255"/>
            <a:ext cx="76394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验方面，BB84 协议是发展最成熟的。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22-line1"/>
          <p:cNvSpPr>
            <a:spLocks noGrp="1"/>
          </p:cNvSpPr>
          <p:nvPr/>
        </p:nvSpPr>
        <p:spPr>
          <a:xfrm>
            <a:off x="2667000" y="6413373"/>
            <a:ext cx="8820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在BB84协议中，Alice和Bob约定两组共轭基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6713" b="89974" l="286" r="93829">
                        <a14:foregroundMark x1="314" y1="24499" x2="11886" y2="44028"/>
                        <a14:foregroundMark x1="18000" y1="49956" x2="21857" y2="52921"/>
                        <a14:foregroundMark x1="37286" y1="20575" x2="40171" y2="78378"/>
                        <a14:foregroundMark x1="51086" y1="18570" x2="53029" y2="39146"/>
                        <a14:foregroundMark x1="62343" y1="60767" x2="62343" y2="57803"/>
                        <a14:foregroundMark x1="76800" y1="6800" x2="87200" y2="62075"/>
                        <a14:foregroundMark x1="87200" y1="62075" x2="85143" y2="73496"/>
                        <a14:foregroundMark x1="90943" y1="16652" x2="93829" y2="78204"/>
                        <a14:foregroundMark x1="93829" y1="78204" x2="92229" y2="59721"/>
                        <a14:foregroundMark x1="74229" y1="19529" x2="73914" y2="70532"/>
                      </a14:backgroundRemoval>
                    </a14:imgEffect>
                  </a14:imgLayer>
                </a14:imgProps>
              </a:ext>
            </a:extLst>
          </a:blip>
          <a:stretch>
            <a:fillRect/>
          </a:stretch>
        </p:blipFill>
        <p:spPr>
          <a:xfrm>
            <a:off x="11544176" y="6294501"/>
            <a:ext cx="2371700" cy="777240"/>
          </a:xfrm>
          <a:prstGeom prst="rect">
            <a:avLst/>
          </a:prstGeom>
        </p:spPr>
      </p:pic>
      <p:sp>
        <p:nvSpPr>
          <p:cNvPr id="21" name="p222-line1"/>
          <p:cNvSpPr>
            <a:spLocks noGrp="1"/>
          </p:cNvSpPr>
          <p:nvPr/>
        </p:nvSpPr>
        <p:spPr>
          <a:xfrm>
            <a:off x="14030053" y="641337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9848" b="89867" l="4543" r="93600">
                        <a14:foregroundMark x1="4571" y1="30871" x2="11371" y2="41572"/>
                        <a14:foregroundMark x1="17000" y1="46496" x2="28514" y2="54356"/>
                        <a14:foregroundMark x1="38000" y1="23958" x2="34143" y2="52367"/>
                        <a14:foregroundMark x1="20543" y1="66098" x2="30886" y2="59280"/>
                        <a14:foregroundMark x1="37686" y1="37689" x2="39457" y2="23958"/>
                        <a14:foregroundMark x1="46257" y1="40625" x2="50400" y2="51420"/>
                        <a14:foregroundMark x1="53657" y1="21970" x2="58114" y2="52367"/>
                        <a14:foregroundMark x1="62543" y1="50473" x2="61657" y2="49432"/>
                        <a14:foregroundMark x1="76429" y1="21023" x2="75257" y2="28883"/>
                        <a14:foregroundMark x1="75857" y1="23958" x2="74971" y2="38636"/>
                        <a14:foregroundMark x1="76429" y1="28883" x2="75857" y2="62216"/>
                        <a14:foregroundMark x1="77343" y1="44602" x2="84143" y2="51420"/>
                        <a14:foregroundMark x1="85914" y1="23958" x2="87086" y2="48485"/>
                        <a14:foregroundMark x1="78514" y1="50473" x2="76429" y2="53409"/>
                        <a14:foregroundMark x1="93600" y1="34754" x2="93600" y2="68087"/>
                      </a14:backgroundRemoval>
                    </a14:imgEffect>
                  </a14:imgLayer>
                </a14:imgProps>
              </a:ext>
            </a:extLst>
          </a:blip>
          <a:stretch>
            <a:fillRect/>
          </a:stretch>
        </p:blipFill>
        <p:spPr>
          <a:xfrm>
            <a:off x="1856027" y="7243191"/>
            <a:ext cx="2576080" cy="777240"/>
          </a:xfrm>
          <a:prstGeom prst="rect">
            <a:avLst/>
          </a:prstGeom>
        </p:spPr>
      </p:pic>
      <p:sp>
        <p:nvSpPr>
          <p:cNvPr id="23" name="p222-line2"/>
          <p:cNvSpPr>
            <a:spLocks noGrp="1"/>
          </p:cNvSpPr>
          <p:nvPr/>
        </p:nvSpPr>
        <p:spPr>
          <a:xfrm>
            <a:off x="4535533" y="7362063"/>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进行量子态的编码和解码。其中，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backgroundRemoval t="10000" b="90000" l="10000" r="90000">
                        <a14:foregroundMark x1="18906" y1="28860" x2="15260" y2="35340"/>
                        <a14:foregroundMark x1="64219" y1="24540" x2="61771" y2="62362"/>
                      </a14:backgroundRemoval>
                    </a14:imgEffect>
                  </a14:imgLayer>
                </a14:imgProps>
              </a:ext>
            </a:extLst>
          </a:blip>
          <a:stretch>
            <a:fillRect/>
          </a:stretch>
        </p:blipFill>
        <p:spPr>
          <a:xfrm>
            <a:off x="11449450" y="7279114"/>
            <a:ext cx="622407" cy="705394"/>
          </a:xfrm>
          <a:prstGeom prst="rect">
            <a:avLst/>
          </a:prstGeom>
        </p:spPr>
      </p:pic>
      <p:sp>
        <p:nvSpPr>
          <p:cNvPr id="25" name="p222-line2"/>
          <p:cNvSpPr>
            <a:spLocks noGrp="1"/>
          </p:cNvSpPr>
          <p:nvPr/>
        </p:nvSpPr>
        <p:spPr>
          <a:xfrm>
            <a:off x="12127774" y="736206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9">
            <a:clrChange>
              <a:clrFrom>
                <a:srgbClr val="FFFFFF"/>
              </a:clrFrom>
              <a:clrTo>
                <a:srgbClr val="FFFFFF">
                  <a:alpha val="0"/>
                </a:srgbClr>
              </a:clrTo>
            </a:clrChange>
            <a:extLst>
              <a:ext uri="{BEBA8EAE-BF5A-486C-A8C5-ECC9F3942E4B}">
                <a14:imgProps xmlns:a14="http://schemas.microsoft.com/office/drawing/2010/main">
                  <a14:imgLayer r:embed="rId10">
                    <a14:imgEffect>
                      <a14:backgroundRemoval t="9972" b="89982" l="4327" r="89964">
                        <a14:foregroundMark x1="4327" y1="26700" x2="9976" y2="69945"/>
                        <a14:foregroundMark x1="42488" y1="31020" x2="43870" y2="56985"/>
                        <a14:foregroundMark x1="60817" y1="13741" x2="73558" y2="81801"/>
                      </a14:backgroundRemoval>
                    </a14:imgEffect>
                  </a14:imgLayer>
                </a14:imgProps>
              </a:ext>
            </a:extLst>
          </a:blip>
          <a:stretch>
            <a:fillRect/>
          </a:stretch>
        </p:blipFill>
        <p:spPr>
          <a:xfrm>
            <a:off x="12625780" y="7279114"/>
            <a:ext cx="539419" cy="705394"/>
          </a:xfrm>
          <a:prstGeom prst="rect">
            <a:avLst/>
          </a:prstGeom>
        </p:spPr>
      </p:pic>
      <p:sp>
        <p:nvSpPr>
          <p:cNvPr id="27" name="p222-line2"/>
          <p:cNvSpPr>
            <a:spLocks noGrp="1"/>
          </p:cNvSpPr>
          <p:nvPr/>
        </p:nvSpPr>
        <p:spPr>
          <a:xfrm>
            <a:off x="13206004" y="7362063"/>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是泡利矩阵</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11">
            <a:clrChange>
              <a:clrFrom>
                <a:srgbClr val="FFFFFF"/>
              </a:clrFrom>
              <a:clrTo>
                <a:srgbClr val="FFFFFF">
                  <a:alpha val="0"/>
                </a:srgbClr>
              </a:clrTo>
            </a:clrChange>
            <a:extLst>
              <a:ext uri="{BEBA8EAE-BF5A-486C-A8C5-ECC9F3942E4B}">
                <a14:imgProps xmlns:a14="http://schemas.microsoft.com/office/drawing/2010/main">
                  <a14:imgLayer r:embed="rId12">
                    <a14:imgEffect>
                      <a14:backgroundRemoval t="10000" b="90000" l="10000" r="90000">
                        <a14:foregroundMark x1="70000" y1="65156" x2="58698" y2="86510"/>
                      </a14:backgroundRemoval>
                    </a14:imgEffect>
                  </a14:imgLayer>
                </a14:imgProps>
              </a:ext>
            </a:extLst>
          </a:blip>
          <a:stretch>
            <a:fillRect/>
          </a:stretch>
        </p:blipFill>
        <p:spPr>
          <a:xfrm>
            <a:off x="15520579" y="7293265"/>
            <a:ext cx="677091" cy="677091"/>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量子密钥协议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22-line3"/>
          <p:cNvSpPr>
            <a:spLocks noGrp="1"/>
          </p:cNvSpPr>
          <p:nvPr/>
        </p:nvSpPr>
        <p:spPr>
          <a:xfrm>
            <a:off x="1752600" y="218035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的本征态，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4134736" y="2061482"/>
            <a:ext cx="1800357" cy="777240"/>
          </a:xfrm>
          <a:prstGeom prst="rect">
            <a:avLst/>
          </a:prstGeom>
        </p:spPr>
      </p:pic>
      <p:sp>
        <p:nvSpPr>
          <p:cNvPr id="4" name="p222-line3"/>
          <p:cNvSpPr>
            <a:spLocks noGrp="1"/>
          </p:cNvSpPr>
          <p:nvPr/>
        </p:nvSpPr>
        <p:spPr>
          <a:xfrm>
            <a:off x="6031230" y="218035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是泡利矩阵</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8345805" y="2111556"/>
            <a:ext cx="677091" cy="677091"/>
          </a:xfrm>
          <a:prstGeom prst="rect">
            <a:avLst/>
          </a:prstGeom>
        </p:spPr>
      </p:pic>
      <p:sp>
        <p:nvSpPr>
          <p:cNvPr id="17" name="p222-line3"/>
          <p:cNvSpPr>
            <a:spLocks noGrp="1"/>
          </p:cNvSpPr>
          <p:nvPr/>
        </p:nvSpPr>
        <p:spPr>
          <a:xfrm>
            <a:off x="9051471" y="2180354"/>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的本征态，且</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5">
            <a:clrChange>
              <a:clrFrom>
                <a:srgbClr val="FFFFFF"/>
              </a:clrFrom>
              <a:clrTo>
                <a:srgbClr val="FFFFFF">
                  <a:alpha val="0"/>
                </a:srgbClr>
              </a:clrTo>
            </a:clrChange>
          </a:blip>
          <a:stretch>
            <a:fillRect/>
          </a:stretch>
        </p:blipFill>
        <p:spPr>
          <a:xfrm>
            <a:off x="11823246" y="1817654"/>
            <a:ext cx="3188154" cy="1185083"/>
          </a:xfrm>
          <a:prstGeom prst="rect">
            <a:avLst/>
          </a:prstGeom>
        </p:spPr>
      </p:pic>
      <p:sp>
        <p:nvSpPr>
          <p:cNvPr id="19" name="p222-line3"/>
          <p:cNvSpPr>
            <a:spLocks noGrp="1"/>
          </p:cNvSpPr>
          <p:nvPr/>
        </p:nvSpPr>
        <p:spPr>
          <a:xfrm>
            <a:off x="15254696" y="218035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6">
            <a:clrChange>
              <a:clrFrom>
                <a:srgbClr val="FFFFFF"/>
              </a:clrFrom>
              <a:clrTo>
                <a:srgbClr val="FFFFFF">
                  <a:alpha val="0"/>
                </a:srgbClr>
              </a:clrTo>
            </a:clrChange>
          </a:blip>
          <a:stretch>
            <a:fillRect/>
          </a:stretch>
        </p:blipFill>
        <p:spPr>
          <a:xfrm>
            <a:off x="1791929" y="2646253"/>
            <a:ext cx="3048000" cy="1147790"/>
          </a:xfrm>
          <a:prstGeom prst="rect">
            <a:avLst/>
          </a:prstGeom>
        </p:spPr>
      </p:pic>
      <p:sp>
        <p:nvSpPr>
          <p:cNvPr id="21" name="p222-line4"/>
          <p:cNvSpPr>
            <a:spLocks noGrp="1"/>
          </p:cNvSpPr>
          <p:nvPr/>
        </p:nvSpPr>
        <p:spPr>
          <a:xfrm>
            <a:off x="5138470" y="3001229"/>
            <a:ext cx="1110691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，这4个量子状态经常被称为BB84量子态。BB84协议的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22-line5"/>
          <p:cNvSpPr>
            <a:spLocks noGrp="1"/>
          </p:cNvSpPr>
          <p:nvPr/>
        </p:nvSpPr>
        <p:spPr>
          <a:xfrm>
            <a:off x="1787013" y="3712208"/>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过程如下所示，其中利用了两条信道：量子信道和经典信道。对于量子信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22-line6"/>
          <p:cNvSpPr>
            <a:spLocks noGrp="1"/>
          </p:cNvSpPr>
          <p:nvPr/>
        </p:nvSpPr>
        <p:spPr>
          <a:xfrm>
            <a:off x="1787013" y="4423154"/>
            <a:ext cx="1440732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道，Alice和Bob不假设Eve可以对其进行操作，但是要求经典信道是经过</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22-line7"/>
          <p:cNvSpPr>
            <a:spLocks noGrp="1"/>
          </p:cNvSpPr>
          <p:nvPr/>
        </p:nvSpPr>
        <p:spPr>
          <a:xfrm>
            <a:off x="1787013" y="5134100"/>
            <a:ext cx="1402670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认证的，即Eve只能对经典信息进行窃听，但是不能更改经典信息的内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22-line8"/>
          <p:cNvSpPr>
            <a:spLocks noGrp="1"/>
          </p:cNvSpPr>
          <p:nvPr/>
        </p:nvSpPr>
        <p:spPr>
          <a:xfrm>
            <a:off x="1787013" y="5845046"/>
            <a:ext cx="146109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容。这可以通过Alice和Bob事先共享一串短的密钥，然后利用无条件安全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22-line9"/>
          <p:cNvSpPr>
            <a:spLocks noGrp="1"/>
          </p:cNvSpPr>
          <p:nvPr/>
        </p:nvSpPr>
        <p:spPr>
          <a:xfrm>
            <a:off x="1787013" y="6555992"/>
            <a:ext cx="1397450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的Wegman-Carter认证协议实现，在认证过程中消耗掉的密钥可以通过</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22-line10"/>
          <p:cNvSpPr>
            <a:spLocks noGrp="1"/>
          </p:cNvSpPr>
          <p:nvPr/>
        </p:nvSpPr>
        <p:spPr>
          <a:xfrm>
            <a:off x="1787013" y="7266938"/>
            <a:ext cx="12020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QKD协议新产生的密钥来补充。协议的具体过程描述如下。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量子密钥协议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3" name="p223-line1"/>
          <p:cNvSpPr>
            <a:spLocks noGrp="1"/>
          </p:cNvSpPr>
          <p:nvPr/>
        </p:nvSpPr>
        <p:spPr>
          <a:xfrm>
            <a:off x="2667000" y="1800225"/>
            <a:ext cx="1362017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（1）量子过程。①量子态的制备和发送。Alice生成一串由0和1组成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23-line2"/>
          <p:cNvSpPr>
            <a:spLocks noGrp="1"/>
          </p:cNvSpPr>
          <p:nvPr/>
        </p:nvSpPr>
        <p:spPr>
          <a:xfrm>
            <a:off x="1752600" y="2511171"/>
            <a:ext cx="9658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的随机数，并为每个随机数随机选择一个编码基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23-line2"/>
          <p:cNvSpPr>
            <a:spLocks noGrp="1"/>
          </p:cNvSpPr>
          <p:nvPr/>
        </p:nvSpPr>
        <p:spPr>
          <a:xfrm>
            <a:off x="11353800" y="2511171"/>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 name="p223-line2"/>
          <p:cNvSpPr>
            <a:spLocks noGrp="1"/>
          </p:cNvSpPr>
          <p:nvPr/>
        </p:nvSpPr>
        <p:spPr>
          <a:xfrm>
            <a:off x="11633073" y="251117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23-line2"/>
          <p:cNvSpPr>
            <a:spLocks noGrp="1"/>
          </p:cNvSpPr>
          <p:nvPr/>
        </p:nvSpPr>
        <p:spPr>
          <a:xfrm>
            <a:off x="12090273" y="251117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X</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7" name="p223-line2"/>
          <p:cNvSpPr>
            <a:spLocks noGrp="1"/>
          </p:cNvSpPr>
          <p:nvPr/>
        </p:nvSpPr>
        <p:spPr>
          <a:xfrm>
            <a:off x="12420409" y="2511171"/>
            <a:ext cx="3943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。对于随机数0，若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23-line3"/>
          <p:cNvSpPr>
            <a:spLocks noGrp="1"/>
          </p:cNvSpPr>
          <p:nvPr/>
        </p:nvSpPr>
        <p:spPr>
          <a:xfrm>
            <a:off x="1752600" y="3305066"/>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选择的编码基是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23-line3"/>
          <p:cNvSpPr>
            <a:spLocks noGrp="1"/>
          </p:cNvSpPr>
          <p:nvPr/>
        </p:nvSpPr>
        <p:spPr>
          <a:xfrm>
            <a:off x="4953000" y="3305066"/>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0" name="p223-line3"/>
          <p:cNvSpPr>
            <a:spLocks noGrp="1"/>
          </p:cNvSpPr>
          <p:nvPr/>
        </p:nvSpPr>
        <p:spPr>
          <a:xfrm>
            <a:off x="5232273" y="3305066"/>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则制备量子态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3">
            <a:clrChange>
              <a:clrFrom>
                <a:srgbClr val="FFFFFF"/>
              </a:clrFrom>
              <a:clrTo>
                <a:srgbClr val="FFFFFF">
                  <a:alpha val="0"/>
                </a:srgbClr>
              </a:clrTo>
            </a:clrChange>
          </a:blip>
          <a:stretch>
            <a:fillRect/>
          </a:stretch>
        </p:blipFill>
        <p:spPr>
          <a:xfrm>
            <a:off x="8031390" y="3222117"/>
            <a:ext cx="622407" cy="705394"/>
          </a:xfrm>
          <a:prstGeom prst="rect">
            <a:avLst/>
          </a:prstGeom>
        </p:spPr>
      </p:pic>
      <p:sp>
        <p:nvSpPr>
          <p:cNvPr id="22" name="p223-line3"/>
          <p:cNvSpPr>
            <a:spLocks noGrp="1"/>
          </p:cNvSpPr>
          <p:nvPr/>
        </p:nvSpPr>
        <p:spPr>
          <a:xfrm>
            <a:off x="8709714" y="3305066"/>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；若选择的编码基为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23-line3"/>
          <p:cNvSpPr>
            <a:spLocks noGrp="1"/>
          </p:cNvSpPr>
          <p:nvPr/>
        </p:nvSpPr>
        <p:spPr>
          <a:xfrm>
            <a:off x="12824514" y="3305066"/>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X</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4" name="p223-line3"/>
          <p:cNvSpPr>
            <a:spLocks noGrp="1"/>
          </p:cNvSpPr>
          <p:nvPr/>
        </p:nvSpPr>
        <p:spPr>
          <a:xfrm>
            <a:off x="13154651" y="3305066"/>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，则制备量子态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4">
            <a:clrChange>
              <a:clrFrom>
                <a:srgbClr val="FFFFFF"/>
              </a:clrFrom>
              <a:clrTo>
                <a:srgbClr val="FFFFFF">
                  <a:alpha val="0"/>
                </a:srgbClr>
              </a:clrTo>
            </a:clrChange>
          </a:blip>
          <a:stretch>
            <a:fillRect/>
          </a:stretch>
        </p:blipFill>
        <p:spPr>
          <a:xfrm>
            <a:off x="1801922" y="4098961"/>
            <a:ext cx="663901" cy="705394"/>
          </a:xfrm>
          <a:prstGeom prst="rect">
            <a:avLst/>
          </a:prstGeom>
        </p:spPr>
      </p:pic>
      <p:sp>
        <p:nvSpPr>
          <p:cNvPr id="26" name="p223-line4"/>
          <p:cNvSpPr>
            <a:spLocks noGrp="1"/>
          </p:cNvSpPr>
          <p:nvPr/>
        </p:nvSpPr>
        <p:spPr>
          <a:xfrm>
            <a:off x="2515144" y="4181910"/>
            <a:ext cx="7143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。对于随机数1，若选择的编码基是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23-line4"/>
          <p:cNvSpPr>
            <a:spLocks noGrp="1"/>
          </p:cNvSpPr>
          <p:nvPr/>
        </p:nvSpPr>
        <p:spPr>
          <a:xfrm>
            <a:off x="9601744" y="4181910"/>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8" name="p223-line4"/>
          <p:cNvSpPr>
            <a:spLocks noGrp="1"/>
          </p:cNvSpPr>
          <p:nvPr/>
        </p:nvSpPr>
        <p:spPr>
          <a:xfrm>
            <a:off x="9881017" y="4181910"/>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，则制备量子态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5">
            <a:clrChange>
              <a:clrFrom>
                <a:srgbClr val="FFFFFF"/>
              </a:clrFrom>
              <a:clrTo>
                <a:srgbClr val="FFFFFF">
                  <a:alpha val="0"/>
                </a:srgbClr>
              </a:clrTo>
            </a:clrChange>
          </a:blip>
          <a:stretch>
            <a:fillRect/>
          </a:stretch>
        </p:blipFill>
        <p:spPr>
          <a:xfrm>
            <a:off x="13122223" y="4098961"/>
            <a:ext cx="539419" cy="705394"/>
          </a:xfrm>
          <a:prstGeom prst="rect">
            <a:avLst/>
          </a:prstGeom>
        </p:spPr>
      </p:pic>
      <p:sp>
        <p:nvSpPr>
          <p:cNvPr id="30" name="p223-line4"/>
          <p:cNvSpPr>
            <a:spLocks noGrp="1"/>
          </p:cNvSpPr>
          <p:nvPr/>
        </p:nvSpPr>
        <p:spPr>
          <a:xfrm>
            <a:off x="13702447" y="4181910"/>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；若选择的编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23-line5"/>
          <p:cNvSpPr>
            <a:spLocks noGrp="1"/>
          </p:cNvSpPr>
          <p:nvPr/>
        </p:nvSpPr>
        <p:spPr>
          <a:xfrm>
            <a:off x="1752600" y="5058755"/>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码基为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23-line5"/>
          <p:cNvSpPr>
            <a:spLocks noGrp="1"/>
          </p:cNvSpPr>
          <p:nvPr/>
        </p:nvSpPr>
        <p:spPr>
          <a:xfrm>
            <a:off x="3124200" y="505875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X</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4" name="p223-line5"/>
          <p:cNvSpPr>
            <a:spLocks noGrp="1"/>
          </p:cNvSpPr>
          <p:nvPr/>
        </p:nvSpPr>
        <p:spPr>
          <a:xfrm>
            <a:off x="3454336" y="5058755"/>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，则制备量子态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6">
            <a:clrChange>
              <a:clrFrom>
                <a:srgbClr val="FFFFFF"/>
              </a:clrFrom>
              <a:clrTo>
                <a:srgbClr val="FFFFFF">
                  <a:alpha val="0"/>
                </a:srgbClr>
              </a:clrTo>
            </a:clrChange>
          </a:blip>
          <a:stretch>
            <a:fillRect/>
          </a:stretch>
        </p:blipFill>
        <p:spPr>
          <a:xfrm>
            <a:off x="6704058" y="4975806"/>
            <a:ext cx="663901" cy="705394"/>
          </a:xfrm>
          <a:prstGeom prst="rect">
            <a:avLst/>
          </a:prstGeom>
        </p:spPr>
      </p:pic>
      <p:sp>
        <p:nvSpPr>
          <p:cNvPr id="36" name="p223-line5"/>
          <p:cNvSpPr>
            <a:spLocks noGrp="1"/>
          </p:cNvSpPr>
          <p:nvPr/>
        </p:nvSpPr>
        <p:spPr>
          <a:xfrm>
            <a:off x="7417281" y="5058755"/>
            <a:ext cx="881957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。根据上述编码方式，Alice将制备的量子态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223-line6"/>
          <p:cNvSpPr>
            <a:spLocks noGrp="1"/>
          </p:cNvSpPr>
          <p:nvPr/>
        </p:nvSpPr>
        <p:spPr>
          <a:xfrm>
            <a:off x="1752600" y="5852650"/>
            <a:ext cx="102683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发送给Bob。②量子态的测量。Bob随机选择测量基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223-line6"/>
          <p:cNvSpPr>
            <a:spLocks noGrp="1"/>
          </p:cNvSpPr>
          <p:nvPr/>
        </p:nvSpPr>
        <p:spPr>
          <a:xfrm>
            <a:off x="11963781" y="5852650"/>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9" name="p223-line6"/>
          <p:cNvSpPr>
            <a:spLocks noGrp="1"/>
          </p:cNvSpPr>
          <p:nvPr/>
        </p:nvSpPr>
        <p:spPr>
          <a:xfrm>
            <a:off x="12243054" y="585265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223-line6"/>
          <p:cNvSpPr>
            <a:spLocks noGrp="1"/>
          </p:cNvSpPr>
          <p:nvPr/>
        </p:nvSpPr>
        <p:spPr>
          <a:xfrm>
            <a:off x="12700254" y="5852650"/>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X</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1" name="p223-line6"/>
          <p:cNvSpPr>
            <a:spLocks noGrp="1"/>
          </p:cNvSpPr>
          <p:nvPr/>
        </p:nvSpPr>
        <p:spPr>
          <a:xfrm>
            <a:off x="13030391" y="5852650"/>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对每个量子态进</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223-line7"/>
          <p:cNvSpPr>
            <a:spLocks noGrp="1"/>
          </p:cNvSpPr>
          <p:nvPr/>
        </p:nvSpPr>
        <p:spPr>
          <a:xfrm>
            <a:off x="1752600" y="6563596"/>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行测量并记录测量结果。</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3" name="p224-line1"/>
          <p:cNvSpPr>
            <a:spLocks noGrp="1"/>
          </p:cNvSpPr>
          <p:nvPr/>
        </p:nvSpPr>
        <p:spPr>
          <a:xfrm>
            <a:off x="2667000" y="7388842"/>
            <a:ext cx="13849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（2）经典后处理过程。①Bob利用经典认证信道公布自己的探测器成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4" name="p224-line2"/>
          <p:cNvSpPr>
            <a:spLocks noGrp="1"/>
          </p:cNvSpPr>
          <p:nvPr/>
        </p:nvSpPr>
        <p:spPr>
          <a:xfrm>
            <a:off x="1752600" y="8099788"/>
            <a:ext cx="1476317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功响应的量子态，以及对这些量子态使用的测量基，Alice也公布这些量子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量子密钥协议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7" name="p224-line3"/>
          <p:cNvSpPr>
            <a:spLocks noGrp="1"/>
          </p:cNvSpPr>
          <p:nvPr/>
        </p:nvSpPr>
        <p:spPr>
          <a:xfrm>
            <a:off x="1752600" y="1800225"/>
            <a:ext cx="146109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态的制备基。Alice和Bob舍弃两者基不相同的情况，只保留相同的情况，</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24-line4"/>
          <p:cNvSpPr>
            <a:spLocks noGrp="1"/>
          </p:cNvSpPr>
          <p:nvPr/>
        </p:nvSpPr>
        <p:spPr>
          <a:xfrm>
            <a:off x="1752600" y="2594120"/>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从而得到各自的筛后密钥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6814729" y="2511171"/>
            <a:ext cx="881743" cy="705394"/>
          </a:xfrm>
          <a:prstGeom prst="rect">
            <a:avLst/>
          </a:prstGeom>
        </p:spPr>
      </p:pic>
      <p:sp>
        <p:nvSpPr>
          <p:cNvPr id="4" name="p224-line4"/>
          <p:cNvSpPr>
            <a:spLocks noGrp="1"/>
          </p:cNvSpPr>
          <p:nvPr/>
        </p:nvSpPr>
        <p:spPr>
          <a:xfrm>
            <a:off x="7729401" y="259412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8219531" y="2511171"/>
            <a:ext cx="881743" cy="705394"/>
          </a:xfrm>
          <a:prstGeom prst="rect">
            <a:avLst/>
          </a:prstGeom>
        </p:spPr>
      </p:pic>
      <p:sp>
        <p:nvSpPr>
          <p:cNvPr id="18" name="p224-line4"/>
          <p:cNvSpPr>
            <a:spLocks noGrp="1"/>
          </p:cNvSpPr>
          <p:nvPr/>
        </p:nvSpPr>
        <p:spPr>
          <a:xfrm>
            <a:off x="9134203" y="2594120"/>
            <a:ext cx="72957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。②参数估计。Alice和Bob从筛后密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24-line5"/>
          <p:cNvSpPr>
            <a:spLocks noGrp="1"/>
          </p:cNvSpPr>
          <p:nvPr/>
        </p:nvSpPr>
        <p:spPr>
          <a:xfrm>
            <a:off x="1752600" y="338801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钥中随机抽取一部分样本并公布样本的密钥值，通过比较各自样本密钥的</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0" name="p224-line6"/>
          <p:cNvSpPr>
            <a:spLocks noGrp="1"/>
          </p:cNvSpPr>
          <p:nvPr/>
        </p:nvSpPr>
        <p:spPr>
          <a:xfrm>
            <a:off x="1752600" y="409896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值，他们计算信道的量子比特误码率。若量子比特误码率大于安全阈值</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1" name="p224-line7"/>
          <p:cNvSpPr>
            <a:spLocks noGrp="1"/>
          </p:cNvSpPr>
          <p:nvPr/>
        </p:nvSpPr>
        <p:spPr>
          <a:xfrm>
            <a:off x="1752600" y="480990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则终止协议过程，否则继续执行下面的步骤。注意，除了这里利用随机抽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24-line8"/>
          <p:cNvSpPr>
            <a:spLocks noGrp="1"/>
          </p:cNvSpPr>
          <p:nvPr/>
        </p:nvSpPr>
        <p:spPr>
          <a:xfrm>
            <a:off x="1752600" y="552085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样进行比特误码率估计的方法，还有利用纠错算法直接计算比特错误个数</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3" name="p224-line9"/>
          <p:cNvSpPr>
            <a:spLocks noGrp="1"/>
          </p:cNvSpPr>
          <p:nvPr/>
        </p:nvSpPr>
        <p:spPr>
          <a:xfrm>
            <a:off x="1752600" y="6231799"/>
            <a:ext cx="146109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的方法。③纠错密钥。上一步估计出来的比特误码率，Alice和Bob对随机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24-line10"/>
          <p:cNvSpPr>
            <a:spLocks noGrp="1"/>
          </p:cNvSpPr>
          <p:nvPr/>
        </p:nvSpPr>
        <p:spPr>
          <a:xfrm>
            <a:off x="1752600" y="7025694"/>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抽样后剩余的筛后密钥进行纠错，得到以很大概率相等的纠错后密钥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10000" b="90000" l="10000" r="90000">
                        <a14:foregroundMark x1="49964" y1="29834" x2="69070" y2="38037"/>
                        <a14:foregroundMark x1="47585" y1="69189" x2="51172" y2="75781"/>
                        <a14:foregroundMark x1="78622" y1="31445" x2="83381" y2="31445"/>
                        <a14:foregroundMark x1="73828" y1="21631" x2="70277" y2="39697"/>
                      </a14:backgroundRemoval>
                    </a14:imgEffect>
                  </a14:imgLayer>
                </a14:imgProps>
              </a:ext>
            </a:extLst>
          </a:blip>
          <a:stretch>
            <a:fillRect/>
          </a:stretch>
        </p:blipFill>
        <p:spPr>
          <a:xfrm>
            <a:off x="15499896" y="6942745"/>
            <a:ext cx="969917" cy="705394"/>
          </a:xfrm>
          <a:prstGeom prst="rect">
            <a:avLst/>
          </a:prstGeom>
        </p:spPr>
      </p:pic>
      <p:sp>
        <p:nvSpPr>
          <p:cNvPr id="26" name="p224-line11"/>
          <p:cNvSpPr>
            <a:spLocks noGrp="1"/>
          </p:cNvSpPr>
          <p:nvPr/>
        </p:nvSpPr>
        <p:spPr>
          <a:xfrm>
            <a:off x="1752600" y="790253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backgroundRemoval t="10000" b="90000" l="10000" r="90000">
                        <a14:foregroundMark x1="23473" y1="30469" x2="43608" y2="47754"/>
                        <a14:foregroundMark x1="49893" y1="36523" x2="86328" y2="31348"/>
                        <a14:foregroundMark x1="50497" y1="84912" x2="45490" y2="60693"/>
                      </a14:backgroundRemoval>
                    </a14:imgEffect>
                  </a14:imgLayer>
                </a14:imgProps>
              </a:ext>
            </a:extLst>
          </a:blip>
          <a:stretch>
            <a:fillRect/>
          </a:stretch>
        </p:blipFill>
        <p:spPr>
          <a:xfrm>
            <a:off x="2241096" y="7819590"/>
            <a:ext cx="969917" cy="705394"/>
          </a:xfrm>
          <a:prstGeom prst="rect">
            <a:avLst/>
          </a:prstGeom>
        </p:spPr>
      </p:pic>
      <p:sp>
        <p:nvSpPr>
          <p:cNvPr id="28" name="p224-line11"/>
          <p:cNvSpPr>
            <a:spLocks noGrp="1"/>
          </p:cNvSpPr>
          <p:nvPr/>
        </p:nvSpPr>
        <p:spPr>
          <a:xfrm>
            <a:off x="3242310" y="7902539"/>
            <a:ext cx="1301019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。常用的纠错算法有Cascade纠错法、Winnow纠错法和LDPC码纠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224-line12"/>
          <p:cNvSpPr>
            <a:spLocks noGrp="1"/>
          </p:cNvSpPr>
          <p:nvPr/>
        </p:nvSpPr>
        <p:spPr>
          <a:xfrm>
            <a:off x="1755224" y="8572058"/>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错法等。在纠错过程之后一般还需要进行错误校验，即验证纠错过程是否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224-line13"/>
          <p:cNvSpPr>
            <a:spLocks noGrp="1"/>
          </p:cNvSpPr>
          <p:nvPr/>
        </p:nvSpPr>
        <p:spPr>
          <a:xfrm>
            <a:off x="1755224" y="9365953"/>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成功，一般通过比较</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24-line13"/>
          <p:cNvSpPr>
            <a:spLocks noGrp="1"/>
          </p:cNvSpPr>
          <p:nvPr/>
        </p:nvSpPr>
        <p:spPr>
          <a:xfrm>
            <a:off x="6902534" y="936595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224-line13"/>
          <p:cNvSpPr>
            <a:spLocks noGrp="1"/>
          </p:cNvSpPr>
          <p:nvPr/>
        </p:nvSpPr>
        <p:spPr>
          <a:xfrm>
            <a:off x="8392244" y="9365953"/>
            <a:ext cx="46542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的Hash函数值来实现。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9">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10000" b="90000" l="10000" r="90000">
                        <a14:foregroundMark x1="49964" y1="29834" x2="69070" y2="38037"/>
                        <a14:foregroundMark x1="47585" y1="69189" x2="51172" y2="75781"/>
                        <a14:foregroundMark x1="78622" y1="31445" x2="83381" y2="31445"/>
                        <a14:foregroundMark x1="73828" y1="21631" x2="70277" y2="39697"/>
                        <a14:foregroundMark x1="65554" y1="38867" x2="77344" y2="38867"/>
                        <a14:foregroundMark x1="47479" y1="68066" x2="63210" y2="70215"/>
                        <a14:foregroundMark x1="61612" y1="29150" x2="77344" y2="42139"/>
                      </a14:backgroundRemoval>
                    </a14:imgEffect>
                  </a14:imgLayer>
                </a14:imgProps>
              </a:ext>
            </a:extLst>
          </a:blip>
          <a:stretch>
            <a:fillRect/>
          </a:stretch>
        </p:blipFill>
        <p:spPr>
          <a:xfrm>
            <a:off x="5932617" y="9258300"/>
            <a:ext cx="969917" cy="705394"/>
          </a:xfrm>
          <a:prstGeom prst="rect">
            <a:avLst/>
          </a:prstGeom>
        </p:spPr>
      </p:pic>
      <p:pic>
        <p:nvPicPr>
          <p:cNvPr id="36" name="图片 35"/>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backgroundRemoval t="10000" b="90000" l="10000" r="90000">
                        <a14:foregroundMark x1="23473" y1="30469" x2="43608" y2="47754"/>
                        <a14:foregroundMark x1="49893" y1="36523" x2="86328" y2="31348"/>
                        <a14:foregroundMark x1="50497" y1="84912" x2="45490" y2="60693"/>
                      </a14:backgroundRemoval>
                    </a14:imgEffect>
                  </a14:imgLayer>
                </a14:imgProps>
              </a:ext>
            </a:extLst>
          </a:blip>
          <a:stretch>
            <a:fillRect/>
          </a:stretch>
        </p:blipFill>
        <p:spPr>
          <a:xfrm>
            <a:off x="7416884" y="9299698"/>
            <a:ext cx="969917" cy="70539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326989" y="2834725"/>
            <a:ext cx="3634019"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15.4</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1" name="p226-line1"/>
          <p:cNvSpPr>
            <a:spLocks noGrp="1"/>
          </p:cNvSpPr>
          <p:nvPr/>
        </p:nvSpPr>
        <p:spPr>
          <a:xfrm>
            <a:off x="2667000" y="1800225"/>
            <a:ext cx="1372323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下面介绍SM2椭圆曲线公钥密码算法的密钥交换协议。在SM2椭圆曲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26-line2"/>
          <p:cNvSpPr>
            <a:spLocks noGrp="1"/>
          </p:cNvSpPr>
          <p:nvPr/>
        </p:nvSpPr>
        <p:spPr>
          <a:xfrm>
            <a:off x="1752600" y="2579969"/>
            <a:ext cx="7702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线公钥密码算法中，用户A具有长度为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9426511" y="2519168"/>
            <a:ext cx="1454331" cy="661098"/>
          </a:xfrm>
          <a:prstGeom prst="rect">
            <a:avLst/>
          </a:prstGeom>
        </p:spPr>
      </p:pic>
      <p:sp>
        <p:nvSpPr>
          <p:cNvPr id="4" name="p226-line2"/>
          <p:cNvSpPr>
            <a:spLocks noGrp="1"/>
          </p:cNvSpPr>
          <p:nvPr/>
        </p:nvSpPr>
        <p:spPr>
          <a:xfrm>
            <a:off x="10909418" y="2579969"/>
            <a:ext cx="3283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bit的可辨别标识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14163920" y="2526583"/>
            <a:ext cx="818606" cy="646268"/>
          </a:xfrm>
          <a:prstGeom prst="rect">
            <a:avLst/>
          </a:prstGeom>
        </p:spPr>
      </p:pic>
      <p:sp>
        <p:nvSpPr>
          <p:cNvPr id="17" name="p226-line2"/>
          <p:cNvSpPr>
            <a:spLocks noGrp="1"/>
          </p:cNvSpPr>
          <p:nvPr/>
        </p:nvSpPr>
        <p:spPr>
          <a:xfrm>
            <a:off x="15011101" y="257996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5">
            <a:clrChange>
              <a:clrFrom>
                <a:srgbClr val="FFFFFF"/>
              </a:clrFrom>
              <a:clrTo>
                <a:srgbClr val="FFFFFF">
                  <a:alpha val="0"/>
                </a:srgbClr>
              </a:clrTo>
            </a:clrChange>
          </a:blip>
          <a:stretch>
            <a:fillRect/>
          </a:stretch>
        </p:blipFill>
        <p:spPr>
          <a:xfrm>
            <a:off x="1781175" y="3367870"/>
            <a:ext cx="1497874" cy="660777"/>
          </a:xfrm>
          <a:prstGeom prst="rect">
            <a:avLst/>
          </a:prstGeom>
        </p:spPr>
      </p:pic>
      <p:sp>
        <p:nvSpPr>
          <p:cNvPr id="19" name="p226-line3"/>
          <p:cNvSpPr>
            <a:spLocks noGrp="1"/>
          </p:cNvSpPr>
          <p:nvPr/>
        </p:nvSpPr>
        <p:spPr>
          <a:xfrm>
            <a:off x="3307624" y="3428510"/>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是由整数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6">
            <a:clrChange>
              <a:clrFrom>
                <a:srgbClr val="FFFFFF"/>
              </a:clrFrom>
              <a:clrTo>
                <a:srgbClr val="FFFFFF">
                  <a:alpha val="0"/>
                </a:srgbClr>
              </a:clrTo>
            </a:clrChange>
          </a:blip>
          <a:stretch>
            <a:fillRect/>
          </a:stretch>
        </p:blipFill>
        <p:spPr>
          <a:xfrm>
            <a:off x="5164999" y="3367709"/>
            <a:ext cx="1454331" cy="661098"/>
          </a:xfrm>
          <a:prstGeom prst="rect">
            <a:avLst/>
          </a:prstGeom>
        </p:spPr>
      </p:pic>
      <p:sp>
        <p:nvSpPr>
          <p:cNvPr id="22" name="p226-line3"/>
          <p:cNvSpPr>
            <a:spLocks noGrp="1"/>
          </p:cNvSpPr>
          <p:nvPr/>
        </p:nvSpPr>
        <p:spPr>
          <a:xfrm>
            <a:off x="6647906" y="3428510"/>
            <a:ext cx="96333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转换而成的两个字节。在SM2椭圆曲线密钥交换</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26-line4"/>
          <p:cNvSpPr>
            <a:spLocks noGrp="1"/>
          </p:cNvSpPr>
          <p:nvPr/>
        </p:nvSpPr>
        <p:spPr>
          <a:xfrm>
            <a:off x="1752600" y="4208254"/>
            <a:ext cx="1473841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协议中，参与密钥协商的A、B双方都需要用密码杂凑函数求得用户A的杂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26-line5"/>
          <p:cNvSpPr>
            <a:spLocks noGrp="1"/>
          </p:cNvSpPr>
          <p:nvPr/>
        </p:nvSpPr>
        <p:spPr>
          <a:xfrm>
            <a:off x="1752600" y="4987998"/>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凑值</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7">
            <a:clrChange>
              <a:clrFrom>
                <a:srgbClr val="FFFFFF"/>
              </a:clrFrom>
              <a:clrTo>
                <a:srgbClr val="FFFFFF">
                  <a:alpha val="0"/>
                </a:srgbClr>
              </a:clrTo>
            </a:clrChange>
          </a:blip>
          <a:stretch>
            <a:fillRect/>
          </a:stretch>
        </p:blipFill>
        <p:spPr>
          <a:xfrm>
            <a:off x="2695575" y="4919200"/>
            <a:ext cx="677091" cy="677091"/>
          </a:xfrm>
          <a:prstGeom prst="rect">
            <a:avLst/>
          </a:prstGeom>
        </p:spPr>
      </p:pic>
      <p:sp>
        <p:nvSpPr>
          <p:cNvPr id="26" name="p226-line5"/>
          <p:cNvSpPr>
            <a:spLocks noGrp="1"/>
          </p:cNvSpPr>
          <p:nvPr/>
        </p:nvSpPr>
        <p:spPr>
          <a:xfrm>
            <a:off x="3401241" y="4987998"/>
            <a:ext cx="3562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和用户B的杂凑值</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8">
            <a:clrChange>
              <a:clrFrom>
                <a:srgbClr val="FFFFFF"/>
              </a:clrFrom>
              <a:clrTo>
                <a:srgbClr val="FFFFFF">
                  <a:alpha val="0"/>
                </a:srgbClr>
              </a:clrTo>
            </a:clrChange>
          </a:blip>
          <a:stretch>
            <a:fillRect/>
          </a:stretch>
        </p:blipFill>
        <p:spPr>
          <a:xfrm>
            <a:off x="6937094" y="4919200"/>
            <a:ext cx="631952" cy="677091"/>
          </a:xfrm>
          <a:prstGeom prst="rect">
            <a:avLst/>
          </a:prstGeom>
        </p:spPr>
      </p:pic>
      <p:sp>
        <p:nvSpPr>
          <p:cNvPr id="28" name="p226-line5"/>
          <p:cNvSpPr>
            <a:spLocks noGrp="1"/>
          </p:cNvSpPr>
          <p:nvPr/>
        </p:nvSpPr>
        <p:spPr>
          <a:xfrm>
            <a:off x="7599508" y="4987998"/>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9">
            <a:clrChange>
              <a:clrFrom>
                <a:srgbClr val="FFFFFF"/>
              </a:clrFrom>
              <a:clrTo>
                <a:srgbClr val="FFFFFF">
                  <a:alpha val="0"/>
                </a:srgbClr>
              </a:clrTo>
            </a:clrChange>
          </a:blip>
          <a:stretch>
            <a:fillRect/>
          </a:stretch>
        </p:blipFill>
        <p:spPr>
          <a:xfrm>
            <a:off x="1781175" y="5780665"/>
            <a:ext cx="8473440" cy="651244"/>
          </a:xfrm>
          <a:prstGeom prst="rect">
            <a:avLst/>
          </a:prstGeom>
        </p:spPr>
      </p:pic>
      <p:sp>
        <p:nvSpPr>
          <p:cNvPr id="30" name="p226-line6"/>
          <p:cNvSpPr>
            <a:spLocks noGrp="1"/>
          </p:cNvSpPr>
          <p:nvPr/>
        </p:nvSpPr>
        <p:spPr>
          <a:xfrm>
            <a:off x="10283190" y="583653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1" name="图片 30"/>
          <p:cNvPicPr>
            <a:picLocks noChangeAspect="1"/>
          </p:cNvPicPr>
          <p:nvPr/>
        </p:nvPicPr>
        <p:blipFill>
          <a:blip r:embed="rId10">
            <a:clrChange>
              <a:clrFrom>
                <a:srgbClr val="FFFFFF"/>
              </a:clrFrom>
              <a:clrTo>
                <a:srgbClr val="FFFFFF">
                  <a:alpha val="0"/>
                </a:srgbClr>
              </a:clrTo>
            </a:clrChange>
          </a:blip>
          <a:stretch>
            <a:fillRect/>
          </a:stretch>
        </p:blipFill>
        <p:spPr>
          <a:xfrm>
            <a:off x="1781175" y="6628780"/>
            <a:ext cx="8360229" cy="652098"/>
          </a:xfrm>
          <a:prstGeom prst="rect">
            <a:avLst/>
          </a:prstGeom>
        </p:spPr>
      </p:pic>
      <p:sp>
        <p:nvSpPr>
          <p:cNvPr id="32" name="p226-line7"/>
          <p:cNvSpPr>
            <a:spLocks noGrp="1"/>
          </p:cNvSpPr>
          <p:nvPr/>
        </p:nvSpPr>
        <p:spPr>
          <a:xfrm>
            <a:off x="10169979" y="668508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7" name="p227-line1"/>
          <p:cNvSpPr>
            <a:spLocks noGrp="1"/>
          </p:cNvSpPr>
          <p:nvPr/>
        </p:nvSpPr>
        <p:spPr>
          <a:xfrm>
            <a:off x="2667000" y="1800225"/>
            <a:ext cx="13544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在该密钥交换协议中，涉及3类辅助函数：密码杂凑函数、密钥派生</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27-line2"/>
          <p:cNvSpPr>
            <a:spLocks noGrp="1"/>
          </p:cNvSpPr>
          <p:nvPr/>
        </p:nvSpPr>
        <p:spPr>
          <a:xfrm>
            <a:off x="1752600" y="2511171"/>
            <a:ext cx="14458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函数与随机数发生器。这3类辅助函数的强弱直接影响密钥交换协议的安</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27-line3"/>
          <p:cNvSpPr>
            <a:spLocks noGrp="1"/>
          </p:cNvSpPr>
          <p:nvPr/>
        </p:nvSpPr>
        <p:spPr>
          <a:xfrm>
            <a:off x="1752600" y="3222117"/>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全性。</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28-line1"/>
          <p:cNvSpPr>
            <a:spLocks noGrp="1"/>
          </p:cNvSpPr>
          <p:nvPr/>
        </p:nvSpPr>
        <p:spPr>
          <a:xfrm>
            <a:off x="2667000" y="4047363"/>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其中，密码杂凑函数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28-line1"/>
          <p:cNvSpPr>
            <a:spLocks noGrp="1"/>
          </p:cNvSpPr>
          <p:nvPr/>
        </p:nvSpPr>
        <p:spPr>
          <a:xfrm>
            <a:off x="6781800" y="404736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8" name="p228-line1-subscript"/>
          <p:cNvSpPr>
            <a:spLocks noGrp="1"/>
          </p:cNvSpPr>
          <p:nvPr/>
        </p:nvSpPr>
        <p:spPr>
          <a:xfrm>
            <a:off x="7111936" y="4184523"/>
            <a:ext cx="208026" cy="594360"/>
          </a:xfrm>
          <a:prstGeom prst="rect">
            <a:avLst/>
          </a:prstGeom>
          <a:noFill/>
          <a:ln w="0">
            <a:noFill/>
          </a:ln>
        </p:spPr>
        <p:txBody>
          <a:bodyPr wrap="none" lIns="0" tIns="0" rIns="0" bIns="0" anchor="t">
            <a:noAutofit/>
          </a:bodyPr>
          <a:lstStyle>
            <a:def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1">
                <a:latin typeface="Times New Roman" panose="02020603050405020304" pitchFamily="18" charset="0"/>
                <a:ea typeface="宋体" panose="02010600030101010101" pitchFamily="2" charset="-122"/>
                <a:cs typeface="字由点字典黑 2"/>
                <a:sym typeface="字由点字典黑 2"/>
              </a:rPr>
              <a:t>v</a:t>
            </a:r>
            <a:endParaRPr sz="2375" b="0" i="1">
              <a:latin typeface="Times New Roman" panose="02020603050405020304" pitchFamily="18" charset="0"/>
              <a:ea typeface="宋体" panose="02010600030101010101" pitchFamily="2" charset="-122"/>
              <a:cs typeface="字由点字典黑 2"/>
              <a:sym typeface="字由点字典黑 2"/>
            </a:endParaRPr>
          </a:p>
        </p:txBody>
      </p:sp>
      <p:sp>
        <p:nvSpPr>
          <p:cNvPr id="19" name="p228-line1"/>
          <p:cNvSpPr>
            <a:spLocks noGrp="1"/>
          </p:cNvSpPr>
          <p:nvPr/>
        </p:nvSpPr>
        <p:spPr>
          <a:xfrm>
            <a:off x="7262812" y="4047363"/>
            <a:ext cx="41334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)的输出是长度恰为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28-line1"/>
          <p:cNvSpPr>
            <a:spLocks noGrp="1"/>
          </p:cNvSpPr>
          <p:nvPr/>
        </p:nvSpPr>
        <p:spPr>
          <a:xfrm>
            <a:off x="11339131" y="4047363"/>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v</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1" name="p228-line1"/>
          <p:cNvSpPr>
            <a:spLocks noGrp="1"/>
          </p:cNvSpPr>
          <p:nvPr/>
        </p:nvSpPr>
        <p:spPr>
          <a:xfrm>
            <a:off x="11567731" y="4047363"/>
            <a:ext cx="46546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bit的杂凑值，规定使用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28-line2"/>
          <p:cNvSpPr>
            <a:spLocks noGrp="1"/>
          </p:cNvSpPr>
          <p:nvPr/>
        </p:nvSpPr>
        <p:spPr>
          <a:xfrm>
            <a:off x="1752600" y="4758309"/>
            <a:ext cx="146625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国家密码管理局批准的密码杂凑函数，如SM3密码杂凑算法。密钥派生函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28-line3"/>
          <p:cNvSpPr>
            <a:spLocks noGrp="1"/>
          </p:cNvSpPr>
          <p:nvPr/>
        </p:nvSpPr>
        <p:spPr>
          <a:xfrm>
            <a:off x="1752600" y="54692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数的作用是从一个共享的秘密比特串中派生出密钥数据。在密钥协商过程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28-line4"/>
          <p:cNvSpPr>
            <a:spLocks noGrp="1"/>
          </p:cNvSpPr>
          <p:nvPr/>
        </p:nvSpPr>
        <p:spPr>
          <a:xfrm>
            <a:off x="1752600" y="61802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中，密钥派生函数作用在密钥交换所获共享的秘密比特串上，从中产生所</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28-line5"/>
          <p:cNvSpPr>
            <a:spLocks noGrp="1"/>
          </p:cNvSpPr>
          <p:nvPr/>
        </p:nvSpPr>
        <p:spPr>
          <a:xfrm>
            <a:off x="1752600" y="6891147"/>
            <a:ext cx="14230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需要的会话密钥或进一步加密所需要的密钥数据。密钥派生函数KDF（</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28-line6"/>
          <p:cNvSpPr>
            <a:spLocks noGrp="1"/>
          </p:cNvSpPr>
          <p:nvPr/>
        </p:nvSpPr>
        <p:spPr>
          <a:xfrm>
            <a:off x="1752600" y="7602093"/>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7" name="p228-line6"/>
          <p:cNvSpPr>
            <a:spLocks noGrp="1"/>
          </p:cNvSpPr>
          <p:nvPr/>
        </p:nvSpPr>
        <p:spPr>
          <a:xfrm>
            <a:off x="2031873" y="7602093"/>
            <a:ext cx="145602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，klen）需要调用密码杂凑函数，规定使用国家密码管理局批准的随机数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28-line7"/>
          <p:cNvSpPr>
            <a:spLocks noGrp="1"/>
          </p:cNvSpPr>
          <p:nvPr/>
        </p:nvSpPr>
        <p:spPr>
          <a:xfrm>
            <a:off x="1752600" y="8313039"/>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发生器。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7" name="p229-line1"/>
          <p:cNvSpPr>
            <a:spLocks noGrp="1"/>
          </p:cNvSpPr>
          <p:nvPr/>
        </p:nvSpPr>
        <p:spPr>
          <a:xfrm>
            <a:off x="2667000" y="1800225"/>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参数选取同8.2.1节。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30-line1"/>
          <p:cNvSpPr>
            <a:spLocks noGrp="1"/>
          </p:cNvSpPr>
          <p:nvPr/>
        </p:nvSpPr>
        <p:spPr>
          <a:xfrm>
            <a:off x="2667000" y="2625471"/>
            <a:ext cx="64329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下面是SM2密钥交换协议过程。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31-line1"/>
          <p:cNvSpPr>
            <a:spLocks noGrp="1"/>
          </p:cNvSpPr>
          <p:nvPr/>
        </p:nvSpPr>
        <p:spPr>
          <a:xfrm>
            <a:off x="2667000" y="3450717"/>
            <a:ext cx="138365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设用户A和B协商获得密钥数据的长度为klen bit，用户A为发起方，用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31-line2"/>
          <p:cNvSpPr>
            <a:spLocks noGrp="1"/>
          </p:cNvSpPr>
          <p:nvPr/>
        </p:nvSpPr>
        <p:spPr>
          <a:xfrm>
            <a:off x="1752600" y="4161663"/>
            <a:ext cx="1425606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户B为响应方。用户A和B双方为了获得相同的密钥，应实现如下运算步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31-line3"/>
          <p:cNvSpPr>
            <a:spLocks noGrp="1"/>
          </p:cNvSpPr>
          <p:nvPr/>
        </p:nvSpPr>
        <p:spPr>
          <a:xfrm>
            <a:off x="1752600" y="487260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32-line1"/>
          <p:cNvSpPr>
            <a:spLocks noGrp="1"/>
          </p:cNvSpPr>
          <p:nvPr/>
        </p:nvSpPr>
        <p:spPr>
          <a:xfrm>
            <a:off x="2667000" y="581672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3">
            <a:clrChange>
              <a:clrFrom>
                <a:srgbClr val="FFFFFF"/>
              </a:clrFrom>
              <a:clrTo>
                <a:srgbClr val="FFFFFF">
                  <a:alpha val="0"/>
                </a:srgbClr>
              </a:clrTo>
            </a:clrChange>
          </a:blip>
          <a:stretch>
            <a:fillRect/>
          </a:stretch>
        </p:blipFill>
        <p:spPr>
          <a:xfrm>
            <a:off x="3260077" y="5697855"/>
            <a:ext cx="3965510" cy="777240"/>
          </a:xfrm>
          <a:prstGeom prst="rect">
            <a:avLst/>
          </a:prstGeom>
        </p:spPr>
      </p:pic>
      <p:sp>
        <p:nvSpPr>
          <p:cNvPr id="20" name="p232-line1"/>
          <p:cNvSpPr>
            <a:spLocks noGrp="1"/>
          </p:cNvSpPr>
          <p:nvPr/>
        </p:nvSpPr>
        <p:spPr>
          <a:xfrm>
            <a:off x="7361464" y="581672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32-line1"/>
          <p:cNvSpPr>
            <a:spLocks noGrp="1"/>
          </p:cNvSpPr>
          <p:nvPr/>
        </p:nvSpPr>
        <p:spPr>
          <a:xfrm>
            <a:off x="7818664" y="5816727"/>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2" name="p232-line1"/>
          <p:cNvSpPr>
            <a:spLocks noGrp="1"/>
          </p:cNvSpPr>
          <p:nvPr/>
        </p:nvSpPr>
        <p:spPr>
          <a:xfrm>
            <a:off x="8047264" y="581672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32-line1"/>
          <p:cNvSpPr>
            <a:spLocks noGrp="1"/>
          </p:cNvSpPr>
          <p:nvPr/>
        </p:nvSpPr>
        <p:spPr>
          <a:xfrm>
            <a:off x="8504464" y="581672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4" name="p232-line1"/>
          <p:cNvSpPr>
            <a:spLocks noGrp="1"/>
          </p:cNvSpPr>
          <p:nvPr/>
        </p:nvSpPr>
        <p:spPr>
          <a:xfrm>
            <a:off x="8834601" y="5816727"/>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0" name="p235-line1"/>
          <p:cNvSpPr>
            <a:spLocks noGrp="1"/>
          </p:cNvSpPr>
          <p:nvPr/>
        </p:nvSpPr>
        <p:spPr>
          <a:xfrm>
            <a:off x="2131650" y="3246743"/>
            <a:ext cx="4502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第2步（A2）：计算群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35-line1"/>
          <p:cNvSpPr>
            <a:spLocks noGrp="1"/>
          </p:cNvSpPr>
          <p:nvPr/>
        </p:nvSpPr>
        <p:spPr>
          <a:xfrm>
            <a:off x="6576586" y="324674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 name="p235-line1-subscript"/>
          <p:cNvSpPr>
            <a:spLocks noGrp="1"/>
          </p:cNvSpPr>
          <p:nvPr/>
        </p:nvSpPr>
        <p:spPr>
          <a:xfrm>
            <a:off x="6906723" y="3383903"/>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35-line1"/>
          <p:cNvSpPr>
            <a:spLocks noGrp="1"/>
          </p:cNvSpPr>
          <p:nvPr/>
        </p:nvSpPr>
        <p:spPr>
          <a:xfrm>
            <a:off x="7057599" y="3246743"/>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3">
            <a:clrChange>
              <a:clrFrom>
                <a:srgbClr val="FFFFFF"/>
              </a:clrFrom>
              <a:clrTo>
                <a:srgbClr val="FFFFFF">
                  <a:alpha val="0"/>
                </a:srgbClr>
              </a:clrTo>
            </a:clrChange>
          </a:blip>
          <a:stretch>
            <a:fillRect/>
          </a:stretch>
        </p:blipFill>
        <p:spPr>
          <a:xfrm>
            <a:off x="8914974" y="3189123"/>
            <a:ext cx="3884023" cy="654735"/>
          </a:xfrm>
          <a:prstGeom prst="rect">
            <a:avLst/>
          </a:prstGeom>
        </p:spPr>
      </p:pic>
      <p:sp>
        <p:nvSpPr>
          <p:cNvPr id="17" name="p235-line1"/>
          <p:cNvSpPr>
            <a:spLocks noGrp="1"/>
          </p:cNvSpPr>
          <p:nvPr/>
        </p:nvSpPr>
        <p:spPr>
          <a:xfrm>
            <a:off x="12827572" y="3246743"/>
            <a:ext cx="6286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36-line1"/>
          <p:cNvSpPr>
            <a:spLocks noGrp="1"/>
          </p:cNvSpPr>
          <p:nvPr/>
        </p:nvSpPr>
        <p:spPr>
          <a:xfrm>
            <a:off x="2131650" y="4209584"/>
            <a:ext cx="3587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第3步（A3）：将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4">
            <a:clrChange>
              <a:clrFrom>
                <a:srgbClr val="FFFFFF"/>
              </a:clrFrom>
              <a:clrTo>
                <a:srgbClr val="FFFFFF">
                  <a:alpha val="0"/>
                </a:srgbClr>
              </a:clrTo>
            </a:clrChange>
          </a:blip>
          <a:stretch>
            <a:fillRect/>
          </a:stretch>
        </p:blipFill>
        <p:spPr>
          <a:xfrm>
            <a:off x="5690761" y="4140786"/>
            <a:ext cx="677091" cy="677091"/>
          </a:xfrm>
          <a:prstGeom prst="rect">
            <a:avLst/>
          </a:prstGeom>
        </p:spPr>
      </p:pic>
      <p:sp>
        <p:nvSpPr>
          <p:cNvPr id="20" name="p236-line1"/>
          <p:cNvSpPr>
            <a:spLocks noGrp="1"/>
          </p:cNvSpPr>
          <p:nvPr/>
        </p:nvSpPr>
        <p:spPr>
          <a:xfrm>
            <a:off x="6396428" y="4209584"/>
            <a:ext cx="3105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发送给用户B。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37-line1"/>
          <p:cNvSpPr>
            <a:spLocks noGrp="1"/>
          </p:cNvSpPr>
          <p:nvPr/>
        </p:nvSpPr>
        <p:spPr>
          <a:xfrm>
            <a:off x="2131650" y="5103628"/>
            <a:ext cx="1733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38-line1"/>
          <p:cNvSpPr>
            <a:spLocks noGrp="1"/>
          </p:cNvSpPr>
          <p:nvPr/>
        </p:nvSpPr>
        <p:spPr>
          <a:xfrm>
            <a:off x="2131650" y="5997672"/>
            <a:ext cx="5391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第1步（B1）：产生随机数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5">
            <a:clrChange>
              <a:clrFrom>
                <a:srgbClr val="FFFFFF"/>
              </a:clrFrom>
              <a:clrTo>
                <a:srgbClr val="FFFFFF">
                  <a:alpha val="0"/>
                </a:srgbClr>
              </a:clrTo>
            </a:clrChange>
          </a:blip>
          <a:stretch>
            <a:fillRect/>
          </a:stretch>
        </p:blipFill>
        <p:spPr>
          <a:xfrm>
            <a:off x="7494416" y="5944018"/>
            <a:ext cx="2457994" cy="646804"/>
          </a:xfrm>
          <a:prstGeom prst="rect">
            <a:avLst/>
          </a:prstGeom>
        </p:spPr>
      </p:pic>
      <p:sp>
        <p:nvSpPr>
          <p:cNvPr id="24" name="p238-line1"/>
          <p:cNvSpPr>
            <a:spLocks noGrp="1"/>
          </p:cNvSpPr>
          <p:nvPr/>
        </p:nvSpPr>
        <p:spPr>
          <a:xfrm>
            <a:off x="9980985" y="599767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39-line1"/>
          <p:cNvSpPr>
            <a:spLocks noGrp="1"/>
          </p:cNvSpPr>
          <p:nvPr/>
        </p:nvSpPr>
        <p:spPr>
          <a:xfrm>
            <a:off x="2131650" y="6960513"/>
            <a:ext cx="4476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第2步（B2）：计算群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39-line1"/>
          <p:cNvSpPr>
            <a:spLocks noGrp="1"/>
          </p:cNvSpPr>
          <p:nvPr/>
        </p:nvSpPr>
        <p:spPr>
          <a:xfrm>
            <a:off x="6551441" y="696051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7" name="p239-line1-subscript"/>
          <p:cNvSpPr>
            <a:spLocks noGrp="1"/>
          </p:cNvSpPr>
          <p:nvPr/>
        </p:nvSpPr>
        <p:spPr>
          <a:xfrm>
            <a:off x="6881577" y="7097673"/>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39-line1"/>
          <p:cNvSpPr>
            <a:spLocks noGrp="1"/>
          </p:cNvSpPr>
          <p:nvPr/>
        </p:nvSpPr>
        <p:spPr>
          <a:xfrm>
            <a:off x="7032453" y="6960513"/>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6">
            <a:clrChange>
              <a:clrFrom>
                <a:srgbClr val="FFFFFF"/>
              </a:clrFrom>
              <a:clrTo>
                <a:srgbClr val="FFFFFF">
                  <a:alpha val="0"/>
                </a:srgbClr>
              </a:clrTo>
            </a:clrChange>
          </a:blip>
          <a:stretch>
            <a:fillRect/>
          </a:stretch>
        </p:blipFill>
        <p:spPr>
          <a:xfrm>
            <a:off x="8889828" y="6906777"/>
            <a:ext cx="3884023" cy="646967"/>
          </a:xfrm>
          <a:prstGeom prst="rect">
            <a:avLst/>
          </a:prstGeom>
        </p:spPr>
      </p:pic>
      <p:sp>
        <p:nvSpPr>
          <p:cNvPr id="31" name="p239-line1"/>
          <p:cNvSpPr>
            <a:spLocks noGrp="1"/>
          </p:cNvSpPr>
          <p:nvPr/>
        </p:nvSpPr>
        <p:spPr>
          <a:xfrm>
            <a:off x="12802426" y="696051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40-line1"/>
          <p:cNvSpPr>
            <a:spLocks noGrp="1"/>
          </p:cNvSpPr>
          <p:nvPr/>
        </p:nvSpPr>
        <p:spPr>
          <a:xfrm>
            <a:off x="2131650" y="7937506"/>
            <a:ext cx="3562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第3步（B3）：从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3" name="图片 32"/>
          <p:cNvPicPr>
            <a:picLocks noChangeAspect="1"/>
          </p:cNvPicPr>
          <p:nvPr/>
        </p:nvPicPr>
        <p:blipFill>
          <a:blip r:embed="rId7">
            <a:clrChange>
              <a:clrFrom>
                <a:srgbClr val="FFFFFF"/>
              </a:clrFrom>
              <a:clrTo>
                <a:srgbClr val="FFFFFF">
                  <a:alpha val="0"/>
                </a:srgbClr>
              </a:clrTo>
            </a:clrChange>
          </a:blip>
          <a:stretch>
            <a:fillRect/>
          </a:stretch>
        </p:blipFill>
        <p:spPr>
          <a:xfrm>
            <a:off x="5667502" y="7868708"/>
            <a:ext cx="631952" cy="677091"/>
          </a:xfrm>
          <a:prstGeom prst="rect">
            <a:avLst/>
          </a:prstGeom>
        </p:spPr>
      </p:pic>
      <p:sp>
        <p:nvSpPr>
          <p:cNvPr id="34" name="p240-line1"/>
          <p:cNvSpPr>
            <a:spLocks noGrp="1"/>
          </p:cNvSpPr>
          <p:nvPr/>
        </p:nvSpPr>
        <p:spPr>
          <a:xfrm>
            <a:off x="6329916" y="7937506"/>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中取出域元素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8">
            <a:clrChange>
              <a:clrFrom>
                <a:srgbClr val="FFFFFF"/>
              </a:clrFrom>
              <a:clrTo>
                <a:srgbClr val="FFFFFF">
                  <a:alpha val="0"/>
                </a:srgbClr>
              </a:clrTo>
            </a:clrChange>
          </a:blip>
          <a:stretch>
            <a:fillRect/>
          </a:stretch>
        </p:blipFill>
        <p:spPr>
          <a:xfrm>
            <a:off x="9101691" y="7906536"/>
            <a:ext cx="481149" cy="601436"/>
          </a:xfrm>
          <a:prstGeom prst="rect">
            <a:avLst/>
          </a:prstGeom>
        </p:spPr>
      </p:pic>
      <p:sp>
        <p:nvSpPr>
          <p:cNvPr id="36" name="p240-line1"/>
          <p:cNvSpPr>
            <a:spLocks noGrp="1"/>
          </p:cNvSpPr>
          <p:nvPr/>
        </p:nvSpPr>
        <p:spPr>
          <a:xfrm>
            <a:off x="9611415" y="7937506"/>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7" name="图片 36"/>
          <p:cNvPicPr>
            <a:picLocks noChangeAspect="1"/>
          </p:cNvPicPr>
          <p:nvPr/>
        </p:nvPicPr>
        <p:blipFill>
          <a:blip r:embed="rId9">
            <a:clrChange>
              <a:clrFrom>
                <a:srgbClr val="FFFFFF"/>
              </a:clrFrom>
              <a:clrTo>
                <a:srgbClr val="FFFFFF">
                  <a:alpha val="0"/>
                </a:srgbClr>
              </a:clrTo>
            </a:clrChange>
          </a:blip>
          <a:stretch>
            <a:fillRect/>
          </a:stretch>
        </p:blipFill>
        <p:spPr>
          <a:xfrm>
            <a:off x="11011590" y="7862902"/>
            <a:ext cx="4221480" cy="688704"/>
          </a:xfrm>
          <a:prstGeom prst="rect">
            <a:avLst/>
          </a:prstGeom>
        </p:spPr>
      </p:pic>
      <p:sp>
        <p:nvSpPr>
          <p:cNvPr id="38" name="p240-line1"/>
          <p:cNvSpPr>
            <a:spLocks noGrp="1"/>
          </p:cNvSpPr>
          <p:nvPr/>
        </p:nvSpPr>
        <p:spPr>
          <a:xfrm>
            <a:off x="15261645" y="793750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241-line1"/>
          <p:cNvSpPr>
            <a:spLocks noGrp="1"/>
          </p:cNvSpPr>
          <p:nvPr/>
        </p:nvSpPr>
        <p:spPr>
          <a:xfrm>
            <a:off x="2131650" y="8914499"/>
            <a:ext cx="4019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第4步（B4）：计算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0" name="图片 39"/>
          <p:cNvPicPr>
            <a:picLocks noChangeAspect="1"/>
          </p:cNvPicPr>
          <p:nvPr/>
        </p:nvPicPr>
        <p:blipFill>
          <a:blip r:embed="rId10">
            <a:clrChange>
              <a:clrFrom>
                <a:srgbClr val="FFFFFF"/>
              </a:clrFrom>
              <a:clrTo>
                <a:srgbClr val="FFFFFF">
                  <a:alpha val="0"/>
                </a:srgbClr>
              </a:clrTo>
            </a:clrChange>
          </a:blip>
          <a:stretch>
            <a:fillRect/>
          </a:stretch>
        </p:blipFill>
        <p:spPr>
          <a:xfrm>
            <a:off x="6122816" y="8857601"/>
            <a:ext cx="4180114" cy="653292"/>
          </a:xfrm>
          <a:prstGeom prst="rect">
            <a:avLst/>
          </a:prstGeom>
        </p:spPr>
      </p:pic>
      <p:sp>
        <p:nvSpPr>
          <p:cNvPr id="41" name="p241-line1"/>
          <p:cNvSpPr>
            <a:spLocks noGrp="1"/>
          </p:cNvSpPr>
          <p:nvPr/>
        </p:nvSpPr>
        <p:spPr>
          <a:xfrm>
            <a:off x="10331505" y="891449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233-line1"/>
          <p:cNvSpPr>
            <a:spLocks noGrp="1"/>
          </p:cNvSpPr>
          <p:nvPr/>
        </p:nvSpPr>
        <p:spPr>
          <a:xfrm>
            <a:off x="2106505" y="1450815"/>
            <a:ext cx="1758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3" name="p234-line1"/>
          <p:cNvSpPr>
            <a:spLocks noGrp="1"/>
          </p:cNvSpPr>
          <p:nvPr/>
        </p:nvSpPr>
        <p:spPr>
          <a:xfrm>
            <a:off x="2106505" y="2344859"/>
            <a:ext cx="5416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第1步（A1）：产生随机数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4" name="图片 43"/>
          <p:cNvPicPr>
            <a:picLocks noChangeAspect="1"/>
          </p:cNvPicPr>
          <p:nvPr/>
        </p:nvPicPr>
        <p:blipFill>
          <a:blip r:embed="rId11">
            <a:clrChange>
              <a:clrFrom>
                <a:srgbClr val="FFFFFF"/>
              </a:clrFrom>
              <a:clrTo>
                <a:srgbClr val="FFFFFF">
                  <a:alpha val="0"/>
                </a:srgbClr>
              </a:clrTo>
            </a:clrChange>
          </a:blip>
          <a:stretch>
            <a:fillRect/>
          </a:stretch>
        </p:blipFill>
        <p:spPr>
          <a:xfrm>
            <a:off x="7494416" y="2285846"/>
            <a:ext cx="2542903" cy="657522"/>
          </a:xfrm>
          <a:prstGeom prst="rect">
            <a:avLst/>
          </a:prstGeom>
        </p:spPr>
      </p:pic>
      <p:sp>
        <p:nvSpPr>
          <p:cNvPr id="45" name="p234-line1"/>
          <p:cNvSpPr>
            <a:spLocks noGrp="1"/>
          </p:cNvSpPr>
          <p:nvPr/>
        </p:nvSpPr>
        <p:spPr>
          <a:xfrm>
            <a:off x="10065894" y="234485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5" name="p242-line1"/>
          <p:cNvSpPr>
            <a:spLocks noGrp="1"/>
          </p:cNvSpPr>
          <p:nvPr/>
        </p:nvSpPr>
        <p:spPr>
          <a:xfrm>
            <a:off x="2667000" y="1869023"/>
            <a:ext cx="4019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第5步（B5）：验证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6658166" y="1800225"/>
            <a:ext cx="677091" cy="677091"/>
          </a:xfrm>
          <a:prstGeom prst="rect">
            <a:avLst/>
          </a:prstGeom>
        </p:spPr>
      </p:pic>
      <p:sp>
        <p:nvSpPr>
          <p:cNvPr id="3" name="p242-line1"/>
          <p:cNvSpPr>
            <a:spLocks noGrp="1"/>
          </p:cNvSpPr>
          <p:nvPr/>
        </p:nvSpPr>
        <p:spPr>
          <a:xfrm>
            <a:off x="7363832" y="1869023"/>
            <a:ext cx="8743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是否满足椭圆曲线方程，若不满足则协商失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42-line2"/>
          <p:cNvSpPr>
            <a:spLocks noGrp="1"/>
          </p:cNvSpPr>
          <p:nvPr/>
        </p:nvSpPr>
        <p:spPr>
          <a:xfrm>
            <a:off x="1752600" y="271756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败；否则从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3">
            <a:clrChange>
              <a:clrFrom>
                <a:srgbClr val="FFFFFF"/>
              </a:clrFrom>
              <a:clrTo>
                <a:srgbClr val="FFFFFF">
                  <a:alpha val="0"/>
                </a:srgbClr>
              </a:clrTo>
            </a:clrChange>
          </a:blip>
          <a:stretch>
            <a:fillRect/>
          </a:stretch>
        </p:blipFill>
        <p:spPr>
          <a:xfrm>
            <a:off x="4067175" y="2648766"/>
            <a:ext cx="677091" cy="677091"/>
          </a:xfrm>
          <a:prstGeom prst="rect">
            <a:avLst/>
          </a:prstGeom>
        </p:spPr>
      </p:pic>
      <p:sp>
        <p:nvSpPr>
          <p:cNvPr id="17" name="p242-line2"/>
          <p:cNvSpPr>
            <a:spLocks noGrp="1"/>
          </p:cNvSpPr>
          <p:nvPr/>
        </p:nvSpPr>
        <p:spPr>
          <a:xfrm>
            <a:off x="4772841" y="2717564"/>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中取出域元素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4">
            <a:clrChange>
              <a:clrFrom>
                <a:srgbClr val="FFFFFF"/>
              </a:clrFrom>
              <a:clrTo>
                <a:srgbClr val="FFFFFF">
                  <a:alpha val="0"/>
                </a:srgbClr>
              </a:clrTo>
            </a:clrChange>
          </a:blip>
          <a:stretch>
            <a:fillRect/>
          </a:stretch>
        </p:blipFill>
        <p:spPr>
          <a:xfrm>
            <a:off x="7544616" y="2678554"/>
            <a:ext cx="452846" cy="617517"/>
          </a:xfrm>
          <a:prstGeom prst="rect">
            <a:avLst/>
          </a:prstGeom>
        </p:spPr>
      </p:pic>
      <p:sp>
        <p:nvSpPr>
          <p:cNvPr id="19" name="p242-line2"/>
          <p:cNvSpPr>
            <a:spLocks noGrp="1"/>
          </p:cNvSpPr>
          <p:nvPr/>
        </p:nvSpPr>
        <p:spPr>
          <a:xfrm>
            <a:off x="8026037" y="271756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4">
            <a:clrChange>
              <a:clrFrom>
                <a:srgbClr val="FFFFFF"/>
              </a:clrFrom>
              <a:clrTo>
                <a:srgbClr val="FFFFFF">
                  <a:alpha val="0"/>
                </a:srgbClr>
              </a:clrTo>
            </a:clrChange>
          </a:blip>
          <a:stretch>
            <a:fillRect/>
          </a:stretch>
        </p:blipFill>
        <p:spPr>
          <a:xfrm>
            <a:off x="8969012" y="2678554"/>
            <a:ext cx="452846" cy="617517"/>
          </a:xfrm>
          <a:prstGeom prst="rect">
            <a:avLst/>
          </a:prstGeom>
        </p:spPr>
      </p:pic>
      <p:sp>
        <p:nvSpPr>
          <p:cNvPr id="21" name="p242-line2"/>
          <p:cNvSpPr>
            <a:spLocks noGrp="1"/>
          </p:cNvSpPr>
          <p:nvPr/>
        </p:nvSpPr>
        <p:spPr>
          <a:xfrm>
            <a:off x="9450433" y="2717564"/>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转换为整数，计算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5">
            <a:clrChange>
              <a:clrFrom>
                <a:srgbClr val="FFFFFF"/>
              </a:clrFrom>
              <a:clrTo>
                <a:srgbClr val="FFFFFF">
                  <a:alpha val="0"/>
                </a:srgbClr>
              </a:clrTo>
            </a:clrChange>
          </a:blip>
          <a:stretch>
            <a:fillRect/>
          </a:stretch>
        </p:blipFill>
        <p:spPr>
          <a:xfrm>
            <a:off x="1781175" y="3501861"/>
            <a:ext cx="4180114" cy="696288"/>
          </a:xfrm>
          <a:prstGeom prst="rect">
            <a:avLst/>
          </a:prstGeom>
        </p:spPr>
      </p:pic>
      <p:sp>
        <p:nvSpPr>
          <p:cNvPr id="23" name="p242-line3"/>
          <p:cNvSpPr>
            <a:spLocks noGrp="1"/>
          </p:cNvSpPr>
          <p:nvPr/>
        </p:nvSpPr>
        <p:spPr>
          <a:xfrm>
            <a:off x="5989864" y="358025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43-line1"/>
          <p:cNvSpPr>
            <a:spLocks noGrp="1"/>
          </p:cNvSpPr>
          <p:nvPr/>
        </p:nvSpPr>
        <p:spPr>
          <a:xfrm>
            <a:off x="2667000" y="4557250"/>
            <a:ext cx="6305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第6步（B6）：计算椭圆曲线点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6">
            <a:clrChange>
              <a:clrFrom>
                <a:srgbClr val="FFFFFF"/>
              </a:clrFrom>
              <a:clrTo>
                <a:srgbClr val="FFFFFF">
                  <a:alpha val="0"/>
                </a:srgbClr>
              </a:clrTo>
            </a:clrChange>
          </a:blip>
          <a:stretch>
            <a:fillRect/>
          </a:stretch>
        </p:blipFill>
        <p:spPr>
          <a:xfrm>
            <a:off x="8944166" y="4503226"/>
            <a:ext cx="6043749" cy="647544"/>
          </a:xfrm>
          <a:prstGeom prst="rect">
            <a:avLst/>
          </a:prstGeom>
        </p:spPr>
      </p:pic>
      <p:sp>
        <p:nvSpPr>
          <p:cNvPr id="27" name="p243-line1"/>
          <p:cNvSpPr>
            <a:spLocks noGrp="1"/>
          </p:cNvSpPr>
          <p:nvPr/>
        </p:nvSpPr>
        <p:spPr>
          <a:xfrm>
            <a:off x="15016489" y="4557250"/>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43-line1"/>
          <p:cNvSpPr>
            <a:spLocks noGrp="1"/>
          </p:cNvSpPr>
          <p:nvPr/>
        </p:nvSpPr>
        <p:spPr>
          <a:xfrm>
            <a:off x="15930889" y="4557250"/>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V</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9" name="p243-line2"/>
          <p:cNvSpPr>
            <a:spLocks noGrp="1"/>
          </p:cNvSpPr>
          <p:nvPr/>
        </p:nvSpPr>
        <p:spPr>
          <a:xfrm>
            <a:off x="1752600" y="5405791"/>
            <a:ext cx="72201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是无穷远点，则B协商失败；否则将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7">
            <a:clrChange>
              <a:clrFrom>
                <a:srgbClr val="FFFFFF"/>
              </a:clrFrom>
              <a:clrTo>
                <a:srgbClr val="FFFFFF">
                  <a:alpha val="0"/>
                </a:srgbClr>
              </a:clrTo>
            </a:clrChange>
          </a:blip>
          <a:stretch>
            <a:fillRect/>
          </a:stretch>
        </p:blipFill>
        <p:spPr>
          <a:xfrm>
            <a:off x="8944166" y="5350224"/>
            <a:ext cx="563880" cy="650631"/>
          </a:xfrm>
          <a:prstGeom prst="rect">
            <a:avLst/>
          </a:prstGeom>
        </p:spPr>
      </p:pic>
      <p:sp>
        <p:nvSpPr>
          <p:cNvPr id="31" name="p243-line2"/>
          <p:cNvSpPr>
            <a:spLocks noGrp="1"/>
          </p:cNvSpPr>
          <p:nvPr/>
        </p:nvSpPr>
        <p:spPr>
          <a:xfrm>
            <a:off x="9536621" y="540579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8">
            <a:clrChange>
              <a:clrFrom>
                <a:srgbClr val="FFFFFF"/>
              </a:clrFrom>
              <a:clrTo>
                <a:srgbClr val="FFFFFF">
                  <a:alpha val="0"/>
                </a:srgbClr>
              </a:clrTo>
            </a:clrChange>
          </a:blip>
          <a:stretch>
            <a:fillRect/>
          </a:stretch>
        </p:blipFill>
        <p:spPr>
          <a:xfrm>
            <a:off x="10022396" y="5350224"/>
            <a:ext cx="563880" cy="650631"/>
          </a:xfrm>
          <a:prstGeom prst="rect">
            <a:avLst/>
          </a:prstGeom>
        </p:spPr>
      </p:pic>
      <p:sp>
        <p:nvSpPr>
          <p:cNvPr id="33" name="p243-line2"/>
          <p:cNvSpPr>
            <a:spLocks noGrp="1"/>
          </p:cNvSpPr>
          <p:nvPr/>
        </p:nvSpPr>
        <p:spPr>
          <a:xfrm>
            <a:off x="10614851" y="5405791"/>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数据转换为比特串。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244-line1"/>
          <p:cNvSpPr>
            <a:spLocks noGrp="1"/>
          </p:cNvSpPr>
          <p:nvPr/>
        </p:nvSpPr>
        <p:spPr>
          <a:xfrm>
            <a:off x="2667000" y="6368633"/>
            <a:ext cx="4019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第7步（B7）：计算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9">
            <a:clrChange>
              <a:clrFrom>
                <a:srgbClr val="FFFFFF"/>
              </a:clrFrom>
              <a:clrTo>
                <a:srgbClr val="FFFFFF">
                  <a:alpha val="0"/>
                </a:srgbClr>
              </a:clrTo>
            </a:clrChange>
          </a:blip>
          <a:stretch>
            <a:fillRect/>
          </a:stretch>
        </p:blipFill>
        <p:spPr>
          <a:xfrm>
            <a:off x="6658166" y="6313381"/>
            <a:ext cx="6115594" cy="650000"/>
          </a:xfrm>
          <a:prstGeom prst="rect">
            <a:avLst/>
          </a:prstGeom>
        </p:spPr>
      </p:pic>
      <p:sp>
        <p:nvSpPr>
          <p:cNvPr id="36" name="p244-line1"/>
          <p:cNvSpPr>
            <a:spLocks noGrp="1"/>
          </p:cNvSpPr>
          <p:nvPr/>
        </p:nvSpPr>
        <p:spPr>
          <a:xfrm>
            <a:off x="12802335" y="636863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35" name="p245-line1"/>
          <p:cNvSpPr>
            <a:spLocks noGrp="1"/>
          </p:cNvSpPr>
          <p:nvPr/>
        </p:nvSpPr>
        <p:spPr>
          <a:xfrm>
            <a:off x="2667000" y="1869023"/>
            <a:ext cx="3562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第8步（B8）：将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6200966" y="1800225"/>
            <a:ext cx="677091" cy="677091"/>
          </a:xfrm>
          <a:prstGeom prst="rect">
            <a:avLst/>
          </a:prstGeom>
        </p:spPr>
      </p:pic>
      <p:sp>
        <p:nvSpPr>
          <p:cNvPr id="3" name="p245-line1"/>
          <p:cNvSpPr>
            <a:spLocks noGrp="1"/>
          </p:cNvSpPr>
          <p:nvPr/>
        </p:nvSpPr>
        <p:spPr>
          <a:xfrm>
            <a:off x="6906632" y="186902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的坐标</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8306807" y="1830012"/>
            <a:ext cx="452846" cy="617517"/>
          </a:xfrm>
          <a:prstGeom prst="rect">
            <a:avLst/>
          </a:prstGeom>
        </p:spPr>
      </p:pic>
      <p:sp>
        <p:nvSpPr>
          <p:cNvPr id="10" name="p245-line1"/>
          <p:cNvSpPr>
            <a:spLocks noGrp="1"/>
          </p:cNvSpPr>
          <p:nvPr/>
        </p:nvSpPr>
        <p:spPr>
          <a:xfrm>
            <a:off x="8788228" y="186902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9274003" y="1830012"/>
            <a:ext cx="452846" cy="617517"/>
          </a:xfrm>
          <a:prstGeom prst="rect">
            <a:avLst/>
          </a:prstGeom>
        </p:spPr>
      </p:pic>
      <p:sp>
        <p:nvSpPr>
          <p:cNvPr id="18" name="p245-line1"/>
          <p:cNvSpPr>
            <a:spLocks noGrp="1"/>
          </p:cNvSpPr>
          <p:nvPr/>
        </p:nvSpPr>
        <p:spPr>
          <a:xfrm>
            <a:off x="9755423" y="186902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6">
            <a:clrChange>
              <a:clrFrom>
                <a:srgbClr val="FFFFFF"/>
              </a:clrFrom>
              <a:clrTo>
                <a:srgbClr val="FFFFFF">
                  <a:alpha val="0"/>
                </a:srgbClr>
              </a:clrTo>
            </a:clrChange>
          </a:blip>
          <a:stretch>
            <a:fillRect/>
          </a:stretch>
        </p:blipFill>
        <p:spPr>
          <a:xfrm>
            <a:off x="10243085" y="1800225"/>
            <a:ext cx="631952" cy="677091"/>
          </a:xfrm>
          <a:prstGeom prst="rect">
            <a:avLst/>
          </a:prstGeom>
        </p:spPr>
      </p:pic>
      <p:sp>
        <p:nvSpPr>
          <p:cNvPr id="20" name="p245-line1"/>
          <p:cNvSpPr>
            <a:spLocks noGrp="1"/>
          </p:cNvSpPr>
          <p:nvPr/>
        </p:nvSpPr>
        <p:spPr>
          <a:xfrm>
            <a:off x="10905499" y="186902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的坐标</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7">
            <a:clrChange>
              <a:clrFrom>
                <a:srgbClr val="FFFFFF"/>
              </a:clrFrom>
              <a:clrTo>
                <a:srgbClr val="FFFFFF">
                  <a:alpha val="0"/>
                </a:srgbClr>
              </a:clrTo>
            </a:clrChange>
          </a:blip>
          <a:stretch>
            <a:fillRect/>
          </a:stretch>
        </p:blipFill>
        <p:spPr>
          <a:xfrm>
            <a:off x="12305674" y="1838053"/>
            <a:ext cx="481149" cy="601436"/>
          </a:xfrm>
          <a:prstGeom prst="rect">
            <a:avLst/>
          </a:prstGeom>
        </p:spPr>
      </p:pic>
      <p:sp>
        <p:nvSpPr>
          <p:cNvPr id="22" name="p245-line1"/>
          <p:cNvSpPr>
            <a:spLocks noGrp="1"/>
          </p:cNvSpPr>
          <p:nvPr/>
        </p:nvSpPr>
        <p:spPr>
          <a:xfrm>
            <a:off x="12815398" y="186902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8">
            <a:clrChange>
              <a:clrFrom>
                <a:srgbClr val="FFFFFF"/>
              </a:clrFrom>
              <a:clrTo>
                <a:srgbClr val="FFFFFF">
                  <a:alpha val="0"/>
                </a:srgbClr>
              </a:clrTo>
            </a:clrChange>
          </a:blip>
          <a:stretch>
            <a:fillRect/>
          </a:stretch>
        </p:blipFill>
        <p:spPr>
          <a:xfrm>
            <a:off x="13301173" y="1838053"/>
            <a:ext cx="481149" cy="601436"/>
          </a:xfrm>
          <a:prstGeom prst="rect">
            <a:avLst/>
          </a:prstGeom>
        </p:spPr>
      </p:pic>
      <p:sp>
        <p:nvSpPr>
          <p:cNvPr id="24" name="p245-line1"/>
          <p:cNvSpPr>
            <a:spLocks noGrp="1"/>
          </p:cNvSpPr>
          <p:nvPr/>
        </p:nvSpPr>
        <p:spPr>
          <a:xfrm>
            <a:off x="13810896" y="1869023"/>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的数据类型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45-line2"/>
          <p:cNvSpPr>
            <a:spLocks noGrp="1"/>
          </p:cNvSpPr>
          <p:nvPr/>
        </p:nvSpPr>
        <p:spPr>
          <a:xfrm>
            <a:off x="1752600" y="2648766"/>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转换为比特串，计算选项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9">
            <a:clrChange>
              <a:clrFrom>
                <a:srgbClr val="FFFFFF"/>
              </a:clrFrom>
              <a:clrTo>
                <a:srgbClr val="FFFFFF">
                  <a:alpha val="0"/>
                </a:srgbClr>
              </a:clrTo>
            </a:clrChange>
          </a:blip>
          <a:stretch>
            <a:fillRect/>
          </a:stretch>
        </p:blipFill>
        <p:spPr>
          <a:xfrm>
            <a:off x="1781175" y="3372060"/>
            <a:ext cx="9927771" cy="652396"/>
          </a:xfrm>
          <a:prstGeom prst="rect">
            <a:avLst/>
          </a:prstGeom>
        </p:spPr>
      </p:pic>
      <p:sp>
        <p:nvSpPr>
          <p:cNvPr id="27" name="p245-line3"/>
          <p:cNvSpPr>
            <a:spLocks noGrp="1"/>
          </p:cNvSpPr>
          <p:nvPr/>
        </p:nvSpPr>
        <p:spPr>
          <a:xfrm>
            <a:off x="11737521" y="342851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46-line1"/>
          <p:cNvSpPr>
            <a:spLocks noGrp="1"/>
          </p:cNvSpPr>
          <p:nvPr/>
        </p:nvSpPr>
        <p:spPr>
          <a:xfrm>
            <a:off x="2667000" y="4391352"/>
            <a:ext cx="3562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第9步（B9）：将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6">
            <a:clrChange>
              <a:clrFrom>
                <a:srgbClr val="FFFFFF"/>
              </a:clrFrom>
              <a:clrTo>
                <a:srgbClr val="FFFFFF">
                  <a:alpha val="0"/>
                </a:srgbClr>
              </a:clrTo>
            </a:clrChange>
          </a:blip>
          <a:stretch>
            <a:fillRect/>
          </a:stretch>
        </p:blipFill>
        <p:spPr>
          <a:xfrm>
            <a:off x="6202852" y="4322554"/>
            <a:ext cx="631952" cy="677091"/>
          </a:xfrm>
          <a:prstGeom prst="rect">
            <a:avLst/>
          </a:prstGeom>
        </p:spPr>
      </p:pic>
      <p:sp>
        <p:nvSpPr>
          <p:cNvPr id="30" name="p246-line1"/>
          <p:cNvSpPr>
            <a:spLocks noGrp="1"/>
          </p:cNvSpPr>
          <p:nvPr/>
        </p:nvSpPr>
        <p:spPr>
          <a:xfrm>
            <a:off x="6865266" y="4391352"/>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、选项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1" name="图片 30"/>
          <p:cNvPicPr>
            <a:picLocks noChangeAspect="1"/>
          </p:cNvPicPr>
          <p:nvPr/>
        </p:nvPicPr>
        <p:blipFill>
          <a:blip r:embed="rId10">
            <a:clrChange>
              <a:clrFrom>
                <a:srgbClr val="FFFFFF"/>
              </a:clrFrom>
              <a:clrTo>
                <a:srgbClr val="FFFFFF">
                  <a:alpha val="0"/>
                </a:srgbClr>
              </a:clrTo>
            </a:clrChange>
          </a:blip>
          <a:stretch>
            <a:fillRect/>
          </a:stretch>
        </p:blipFill>
        <p:spPr>
          <a:xfrm>
            <a:off x="8265441" y="4335784"/>
            <a:ext cx="563880" cy="650631"/>
          </a:xfrm>
          <a:prstGeom prst="rect">
            <a:avLst/>
          </a:prstGeom>
        </p:spPr>
      </p:pic>
      <p:sp>
        <p:nvSpPr>
          <p:cNvPr id="32" name="p246-line1"/>
          <p:cNvSpPr>
            <a:spLocks noGrp="1"/>
          </p:cNvSpPr>
          <p:nvPr/>
        </p:nvSpPr>
        <p:spPr>
          <a:xfrm>
            <a:off x="8857896" y="4391352"/>
            <a:ext cx="313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发送给用户A。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36871" y="6291649"/>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220889"/>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5" name="p250-line1"/>
          <p:cNvSpPr>
            <a:spLocks noGrp="1"/>
          </p:cNvSpPr>
          <p:nvPr/>
        </p:nvSpPr>
        <p:spPr>
          <a:xfrm>
            <a:off x="2401658" y="4902565"/>
            <a:ext cx="4044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第6步（A6）：验证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6419856" y="4833767"/>
            <a:ext cx="631952" cy="677091"/>
          </a:xfrm>
          <a:prstGeom prst="rect">
            <a:avLst/>
          </a:prstGeom>
        </p:spPr>
      </p:pic>
      <p:sp>
        <p:nvSpPr>
          <p:cNvPr id="3" name="p250-line1"/>
          <p:cNvSpPr>
            <a:spLocks noGrp="1"/>
          </p:cNvSpPr>
          <p:nvPr/>
        </p:nvSpPr>
        <p:spPr>
          <a:xfrm>
            <a:off x="7082270" y="4902565"/>
            <a:ext cx="8743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是否满足椭圆曲线方程，若不满足则协商失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50-line2"/>
          <p:cNvSpPr>
            <a:spLocks noGrp="1"/>
          </p:cNvSpPr>
          <p:nvPr/>
        </p:nvSpPr>
        <p:spPr>
          <a:xfrm>
            <a:off x="1487258" y="5751106"/>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败；否则从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3">
            <a:clrChange>
              <a:clrFrom>
                <a:srgbClr val="FFFFFF"/>
              </a:clrFrom>
              <a:clrTo>
                <a:srgbClr val="FFFFFF">
                  <a:alpha val="0"/>
                </a:srgbClr>
              </a:clrTo>
            </a:clrChange>
          </a:blip>
          <a:stretch>
            <a:fillRect/>
          </a:stretch>
        </p:blipFill>
        <p:spPr>
          <a:xfrm>
            <a:off x="3803720" y="5682308"/>
            <a:ext cx="631952" cy="677091"/>
          </a:xfrm>
          <a:prstGeom prst="rect">
            <a:avLst/>
          </a:prstGeom>
        </p:spPr>
      </p:pic>
      <p:sp>
        <p:nvSpPr>
          <p:cNvPr id="17" name="p250-line2"/>
          <p:cNvSpPr>
            <a:spLocks noGrp="1"/>
          </p:cNvSpPr>
          <p:nvPr/>
        </p:nvSpPr>
        <p:spPr>
          <a:xfrm>
            <a:off x="4466134" y="5751106"/>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中取出域元素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4">
            <a:clrChange>
              <a:clrFrom>
                <a:srgbClr val="FFFFFF"/>
              </a:clrFrom>
              <a:clrTo>
                <a:srgbClr val="FFFFFF">
                  <a:alpha val="0"/>
                </a:srgbClr>
              </a:clrTo>
            </a:clrChange>
          </a:blip>
          <a:stretch>
            <a:fillRect/>
          </a:stretch>
        </p:blipFill>
        <p:spPr>
          <a:xfrm>
            <a:off x="7237909" y="5720136"/>
            <a:ext cx="481149" cy="601436"/>
          </a:xfrm>
          <a:prstGeom prst="rect">
            <a:avLst/>
          </a:prstGeom>
        </p:spPr>
      </p:pic>
      <p:sp>
        <p:nvSpPr>
          <p:cNvPr id="19" name="p250-line2"/>
          <p:cNvSpPr>
            <a:spLocks noGrp="1"/>
          </p:cNvSpPr>
          <p:nvPr/>
        </p:nvSpPr>
        <p:spPr>
          <a:xfrm>
            <a:off x="7747632" y="5751106"/>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4">
            <a:clrChange>
              <a:clrFrom>
                <a:srgbClr val="FFFFFF"/>
              </a:clrFrom>
              <a:clrTo>
                <a:srgbClr val="FFFFFF">
                  <a:alpha val="0"/>
                </a:srgbClr>
              </a:clrTo>
            </a:clrChange>
          </a:blip>
          <a:stretch>
            <a:fillRect/>
          </a:stretch>
        </p:blipFill>
        <p:spPr>
          <a:xfrm>
            <a:off x="8690607" y="5720136"/>
            <a:ext cx="481149" cy="601436"/>
          </a:xfrm>
          <a:prstGeom prst="rect">
            <a:avLst/>
          </a:prstGeom>
        </p:spPr>
      </p:pic>
      <p:sp>
        <p:nvSpPr>
          <p:cNvPr id="21" name="p250-line2"/>
          <p:cNvSpPr>
            <a:spLocks noGrp="1"/>
          </p:cNvSpPr>
          <p:nvPr/>
        </p:nvSpPr>
        <p:spPr>
          <a:xfrm>
            <a:off x="9200331" y="5751106"/>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转换为整数，计算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5">
            <a:clrChange>
              <a:clrFrom>
                <a:srgbClr val="FFFFFF"/>
              </a:clrFrom>
              <a:clrTo>
                <a:srgbClr val="FFFFFF">
                  <a:alpha val="0"/>
                </a:srgbClr>
              </a:clrTo>
            </a:clrChange>
          </a:blip>
          <a:stretch>
            <a:fillRect/>
          </a:stretch>
        </p:blipFill>
        <p:spPr>
          <a:xfrm>
            <a:off x="1515833" y="6533056"/>
            <a:ext cx="4334691" cy="700982"/>
          </a:xfrm>
          <a:prstGeom prst="rect">
            <a:avLst/>
          </a:prstGeom>
        </p:spPr>
      </p:pic>
      <p:sp>
        <p:nvSpPr>
          <p:cNvPr id="23" name="p250-line3"/>
          <p:cNvSpPr>
            <a:spLocks noGrp="1"/>
          </p:cNvSpPr>
          <p:nvPr/>
        </p:nvSpPr>
        <p:spPr>
          <a:xfrm>
            <a:off x="5879099" y="661379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51-line1"/>
          <p:cNvSpPr>
            <a:spLocks noGrp="1"/>
          </p:cNvSpPr>
          <p:nvPr/>
        </p:nvSpPr>
        <p:spPr>
          <a:xfrm>
            <a:off x="2401658" y="7590792"/>
            <a:ext cx="6330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第7步（A7）：计算椭圆曲线点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6">
            <a:clrChange>
              <a:clrFrom>
                <a:srgbClr val="FFFFFF"/>
              </a:clrFrom>
              <a:clrTo>
                <a:srgbClr val="FFFFFF">
                  <a:alpha val="0"/>
                </a:srgbClr>
              </a:clrTo>
            </a:clrChange>
          </a:blip>
          <a:stretch>
            <a:fillRect/>
          </a:stretch>
        </p:blipFill>
        <p:spPr>
          <a:xfrm>
            <a:off x="8703969" y="7532680"/>
            <a:ext cx="6339840" cy="655721"/>
          </a:xfrm>
          <a:prstGeom prst="rect">
            <a:avLst/>
          </a:prstGeom>
        </p:spPr>
      </p:pic>
      <p:sp>
        <p:nvSpPr>
          <p:cNvPr id="27" name="p251-line1"/>
          <p:cNvSpPr>
            <a:spLocks noGrp="1"/>
          </p:cNvSpPr>
          <p:nvPr/>
        </p:nvSpPr>
        <p:spPr>
          <a:xfrm>
            <a:off x="15072384" y="7590792"/>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51-line2"/>
          <p:cNvSpPr>
            <a:spLocks noGrp="1"/>
          </p:cNvSpPr>
          <p:nvPr/>
        </p:nvSpPr>
        <p:spPr>
          <a:xfrm>
            <a:off x="1487258" y="843933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U</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9" name="p251-line2"/>
          <p:cNvSpPr>
            <a:spLocks noGrp="1"/>
          </p:cNvSpPr>
          <p:nvPr/>
        </p:nvSpPr>
        <p:spPr>
          <a:xfrm>
            <a:off x="1817394" y="8439333"/>
            <a:ext cx="72452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是无穷远点，则A协商失败；否则将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7">
            <a:clrChange>
              <a:clrFrom>
                <a:srgbClr val="FFFFFF"/>
              </a:clrFrom>
              <a:clrTo>
                <a:srgbClr val="FFFFFF">
                  <a:alpha val="0"/>
                </a:srgbClr>
              </a:clrTo>
            </a:clrChange>
          </a:blip>
          <a:stretch>
            <a:fillRect/>
          </a:stretch>
        </p:blipFill>
        <p:spPr>
          <a:xfrm>
            <a:off x="9034106" y="8383766"/>
            <a:ext cx="563880" cy="650631"/>
          </a:xfrm>
          <a:prstGeom prst="rect">
            <a:avLst/>
          </a:prstGeom>
        </p:spPr>
      </p:pic>
      <p:sp>
        <p:nvSpPr>
          <p:cNvPr id="31" name="p251-line2"/>
          <p:cNvSpPr>
            <a:spLocks noGrp="1"/>
          </p:cNvSpPr>
          <p:nvPr/>
        </p:nvSpPr>
        <p:spPr>
          <a:xfrm>
            <a:off x="9626561" y="843933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8">
            <a:clrChange>
              <a:clrFrom>
                <a:srgbClr val="FFFFFF"/>
              </a:clrFrom>
              <a:clrTo>
                <a:srgbClr val="FFFFFF">
                  <a:alpha val="0"/>
                </a:srgbClr>
              </a:clrTo>
            </a:clrChange>
          </a:blip>
          <a:stretch>
            <a:fillRect/>
          </a:stretch>
        </p:blipFill>
        <p:spPr>
          <a:xfrm>
            <a:off x="10114223" y="8370536"/>
            <a:ext cx="631952" cy="677091"/>
          </a:xfrm>
          <a:prstGeom prst="rect">
            <a:avLst/>
          </a:prstGeom>
        </p:spPr>
      </p:pic>
      <p:sp>
        <p:nvSpPr>
          <p:cNvPr id="33" name="p251-line2"/>
          <p:cNvSpPr>
            <a:spLocks noGrp="1"/>
          </p:cNvSpPr>
          <p:nvPr/>
        </p:nvSpPr>
        <p:spPr>
          <a:xfrm>
            <a:off x="10776637" y="8439333"/>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数据转换为比特串。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252-line1"/>
          <p:cNvSpPr>
            <a:spLocks noGrp="1"/>
          </p:cNvSpPr>
          <p:nvPr/>
        </p:nvSpPr>
        <p:spPr>
          <a:xfrm>
            <a:off x="2460689" y="9256941"/>
            <a:ext cx="4044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第8步（A8）：计算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9">
            <a:clrChange>
              <a:clrFrom>
                <a:srgbClr val="FFFFFF"/>
              </a:clrFrom>
              <a:clrTo>
                <a:srgbClr val="FFFFFF">
                  <a:alpha val="0"/>
                </a:srgbClr>
              </a:clrTo>
            </a:clrChange>
          </a:blip>
          <a:stretch>
            <a:fillRect/>
          </a:stretch>
        </p:blipFill>
        <p:spPr>
          <a:xfrm>
            <a:off x="6477000" y="9201605"/>
            <a:ext cx="6200503" cy="650167"/>
          </a:xfrm>
          <a:prstGeom prst="rect">
            <a:avLst/>
          </a:prstGeom>
        </p:spPr>
      </p:pic>
      <p:sp>
        <p:nvSpPr>
          <p:cNvPr id="36" name="p252-line1"/>
          <p:cNvSpPr>
            <a:spLocks noGrp="1"/>
          </p:cNvSpPr>
          <p:nvPr/>
        </p:nvSpPr>
        <p:spPr>
          <a:xfrm>
            <a:off x="12706078" y="925694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0" name="p247-line1"/>
          <p:cNvSpPr>
            <a:spLocks noGrp="1"/>
          </p:cNvSpPr>
          <p:nvPr/>
        </p:nvSpPr>
        <p:spPr>
          <a:xfrm>
            <a:off x="2383310" y="1482575"/>
            <a:ext cx="1758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用户A</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51" name="p248-line1"/>
          <p:cNvSpPr>
            <a:spLocks noGrp="1"/>
          </p:cNvSpPr>
          <p:nvPr/>
        </p:nvSpPr>
        <p:spPr>
          <a:xfrm>
            <a:off x="2383310" y="2376619"/>
            <a:ext cx="3587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第4步（A4）：从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2" name="图片 51"/>
          <p:cNvPicPr>
            <a:picLocks noChangeAspect="1"/>
          </p:cNvPicPr>
          <p:nvPr/>
        </p:nvPicPr>
        <p:blipFill>
          <a:blip r:embed="rId10">
            <a:clrChange>
              <a:clrFrom>
                <a:srgbClr val="FFFFFF"/>
              </a:clrFrom>
              <a:clrTo>
                <a:srgbClr val="FFFFFF">
                  <a:alpha val="0"/>
                </a:srgbClr>
              </a:clrTo>
            </a:clrChange>
          </a:blip>
          <a:stretch>
            <a:fillRect/>
          </a:stretch>
        </p:blipFill>
        <p:spPr>
          <a:xfrm>
            <a:off x="5942421" y="2307821"/>
            <a:ext cx="677091" cy="677091"/>
          </a:xfrm>
          <a:prstGeom prst="rect">
            <a:avLst/>
          </a:prstGeom>
        </p:spPr>
      </p:pic>
      <p:sp>
        <p:nvSpPr>
          <p:cNvPr id="53" name="p248-line1"/>
          <p:cNvSpPr>
            <a:spLocks noGrp="1"/>
          </p:cNvSpPr>
          <p:nvPr/>
        </p:nvSpPr>
        <p:spPr>
          <a:xfrm>
            <a:off x="6648088" y="2376619"/>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中取出域元素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4" name="图片 53"/>
          <p:cNvPicPr>
            <a:picLocks noChangeAspect="1"/>
          </p:cNvPicPr>
          <p:nvPr/>
        </p:nvPicPr>
        <p:blipFill>
          <a:blip r:embed="rId11">
            <a:clrChange>
              <a:clrFrom>
                <a:srgbClr val="FFFFFF"/>
              </a:clrFrom>
              <a:clrTo>
                <a:srgbClr val="FFFFFF">
                  <a:alpha val="0"/>
                </a:srgbClr>
              </a:clrTo>
            </a:clrChange>
          </a:blip>
          <a:stretch>
            <a:fillRect/>
          </a:stretch>
        </p:blipFill>
        <p:spPr>
          <a:xfrm>
            <a:off x="9419863" y="2337609"/>
            <a:ext cx="452846" cy="617517"/>
          </a:xfrm>
          <a:prstGeom prst="rect">
            <a:avLst/>
          </a:prstGeom>
        </p:spPr>
      </p:pic>
      <p:sp>
        <p:nvSpPr>
          <p:cNvPr id="55" name="p248-line1"/>
          <p:cNvSpPr>
            <a:spLocks noGrp="1"/>
          </p:cNvSpPr>
          <p:nvPr/>
        </p:nvSpPr>
        <p:spPr>
          <a:xfrm>
            <a:off x="9901284" y="237661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6" name="图片 55"/>
          <p:cNvPicPr>
            <a:picLocks noChangeAspect="1"/>
          </p:cNvPicPr>
          <p:nvPr/>
        </p:nvPicPr>
        <p:blipFill>
          <a:blip r:embed="rId11">
            <a:clrChange>
              <a:clrFrom>
                <a:srgbClr val="FFFFFF"/>
              </a:clrFrom>
              <a:clrTo>
                <a:srgbClr val="FFFFFF">
                  <a:alpha val="0"/>
                </a:srgbClr>
              </a:clrTo>
            </a:clrChange>
          </a:blip>
          <a:stretch>
            <a:fillRect/>
          </a:stretch>
        </p:blipFill>
        <p:spPr>
          <a:xfrm>
            <a:off x="10844259" y="2337609"/>
            <a:ext cx="452846" cy="617517"/>
          </a:xfrm>
          <a:prstGeom prst="rect">
            <a:avLst/>
          </a:prstGeom>
        </p:spPr>
      </p:pic>
      <p:sp>
        <p:nvSpPr>
          <p:cNvPr id="57" name="p248-line1"/>
          <p:cNvSpPr>
            <a:spLocks noGrp="1"/>
          </p:cNvSpPr>
          <p:nvPr/>
        </p:nvSpPr>
        <p:spPr>
          <a:xfrm>
            <a:off x="11325679" y="2376619"/>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转换为整数，计算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8" name="图片 57"/>
          <p:cNvPicPr>
            <a:picLocks noChangeAspect="1"/>
          </p:cNvPicPr>
          <p:nvPr/>
        </p:nvPicPr>
        <p:blipFill>
          <a:blip r:embed="rId12">
            <a:clrChange>
              <a:clrFrom>
                <a:srgbClr val="FFFFFF"/>
              </a:clrFrom>
              <a:clrTo>
                <a:srgbClr val="FFFFFF">
                  <a:alpha val="0"/>
                </a:srgbClr>
              </a:clrTo>
            </a:clrChange>
          </a:blip>
          <a:stretch>
            <a:fillRect/>
          </a:stretch>
        </p:blipFill>
        <p:spPr>
          <a:xfrm>
            <a:off x="1497485" y="3160916"/>
            <a:ext cx="4180114" cy="696288"/>
          </a:xfrm>
          <a:prstGeom prst="rect">
            <a:avLst/>
          </a:prstGeom>
        </p:spPr>
      </p:pic>
      <p:sp>
        <p:nvSpPr>
          <p:cNvPr id="59" name="p248-line2"/>
          <p:cNvSpPr>
            <a:spLocks noGrp="1"/>
          </p:cNvSpPr>
          <p:nvPr/>
        </p:nvSpPr>
        <p:spPr>
          <a:xfrm>
            <a:off x="5706174" y="323931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60" name="p249-line1"/>
          <p:cNvSpPr>
            <a:spLocks noGrp="1"/>
          </p:cNvSpPr>
          <p:nvPr/>
        </p:nvSpPr>
        <p:spPr>
          <a:xfrm>
            <a:off x="2383310" y="4053982"/>
            <a:ext cx="4044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第5步（A5）：计算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61" name="图片 60"/>
          <p:cNvPicPr>
            <a:picLocks noChangeAspect="1"/>
          </p:cNvPicPr>
          <p:nvPr/>
        </p:nvPicPr>
        <p:blipFill>
          <a:blip r:embed="rId13">
            <a:clrChange>
              <a:clrFrom>
                <a:srgbClr val="FFFFFF"/>
              </a:clrFrom>
              <a:clrTo>
                <a:srgbClr val="FFFFFF">
                  <a:alpha val="0"/>
                </a:srgbClr>
              </a:clrTo>
            </a:clrChange>
          </a:blip>
          <a:stretch>
            <a:fillRect/>
          </a:stretch>
        </p:blipFill>
        <p:spPr>
          <a:xfrm>
            <a:off x="6399621" y="4000667"/>
            <a:ext cx="4180114" cy="646126"/>
          </a:xfrm>
          <a:prstGeom prst="rect">
            <a:avLst/>
          </a:prstGeom>
        </p:spPr>
      </p:pic>
      <p:sp>
        <p:nvSpPr>
          <p:cNvPr id="62" name="p249-line1"/>
          <p:cNvSpPr>
            <a:spLocks noGrp="1"/>
          </p:cNvSpPr>
          <p:nvPr/>
        </p:nvSpPr>
        <p:spPr>
          <a:xfrm>
            <a:off x="10608311" y="405398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6" name="p253-line1"/>
          <p:cNvSpPr>
            <a:spLocks noGrp="1"/>
          </p:cNvSpPr>
          <p:nvPr/>
        </p:nvSpPr>
        <p:spPr>
          <a:xfrm>
            <a:off x="2667000" y="1869023"/>
            <a:ext cx="4502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第9步（A9）：选项将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7140511" y="1800225"/>
            <a:ext cx="677091" cy="677091"/>
          </a:xfrm>
          <a:prstGeom prst="rect">
            <a:avLst/>
          </a:prstGeom>
        </p:spPr>
      </p:pic>
      <p:sp>
        <p:nvSpPr>
          <p:cNvPr id="3" name="p253-line1"/>
          <p:cNvSpPr>
            <a:spLocks noGrp="1"/>
          </p:cNvSpPr>
          <p:nvPr/>
        </p:nvSpPr>
        <p:spPr>
          <a:xfrm>
            <a:off x="7846178" y="186902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的坐标</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9246353" y="1830012"/>
            <a:ext cx="452846" cy="617517"/>
          </a:xfrm>
          <a:prstGeom prst="rect">
            <a:avLst/>
          </a:prstGeom>
        </p:spPr>
      </p:pic>
      <p:sp>
        <p:nvSpPr>
          <p:cNvPr id="10" name="p253-line1"/>
          <p:cNvSpPr>
            <a:spLocks noGrp="1"/>
          </p:cNvSpPr>
          <p:nvPr/>
        </p:nvSpPr>
        <p:spPr>
          <a:xfrm>
            <a:off x="9727774" y="186902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10213549" y="1830012"/>
            <a:ext cx="452846" cy="617517"/>
          </a:xfrm>
          <a:prstGeom prst="rect">
            <a:avLst/>
          </a:prstGeom>
        </p:spPr>
      </p:pic>
      <p:sp>
        <p:nvSpPr>
          <p:cNvPr id="18" name="p253-line1"/>
          <p:cNvSpPr>
            <a:spLocks noGrp="1"/>
          </p:cNvSpPr>
          <p:nvPr/>
        </p:nvSpPr>
        <p:spPr>
          <a:xfrm>
            <a:off x="10694969" y="186902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6">
            <a:clrChange>
              <a:clrFrom>
                <a:srgbClr val="FFFFFF"/>
              </a:clrFrom>
              <a:clrTo>
                <a:srgbClr val="FFFFFF">
                  <a:alpha val="0"/>
                </a:srgbClr>
              </a:clrTo>
            </a:clrChange>
          </a:blip>
          <a:stretch>
            <a:fillRect/>
          </a:stretch>
        </p:blipFill>
        <p:spPr>
          <a:xfrm>
            <a:off x="11182631" y="1800225"/>
            <a:ext cx="631952" cy="677091"/>
          </a:xfrm>
          <a:prstGeom prst="rect">
            <a:avLst/>
          </a:prstGeom>
        </p:spPr>
      </p:pic>
      <p:sp>
        <p:nvSpPr>
          <p:cNvPr id="20" name="p253-line1"/>
          <p:cNvSpPr>
            <a:spLocks noGrp="1"/>
          </p:cNvSpPr>
          <p:nvPr/>
        </p:nvSpPr>
        <p:spPr>
          <a:xfrm>
            <a:off x="11845045" y="186902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的坐标</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7">
            <a:clrChange>
              <a:clrFrom>
                <a:srgbClr val="FFFFFF"/>
              </a:clrFrom>
              <a:clrTo>
                <a:srgbClr val="FFFFFF">
                  <a:alpha val="0"/>
                </a:srgbClr>
              </a:clrTo>
            </a:clrChange>
          </a:blip>
          <a:stretch>
            <a:fillRect/>
          </a:stretch>
        </p:blipFill>
        <p:spPr>
          <a:xfrm>
            <a:off x="13245220" y="1838053"/>
            <a:ext cx="481149" cy="601436"/>
          </a:xfrm>
          <a:prstGeom prst="rect">
            <a:avLst/>
          </a:prstGeom>
        </p:spPr>
      </p:pic>
      <p:sp>
        <p:nvSpPr>
          <p:cNvPr id="22" name="p253-line1"/>
          <p:cNvSpPr>
            <a:spLocks noGrp="1"/>
          </p:cNvSpPr>
          <p:nvPr/>
        </p:nvSpPr>
        <p:spPr>
          <a:xfrm>
            <a:off x="13754944" y="186902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8">
            <a:clrChange>
              <a:clrFrom>
                <a:srgbClr val="FFFFFF"/>
              </a:clrFrom>
              <a:clrTo>
                <a:srgbClr val="FFFFFF">
                  <a:alpha val="0"/>
                </a:srgbClr>
              </a:clrTo>
            </a:clrChange>
          </a:blip>
          <a:stretch>
            <a:fillRect/>
          </a:stretch>
        </p:blipFill>
        <p:spPr>
          <a:xfrm>
            <a:off x="14240719" y="1838053"/>
            <a:ext cx="481149" cy="601436"/>
          </a:xfrm>
          <a:prstGeom prst="rect">
            <a:avLst/>
          </a:prstGeom>
        </p:spPr>
      </p:pic>
      <p:sp>
        <p:nvSpPr>
          <p:cNvPr id="24" name="p253-line1"/>
          <p:cNvSpPr>
            <a:spLocks noGrp="1"/>
          </p:cNvSpPr>
          <p:nvPr/>
        </p:nvSpPr>
        <p:spPr>
          <a:xfrm>
            <a:off x="14750442" y="186902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的数据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53-line2"/>
          <p:cNvSpPr>
            <a:spLocks noGrp="1"/>
          </p:cNvSpPr>
          <p:nvPr/>
        </p:nvSpPr>
        <p:spPr>
          <a:xfrm>
            <a:off x="1752600" y="2648766"/>
            <a:ext cx="6000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类型转换为比特串，计算选项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9">
            <a:clrChange>
              <a:clrFrom>
                <a:srgbClr val="FFFFFF"/>
              </a:clrFrom>
              <a:clrTo>
                <a:srgbClr val="FFFFFF">
                  <a:alpha val="0"/>
                </a:srgbClr>
              </a:clrTo>
            </a:clrChange>
          </a:blip>
          <a:stretch>
            <a:fillRect/>
          </a:stretch>
        </p:blipFill>
        <p:spPr>
          <a:xfrm>
            <a:off x="1781175" y="3372941"/>
            <a:ext cx="9858103" cy="650635"/>
          </a:xfrm>
          <a:prstGeom prst="rect">
            <a:avLst/>
          </a:prstGeom>
        </p:spPr>
      </p:pic>
      <p:sp>
        <p:nvSpPr>
          <p:cNvPr id="28" name="p253-line3"/>
          <p:cNvSpPr>
            <a:spLocks noGrp="1"/>
          </p:cNvSpPr>
          <p:nvPr/>
        </p:nvSpPr>
        <p:spPr>
          <a:xfrm>
            <a:off x="11667853" y="3428510"/>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10">
            <a:clrChange>
              <a:clrFrom>
                <a:srgbClr val="FFFFFF"/>
              </a:clrFrom>
              <a:clrTo>
                <a:srgbClr val="FFFFFF">
                  <a:alpha val="0"/>
                </a:srgbClr>
              </a:clrTo>
            </a:clrChange>
          </a:blip>
          <a:stretch>
            <a:fillRect/>
          </a:stretch>
        </p:blipFill>
        <p:spPr>
          <a:xfrm>
            <a:off x="13525228" y="3373654"/>
            <a:ext cx="1384663" cy="649209"/>
          </a:xfrm>
          <a:prstGeom prst="rect">
            <a:avLst/>
          </a:prstGeom>
        </p:spPr>
      </p:pic>
      <p:sp>
        <p:nvSpPr>
          <p:cNvPr id="30" name="p253-line3"/>
          <p:cNvSpPr>
            <a:spLocks noGrp="1"/>
          </p:cNvSpPr>
          <p:nvPr/>
        </p:nvSpPr>
        <p:spPr>
          <a:xfrm>
            <a:off x="14938466" y="3428510"/>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是否成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53-line4"/>
          <p:cNvSpPr>
            <a:spLocks noGrp="1"/>
          </p:cNvSpPr>
          <p:nvPr/>
        </p:nvSpPr>
        <p:spPr>
          <a:xfrm>
            <a:off x="1752600" y="4208254"/>
            <a:ext cx="9379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立，若等式不成立则从B到A的密钥确认失败。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54-line1"/>
          <p:cNvSpPr>
            <a:spLocks noGrp="1"/>
          </p:cNvSpPr>
          <p:nvPr/>
        </p:nvSpPr>
        <p:spPr>
          <a:xfrm>
            <a:off x="2667000" y="5033500"/>
            <a:ext cx="5416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第10步（A10）：计算选项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3" name="图片 32"/>
          <p:cNvPicPr>
            <a:picLocks noChangeAspect="1"/>
          </p:cNvPicPr>
          <p:nvPr/>
        </p:nvPicPr>
        <p:blipFill>
          <a:blip r:embed="rId11">
            <a:clrChange>
              <a:clrFrom>
                <a:srgbClr val="FFFFFF"/>
              </a:clrFrom>
              <a:clrTo>
                <a:srgbClr val="FFFFFF">
                  <a:alpha val="0"/>
                </a:srgbClr>
              </a:clrTo>
            </a:clrChange>
          </a:blip>
          <a:stretch>
            <a:fillRect/>
          </a:stretch>
        </p:blipFill>
        <p:spPr>
          <a:xfrm>
            <a:off x="1781175" y="5756793"/>
            <a:ext cx="9927771" cy="652396"/>
          </a:xfrm>
          <a:prstGeom prst="rect">
            <a:avLst/>
          </a:prstGeom>
        </p:spPr>
      </p:pic>
      <p:sp>
        <p:nvSpPr>
          <p:cNvPr id="34" name="p254-line2"/>
          <p:cNvSpPr>
            <a:spLocks noGrp="1"/>
          </p:cNvSpPr>
          <p:nvPr/>
        </p:nvSpPr>
        <p:spPr>
          <a:xfrm>
            <a:off x="11737521" y="581324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12">
            <a:clrChange>
              <a:clrFrom>
                <a:srgbClr val="FFFFFF"/>
              </a:clrFrom>
              <a:clrTo>
                <a:srgbClr val="FFFFFF">
                  <a:alpha val="0"/>
                </a:srgbClr>
              </a:clrTo>
            </a:clrChange>
          </a:blip>
          <a:stretch>
            <a:fillRect/>
          </a:stretch>
        </p:blipFill>
        <p:spPr>
          <a:xfrm>
            <a:off x="12682383" y="5744446"/>
            <a:ext cx="631952" cy="677091"/>
          </a:xfrm>
          <a:prstGeom prst="rect">
            <a:avLst/>
          </a:prstGeom>
        </p:spPr>
      </p:pic>
      <p:sp>
        <p:nvSpPr>
          <p:cNvPr id="36" name="p254-line2"/>
          <p:cNvSpPr>
            <a:spLocks noGrp="1"/>
          </p:cNvSpPr>
          <p:nvPr/>
        </p:nvSpPr>
        <p:spPr>
          <a:xfrm>
            <a:off x="13344797" y="5813244"/>
            <a:ext cx="3105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发送给用户B。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307976" y="4857696"/>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1" name="p256-line1"/>
          <p:cNvSpPr>
            <a:spLocks noGrp="1"/>
          </p:cNvSpPr>
          <p:nvPr/>
        </p:nvSpPr>
        <p:spPr>
          <a:xfrm>
            <a:off x="2746375" y="2733621"/>
            <a:ext cx="4476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第10步（B10）：计算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1860550" y="3456387"/>
            <a:ext cx="9858103" cy="653451"/>
          </a:xfrm>
          <a:prstGeom prst="rect">
            <a:avLst/>
          </a:prstGeom>
        </p:spPr>
      </p:pic>
      <p:sp>
        <p:nvSpPr>
          <p:cNvPr id="3" name="p256-line2"/>
          <p:cNvSpPr>
            <a:spLocks noGrp="1"/>
          </p:cNvSpPr>
          <p:nvPr/>
        </p:nvSpPr>
        <p:spPr>
          <a:xfrm>
            <a:off x="11747228" y="3513365"/>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，并检验</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13604603" y="3462329"/>
            <a:ext cx="1454331" cy="641568"/>
          </a:xfrm>
          <a:prstGeom prst="rect">
            <a:avLst/>
          </a:prstGeom>
        </p:spPr>
      </p:pic>
      <p:sp>
        <p:nvSpPr>
          <p:cNvPr id="10" name="p256-line2"/>
          <p:cNvSpPr>
            <a:spLocks noGrp="1"/>
          </p:cNvSpPr>
          <p:nvPr/>
        </p:nvSpPr>
        <p:spPr>
          <a:xfrm>
            <a:off x="15087509" y="3513365"/>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是否成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56-line3"/>
          <p:cNvSpPr>
            <a:spLocks noGrp="1"/>
          </p:cNvSpPr>
          <p:nvPr/>
        </p:nvSpPr>
        <p:spPr>
          <a:xfrm>
            <a:off x="1831975" y="4293108"/>
            <a:ext cx="93790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立，若等式不成立则从A到B的密钥确认失败。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57-line1"/>
          <p:cNvSpPr>
            <a:spLocks noGrp="1"/>
          </p:cNvSpPr>
          <p:nvPr/>
        </p:nvSpPr>
        <p:spPr>
          <a:xfrm>
            <a:off x="2746375" y="5118354"/>
            <a:ext cx="43498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A、B双方共享密钥为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57-line1"/>
          <p:cNvSpPr>
            <a:spLocks noGrp="1"/>
          </p:cNvSpPr>
          <p:nvPr/>
        </p:nvSpPr>
        <p:spPr>
          <a:xfrm>
            <a:off x="7039102" y="511835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0" name="p257-line1-subscript"/>
          <p:cNvSpPr>
            <a:spLocks noGrp="1"/>
          </p:cNvSpPr>
          <p:nvPr/>
        </p:nvSpPr>
        <p:spPr>
          <a:xfrm>
            <a:off x="7369239" y="5255514"/>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57-line1"/>
          <p:cNvSpPr>
            <a:spLocks noGrp="1"/>
          </p:cNvSpPr>
          <p:nvPr/>
        </p:nvSpPr>
        <p:spPr>
          <a:xfrm>
            <a:off x="7587129" y="511835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57-line1"/>
          <p:cNvSpPr>
            <a:spLocks noGrp="1"/>
          </p:cNvSpPr>
          <p:nvPr/>
        </p:nvSpPr>
        <p:spPr>
          <a:xfrm>
            <a:off x="8044329" y="511835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4" name="p257-line1-subscript"/>
          <p:cNvSpPr>
            <a:spLocks noGrp="1"/>
          </p:cNvSpPr>
          <p:nvPr/>
        </p:nvSpPr>
        <p:spPr>
          <a:xfrm>
            <a:off x="8374465" y="5255514"/>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57-line1"/>
          <p:cNvSpPr>
            <a:spLocks noGrp="1"/>
          </p:cNvSpPr>
          <p:nvPr/>
        </p:nvSpPr>
        <p:spPr>
          <a:xfrm>
            <a:off x="8575759" y="5118354"/>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，事实上</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57-line1"/>
          <p:cNvSpPr>
            <a:spLocks noGrp="1"/>
          </p:cNvSpPr>
          <p:nvPr/>
        </p:nvSpPr>
        <p:spPr>
          <a:xfrm>
            <a:off x="10404559" y="511835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7" name="p257-line1-subscript"/>
          <p:cNvSpPr>
            <a:spLocks noGrp="1"/>
          </p:cNvSpPr>
          <p:nvPr/>
        </p:nvSpPr>
        <p:spPr>
          <a:xfrm>
            <a:off x="10734695" y="5255514"/>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57-line1"/>
          <p:cNvSpPr>
            <a:spLocks noGrp="1"/>
          </p:cNvSpPr>
          <p:nvPr/>
        </p:nvSpPr>
        <p:spPr>
          <a:xfrm>
            <a:off x="10952585" y="5118354"/>
            <a:ext cx="31499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257-line1"/>
          <p:cNvSpPr>
            <a:spLocks noGrp="1"/>
          </p:cNvSpPr>
          <p:nvPr/>
        </p:nvSpPr>
        <p:spPr>
          <a:xfrm>
            <a:off x="11210427" y="511835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0" name="p257-line1-subscript"/>
          <p:cNvSpPr>
            <a:spLocks noGrp="1"/>
          </p:cNvSpPr>
          <p:nvPr/>
        </p:nvSpPr>
        <p:spPr>
          <a:xfrm>
            <a:off x="11540564" y="5255514"/>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57-line1"/>
          <p:cNvSpPr>
            <a:spLocks noGrp="1"/>
          </p:cNvSpPr>
          <p:nvPr/>
        </p:nvSpPr>
        <p:spPr>
          <a:xfrm>
            <a:off x="11741857" y="5118354"/>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。证明过程读者可自行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57-line2"/>
          <p:cNvSpPr>
            <a:spLocks noGrp="1"/>
          </p:cNvSpPr>
          <p:nvPr/>
        </p:nvSpPr>
        <p:spPr>
          <a:xfrm>
            <a:off x="1831975" y="5829300"/>
            <a:ext cx="9836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学习。可选项实现了A、B双方共享密钥的确认。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255-line1"/>
          <p:cNvSpPr>
            <a:spLocks noGrp="1"/>
          </p:cNvSpPr>
          <p:nvPr/>
        </p:nvSpPr>
        <p:spPr>
          <a:xfrm>
            <a:off x="2746375" y="1959494"/>
            <a:ext cx="1733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用户B</a:t>
            </a: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326989" y="2834725"/>
            <a:ext cx="3634019"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15.5</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SM9密钥交换协议</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53" name="p259-line1"/>
          <p:cNvSpPr>
            <a:spLocks noGrp="1"/>
          </p:cNvSpPr>
          <p:nvPr/>
        </p:nvSpPr>
        <p:spPr>
          <a:xfrm>
            <a:off x="2667000" y="1800225"/>
            <a:ext cx="1362113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下面介绍SM9密钥交换协议。参与密钥交换的发起方用户A和响应方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59-line2"/>
          <p:cNvSpPr>
            <a:spLocks noGrp="1"/>
          </p:cNvSpPr>
          <p:nvPr/>
        </p:nvSpPr>
        <p:spPr>
          <a:xfrm>
            <a:off x="1752600" y="2511171"/>
            <a:ext cx="14535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用户B各自持有一个标识和一个相应的私钥，私钥均由密钥生成中心通过</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59-line3"/>
          <p:cNvSpPr>
            <a:spLocks noGrp="1"/>
          </p:cNvSpPr>
          <p:nvPr/>
        </p:nvSpPr>
        <p:spPr>
          <a:xfrm>
            <a:off x="1752600" y="3222117"/>
            <a:ext cx="144082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主私钥和用户的标识结合产生。用户A和用户B通过交互的信息传递，用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59-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标识和各自的加密私钥来商定一个只有他们知道的秘密密钥，用户双方可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59-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err="1">
                <a:latin typeface="Times New Roman" panose="02020603050405020304" pitchFamily="18" charset="0"/>
                <a:ea typeface="宋体" panose="02010600030101010101" pitchFamily="2" charset="-122"/>
                <a:cs typeface="字由点字典黑 2"/>
                <a:sym typeface="字由点字典黑 2"/>
              </a:rPr>
              <a:t>以通过可选项实现密钥确认。这个共享的秘密密钥通常用在某个对称密码</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17" name="p259-line6"/>
          <p:cNvSpPr>
            <a:spLocks noGrp="1"/>
          </p:cNvSpPr>
          <p:nvPr/>
        </p:nvSpPr>
        <p:spPr>
          <a:xfrm>
            <a:off x="1752600" y="5354955"/>
            <a:ext cx="10572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算法中，该密钥交换协议能够用于密钥管理和协商。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60-line1"/>
          <p:cNvSpPr>
            <a:spLocks noGrp="1"/>
          </p:cNvSpPr>
          <p:nvPr/>
        </p:nvSpPr>
        <p:spPr>
          <a:xfrm>
            <a:off x="2667000" y="6180201"/>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协议中还用到密码函数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60-line1"/>
          <p:cNvSpPr>
            <a:spLocks noGrp="1"/>
          </p:cNvSpPr>
          <p:nvPr/>
        </p:nvSpPr>
        <p:spPr>
          <a:xfrm>
            <a:off x="7239000" y="61802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dirty="0">
                <a:latin typeface="Times New Roman" panose="02020603050405020304" pitchFamily="18" charset="0"/>
                <a:ea typeface="宋体" panose="02010600030101010101" pitchFamily="2" charset="-122"/>
                <a:cs typeface="字由点字典黑 2"/>
                <a:sym typeface="字由点字典黑 2"/>
              </a:rPr>
              <a:t>H</a:t>
            </a:r>
            <a:endParaRPr sz="3600" b="0" i="1" dirty="0">
              <a:latin typeface="Times New Roman" panose="02020603050405020304" pitchFamily="18" charset="0"/>
              <a:ea typeface="宋体" panose="02010600030101010101" pitchFamily="2" charset="-122"/>
              <a:cs typeface="字由点字典黑 2"/>
              <a:sym typeface="字由点字典黑 2"/>
            </a:endParaRPr>
          </a:p>
        </p:txBody>
      </p:sp>
      <p:sp>
        <p:nvSpPr>
          <p:cNvPr id="20" name="p260-line1-subscript"/>
          <p:cNvSpPr>
            <a:spLocks noGrp="1"/>
          </p:cNvSpPr>
          <p:nvPr/>
        </p:nvSpPr>
        <p:spPr>
          <a:xfrm>
            <a:off x="7569136" y="631736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60-line1"/>
          <p:cNvSpPr>
            <a:spLocks noGrp="1"/>
          </p:cNvSpPr>
          <p:nvPr/>
        </p:nvSpPr>
        <p:spPr>
          <a:xfrm>
            <a:off x="7720012" y="6180201"/>
            <a:ext cx="27618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 )</a:t>
            </a:r>
            <a:r>
              <a:rPr sz="3600" b="0" i="0" dirty="0" err="1">
                <a:latin typeface="Times New Roman" panose="02020603050405020304" pitchFamily="18" charset="0"/>
                <a:ea typeface="宋体" panose="02010600030101010101" pitchFamily="2" charset="-122"/>
                <a:cs typeface="字由点字典黑 2"/>
                <a:sym typeface="字由点字典黑 2"/>
              </a:rPr>
              <a:t>和密码函数</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22" name="p260-line1"/>
          <p:cNvSpPr>
            <a:spLocks noGrp="1"/>
          </p:cNvSpPr>
          <p:nvPr/>
        </p:nvSpPr>
        <p:spPr>
          <a:xfrm>
            <a:off x="10424731" y="61802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3" name="p260-line1-subscript"/>
          <p:cNvSpPr>
            <a:spLocks noGrp="1"/>
          </p:cNvSpPr>
          <p:nvPr/>
        </p:nvSpPr>
        <p:spPr>
          <a:xfrm>
            <a:off x="10754868" y="631736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60-line1"/>
          <p:cNvSpPr>
            <a:spLocks noGrp="1"/>
          </p:cNvSpPr>
          <p:nvPr/>
        </p:nvSpPr>
        <p:spPr>
          <a:xfrm>
            <a:off x="10905744" y="6180201"/>
            <a:ext cx="27618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)。密码函数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60-line1"/>
          <p:cNvSpPr>
            <a:spLocks noGrp="1"/>
          </p:cNvSpPr>
          <p:nvPr/>
        </p:nvSpPr>
        <p:spPr>
          <a:xfrm>
            <a:off x="13610463" y="61802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6" name="p260-line1-subscript"/>
          <p:cNvSpPr>
            <a:spLocks noGrp="1"/>
          </p:cNvSpPr>
          <p:nvPr/>
        </p:nvSpPr>
        <p:spPr>
          <a:xfrm>
            <a:off x="13940599" y="631736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60-line1"/>
          <p:cNvSpPr>
            <a:spLocks noGrp="1"/>
          </p:cNvSpPr>
          <p:nvPr/>
        </p:nvSpPr>
        <p:spPr>
          <a:xfrm>
            <a:off x="14091475" y="6180201"/>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60-line1"/>
          <p:cNvSpPr>
            <a:spLocks noGrp="1"/>
          </p:cNvSpPr>
          <p:nvPr/>
        </p:nvSpPr>
        <p:spPr>
          <a:xfrm>
            <a:off x="14243685" y="6180201"/>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9" name="p260-line1"/>
          <p:cNvSpPr>
            <a:spLocks noGrp="1"/>
          </p:cNvSpPr>
          <p:nvPr/>
        </p:nvSpPr>
        <p:spPr>
          <a:xfrm>
            <a:off x="14522958" y="618020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260-line1"/>
          <p:cNvSpPr>
            <a:spLocks noGrp="1"/>
          </p:cNvSpPr>
          <p:nvPr/>
        </p:nvSpPr>
        <p:spPr>
          <a:xfrm>
            <a:off x="14980158" y="6180201"/>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1" name="p260-line1"/>
          <p:cNvSpPr>
            <a:spLocks noGrp="1"/>
          </p:cNvSpPr>
          <p:nvPr/>
        </p:nvSpPr>
        <p:spPr>
          <a:xfrm>
            <a:off x="15208758" y="6180201"/>
            <a:ext cx="6665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60-line1"/>
          <p:cNvSpPr>
            <a:spLocks noGrp="1"/>
          </p:cNvSpPr>
          <p:nvPr/>
        </p:nvSpPr>
        <p:spPr>
          <a:xfrm>
            <a:off x="15818167" y="61802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3" name="p260-line1-subscript"/>
          <p:cNvSpPr>
            <a:spLocks noGrp="1"/>
          </p:cNvSpPr>
          <p:nvPr/>
        </p:nvSpPr>
        <p:spPr>
          <a:xfrm>
            <a:off x="16148304" y="6317361"/>
            <a:ext cx="208026" cy="594360"/>
          </a:xfrm>
          <a:prstGeom prst="rect">
            <a:avLst/>
          </a:prstGeom>
          <a:noFill/>
          <a:ln w="0">
            <a:noFill/>
          </a:ln>
        </p:spPr>
        <p:txBody>
          <a:bodyPr wrap="none" lIns="0" tIns="0" rIns="0" bIns="0" anchor="t">
            <a:noAutofit/>
          </a:bodyPr>
          <a:lstStyle>
            <a:def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1">
                <a:latin typeface="Times New Roman" panose="02020603050405020304" pitchFamily="18" charset="0"/>
                <a:ea typeface="宋体" panose="02010600030101010101" pitchFamily="2" charset="-122"/>
                <a:cs typeface="字由点字典黑 2"/>
                <a:sym typeface="字由点字典黑 2"/>
              </a:rPr>
              <a:t>2</a:t>
            </a:r>
            <a:endParaRPr sz="2375" b="0" i="1">
              <a:latin typeface="Times New Roman" panose="02020603050405020304" pitchFamily="18" charset="0"/>
              <a:ea typeface="宋体" panose="02010600030101010101" pitchFamily="2" charset="-122"/>
              <a:cs typeface="字由点字典黑 2"/>
              <a:sym typeface="字由点字典黑 2"/>
            </a:endParaRPr>
          </a:p>
        </p:txBody>
      </p:sp>
      <p:sp>
        <p:nvSpPr>
          <p:cNvPr id="34" name="p260-line1"/>
          <p:cNvSpPr>
            <a:spLocks noGrp="1"/>
          </p:cNvSpPr>
          <p:nvPr/>
        </p:nvSpPr>
        <p:spPr>
          <a:xfrm>
            <a:off x="16299180" y="6180201"/>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260-line2"/>
          <p:cNvSpPr>
            <a:spLocks noGrp="1"/>
          </p:cNvSpPr>
          <p:nvPr/>
        </p:nvSpPr>
        <p:spPr>
          <a:xfrm>
            <a:off x="1752600" y="6891147"/>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6" name="p260-line2"/>
          <p:cNvSpPr>
            <a:spLocks noGrp="1"/>
          </p:cNvSpPr>
          <p:nvPr/>
        </p:nvSpPr>
        <p:spPr>
          <a:xfrm>
            <a:off x="2031873" y="689114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260-line2"/>
          <p:cNvSpPr>
            <a:spLocks noGrp="1"/>
          </p:cNvSpPr>
          <p:nvPr/>
        </p:nvSpPr>
        <p:spPr>
          <a:xfrm>
            <a:off x="2489073" y="6891147"/>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8" name="p260-line2"/>
          <p:cNvSpPr>
            <a:spLocks noGrp="1"/>
          </p:cNvSpPr>
          <p:nvPr/>
        </p:nvSpPr>
        <p:spPr>
          <a:xfrm>
            <a:off x="2717673" y="6891147"/>
            <a:ext cx="43241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)的输入分别为比特串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260-line2"/>
          <p:cNvSpPr>
            <a:spLocks noGrp="1"/>
          </p:cNvSpPr>
          <p:nvPr/>
        </p:nvSpPr>
        <p:spPr>
          <a:xfrm>
            <a:off x="6984682" y="6891147"/>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0" name="p260-line2"/>
          <p:cNvSpPr>
            <a:spLocks noGrp="1"/>
          </p:cNvSpPr>
          <p:nvPr/>
        </p:nvSpPr>
        <p:spPr>
          <a:xfrm>
            <a:off x="7263955" y="6891147"/>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1" name="p260-line2"/>
          <p:cNvSpPr>
            <a:spLocks noGrp="1"/>
          </p:cNvSpPr>
          <p:nvPr/>
        </p:nvSpPr>
        <p:spPr>
          <a:xfrm>
            <a:off x="8635555" y="6891147"/>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2" name="p260-line2"/>
          <p:cNvSpPr>
            <a:spLocks noGrp="1"/>
          </p:cNvSpPr>
          <p:nvPr/>
        </p:nvSpPr>
        <p:spPr>
          <a:xfrm>
            <a:off x="8864155" y="6891147"/>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，输出为一个整数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3" name="p260-line2"/>
          <p:cNvSpPr>
            <a:spLocks noGrp="1"/>
          </p:cNvSpPr>
          <p:nvPr/>
        </p:nvSpPr>
        <p:spPr>
          <a:xfrm>
            <a:off x="12521755" y="6891147"/>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4" name="p260-line2-subscript"/>
          <p:cNvSpPr>
            <a:spLocks noGrp="1"/>
          </p:cNvSpPr>
          <p:nvPr/>
        </p:nvSpPr>
        <p:spPr>
          <a:xfrm>
            <a:off x="12750355" y="702830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5" name="p260-line2"/>
          <p:cNvSpPr>
            <a:spLocks noGrp="1"/>
          </p:cNvSpPr>
          <p:nvPr/>
        </p:nvSpPr>
        <p:spPr>
          <a:xfrm>
            <a:off x="12901231" y="6891147"/>
            <a:ext cx="1352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6" name="p260-line2"/>
          <p:cNvSpPr>
            <a:spLocks noGrp="1"/>
          </p:cNvSpPr>
          <p:nvPr/>
        </p:nvSpPr>
        <p:spPr>
          <a:xfrm>
            <a:off x="14196441" y="6891147"/>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7" name="p260-line2"/>
          <p:cNvSpPr>
            <a:spLocks noGrp="1"/>
          </p:cNvSpPr>
          <p:nvPr/>
        </p:nvSpPr>
        <p:spPr>
          <a:xfrm>
            <a:off x="14425041" y="6891147"/>
            <a:ext cx="10473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8" name="p260-line2"/>
          <p:cNvSpPr>
            <a:spLocks noGrp="1"/>
          </p:cNvSpPr>
          <p:nvPr/>
        </p:nvSpPr>
        <p:spPr>
          <a:xfrm>
            <a:off x="15415260" y="6891147"/>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9" name="p260-line2-subscript"/>
          <p:cNvSpPr>
            <a:spLocks noGrp="1"/>
          </p:cNvSpPr>
          <p:nvPr/>
        </p:nvSpPr>
        <p:spPr>
          <a:xfrm>
            <a:off x="15643860" y="702830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0" name="p260-line2"/>
          <p:cNvSpPr>
            <a:spLocks noGrp="1"/>
          </p:cNvSpPr>
          <p:nvPr/>
        </p:nvSpPr>
        <p:spPr>
          <a:xfrm>
            <a:off x="15794736" y="6891147"/>
            <a:ext cx="6665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1" name="p260-line3"/>
          <p:cNvSpPr>
            <a:spLocks noGrp="1"/>
          </p:cNvSpPr>
          <p:nvPr/>
        </p:nvSpPr>
        <p:spPr>
          <a:xfrm>
            <a:off x="1752600" y="7602093"/>
            <a:ext cx="742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2" name="p260-line3"/>
          <p:cNvSpPr>
            <a:spLocks noGrp="1"/>
          </p:cNvSpPr>
          <p:nvPr/>
        </p:nvSpPr>
        <p:spPr>
          <a:xfrm>
            <a:off x="2438400" y="7602093"/>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4" name="p260-line3"/>
          <p:cNvSpPr>
            <a:spLocks noGrp="1"/>
          </p:cNvSpPr>
          <p:nvPr/>
        </p:nvSpPr>
        <p:spPr>
          <a:xfrm>
            <a:off x="2667000" y="7602093"/>
            <a:ext cx="10473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-1]。</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55" name="p260-line3"/>
          <p:cNvSpPr>
            <a:spLocks noGrp="1"/>
          </p:cNvSpPr>
          <p:nvPr/>
        </p:nvSpPr>
        <p:spPr>
          <a:xfrm>
            <a:off x="3657219" y="760209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6" name="p260-line3-subscript"/>
          <p:cNvSpPr>
            <a:spLocks noGrp="1"/>
          </p:cNvSpPr>
          <p:nvPr/>
        </p:nvSpPr>
        <p:spPr>
          <a:xfrm>
            <a:off x="3987355" y="7739253"/>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7" name="p260-line3"/>
          <p:cNvSpPr>
            <a:spLocks noGrp="1"/>
          </p:cNvSpPr>
          <p:nvPr/>
        </p:nvSpPr>
        <p:spPr>
          <a:xfrm>
            <a:off x="4138231" y="7602093"/>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8" name="p260-line3"/>
          <p:cNvSpPr>
            <a:spLocks noGrp="1"/>
          </p:cNvSpPr>
          <p:nvPr/>
        </p:nvSpPr>
        <p:spPr>
          <a:xfrm>
            <a:off x="4290441" y="7602093"/>
            <a:ext cx="336423"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Z</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9" name="p260-line3"/>
          <p:cNvSpPr>
            <a:spLocks noGrp="1"/>
          </p:cNvSpPr>
          <p:nvPr/>
        </p:nvSpPr>
        <p:spPr>
          <a:xfrm>
            <a:off x="4569714" y="760209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60" name="p260-line3"/>
          <p:cNvSpPr>
            <a:spLocks noGrp="1"/>
          </p:cNvSpPr>
          <p:nvPr/>
        </p:nvSpPr>
        <p:spPr>
          <a:xfrm>
            <a:off x="5026914" y="7602093"/>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61" name="p260-line3"/>
          <p:cNvSpPr>
            <a:spLocks noGrp="1"/>
          </p:cNvSpPr>
          <p:nvPr/>
        </p:nvSpPr>
        <p:spPr>
          <a:xfrm>
            <a:off x="5255514" y="7602093"/>
            <a:ext cx="4781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)需要调用密码杂凑函数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62" name="p260-line3"/>
          <p:cNvSpPr>
            <a:spLocks noGrp="1"/>
          </p:cNvSpPr>
          <p:nvPr/>
        </p:nvSpPr>
        <p:spPr>
          <a:xfrm>
            <a:off x="9979723" y="7602093"/>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63" name="p260-line3-subscript"/>
          <p:cNvSpPr>
            <a:spLocks noGrp="1"/>
          </p:cNvSpPr>
          <p:nvPr/>
        </p:nvSpPr>
        <p:spPr>
          <a:xfrm>
            <a:off x="10309860" y="7739253"/>
            <a:ext cx="208026" cy="594360"/>
          </a:xfrm>
          <a:prstGeom prst="rect">
            <a:avLst/>
          </a:prstGeom>
          <a:noFill/>
          <a:ln w="0">
            <a:noFill/>
          </a:ln>
        </p:spPr>
        <p:txBody>
          <a:bodyPr wrap="none" lIns="0" tIns="0" rIns="0" bIns="0" anchor="t">
            <a:noAutofit/>
          </a:bodyPr>
          <a:lstStyle>
            <a:def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1">
                <a:latin typeface="Times New Roman" panose="02020603050405020304" pitchFamily="18" charset="0"/>
                <a:ea typeface="宋体" panose="02010600030101010101" pitchFamily="2" charset="-122"/>
                <a:cs typeface="字由点字典黑 2"/>
                <a:sym typeface="字由点字典黑 2"/>
              </a:rPr>
              <a:t>v</a:t>
            </a:r>
            <a:endParaRPr sz="2375" b="0" i="1">
              <a:latin typeface="Times New Roman" panose="02020603050405020304" pitchFamily="18" charset="0"/>
              <a:ea typeface="宋体" panose="02010600030101010101" pitchFamily="2" charset="-122"/>
              <a:cs typeface="字由点字典黑 2"/>
              <a:sym typeface="字由点字典黑 2"/>
            </a:endParaRPr>
          </a:p>
        </p:txBody>
      </p:sp>
      <p:sp>
        <p:nvSpPr>
          <p:cNvPr id="64" name="p260-line3"/>
          <p:cNvSpPr>
            <a:spLocks noGrp="1"/>
          </p:cNvSpPr>
          <p:nvPr/>
        </p:nvSpPr>
        <p:spPr>
          <a:xfrm>
            <a:off x="10460736" y="7602093"/>
            <a:ext cx="9330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6" name="p261-line1"/>
          <p:cNvSpPr>
            <a:spLocks noGrp="1"/>
          </p:cNvSpPr>
          <p:nvPr/>
        </p:nvSpPr>
        <p:spPr>
          <a:xfrm>
            <a:off x="2667000" y="1800225"/>
            <a:ext cx="1349463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下面是SM9密钥交换协议过程。协议中的参数参考第9章SM9标识密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61-line2"/>
          <p:cNvSpPr>
            <a:spLocks noGrp="1"/>
          </p:cNvSpPr>
          <p:nvPr/>
        </p:nvSpPr>
        <p:spPr>
          <a:xfrm>
            <a:off x="1752600" y="2511171"/>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码算法。</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62-line1"/>
          <p:cNvSpPr>
            <a:spLocks noGrp="1"/>
          </p:cNvSpPr>
          <p:nvPr/>
        </p:nvSpPr>
        <p:spPr>
          <a:xfrm>
            <a:off x="2667000" y="3336417"/>
            <a:ext cx="133793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设用户A和用户B协商获得密钥数据的长度为klen bit，用户A为发起</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62-line2"/>
          <p:cNvSpPr>
            <a:spLocks noGrp="1"/>
          </p:cNvSpPr>
          <p:nvPr/>
        </p:nvSpPr>
        <p:spPr>
          <a:xfrm>
            <a:off x="1752600" y="4047363"/>
            <a:ext cx="1471326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方，用户B为响应方。用户A和用户B双方为了获得相同的密钥，应实现如</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62-line3"/>
          <p:cNvSpPr>
            <a:spLocks noGrp="1"/>
          </p:cNvSpPr>
          <p:nvPr/>
        </p:nvSpPr>
        <p:spPr>
          <a:xfrm>
            <a:off x="1752600" y="4758309"/>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下运算步骤。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63-line1"/>
          <p:cNvSpPr>
            <a:spLocks noGrp="1"/>
          </p:cNvSpPr>
          <p:nvPr/>
        </p:nvSpPr>
        <p:spPr>
          <a:xfrm>
            <a:off x="2667000" y="5583555"/>
            <a:ext cx="1758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64-line1"/>
          <p:cNvSpPr>
            <a:spLocks noGrp="1"/>
          </p:cNvSpPr>
          <p:nvPr/>
        </p:nvSpPr>
        <p:spPr>
          <a:xfrm>
            <a:off x="2667000" y="6408801"/>
            <a:ext cx="45020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第1步（A1）：计算群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64-line1"/>
          <p:cNvSpPr>
            <a:spLocks noGrp="1"/>
          </p:cNvSpPr>
          <p:nvPr/>
        </p:nvSpPr>
        <p:spPr>
          <a:xfrm>
            <a:off x="7111936" y="64088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0" name="p264-line1-subscript"/>
          <p:cNvSpPr>
            <a:spLocks noGrp="1"/>
          </p:cNvSpPr>
          <p:nvPr/>
        </p:nvSpPr>
        <p:spPr>
          <a:xfrm>
            <a:off x="7442073" y="654596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64-line1"/>
          <p:cNvSpPr>
            <a:spLocks noGrp="1"/>
          </p:cNvSpPr>
          <p:nvPr/>
        </p:nvSpPr>
        <p:spPr>
          <a:xfrm>
            <a:off x="7592949" y="6408801"/>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64-line1"/>
          <p:cNvSpPr>
            <a:spLocks noGrp="1"/>
          </p:cNvSpPr>
          <p:nvPr/>
        </p:nvSpPr>
        <p:spPr>
          <a:xfrm>
            <a:off x="9421749" y="64088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Q</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3" name="p264-line1-subscript"/>
          <p:cNvSpPr>
            <a:spLocks noGrp="1"/>
          </p:cNvSpPr>
          <p:nvPr/>
        </p:nvSpPr>
        <p:spPr>
          <a:xfrm>
            <a:off x="9751885" y="6545961"/>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64-line1"/>
          <p:cNvSpPr>
            <a:spLocks noGrp="1"/>
          </p:cNvSpPr>
          <p:nvPr/>
        </p:nvSpPr>
        <p:spPr>
          <a:xfrm>
            <a:off x="9953179" y="6408801"/>
            <a:ext cx="58150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64-line1"/>
          <p:cNvSpPr>
            <a:spLocks noGrp="1"/>
          </p:cNvSpPr>
          <p:nvPr/>
        </p:nvSpPr>
        <p:spPr>
          <a:xfrm>
            <a:off x="10477530" y="64088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6" name="p264-line1-subscript"/>
          <p:cNvSpPr>
            <a:spLocks noGrp="1"/>
          </p:cNvSpPr>
          <p:nvPr/>
        </p:nvSpPr>
        <p:spPr>
          <a:xfrm>
            <a:off x="10807667" y="654596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64-line1"/>
          <p:cNvSpPr>
            <a:spLocks noGrp="1"/>
          </p:cNvSpPr>
          <p:nvPr/>
        </p:nvSpPr>
        <p:spPr>
          <a:xfrm>
            <a:off x="10958543" y="6408801"/>
            <a:ext cx="69170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64-line1-subscript"/>
          <p:cNvSpPr>
            <a:spLocks noGrp="1"/>
          </p:cNvSpPr>
          <p:nvPr/>
        </p:nvSpPr>
        <p:spPr>
          <a:xfrm>
            <a:off x="11593098" y="6545961"/>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264-line1"/>
          <p:cNvSpPr>
            <a:spLocks noGrp="1"/>
          </p:cNvSpPr>
          <p:nvPr/>
        </p:nvSpPr>
        <p:spPr>
          <a:xfrm>
            <a:off x="11794392" y="6408801"/>
            <a:ext cx="128168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||hid，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264-line1"/>
          <p:cNvSpPr>
            <a:spLocks noGrp="1"/>
          </p:cNvSpPr>
          <p:nvPr/>
        </p:nvSpPr>
        <p:spPr>
          <a:xfrm>
            <a:off x="13018926" y="6408801"/>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1" name="p264-line1"/>
          <p:cNvSpPr>
            <a:spLocks noGrp="1"/>
          </p:cNvSpPr>
          <p:nvPr/>
        </p:nvSpPr>
        <p:spPr>
          <a:xfrm>
            <a:off x="13349063" y="6408801"/>
            <a:ext cx="3615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64-line1"/>
          <p:cNvSpPr>
            <a:spLocks noGrp="1"/>
          </p:cNvSpPr>
          <p:nvPr/>
        </p:nvSpPr>
        <p:spPr>
          <a:xfrm>
            <a:off x="13653482" y="6408801"/>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P</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3" name="p264-line1-subscript"/>
          <p:cNvSpPr>
            <a:spLocks noGrp="1"/>
          </p:cNvSpPr>
          <p:nvPr/>
        </p:nvSpPr>
        <p:spPr>
          <a:xfrm>
            <a:off x="13907799" y="654596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264-line1"/>
          <p:cNvSpPr>
            <a:spLocks noGrp="1"/>
          </p:cNvSpPr>
          <p:nvPr/>
        </p:nvSpPr>
        <p:spPr>
          <a:xfrm>
            <a:off x="14058675" y="6408801"/>
            <a:ext cx="54359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264-line1"/>
          <p:cNvSpPr>
            <a:spLocks noGrp="1"/>
          </p:cNvSpPr>
          <p:nvPr/>
        </p:nvSpPr>
        <p:spPr>
          <a:xfrm>
            <a:off x="14545117" y="6408801"/>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P</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6" name="p264-line1-subscript"/>
          <p:cNvSpPr>
            <a:spLocks noGrp="1"/>
          </p:cNvSpPr>
          <p:nvPr/>
        </p:nvSpPr>
        <p:spPr>
          <a:xfrm>
            <a:off x="14799434" y="6545961"/>
            <a:ext cx="509778"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pub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264-line1-subscript"/>
          <p:cNvSpPr>
            <a:spLocks noGrp="1"/>
          </p:cNvSpPr>
          <p:nvPr/>
        </p:nvSpPr>
        <p:spPr>
          <a:xfrm>
            <a:off x="15252062" y="6545961"/>
            <a:ext cx="291511" cy="594360"/>
          </a:xfrm>
          <a:prstGeom prst="rect">
            <a:avLst/>
          </a:prstGeom>
          <a:noFill/>
          <a:ln w="0">
            <a:noFill/>
          </a:ln>
        </p:spPr>
        <p:txBody>
          <a:bodyPr wrap="none" lIns="0" tIns="0" rIns="0" bIns="0" anchor="t">
            <a:noAutofit/>
          </a:bodyPr>
          <a:lstStyle>
            <a:def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1">
                <a:latin typeface="Times New Roman" panose="02020603050405020304" pitchFamily="18" charset="0"/>
                <a:ea typeface="宋体" panose="02010600030101010101" pitchFamily="2" charset="-122"/>
                <a:cs typeface="字由点字典黑 2"/>
                <a:sym typeface="字由点字典黑 2"/>
              </a:rPr>
              <a:t>-e</a:t>
            </a:r>
            <a:endParaRPr sz="2375" b="0" i="1">
              <a:latin typeface="Times New Roman" panose="02020603050405020304" pitchFamily="18" charset="0"/>
              <a:ea typeface="宋体" panose="02010600030101010101" pitchFamily="2" charset="-122"/>
              <a:cs typeface="字由点字典黑 2"/>
              <a:sym typeface="字由点字典黑 2"/>
            </a:endParaRPr>
          </a:p>
        </p:txBody>
      </p:sp>
      <p:sp>
        <p:nvSpPr>
          <p:cNvPr id="38" name="p264-line1"/>
          <p:cNvSpPr>
            <a:spLocks noGrp="1"/>
          </p:cNvSpPr>
          <p:nvPr/>
        </p:nvSpPr>
        <p:spPr>
          <a:xfrm>
            <a:off x="15486423" y="640880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265-line1"/>
          <p:cNvSpPr>
            <a:spLocks noGrp="1"/>
          </p:cNvSpPr>
          <p:nvPr/>
        </p:nvSpPr>
        <p:spPr>
          <a:xfrm>
            <a:off x="2667000" y="7234047"/>
            <a:ext cx="5416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第2步（A2）：产生随机数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265-line1"/>
          <p:cNvSpPr>
            <a:spLocks noGrp="1"/>
          </p:cNvSpPr>
          <p:nvPr/>
        </p:nvSpPr>
        <p:spPr>
          <a:xfrm>
            <a:off x="8026336" y="7234047"/>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1" name="p265-line1-subscript"/>
          <p:cNvSpPr>
            <a:spLocks noGrp="1"/>
          </p:cNvSpPr>
          <p:nvPr/>
        </p:nvSpPr>
        <p:spPr>
          <a:xfrm>
            <a:off x="8178546" y="7371207"/>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265-line1"/>
          <p:cNvSpPr>
            <a:spLocks noGrp="1"/>
          </p:cNvSpPr>
          <p:nvPr/>
        </p:nvSpPr>
        <p:spPr>
          <a:xfrm>
            <a:off x="8396436" y="7234047"/>
            <a:ext cx="1352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3" name="p265-line1"/>
          <p:cNvSpPr>
            <a:spLocks noGrp="1"/>
          </p:cNvSpPr>
          <p:nvPr/>
        </p:nvSpPr>
        <p:spPr>
          <a:xfrm>
            <a:off x="9691646" y="723404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4" name="p265-line1"/>
          <p:cNvSpPr>
            <a:spLocks noGrp="1"/>
          </p:cNvSpPr>
          <p:nvPr/>
        </p:nvSpPr>
        <p:spPr>
          <a:xfrm>
            <a:off x="10021782" y="7234047"/>
            <a:ext cx="24189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5" name="p265-line1"/>
          <p:cNvSpPr>
            <a:spLocks noGrp="1"/>
          </p:cNvSpPr>
          <p:nvPr/>
        </p:nvSpPr>
        <p:spPr>
          <a:xfrm>
            <a:off x="12383601" y="723404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7" name="p265-line1-subscript"/>
          <p:cNvSpPr>
            <a:spLocks noGrp="1"/>
          </p:cNvSpPr>
          <p:nvPr/>
        </p:nvSpPr>
        <p:spPr>
          <a:xfrm>
            <a:off x="12713738" y="737120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8" name="p265-line1"/>
          <p:cNvSpPr>
            <a:spLocks noGrp="1"/>
          </p:cNvSpPr>
          <p:nvPr/>
        </p:nvSpPr>
        <p:spPr>
          <a:xfrm>
            <a:off x="12864614" y="7234047"/>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9" name="p265-line1"/>
          <p:cNvSpPr>
            <a:spLocks noGrp="1"/>
          </p:cNvSpPr>
          <p:nvPr/>
        </p:nvSpPr>
        <p:spPr>
          <a:xfrm>
            <a:off x="14693414" y="7234047"/>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0" name="p265-line1-subscript"/>
          <p:cNvSpPr>
            <a:spLocks noGrp="1"/>
          </p:cNvSpPr>
          <p:nvPr/>
        </p:nvSpPr>
        <p:spPr>
          <a:xfrm>
            <a:off x="14998404" y="7371207"/>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1" name="p265-line1"/>
          <p:cNvSpPr>
            <a:spLocks noGrp="1"/>
          </p:cNvSpPr>
          <p:nvPr/>
        </p:nvSpPr>
        <p:spPr>
          <a:xfrm>
            <a:off x="15216294" y="7234047"/>
            <a:ext cx="69580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2" name="p265-line1"/>
          <p:cNvSpPr>
            <a:spLocks noGrp="1"/>
          </p:cNvSpPr>
          <p:nvPr/>
        </p:nvSpPr>
        <p:spPr>
          <a:xfrm>
            <a:off x="15854945" y="7234047"/>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3" name="p265-line1-subscript"/>
          <p:cNvSpPr>
            <a:spLocks noGrp="1"/>
          </p:cNvSpPr>
          <p:nvPr/>
        </p:nvSpPr>
        <p:spPr>
          <a:xfrm>
            <a:off x="16007155" y="7371207"/>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4" name="p265-line1"/>
          <p:cNvSpPr>
            <a:spLocks noGrp="1"/>
          </p:cNvSpPr>
          <p:nvPr/>
        </p:nvSpPr>
        <p:spPr>
          <a:xfrm>
            <a:off x="16225045" y="7234047"/>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5" name="p265-line2"/>
          <p:cNvSpPr>
            <a:spLocks noGrp="1"/>
          </p:cNvSpPr>
          <p:nvPr/>
        </p:nvSpPr>
        <p:spPr>
          <a:xfrm>
            <a:off x="16434404" y="723404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Q</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6" name="p265-line2-subscript"/>
          <p:cNvSpPr>
            <a:spLocks noGrp="1"/>
          </p:cNvSpPr>
          <p:nvPr/>
        </p:nvSpPr>
        <p:spPr>
          <a:xfrm>
            <a:off x="16764540" y="7371207"/>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dirty="0">
                <a:latin typeface="Times New Roman" panose="02020603050405020304" pitchFamily="18" charset="0"/>
                <a:ea typeface="宋体" panose="02010600030101010101" pitchFamily="2" charset="-122"/>
                <a:cs typeface="字由点字典黑 2"/>
                <a:sym typeface="字由点字典黑 2"/>
              </a:rPr>
              <a:t>B</a:t>
            </a:r>
            <a:endParaRPr sz="2375"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57" name="p265-line2"/>
          <p:cNvSpPr>
            <a:spLocks noGrp="1"/>
          </p:cNvSpPr>
          <p:nvPr/>
        </p:nvSpPr>
        <p:spPr>
          <a:xfrm>
            <a:off x="16965834" y="723404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65" name="p266-line1"/>
          <p:cNvSpPr>
            <a:spLocks noGrp="1"/>
          </p:cNvSpPr>
          <p:nvPr/>
        </p:nvSpPr>
        <p:spPr>
          <a:xfrm>
            <a:off x="2700239" y="7965567"/>
            <a:ext cx="3587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第3步（A3）：将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8" name="p266-line1"/>
          <p:cNvSpPr>
            <a:spLocks noGrp="1"/>
          </p:cNvSpPr>
          <p:nvPr/>
        </p:nvSpPr>
        <p:spPr>
          <a:xfrm>
            <a:off x="6230775" y="7965567"/>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9" name="p266-line1-subscript"/>
          <p:cNvSpPr>
            <a:spLocks noGrp="1"/>
          </p:cNvSpPr>
          <p:nvPr/>
        </p:nvSpPr>
        <p:spPr>
          <a:xfrm>
            <a:off x="6535766" y="8102727"/>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60" name="p266-line1"/>
          <p:cNvSpPr>
            <a:spLocks noGrp="1"/>
          </p:cNvSpPr>
          <p:nvPr/>
        </p:nvSpPr>
        <p:spPr>
          <a:xfrm>
            <a:off x="6753656" y="7965567"/>
            <a:ext cx="3105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发送给用户B。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0" name="p267-line1"/>
          <p:cNvSpPr>
            <a:spLocks noGrp="1"/>
          </p:cNvSpPr>
          <p:nvPr/>
        </p:nvSpPr>
        <p:spPr>
          <a:xfrm>
            <a:off x="2608081" y="1749896"/>
            <a:ext cx="1733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68-line1"/>
          <p:cNvSpPr>
            <a:spLocks noGrp="1"/>
          </p:cNvSpPr>
          <p:nvPr/>
        </p:nvSpPr>
        <p:spPr>
          <a:xfrm>
            <a:off x="2608081" y="2575142"/>
            <a:ext cx="4476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第1步（B1）：计算群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68-line1"/>
          <p:cNvSpPr>
            <a:spLocks noGrp="1"/>
          </p:cNvSpPr>
          <p:nvPr/>
        </p:nvSpPr>
        <p:spPr>
          <a:xfrm>
            <a:off x="7027872" y="257514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9" name="p268-line1-subscript"/>
          <p:cNvSpPr>
            <a:spLocks noGrp="1"/>
          </p:cNvSpPr>
          <p:nvPr/>
        </p:nvSpPr>
        <p:spPr>
          <a:xfrm>
            <a:off x="7358008" y="2712302"/>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68-line1"/>
          <p:cNvSpPr>
            <a:spLocks noGrp="1"/>
          </p:cNvSpPr>
          <p:nvPr/>
        </p:nvSpPr>
        <p:spPr>
          <a:xfrm>
            <a:off x="7508884" y="2575142"/>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68-line1"/>
          <p:cNvSpPr>
            <a:spLocks noGrp="1"/>
          </p:cNvSpPr>
          <p:nvPr/>
        </p:nvSpPr>
        <p:spPr>
          <a:xfrm>
            <a:off x="9337684" y="257514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Q</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2" name="p268-line1-subscript"/>
          <p:cNvSpPr>
            <a:spLocks noGrp="1"/>
          </p:cNvSpPr>
          <p:nvPr/>
        </p:nvSpPr>
        <p:spPr>
          <a:xfrm>
            <a:off x="9667821" y="2712302"/>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68-line1"/>
          <p:cNvSpPr>
            <a:spLocks noGrp="1"/>
          </p:cNvSpPr>
          <p:nvPr/>
        </p:nvSpPr>
        <p:spPr>
          <a:xfrm>
            <a:off x="9885711" y="2575142"/>
            <a:ext cx="69580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68-line1"/>
          <p:cNvSpPr>
            <a:spLocks noGrp="1"/>
          </p:cNvSpPr>
          <p:nvPr/>
        </p:nvSpPr>
        <p:spPr>
          <a:xfrm>
            <a:off x="10524362" y="257514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H</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5" name="p268-line1-subscript"/>
          <p:cNvSpPr>
            <a:spLocks noGrp="1"/>
          </p:cNvSpPr>
          <p:nvPr/>
        </p:nvSpPr>
        <p:spPr>
          <a:xfrm>
            <a:off x="10854498" y="2712302"/>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68-line1"/>
          <p:cNvSpPr>
            <a:spLocks noGrp="1"/>
          </p:cNvSpPr>
          <p:nvPr/>
        </p:nvSpPr>
        <p:spPr>
          <a:xfrm>
            <a:off x="11005374" y="2575142"/>
            <a:ext cx="69170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68-line1-subscript"/>
          <p:cNvSpPr>
            <a:spLocks noGrp="1"/>
          </p:cNvSpPr>
          <p:nvPr/>
        </p:nvSpPr>
        <p:spPr>
          <a:xfrm>
            <a:off x="11639930" y="2712302"/>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68-line1"/>
          <p:cNvSpPr>
            <a:spLocks noGrp="1"/>
          </p:cNvSpPr>
          <p:nvPr/>
        </p:nvSpPr>
        <p:spPr>
          <a:xfrm>
            <a:off x="11857820" y="2575142"/>
            <a:ext cx="128168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||hid，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268-line1"/>
          <p:cNvSpPr>
            <a:spLocks noGrp="1"/>
          </p:cNvSpPr>
          <p:nvPr/>
        </p:nvSpPr>
        <p:spPr>
          <a:xfrm>
            <a:off x="13082354" y="257514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0" name="p268-line1"/>
          <p:cNvSpPr>
            <a:spLocks noGrp="1"/>
          </p:cNvSpPr>
          <p:nvPr/>
        </p:nvSpPr>
        <p:spPr>
          <a:xfrm>
            <a:off x="13412490" y="2575142"/>
            <a:ext cx="3615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68-line1"/>
          <p:cNvSpPr>
            <a:spLocks noGrp="1"/>
          </p:cNvSpPr>
          <p:nvPr/>
        </p:nvSpPr>
        <p:spPr>
          <a:xfrm>
            <a:off x="13716909" y="2575142"/>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P</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2" name="p268-line1-subscript"/>
          <p:cNvSpPr>
            <a:spLocks noGrp="1"/>
          </p:cNvSpPr>
          <p:nvPr/>
        </p:nvSpPr>
        <p:spPr>
          <a:xfrm>
            <a:off x="13971227" y="2712302"/>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268-line1"/>
          <p:cNvSpPr>
            <a:spLocks noGrp="1"/>
          </p:cNvSpPr>
          <p:nvPr/>
        </p:nvSpPr>
        <p:spPr>
          <a:xfrm>
            <a:off x="14122103" y="2575142"/>
            <a:ext cx="42929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268-line1"/>
          <p:cNvSpPr>
            <a:spLocks noGrp="1"/>
          </p:cNvSpPr>
          <p:nvPr/>
        </p:nvSpPr>
        <p:spPr>
          <a:xfrm>
            <a:off x="14494245" y="2575142"/>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P</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5" name="p268-line1-subscript"/>
          <p:cNvSpPr>
            <a:spLocks noGrp="1"/>
          </p:cNvSpPr>
          <p:nvPr/>
        </p:nvSpPr>
        <p:spPr>
          <a:xfrm>
            <a:off x="14748562" y="2712302"/>
            <a:ext cx="509778"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pub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6" name="p268-line1-subscript"/>
          <p:cNvSpPr>
            <a:spLocks noGrp="1"/>
          </p:cNvSpPr>
          <p:nvPr/>
        </p:nvSpPr>
        <p:spPr>
          <a:xfrm>
            <a:off x="15201190" y="2712302"/>
            <a:ext cx="291511" cy="594360"/>
          </a:xfrm>
          <a:prstGeom prst="rect">
            <a:avLst/>
          </a:prstGeom>
          <a:noFill/>
          <a:ln w="0">
            <a:noFill/>
          </a:ln>
        </p:spPr>
        <p:txBody>
          <a:bodyPr wrap="none" lIns="0" tIns="0" rIns="0" bIns="0" anchor="t">
            <a:noAutofit/>
          </a:bodyPr>
          <a:lstStyle>
            <a:def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1">
                <a:latin typeface="Times New Roman" panose="02020603050405020304" pitchFamily="18" charset="0"/>
                <a:ea typeface="宋体" panose="02010600030101010101" pitchFamily="2" charset="-122"/>
                <a:cs typeface="字由点字典黑 2"/>
                <a:sym typeface="字由点字典黑 2"/>
              </a:rPr>
              <a:t>-e</a:t>
            </a:r>
            <a:endParaRPr sz="2375" b="0" i="1">
              <a:latin typeface="Times New Roman" panose="02020603050405020304" pitchFamily="18" charset="0"/>
              <a:ea typeface="宋体" panose="02010600030101010101" pitchFamily="2" charset="-122"/>
              <a:cs typeface="字由点字典黑 2"/>
              <a:sym typeface="字由点字典黑 2"/>
            </a:endParaRPr>
          </a:p>
        </p:txBody>
      </p:sp>
      <p:sp>
        <p:nvSpPr>
          <p:cNvPr id="37" name="p268-line1"/>
          <p:cNvSpPr>
            <a:spLocks noGrp="1"/>
          </p:cNvSpPr>
          <p:nvPr/>
        </p:nvSpPr>
        <p:spPr>
          <a:xfrm>
            <a:off x="15435551" y="257514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269-line1"/>
          <p:cNvSpPr>
            <a:spLocks noGrp="1"/>
          </p:cNvSpPr>
          <p:nvPr/>
        </p:nvSpPr>
        <p:spPr>
          <a:xfrm>
            <a:off x="2608081" y="3400388"/>
            <a:ext cx="53913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第2步（B2）：产生随机数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9" name="p269-line1"/>
          <p:cNvSpPr>
            <a:spLocks noGrp="1"/>
          </p:cNvSpPr>
          <p:nvPr/>
        </p:nvSpPr>
        <p:spPr>
          <a:xfrm>
            <a:off x="7942272" y="3400388"/>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0" name="p269-line1-subscript"/>
          <p:cNvSpPr>
            <a:spLocks noGrp="1"/>
          </p:cNvSpPr>
          <p:nvPr/>
        </p:nvSpPr>
        <p:spPr>
          <a:xfrm>
            <a:off x="8094481" y="3537548"/>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1" name="p269-line1"/>
          <p:cNvSpPr>
            <a:spLocks noGrp="1"/>
          </p:cNvSpPr>
          <p:nvPr/>
        </p:nvSpPr>
        <p:spPr>
          <a:xfrm>
            <a:off x="8295775" y="3400388"/>
            <a:ext cx="1352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269-line1"/>
          <p:cNvSpPr>
            <a:spLocks noGrp="1"/>
          </p:cNvSpPr>
          <p:nvPr/>
        </p:nvSpPr>
        <p:spPr>
          <a:xfrm>
            <a:off x="9590984" y="3400388"/>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3" name="p269-line1"/>
          <p:cNvSpPr>
            <a:spLocks noGrp="1"/>
          </p:cNvSpPr>
          <p:nvPr/>
        </p:nvSpPr>
        <p:spPr>
          <a:xfrm>
            <a:off x="9921121" y="3400388"/>
            <a:ext cx="104736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4" name="p270-line1"/>
          <p:cNvSpPr>
            <a:spLocks noGrp="1"/>
          </p:cNvSpPr>
          <p:nvPr/>
        </p:nvSpPr>
        <p:spPr>
          <a:xfrm>
            <a:off x="2608081" y="4225634"/>
            <a:ext cx="44769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第3步（B3）：计算群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5" name="p270-line1"/>
          <p:cNvSpPr>
            <a:spLocks noGrp="1"/>
          </p:cNvSpPr>
          <p:nvPr/>
        </p:nvSpPr>
        <p:spPr>
          <a:xfrm>
            <a:off x="7027872" y="422563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6" name="p270-line1-subscript"/>
          <p:cNvSpPr>
            <a:spLocks noGrp="1"/>
          </p:cNvSpPr>
          <p:nvPr/>
        </p:nvSpPr>
        <p:spPr>
          <a:xfrm>
            <a:off x="7358008" y="4362794"/>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7" name="p270-line1"/>
          <p:cNvSpPr>
            <a:spLocks noGrp="1"/>
          </p:cNvSpPr>
          <p:nvPr/>
        </p:nvSpPr>
        <p:spPr>
          <a:xfrm>
            <a:off x="7508884" y="4225634"/>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8" name="p270-line1"/>
          <p:cNvSpPr>
            <a:spLocks noGrp="1"/>
          </p:cNvSpPr>
          <p:nvPr/>
        </p:nvSpPr>
        <p:spPr>
          <a:xfrm>
            <a:off x="9337684" y="4225634"/>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9" name="p270-line1-subscript"/>
          <p:cNvSpPr>
            <a:spLocks noGrp="1"/>
          </p:cNvSpPr>
          <p:nvPr/>
        </p:nvSpPr>
        <p:spPr>
          <a:xfrm>
            <a:off x="9642675" y="4362794"/>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0" name="p270-line1"/>
          <p:cNvSpPr>
            <a:spLocks noGrp="1"/>
          </p:cNvSpPr>
          <p:nvPr/>
        </p:nvSpPr>
        <p:spPr>
          <a:xfrm>
            <a:off x="9843968" y="4225634"/>
            <a:ext cx="69580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1" name="p270-line1"/>
          <p:cNvSpPr>
            <a:spLocks noGrp="1"/>
          </p:cNvSpPr>
          <p:nvPr/>
        </p:nvSpPr>
        <p:spPr>
          <a:xfrm>
            <a:off x="10482619" y="4225634"/>
            <a:ext cx="209359"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2" name="p270-line1-subscript"/>
          <p:cNvSpPr>
            <a:spLocks noGrp="1"/>
          </p:cNvSpPr>
          <p:nvPr/>
        </p:nvSpPr>
        <p:spPr>
          <a:xfrm>
            <a:off x="10634829" y="4362794"/>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3" name="p270-line1"/>
          <p:cNvSpPr>
            <a:spLocks noGrp="1"/>
          </p:cNvSpPr>
          <p:nvPr/>
        </p:nvSpPr>
        <p:spPr>
          <a:xfrm>
            <a:off x="10836123" y="4225634"/>
            <a:ext cx="209359"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4" name="p270-line1"/>
          <p:cNvSpPr>
            <a:spLocks noGrp="1"/>
          </p:cNvSpPr>
          <p:nvPr/>
        </p:nvSpPr>
        <p:spPr>
          <a:xfrm>
            <a:off x="10988332" y="4225634"/>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Q</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5" name="p270-line1-subscript"/>
          <p:cNvSpPr>
            <a:spLocks noGrp="1"/>
          </p:cNvSpPr>
          <p:nvPr/>
        </p:nvSpPr>
        <p:spPr>
          <a:xfrm>
            <a:off x="11318469" y="4362794"/>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6" name="p270-line1"/>
          <p:cNvSpPr>
            <a:spLocks noGrp="1"/>
          </p:cNvSpPr>
          <p:nvPr/>
        </p:nvSpPr>
        <p:spPr>
          <a:xfrm>
            <a:off x="11536359" y="422563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7" name="p271-line1"/>
          <p:cNvSpPr>
            <a:spLocks noGrp="1"/>
          </p:cNvSpPr>
          <p:nvPr/>
        </p:nvSpPr>
        <p:spPr>
          <a:xfrm>
            <a:off x="2608081" y="5050880"/>
            <a:ext cx="10420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第4步（B4）：按椭圆曲线子群上点的验证方法验证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8" name="p271-line1"/>
          <p:cNvSpPr>
            <a:spLocks noGrp="1"/>
          </p:cNvSpPr>
          <p:nvPr/>
        </p:nvSpPr>
        <p:spPr>
          <a:xfrm>
            <a:off x="12971472" y="5050880"/>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9" name="p271-line1-subscript"/>
          <p:cNvSpPr>
            <a:spLocks noGrp="1"/>
          </p:cNvSpPr>
          <p:nvPr/>
        </p:nvSpPr>
        <p:spPr>
          <a:xfrm>
            <a:off x="13276462" y="5188040"/>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60" name="p271-line1"/>
          <p:cNvSpPr>
            <a:spLocks noGrp="1"/>
          </p:cNvSpPr>
          <p:nvPr/>
        </p:nvSpPr>
        <p:spPr>
          <a:xfrm>
            <a:off x="13494352" y="505088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61" name="p271-line1"/>
          <p:cNvSpPr>
            <a:spLocks noGrp="1"/>
          </p:cNvSpPr>
          <p:nvPr/>
        </p:nvSpPr>
        <p:spPr>
          <a:xfrm>
            <a:off x="13951552" y="5050880"/>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62" name="p271-line1-subscript"/>
          <p:cNvSpPr>
            <a:spLocks noGrp="1"/>
          </p:cNvSpPr>
          <p:nvPr/>
        </p:nvSpPr>
        <p:spPr>
          <a:xfrm>
            <a:off x="14281689" y="5188040"/>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63" name="p271-line1"/>
          <p:cNvSpPr>
            <a:spLocks noGrp="1"/>
          </p:cNvSpPr>
          <p:nvPr/>
        </p:nvSpPr>
        <p:spPr>
          <a:xfrm>
            <a:off x="14432565" y="5050880"/>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是否成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64" name="p271-line2"/>
          <p:cNvSpPr>
            <a:spLocks noGrp="1"/>
          </p:cNvSpPr>
          <p:nvPr/>
        </p:nvSpPr>
        <p:spPr>
          <a:xfrm>
            <a:off x="1693681" y="5844775"/>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立，若不成立则协商失败；否则计算群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66" name="p271-line2"/>
          <p:cNvSpPr>
            <a:spLocks noGrp="1"/>
          </p:cNvSpPr>
          <p:nvPr/>
        </p:nvSpPr>
        <p:spPr>
          <a:xfrm>
            <a:off x="9466081" y="5844775"/>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67" name="p271-line2-subscript"/>
          <p:cNvSpPr>
            <a:spLocks noGrp="1"/>
          </p:cNvSpPr>
          <p:nvPr/>
        </p:nvSpPr>
        <p:spPr>
          <a:xfrm>
            <a:off x="9796217" y="5981935"/>
            <a:ext cx="24147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T</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68" name="p271-line2"/>
          <p:cNvSpPr>
            <a:spLocks noGrp="1"/>
          </p:cNvSpPr>
          <p:nvPr/>
        </p:nvSpPr>
        <p:spPr>
          <a:xfrm>
            <a:off x="9980538" y="5844775"/>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69" name="图片 68"/>
          <p:cNvPicPr>
            <a:picLocks noChangeAspect="1"/>
          </p:cNvPicPr>
          <p:nvPr/>
        </p:nvPicPr>
        <p:blipFill>
          <a:blip r:embed="rId3">
            <a:clrChange>
              <a:clrFrom>
                <a:srgbClr val="FFFFFF"/>
              </a:clrFrom>
              <a:clrTo>
                <a:srgbClr val="FFFFFF">
                  <a:alpha val="0"/>
                </a:srgbClr>
              </a:clrTo>
            </a:clrChange>
          </a:blip>
          <a:stretch>
            <a:fillRect/>
          </a:stretch>
        </p:blipFill>
        <p:spPr>
          <a:xfrm>
            <a:off x="11897542" y="5761826"/>
            <a:ext cx="2946158" cy="705394"/>
          </a:xfrm>
          <a:prstGeom prst="rect">
            <a:avLst/>
          </a:prstGeom>
        </p:spPr>
      </p:pic>
      <p:sp>
        <p:nvSpPr>
          <p:cNvPr id="70" name="p271-line2"/>
          <p:cNvSpPr>
            <a:spLocks noGrp="1"/>
          </p:cNvSpPr>
          <p:nvPr/>
        </p:nvSpPr>
        <p:spPr>
          <a:xfrm>
            <a:off x="14931905" y="5844775"/>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71" name="图片 70"/>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backgroundRemoval t="9812" b="89785" l="4829" r="94829">
                        <a14:foregroundMark x1="4829" y1="39785" x2="8486" y2="75538"/>
                        <a14:foregroundMark x1="6657" y1="39785" x2="10571" y2="59274"/>
                        <a14:foregroundMark x1="17914" y1="48522" x2="22514" y2="51747"/>
                        <a14:foregroundMark x1="30086" y1="48522" x2="30086" y2="49597"/>
                        <a14:foregroundMark x1="17914" y1="58199" x2="25257" y2="58199"/>
                        <a14:foregroundMark x1="38343" y1="27957" x2="41343" y2="46371"/>
                        <a14:foregroundMark x1="36971" y1="38710" x2="35371" y2="60349"/>
                        <a14:foregroundMark x1="43629" y1="70027" x2="62057" y2="88844"/>
                        <a14:foregroundMark x1="62057" y1="88844" x2="66371" y2="85215"/>
                        <a14:foregroundMark x1="65914" y1="53898" x2="64057" y2="64651"/>
                        <a14:foregroundMark x1="48457" y1="70027" x2="44086" y2="71102"/>
                        <a14:foregroundMark x1="76457" y1="43145" x2="80371" y2="37634"/>
                        <a14:foregroundMark x1="81743" y1="64651" x2="82200" y2="66801"/>
                        <a14:foregroundMark x1="86800" y1="22581" x2="89086" y2="75538"/>
                        <a14:foregroundMark x1="84514" y1="72312" x2="83343" y2="83065"/>
                        <a14:foregroundMark x1="91400" y1="27957" x2="94371" y2="38710"/>
                        <a14:foregroundMark x1="94829" y1="39785" x2="90714" y2="30108"/>
                      </a14:backgroundRemoval>
                    </a14:imgEffect>
                  </a14:imgLayer>
                </a14:imgProps>
              </a:ext>
            </a:extLst>
          </a:blip>
          <a:stretch>
            <a:fillRect/>
          </a:stretch>
        </p:blipFill>
        <p:spPr>
          <a:xfrm>
            <a:off x="1800422" y="6638670"/>
            <a:ext cx="3318387" cy="705394"/>
          </a:xfrm>
          <a:prstGeom prst="rect">
            <a:avLst/>
          </a:prstGeom>
        </p:spPr>
      </p:pic>
      <p:sp>
        <p:nvSpPr>
          <p:cNvPr id="72" name="p271-line3"/>
          <p:cNvSpPr>
            <a:spLocks noGrp="1"/>
          </p:cNvSpPr>
          <p:nvPr/>
        </p:nvSpPr>
        <p:spPr>
          <a:xfrm>
            <a:off x="5225551" y="672161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73" name="图片 72"/>
          <p:cNvPicPr>
            <a:picLocks noChangeAspect="1"/>
          </p:cNvPicPr>
          <p:nvPr/>
        </p:nvPicPr>
        <p:blipFill>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backgroundRemoval t="9973" b="89891" l="7886" r="90714">
                        <a14:foregroundMark x1="14257" y1="50611" x2="22914" y2="70081"/>
                        <a14:foregroundMark x1="7914" y1="49593" x2="19286" y2="68996"/>
                        <a14:foregroundMark x1="24743" y1="54953" x2="25200" y2="79783"/>
                        <a14:foregroundMark x1="52029" y1="50611" x2="48857" y2="56038"/>
                        <a14:foregroundMark x1="46114" y1="58209" x2="45657" y2="47422"/>
                        <a14:foregroundMark x1="64771" y1="50611" x2="75229" y2="78697"/>
                        <a14:foregroundMark x1="84343" y1="26866" x2="87971" y2="39824"/>
                        <a14:foregroundMark x1="90714" y1="36567" x2="81143" y2="37653"/>
                      </a14:backgroundRemoval>
                    </a14:imgEffect>
                  </a14:imgLayer>
                </a14:imgProps>
              </a:ext>
            </a:extLst>
          </a:blip>
          <a:stretch>
            <a:fillRect/>
          </a:stretch>
        </p:blipFill>
        <p:spPr>
          <a:xfrm>
            <a:off x="5714227" y="6638670"/>
            <a:ext cx="1674953" cy="705394"/>
          </a:xfrm>
          <a:prstGeom prst="rect">
            <a:avLst/>
          </a:prstGeom>
        </p:spPr>
      </p:pic>
      <p:sp>
        <p:nvSpPr>
          <p:cNvPr id="74" name="p271-line3"/>
          <p:cNvSpPr>
            <a:spLocks noGrp="1"/>
          </p:cNvSpPr>
          <p:nvPr/>
        </p:nvSpPr>
        <p:spPr>
          <a:xfrm>
            <a:off x="7420655" y="672161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75" name="图片 74"/>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backgroundRemoval t="9848" b="89884" l="6800" r="94314">
                        <a14:foregroundMark x1="12657" y1="42704" x2="13743" y2="42704"/>
                        <a14:foregroundMark x1="10829" y1="50671" x2="9714" y2="54073"/>
                        <a14:foregroundMark x1="14114" y1="55237" x2="11914" y2="60967"/>
                        <a14:foregroundMark x1="57486" y1="67771" x2="57114" y2="66697"/>
                        <a14:foregroundMark x1="19200" y1="68935" x2="21771" y2="75828"/>
                        <a14:foregroundMark x1="7914" y1="67771" x2="20657" y2="64369"/>
                        <a14:foregroundMark x1="23943" y1="60967" x2="22486" y2="64369"/>
                        <a14:foregroundMark x1="6800" y1="71262" x2="7171" y2="66697"/>
                        <a14:foregroundMark x1="49457" y1="44942" x2="45457" y2="74664"/>
                        <a14:foregroundMark x1="44371" y1="47269" x2="46914" y2="56401"/>
                        <a14:foregroundMark x1="55657" y1="62131" x2="56400" y2="73500"/>
                        <a14:foregroundMark x1="63314" y1="58639" x2="60400" y2="59803"/>
                        <a14:foregroundMark x1="89200" y1="65533" x2="94314" y2="66697"/>
                        <a14:foregroundMark x1="80829" y1="41540" x2="83743" y2="63205"/>
                      </a14:backgroundRemoval>
                    </a14:imgEffect>
                  </a14:imgLayer>
                </a14:imgProps>
              </a:ext>
            </a:extLst>
          </a:blip>
          <a:stretch>
            <a:fillRect/>
          </a:stretch>
        </p:blipFill>
        <p:spPr>
          <a:xfrm>
            <a:off x="8820830" y="6657854"/>
            <a:ext cx="2090057" cy="667027"/>
          </a:xfrm>
          <a:prstGeom prst="rect">
            <a:avLst/>
          </a:prstGeom>
        </p:spPr>
      </p:pic>
      <p:sp>
        <p:nvSpPr>
          <p:cNvPr id="76" name="p271-line3"/>
          <p:cNvSpPr>
            <a:spLocks noGrp="1"/>
          </p:cNvSpPr>
          <p:nvPr/>
        </p:nvSpPr>
        <p:spPr>
          <a:xfrm>
            <a:off x="10939462" y="6721619"/>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的数据类型转换为比特串。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1" name="p272-line1"/>
          <p:cNvSpPr>
            <a:spLocks noGrp="1"/>
          </p:cNvSpPr>
          <p:nvPr/>
        </p:nvSpPr>
        <p:spPr>
          <a:xfrm>
            <a:off x="2667000" y="1800225"/>
            <a:ext cx="3562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第5步（B5）：将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72-line1"/>
          <p:cNvSpPr>
            <a:spLocks noGrp="1"/>
          </p:cNvSpPr>
          <p:nvPr/>
        </p:nvSpPr>
        <p:spPr>
          <a:xfrm>
            <a:off x="6172391" y="1800225"/>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 name="p272-line1-subscript"/>
          <p:cNvSpPr>
            <a:spLocks noGrp="1"/>
          </p:cNvSpPr>
          <p:nvPr/>
        </p:nvSpPr>
        <p:spPr>
          <a:xfrm>
            <a:off x="6477381" y="1937385"/>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72-line1"/>
          <p:cNvSpPr>
            <a:spLocks noGrp="1"/>
          </p:cNvSpPr>
          <p:nvPr/>
        </p:nvSpPr>
        <p:spPr>
          <a:xfrm>
            <a:off x="6695271" y="1800225"/>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72-line1"/>
          <p:cNvSpPr>
            <a:spLocks noGrp="1"/>
          </p:cNvSpPr>
          <p:nvPr/>
        </p:nvSpPr>
        <p:spPr>
          <a:xfrm>
            <a:off x="7152471" y="1800225"/>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7" name="p272-line1-subscript"/>
          <p:cNvSpPr>
            <a:spLocks noGrp="1"/>
          </p:cNvSpPr>
          <p:nvPr/>
        </p:nvSpPr>
        <p:spPr>
          <a:xfrm>
            <a:off x="7457462" y="1937385"/>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72-line1"/>
          <p:cNvSpPr>
            <a:spLocks noGrp="1"/>
          </p:cNvSpPr>
          <p:nvPr/>
        </p:nvSpPr>
        <p:spPr>
          <a:xfrm>
            <a:off x="7658755" y="1800225"/>
            <a:ext cx="7042404"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的数据类型转换为比特串，计算SK</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72-line1-subscript"/>
          <p:cNvSpPr>
            <a:spLocks noGrp="1"/>
          </p:cNvSpPr>
          <p:nvPr/>
        </p:nvSpPr>
        <p:spPr>
          <a:xfrm>
            <a:off x="14644009" y="1937385"/>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72-line1"/>
          <p:cNvSpPr>
            <a:spLocks noGrp="1"/>
          </p:cNvSpPr>
          <p:nvPr/>
        </p:nvSpPr>
        <p:spPr>
          <a:xfrm>
            <a:off x="14845303" y="1800225"/>
            <a:ext cx="161039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KDF(</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72-line2"/>
          <p:cNvSpPr>
            <a:spLocks noGrp="1"/>
          </p:cNvSpPr>
          <p:nvPr/>
        </p:nvSpPr>
        <p:spPr>
          <a:xfrm>
            <a:off x="1752600" y="2511171"/>
            <a:ext cx="53949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72-line2-subscript"/>
          <p:cNvSpPr>
            <a:spLocks noGrp="1"/>
          </p:cNvSpPr>
          <p:nvPr/>
        </p:nvSpPr>
        <p:spPr>
          <a:xfrm>
            <a:off x="2234946" y="2648331"/>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72-line2"/>
          <p:cNvSpPr>
            <a:spLocks noGrp="1"/>
          </p:cNvSpPr>
          <p:nvPr/>
        </p:nvSpPr>
        <p:spPr>
          <a:xfrm>
            <a:off x="2452836" y="2511171"/>
            <a:ext cx="95116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ID</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72-line2-subscript"/>
          <p:cNvSpPr>
            <a:spLocks noGrp="1"/>
          </p:cNvSpPr>
          <p:nvPr/>
        </p:nvSpPr>
        <p:spPr>
          <a:xfrm>
            <a:off x="3346853" y="2648331"/>
            <a:ext cx="333882"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 </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72-line2"/>
          <p:cNvSpPr>
            <a:spLocks noGrp="1"/>
          </p:cNvSpPr>
          <p:nvPr/>
        </p:nvSpPr>
        <p:spPr>
          <a:xfrm>
            <a:off x="3623584" y="2511171"/>
            <a:ext cx="35452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72-line2"/>
          <p:cNvSpPr>
            <a:spLocks noGrp="1"/>
          </p:cNvSpPr>
          <p:nvPr/>
        </p:nvSpPr>
        <p:spPr>
          <a:xfrm>
            <a:off x="3920955" y="2511171"/>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7" name="p272-line2-subscript"/>
          <p:cNvSpPr>
            <a:spLocks noGrp="1"/>
          </p:cNvSpPr>
          <p:nvPr/>
        </p:nvSpPr>
        <p:spPr>
          <a:xfrm>
            <a:off x="4225945" y="2648331"/>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272-line2"/>
          <p:cNvSpPr>
            <a:spLocks noGrp="1"/>
          </p:cNvSpPr>
          <p:nvPr/>
        </p:nvSpPr>
        <p:spPr>
          <a:xfrm>
            <a:off x="4443835" y="2511171"/>
            <a:ext cx="46882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272-line2"/>
          <p:cNvSpPr>
            <a:spLocks noGrp="1"/>
          </p:cNvSpPr>
          <p:nvPr/>
        </p:nvSpPr>
        <p:spPr>
          <a:xfrm>
            <a:off x="4855506" y="2511171"/>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0" name="p272-line2-subscript"/>
          <p:cNvSpPr>
            <a:spLocks noGrp="1"/>
          </p:cNvSpPr>
          <p:nvPr/>
        </p:nvSpPr>
        <p:spPr>
          <a:xfrm>
            <a:off x="5160496" y="2648331"/>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72-line2"/>
          <p:cNvSpPr>
            <a:spLocks noGrp="1"/>
          </p:cNvSpPr>
          <p:nvPr/>
        </p:nvSpPr>
        <p:spPr>
          <a:xfrm>
            <a:off x="5361790" y="2511171"/>
            <a:ext cx="46882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72-line2"/>
          <p:cNvSpPr>
            <a:spLocks noGrp="1"/>
          </p:cNvSpPr>
          <p:nvPr/>
        </p:nvSpPr>
        <p:spPr>
          <a:xfrm>
            <a:off x="5773461" y="2511171"/>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3" name="p272-line2-subscript"/>
          <p:cNvSpPr>
            <a:spLocks noGrp="1"/>
          </p:cNvSpPr>
          <p:nvPr/>
        </p:nvSpPr>
        <p:spPr>
          <a:xfrm>
            <a:off x="6002061" y="264833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272-line2"/>
          <p:cNvSpPr>
            <a:spLocks noGrp="1"/>
          </p:cNvSpPr>
          <p:nvPr/>
        </p:nvSpPr>
        <p:spPr>
          <a:xfrm>
            <a:off x="6152937" y="2511171"/>
            <a:ext cx="46882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272-line2"/>
          <p:cNvSpPr>
            <a:spLocks noGrp="1"/>
          </p:cNvSpPr>
          <p:nvPr/>
        </p:nvSpPr>
        <p:spPr>
          <a:xfrm>
            <a:off x="6564607" y="2511171"/>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6" name="p272-line2-subscript"/>
          <p:cNvSpPr>
            <a:spLocks noGrp="1"/>
          </p:cNvSpPr>
          <p:nvPr/>
        </p:nvSpPr>
        <p:spPr>
          <a:xfrm>
            <a:off x="6793207" y="264833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272-line2"/>
          <p:cNvSpPr>
            <a:spLocks noGrp="1"/>
          </p:cNvSpPr>
          <p:nvPr/>
        </p:nvSpPr>
        <p:spPr>
          <a:xfrm>
            <a:off x="6944083" y="2511171"/>
            <a:ext cx="46882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272-line2"/>
          <p:cNvSpPr>
            <a:spLocks noGrp="1"/>
          </p:cNvSpPr>
          <p:nvPr/>
        </p:nvSpPr>
        <p:spPr>
          <a:xfrm>
            <a:off x="7355754" y="2511171"/>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9" name="p272-line2-subscript"/>
          <p:cNvSpPr>
            <a:spLocks noGrp="1"/>
          </p:cNvSpPr>
          <p:nvPr/>
        </p:nvSpPr>
        <p:spPr>
          <a:xfrm>
            <a:off x="7584354" y="264833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3</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272-line2"/>
          <p:cNvSpPr>
            <a:spLocks noGrp="1"/>
          </p:cNvSpPr>
          <p:nvPr/>
        </p:nvSpPr>
        <p:spPr>
          <a:xfrm>
            <a:off x="7735230" y="2511171"/>
            <a:ext cx="191090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，klen)。</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2" name="p273-line1"/>
          <p:cNvSpPr>
            <a:spLocks noGrp="1"/>
          </p:cNvSpPr>
          <p:nvPr/>
        </p:nvSpPr>
        <p:spPr>
          <a:xfrm>
            <a:off x="2667000" y="3336417"/>
            <a:ext cx="4019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第6步（B6）：计算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3" name="图片 42"/>
          <p:cNvPicPr>
            <a:picLocks noChangeAspect="1"/>
          </p:cNvPicPr>
          <p:nvPr/>
        </p:nvPicPr>
        <p:blipFill>
          <a:blip r:embed="rId3">
            <a:clrChange>
              <a:clrFrom>
                <a:srgbClr val="FFFFFF"/>
              </a:clrFrom>
              <a:clrTo>
                <a:srgbClr val="FFFFFF">
                  <a:alpha val="0"/>
                </a:srgbClr>
              </a:clrTo>
            </a:clrChange>
          </a:blip>
          <a:stretch>
            <a:fillRect/>
          </a:stretch>
        </p:blipFill>
        <p:spPr>
          <a:xfrm>
            <a:off x="2108623" y="4047363"/>
            <a:ext cx="9612509" cy="777240"/>
          </a:xfrm>
          <a:prstGeom prst="rect">
            <a:avLst/>
          </a:prstGeom>
        </p:spPr>
      </p:pic>
      <p:sp>
        <p:nvSpPr>
          <p:cNvPr id="44" name="p273-line2"/>
          <p:cNvSpPr>
            <a:spLocks noGrp="1"/>
          </p:cNvSpPr>
          <p:nvPr/>
        </p:nvSpPr>
        <p:spPr>
          <a:xfrm>
            <a:off x="12077156" y="4166235"/>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5" name="p274-line1"/>
          <p:cNvSpPr>
            <a:spLocks noGrp="1"/>
          </p:cNvSpPr>
          <p:nvPr/>
        </p:nvSpPr>
        <p:spPr>
          <a:xfrm>
            <a:off x="2667000" y="5110353"/>
            <a:ext cx="3562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第7步（B7）：将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6" name="p274-line1"/>
          <p:cNvSpPr>
            <a:spLocks noGrp="1"/>
          </p:cNvSpPr>
          <p:nvPr/>
        </p:nvSpPr>
        <p:spPr>
          <a:xfrm>
            <a:off x="6172391" y="5110353"/>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7" name="p274-line1-subscript"/>
          <p:cNvSpPr>
            <a:spLocks noGrp="1"/>
          </p:cNvSpPr>
          <p:nvPr/>
        </p:nvSpPr>
        <p:spPr>
          <a:xfrm>
            <a:off x="6477381" y="5247513"/>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8" name="p274-line1"/>
          <p:cNvSpPr>
            <a:spLocks noGrp="1"/>
          </p:cNvSpPr>
          <p:nvPr/>
        </p:nvSpPr>
        <p:spPr>
          <a:xfrm>
            <a:off x="6678675" y="511035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、选项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9" name="p274-line1"/>
          <p:cNvSpPr>
            <a:spLocks noGrp="1"/>
          </p:cNvSpPr>
          <p:nvPr/>
        </p:nvSpPr>
        <p:spPr>
          <a:xfrm>
            <a:off x="8050275" y="5110353"/>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50" name="p274-line1-subscript"/>
          <p:cNvSpPr>
            <a:spLocks noGrp="1"/>
          </p:cNvSpPr>
          <p:nvPr/>
        </p:nvSpPr>
        <p:spPr>
          <a:xfrm>
            <a:off x="8304592" y="5247513"/>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51" name="p274-line1"/>
          <p:cNvSpPr>
            <a:spLocks noGrp="1"/>
          </p:cNvSpPr>
          <p:nvPr/>
        </p:nvSpPr>
        <p:spPr>
          <a:xfrm>
            <a:off x="8505886" y="5110353"/>
            <a:ext cx="31304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发送给用户A。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1" name="p276-line1"/>
          <p:cNvSpPr>
            <a:spLocks noGrp="1"/>
          </p:cNvSpPr>
          <p:nvPr/>
        </p:nvSpPr>
        <p:spPr>
          <a:xfrm>
            <a:off x="2717800" y="2541597"/>
            <a:ext cx="10445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第4步（A4）：按椭圆曲线子群上点的验证方法验证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76-line1"/>
          <p:cNvSpPr>
            <a:spLocks noGrp="1"/>
          </p:cNvSpPr>
          <p:nvPr/>
        </p:nvSpPr>
        <p:spPr>
          <a:xfrm>
            <a:off x="13106336" y="2541597"/>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 name="p276-line1-subscript"/>
          <p:cNvSpPr>
            <a:spLocks noGrp="1"/>
          </p:cNvSpPr>
          <p:nvPr/>
        </p:nvSpPr>
        <p:spPr>
          <a:xfrm>
            <a:off x="13411327" y="2678757"/>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76-line1"/>
          <p:cNvSpPr>
            <a:spLocks noGrp="1"/>
          </p:cNvSpPr>
          <p:nvPr/>
        </p:nvSpPr>
        <p:spPr>
          <a:xfrm>
            <a:off x="13612621" y="254159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76-line1"/>
          <p:cNvSpPr>
            <a:spLocks noGrp="1"/>
          </p:cNvSpPr>
          <p:nvPr/>
        </p:nvSpPr>
        <p:spPr>
          <a:xfrm>
            <a:off x="14069821" y="2541597"/>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7" name="p276-line1-subscript"/>
          <p:cNvSpPr>
            <a:spLocks noGrp="1"/>
          </p:cNvSpPr>
          <p:nvPr/>
        </p:nvSpPr>
        <p:spPr>
          <a:xfrm>
            <a:off x="14399957" y="2678757"/>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76-line1"/>
          <p:cNvSpPr>
            <a:spLocks noGrp="1"/>
          </p:cNvSpPr>
          <p:nvPr/>
        </p:nvSpPr>
        <p:spPr>
          <a:xfrm>
            <a:off x="14550833" y="2541597"/>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是否成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76-line2"/>
          <p:cNvSpPr>
            <a:spLocks noGrp="1"/>
          </p:cNvSpPr>
          <p:nvPr/>
        </p:nvSpPr>
        <p:spPr>
          <a:xfrm>
            <a:off x="1803400" y="3335492"/>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立，若不成立则协商失败；否则计算群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76-line2"/>
          <p:cNvSpPr>
            <a:spLocks noGrp="1"/>
          </p:cNvSpPr>
          <p:nvPr/>
        </p:nvSpPr>
        <p:spPr>
          <a:xfrm>
            <a:off x="9575800" y="3335492"/>
            <a:ext cx="387286"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G</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1" name="p276-line2-subscript"/>
          <p:cNvSpPr>
            <a:spLocks noGrp="1"/>
          </p:cNvSpPr>
          <p:nvPr/>
        </p:nvSpPr>
        <p:spPr>
          <a:xfrm>
            <a:off x="9905936" y="3472652"/>
            <a:ext cx="24147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T</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276-line2"/>
          <p:cNvSpPr>
            <a:spLocks noGrp="1"/>
          </p:cNvSpPr>
          <p:nvPr/>
        </p:nvSpPr>
        <p:spPr>
          <a:xfrm>
            <a:off x="10090257" y="3335492"/>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中的元素</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3">
            <a:clrChange>
              <a:clrFrom>
                <a:srgbClr val="FFFFFF"/>
              </a:clrFrom>
              <a:clrTo>
                <a:srgbClr val="FFFFFF">
                  <a:alpha val="0"/>
                </a:srgbClr>
              </a:clrTo>
            </a:clrChange>
          </a:blip>
          <a:stretch>
            <a:fillRect/>
          </a:stretch>
        </p:blipFill>
        <p:spPr>
          <a:xfrm>
            <a:off x="12045629" y="3252543"/>
            <a:ext cx="3278725" cy="705394"/>
          </a:xfrm>
          <a:prstGeom prst="rect">
            <a:avLst/>
          </a:prstGeom>
        </p:spPr>
      </p:pic>
      <p:sp>
        <p:nvSpPr>
          <p:cNvPr id="24" name="p276-line2"/>
          <p:cNvSpPr>
            <a:spLocks noGrp="1"/>
          </p:cNvSpPr>
          <p:nvPr/>
        </p:nvSpPr>
        <p:spPr>
          <a:xfrm>
            <a:off x="15450927" y="333549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4">
            <a:clrChange>
              <a:clrFrom>
                <a:srgbClr val="FFFFFF"/>
              </a:clrFrom>
              <a:clrTo>
                <a:srgbClr val="FFFFFF">
                  <a:alpha val="0"/>
                </a:srgbClr>
              </a:clrTo>
            </a:clrChange>
          </a:blip>
          <a:stretch>
            <a:fillRect/>
          </a:stretch>
        </p:blipFill>
        <p:spPr>
          <a:xfrm>
            <a:off x="1905038" y="4129387"/>
            <a:ext cx="2988959" cy="705394"/>
          </a:xfrm>
          <a:prstGeom prst="rect">
            <a:avLst/>
          </a:prstGeom>
        </p:spPr>
      </p:pic>
      <p:sp>
        <p:nvSpPr>
          <p:cNvPr id="26" name="p276-line3"/>
          <p:cNvSpPr>
            <a:spLocks noGrp="1"/>
          </p:cNvSpPr>
          <p:nvPr/>
        </p:nvSpPr>
        <p:spPr>
          <a:xfrm>
            <a:off x="4995636" y="421233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5">
            <a:clrChange>
              <a:clrFrom>
                <a:srgbClr val="FFFFFF"/>
              </a:clrFrom>
              <a:clrTo>
                <a:srgbClr val="FFFFFF">
                  <a:alpha val="0"/>
                </a:srgbClr>
              </a:clrTo>
            </a:clrChange>
          </a:blip>
          <a:stretch>
            <a:fillRect/>
          </a:stretch>
        </p:blipFill>
        <p:spPr>
          <a:xfrm>
            <a:off x="5481411" y="4141057"/>
            <a:ext cx="2131423" cy="682055"/>
          </a:xfrm>
          <a:prstGeom prst="rect">
            <a:avLst/>
          </a:prstGeom>
        </p:spPr>
      </p:pic>
      <p:sp>
        <p:nvSpPr>
          <p:cNvPr id="28" name="p276-line3"/>
          <p:cNvSpPr>
            <a:spLocks noGrp="1"/>
          </p:cNvSpPr>
          <p:nvPr/>
        </p:nvSpPr>
        <p:spPr>
          <a:xfrm>
            <a:off x="7641409" y="4212336"/>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6">
            <a:clrChange>
              <a:clrFrom>
                <a:srgbClr val="FFFFFF"/>
              </a:clrFrom>
              <a:clrTo>
                <a:srgbClr val="FFFFFF">
                  <a:alpha val="0"/>
                </a:srgbClr>
              </a:clrTo>
            </a:clrChange>
          </a:blip>
          <a:stretch>
            <a:fillRect/>
          </a:stretch>
        </p:blipFill>
        <p:spPr>
          <a:xfrm>
            <a:off x="9041584" y="4148571"/>
            <a:ext cx="2090057" cy="667027"/>
          </a:xfrm>
          <a:prstGeom prst="rect">
            <a:avLst/>
          </a:prstGeom>
        </p:spPr>
      </p:pic>
      <p:sp>
        <p:nvSpPr>
          <p:cNvPr id="30" name="p276-line3"/>
          <p:cNvSpPr>
            <a:spLocks noGrp="1"/>
          </p:cNvSpPr>
          <p:nvPr/>
        </p:nvSpPr>
        <p:spPr>
          <a:xfrm>
            <a:off x="11160216" y="4212336"/>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的数据类型转换为比特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76-line4"/>
          <p:cNvSpPr>
            <a:spLocks noGrp="1"/>
          </p:cNvSpPr>
          <p:nvPr/>
        </p:nvSpPr>
        <p:spPr>
          <a:xfrm>
            <a:off x="1803400" y="5006232"/>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串。</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277-line1"/>
          <p:cNvSpPr>
            <a:spLocks noGrp="1"/>
          </p:cNvSpPr>
          <p:nvPr/>
        </p:nvSpPr>
        <p:spPr>
          <a:xfrm>
            <a:off x="2717800" y="5831478"/>
            <a:ext cx="35876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第5步（A5）：把</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277-line1"/>
          <p:cNvSpPr>
            <a:spLocks noGrp="1"/>
          </p:cNvSpPr>
          <p:nvPr/>
        </p:nvSpPr>
        <p:spPr>
          <a:xfrm>
            <a:off x="6248336" y="5831478"/>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4" name="p277-line1-subscript"/>
          <p:cNvSpPr>
            <a:spLocks noGrp="1"/>
          </p:cNvSpPr>
          <p:nvPr/>
        </p:nvSpPr>
        <p:spPr>
          <a:xfrm>
            <a:off x="6553327" y="5968638"/>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277-line1"/>
          <p:cNvSpPr>
            <a:spLocks noGrp="1"/>
          </p:cNvSpPr>
          <p:nvPr/>
        </p:nvSpPr>
        <p:spPr>
          <a:xfrm>
            <a:off x="6771217" y="5831478"/>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6" name="p277-line1"/>
          <p:cNvSpPr>
            <a:spLocks noGrp="1"/>
          </p:cNvSpPr>
          <p:nvPr/>
        </p:nvSpPr>
        <p:spPr>
          <a:xfrm>
            <a:off x="7228417" y="5831478"/>
            <a:ext cx="362141"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R</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7" name="p277-line1-subscript"/>
          <p:cNvSpPr>
            <a:spLocks noGrp="1"/>
          </p:cNvSpPr>
          <p:nvPr/>
        </p:nvSpPr>
        <p:spPr>
          <a:xfrm>
            <a:off x="7533408" y="5968638"/>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277-line1"/>
          <p:cNvSpPr>
            <a:spLocks noGrp="1"/>
          </p:cNvSpPr>
          <p:nvPr/>
        </p:nvSpPr>
        <p:spPr>
          <a:xfrm>
            <a:off x="7734701" y="5831478"/>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的数据类型转换为比特串，计算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9" name="图片 38"/>
          <p:cNvPicPr>
            <a:picLocks noChangeAspect="1"/>
          </p:cNvPicPr>
          <p:nvPr/>
        </p:nvPicPr>
        <p:blipFill>
          <a:blip r:embed="rId7">
            <a:clrChange>
              <a:clrFrom>
                <a:srgbClr val="FFFFFF"/>
              </a:clrFrom>
              <a:clrTo>
                <a:srgbClr val="FFFFFF">
                  <a:alpha val="0"/>
                </a:srgbClr>
              </a:clrTo>
            </a:clrChange>
          </a:blip>
          <a:stretch>
            <a:fillRect/>
          </a:stretch>
        </p:blipFill>
        <p:spPr>
          <a:xfrm>
            <a:off x="1831975" y="6554663"/>
            <a:ext cx="5042263" cy="652613"/>
          </a:xfrm>
          <a:prstGeom prst="rect">
            <a:avLst/>
          </a:prstGeom>
        </p:spPr>
      </p:pic>
      <p:pic>
        <p:nvPicPr>
          <p:cNvPr id="40" name="图片 39"/>
          <p:cNvPicPr>
            <a:picLocks noChangeAspect="1"/>
          </p:cNvPicPr>
          <p:nvPr/>
        </p:nvPicPr>
        <p:blipFill>
          <a:blip r:embed="rId8">
            <a:clrChange>
              <a:clrFrom>
                <a:srgbClr val="FFFFFF"/>
              </a:clrFrom>
              <a:clrTo>
                <a:srgbClr val="FFFFFF">
                  <a:alpha val="0"/>
                </a:srgbClr>
              </a:clrTo>
            </a:clrChange>
          </a:blip>
          <a:stretch>
            <a:fillRect/>
          </a:stretch>
        </p:blipFill>
        <p:spPr>
          <a:xfrm>
            <a:off x="6931388" y="6555032"/>
            <a:ext cx="5564777" cy="651874"/>
          </a:xfrm>
          <a:prstGeom prst="rect">
            <a:avLst/>
          </a:prstGeom>
        </p:spPr>
      </p:pic>
      <p:sp>
        <p:nvSpPr>
          <p:cNvPr id="42" name="p277-line2"/>
          <p:cNvSpPr>
            <a:spLocks noGrp="1"/>
          </p:cNvSpPr>
          <p:nvPr/>
        </p:nvSpPr>
        <p:spPr>
          <a:xfrm>
            <a:off x="12524740" y="6611221"/>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，并检验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3" name="p277-line2"/>
          <p:cNvSpPr>
            <a:spLocks noGrp="1"/>
          </p:cNvSpPr>
          <p:nvPr/>
        </p:nvSpPr>
        <p:spPr>
          <a:xfrm>
            <a:off x="14353540" y="6611221"/>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4" name="p277-line2-subscript"/>
          <p:cNvSpPr>
            <a:spLocks noGrp="1"/>
          </p:cNvSpPr>
          <p:nvPr/>
        </p:nvSpPr>
        <p:spPr>
          <a:xfrm>
            <a:off x="14607858" y="6748381"/>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1</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5" name="p277-line2"/>
          <p:cNvSpPr>
            <a:spLocks noGrp="1"/>
          </p:cNvSpPr>
          <p:nvPr/>
        </p:nvSpPr>
        <p:spPr>
          <a:xfrm>
            <a:off x="14758734" y="6611221"/>
            <a:ext cx="54359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6" name="p277-line2"/>
          <p:cNvSpPr>
            <a:spLocks noGrp="1"/>
          </p:cNvSpPr>
          <p:nvPr/>
        </p:nvSpPr>
        <p:spPr>
          <a:xfrm>
            <a:off x="15245175" y="6611221"/>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7" name="p277-line2-subscript"/>
          <p:cNvSpPr>
            <a:spLocks noGrp="1"/>
          </p:cNvSpPr>
          <p:nvPr/>
        </p:nvSpPr>
        <p:spPr>
          <a:xfrm>
            <a:off x="15499493" y="6748381"/>
            <a:ext cx="258444"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B</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48" name="p277-line2"/>
          <p:cNvSpPr>
            <a:spLocks noGrp="1"/>
          </p:cNvSpPr>
          <p:nvPr/>
        </p:nvSpPr>
        <p:spPr>
          <a:xfrm>
            <a:off x="15700786" y="661122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9" name="p277-line3"/>
          <p:cNvSpPr>
            <a:spLocks noGrp="1"/>
          </p:cNvSpPr>
          <p:nvPr/>
        </p:nvSpPr>
        <p:spPr>
          <a:xfrm>
            <a:off x="1803400" y="7390965"/>
            <a:ext cx="10293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否成立，若等式不成立则从B到A的密钥确认失败。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0" name="p278-line1"/>
          <p:cNvSpPr>
            <a:spLocks noGrp="1"/>
          </p:cNvSpPr>
          <p:nvPr/>
        </p:nvSpPr>
        <p:spPr>
          <a:xfrm>
            <a:off x="2717800" y="8285009"/>
            <a:ext cx="4044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第6步（A6）：计算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1" name="图片 50"/>
          <p:cNvPicPr>
            <a:picLocks noChangeAspect="1"/>
          </p:cNvPicPr>
          <p:nvPr/>
        </p:nvPicPr>
        <p:blipFill>
          <a:blip r:embed="rId9">
            <a:clrChange>
              <a:clrFrom>
                <a:srgbClr val="FFFFFF"/>
              </a:clrFrom>
              <a:clrTo>
                <a:srgbClr val="FFFFFF">
                  <a:alpha val="0"/>
                </a:srgbClr>
              </a:clrTo>
            </a:clrChange>
          </a:blip>
          <a:stretch>
            <a:fillRect/>
          </a:stretch>
        </p:blipFill>
        <p:spPr>
          <a:xfrm>
            <a:off x="1831975" y="9009347"/>
            <a:ext cx="9405257" cy="650306"/>
          </a:xfrm>
          <a:prstGeom prst="rect">
            <a:avLst/>
          </a:prstGeom>
        </p:spPr>
      </p:pic>
      <p:sp>
        <p:nvSpPr>
          <p:cNvPr id="52" name="p278-line2"/>
          <p:cNvSpPr>
            <a:spLocks noGrp="1"/>
          </p:cNvSpPr>
          <p:nvPr/>
        </p:nvSpPr>
        <p:spPr>
          <a:xfrm>
            <a:off x="11265807" y="906475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4" name="p275-line1"/>
          <p:cNvSpPr>
            <a:spLocks noGrp="1"/>
          </p:cNvSpPr>
          <p:nvPr/>
        </p:nvSpPr>
        <p:spPr>
          <a:xfrm>
            <a:off x="2779866" y="1686743"/>
            <a:ext cx="1758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用户A。</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SM9密钥交换协议</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9" name="p279-line1"/>
          <p:cNvSpPr>
            <a:spLocks noGrp="1"/>
          </p:cNvSpPr>
          <p:nvPr/>
        </p:nvSpPr>
        <p:spPr>
          <a:xfrm>
            <a:off x="2667000" y="1800225"/>
            <a:ext cx="40448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第7步（A7）：计算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2100874" y="2511171"/>
            <a:ext cx="10150522" cy="777240"/>
          </a:xfrm>
          <a:prstGeom prst="rect">
            <a:avLst/>
          </a:prstGeom>
        </p:spPr>
      </p:pic>
      <p:sp>
        <p:nvSpPr>
          <p:cNvPr id="3" name="p279-line2"/>
          <p:cNvSpPr>
            <a:spLocks noGrp="1"/>
          </p:cNvSpPr>
          <p:nvPr/>
        </p:nvSpPr>
        <p:spPr>
          <a:xfrm>
            <a:off x="12599670" y="263004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79-line2"/>
          <p:cNvSpPr>
            <a:spLocks noGrp="1"/>
          </p:cNvSpPr>
          <p:nvPr/>
        </p:nvSpPr>
        <p:spPr>
          <a:xfrm>
            <a:off x="13971270" y="2630043"/>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0" name="p279-line2-subscript"/>
          <p:cNvSpPr>
            <a:spLocks noGrp="1"/>
          </p:cNvSpPr>
          <p:nvPr/>
        </p:nvSpPr>
        <p:spPr>
          <a:xfrm>
            <a:off x="14225588" y="2767203"/>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79-line2"/>
          <p:cNvSpPr>
            <a:spLocks noGrp="1"/>
          </p:cNvSpPr>
          <p:nvPr/>
        </p:nvSpPr>
        <p:spPr>
          <a:xfrm>
            <a:off x="14443478" y="2630043"/>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发送给用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79-line3"/>
          <p:cNvSpPr>
            <a:spLocks noGrp="1"/>
          </p:cNvSpPr>
          <p:nvPr/>
        </p:nvSpPr>
        <p:spPr>
          <a:xfrm>
            <a:off x="1752600" y="3459861"/>
            <a:ext cx="12765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80-line1"/>
          <p:cNvSpPr>
            <a:spLocks noGrp="1"/>
          </p:cNvSpPr>
          <p:nvPr/>
        </p:nvSpPr>
        <p:spPr>
          <a:xfrm>
            <a:off x="2667000" y="4285107"/>
            <a:ext cx="1733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用户B。</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81-line1"/>
          <p:cNvSpPr>
            <a:spLocks noGrp="1"/>
          </p:cNvSpPr>
          <p:nvPr/>
        </p:nvSpPr>
        <p:spPr>
          <a:xfrm>
            <a:off x="2667000" y="5110353"/>
            <a:ext cx="4019741"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第8步（B8）：计算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4">
            <a:clrChange>
              <a:clrFrom>
                <a:srgbClr val="FFFFFF"/>
              </a:clrFrom>
              <a:clrTo>
                <a:srgbClr val="FFFFFF">
                  <a:alpha val="0"/>
                </a:srgbClr>
              </a:clrTo>
            </a:clrChange>
          </a:blip>
          <a:stretch>
            <a:fillRect/>
          </a:stretch>
        </p:blipFill>
        <p:spPr>
          <a:xfrm>
            <a:off x="1834434" y="5821299"/>
            <a:ext cx="10611556" cy="818606"/>
          </a:xfrm>
          <a:prstGeom prst="rect">
            <a:avLst/>
          </a:prstGeom>
        </p:spPr>
      </p:pic>
      <p:sp>
        <p:nvSpPr>
          <p:cNvPr id="23" name="p281-line2"/>
          <p:cNvSpPr>
            <a:spLocks noGrp="1"/>
          </p:cNvSpPr>
          <p:nvPr/>
        </p:nvSpPr>
        <p:spPr>
          <a:xfrm>
            <a:off x="12527824" y="5960854"/>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，并检验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81-line2"/>
          <p:cNvSpPr>
            <a:spLocks noGrp="1"/>
          </p:cNvSpPr>
          <p:nvPr/>
        </p:nvSpPr>
        <p:spPr>
          <a:xfrm>
            <a:off x="14356624" y="5960854"/>
            <a:ext cx="3114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5" name="p281-line2-subscript"/>
          <p:cNvSpPr>
            <a:spLocks noGrp="1"/>
          </p:cNvSpPr>
          <p:nvPr/>
        </p:nvSpPr>
        <p:spPr>
          <a:xfrm>
            <a:off x="14610942" y="6098014"/>
            <a:ext cx="208026"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2</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81-line2"/>
          <p:cNvSpPr>
            <a:spLocks noGrp="1"/>
          </p:cNvSpPr>
          <p:nvPr/>
        </p:nvSpPr>
        <p:spPr>
          <a:xfrm>
            <a:off x="14761818" y="5960854"/>
            <a:ext cx="429292"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81-line2"/>
          <p:cNvSpPr>
            <a:spLocks noGrp="1"/>
          </p:cNvSpPr>
          <p:nvPr/>
        </p:nvSpPr>
        <p:spPr>
          <a:xfrm>
            <a:off x="15133960" y="5960854"/>
            <a:ext cx="425768"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 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8" name="p281-line2-subscript"/>
          <p:cNvSpPr>
            <a:spLocks noGrp="1"/>
          </p:cNvSpPr>
          <p:nvPr/>
        </p:nvSpPr>
        <p:spPr>
          <a:xfrm>
            <a:off x="15502577" y="6098014"/>
            <a:ext cx="275040" cy="594360"/>
          </a:xfrm>
          <a:prstGeom prst="rect">
            <a:avLst/>
          </a:prstGeom>
          <a:noFill/>
          <a:ln w="0">
            <a:noFill/>
          </a:ln>
        </p:spPr>
        <p:txBody>
          <a:bodyPr wrap="none" lIns="0" tIns="0" rIns="0" bIns="0" anchor="t">
            <a:noAutofit/>
          </a:bodyPr>
          <a:lstStyle>
            <a:def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2375"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2375" b="0" i="0">
                <a:latin typeface="Times New Roman" panose="02020603050405020304" pitchFamily="18" charset="0"/>
                <a:ea typeface="宋体" panose="02010600030101010101" pitchFamily="2" charset="-122"/>
                <a:cs typeface="字由点字典黑 2"/>
                <a:sym typeface="字由点字典黑 2"/>
              </a:rPr>
              <a:t>A</a:t>
            </a:r>
            <a:endParaRPr sz="2375" b="0" i="0">
              <a:latin typeface="Times New Roman" panose="02020603050405020304" pitchFamily="18" charset="0"/>
              <a:ea typeface="宋体" panose="02010600030101010101" pitchFamily="2" charset="-122"/>
              <a:cs typeface="字由点字典黑 2"/>
              <a:sym typeface="字由点字典黑 2"/>
            </a:endParaRPr>
          </a:p>
        </p:txBody>
      </p:sp>
      <p:sp>
        <p:nvSpPr>
          <p:cNvPr id="29" name="p281-line2"/>
          <p:cNvSpPr>
            <a:spLocks noGrp="1"/>
          </p:cNvSpPr>
          <p:nvPr/>
        </p:nvSpPr>
        <p:spPr>
          <a:xfrm>
            <a:off x="15720467" y="596085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281-line3"/>
          <p:cNvSpPr>
            <a:spLocks noGrp="1"/>
          </p:cNvSpPr>
          <p:nvPr/>
        </p:nvSpPr>
        <p:spPr>
          <a:xfrm>
            <a:off x="1752600" y="6811355"/>
            <a:ext cx="10293477"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否成立，若等式不成立则从A到B的密钥确认失败。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326989" y="2834725"/>
            <a:ext cx="3634019"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15.6</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秘密共享技术</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秘密共享技术</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0" name="p283-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存储在系统中的所有密钥的安全性（整个系统的安全性）可能最终取</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 name="p283-line2"/>
          <p:cNvSpPr>
            <a:spLocks noGrp="1"/>
          </p:cNvSpPr>
          <p:nvPr/>
        </p:nvSpPr>
        <p:spPr>
          <a:xfrm>
            <a:off x="1752600" y="2511171"/>
            <a:ext cx="1423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决于一个主密钥。这样做有两个缺陷：一是若主密钥偶然或蓄意地被暴</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283-line3"/>
          <p:cNvSpPr>
            <a:spLocks noGrp="1"/>
          </p:cNvSpPr>
          <p:nvPr/>
        </p:nvSpPr>
        <p:spPr>
          <a:xfrm>
            <a:off x="1752600" y="322211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露，整个系统就易受攻击；二是若主密钥丢失或损坏，系统中所有信息就</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283-line4"/>
          <p:cNvSpPr>
            <a:spLocks noGrp="1"/>
          </p:cNvSpPr>
          <p:nvPr/>
        </p:nvSpPr>
        <p:spPr>
          <a:xfrm>
            <a:off x="1752600" y="3933063"/>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不能用了。第二个问题可通过将密钥的副本发给信得过的用户来解决，但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83-line5"/>
          <p:cNvSpPr>
            <a:spLocks noGrp="1"/>
          </p:cNvSpPr>
          <p:nvPr/>
        </p:nvSpPr>
        <p:spPr>
          <a:xfrm>
            <a:off x="1752600" y="4644009"/>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这样做时，系统无法对付背叛行为。在密码学上，解决这两个问题的技术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83-line6"/>
          <p:cNvSpPr>
            <a:spLocks noGrp="1"/>
          </p:cNvSpPr>
          <p:nvPr/>
        </p:nvSpPr>
        <p:spPr>
          <a:xfrm>
            <a:off x="1752600" y="5354955"/>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称为秘密共享技术，也称秘密分享，即将秘密分割成多个子秘密，使用超</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83-line7"/>
          <p:cNvSpPr>
            <a:spLocks noGrp="1"/>
          </p:cNvSpPr>
          <p:nvPr/>
        </p:nvSpPr>
        <p:spPr>
          <a:xfrm>
            <a:off x="1752600" y="606590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过阈值数目的子秘密才能恢复该秘密的机制。它的基本思想是把重要的秘</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83-line8"/>
          <p:cNvSpPr>
            <a:spLocks noGrp="1"/>
          </p:cNvSpPr>
          <p:nvPr/>
        </p:nvSpPr>
        <p:spPr>
          <a:xfrm>
            <a:off x="1752600" y="6776847"/>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密分成若干份额，分别由若干人保管，必须有足够多的份额才能重建这个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283-line9"/>
          <p:cNvSpPr>
            <a:spLocks noGrp="1"/>
          </p:cNvSpPr>
          <p:nvPr/>
        </p:nvSpPr>
        <p:spPr>
          <a:xfrm>
            <a:off x="1752600" y="7487793"/>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重要的秘密。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秘密共享技术</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48" name="p284-line1"/>
          <p:cNvSpPr>
            <a:spLocks noGrp="1"/>
          </p:cNvSpPr>
          <p:nvPr/>
        </p:nvSpPr>
        <p:spPr>
          <a:xfrm>
            <a:off x="2667000" y="1869023"/>
            <a:ext cx="6915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秘密共享技术的基本要求是将秘密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9594505" y="1934119"/>
            <a:ext cx="327442" cy="409303"/>
          </a:xfrm>
          <a:prstGeom prst="rect">
            <a:avLst/>
          </a:prstGeom>
        </p:spPr>
      </p:pic>
      <p:sp>
        <p:nvSpPr>
          <p:cNvPr id="3" name="p284-line1"/>
          <p:cNvSpPr>
            <a:spLocks noGrp="1"/>
          </p:cNvSpPr>
          <p:nvPr/>
        </p:nvSpPr>
        <p:spPr>
          <a:xfrm>
            <a:off x="9991453" y="186902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10954893" y="1934119"/>
            <a:ext cx="368373" cy="409303"/>
          </a:xfrm>
          <a:prstGeom prst="rect">
            <a:avLst/>
          </a:prstGeom>
        </p:spPr>
      </p:pic>
      <p:sp>
        <p:nvSpPr>
          <p:cNvPr id="10" name="p284-line1"/>
          <p:cNvSpPr>
            <a:spLocks noGrp="1"/>
          </p:cNvSpPr>
          <p:nvPr/>
        </p:nvSpPr>
        <p:spPr>
          <a:xfrm>
            <a:off x="11372306" y="186902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个份额</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12772481" y="1807029"/>
            <a:ext cx="2653937" cy="663484"/>
          </a:xfrm>
          <a:prstGeom prst="rect">
            <a:avLst/>
          </a:prstGeom>
        </p:spPr>
      </p:pic>
      <p:sp>
        <p:nvSpPr>
          <p:cNvPr id="18" name="p284-line1"/>
          <p:cNvSpPr>
            <a:spLocks noGrp="1"/>
          </p:cNvSpPr>
          <p:nvPr/>
        </p:nvSpPr>
        <p:spPr>
          <a:xfrm>
            <a:off x="15454993" y="186902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284-line2"/>
          <p:cNvSpPr>
            <a:spLocks noGrp="1"/>
          </p:cNvSpPr>
          <p:nvPr/>
        </p:nvSpPr>
        <p:spPr>
          <a:xfrm>
            <a:off x="1752600" y="2648766"/>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足以下两个性质。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85-line1"/>
          <p:cNvSpPr>
            <a:spLocks noGrp="1"/>
          </p:cNvSpPr>
          <p:nvPr/>
        </p:nvSpPr>
        <p:spPr>
          <a:xfrm>
            <a:off x="2667000" y="3542810"/>
            <a:ext cx="3028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（1）已知任意</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6">
            <a:clrChange>
              <a:clrFrom>
                <a:srgbClr val="FFFFFF"/>
              </a:clrFrom>
              <a:clrTo>
                <a:srgbClr val="FFFFFF">
                  <a:alpha val="0"/>
                </a:srgbClr>
              </a:clrTo>
            </a:clrChange>
          </a:blip>
          <a:stretch>
            <a:fillRect/>
          </a:stretch>
        </p:blipFill>
        <p:spPr>
          <a:xfrm>
            <a:off x="5667375" y="3612417"/>
            <a:ext cx="254726" cy="400283"/>
          </a:xfrm>
          <a:prstGeom prst="rect">
            <a:avLst/>
          </a:prstGeom>
        </p:spPr>
      </p:pic>
      <p:sp>
        <p:nvSpPr>
          <p:cNvPr id="22" name="p285-line1"/>
          <p:cNvSpPr>
            <a:spLocks noGrp="1"/>
          </p:cNvSpPr>
          <p:nvPr/>
        </p:nvSpPr>
        <p:spPr>
          <a:xfrm>
            <a:off x="5950676" y="354281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7">
            <a:clrChange>
              <a:clrFrom>
                <a:srgbClr val="FFFFFF"/>
              </a:clrFrom>
              <a:clrTo>
                <a:srgbClr val="FFFFFF">
                  <a:alpha val="0"/>
                </a:srgbClr>
              </a:clrTo>
            </a:clrChange>
          </a:blip>
          <a:stretch>
            <a:fillRect/>
          </a:stretch>
        </p:blipFill>
        <p:spPr>
          <a:xfrm>
            <a:off x="6436451" y="3505581"/>
            <a:ext cx="409303" cy="613954"/>
          </a:xfrm>
          <a:prstGeom prst="rect">
            <a:avLst/>
          </a:prstGeom>
        </p:spPr>
      </p:pic>
      <p:sp>
        <p:nvSpPr>
          <p:cNvPr id="24" name="p285-line1"/>
          <p:cNvSpPr>
            <a:spLocks noGrp="1"/>
          </p:cNvSpPr>
          <p:nvPr/>
        </p:nvSpPr>
        <p:spPr>
          <a:xfrm>
            <a:off x="6874329" y="3542810"/>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值易算出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3">
            <a:clrChange>
              <a:clrFrom>
                <a:srgbClr val="FFFFFF"/>
              </a:clrFrom>
              <a:clrTo>
                <a:srgbClr val="FFFFFF">
                  <a:alpha val="0"/>
                </a:srgbClr>
              </a:clrTo>
            </a:clrChange>
          </a:blip>
          <a:stretch>
            <a:fillRect/>
          </a:stretch>
        </p:blipFill>
        <p:spPr>
          <a:xfrm>
            <a:off x="8772634" y="3607907"/>
            <a:ext cx="327442" cy="409303"/>
          </a:xfrm>
          <a:prstGeom prst="rect">
            <a:avLst/>
          </a:prstGeom>
        </p:spPr>
      </p:pic>
      <p:sp>
        <p:nvSpPr>
          <p:cNvPr id="26" name="p285-line1"/>
          <p:cNvSpPr>
            <a:spLocks noGrp="1"/>
          </p:cNvSpPr>
          <p:nvPr/>
        </p:nvSpPr>
        <p:spPr>
          <a:xfrm>
            <a:off x="9169581" y="354281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286-line1"/>
          <p:cNvSpPr>
            <a:spLocks noGrp="1"/>
          </p:cNvSpPr>
          <p:nvPr/>
        </p:nvSpPr>
        <p:spPr>
          <a:xfrm>
            <a:off x="2667000" y="4505652"/>
            <a:ext cx="3028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（2）已知任意</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8">
            <a:clrChange>
              <a:clrFrom>
                <a:srgbClr val="FFFFFF"/>
              </a:clrFrom>
              <a:clrTo>
                <a:srgbClr val="FFFFFF">
                  <a:alpha val="0"/>
                </a:srgbClr>
              </a:clrTo>
            </a:clrChange>
          </a:blip>
          <a:stretch>
            <a:fillRect/>
          </a:stretch>
        </p:blipFill>
        <p:spPr>
          <a:xfrm>
            <a:off x="5695769" y="4534825"/>
            <a:ext cx="761819" cy="481149"/>
          </a:xfrm>
          <a:prstGeom prst="rect">
            <a:avLst/>
          </a:prstGeom>
        </p:spPr>
      </p:pic>
      <p:sp>
        <p:nvSpPr>
          <p:cNvPr id="29" name="p286-line1"/>
          <p:cNvSpPr>
            <a:spLocks noGrp="1"/>
          </p:cNvSpPr>
          <p:nvPr/>
        </p:nvSpPr>
        <p:spPr>
          <a:xfrm>
            <a:off x="6514556" y="4505652"/>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个或更少个数的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7">
            <a:clrChange>
              <a:clrFrom>
                <a:srgbClr val="FFFFFF"/>
              </a:clrFrom>
              <a:clrTo>
                <a:srgbClr val="FFFFFF">
                  <a:alpha val="0"/>
                </a:srgbClr>
              </a:clrTo>
            </a:clrChange>
          </a:blip>
          <a:stretch>
            <a:fillRect/>
          </a:stretch>
        </p:blipFill>
        <p:spPr>
          <a:xfrm>
            <a:off x="9743531" y="4468422"/>
            <a:ext cx="409303" cy="613954"/>
          </a:xfrm>
          <a:prstGeom prst="rect">
            <a:avLst/>
          </a:prstGeom>
        </p:spPr>
      </p:pic>
      <p:sp>
        <p:nvSpPr>
          <p:cNvPr id="31" name="p286-line1"/>
          <p:cNvSpPr>
            <a:spLocks noGrp="1"/>
          </p:cNvSpPr>
          <p:nvPr/>
        </p:nvSpPr>
        <p:spPr>
          <a:xfrm>
            <a:off x="10181409" y="4505652"/>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，不能确定</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3">
            <a:clrChange>
              <a:clrFrom>
                <a:srgbClr val="FFFFFF"/>
              </a:clrFrom>
              <a:clrTo>
                <a:srgbClr val="FFFFFF">
                  <a:alpha val="0"/>
                </a:srgbClr>
              </a:clrTo>
            </a:clrChange>
          </a:blip>
          <a:stretch>
            <a:fillRect/>
          </a:stretch>
        </p:blipFill>
        <p:spPr>
          <a:xfrm>
            <a:off x="12536914" y="4570748"/>
            <a:ext cx="327442" cy="409303"/>
          </a:xfrm>
          <a:prstGeom prst="rect">
            <a:avLst/>
          </a:prstGeom>
        </p:spPr>
      </p:pic>
      <p:sp>
        <p:nvSpPr>
          <p:cNvPr id="33" name="p286-line1"/>
          <p:cNvSpPr>
            <a:spLocks noGrp="1"/>
          </p:cNvSpPr>
          <p:nvPr/>
        </p:nvSpPr>
        <p:spPr>
          <a:xfrm>
            <a:off x="12933861" y="450565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4" name="图片 33"/>
          <p:cNvPicPr>
            <a:picLocks noChangeAspect="1"/>
          </p:cNvPicPr>
          <p:nvPr/>
        </p:nvPicPr>
        <p:blipFill>
          <a:blip r:embed="rId6">
            <a:clrChange>
              <a:clrFrom>
                <a:srgbClr val="FFFFFF"/>
              </a:clrFrom>
              <a:clrTo>
                <a:srgbClr val="FFFFFF">
                  <a:alpha val="0"/>
                </a:srgbClr>
              </a:clrTo>
            </a:clrChange>
          </a:blip>
          <a:stretch>
            <a:fillRect/>
          </a:stretch>
        </p:blipFill>
        <p:spPr>
          <a:xfrm>
            <a:off x="2695575" y="5469302"/>
            <a:ext cx="254726" cy="400283"/>
          </a:xfrm>
          <a:prstGeom prst="rect">
            <a:avLst/>
          </a:prstGeom>
        </p:spPr>
      </p:pic>
      <p:sp>
        <p:nvSpPr>
          <p:cNvPr id="35" name="p287-line1"/>
          <p:cNvSpPr>
            <a:spLocks noGrp="1"/>
          </p:cNvSpPr>
          <p:nvPr/>
        </p:nvSpPr>
        <p:spPr>
          <a:xfrm>
            <a:off x="2978876" y="5399695"/>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为一个小于等于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6" name="图片 35"/>
          <p:cNvPicPr>
            <a:picLocks noChangeAspect="1"/>
          </p:cNvPicPr>
          <p:nvPr/>
        </p:nvPicPr>
        <p:blipFill>
          <a:blip r:embed="rId4">
            <a:clrChange>
              <a:clrFrom>
                <a:srgbClr val="FFFFFF"/>
              </a:clrFrom>
              <a:clrTo>
                <a:srgbClr val="FFFFFF">
                  <a:alpha val="0"/>
                </a:srgbClr>
              </a:clrTo>
            </a:clrChange>
          </a:blip>
          <a:stretch>
            <a:fillRect/>
          </a:stretch>
        </p:blipFill>
        <p:spPr>
          <a:xfrm>
            <a:off x="6228316" y="5464792"/>
            <a:ext cx="368373" cy="409303"/>
          </a:xfrm>
          <a:prstGeom prst="rect">
            <a:avLst/>
          </a:prstGeom>
        </p:spPr>
      </p:pic>
      <p:sp>
        <p:nvSpPr>
          <p:cNvPr id="37" name="p287-line1"/>
          <p:cNvSpPr>
            <a:spLocks noGrp="1"/>
          </p:cNvSpPr>
          <p:nvPr/>
        </p:nvSpPr>
        <p:spPr>
          <a:xfrm>
            <a:off x="6645729" y="5399695"/>
            <a:ext cx="6000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的整数，由安全策略确定。当</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8" name="图片 37"/>
          <p:cNvPicPr>
            <a:picLocks noChangeAspect="1"/>
          </p:cNvPicPr>
          <p:nvPr/>
        </p:nvPicPr>
        <p:blipFill>
          <a:blip r:embed="rId6">
            <a:clrChange>
              <a:clrFrom>
                <a:srgbClr val="FFFFFF"/>
              </a:clrFrom>
              <a:clrTo>
                <a:srgbClr val="FFFFFF">
                  <a:alpha val="0"/>
                </a:srgbClr>
              </a:clrTo>
            </a:clrChange>
          </a:blip>
          <a:stretch>
            <a:fillRect/>
          </a:stretch>
        </p:blipFill>
        <p:spPr>
          <a:xfrm>
            <a:off x="12617904" y="5469302"/>
            <a:ext cx="254726" cy="400283"/>
          </a:xfrm>
          <a:prstGeom prst="rect">
            <a:avLst/>
          </a:prstGeom>
        </p:spPr>
      </p:pic>
      <p:sp>
        <p:nvSpPr>
          <p:cNvPr id="39" name="p287-line1"/>
          <p:cNvSpPr>
            <a:spLocks noGrp="1"/>
          </p:cNvSpPr>
          <p:nvPr/>
        </p:nvSpPr>
        <p:spPr>
          <a:xfrm>
            <a:off x="12901204" y="5399695"/>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小于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0" name="图片 39"/>
          <p:cNvPicPr>
            <a:picLocks noChangeAspect="1"/>
          </p:cNvPicPr>
          <p:nvPr/>
        </p:nvPicPr>
        <p:blipFill>
          <a:blip r:embed="rId4">
            <a:clrChange>
              <a:clrFrom>
                <a:srgbClr val="FFFFFF"/>
              </a:clrFrom>
              <a:clrTo>
                <a:srgbClr val="FFFFFF">
                  <a:alpha val="0"/>
                </a:srgbClr>
              </a:clrTo>
            </a:clrChange>
          </a:blip>
          <a:stretch>
            <a:fillRect/>
          </a:stretch>
        </p:blipFill>
        <p:spPr>
          <a:xfrm>
            <a:off x="13864644" y="5464792"/>
            <a:ext cx="368373" cy="409303"/>
          </a:xfrm>
          <a:prstGeom prst="rect">
            <a:avLst/>
          </a:prstGeom>
        </p:spPr>
      </p:pic>
      <p:sp>
        <p:nvSpPr>
          <p:cNvPr id="41" name="p287-line1"/>
          <p:cNvSpPr>
            <a:spLocks noGrp="1"/>
          </p:cNvSpPr>
          <p:nvPr/>
        </p:nvSpPr>
        <p:spPr>
          <a:xfrm>
            <a:off x="14282057" y="5399695"/>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时，称为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2" name="图片 41"/>
          <p:cNvPicPr>
            <a:picLocks noChangeAspect="1"/>
          </p:cNvPicPr>
          <p:nvPr/>
        </p:nvPicPr>
        <p:blipFill>
          <a:blip r:embed="rId9">
            <a:clrChange>
              <a:clrFrom>
                <a:srgbClr val="FFFFFF"/>
              </a:clrFrom>
              <a:clrTo>
                <a:srgbClr val="FFFFFF">
                  <a:alpha val="0"/>
                </a:srgbClr>
              </a:clrTo>
            </a:clrChange>
          </a:blip>
          <a:stretch>
            <a:fillRect/>
          </a:stretch>
        </p:blipFill>
        <p:spPr>
          <a:xfrm>
            <a:off x="1829473" y="6110641"/>
            <a:ext cx="1203158" cy="705394"/>
          </a:xfrm>
          <a:prstGeom prst="rect">
            <a:avLst/>
          </a:prstGeom>
        </p:spPr>
      </p:pic>
      <p:sp>
        <p:nvSpPr>
          <p:cNvPr id="43" name="p287-line2"/>
          <p:cNvSpPr>
            <a:spLocks noGrp="1"/>
          </p:cNvSpPr>
          <p:nvPr/>
        </p:nvSpPr>
        <p:spPr>
          <a:xfrm>
            <a:off x="3109504" y="6193590"/>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门限方案。此时，重构秘密要求至少有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4" name="图片 43"/>
          <p:cNvPicPr>
            <a:picLocks noChangeAspect="1"/>
          </p:cNvPicPr>
          <p:nvPr/>
        </p:nvPicPr>
        <p:blipFill>
          <a:blip r:embed="rId6">
            <a:clrChange>
              <a:clrFrom>
                <a:srgbClr val="FFFFFF"/>
              </a:clrFrom>
              <a:clrTo>
                <a:srgbClr val="FFFFFF">
                  <a:alpha val="0"/>
                </a:srgbClr>
              </a:clrTo>
            </a:clrChange>
          </a:blip>
          <a:stretch>
            <a:fillRect/>
          </a:stretch>
        </p:blipFill>
        <p:spPr>
          <a:xfrm>
            <a:off x="10910479" y="6263197"/>
            <a:ext cx="254726" cy="400283"/>
          </a:xfrm>
          <a:prstGeom prst="rect">
            <a:avLst/>
          </a:prstGeom>
        </p:spPr>
      </p:pic>
      <p:sp>
        <p:nvSpPr>
          <p:cNvPr id="45" name="p287-line2"/>
          <p:cNvSpPr>
            <a:spLocks noGrp="1"/>
          </p:cNvSpPr>
          <p:nvPr/>
        </p:nvSpPr>
        <p:spPr>
          <a:xfrm>
            <a:off x="11193780" y="6193590"/>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个份额，故泄露至多</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6" name="图片 45"/>
          <p:cNvPicPr>
            <a:picLocks noChangeAspect="1"/>
          </p:cNvPicPr>
          <p:nvPr/>
        </p:nvPicPr>
        <p:blipFill>
          <a:blip r:embed="rId8">
            <a:clrChange>
              <a:clrFrom>
                <a:srgbClr val="FFFFFF"/>
              </a:clrFrom>
              <a:clrTo>
                <a:srgbClr val="FFFFFF">
                  <a:alpha val="0"/>
                </a:srgbClr>
              </a:clrTo>
            </a:clrChange>
          </a:blip>
          <a:stretch>
            <a:fillRect/>
          </a:stretch>
        </p:blipFill>
        <p:spPr>
          <a:xfrm>
            <a:off x="15365549" y="6222764"/>
            <a:ext cx="761819" cy="481149"/>
          </a:xfrm>
          <a:prstGeom prst="rect">
            <a:avLst/>
          </a:prstGeom>
        </p:spPr>
      </p:pic>
      <p:sp>
        <p:nvSpPr>
          <p:cNvPr id="47" name="p287-line3"/>
          <p:cNvSpPr>
            <a:spLocks noGrp="1"/>
          </p:cNvSpPr>
          <p:nvPr/>
        </p:nvSpPr>
        <p:spPr>
          <a:xfrm>
            <a:off x="1752600" y="6987486"/>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个份额不会危及秘密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9" name="图片 48"/>
          <p:cNvPicPr>
            <a:picLocks noChangeAspect="1"/>
          </p:cNvPicPr>
          <p:nvPr/>
        </p:nvPicPr>
        <p:blipFill>
          <a:blip r:embed="rId3">
            <a:clrChange>
              <a:clrFrom>
                <a:srgbClr val="FFFFFF"/>
              </a:clrFrom>
              <a:clrTo>
                <a:srgbClr val="FFFFFF">
                  <a:alpha val="0"/>
                </a:srgbClr>
              </a:clrTo>
            </a:clrChange>
          </a:blip>
          <a:stretch>
            <a:fillRect/>
          </a:stretch>
        </p:blipFill>
        <p:spPr>
          <a:xfrm>
            <a:off x="5936905" y="7052582"/>
            <a:ext cx="327442" cy="409303"/>
          </a:xfrm>
          <a:prstGeom prst="rect">
            <a:avLst/>
          </a:prstGeom>
        </p:spPr>
      </p:pic>
      <p:sp>
        <p:nvSpPr>
          <p:cNvPr id="50" name="p287-line3"/>
          <p:cNvSpPr>
            <a:spLocks noGrp="1"/>
          </p:cNvSpPr>
          <p:nvPr/>
        </p:nvSpPr>
        <p:spPr>
          <a:xfrm>
            <a:off x="6333853" y="6987486"/>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，因此少于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1" name="图片 50"/>
          <p:cNvPicPr>
            <a:picLocks noChangeAspect="1"/>
          </p:cNvPicPr>
          <p:nvPr/>
        </p:nvPicPr>
        <p:blipFill>
          <a:blip r:embed="rId6">
            <a:clrChange>
              <a:clrFrom>
                <a:srgbClr val="FFFFFF"/>
              </a:clrFrom>
              <a:clrTo>
                <a:srgbClr val="FFFFFF">
                  <a:alpha val="0"/>
                </a:srgbClr>
              </a:clrTo>
            </a:clrChange>
          </a:blip>
          <a:stretch>
            <a:fillRect/>
          </a:stretch>
        </p:blipFill>
        <p:spPr>
          <a:xfrm>
            <a:off x="8648428" y="7057092"/>
            <a:ext cx="254726" cy="400283"/>
          </a:xfrm>
          <a:prstGeom prst="rect">
            <a:avLst/>
          </a:prstGeom>
        </p:spPr>
      </p:pic>
      <p:sp>
        <p:nvSpPr>
          <p:cNvPr id="52" name="p287-line3"/>
          <p:cNvSpPr>
            <a:spLocks noGrp="1"/>
          </p:cNvSpPr>
          <p:nvPr/>
        </p:nvSpPr>
        <p:spPr>
          <a:xfrm>
            <a:off x="8931729" y="6987486"/>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个用户不可能共谋得到秘密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3" name="图片 52"/>
          <p:cNvPicPr>
            <a:picLocks noChangeAspect="1"/>
          </p:cNvPicPr>
          <p:nvPr/>
        </p:nvPicPr>
        <p:blipFill>
          <a:blip r:embed="rId3">
            <a:clrChange>
              <a:clrFrom>
                <a:srgbClr val="FFFFFF"/>
              </a:clrFrom>
              <a:clrTo>
                <a:srgbClr val="FFFFFF">
                  <a:alpha val="0"/>
                </a:srgbClr>
              </a:clrTo>
            </a:clrChange>
          </a:blip>
          <a:stretch>
            <a:fillRect/>
          </a:stretch>
        </p:blipFill>
        <p:spPr>
          <a:xfrm>
            <a:off x="14487634" y="7052582"/>
            <a:ext cx="327442" cy="409303"/>
          </a:xfrm>
          <a:prstGeom prst="rect">
            <a:avLst/>
          </a:prstGeom>
        </p:spPr>
      </p:pic>
      <p:sp>
        <p:nvSpPr>
          <p:cNvPr id="54" name="p287-line3"/>
          <p:cNvSpPr>
            <a:spLocks noGrp="1"/>
          </p:cNvSpPr>
          <p:nvPr/>
        </p:nvSpPr>
        <p:spPr>
          <a:xfrm>
            <a:off x="14884581" y="6987486"/>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。另</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5" name="p287-line4"/>
          <p:cNvSpPr>
            <a:spLocks noGrp="1"/>
          </p:cNvSpPr>
          <p:nvPr/>
        </p:nvSpPr>
        <p:spPr>
          <a:xfrm>
            <a:off x="1752600" y="7698432"/>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外，若一个份额丢失或损坏，只要有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6" name="图片 55"/>
          <p:cNvPicPr>
            <a:picLocks noChangeAspect="1"/>
          </p:cNvPicPr>
          <p:nvPr/>
        </p:nvPicPr>
        <p:blipFill>
          <a:blip r:embed="rId6">
            <a:clrChange>
              <a:clrFrom>
                <a:srgbClr val="FFFFFF"/>
              </a:clrFrom>
              <a:clrTo>
                <a:srgbClr val="FFFFFF">
                  <a:alpha val="0"/>
                </a:srgbClr>
              </a:clrTo>
            </a:clrChange>
          </a:blip>
          <a:stretch>
            <a:fillRect/>
          </a:stretch>
        </p:blipFill>
        <p:spPr>
          <a:xfrm>
            <a:off x="9096375" y="7768038"/>
            <a:ext cx="254726" cy="400283"/>
          </a:xfrm>
          <a:prstGeom prst="rect">
            <a:avLst/>
          </a:prstGeom>
        </p:spPr>
      </p:pic>
      <p:sp>
        <p:nvSpPr>
          <p:cNvPr id="57" name="p287-line4"/>
          <p:cNvSpPr>
            <a:spLocks noGrp="1"/>
          </p:cNvSpPr>
          <p:nvPr/>
        </p:nvSpPr>
        <p:spPr>
          <a:xfrm>
            <a:off x="9379676" y="7698432"/>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个有效份额，仍可恢复秘密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8" name="图片 57"/>
          <p:cNvPicPr>
            <a:picLocks noChangeAspect="1"/>
          </p:cNvPicPr>
          <p:nvPr/>
        </p:nvPicPr>
        <p:blipFill>
          <a:blip r:embed="rId3">
            <a:clrChange>
              <a:clrFrom>
                <a:srgbClr val="FFFFFF"/>
              </a:clrFrom>
              <a:clrTo>
                <a:srgbClr val="FFFFFF">
                  <a:alpha val="0"/>
                </a:srgbClr>
              </a:clrTo>
            </a:clrChange>
          </a:blip>
          <a:stretch>
            <a:fillRect/>
          </a:stretch>
        </p:blipFill>
        <p:spPr>
          <a:xfrm>
            <a:off x="14935581" y="7763528"/>
            <a:ext cx="327442" cy="409303"/>
          </a:xfrm>
          <a:prstGeom prst="rect">
            <a:avLst/>
          </a:prstGeom>
        </p:spPr>
      </p:pic>
      <p:sp>
        <p:nvSpPr>
          <p:cNvPr id="59" name="p287-line4"/>
          <p:cNvSpPr>
            <a:spLocks noGrp="1"/>
          </p:cNvSpPr>
          <p:nvPr/>
        </p:nvSpPr>
        <p:spPr>
          <a:xfrm>
            <a:off x="15332529" y="769843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Shamir门限方案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289-line1"/>
          <p:cNvSpPr>
            <a:spLocks noGrp="1"/>
          </p:cNvSpPr>
          <p:nvPr/>
        </p:nvSpPr>
        <p:spPr>
          <a:xfrm>
            <a:off x="2667000" y="1883174"/>
            <a:ext cx="11436286"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1979年Shamir基于多项式的拉格朗日插值公式提出了一个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14123010" y="1800225"/>
            <a:ext cx="1203158" cy="705394"/>
          </a:xfrm>
          <a:prstGeom prst="rect">
            <a:avLst/>
          </a:prstGeom>
        </p:spPr>
      </p:pic>
      <p:sp>
        <p:nvSpPr>
          <p:cNvPr id="4" name="p289-line1"/>
          <p:cNvSpPr>
            <a:spLocks noGrp="1"/>
          </p:cNvSpPr>
          <p:nvPr/>
        </p:nvSpPr>
        <p:spPr>
          <a:xfrm>
            <a:off x="15403041" y="188317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门限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89-line2"/>
          <p:cNvSpPr>
            <a:spLocks noGrp="1"/>
          </p:cNvSpPr>
          <p:nvPr/>
        </p:nvSpPr>
        <p:spPr>
          <a:xfrm>
            <a:off x="1752600" y="2677069"/>
            <a:ext cx="14585823"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方案，称为Shamir门限方案或拉格朗日插值法。Shamir门限方案的详细介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289-line3"/>
          <p:cNvSpPr>
            <a:spLocks noGrp="1"/>
          </p:cNvSpPr>
          <p:nvPr/>
        </p:nvSpPr>
        <p:spPr>
          <a:xfrm>
            <a:off x="1752600" y="3388015"/>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绍如下。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290-line1"/>
          <p:cNvSpPr>
            <a:spLocks noGrp="1"/>
          </p:cNvSpPr>
          <p:nvPr/>
        </p:nvSpPr>
        <p:spPr>
          <a:xfrm>
            <a:off x="1831975" y="4247248"/>
            <a:ext cx="2616517"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1．参数选取</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19" name="p291-line1"/>
          <p:cNvSpPr>
            <a:spLocks noGrp="1"/>
          </p:cNvSpPr>
          <p:nvPr/>
        </p:nvSpPr>
        <p:spPr>
          <a:xfrm>
            <a:off x="2746375" y="5072494"/>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选定一个素数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4">
            <a:clrChange>
              <a:clrFrom>
                <a:srgbClr val="FFFFFF"/>
              </a:clrFrom>
              <a:clrTo>
                <a:srgbClr val="FFFFFF">
                  <a:alpha val="0"/>
                </a:srgbClr>
              </a:clrTo>
            </a:clrChange>
          </a:blip>
          <a:stretch>
            <a:fillRect/>
          </a:stretch>
        </p:blipFill>
        <p:spPr>
          <a:xfrm>
            <a:off x="5544094" y="5101668"/>
            <a:ext cx="400957" cy="481149"/>
          </a:xfrm>
          <a:prstGeom prst="rect">
            <a:avLst/>
          </a:prstGeom>
        </p:spPr>
      </p:pic>
      <p:sp>
        <p:nvSpPr>
          <p:cNvPr id="21" name="p291-line1"/>
          <p:cNvSpPr>
            <a:spLocks noGrp="1"/>
          </p:cNvSpPr>
          <p:nvPr/>
        </p:nvSpPr>
        <p:spPr>
          <a:xfrm>
            <a:off x="5999571" y="507249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4">
            <a:clrChange>
              <a:clrFrom>
                <a:srgbClr val="FFFFFF"/>
              </a:clrFrom>
              <a:clrTo>
                <a:srgbClr val="FFFFFF">
                  <a:alpha val="0"/>
                </a:srgbClr>
              </a:clrTo>
            </a:clrChange>
          </a:blip>
          <a:stretch>
            <a:fillRect/>
          </a:stretch>
        </p:blipFill>
        <p:spPr>
          <a:xfrm>
            <a:off x="6511290" y="5101668"/>
            <a:ext cx="400957" cy="481149"/>
          </a:xfrm>
          <a:prstGeom prst="rect">
            <a:avLst/>
          </a:prstGeom>
        </p:spPr>
      </p:pic>
      <p:sp>
        <p:nvSpPr>
          <p:cNvPr id="23" name="p291-line1"/>
          <p:cNvSpPr>
            <a:spLocks noGrp="1"/>
          </p:cNvSpPr>
          <p:nvPr/>
        </p:nvSpPr>
        <p:spPr>
          <a:xfrm>
            <a:off x="6966766" y="5072494"/>
            <a:ext cx="9658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应该大于所有可能的秘密，并且比所有可能的份</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291-line2"/>
          <p:cNvSpPr>
            <a:spLocks noGrp="1"/>
          </p:cNvSpPr>
          <p:nvPr/>
        </p:nvSpPr>
        <p:spPr>
          <a:xfrm>
            <a:off x="1831975" y="5783440"/>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额大。设秘密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291-line2"/>
          <p:cNvSpPr>
            <a:spLocks noGrp="1"/>
          </p:cNvSpPr>
          <p:nvPr/>
        </p:nvSpPr>
        <p:spPr>
          <a:xfrm>
            <a:off x="4575175" y="5783440"/>
            <a:ext cx="235077"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6" name="p291-line2"/>
          <p:cNvSpPr>
            <a:spLocks noGrp="1"/>
          </p:cNvSpPr>
          <p:nvPr/>
        </p:nvSpPr>
        <p:spPr>
          <a:xfrm>
            <a:off x="4753102" y="5783440"/>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用一个模</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4">
            <a:clrChange>
              <a:clrFrom>
                <a:srgbClr val="FFFFFF"/>
              </a:clrFrom>
              <a:clrTo>
                <a:srgbClr val="FFFFFF">
                  <a:alpha val="0"/>
                </a:srgbClr>
              </a:clrTo>
            </a:clrChange>
          </a:blip>
          <a:stretch>
            <a:fillRect/>
          </a:stretch>
        </p:blipFill>
        <p:spPr>
          <a:xfrm>
            <a:off x="6636421" y="5812614"/>
            <a:ext cx="400957" cy="481149"/>
          </a:xfrm>
          <a:prstGeom prst="rect">
            <a:avLst/>
          </a:prstGeom>
        </p:spPr>
      </p:pic>
      <p:sp>
        <p:nvSpPr>
          <p:cNvPr id="28" name="p291-line2"/>
          <p:cNvSpPr>
            <a:spLocks noGrp="1"/>
          </p:cNvSpPr>
          <p:nvPr/>
        </p:nvSpPr>
        <p:spPr>
          <a:xfrm>
            <a:off x="7091898" y="5783440"/>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数来表示，参与保管的成员共有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5">
            <a:clrChange>
              <a:clrFrom>
                <a:srgbClr val="FFFFFF"/>
              </a:clrFrom>
              <a:clrTo>
                <a:srgbClr val="FFFFFF">
                  <a:alpha val="0"/>
                </a:srgbClr>
              </a:clrTo>
            </a:clrChange>
          </a:blip>
          <a:stretch>
            <a:fillRect/>
          </a:stretch>
        </p:blipFill>
        <p:spPr>
          <a:xfrm>
            <a:off x="13522144" y="5826765"/>
            <a:ext cx="407561" cy="452846"/>
          </a:xfrm>
          <a:prstGeom prst="rect">
            <a:avLst/>
          </a:prstGeom>
        </p:spPr>
      </p:pic>
      <p:sp>
        <p:nvSpPr>
          <p:cNvPr id="30" name="p291-line2"/>
          <p:cNvSpPr>
            <a:spLocks noGrp="1"/>
          </p:cNvSpPr>
          <p:nvPr/>
        </p:nvSpPr>
        <p:spPr>
          <a:xfrm>
            <a:off x="13959151" y="5783440"/>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个，要求重</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291-line3"/>
          <p:cNvSpPr>
            <a:spLocks noGrp="1"/>
          </p:cNvSpPr>
          <p:nvPr/>
        </p:nvSpPr>
        <p:spPr>
          <a:xfrm>
            <a:off x="1831975" y="6494386"/>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构该秘密至少需要</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6">
            <a:clrChange>
              <a:clrFrom>
                <a:srgbClr val="FFFFFF"/>
              </a:clrFrom>
              <a:clrTo>
                <a:srgbClr val="FFFFFF">
                  <a:alpha val="0"/>
                </a:srgbClr>
              </a:clrTo>
            </a:clrChange>
          </a:blip>
          <a:stretch>
            <a:fillRect/>
          </a:stretch>
        </p:blipFill>
        <p:spPr>
          <a:xfrm>
            <a:off x="5543880" y="6537711"/>
            <a:ext cx="288175" cy="452846"/>
          </a:xfrm>
          <a:prstGeom prst="rect">
            <a:avLst/>
          </a:prstGeom>
        </p:spPr>
      </p:pic>
      <p:sp>
        <p:nvSpPr>
          <p:cNvPr id="33" name="p291-line3"/>
          <p:cNvSpPr>
            <a:spLocks noGrp="1"/>
          </p:cNvSpPr>
          <p:nvPr/>
        </p:nvSpPr>
        <p:spPr>
          <a:xfrm>
            <a:off x="5886359" y="6494386"/>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Shamir门限方案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8" name="p292-line1"/>
          <p:cNvSpPr>
            <a:spLocks noGrp="1"/>
          </p:cNvSpPr>
          <p:nvPr/>
        </p:nvSpPr>
        <p:spPr>
          <a:xfrm>
            <a:off x="1752600" y="1800225"/>
            <a:ext cx="2616517"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2．秘密分割</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2" name="p293-line1"/>
          <p:cNvSpPr>
            <a:spLocks noGrp="1"/>
          </p:cNvSpPr>
          <p:nvPr/>
        </p:nvSpPr>
        <p:spPr>
          <a:xfrm>
            <a:off x="2667000" y="2694269"/>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首先，随机地确定</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6360886" y="2723442"/>
            <a:ext cx="761819" cy="481149"/>
          </a:xfrm>
          <a:prstGeom prst="rect">
            <a:avLst/>
          </a:prstGeom>
        </p:spPr>
      </p:pic>
      <p:sp>
        <p:nvSpPr>
          <p:cNvPr id="4" name="p293-line1"/>
          <p:cNvSpPr>
            <a:spLocks noGrp="1"/>
          </p:cNvSpPr>
          <p:nvPr/>
        </p:nvSpPr>
        <p:spPr>
          <a:xfrm>
            <a:off x="7158990" y="269426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个模</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8127909" y="2723442"/>
            <a:ext cx="400957" cy="481149"/>
          </a:xfrm>
          <a:prstGeom prst="rect">
            <a:avLst/>
          </a:prstGeom>
        </p:spPr>
      </p:pic>
      <p:sp>
        <p:nvSpPr>
          <p:cNvPr id="17" name="p293-line1"/>
          <p:cNvSpPr>
            <a:spLocks noGrp="1"/>
          </p:cNvSpPr>
          <p:nvPr/>
        </p:nvSpPr>
        <p:spPr>
          <a:xfrm>
            <a:off x="8583386" y="2694269"/>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数，记为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5">
            <a:clrChange>
              <a:clrFrom>
                <a:srgbClr val="FFFFFF"/>
              </a:clrFrom>
              <a:clrTo>
                <a:srgbClr val="FFFFFF">
                  <a:alpha val="0"/>
                </a:srgbClr>
              </a:clrTo>
            </a:clrChange>
          </a:blip>
          <a:stretch>
            <a:fillRect/>
          </a:stretch>
        </p:blipFill>
        <p:spPr>
          <a:xfrm>
            <a:off x="10440761" y="2636550"/>
            <a:ext cx="2795451" cy="654934"/>
          </a:xfrm>
          <a:prstGeom prst="rect">
            <a:avLst/>
          </a:prstGeom>
        </p:spPr>
      </p:pic>
      <p:sp>
        <p:nvSpPr>
          <p:cNvPr id="19" name="p293-line1"/>
          <p:cNvSpPr>
            <a:spLocks noGrp="1"/>
          </p:cNvSpPr>
          <p:nvPr/>
        </p:nvSpPr>
        <p:spPr>
          <a:xfrm>
            <a:off x="13264787" y="2694269"/>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，得到多项式为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294-line1"/>
          <p:cNvSpPr>
            <a:spLocks noGrp="1"/>
          </p:cNvSpPr>
          <p:nvPr/>
        </p:nvSpPr>
        <p:spPr>
          <a:xfrm>
            <a:off x="2667000" y="3671262"/>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6">
            <a:clrChange>
              <a:clrFrom>
                <a:srgbClr val="FFFFFF"/>
              </a:clrFrom>
              <a:clrTo>
                <a:srgbClr val="FFFFFF">
                  <a:alpha val="0"/>
                </a:srgbClr>
              </a:clrTo>
            </a:clrChange>
          </a:blip>
          <a:stretch>
            <a:fillRect/>
          </a:stretch>
        </p:blipFill>
        <p:spPr>
          <a:xfrm>
            <a:off x="4226266" y="3588312"/>
            <a:ext cx="6021659" cy="705394"/>
          </a:xfrm>
          <a:prstGeom prst="rect">
            <a:avLst/>
          </a:prstGeom>
        </p:spPr>
      </p:pic>
      <p:sp>
        <p:nvSpPr>
          <p:cNvPr id="22" name="p294-line1"/>
          <p:cNvSpPr>
            <a:spLocks noGrp="1"/>
          </p:cNvSpPr>
          <p:nvPr/>
        </p:nvSpPr>
        <p:spPr>
          <a:xfrm>
            <a:off x="10435590" y="3671262"/>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（15.2）</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295-line1"/>
          <p:cNvSpPr>
            <a:spLocks noGrp="1"/>
          </p:cNvSpPr>
          <p:nvPr/>
        </p:nvSpPr>
        <p:spPr>
          <a:xfrm>
            <a:off x="2667000" y="4662406"/>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该多项式满足</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7">
            <a:clrChange>
              <a:clrFrom>
                <a:srgbClr val="FFFFFF"/>
              </a:clrFrom>
              <a:clrTo>
                <a:srgbClr val="FFFFFF">
                  <a:alpha val="0"/>
                </a:srgbClr>
              </a:clrTo>
            </a:clrChange>
          </a:blip>
          <a:stretch>
            <a:fillRect/>
          </a:stretch>
        </p:blipFill>
        <p:spPr>
          <a:xfrm>
            <a:off x="5509146" y="4579457"/>
            <a:ext cx="2654710" cy="705394"/>
          </a:xfrm>
          <a:prstGeom prst="rect">
            <a:avLst/>
          </a:prstGeom>
        </p:spPr>
      </p:pic>
      <p:sp>
        <p:nvSpPr>
          <p:cNvPr id="25" name="p295-line1"/>
          <p:cNvSpPr>
            <a:spLocks noGrp="1"/>
          </p:cNvSpPr>
          <p:nvPr/>
        </p:nvSpPr>
        <p:spPr>
          <a:xfrm>
            <a:off x="8262801" y="466240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296-line1"/>
          <p:cNvSpPr>
            <a:spLocks noGrp="1"/>
          </p:cNvSpPr>
          <p:nvPr/>
        </p:nvSpPr>
        <p:spPr>
          <a:xfrm>
            <a:off x="2667000" y="5639399"/>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其次，选定</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8">
            <a:clrChange>
              <a:clrFrom>
                <a:srgbClr val="FFFFFF"/>
              </a:clrFrom>
              <a:clrTo>
                <a:srgbClr val="FFFFFF">
                  <a:alpha val="0"/>
                </a:srgbClr>
              </a:clrTo>
            </a:clrChange>
          </a:blip>
          <a:stretch>
            <a:fillRect/>
          </a:stretch>
        </p:blipFill>
        <p:spPr>
          <a:xfrm>
            <a:off x="4982446" y="5682724"/>
            <a:ext cx="407561" cy="452846"/>
          </a:xfrm>
          <a:prstGeom prst="rect">
            <a:avLst/>
          </a:prstGeom>
        </p:spPr>
      </p:pic>
      <p:sp>
        <p:nvSpPr>
          <p:cNvPr id="29" name="p296-line1"/>
          <p:cNvSpPr>
            <a:spLocks noGrp="1"/>
          </p:cNvSpPr>
          <p:nvPr/>
        </p:nvSpPr>
        <p:spPr>
          <a:xfrm>
            <a:off x="5419453" y="5639399"/>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个不同的小于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4">
            <a:clrChange>
              <a:clrFrom>
                <a:srgbClr val="FFFFFF"/>
              </a:clrFrom>
              <a:clrTo>
                <a:srgbClr val="FFFFFF">
                  <a:alpha val="0"/>
                </a:srgbClr>
              </a:clrTo>
            </a:clrChange>
          </a:blip>
          <a:stretch>
            <a:fillRect/>
          </a:stretch>
        </p:blipFill>
        <p:spPr>
          <a:xfrm>
            <a:off x="8217172" y="5668572"/>
            <a:ext cx="400957" cy="481149"/>
          </a:xfrm>
          <a:prstGeom prst="rect">
            <a:avLst/>
          </a:prstGeom>
        </p:spPr>
      </p:pic>
      <p:sp>
        <p:nvSpPr>
          <p:cNvPr id="31" name="p296-line1"/>
          <p:cNvSpPr>
            <a:spLocks noGrp="1"/>
          </p:cNvSpPr>
          <p:nvPr/>
        </p:nvSpPr>
        <p:spPr>
          <a:xfrm>
            <a:off x="8672649" y="563939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9">
            <a:clrChange>
              <a:clrFrom>
                <a:srgbClr val="FFFFFF"/>
              </a:clrFrom>
              <a:clrTo>
                <a:srgbClr val="FFFFFF">
                  <a:alpha val="0"/>
                </a:srgbClr>
              </a:clrTo>
            </a:clrChange>
          </a:blip>
          <a:stretch>
            <a:fillRect/>
          </a:stretch>
        </p:blipFill>
        <p:spPr>
          <a:xfrm>
            <a:off x="10072824" y="5584596"/>
            <a:ext cx="2682240" cy="649102"/>
          </a:xfrm>
          <a:prstGeom prst="rect">
            <a:avLst/>
          </a:prstGeom>
        </p:spPr>
      </p:pic>
      <p:sp>
        <p:nvSpPr>
          <p:cNvPr id="33" name="p296-line1"/>
          <p:cNvSpPr>
            <a:spLocks noGrp="1"/>
          </p:cNvSpPr>
          <p:nvPr/>
        </p:nvSpPr>
        <p:spPr>
          <a:xfrm>
            <a:off x="12783639" y="5639399"/>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（如选择</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4" name="图片 33"/>
          <p:cNvPicPr>
            <a:picLocks noChangeAspect="1"/>
          </p:cNvPicPr>
          <p:nvPr/>
        </p:nvPicPr>
        <p:blipFill>
          <a:blip r:embed="rId10">
            <a:clrChange>
              <a:clrFrom>
                <a:srgbClr val="FFFFFF"/>
              </a:clrFrom>
              <a:clrTo>
                <a:srgbClr val="FFFFFF">
                  <a:alpha val="0"/>
                </a:srgbClr>
              </a:clrTo>
            </a:clrChange>
            <a:extLst>
              <a:ext uri="{BEBA8EAE-BF5A-486C-A8C5-ECC9F3942E4B}">
                <a14:imgProps xmlns:a14="http://schemas.microsoft.com/office/drawing/2010/main">
                  <a14:imgLayer r:embed="rId11">
                    <a14:imgEffect>
                      <a14:backgroundRemoval t="9990" b="89802" l="6086" r="93286">
                        <a14:foregroundMark x1="6114" y1="32882" x2="9686" y2="60562"/>
                        <a14:foregroundMark x1="12829" y1="57336" x2="13714" y2="62227"/>
                        <a14:foregroundMark x1="50371" y1="55671" x2="72286" y2="60562"/>
                        <a14:foregroundMark x1="88800" y1="32882" x2="87914" y2="39334"/>
                        <a14:foregroundMark x1="89714" y1="29657" x2="93286" y2="44225"/>
                      </a14:backgroundRemoval>
                    </a14:imgEffect>
                  </a14:imgLayer>
                </a14:imgProps>
              </a:ext>
            </a:extLst>
          </a:blip>
          <a:stretch>
            <a:fillRect/>
          </a:stretch>
        </p:blipFill>
        <p:spPr>
          <a:xfrm>
            <a:off x="1781175" y="6459798"/>
            <a:ext cx="2272937" cy="624084"/>
          </a:xfrm>
          <a:prstGeom prst="rect">
            <a:avLst/>
          </a:prstGeom>
        </p:spPr>
      </p:pic>
      <p:sp>
        <p:nvSpPr>
          <p:cNvPr id="35" name="p296-line2"/>
          <p:cNvSpPr>
            <a:spLocks noGrp="1"/>
          </p:cNvSpPr>
          <p:nvPr/>
        </p:nvSpPr>
        <p:spPr>
          <a:xfrm>
            <a:off x="4082687" y="6502092"/>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），对于每个整数分别计算数对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6" name="图片 35"/>
          <p:cNvPicPr>
            <a:picLocks noChangeAspect="1"/>
          </p:cNvPicPr>
          <p:nvPr/>
        </p:nvPicPr>
        <p:blipFill>
          <a:blip r:embed="rId12">
            <a:clrChange>
              <a:clrFrom>
                <a:srgbClr val="FFFFFF"/>
              </a:clrFrom>
              <a:clrTo>
                <a:srgbClr val="FFFFFF">
                  <a:alpha val="0"/>
                </a:srgbClr>
              </a:clrTo>
            </a:clrChange>
          </a:blip>
          <a:stretch>
            <a:fillRect/>
          </a:stretch>
        </p:blipFill>
        <p:spPr>
          <a:xfrm>
            <a:off x="10534858" y="6419142"/>
            <a:ext cx="1452282" cy="705394"/>
          </a:xfrm>
          <a:prstGeom prst="rect">
            <a:avLst/>
          </a:prstGeom>
        </p:spPr>
      </p:pic>
      <p:sp>
        <p:nvSpPr>
          <p:cNvPr id="37" name="p296-line2"/>
          <p:cNvSpPr>
            <a:spLocks noGrp="1"/>
          </p:cNvSpPr>
          <p:nvPr/>
        </p:nvSpPr>
        <p:spPr>
          <a:xfrm>
            <a:off x="12038511" y="6502092"/>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8" name="图片 37"/>
          <p:cNvPicPr>
            <a:picLocks noChangeAspect="1"/>
          </p:cNvPicPr>
          <p:nvPr/>
        </p:nvPicPr>
        <p:blipFill>
          <a:blip r:embed="rId13">
            <a:clrChange>
              <a:clrFrom>
                <a:srgbClr val="FFFFFF"/>
              </a:clrFrom>
              <a:clrTo>
                <a:srgbClr val="FFFFFF">
                  <a:alpha val="0"/>
                </a:srgbClr>
              </a:clrTo>
            </a:clrChange>
            <a:extLst>
              <a:ext uri="{BEBA8EAE-BF5A-486C-A8C5-ECC9F3942E4B}">
                <a14:imgProps xmlns:a14="http://schemas.microsoft.com/office/drawing/2010/main">
                  <a14:imgLayer r:embed="rId14">
                    <a14:imgEffect>
                      <a14:backgroundRemoval t="9905" b="89857" l="5457" r="93743">
                        <a14:foregroundMark x1="5800" y1="37470" x2="11314" y2="70644"/>
                        <a14:foregroundMark x1="14086" y1="40453" x2="34429" y2="51909"/>
                        <a14:foregroundMark x1="35457" y1="30310" x2="16971" y2="42959"/>
                        <a14:foregroundMark x1="16971" y1="42959" x2="31314" y2="51909"/>
                        <a14:foregroundMark x1="37171" y1="26014" x2="46829" y2="59189"/>
                        <a14:foregroundMark x1="20629" y1="62053" x2="23400" y2="53341"/>
                        <a14:foregroundMark x1="51657" y1="34606" x2="56829" y2="40453"/>
                        <a14:foregroundMark x1="45457" y1="40453" x2="51314" y2="67780"/>
                        <a14:foregroundMark x1="62714" y1="51909" x2="76486" y2="60621"/>
                        <a14:foregroundMark x1="92000" y1="51909" x2="93743" y2="49045"/>
                        <a14:foregroundMark x1="5457" y1="51909" x2="13029" y2="74940"/>
                        <a14:foregroundMark x1="11314" y1="57637" x2="13743" y2="63484"/>
                        <a14:foregroundMark x1="48571" y1="60621" x2="51314" y2="66348"/>
                        <a14:foregroundMark x1="51657" y1="57637" x2="52000" y2="59189"/>
                      </a14:backgroundRemoval>
                    </a14:imgEffect>
                  </a14:imgLayer>
                </a14:imgProps>
              </a:ext>
            </a:extLst>
          </a:blip>
          <a:stretch>
            <a:fillRect/>
          </a:stretch>
        </p:blipFill>
        <p:spPr>
          <a:xfrm>
            <a:off x="13437764" y="6376270"/>
            <a:ext cx="2946158" cy="705394"/>
          </a:xfrm>
          <a:prstGeom prst="rect">
            <a:avLst/>
          </a:prstGeom>
        </p:spPr>
      </p:pic>
      <p:sp>
        <p:nvSpPr>
          <p:cNvPr id="39" name="p296-line3"/>
          <p:cNvSpPr>
            <a:spLocks noGrp="1"/>
          </p:cNvSpPr>
          <p:nvPr/>
        </p:nvSpPr>
        <p:spPr>
          <a:xfrm>
            <a:off x="16286791" y="650209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dirty="0">
                <a:latin typeface="Times New Roman" panose="02020603050405020304" pitchFamily="18" charset="0"/>
                <a:ea typeface="宋体" panose="02010600030101010101" pitchFamily="2" charset="-122"/>
                <a:cs typeface="字由点字典黑 2"/>
                <a:sym typeface="字由点字典黑 2"/>
              </a:rPr>
              <a:t>。</a:t>
            </a:r>
            <a:endParaRPr sz="3600" b="0" i="0" dirty="0">
              <a:latin typeface="Times New Roman" panose="02020603050405020304" pitchFamily="18" charset="0"/>
              <a:ea typeface="宋体" panose="02010600030101010101" pitchFamily="2" charset="-122"/>
              <a:cs typeface="字由点字典黑 2"/>
              <a:sym typeface="字由点字典黑 2"/>
            </a:endParaRPr>
          </a:p>
        </p:txBody>
      </p:sp>
      <p:sp>
        <p:nvSpPr>
          <p:cNvPr id="40" name="p297-line1"/>
          <p:cNvSpPr>
            <a:spLocks noGrp="1"/>
          </p:cNvSpPr>
          <p:nvPr/>
        </p:nvSpPr>
        <p:spPr>
          <a:xfrm>
            <a:off x="2688201" y="7324704"/>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最后，将</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1" name="图片 40"/>
          <p:cNvPicPr>
            <a:picLocks noChangeAspect="1"/>
          </p:cNvPicPr>
          <p:nvPr/>
        </p:nvPicPr>
        <p:blipFill>
          <a:blip r:embed="rId8">
            <a:clrChange>
              <a:clrFrom>
                <a:srgbClr val="FFFFFF"/>
              </a:clrFrom>
              <a:clrTo>
                <a:srgbClr val="FFFFFF">
                  <a:alpha val="0"/>
                </a:srgbClr>
              </a:clrTo>
            </a:clrChange>
          </a:blip>
          <a:stretch>
            <a:fillRect/>
          </a:stretch>
        </p:blipFill>
        <p:spPr>
          <a:xfrm>
            <a:off x="4546447" y="7368029"/>
            <a:ext cx="407561" cy="452846"/>
          </a:xfrm>
          <a:prstGeom prst="rect">
            <a:avLst/>
          </a:prstGeom>
        </p:spPr>
      </p:pic>
      <p:sp>
        <p:nvSpPr>
          <p:cNvPr id="42" name="p297-line1"/>
          <p:cNvSpPr>
            <a:spLocks noGrp="1"/>
          </p:cNvSpPr>
          <p:nvPr/>
        </p:nvSpPr>
        <p:spPr>
          <a:xfrm>
            <a:off x="4983454" y="732470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个数对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3" name="图片 42"/>
          <p:cNvPicPr>
            <a:picLocks noChangeAspect="1"/>
          </p:cNvPicPr>
          <p:nvPr/>
        </p:nvPicPr>
        <p:blipFill>
          <a:blip r:embed="rId12">
            <a:clrChange>
              <a:clrFrom>
                <a:srgbClr val="FFFFFF"/>
              </a:clrFrom>
              <a:clrTo>
                <a:srgbClr val="FFFFFF">
                  <a:alpha val="0"/>
                </a:srgbClr>
              </a:clrTo>
            </a:clrChange>
          </a:blip>
          <a:stretch>
            <a:fillRect/>
          </a:stretch>
        </p:blipFill>
        <p:spPr>
          <a:xfrm>
            <a:off x="6406425" y="7241755"/>
            <a:ext cx="1452282" cy="705394"/>
          </a:xfrm>
          <a:prstGeom prst="rect">
            <a:avLst/>
          </a:prstGeom>
        </p:spPr>
      </p:pic>
      <p:sp>
        <p:nvSpPr>
          <p:cNvPr id="44" name="p297-line1"/>
          <p:cNvSpPr>
            <a:spLocks noGrp="1"/>
          </p:cNvSpPr>
          <p:nvPr/>
        </p:nvSpPr>
        <p:spPr>
          <a:xfrm>
            <a:off x="7910078" y="732470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5" name="图片 44"/>
          <p:cNvPicPr>
            <a:picLocks noChangeAspect="1"/>
          </p:cNvPicPr>
          <p:nvPr/>
        </p:nvPicPr>
        <p:blipFill>
          <a:blip r:embed="rId15">
            <a:clrChange>
              <a:clrFrom>
                <a:srgbClr val="FFFFFF"/>
              </a:clrFrom>
              <a:clrTo>
                <a:srgbClr val="FFFFFF">
                  <a:alpha val="0"/>
                </a:srgbClr>
              </a:clrTo>
            </a:clrChange>
          </a:blip>
          <a:stretch>
            <a:fillRect/>
          </a:stretch>
        </p:blipFill>
        <p:spPr>
          <a:xfrm>
            <a:off x="8395853" y="7288550"/>
            <a:ext cx="2795451" cy="611805"/>
          </a:xfrm>
          <a:prstGeom prst="rect">
            <a:avLst/>
          </a:prstGeom>
        </p:spPr>
      </p:pic>
      <p:sp>
        <p:nvSpPr>
          <p:cNvPr id="46" name="p297-line1"/>
          <p:cNvSpPr>
            <a:spLocks noGrp="1"/>
          </p:cNvSpPr>
          <p:nvPr/>
        </p:nvSpPr>
        <p:spPr>
          <a:xfrm>
            <a:off x="11219880" y="7324704"/>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分别秘密传送给</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7" name="图片 46"/>
          <p:cNvPicPr>
            <a:picLocks noChangeAspect="1"/>
          </p:cNvPicPr>
          <p:nvPr/>
        </p:nvPicPr>
        <p:blipFill>
          <a:blip r:embed="rId8">
            <a:clrChange>
              <a:clrFrom>
                <a:srgbClr val="FFFFFF"/>
              </a:clrFrom>
              <a:clrTo>
                <a:srgbClr val="FFFFFF">
                  <a:alpha val="0"/>
                </a:srgbClr>
              </a:clrTo>
            </a:clrChange>
          </a:blip>
          <a:stretch>
            <a:fillRect/>
          </a:stretch>
        </p:blipFill>
        <p:spPr>
          <a:xfrm>
            <a:off x="14449725" y="7368029"/>
            <a:ext cx="407561" cy="452846"/>
          </a:xfrm>
          <a:prstGeom prst="rect">
            <a:avLst/>
          </a:prstGeom>
        </p:spPr>
      </p:pic>
      <p:sp>
        <p:nvSpPr>
          <p:cNvPr id="48" name="p297-line1"/>
          <p:cNvSpPr>
            <a:spLocks noGrp="1"/>
          </p:cNvSpPr>
          <p:nvPr/>
        </p:nvSpPr>
        <p:spPr>
          <a:xfrm>
            <a:off x="14886732" y="732470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9" name="p297-line2"/>
          <p:cNvSpPr>
            <a:spLocks noGrp="1"/>
          </p:cNvSpPr>
          <p:nvPr/>
        </p:nvSpPr>
        <p:spPr>
          <a:xfrm>
            <a:off x="1773801" y="8201548"/>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员，多项式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0" name="图片 49"/>
          <p:cNvPicPr>
            <a:picLocks noChangeAspect="1"/>
          </p:cNvPicPr>
          <p:nvPr/>
        </p:nvPicPr>
        <p:blipFill>
          <a:blip r:embed="rId16">
            <a:clrChange>
              <a:clrFrom>
                <a:srgbClr val="FFFFFF"/>
              </a:clrFrom>
              <a:clrTo>
                <a:srgbClr val="FFFFFF">
                  <a:alpha val="0"/>
                </a:srgbClr>
              </a:clrTo>
            </a:clrChange>
          </a:blip>
          <a:stretch>
            <a:fillRect/>
          </a:stretch>
        </p:blipFill>
        <p:spPr>
          <a:xfrm>
            <a:off x="4133776" y="8118599"/>
            <a:ext cx="912863" cy="705394"/>
          </a:xfrm>
          <a:prstGeom prst="rect">
            <a:avLst/>
          </a:prstGeom>
        </p:spPr>
      </p:pic>
      <p:sp>
        <p:nvSpPr>
          <p:cNvPr id="51" name="p297-line2"/>
          <p:cNvSpPr>
            <a:spLocks noGrp="1"/>
          </p:cNvSpPr>
          <p:nvPr/>
        </p:nvSpPr>
        <p:spPr>
          <a:xfrm>
            <a:off x="5120614" y="8201548"/>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则是保密的，可以销毁。</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Shamir门限方案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2" name="p298-line1"/>
          <p:cNvSpPr>
            <a:spLocks noGrp="1"/>
          </p:cNvSpPr>
          <p:nvPr/>
        </p:nvSpPr>
        <p:spPr>
          <a:xfrm>
            <a:off x="1752600" y="1800225"/>
            <a:ext cx="2616517"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3．秘密恢复</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2" name="p299-line1"/>
          <p:cNvSpPr>
            <a:spLocks noGrp="1"/>
          </p:cNvSpPr>
          <p:nvPr/>
        </p:nvSpPr>
        <p:spPr>
          <a:xfrm>
            <a:off x="2667000" y="2625471"/>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假设</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3635705" y="2668796"/>
            <a:ext cx="288175" cy="452846"/>
          </a:xfrm>
          <a:prstGeom prst="rect">
            <a:avLst/>
          </a:prstGeom>
        </p:spPr>
      </p:pic>
      <p:sp>
        <p:nvSpPr>
          <p:cNvPr id="4" name="p299-line1"/>
          <p:cNvSpPr>
            <a:spLocks noGrp="1"/>
          </p:cNvSpPr>
          <p:nvPr/>
        </p:nvSpPr>
        <p:spPr>
          <a:xfrm>
            <a:off x="3978184" y="2625471"/>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个人一起准备恢复秘密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299-line1"/>
          <p:cNvSpPr>
            <a:spLocks noGrp="1"/>
          </p:cNvSpPr>
          <p:nvPr/>
        </p:nvSpPr>
        <p:spPr>
          <a:xfrm>
            <a:off x="8550184" y="2625471"/>
            <a:ext cx="235077"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7" name="p299-line1"/>
          <p:cNvSpPr>
            <a:spLocks noGrp="1"/>
          </p:cNvSpPr>
          <p:nvPr/>
        </p:nvSpPr>
        <p:spPr>
          <a:xfrm>
            <a:off x="8728111" y="2625471"/>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，不妨设他们的数对为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4">
            <a:clrChange>
              <a:clrFrom>
                <a:srgbClr val="FFFFFF"/>
              </a:clrFrom>
              <a:clrTo>
                <a:srgbClr val="FFFFFF">
                  <a:alpha val="0"/>
                </a:srgbClr>
              </a:clrTo>
            </a:clrChange>
          </a:blip>
          <a:stretch>
            <a:fillRect/>
          </a:stretch>
        </p:blipFill>
        <p:spPr>
          <a:xfrm>
            <a:off x="1912426" y="3336417"/>
            <a:ext cx="5598367" cy="705394"/>
          </a:xfrm>
          <a:prstGeom prst="rect">
            <a:avLst/>
          </a:prstGeom>
        </p:spPr>
      </p:pic>
      <p:sp>
        <p:nvSpPr>
          <p:cNvPr id="19" name="p299-line2"/>
          <p:cNvSpPr>
            <a:spLocks noGrp="1"/>
          </p:cNvSpPr>
          <p:nvPr/>
        </p:nvSpPr>
        <p:spPr>
          <a:xfrm>
            <a:off x="7670619" y="341936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300-line1"/>
          <p:cNvSpPr>
            <a:spLocks noGrp="1"/>
          </p:cNvSpPr>
          <p:nvPr/>
        </p:nvSpPr>
        <p:spPr>
          <a:xfrm>
            <a:off x="2667000" y="4410510"/>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首先，计算多项式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5">
            <a:clrChange>
              <a:clrFrom>
                <a:srgbClr val="FFFFFF"/>
              </a:clrFrom>
              <a:clrTo>
                <a:srgbClr val="FFFFFF">
                  <a:alpha val="0"/>
                </a:srgbClr>
              </a:clrTo>
            </a:clrChange>
          </a:blip>
          <a:stretch>
            <a:fillRect/>
          </a:stretch>
        </p:blipFill>
        <p:spPr>
          <a:xfrm>
            <a:off x="6357017" y="4327561"/>
            <a:ext cx="1037345" cy="705394"/>
          </a:xfrm>
          <a:prstGeom prst="rect">
            <a:avLst/>
          </a:prstGeom>
        </p:spPr>
      </p:pic>
      <p:sp>
        <p:nvSpPr>
          <p:cNvPr id="23" name="p300-line1"/>
          <p:cNvSpPr>
            <a:spLocks noGrp="1"/>
          </p:cNvSpPr>
          <p:nvPr/>
        </p:nvSpPr>
        <p:spPr>
          <a:xfrm>
            <a:off x="7426779" y="4410510"/>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301-line1"/>
          <p:cNvSpPr>
            <a:spLocks noGrp="1"/>
          </p:cNvSpPr>
          <p:nvPr/>
        </p:nvSpPr>
        <p:spPr>
          <a:xfrm>
            <a:off x="2667000" y="5910018"/>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6">
            <a:clrChange>
              <a:clrFrom>
                <a:srgbClr val="FFFFFF"/>
              </a:clrFrom>
              <a:clrTo>
                <a:srgbClr val="FFFFFF">
                  <a:alpha val="0"/>
                </a:srgbClr>
              </a:clrTo>
            </a:clrChange>
          </a:blip>
          <a:stretch>
            <a:fillRect/>
          </a:stretch>
        </p:blipFill>
        <p:spPr>
          <a:xfrm>
            <a:off x="4067175" y="5332929"/>
            <a:ext cx="5817326" cy="1693673"/>
          </a:xfrm>
          <a:prstGeom prst="rect">
            <a:avLst/>
          </a:prstGeom>
        </p:spPr>
      </p:pic>
      <p:sp>
        <p:nvSpPr>
          <p:cNvPr id="26" name="p301-line1"/>
          <p:cNvSpPr>
            <a:spLocks noGrp="1"/>
          </p:cNvSpPr>
          <p:nvPr/>
        </p:nvSpPr>
        <p:spPr>
          <a:xfrm>
            <a:off x="9913076" y="5910018"/>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（15.3）</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302-line1"/>
          <p:cNvSpPr>
            <a:spLocks noGrp="1"/>
          </p:cNvSpPr>
          <p:nvPr/>
        </p:nvSpPr>
        <p:spPr>
          <a:xfrm>
            <a:off x="2596732" y="7112346"/>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其次，取多项式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5">
            <a:clrChange>
              <a:clrFrom>
                <a:srgbClr val="FFFFFF"/>
              </a:clrFrom>
              <a:clrTo>
                <a:srgbClr val="FFFFFF">
                  <a:alpha val="0"/>
                </a:srgbClr>
              </a:clrTo>
            </a:clrChange>
          </a:blip>
          <a:stretch>
            <a:fillRect/>
          </a:stretch>
        </p:blipFill>
        <p:spPr>
          <a:xfrm>
            <a:off x="5829549" y="7029397"/>
            <a:ext cx="1037345" cy="705394"/>
          </a:xfrm>
          <a:prstGeom prst="rect">
            <a:avLst/>
          </a:prstGeom>
        </p:spPr>
      </p:pic>
      <p:sp>
        <p:nvSpPr>
          <p:cNvPr id="29" name="p302-line1"/>
          <p:cNvSpPr>
            <a:spLocks noGrp="1"/>
          </p:cNvSpPr>
          <p:nvPr/>
        </p:nvSpPr>
        <p:spPr>
          <a:xfrm>
            <a:off x="6899311" y="7112346"/>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的常数项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7">
            <a:clrChange>
              <a:clrFrom>
                <a:srgbClr val="FFFFFF"/>
              </a:clrFrom>
              <a:clrTo>
                <a:srgbClr val="FFFFFF">
                  <a:alpha val="0"/>
                </a:srgbClr>
              </a:clrTo>
            </a:clrChange>
          </a:blip>
          <a:stretch>
            <a:fillRect/>
          </a:stretch>
        </p:blipFill>
        <p:spPr>
          <a:xfrm>
            <a:off x="8760528" y="7029397"/>
            <a:ext cx="1037345" cy="705394"/>
          </a:xfrm>
          <a:prstGeom prst="rect">
            <a:avLst/>
          </a:prstGeom>
        </p:spPr>
      </p:pic>
      <p:sp>
        <p:nvSpPr>
          <p:cNvPr id="31" name="p302-line1"/>
          <p:cNvSpPr>
            <a:spLocks noGrp="1"/>
          </p:cNvSpPr>
          <p:nvPr/>
        </p:nvSpPr>
        <p:spPr>
          <a:xfrm>
            <a:off x="9830289" y="7112346"/>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，即所求的秘密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302-line1"/>
          <p:cNvSpPr>
            <a:spLocks noGrp="1"/>
          </p:cNvSpPr>
          <p:nvPr/>
        </p:nvSpPr>
        <p:spPr>
          <a:xfrm>
            <a:off x="13030689" y="7112346"/>
            <a:ext cx="235077"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3" name="p302-line1"/>
          <p:cNvSpPr>
            <a:spLocks noGrp="1"/>
          </p:cNvSpPr>
          <p:nvPr/>
        </p:nvSpPr>
        <p:spPr>
          <a:xfrm>
            <a:off x="13208616" y="711234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Shamir门限方案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03-line1"/>
          <p:cNvSpPr>
            <a:spLocks noGrp="1"/>
          </p:cNvSpPr>
          <p:nvPr/>
        </p:nvSpPr>
        <p:spPr>
          <a:xfrm>
            <a:off x="1752600" y="1800225"/>
            <a:ext cx="3082671"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4．正确性证明</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304-line1"/>
          <p:cNvSpPr>
            <a:spLocks noGrp="1"/>
          </p:cNvSpPr>
          <p:nvPr/>
        </p:nvSpPr>
        <p:spPr>
          <a:xfrm>
            <a:off x="2667000" y="2625471"/>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首先，证明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3">
            <a:clrChange>
              <a:clrFrom>
                <a:srgbClr val="FFFFFF"/>
              </a:clrFrom>
              <a:clrTo>
                <a:srgbClr val="FFFFFF">
                  <a:alpha val="0"/>
                </a:srgbClr>
              </a:clrTo>
            </a:clrChange>
          </a:blip>
          <a:stretch>
            <a:fillRect/>
          </a:stretch>
        </p:blipFill>
        <p:spPr>
          <a:xfrm>
            <a:off x="5007305" y="2668796"/>
            <a:ext cx="288175" cy="452846"/>
          </a:xfrm>
          <a:prstGeom prst="rect">
            <a:avLst/>
          </a:prstGeom>
        </p:spPr>
      </p:pic>
      <p:sp>
        <p:nvSpPr>
          <p:cNvPr id="10" name="p304-line1"/>
          <p:cNvSpPr>
            <a:spLocks noGrp="1"/>
          </p:cNvSpPr>
          <p:nvPr/>
        </p:nvSpPr>
        <p:spPr>
          <a:xfrm>
            <a:off x="5349784" y="2625471"/>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个人构造出来的多项式满足</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4">
            <a:clrChange>
              <a:clrFrom>
                <a:srgbClr val="FFFFFF"/>
              </a:clrFrom>
              <a:clrTo>
                <a:srgbClr val="FFFFFF">
                  <a:alpha val="0"/>
                </a:srgbClr>
              </a:clrTo>
            </a:clrChange>
          </a:blip>
          <a:stretch>
            <a:fillRect/>
          </a:stretch>
        </p:blipFill>
        <p:spPr>
          <a:xfrm>
            <a:off x="1947545" y="3336417"/>
            <a:ext cx="6346735" cy="705394"/>
          </a:xfrm>
          <a:prstGeom prst="rect">
            <a:avLst/>
          </a:prstGeom>
        </p:spPr>
      </p:pic>
      <p:sp>
        <p:nvSpPr>
          <p:cNvPr id="18" name="p304-line2"/>
          <p:cNvSpPr>
            <a:spLocks noGrp="1"/>
          </p:cNvSpPr>
          <p:nvPr/>
        </p:nvSpPr>
        <p:spPr>
          <a:xfrm>
            <a:off x="8489224" y="341936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305-line1"/>
          <p:cNvSpPr>
            <a:spLocks noGrp="1"/>
          </p:cNvSpPr>
          <p:nvPr/>
        </p:nvSpPr>
        <p:spPr>
          <a:xfrm>
            <a:off x="2667000" y="432756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令</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306-line1"/>
          <p:cNvSpPr>
            <a:spLocks noGrp="1"/>
          </p:cNvSpPr>
          <p:nvPr/>
        </p:nvSpPr>
        <p:spPr>
          <a:xfrm>
            <a:off x="2667000" y="574411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5">
            <a:clrChange>
              <a:clrFrom>
                <a:srgbClr val="FFFFFF"/>
              </a:clrFrom>
              <a:clrTo>
                <a:srgbClr val="FFFFFF">
                  <a:alpha val="0"/>
                </a:srgbClr>
              </a:clrTo>
            </a:clrChange>
          </a:blip>
          <a:stretch>
            <a:fillRect/>
          </a:stretch>
        </p:blipFill>
        <p:spPr>
          <a:xfrm>
            <a:off x="4067175" y="5163091"/>
            <a:ext cx="4885509" cy="1701553"/>
          </a:xfrm>
          <a:prstGeom prst="rect">
            <a:avLst/>
          </a:prstGeom>
        </p:spPr>
      </p:pic>
      <p:sp>
        <p:nvSpPr>
          <p:cNvPr id="22" name="p306-line1"/>
          <p:cNvSpPr>
            <a:spLocks noGrp="1"/>
          </p:cNvSpPr>
          <p:nvPr/>
        </p:nvSpPr>
        <p:spPr>
          <a:xfrm>
            <a:off x="8981259" y="5744119"/>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（15.4）</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Shamir门限方案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7440530" y="3014690"/>
            <a:ext cx="3418733" cy="1341120"/>
          </a:xfrm>
          <a:prstGeom prst="rect">
            <a:avLst/>
          </a:prstGeom>
        </p:spPr>
      </p:pic>
      <p:sp>
        <p:nvSpPr>
          <p:cNvPr id="3" name="p309-line1"/>
          <p:cNvSpPr>
            <a:spLocks noGrp="1"/>
          </p:cNvSpPr>
          <p:nvPr/>
        </p:nvSpPr>
        <p:spPr>
          <a:xfrm>
            <a:off x="2672896" y="4760432"/>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这是因为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4586965" y="4641560"/>
            <a:ext cx="1186367" cy="777240"/>
          </a:xfrm>
          <a:prstGeom prst="rect">
            <a:avLst/>
          </a:prstGeom>
        </p:spPr>
      </p:pic>
      <p:sp>
        <p:nvSpPr>
          <p:cNvPr id="10" name="p309-line1"/>
          <p:cNvSpPr>
            <a:spLocks noGrp="1"/>
          </p:cNvSpPr>
          <p:nvPr/>
        </p:nvSpPr>
        <p:spPr>
          <a:xfrm>
            <a:off x="5858600" y="4760432"/>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中包含为零的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8734878" y="4641560"/>
            <a:ext cx="3108960" cy="777240"/>
          </a:xfrm>
          <a:prstGeom prst="rect">
            <a:avLst/>
          </a:prstGeom>
        </p:spPr>
      </p:pic>
      <p:sp>
        <p:nvSpPr>
          <p:cNvPr id="18" name="p309-line1"/>
          <p:cNvSpPr>
            <a:spLocks noGrp="1"/>
          </p:cNvSpPr>
          <p:nvPr/>
        </p:nvSpPr>
        <p:spPr>
          <a:xfrm>
            <a:off x="11976916" y="4760432"/>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因子。</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310-line1"/>
          <p:cNvSpPr>
            <a:spLocks noGrp="1"/>
          </p:cNvSpPr>
          <p:nvPr/>
        </p:nvSpPr>
        <p:spPr>
          <a:xfrm>
            <a:off x="2672896" y="5704550"/>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而拉格朗日插值多项式为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0" name="p311-line1"/>
          <p:cNvSpPr>
            <a:spLocks noGrp="1"/>
          </p:cNvSpPr>
          <p:nvPr/>
        </p:nvSpPr>
        <p:spPr>
          <a:xfrm>
            <a:off x="2672896" y="6909925"/>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6">
            <a:clrChange>
              <a:clrFrom>
                <a:srgbClr val="FFFFFF"/>
              </a:clrFrom>
              <a:clrTo>
                <a:srgbClr val="FFFFFF">
                  <a:alpha val="0"/>
                </a:srgbClr>
              </a:clrTo>
            </a:clrChange>
          </a:blip>
          <a:stretch>
            <a:fillRect/>
          </a:stretch>
        </p:blipFill>
        <p:spPr>
          <a:xfrm>
            <a:off x="3158671" y="6554948"/>
            <a:ext cx="3317966" cy="1249451"/>
          </a:xfrm>
          <a:prstGeom prst="rect">
            <a:avLst/>
          </a:prstGeom>
        </p:spPr>
      </p:pic>
      <p:sp>
        <p:nvSpPr>
          <p:cNvPr id="22" name="p311-line1"/>
          <p:cNvSpPr>
            <a:spLocks noGrp="1"/>
          </p:cNvSpPr>
          <p:nvPr/>
        </p:nvSpPr>
        <p:spPr>
          <a:xfrm>
            <a:off x="6505212" y="6909925"/>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（15.5）</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312-line1"/>
          <p:cNvSpPr>
            <a:spLocks noGrp="1"/>
          </p:cNvSpPr>
          <p:nvPr/>
        </p:nvSpPr>
        <p:spPr>
          <a:xfrm>
            <a:off x="2672896" y="823417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当</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7">
            <a:clrChange>
              <a:clrFrom>
                <a:srgbClr val="FFFFFF"/>
              </a:clrFrom>
              <a:clrTo>
                <a:srgbClr val="FFFFFF">
                  <a:alpha val="0"/>
                </a:srgbClr>
              </a:clrTo>
            </a:clrChange>
          </a:blip>
          <a:stretch>
            <a:fillRect/>
          </a:stretch>
        </p:blipFill>
        <p:spPr>
          <a:xfrm>
            <a:off x="3158671" y="8197596"/>
            <a:ext cx="1750423" cy="612648"/>
          </a:xfrm>
          <a:prstGeom prst="rect">
            <a:avLst/>
          </a:prstGeom>
        </p:spPr>
      </p:pic>
      <p:sp>
        <p:nvSpPr>
          <p:cNvPr id="25" name="p312-line1"/>
          <p:cNvSpPr>
            <a:spLocks noGrp="1"/>
          </p:cNvSpPr>
          <p:nvPr/>
        </p:nvSpPr>
        <p:spPr>
          <a:xfrm>
            <a:off x="4937669" y="8234172"/>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时，满足</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8">
            <a:clrChange>
              <a:clrFrom>
                <a:srgbClr val="FFFFFF"/>
              </a:clrFrom>
              <a:clrTo>
                <a:srgbClr val="FFFFFF">
                  <a:alpha val="0"/>
                </a:srgbClr>
              </a:clrTo>
            </a:clrChange>
          </a:blip>
          <a:stretch>
            <a:fillRect/>
          </a:stretch>
        </p:blipFill>
        <p:spPr>
          <a:xfrm>
            <a:off x="6858000" y="8115300"/>
            <a:ext cx="1964144" cy="777240"/>
          </a:xfrm>
          <a:prstGeom prst="rect">
            <a:avLst/>
          </a:prstGeom>
        </p:spPr>
      </p:pic>
      <p:sp>
        <p:nvSpPr>
          <p:cNvPr id="27" name="p312-line1"/>
          <p:cNvSpPr>
            <a:spLocks noGrp="1"/>
          </p:cNvSpPr>
          <p:nvPr/>
        </p:nvSpPr>
        <p:spPr>
          <a:xfrm>
            <a:off x="8913676" y="823417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307-line1"/>
          <p:cNvSpPr>
            <a:spLocks noGrp="1"/>
          </p:cNvSpPr>
          <p:nvPr/>
        </p:nvSpPr>
        <p:spPr>
          <a:xfrm>
            <a:off x="2672896" y="177514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Shamir门限方案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9" name="p313-line1"/>
          <p:cNvSpPr>
            <a:spLocks noGrp="1"/>
          </p:cNvSpPr>
          <p:nvPr/>
        </p:nvSpPr>
        <p:spPr>
          <a:xfrm>
            <a:off x="2667000" y="1800225"/>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例如，</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2076808" y="2511171"/>
            <a:ext cx="12994105" cy="705394"/>
          </a:xfrm>
          <a:prstGeom prst="rect">
            <a:avLst/>
          </a:prstGeom>
        </p:spPr>
      </p:pic>
      <p:sp>
        <p:nvSpPr>
          <p:cNvPr id="3" name="p313-line2"/>
          <p:cNvSpPr>
            <a:spLocks noGrp="1"/>
          </p:cNvSpPr>
          <p:nvPr/>
        </p:nvSpPr>
        <p:spPr>
          <a:xfrm>
            <a:off x="15395121" y="259412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14-line1"/>
          <p:cNvSpPr>
            <a:spLocks noGrp="1"/>
          </p:cNvSpPr>
          <p:nvPr/>
        </p:nvSpPr>
        <p:spPr>
          <a:xfrm>
            <a:off x="2667000" y="3585264"/>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其次，通过点</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5570026" y="3502315"/>
            <a:ext cx="5598367" cy="705394"/>
          </a:xfrm>
          <a:prstGeom prst="rect">
            <a:avLst/>
          </a:prstGeom>
        </p:spPr>
      </p:pic>
      <p:sp>
        <p:nvSpPr>
          <p:cNvPr id="17" name="p314-line1"/>
          <p:cNvSpPr>
            <a:spLocks noGrp="1"/>
          </p:cNvSpPr>
          <p:nvPr/>
        </p:nvSpPr>
        <p:spPr>
          <a:xfrm>
            <a:off x="11328219" y="358526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重构</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5">
            <a:clrChange>
              <a:clrFrom>
                <a:srgbClr val="FFFFFF"/>
              </a:clrFrom>
              <a:clrTo>
                <a:srgbClr val="FFFFFF">
                  <a:alpha val="0"/>
                </a:srgbClr>
              </a:clrTo>
            </a:clrChange>
          </a:blip>
          <a:stretch>
            <a:fillRect/>
          </a:stretch>
        </p:blipFill>
        <p:spPr>
          <a:xfrm>
            <a:off x="12278904" y="3614438"/>
            <a:ext cx="761819" cy="481149"/>
          </a:xfrm>
          <a:prstGeom prst="rect">
            <a:avLst/>
          </a:prstGeom>
        </p:spPr>
      </p:pic>
      <p:sp>
        <p:nvSpPr>
          <p:cNvPr id="20" name="p314-line1"/>
          <p:cNvSpPr>
            <a:spLocks noGrp="1"/>
          </p:cNvSpPr>
          <p:nvPr/>
        </p:nvSpPr>
        <p:spPr>
          <a:xfrm>
            <a:off x="13077009" y="3585264"/>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阶的多项式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6">
            <a:clrChange>
              <a:clrFrom>
                <a:srgbClr val="FFFFFF"/>
              </a:clrFrom>
              <a:clrTo>
                <a:srgbClr val="FFFFFF">
                  <a:alpha val="0"/>
                </a:srgbClr>
              </a:clrTo>
            </a:clrChange>
          </a:blip>
          <a:stretch>
            <a:fillRect/>
          </a:stretch>
        </p:blipFill>
        <p:spPr>
          <a:xfrm>
            <a:off x="1826575" y="4296210"/>
            <a:ext cx="912863" cy="705394"/>
          </a:xfrm>
          <a:prstGeom prst="rect">
            <a:avLst/>
          </a:prstGeom>
        </p:spPr>
      </p:pic>
      <p:sp>
        <p:nvSpPr>
          <p:cNvPr id="22" name="p314-line2"/>
          <p:cNvSpPr>
            <a:spLocks noGrp="1"/>
          </p:cNvSpPr>
          <p:nvPr/>
        </p:nvSpPr>
        <p:spPr>
          <a:xfrm>
            <a:off x="2813413" y="4379160"/>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，这意味着已知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7">
            <a:clrChange>
              <a:clrFrom>
                <a:srgbClr val="FFFFFF"/>
              </a:clrFrom>
              <a:clrTo>
                <a:srgbClr val="FFFFFF">
                  <a:alpha val="0"/>
                </a:srgbClr>
              </a:clrTo>
            </a:clrChange>
          </a:blip>
          <a:stretch>
            <a:fillRect/>
          </a:stretch>
        </p:blipFill>
        <p:spPr>
          <a:xfrm>
            <a:off x="6068118" y="4422485"/>
            <a:ext cx="288175" cy="452846"/>
          </a:xfrm>
          <a:prstGeom prst="rect">
            <a:avLst/>
          </a:prstGeom>
        </p:spPr>
      </p:pic>
      <p:sp>
        <p:nvSpPr>
          <p:cNvPr id="24" name="p314-line2"/>
          <p:cNvSpPr>
            <a:spLocks noGrp="1"/>
          </p:cNvSpPr>
          <p:nvPr/>
        </p:nvSpPr>
        <p:spPr>
          <a:xfrm>
            <a:off x="6410597" y="437916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7">
            <a:clrChange>
              <a:clrFrom>
                <a:srgbClr val="FFFFFF"/>
              </a:clrFrom>
              <a:clrTo>
                <a:srgbClr val="FFFFFF">
                  <a:alpha val="0"/>
                </a:srgbClr>
              </a:clrTo>
            </a:clrChange>
          </a:blip>
          <a:stretch>
            <a:fillRect/>
          </a:stretch>
        </p:blipFill>
        <p:spPr>
          <a:xfrm>
            <a:off x="6922102" y="4422485"/>
            <a:ext cx="288175" cy="452846"/>
          </a:xfrm>
          <a:prstGeom prst="rect">
            <a:avLst/>
          </a:prstGeom>
        </p:spPr>
      </p:pic>
      <p:sp>
        <p:nvSpPr>
          <p:cNvPr id="26" name="p314-line2"/>
          <p:cNvSpPr>
            <a:spLocks noGrp="1"/>
          </p:cNvSpPr>
          <p:nvPr/>
        </p:nvSpPr>
        <p:spPr>
          <a:xfrm>
            <a:off x="7264581" y="4379160"/>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元一次方程为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8">
            <a:clrChange>
              <a:clrFrom>
                <a:srgbClr val="FFFFFF"/>
              </a:clrFrom>
              <a:clrTo>
                <a:srgbClr val="FFFFFF">
                  <a:alpha val="0"/>
                </a:srgbClr>
              </a:clrTo>
            </a:clrChange>
          </a:blip>
          <a:stretch>
            <a:fillRect/>
          </a:stretch>
        </p:blipFill>
        <p:spPr>
          <a:xfrm>
            <a:off x="5200102" y="5204406"/>
            <a:ext cx="7887796" cy="705394"/>
          </a:xfrm>
          <a:prstGeom prst="rect">
            <a:avLst/>
          </a:prstGeom>
        </p:spPr>
      </p:pic>
      <p:sp>
        <p:nvSpPr>
          <p:cNvPr id="28" name="p316-line1"/>
          <p:cNvSpPr>
            <a:spLocks noGrp="1"/>
          </p:cNvSpPr>
          <p:nvPr/>
        </p:nvSpPr>
        <p:spPr>
          <a:xfrm>
            <a:off x="2667000" y="627849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9">
            <a:clrChange>
              <a:clrFrom>
                <a:srgbClr val="FFFFFF"/>
              </a:clrFrom>
              <a:clrTo>
                <a:srgbClr val="FFFFFF">
                  <a:alpha val="0"/>
                </a:srgbClr>
              </a:clrTo>
            </a:clrChange>
          </a:blip>
          <a:stretch>
            <a:fillRect/>
          </a:stretch>
        </p:blipFill>
        <p:spPr>
          <a:xfrm>
            <a:off x="4089971" y="6195550"/>
            <a:ext cx="1452282" cy="705394"/>
          </a:xfrm>
          <a:prstGeom prst="rect">
            <a:avLst/>
          </a:prstGeom>
        </p:spPr>
      </p:pic>
      <p:sp>
        <p:nvSpPr>
          <p:cNvPr id="30" name="p316-line1"/>
          <p:cNvSpPr>
            <a:spLocks noGrp="1"/>
          </p:cNvSpPr>
          <p:nvPr/>
        </p:nvSpPr>
        <p:spPr>
          <a:xfrm>
            <a:off x="5593624" y="6278499"/>
            <a:ext cx="8743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已知，方程系数未知。那么可以重写上式为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Shamir门限方案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3" name="p317-line1"/>
          <p:cNvSpPr>
            <a:spLocks noGrp="1"/>
          </p:cNvSpPr>
          <p:nvPr/>
        </p:nvSpPr>
        <p:spPr>
          <a:xfrm>
            <a:off x="2667000" y="2893368"/>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3182228" y="1800225"/>
            <a:ext cx="6620569" cy="2725783"/>
          </a:xfrm>
          <a:prstGeom prst="rect">
            <a:avLst/>
          </a:prstGeom>
        </p:spPr>
      </p:pic>
      <p:sp>
        <p:nvSpPr>
          <p:cNvPr id="3" name="p317-line1"/>
          <p:cNvSpPr>
            <a:spLocks noGrp="1"/>
          </p:cNvSpPr>
          <p:nvPr/>
        </p:nvSpPr>
        <p:spPr>
          <a:xfrm>
            <a:off x="9860824" y="2893368"/>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（15.6）</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18-line1"/>
          <p:cNvSpPr>
            <a:spLocks noGrp="1"/>
          </p:cNvSpPr>
          <p:nvPr/>
        </p:nvSpPr>
        <p:spPr>
          <a:xfrm>
            <a:off x="2667000" y="4811758"/>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左边的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4071133" y="4855083"/>
            <a:ext cx="741020" cy="452846"/>
          </a:xfrm>
          <a:prstGeom prst="rect">
            <a:avLst/>
          </a:prstGeom>
        </p:spPr>
      </p:pic>
      <p:sp>
        <p:nvSpPr>
          <p:cNvPr id="17" name="p318-line1"/>
          <p:cNvSpPr>
            <a:spLocks noGrp="1"/>
          </p:cNvSpPr>
          <p:nvPr/>
        </p:nvSpPr>
        <p:spPr>
          <a:xfrm>
            <a:off x="4844687" y="4811758"/>
            <a:ext cx="6000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矩阵是一个范德蒙矩阵，记为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5">
            <a:clrChange>
              <a:clrFrom>
                <a:srgbClr val="FFFFFF"/>
              </a:clrFrom>
              <a:clrTo>
                <a:srgbClr val="FFFFFF">
                  <a:alpha val="0"/>
                </a:srgbClr>
              </a:clrTo>
            </a:clrChange>
          </a:blip>
          <a:stretch>
            <a:fillRect/>
          </a:stretch>
        </p:blipFill>
        <p:spPr>
          <a:xfrm>
            <a:off x="10822759" y="4840932"/>
            <a:ext cx="441053" cy="481149"/>
          </a:xfrm>
          <a:prstGeom prst="rect">
            <a:avLst/>
          </a:prstGeom>
        </p:spPr>
      </p:pic>
      <p:sp>
        <p:nvSpPr>
          <p:cNvPr id="19" name="p318-line1"/>
          <p:cNvSpPr>
            <a:spLocks noGrp="1"/>
          </p:cNvSpPr>
          <p:nvPr/>
        </p:nvSpPr>
        <p:spPr>
          <a:xfrm>
            <a:off x="11298283" y="4811758"/>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。如果这个方案的矩阵</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5">
            <a:clrChange>
              <a:clrFrom>
                <a:srgbClr val="FFFFFF"/>
              </a:clrFrom>
              <a:clrTo>
                <a:srgbClr val="FFFFFF">
                  <a:alpha val="0"/>
                </a:srgbClr>
              </a:clrTo>
            </a:clrChange>
          </a:blip>
          <a:stretch>
            <a:fillRect/>
          </a:stretch>
        </p:blipFill>
        <p:spPr>
          <a:xfrm>
            <a:off x="15904754" y="4840932"/>
            <a:ext cx="441053" cy="481149"/>
          </a:xfrm>
          <a:prstGeom prst="rect">
            <a:avLst/>
          </a:prstGeom>
        </p:spPr>
      </p:pic>
      <p:sp>
        <p:nvSpPr>
          <p:cNvPr id="21" name="p318-line2"/>
          <p:cNvSpPr>
            <a:spLocks noGrp="1"/>
          </p:cNvSpPr>
          <p:nvPr/>
        </p:nvSpPr>
        <p:spPr>
          <a:xfrm>
            <a:off x="1752600" y="552270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是模</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6">
            <a:clrChange>
              <a:clrFrom>
                <a:srgbClr val="FFFFFF"/>
              </a:clrFrom>
              <a:clrTo>
                <a:srgbClr val="FFFFFF">
                  <a:alpha val="0"/>
                </a:srgbClr>
              </a:clrTo>
            </a:clrChange>
          </a:blip>
          <a:stretch>
            <a:fillRect/>
          </a:stretch>
        </p:blipFill>
        <p:spPr>
          <a:xfrm>
            <a:off x="2721519" y="5551878"/>
            <a:ext cx="400957" cy="481149"/>
          </a:xfrm>
          <a:prstGeom prst="rect">
            <a:avLst/>
          </a:prstGeom>
        </p:spPr>
      </p:pic>
      <p:sp>
        <p:nvSpPr>
          <p:cNvPr id="24" name="p318-line2"/>
          <p:cNvSpPr>
            <a:spLocks noGrp="1"/>
          </p:cNvSpPr>
          <p:nvPr/>
        </p:nvSpPr>
        <p:spPr>
          <a:xfrm>
            <a:off x="3176996" y="5522704"/>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非奇异的，则其有唯一的模</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6">
            <a:clrChange>
              <a:clrFrom>
                <a:srgbClr val="FFFFFF"/>
              </a:clrFrom>
              <a:clrTo>
                <a:srgbClr val="FFFFFF">
                  <a:alpha val="0"/>
                </a:srgbClr>
              </a:clrTo>
            </a:clrChange>
          </a:blip>
          <a:stretch>
            <a:fillRect/>
          </a:stretch>
        </p:blipFill>
        <p:spPr>
          <a:xfrm>
            <a:off x="8717915" y="5551878"/>
            <a:ext cx="400957" cy="481149"/>
          </a:xfrm>
          <a:prstGeom prst="rect">
            <a:avLst/>
          </a:prstGeom>
        </p:spPr>
      </p:pic>
      <p:sp>
        <p:nvSpPr>
          <p:cNvPr id="26" name="p318-line2"/>
          <p:cNvSpPr>
            <a:spLocks noGrp="1"/>
          </p:cNvSpPr>
          <p:nvPr/>
        </p:nvSpPr>
        <p:spPr>
          <a:xfrm>
            <a:off x="9173391" y="5522704"/>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解。能够证明它的行列式为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7" name="p319-line1"/>
          <p:cNvSpPr>
            <a:spLocks noGrp="1"/>
          </p:cNvSpPr>
          <p:nvPr/>
        </p:nvSpPr>
        <p:spPr>
          <a:xfrm>
            <a:off x="2667000" y="660071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7">
            <a:clrChange>
              <a:clrFrom>
                <a:srgbClr val="FFFFFF"/>
              </a:clrFrom>
              <a:clrTo>
                <a:srgbClr val="FFFFFF">
                  <a:alpha val="0"/>
                </a:srgbClr>
              </a:clrTo>
            </a:clrChange>
          </a:blip>
          <a:stretch>
            <a:fillRect/>
          </a:stretch>
        </p:blipFill>
        <p:spPr>
          <a:xfrm>
            <a:off x="3243013" y="6347950"/>
            <a:ext cx="3971336" cy="1045029"/>
          </a:xfrm>
          <a:prstGeom prst="rect">
            <a:avLst/>
          </a:prstGeom>
        </p:spPr>
      </p:pic>
      <p:sp>
        <p:nvSpPr>
          <p:cNvPr id="29" name="p319-line1"/>
          <p:cNvSpPr>
            <a:spLocks noGrp="1"/>
          </p:cNvSpPr>
          <p:nvPr/>
        </p:nvSpPr>
        <p:spPr>
          <a:xfrm>
            <a:off x="7333161" y="6600716"/>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（15.7）</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320-line1"/>
          <p:cNvSpPr>
            <a:spLocks noGrp="1"/>
          </p:cNvSpPr>
          <p:nvPr/>
        </p:nvSpPr>
        <p:spPr>
          <a:xfrm>
            <a:off x="2667000" y="7747526"/>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当且仅当两个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1" name="图片 30"/>
          <p:cNvPicPr>
            <a:picLocks noChangeAspect="1"/>
          </p:cNvPicPr>
          <p:nvPr/>
        </p:nvPicPr>
        <p:blipFill>
          <a:blip r:embed="rId8">
            <a:clrChange>
              <a:clrFrom>
                <a:srgbClr val="FFFFFF"/>
              </a:clrFrom>
              <a:clrTo>
                <a:srgbClr val="FFFFFF">
                  <a:alpha val="0"/>
                </a:srgbClr>
              </a:clrTo>
            </a:clrChange>
          </a:blip>
          <a:stretch>
            <a:fillRect/>
          </a:stretch>
        </p:blipFill>
        <p:spPr>
          <a:xfrm>
            <a:off x="5438775" y="7686135"/>
            <a:ext cx="1722120" cy="662278"/>
          </a:xfrm>
          <a:prstGeom prst="rect">
            <a:avLst/>
          </a:prstGeom>
        </p:spPr>
      </p:pic>
      <p:sp>
        <p:nvSpPr>
          <p:cNvPr id="32" name="p320-line1"/>
          <p:cNvSpPr>
            <a:spLocks noGrp="1"/>
          </p:cNvSpPr>
          <p:nvPr/>
        </p:nvSpPr>
        <p:spPr>
          <a:xfrm>
            <a:off x="7189470" y="7747526"/>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相等时，行列式为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3" name="图片 32"/>
          <p:cNvPicPr>
            <a:picLocks noChangeAspect="1"/>
          </p:cNvPicPr>
          <p:nvPr/>
        </p:nvPicPr>
        <p:blipFill>
          <a:blip r:embed="rId9">
            <a:clrChange>
              <a:clrFrom>
                <a:srgbClr val="FFFFFF"/>
              </a:clrFrom>
              <a:clrTo>
                <a:srgbClr val="FFFFFF">
                  <a:alpha val="0"/>
                </a:srgbClr>
              </a:clrTo>
            </a:clrChange>
          </a:blip>
          <a:stretch>
            <a:fillRect/>
          </a:stretch>
        </p:blipFill>
        <p:spPr>
          <a:xfrm>
            <a:off x="10875645" y="7682161"/>
            <a:ext cx="1608909" cy="670225"/>
          </a:xfrm>
          <a:prstGeom prst="rect">
            <a:avLst/>
          </a:prstGeom>
        </p:spPr>
      </p:pic>
      <p:sp>
        <p:nvSpPr>
          <p:cNvPr id="34" name="p320-line1"/>
          <p:cNvSpPr>
            <a:spLocks noGrp="1"/>
          </p:cNvSpPr>
          <p:nvPr/>
        </p:nvSpPr>
        <p:spPr>
          <a:xfrm>
            <a:off x="12513129" y="7747526"/>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321-line1"/>
          <p:cNvSpPr>
            <a:spLocks noGrp="1"/>
          </p:cNvSpPr>
          <p:nvPr/>
        </p:nvSpPr>
        <p:spPr>
          <a:xfrm>
            <a:off x="2746375" y="8593404"/>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因此，只要有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6" name="图片 35"/>
          <p:cNvPicPr>
            <a:picLocks noChangeAspect="1"/>
          </p:cNvPicPr>
          <p:nvPr/>
        </p:nvPicPr>
        <p:blipFill>
          <a:blip r:embed="rId10">
            <a:clrChange>
              <a:clrFrom>
                <a:srgbClr val="FFFFFF"/>
              </a:clrFrom>
              <a:clrTo>
                <a:srgbClr val="FFFFFF">
                  <a:alpha val="0"/>
                </a:srgbClr>
              </a:clrTo>
            </a:clrChange>
          </a:blip>
          <a:stretch>
            <a:fillRect/>
          </a:stretch>
        </p:blipFill>
        <p:spPr>
          <a:xfrm>
            <a:off x="5543880" y="8636729"/>
            <a:ext cx="288175" cy="452846"/>
          </a:xfrm>
          <a:prstGeom prst="rect">
            <a:avLst/>
          </a:prstGeom>
        </p:spPr>
      </p:pic>
      <p:sp>
        <p:nvSpPr>
          <p:cNvPr id="37" name="p321-line1"/>
          <p:cNvSpPr>
            <a:spLocks noGrp="1"/>
          </p:cNvSpPr>
          <p:nvPr/>
        </p:nvSpPr>
        <p:spPr>
          <a:xfrm>
            <a:off x="5886359" y="8593404"/>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个不同的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8" name="图片 37"/>
          <p:cNvPicPr>
            <a:picLocks noChangeAspect="1"/>
          </p:cNvPicPr>
          <p:nvPr/>
        </p:nvPicPr>
        <p:blipFill>
          <a:blip r:embed="rId11">
            <a:clrChange>
              <a:clrFrom>
                <a:srgbClr val="FFFFFF"/>
              </a:clrFrom>
              <a:clrTo>
                <a:srgbClr val="FFFFFF">
                  <a:alpha val="0"/>
                </a:srgbClr>
              </a:clrTo>
            </a:clrChange>
          </a:blip>
          <a:stretch>
            <a:fillRect/>
          </a:stretch>
        </p:blipFill>
        <p:spPr>
          <a:xfrm>
            <a:off x="7743734" y="8554393"/>
            <a:ext cx="452846" cy="617517"/>
          </a:xfrm>
          <a:prstGeom prst="rect">
            <a:avLst/>
          </a:prstGeom>
        </p:spPr>
      </p:pic>
      <p:sp>
        <p:nvSpPr>
          <p:cNvPr id="39" name="p321-line1"/>
          <p:cNvSpPr>
            <a:spLocks noGrp="1"/>
          </p:cNvSpPr>
          <p:nvPr/>
        </p:nvSpPr>
        <p:spPr>
          <a:xfrm>
            <a:off x="8225155" y="8593404"/>
            <a:ext cx="8286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的值，方程系数就有唯一解。又因为前面</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0" name="p321-line2"/>
          <p:cNvSpPr>
            <a:spLocks noGrp="1"/>
          </p:cNvSpPr>
          <p:nvPr/>
        </p:nvSpPr>
        <p:spPr>
          <a:xfrm>
            <a:off x="1831975" y="9456097"/>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已经证明多项式</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1" name="图片 40"/>
          <p:cNvPicPr>
            <a:picLocks noChangeAspect="1"/>
          </p:cNvPicPr>
          <p:nvPr/>
        </p:nvPicPr>
        <p:blipFill>
          <a:blip r:embed="rId12">
            <a:clrChange>
              <a:clrFrom>
                <a:srgbClr val="FFFFFF"/>
              </a:clrFrom>
              <a:clrTo>
                <a:srgbClr val="FFFFFF">
                  <a:alpha val="0"/>
                </a:srgbClr>
              </a:clrTo>
            </a:clrChange>
          </a:blip>
          <a:stretch>
            <a:fillRect/>
          </a:stretch>
        </p:blipFill>
        <p:spPr>
          <a:xfrm>
            <a:off x="5064792" y="9373147"/>
            <a:ext cx="1037345" cy="705394"/>
          </a:xfrm>
          <a:prstGeom prst="rect">
            <a:avLst/>
          </a:prstGeom>
        </p:spPr>
      </p:pic>
      <p:sp>
        <p:nvSpPr>
          <p:cNvPr id="42" name="p321-line2"/>
          <p:cNvSpPr>
            <a:spLocks noGrp="1"/>
          </p:cNvSpPr>
          <p:nvPr/>
        </p:nvSpPr>
        <p:spPr>
          <a:xfrm>
            <a:off x="6134554" y="9456097"/>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是一个解，故</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3" name="图片 42"/>
          <p:cNvPicPr>
            <a:picLocks noChangeAspect="1"/>
          </p:cNvPicPr>
          <p:nvPr/>
        </p:nvPicPr>
        <p:blipFill>
          <a:blip r:embed="rId13">
            <a:clrChange>
              <a:clrFrom>
                <a:srgbClr val="FFFFFF"/>
              </a:clrFrom>
              <a:clrTo>
                <a:srgbClr val="FFFFFF">
                  <a:alpha val="0"/>
                </a:srgbClr>
              </a:clrTo>
            </a:clrChange>
          </a:blip>
          <a:stretch>
            <a:fillRect/>
          </a:stretch>
        </p:blipFill>
        <p:spPr>
          <a:xfrm>
            <a:off x="8979221" y="9373147"/>
            <a:ext cx="2240363" cy="705394"/>
          </a:xfrm>
          <a:prstGeom prst="rect">
            <a:avLst/>
          </a:prstGeom>
        </p:spPr>
      </p:pic>
      <p:sp>
        <p:nvSpPr>
          <p:cNvPr id="44" name="p321-line2"/>
          <p:cNvSpPr>
            <a:spLocks noGrp="1"/>
          </p:cNvSpPr>
          <p:nvPr/>
        </p:nvSpPr>
        <p:spPr>
          <a:xfrm>
            <a:off x="11321052" y="945609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Asmuth-Bloom门限方案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23-line1"/>
          <p:cNvSpPr>
            <a:spLocks noGrp="1"/>
          </p:cNvSpPr>
          <p:nvPr/>
        </p:nvSpPr>
        <p:spPr>
          <a:xfrm>
            <a:off x="2667000" y="1883174"/>
            <a:ext cx="10979658"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Asmuth和Bloom于1980年基于中国剩余定理提出了一个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13666381" y="1800225"/>
            <a:ext cx="1203158" cy="705394"/>
          </a:xfrm>
          <a:prstGeom prst="rect">
            <a:avLst/>
          </a:prstGeom>
        </p:spPr>
      </p:pic>
      <p:sp>
        <p:nvSpPr>
          <p:cNvPr id="4" name="p323-line1"/>
          <p:cNvSpPr>
            <a:spLocks noGrp="1"/>
          </p:cNvSpPr>
          <p:nvPr/>
        </p:nvSpPr>
        <p:spPr>
          <a:xfrm>
            <a:off x="14946412" y="188317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门限方</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323-line2"/>
          <p:cNvSpPr>
            <a:spLocks noGrp="1"/>
          </p:cNvSpPr>
          <p:nvPr/>
        </p:nvSpPr>
        <p:spPr>
          <a:xfrm>
            <a:off x="1752600" y="2677069"/>
            <a:ext cx="8286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案，在这个方案中，成员的共享是由秘密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323-line2"/>
          <p:cNvSpPr>
            <a:spLocks noGrp="1"/>
          </p:cNvSpPr>
          <p:nvPr/>
        </p:nvSpPr>
        <p:spPr>
          <a:xfrm>
            <a:off x="9982200" y="2677069"/>
            <a:ext cx="235077"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8" name="p323-line2"/>
          <p:cNvSpPr>
            <a:spLocks noGrp="1"/>
          </p:cNvSpPr>
          <p:nvPr/>
        </p:nvSpPr>
        <p:spPr>
          <a:xfrm>
            <a:off x="10160127" y="2677069"/>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推算出的数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4">
            <a:clrChange>
              <a:clrFrom>
                <a:srgbClr val="FFFFFF"/>
              </a:clrFrom>
              <a:clrTo>
                <a:srgbClr val="FFFFFF">
                  <a:alpha val="0"/>
                </a:srgbClr>
              </a:clrTo>
            </a:clrChange>
          </a:blip>
          <a:stretch>
            <a:fillRect/>
          </a:stretch>
        </p:blipFill>
        <p:spPr>
          <a:xfrm>
            <a:off x="12500646" y="2706243"/>
            <a:ext cx="400957" cy="481149"/>
          </a:xfrm>
          <a:prstGeom prst="rect">
            <a:avLst/>
          </a:prstGeom>
        </p:spPr>
      </p:pic>
      <p:sp>
        <p:nvSpPr>
          <p:cNvPr id="20" name="p323-line2"/>
          <p:cNvSpPr>
            <a:spLocks noGrp="1"/>
          </p:cNvSpPr>
          <p:nvPr/>
        </p:nvSpPr>
        <p:spPr>
          <a:xfrm>
            <a:off x="12956123" y="2677069"/>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对不同模数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5">
            <a:clrChange>
              <a:clrFrom>
                <a:srgbClr val="FFFFFF"/>
              </a:clrFrom>
              <a:clrTo>
                <a:srgbClr val="FFFFFF">
                  <a:alpha val="0"/>
                </a:srgbClr>
              </a:clrTo>
            </a:clrChange>
          </a:blip>
          <a:stretch>
            <a:fillRect/>
          </a:stretch>
        </p:blipFill>
        <p:spPr>
          <a:xfrm>
            <a:off x="1781175" y="3398040"/>
            <a:ext cx="3021874" cy="657042"/>
          </a:xfrm>
          <a:prstGeom prst="rect">
            <a:avLst/>
          </a:prstGeom>
        </p:spPr>
      </p:pic>
      <p:sp>
        <p:nvSpPr>
          <p:cNvPr id="22" name="p323-line3"/>
          <p:cNvSpPr>
            <a:spLocks noGrp="1"/>
          </p:cNvSpPr>
          <p:nvPr/>
        </p:nvSpPr>
        <p:spPr>
          <a:xfrm>
            <a:off x="4831624" y="3456813"/>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的剩余。</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324-line1"/>
          <p:cNvSpPr>
            <a:spLocks noGrp="1"/>
          </p:cNvSpPr>
          <p:nvPr/>
        </p:nvSpPr>
        <p:spPr>
          <a:xfrm>
            <a:off x="2684206" y="4000168"/>
            <a:ext cx="2616517"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1．参数选取</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24" name="p325-line1"/>
          <p:cNvSpPr>
            <a:spLocks noGrp="1"/>
          </p:cNvSpPr>
          <p:nvPr/>
        </p:nvSpPr>
        <p:spPr>
          <a:xfrm>
            <a:off x="3598606" y="489421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令</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6">
            <a:clrChange>
              <a:clrFrom>
                <a:srgbClr val="FFFFFF"/>
              </a:clrFrom>
              <a:clrTo>
                <a:srgbClr val="FFFFFF">
                  <a:alpha val="0"/>
                </a:srgbClr>
              </a:clrTo>
            </a:clrChange>
          </a:blip>
          <a:stretch>
            <a:fillRect/>
          </a:stretch>
        </p:blipFill>
        <p:spPr>
          <a:xfrm>
            <a:off x="4108602" y="4923385"/>
            <a:ext cx="360861" cy="481149"/>
          </a:xfrm>
          <a:prstGeom prst="rect">
            <a:avLst/>
          </a:prstGeom>
        </p:spPr>
      </p:pic>
      <p:sp>
        <p:nvSpPr>
          <p:cNvPr id="26" name="p325-line1"/>
          <p:cNvSpPr>
            <a:spLocks noGrp="1"/>
          </p:cNvSpPr>
          <p:nvPr/>
        </p:nvSpPr>
        <p:spPr>
          <a:xfrm>
            <a:off x="4522259" y="4894212"/>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是一个大素数，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5">
            <a:clrChange>
              <a:clrFrom>
                <a:srgbClr val="FFFFFF"/>
              </a:clrFrom>
              <a:clrTo>
                <a:srgbClr val="FFFFFF">
                  <a:alpha val="0"/>
                </a:srgbClr>
              </a:clrTo>
            </a:clrChange>
          </a:blip>
          <a:stretch>
            <a:fillRect/>
          </a:stretch>
        </p:blipFill>
        <p:spPr>
          <a:xfrm>
            <a:off x="7751234" y="4835439"/>
            <a:ext cx="3021874" cy="657042"/>
          </a:xfrm>
          <a:prstGeom prst="rect">
            <a:avLst/>
          </a:prstGeom>
        </p:spPr>
      </p:pic>
      <p:sp>
        <p:nvSpPr>
          <p:cNvPr id="28" name="p325-line1"/>
          <p:cNvSpPr>
            <a:spLocks noGrp="1"/>
          </p:cNvSpPr>
          <p:nvPr/>
        </p:nvSpPr>
        <p:spPr>
          <a:xfrm>
            <a:off x="10801683" y="489421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7">
            <a:clrChange>
              <a:clrFrom>
                <a:srgbClr val="FFFFFF"/>
              </a:clrFrom>
              <a:clrTo>
                <a:srgbClr val="FFFFFF">
                  <a:alpha val="0"/>
                </a:srgbClr>
              </a:clrTo>
            </a:clrChange>
          </a:blip>
          <a:stretch>
            <a:fillRect/>
          </a:stretch>
        </p:blipFill>
        <p:spPr>
          <a:xfrm>
            <a:off x="11288329" y="4937537"/>
            <a:ext cx="407561" cy="452846"/>
          </a:xfrm>
          <a:prstGeom prst="rect">
            <a:avLst/>
          </a:prstGeom>
        </p:spPr>
      </p:pic>
      <p:sp>
        <p:nvSpPr>
          <p:cNvPr id="30" name="p325-line1"/>
          <p:cNvSpPr>
            <a:spLocks noGrp="1"/>
          </p:cNvSpPr>
          <p:nvPr/>
        </p:nvSpPr>
        <p:spPr>
          <a:xfrm>
            <a:off x="11725336" y="4894212"/>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个严格递增的数，且满足下</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1" name="p325-line2"/>
          <p:cNvSpPr>
            <a:spLocks noGrp="1"/>
          </p:cNvSpPr>
          <p:nvPr/>
        </p:nvSpPr>
        <p:spPr>
          <a:xfrm>
            <a:off x="2684206" y="5673955"/>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列条件。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2" name="p326-line1"/>
          <p:cNvSpPr>
            <a:spLocks noGrp="1"/>
          </p:cNvSpPr>
          <p:nvPr/>
        </p:nvSpPr>
        <p:spPr>
          <a:xfrm>
            <a:off x="3598606" y="6278360"/>
            <a:ext cx="1200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3" name="图片 32"/>
          <p:cNvPicPr>
            <a:picLocks noChangeAspect="1"/>
          </p:cNvPicPr>
          <p:nvPr/>
        </p:nvPicPr>
        <p:blipFill>
          <a:blip r:embed="rId8">
            <a:clrChange>
              <a:clrFrom>
                <a:srgbClr val="FFFFFF"/>
              </a:clrFrom>
              <a:clrTo>
                <a:srgbClr val="FFFFFF">
                  <a:alpha val="0"/>
                </a:srgbClr>
              </a:clrTo>
            </a:clrChange>
          </a:blip>
          <a:stretch>
            <a:fillRect/>
          </a:stretch>
        </p:blipFill>
        <p:spPr>
          <a:xfrm>
            <a:off x="4811547" y="6307534"/>
            <a:ext cx="962297" cy="481149"/>
          </a:xfrm>
          <a:prstGeom prst="rect">
            <a:avLst/>
          </a:prstGeom>
        </p:spPr>
      </p:pic>
      <p:sp>
        <p:nvSpPr>
          <p:cNvPr id="34" name="p326-line1"/>
          <p:cNvSpPr>
            <a:spLocks noGrp="1"/>
          </p:cNvSpPr>
          <p:nvPr/>
        </p:nvSpPr>
        <p:spPr>
          <a:xfrm>
            <a:off x="5843785" y="6278360"/>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5" name="p327-line1"/>
          <p:cNvSpPr>
            <a:spLocks noGrp="1"/>
          </p:cNvSpPr>
          <p:nvPr/>
        </p:nvSpPr>
        <p:spPr>
          <a:xfrm>
            <a:off x="3598606" y="7001002"/>
            <a:ext cx="1200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6" name="图片 35"/>
          <p:cNvPicPr>
            <a:picLocks noChangeAspect="1"/>
          </p:cNvPicPr>
          <p:nvPr/>
        </p:nvPicPr>
        <p:blipFill>
          <a:blip r:embed="rId9">
            <a:clrChange>
              <a:clrFrom>
                <a:srgbClr val="FFFFFF"/>
              </a:clrFrom>
              <a:clrTo>
                <a:srgbClr val="FFFFFF">
                  <a:alpha val="0"/>
                </a:srgbClr>
              </a:clrTo>
            </a:clrChange>
          </a:blip>
          <a:stretch>
            <a:fillRect/>
          </a:stretch>
        </p:blipFill>
        <p:spPr>
          <a:xfrm>
            <a:off x="4936858" y="6882130"/>
            <a:ext cx="5231423" cy="777240"/>
          </a:xfrm>
          <a:prstGeom prst="rect">
            <a:avLst/>
          </a:prstGeom>
        </p:spPr>
      </p:pic>
      <p:sp>
        <p:nvSpPr>
          <p:cNvPr id="37" name="p327-line1"/>
          <p:cNvSpPr>
            <a:spLocks noGrp="1"/>
          </p:cNvSpPr>
          <p:nvPr/>
        </p:nvSpPr>
        <p:spPr>
          <a:xfrm>
            <a:off x="10363533" y="700100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328-line1"/>
          <p:cNvSpPr>
            <a:spLocks noGrp="1"/>
          </p:cNvSpPr>
          <p:nvPr/>
        </p:nvSpPr>
        <p:spPr>
          <a:xfrm>
            <a:off x="3634032" y="7765482"/>
            <a:ext cx="1200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（3）</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9" name="图片 38"/>
          <p:cNvPicPr>
            <a:picLocks noChangeAspect="1"/>
          </p:cNvPicPr>
          <p:nvPr/>
        </p:nvPicPr>
        <p:blipFill>
          <a:blip r:embed="rId10">
            <a:clrChange>
              <a:clrFrom>
                <a:srgbClr val="FFFFFF"/>
              </a:clrFrom>
              <a:clrTo>
                <a:srgbClr val="FFFFFF">
                  <a:alpha val="0"/>
                </a:srgbClr>
              </a:clrTo>
            </a:clrChange>
          </a:blip>
          <a:stretch>
            <a:fillRect/>
          </a:stretch>
        </p:blipFill>
        <p:spPr>
          <a:xfrm>
            <a:off x="4936858" y="7682532"/>
            <a:ext cx="5598367" cy="705394"/>
          </a:xfrm>
          <a:prstGeom prst="rect">
            <a:avLst/>
          </a:prstGeom>
        </p:spPr>
      </p:pic>
      <p:sp>
        <p:nvSpPr>
          <p:cNvPr id="40" name="p328-line1"/>
          <p:cNvSpPr>
            <a:spLocks noGrp="1"/>
          </p:cNvSpPr>
          <p:nvPr/>
        </p:nvSpPr>
        <p:spPr>
          <a:xfrm>
            <a:off x="10695051" y="7765482"/>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1" name="p329-line1"/>
          <p:cNvSpPr>
            <a:spLocks noGrp="1"/>
          </p:cNvSpPr>
          <p:nvPr/>
        </p:nvSpPr>
        <p:spPr>
          <a:xfrm>
            <a:off x="3639735" y="8773468"/>
            <a:ext cx="1200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2" name="图片 41"/>
          <p:cNvPicPr>
            <a:picLocks noChangeAspect="1"/>
          </p:cNvPicPr>
          <p:nvPr/>
        </p:nvPicPr>
        <p:blipFill>
          <a:blip r:embed="rId11">
            <a:clrChange>
              <a:clrFrom>
                <a:srgbClr val="FFFFFF"/>
              </a:clrFrom>
              <a:clrTo>
                <a:srgbClr val="FFFFFF">
                  <a:alpha val="0"/>
                </a:srgbClr>
              </a:clrTo>
            </a:clrChange>
          </a:blip>
          <a:stretch>
            <a:fillRect/>
          </a:stretch>
        </p:blipFill>
        <p:spPr>
          <a:xfrm>
            <a:off x="4813312" y="8386808"/>
            <a:ext cx="4330688" cy="1312817"/>
          </a:xfrm>
          <a:prstGeom prst="rect">
            <a:avLst/>
          </a:prstGeom>
        </p:spPr>
      </p:pic>
      <p:sp>
        <p:nvSpPr>
          <p:cNvPr id="43" name="p329-line1"/>
          <p:cNvSpPr>
            <a:spLocks noGrp="1"/>
          </p:cNvSpPr>
          <p:nvPr/>
        </p:nvSpPr>
        <p:spPr>
          <a:xfrm>
            <a:off x="9174576" y="8773468"/>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Asmuth-Bloom门限方案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17" name="p330-line1"/>
          <p:cNvSpPr>
            <a:spLocks noGrp="1"/>
          </p:cNvSpPr>
          <p:nvPr/>
        </p:nvSpPr>
        <p:spPr>
          <a:xfrm>
            <a:off x="2667000" y="1800225"/>
            <a:ext cx="6229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条件（1）表明秘密数必须小于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8891996" y="1829399"/>
            <a:ext cx="360861" cy="481149"/>
          </a:xfrm>
          <a:prstGeom prst="rect">
            <a:avLst/>
          </a:prstGeom>
        </p:spPr>
      </p:pic>
      <p:sp>
        <p:nvSpPr>
          <p:cNvPr id="3" name="p330-line1"/>
          <p:cNvSpPr>
            <a:spLocks noGrp="1"/>
          </p:cNvSpPr>
          <p:nvPr/>
        </p:nvSpPr>
        <p:spPr>
          <a:xfrm>
            <a:off x="9305653" y="1800225"/>
            <a:ext cx="3486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；条件（2）指出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12764099" y="1843550"/>
            <a:ext cx="407561" cy="452846"/>
          </a:xfrm>
          <a:prstGeom prst="rect">
            <a:avLst/>
          </a:prstGeom>
        </p:spPr>
      </p:pic>
      <p:sp>
        <p:nvSpPr>
          <p:cNvPr id="10" name="p330-line1"/>
          <p:cNvSpPr>
            <a:spLocks noGrp="1"/>
          </p:cNvSpPr>
          <p:nvPr/>
        </p:nvSpPr>
        <p:spPr>
          <a:xfrm>
            <a:off x="13201106" y="1800225"/>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个模数两两互</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8" name="p330-line2"/>
          <p:cNvSpPr>
            <a:spLocks noGrp="1"/>
          </p:cNvSpPr>
          <p:nvPr/>
        </p:nvSpPr>
        <p:spPr>
          <a:xfrm>
            <a:off x="1752600" y="2579969"/>
            <a:ext cx="3943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素；条件（3）表示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4">
            <a:clrChange>
              <a:clrFrom>
                <a:srgbClr val="FFFFFF"/>
              </a:clrFrom>
              <a:clrTo>
                <a:srgbClr val="FFFFFF">
                  <a:alpha val="0"/>
                </a:srgbClr>
              </a:clrTo>
            </a:clrChange>
          </a:blip>
          <a:stretch>
            <a:fillRect/>
          </a:stretch>
        </p:blipFill>
        <p:spPr>
          <a:xfrm>
            <a:off x="5668246" y="2623294"/>
            <a:ext cx="407561" cy="452846"/>
          </a:xfrm>
          <a:prstGeom prst="rect">
            <a:avLst/>
          </a:prstGeom>
        </p:spPr>
      </p:pic>
      <p:sp>
        <p:nvSpPr>
          <p:cNvPr id="20" name="p330-line2"/>
          <p:cNvSpPr>
            <a:spLocks noGrp="1"/>
          </p:cNvSpPr>
          <p:nvPr/>
        </p:nvSpPr>
        <p:spPr>
          <a:xfrm>
            <a:off x="6105253" y="2579969"/>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个模数都与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3">
            <a:clrChange>
              <a:clrFrom>
                <a:srgbClr val="FFFFFF"/>
              </a:clrFrom>
              <a:clrTo>
                <a:srgbClr val="FFFFFF">
                  <a:alpha val="0"/>
                </a:srgbClr>
              </a:clrTo>
            </a:clrChange>
          </a:blip>
          <a:stretch>
            <a:fillRect/>
          </a:stretch>
        </p:blipFill>
        <p:spPr>
          <a:xfrm>
            <a:off x="8444049" y="2609142"/>
            <a:ext cx="360861" cy="481149"/>
          </a:xfrm>
          <a:prstGeom prst="rect">
            <a:avLst/>
          </a:prstGeom>
        </p:spPr>
      </p:pic>
      <p:sp>
        <p:nvSpPr>
          <p:cNvPr id="22" name="p330-line2"/>
          <p:cNvSpPr>
            <a:spLocks noGrp="1"/>
          </p:cNvSpPr>
          <p:nvPr/>
        </p:nvSpPr>
        <p:spPr>
          <a:xfrm>
            <a:off x="8857706" y="2579969"/>
            <a:ext cx="4857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互素；条件（4）指出，</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5">
            <a:clrChange>
              <a:clrFrom>
                <a:srgbClr val="FFFFFF"/>
              </a:clrFrom>
              <a:clrTo>
                <a:srgbClr val="FFFFFF">
                  <a:alpha val="0"/>
                </a:srgbClr>
              </a:clrTo>
            </a:clrChange>
          </a:blip>
          <a:stretch>
            <a:fillRect/>
          </a:stretch>
        </p:blipFill>
        <p:spPr>
          <a:xfrm>
            <a:off x="13686881" y="2523145"/>
            <a:ext cx="1045029" cy="653143"/>
          </a:xfrm>
          <a:prstGeom prst="rect">
            <a:avLst/>
          </a:prstGeom>
        </p:spPr>
      </p:pic>
      <p:sp>
        <p:nvSpPr>
          <p:cNvPr id="24" name="p330-line2"/>
          <p:cNvSpPr>
            <a:spLocks noGrp="1"/>
          </p:cNvSpPr>
          <p:nvPr/>
        </p:nvSpPr>
        <p:spPr>
          <a:xfrm>
            <a:off x="14760484" y="257996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大于后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6">
            <a:clrChange>
              <a:clrFrom>
                <a:srgbClr val="FFFFFF"/>
              </a:clrFrom>
              <a:clrTo>
                <a:srgbClr val="FFFFFF">
                  <a:alpha val="0"/>
                </a:srgbClr>
              </a:clrTo>
            </a:clrChange>
          </a:blip>
          <a:stretch>
            <a:fillRect/>
          </a:stretch>
        </p:blipFill>
        <p:spPr>
          <a:xfrm>
            <a:off x="1788886" y="3457684"/>
            <a:ext cx="761819" cy="481149"/>
          </a:xfrm>
          <a:prstGeom prst="rect">
            <a:avLst/>
          </a:prstGeom>
        </p:spPr>
      </p:pic>
      <p:sp>
        <p:nvSpPr>
          <p:cNvPr id="26" name="p330-line3"/>
          <p:cNvSpPr>
            <a:spLocks noGrp="1"/>
          </p:cNvSpPr>
          <p:nvPr/>
        </p:nvSpPr>
        <p:spPr>
          <a:xfrm>
            <a:off x="2586990" y="3428510"/>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个模数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7" name="图片 26"/>
          <p:cNvPicPr>
            <a:picLocks noChangeAspect="1"/>
          </p:cNvPicPr>
          <p:nvPr/>
        </p:nvPicPr>
        <p:blipFill>
          <a:blip r:embed="rId7">
            <a:clrChange>
              <a:clrFrom>
                <a:srgbClr val="FFFFFF"/>
              </a:clrFrom>
              <a:clrTo>
                <a:srgbClr val="FFFFFF">
                  <a:alpha val="0"/>
                </a:srgbClr>
              </a:clrTo>
            </a:clrChange>
          </a:blip>
          <a:stretch>
            <a:fillRect/>
          </a:stretch>
        </p:blipFill>
        <p:spPr>
          <a:xfrm>
            <a:off x="3987165" y="3372943"/>
            <a:ext cx="563880" cy="650631"/>
          </a:xfrm>
          <a:prstGeom prst="rect">
            <a:avLst/>
          </a:prstGeom>
        </p:spPr>
      </p:pic>
      <p:sp>
        <p:nvSpPr>
          <p:cNvPr id="28" name="p330-line3"/>
          <p:cNvSpPr>
            <a:spLocks noGrp="1"/>
          </p:cNvSpPr>
          <p:nvPr/>
        </p:nvSpPr>
        <p:spPr>
          <a:xfrm>
            <a:off x="4579620" y="3428510"/>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之积。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51" name="p331-line1"/>
          <p:cNvSpPr>
            <a:spLocks noGrp="1"/>
          </p:cNvSpPr>
          <p:nvPr/>
        </p:nvSpPr>
        <p:spPr>
          <a:xfrm>
            <a:off x="1917923" y="4399304"/>
            <a:ext cx="2616517"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2．秘密分割</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52" name="p332-line1"/>
          <p:cNvSpPr>
            <a:spLocks noGrp="1"/>
          </p:cNvSpPr>
          <p:nvPr/>
        </p:nvSpPr>
        <p:spPr>
          <a:xfrm>
            <a:off x="2832323" y="5307499"/>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首先，随机选取整数</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3" name="图片 52"/>
          <p:cNvPicPr>
            <a:picLocks noChangeAspect="1"/>
          </p:cNvPicPr>
          <p:nvPr/>
        </p:nvPicPr>
        <p:blipFill>
          <a:blip r:embed="rId8">
            <a:clrChange>
              <a:clrFrom>
                <a:srgbClr val="FFFFFF"/>
              </a:clrFrom>
              <a:clrTo>
                <a:srgbClr val="FFFFFF">
                  <a:alpha val="0"/>
                </a:srgbClr>
              </a:clrTo>
            </a:clrChange>
          </a:blip>
          <a:stretch>
            <a:fillRect/>
          </a:stretch>
        </p:blipFill>
        <p:spPr>
          <a:xfrm>
            <a:off x="6975698" y="5350824"/>
            <a:ext cx="452846" cy="452846"/>
          </a:xfrm>
          <a:prstGeom prst="rect">
            <a:avLst/>
          </a:prstGeom>
        </p:spPr>
      </p:pic>
      <p:sp>
        <p:nvSpPr>
          <p:cNvPr id="54" name="p332-line1"/>
          <p:cNvSpPr>
            <a:spLocks noGrp="1"/>
          </p:cNvSpPr>
          <p:nvPr/>
        </p:nvSpPr>
        <p:spPr>
          <a:xfrm>
            <a:off x="7457119" y="530749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满足</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5" name="图片 54"/>
          <p:cNvPicPr>
            <a:picLocks noChangeAspect="1"/>
          </p:cNvPicPr>
          <p:nvPr/>
        </p:nvPicPr>
        <p:blipFill>
          <a:blip r:embed="rId9">
            <a:clrChange>
              <a:clrFrom>
                <a:srgbClr val="FFFFFF"/>
              </a:clrFrom>
              <a:clrTo>
                <a:srgbClr val="FFFFFF">
                  <a:alpha val="0"/>
                </a:srgbClr>
              </a:clrTo>
            </a:clrChange>
          </a:blip>
          <a:stretch>
            <a:fillRect/>
          </a:stretch>
        </p:blipFill>
        <p:spPr>
          <a:xfrm>
            <a:off x="8492778" y="5224550"/>
            <a:ext cx="3359020" cy="705394"/>
          </a:xfrm>
          <a:prstGeom prst="rect">
            <a:avLst/>
          </a:prstGeom>
        </p:spPr>
      </p:pic>
      <p:sp>
        <p:nvSpPr>
          <p:cNvPr id="56" name="p332-line1"/>
          <p:cNvSpPr>
            <a:spLocks noGrp="1"/>
          </p:cNvSpPr>
          <p:nvPr/>
        </p:nvSpPr>
        <p:spPr>
          <a:xfrm>
            <a:off x="11973057" y="5307499"/>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，并公布</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7" name="图片 56"/>
          <p:cNvPicPr>
            <a:picLocks noChangeAspect="1"/>
          </p:cNvPicPr>
          <p:nvPr/>
        </p:nvPicPr>
        <p:blipFill>
          <a:blip r:embed="rId3">
            <a:clrChange>
              <a:clrFrom>
                <a:srgbClr val="FFFFFF"/>
              </a:clrFrom>
              <a:clrTo>
                <a:srgbClr val="FFFFFF">
                  <a:alpha val="0"/>
                </a:srgbClr>
              </a:clrTo>
            </a:clrChange>
          </a:blip>
          <a:stretch>
            <a:fillRect/>
          </a:stretch>
        </p:blipFill>
        <p:spPr>
          <a:xfrm>
            <a:off x="13854653" y="5336673"/>
            <a:ext cx="360861" cy="481149"/>
          </a:xfrm>
          <a:prstGeom prst="rect">
            <a:avLst/>
          </a:prstGeom>
        </p:spPr>
      </p:pic>
      <p:sp>
        <p:nvSpPr>
          <p:cNvPr id="58" name="p332-line1"/>
          <p:cNvSpPr>
            <a:spLocks noGrp="1"/>
          </p:cNvSpPr>
          <p:nvPr/>
        </p:nvSpPr>
        <p:spPr>
          <a:xfrm>
            <a:off x="14268310" y="5307499"/>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。其次，</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59" name="图片 58"/>
          <p:cNvPicPr>
            <a:picLocks noChangeAspect="1"/>
          </p:cNvPicPr>
          <p:nvPr/>
        </p:nvPicPr>
        <p:blipFill>
          <a:blip r:embed="rId10">
            <a:clrChange>
              <a:clrFrom>
                <a:srgbClr val="FFFFFF"/>
              </a:clrFrom>
              <a:clrTo>
                <a:srgbClr val="FFFFFF">
                  <a:alpha val="0"/>
                </a:srgbClr>
              </a:clrTo>
            </a:clrChange>
          </a:blip>
          <a:stretch>
            <a:fillRect/>
          </a:stretch>
        </p:blipFill>
        <p:spPr>
          <a:xfrm>
            <a:off x="1946498" y="6142398"/>
            <a:ext cx="2048691" cy="623388"/>
          </a:xfrm>
          <a:prstGeom prst="rect">
            <a:avLst/>
          </a:prstGeom>
        </p:spPr>
      </p:pic>
      <p:sp>
        <p:nvSpPr>
          <p:cNvPr id="60" name="p332-line2"/>
          <p:cNvSpPr>
            <a:spLocks noGrp="1"/>
          </p:cNvSpPr>
          <p:nvPr/>
        </p:nvSpPr>
        <p:spPr>
          <a:xfrm>
            <a:off x="4023764" y="6184343"/>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61" name="图片 60"/>
          <p:cNvPicPr>
            <a:picLocks noChangeAspect="1"/>
          </p:cNvPicPr>
          <p:nvPr/>
        </p:nvPicPr>
        <p:blipFill>
          <a:blip r:embed="rId11">
            <a:clrChange>
              <a:clrFrom>
                <a:srgbClr val="FFFFFF"/>
              </a:clrFrom>
              <a:clrTo>
                <a:srgbClr val="FFFFFF">
                  <a:alpha val="0"/>
                </a:srgbClr>
              </a:clrTo>
            </a:clrChange>
          </a:blip>
          <a:stretch>
            <a:fillRect/>
          </a:stretch>
        </p:blipFill>
        <p:spPr>
          <a:xfrm>
            <a:off x="5597169" y="6101394"/>
            <a:ext cx="6672649" cy="705394"/>
          </a:xfrm>
          <a:prstGeom prst="rect">
            <a:avLst/>
          </a:prstGeom>
        </p:spPr>
      </p:pic>
      <p:sp>
        <p:nvSpPr>
          <p:cNvPr id="62" name="p332-line2"/>
          <p:cNvSpPr>
            <a:spLocks noGrp="1"/>
          </p:cNvSpPr>
          <p:nvPr/>
        </p:nvSpPr>
        <p:spPr>
          <a:xfrm>
            <a:off x="12471623" y="6184343"/>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。最后，计算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63" name="图片 62"/>
          <p:cNvPicPr>
            <a:picLocks noChangeAspect="1"/>
          </p:cNvPicPr>
          <p:nvPr/>
        </p:nvPicPr>
        <p:blipFill>
          <a:blip r:embed="rId12">
            <a:clrChange>
              <a:clrFrom>
                <a:srgbClr val="FFFFFF"/>
              </a:clrFrom>
              <a:clrTo>
                <a:srgbClr val="FFFFFF">
                  <a:alpha val="0"/>
                </a:srgbClr>
              </a:clrTo>
            </a:clrChange>
          </a:blip>
          <a:stretch>
            <a:fillRect/>
          </a:stretch>
        </p:blipFill>
        <p:spPr>
          <a:xfrm>
            <a:off x="2074177" y="6978239"/>
            <a:ext cx="5309419" cy="705394"/>
          </a:xfrm>
          <a:prstGeom prst="rect">
            <a:avLst/>
          </a:prstGeom>
        </p:spPr>
      </p:pic>
      <p:sp>
        <p:nvSpPr>
          <p:cNvPr id="64" name="p332-line3"/>
          <p:cNvSpPr>
            <a:spLocks noGrp="1"/>
          </p:cNvSpPr>
          <p:nvPr/>
        </p:nvSpPr>
        <p:spPr>
          <a:xfrm>
            <a:off x="7539850" y="7061188"/>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65" name="图片 64"/>
          <p:cNvPicPr>
            <a:picLocks noChangeAspect="1"/>
          </p:cNvPicPr>
          <p:nvPr/>
        </p:nvPicPr>
        <p:blipFill>
          <a:blip r:embed="rId13">
            <a:clrChange>
              <a:clrFrom>
                <a:srgbClr val="FFFFFF"/>
              </a:clrFrom>
              <a:clrTo>
                <a:srgbClr val="FFFFFF">
                  <a:alpha val="0"/>
                </a:srgbClr>
              </a:clrTo>
            </a:clrChange>
          </a:blip>
          <a:stretch>
            <a:fillRect/>
          </a:stretch>
        </p:blipFill>
        <p:spPr>
          <a:xfrm>
            <a:off x="8076544" y="6978239"/>
            <a:ext cx="1535373" cy="705394"/>
          </a:xfrm>
          <a:prstGeom prst="rect">
            <a:avLst/>
          </a:prstGeom>
        </p:spPr>
      </p:pic>
      <p:sp>
        <p:nvSpPr>
          <p:cNvPr id="66" name="p332-line3"/>
          <p:cNvSpPr>
            <a:spLocks noGrp="1"/>
          </p:cNvSpPr>
          <p:nvPr/>
        </p:nvSpPr>
        <p:spPr>
          <a:xfrm>
            <a:off x="9691412" y="7061188"/>
            <a:ext cx="6457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即一个子共享，将其分别传送给</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67" name="图片 66"/>
          <p:cNvPicPr>
            <a:picLocks noChangeAspect="1"/>
          </p:cNvPicPr>
          <p:nvPr/>
        </p:nvPicPr>
        <p:blipFill>
          <a:blip r:embed="rId4">
            <a:clrChange>
              <a:clrFrom>
                <a:srgbClr val="FFFFFF"/>
              </a:clrFrom>
              <a:clrTo>
                <a:srgbClr val="FFFFFF">
                  <a:alpha val="0"/>
                </a:srgbClr>
              </a:clrTo>
            </a:clrChange>
          </a:blip>
          <a:stretch>
            <a:fillRect/>
          </a:stretch>
        </p:blipFill>
        <p:spPr>
          <a:xfrm>
            <a:off x="16121657" y="7104513"/>
            <a:ext cx="407561" cy="452846"/>
          </a:xfrm>
          <a:prstGeom prst="rect">
            <a:avLst/>
          </a:prstGeom>
        </p:spPr>
      </p:pic>
      <p:sp>
        <p:nvSpPr>
          <p:cNvPr id="68" name="p332-line4"/>
          <p:cNvSpPr>
            <a:spLocks noGrp="1"/>
          </p:cNvSpPr>
          <p:nvPr/>
        </p:nvSpPr>
        <p:spPr>
          <a:xfrm>
            <a:off x="1917923" y="7973955"/>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个用户。集合</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69" name="图片 68"/>
          <p:cNvPicPr>
            <a:picLocks noChangeAspect="1"/>
          </p:cNvPicPr>
          <p:nvPr/>
        </p:nvPicPr>
        <p:blipFill>
          <a:blip r:embed="rId14">
            <a:clrChange>
              <a:clrFrom>
                <a:srgbClr val="FFFFFF"/>
              </a:clrFrom>
              <a:clrTo>
                <a:srgbClr val="FFFFFF">
                  <a:alpha val="0"/>
                </a:srgbClr>
              </a:clrTo>
            </a:clrChange>
          </a:blip>
          <a:stretch>
            <a:fillRect/>
          </a:stretch>
        </p:blipFill>
        <p:spPr>
          <a:xfrm>
            <a:off x="4846060" y="7855083"/>
            <a:ext cx="4459574" cy="777240"/>
          </a:xfrm>
          <a:prstGeom prst="rect">
            <a:avLst/>
          </a:prstGeom>
        </p:spPr>
      </p:pic>
      <p:sp>
        <p:nvSpPr>
          <p:cNvPr id="70" name="p332-line4"/>
          <p:cNvSpPr>
            <a:spLocks noGrp="1"/>
          </p:cNvSpPr>
          <p:nvPr/>
        </p:nvSpPr>
        <p:spPr>
          <a:xfrm>
            <a:off x="9490570" y="7973955"/>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即构成了一个</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71" name="图片 70"/>
          <p:cNvPicPr>
            <a:picLocks noChangeAspect="1"/>
          </p:cNvPicPr>
          <p:nvPr/>
        </p:nvPicPr>
        <p:blipFill>
          <a:blip r:embed="rId15">
            <a:clrChange>
              <a:clrFrom>
                <a:srgbClr val="FFFFFF"/>
              </a:clrFrom>
              <a:clrTo>
                <a:srgbClr val="FFFFFF">
                  <a:alpha val="0"/>
                </a:srgbClr>
              </a:clrTo>
            </a:clrChange>
          </a:blip>
          <a:stretch>
            <a:fillRect/>
          </a:stretch>
        </p:blipFill>
        <p:spPr>
          <a:xfrm>
            <a:off x="12310643" y="7891006"/>
            <a:ext cx="1203158" cy="705394"/>
          </a:xfrm>
          <a:prstGeom prst="rect">
            <a:avLst/>
          </a:prstGeom>
        </p:spPr>
      </p:pic>
      <p:sp>
        <p:nvSpPr>
          <p:cNvPr id="72" name="p332-line4"/>
          <p:cNvSpPr>
            <a:spLocks noGrp="1"/>
          </p:cNvSpPr>
          <p:nvPr/>
        </p:nvSpPr>
        <p:spPr>
          <a:xfrm>
            <a:off x="13590674" y="7973955"/>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门限方案。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a:xfrm>
            <a:off x="15477166" y="9466014"/>
            <a:ext cx="2133600" cy="365125"/>
          </a:xfrm>
        </p:spPr>
        <p:txBody>
          <a:bodyPr/>
          <a:lstStyle/>
          <a:p>
            <a:fld id="{B6F15528-21DE-4FAA-801E-634DDDAF4B2B}" type="slidenum">
              <a:rPr lang="en-US" altLang="zh-CN" smtClean="0"/>
            </a:fld>
            <a:endParaRPr lang="en-US" sz="1400" baseline="0" dirty="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Asmuth-Bloom门限方案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33-line1"/>
          <p:cNvSpPr>
            <a:spLocks noGrp="1"/>
          </p:cNvSpPr>
          <p:nvPr/>
        </p:nvSpPr>
        <p:spPr>
          <a:xfrm>
            <a:off x="1752600" y="1800225"/>
            <a:ext cx="2616517"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3．秘密恢复</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3" name="p334-line1"/>
          <p:cNvSpPr>
            <a:spLocks noGrp="1"/>
          </p:cNvSpPr>
          <p:nvPr/>
        </p:nvSpPr>
        <p:spPr>
          <a:xfrm>
            <a:off x="2667000" y="269426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当</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3">
            <a:clrChange>
              <a:clrFrom>
                <a:srgbClr val="FFFFFF"/>
              </a:clrFrom>
              <a:clrTo>
                <a:srgbClr val="FFFFFF">
                  <a:alpha val="0"/>
                </a:srgbClr>
              </a:clrTo>
            </a:clrChange>
          </a:blip>
          <a:stretch>
            <a:fillRect/>
          </a:stretch>
        </p:blipFill>
        <p:spPr>
          <a:xfrm>
            <a:off x="3178505" y="2737594"/>
            <a:ext cx="288175" cy="452846"/>
          </a:xfrm>
          <a:prstGeom prst="rect">
            <a:avLst/>
          </a:prstGeom>
        </p:spPr>
      </p:pic>
      <p:sp>
        <p:nvSpPr>
          <p:cNvPr id="10" name="p334-line1"/>
          <p:cNvSpPr>
            <a:spLocks noGrp="1"/>
          </p:cNvSpPr>
          <p:nvPr/>
        </p:nvSpPr>
        <p:spPr>
          <a:xfrm>
            <a:off x="3520984" y="2694269"/>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个参与者</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4">
            <a:clrChange>
              <a:clrFrom>
                <a:srgbClr val="FFFFFF"/>
              </a:clrFrom>
              <a:clrTo>
                <a:srgbClr val="FFFFFF">
                  <a:alpha val="0"/>
                </a:srgbClr>
              </a:clrTo>
            </a:clrChange>
          </a:blip>
          <a:stretch>
            <a:fillRect/>
          </a:stretch>
        </p:blipFill>
        <p:spPr>
          <a:xfrm>
            <a:off x="5378359" y="2632683"/>
            <a:ext cx="2386149" cy="662668"/>
          </a:xfrm>
          <a:prstGeom prst="rect">
            <a:avLst/>
          </a:prstGeom>
        </p:spPr>
      </p:pic>
      <p:sp>
        <p:nvSpPr>
          <p:cNvPr id="18" name="p334-line1"/>
          <p:cNvSpPr>
            <a:spLocks noGrp="1"/>
          </p:cNvSpPr>
          <p:nvPr/>
        </p:nvSpPr>
        <p:spPr>
          <a:xfrm>
            <a:off x="7793083" y="2694269"/>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提供自己的子份额时，由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5">
            <a:clrChange>
              <a:clrFrom>
                <a:srgbClr val="FFFFFF"/>
              </a:clrFrom>
              <a:clrTo>
                <a:srgbClr val="FFFFFF">
                  <a:alpha val="0"/>
                </a:srgbClr>
              </a:clrTo>
            </a:clrChange>
          </a:blip>
          <a:stretch>
            <a:fillRect/>
          </a:stretch>
        </p:blipFill>
        <p:spPr>
          <a:xfrm>
            <a:off x="1781175" y="3494715"/>
            <a:ext cx="4885509" cy="1003623"/>
          </a:xfrm>
          <a:prstGeom prst="rect">
            <a:avLst/>
          </a:prstGeom>
        </p:spPr>
      </p:pic>
      <p:sp>
        <p:nvSpPr>
          <p:cNvPr id="20" name="p334-line2"/>
          <p:cNvSpPr>
            <a:spLocks noGrp="1"/>
          </p:cNvSpPr>
          <p:nvPr/>
        </p:nvSpPr>
        <p:spPr>
          <a:xfrm>
            <a:off x="6695259" y="3726779"/>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建立方程组为</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1" name="p335-line1"/>
          <p:cNvSpPr>
            <a:spLocks noGrp="1"/>
          </p:cNvSpPr>
          <p:nvPr/>
        </p:nvSpPr>
        <p:spPr>
          <a:xfrm>
            <a:off x="2667000" y="6025297"/>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2" name="图片 21"/>
          <p:cNvPicPr>
            <a:picLocks noChangeAspect="1"/>
          </p:cNvPicPr>
          <p:nvPr/>
        </p:nvPicPr>
        <p:blipFill>
          <a:blip r:embed="rId6">
            <a:clrChange>
              <a:clrFrom>
                <a:srgbClr val="FFFFFF"/>
              </a:clrFrom>
              <a:clrTo>
                <a:srgbClr val="FFFFFF">
                  <a:alpha val="0"/>
                </a:srgbClr>
              </a:clrTo>
            </a:clrChange>
          </a:blip>
          <a:stretch>
            <a:fillRect/>
          </a:stretch>
        </p:blipFill>
        <p:spPr>
          <a:xfrm>
            <a:off x="3152775" y="4827709"/>
            <a:ext cx="3021874" cy="2934672"/>
          </a:xfrm>
          <a:prstGeom prst="rect">
            <a:avLst/>
          </a:prstGeom>
        </p:spPr>
      </p:pic>
      <p:sp>
        <p:nvSpPr>
          <p:cNvPr id="23" name="p335-line1"/>
          <p:cNvSpPr>
            <a:spLocks noGrp="1"/>
          </p:cNvSpPr>
          <p:nvPr/>
        </p:nvSpPr>
        <p:spPr>
          <a:xfrm>
            <a:off x="6203224" y="6025297"/>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（15.8）</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4" name="p336-line1"/>
          <p:cNvSpPr>
            <a:spLocks noGrp="1"/>
          </p:cNvSpPr>
          <p:nvPr/>
        </p:nvSpPr>
        <p:spPr>
          <a:xfrm>
            <a:off x="2667000" y="8071050"/>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根据中国剩余定理可求得</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337-line1"/>
          <p:cNvSpPr>
            <a:spLocks noGrp="1"/>
          </p:cNvSpPr>
          <p:nvPr/>
        </p:nvSpPr>
        <p:spPr>
          <a:xfrm>
            <a:off x="7286625" y="8111095"/>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6" name="图片 25"/>
          <p:cNvPicPr>
            <a:picLocks noChangeAspect="1"/>
          </p:cNvPicPr>
          <p:nvPr/>
        </p:nvPicPr>
        <p:blipFill>
          <a:blip r:embed="rId7">
            <a:clrChange>
              <a:clrFrom>
                <a:srgbClr val="FFFFFF"/>
              </a:clrFrom>
              <a:clrTo>
                <a:srgbClr val="FFFFFF">
                  <a:alpha val="0"/>
                </a:srgbClr>
              </a:clrTo>
            </a:clrChange>
          </a:blip>
          <a:stretch>
            <a:fillRect/>
          </a:stretch>
        </p:blipFill>
        <p:spPr>
          <a:xfrm>
            <a:off x="7772400" y="8057531"/>
            <a:ext cx="2542903" cy="646624"/>
          </a:xfrm>
          <a:prstGeom prst="rect">
            <a:avLst/>
          </a:prstGeom>
        </p:spPr>
      </p:pic>
      <p:sp>
        <p:nvSpPr>
          <p:cNvPr id="27" name="p337-line1"/>
          <p:cNvSpPr>
            <a:spLocks noGrp="1"/>
          </p:cNvSpPr>
          <p:nvPr/>
        </p:nvSpPr>
        <p:spPr>
          <a:xfrm>
            <a:off x="10343878" y="8111095"/>
            <a:ext cx="22288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　（15.9）</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8" name="p338-line1"/>
          <p:cNvSpPr>
            <a:spLocks noGrp="1"/>
          </p:cNvSpPr>
          <p:nvPr/>
        </p:nvSpPr>
        <p:spPr>
          <a:xfrm>
            <a:off x="2644877" y="916883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9" name="图片 28"/>
          <p:cNvPicPr>
            <a:picLocks noChangeAspect="1"/>
          </p:cNvPicPr>
          <p:nvPr/>
        </p:nvPicPr>
        <p:blipFill>
          <a:blip r:embed="rId8">
            <a:clrChange>
              <a:clrFrom>
                <a:srgbClr val="FFFFFF"/>
              </a:clrFrom>
              <a:clrTo>
                <a:srgbClr val="FFFFFF">
                  <a:alpha val="0"/>
                </a:srgbClr>
              </a:clrTo>
            </a:clrChange>
          </a:blip>
          <a:stretch>
            <a:fillRect/>
          </a:stretch>
        </p:blipFill>
        <p:spPr>
          <a:xfrm>
            <a:off x="4045052" y="8790903"/>
            <a:ext cx="3065417" cy="1295358"/>
          </a:xfrm>
          <a:prstGeom prst="rect">
            <a:avLst/>
          </a:prstGeom>
        </p:spPr>
      </p:pic>
      <p:sp>
        <p:nvSpPr>
          <p:cNvPr id="30" name="p338-line1"/>
          <p:cNvSpPr>
            <a:spLocks noGrp="1"/>
          </p:cNvSpPr>
          <p:nvPr/>
        </p:nvSpPr>
        <p:spPr>
          <a:xfrm>
            <a:off x="7139044" y="9168834"/>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1" name="图片 30"/>
          <p:cNvPicPr>
            <a:picLocks noChangeAspect="1"/>
          </p:cNvPicPr>
          <p:nvPr/>
        </p:nvPicPr>
        <p:blipFill>
          <a:blip r:embed="rId9">
            <a:clrChange>
              <a:clrFrom>
                <a:srgbClr val="FFFFFF"/>
              </a:clrFrom>
              <a:clrTo>
                <a:srgbClr val="FFFFFF">
                  <a:alpha val="0"/>
                </a:srgbClr>
              </a:clrTo>
            </a:clrChange>
          </a:blip>
          <a:stretch>
            <a:fillRect/>
          </a:stretch>
        </p:blipFill>
        <p:spPr>
          <a:xfrm>
            <a:off x="8082019" y="9115350"/>
            <a:ext cx="1637211" cy="646465"/>
          </a:xfrm>
          <a:prstGeom prst="rect">
            <a:avLst/>
          </a:prstGeom>
        </p:spPr>
      </p:pic>
      <p:sp>
        <p:nvSpPr>
          <p:cNvPr id="32" name="p338-line1"/>
          <p:cNvSpPr>
            <a:spLocks noGrp="1"/>
          </p:cNvSpPr>
          <p:nvPr/>
        </p:nvSpPr>
        <p:spPr>
          <a:xfrm>
            <a:off x="9747806" y="9168834"/>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即得秘密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338-line1"/>
          <p:cNvSpPr>
            <a:spLocks noGrp="1"/>
          </p:cNvSpPr>
          <p:nvPr/>
        </p:nvSpPr>
        <p:spPr>
          <a:xfrm>
            <a:off x="11576606" y="9168834"/>
            <a:ext cx="235077"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4" name="p338-line1"/>
          <p:cNvSpPr>
            <a:spLocks noGrp="1"/>
          </p:cNvSpPr>
          <p:nvPr/>
        </p:nvSpPr>
        <p:spPr>
          <a:xfrm>
            <a:off x="11754533" y="9168834"/>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Asmuth-Bloom门限方案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7" name="p339-line1"/>
          <p:cNvSpPr>
            <a:spLocks noGrp="1"/>
          </p:cNvSpPr>
          <p:nvPr/>
        </p:nvSpPr>
        <p:spPr>
          <a:xfrm>
            <a:off x="1752600" y="1800225"/>
            <a:ext cx="3082671" cy="594360"/>
          </a:xfrm>
          <a:prstGeom prst="rect">
            <a:avLst/>
          </a:prstGeom>
          <a:noFill/>
          <a:ln w="0">
            <a:noFill/>
          </a:ln>
        </p:spPr>
        <p:txBody>
          <a:bodyPr wrap="none" lIns="0" tIns="0" rIns="0" bIns="0" anchor="t">
            <a:noAutofit/>
          </a:bodyPr>
          <a:lstStyle>
            <a:def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1"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1" i="0">
                <a:latin typeface="Times New Roman" panose="02020603050405020304" pitchFamily="18" charset="0"/>
                <a:ea typeface="宋体" panose="02010600030101010101" pitchFamily="2" charset="-122"/>
                <a:cs typeface="字由点字典黑 2"/>
                <a:sym typeface="字由点字典黑 2"/>
              </a:rPr>
              <a:t>4．正确性证明</a:t>
            </a:r>
            <a:endParaRPr sz="3600" b="1" i="0">
              <a:latin typeface="Times New Roman" panose="02020603050405020304" pitchFamily="18" charset="0"/>
              <a:ea typeface="宋体" panose="02010600030101010101" pitchFamily="2" charset="-122"/>
              <a:cs typeface="字由点字典黑 2"/>
              <a:sym typeface="字由点字典黑 2"/>
            </a:endParaRPr>
          </a:p>
        </p:txBody>
      </p:sp>
      <p:sp>
        <p:nvSpPr>
          <p:cNvPr id="2" name="p340-line1"/>
          <p:cNvSpPr>
            <a:spLocks noGrp="1"/>
          </p:cNvSpPr>
          <p:nvPr/>
        </p:nvSpPr>
        <p:spPr>
          <a:xfrm>
            <a:off x="2667000" y="269426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因为由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4092905" y="2737594"/>
            <a:ext cx="288175" cy="452846"/>
          </a:xfrm>
          <a:prstGeom prst="rect">
            <a:avLst/>
          </a:prstGeom>
        </p:spPr>
      </p:pic>
      <p:sp>
        <p:nvSpPr>
          <p:cNvPr id="4" name="p340-line1"/>
          <p:cNvSpPr>
            <a:spLocks noGrp="1"/>
          </p:cNvSpPr>
          <p:nvPr/>
        </p:nvSpPr>
        <p:spPr>
          <a:xfrm>
            <a:off x="4435384" y="2694269"/>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个成员的共享计算得到的模满足条件</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11779159" y="2629895"/>
            <a:ext cx="2272937" cy="668244"/>
          </a:xfrm>
          <a:prstGeom prst="rect">
            <a:avLst/>
          </a:prstGeom>
        </p:spPr>
      </p:pic>
      <p:sp>
        <p:nvSpPr>
          <p:cNvPr id="17" name="p340-line1"/>
          <p:cNvSpPr>
            <a:spLocks noGrp="1"/>
          </p:cNvSpPr>
          <p:nvPr/>
        </p:nvSpPr>
        <p:spPr>
          <a:xfrm>
            <a:off x="14080671" y="2694269"/>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，所以</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8" name="图片 17"/>
          <p:cNvPicPr>
            <a:picLocks noChangeAspect="1"/>
          </p:cNvPicPr>
          <p:nvPr/>
        </p:nvPicPr>
        <p:blipFill>
          <a:blip r:embed="rId5">
            <a:clrChange>
              <a:clrFrom>
                <a:srgbClr val="FFFFFF"/>
              </a:clrFrom>
              <a:clrTo>
                <a:srgbClr val="FFFFFF">
                  <a:alpha val="0"/>
                </a:srgbClr>
              </a:clrTo>
            </a:clrChange>
          </a:blip>
          <a:stretch>
            <a:fillRect/>
          </a:stretch>
        </p:blipFill>
        <p:spPr>
          <a:xfrm>
            <a:off x="1781175" y="3483654"/>
            <a:ext cx="1227909" cy="657808"/>
          </a:xfrm>
          <a:prstGeom prst="rect">
            <a:avLst/>
          </a:prstGeom>
        </p:spPr>
      </p:pic>
      <p:sp>
        <p:nvSpPr>
          <p:cNvPr id="19" name="p340-line2"/>
          <p:cNvSpPr>
            <a:spLocks noGrp="1"/>
          </p:cNvSpPr>
          <p:nvPr/>
        </p:nvSpPr>
        <p:spPr>
          <a:xfrm>
            <a:off x="3037659" y="3542810"/>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是唯一的，再由</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6">
            <a:clrChange>
              <a:clrFrom>
                <a:srgbClr val="FFFFFF"/>
              </a:clrFrom>
              <a:clrTo>
                <a:srgbClr val="FFFFFF">
                  <a:alpha val="0"/>
                </a:srgbClr>
              </a:clrTo>
            </a:clrChange>
          </a:blip>
          <a:stretch>
            <a:fillRect/>
          </a:stretch>
        </p:blipFill>
        <p:spPr>
          <a:xfrm>
            <a:off x="6266634" y="3491411"/>
            <a:ext cx="1412966" cy="642294"/>
          </a:xfrm>
          <a:prstGeom prst="rect">
            <a:avLst/>
          </a:prstGeom>
        </p:spPr>
      </p:pic>
      <p:sp>
        <p:nvSpPr>
          <p:cNvPr id="21" name="p340-line2"/>
          <p:cNvSpPr>
            <a:spLocks noGrp="1"/>
          </p:cNvSpPr>
          <p:nvPr/>
        </p:nvSpPr>
        <p:spPr>
          <a:xfrm>
            <a:off x="7708174" y="3542810"/>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即得秘密</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340-line2"/>
          <p:cNvSpPr>
            <a:spLocks noGrp="1"/>
          </p:cNvSpPr>
          <p:nvPr/>
        </p:nvSpPr>
        <p:spPr>
          <a:xfrm>
            <a:off x="9536974" y="3542810"/>
            <a:ext cx="235077"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s</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3" name="p340-line2"/>
          <p:cNvSpPr>
            <a:spLocks noGrp="1"/>
          </p:cNvSpPr>
          <p:nvPr/>
        </p:nvSpPr>
        <p:spPr>
          <a:xfrm>
            <a:off x="9714901" y="3542810"/>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。若仅有</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4" name="图片 23"/>
          <p:cNvPicPr>
            <a:picLocks noChangeAspect="1"/>
          </p:cNvPicPr>
          <p:nvPr/>
        </p:nvPicPr>
        <p:blipFill>
          <a:blip r:embed="rId7">
            <a:clrChange>
              <a:clrFrom>
                <a:srgbClr val="FFFFFF"/>
              </a:clrFrom>
              <a:clrTo>
                <a:srgbClr val="FFFFFF">
                  <a:alpha val="0"/>
                </a:srgbClr>
              </a:clrTo>
            </a:clrChange>
          </a:blip>
          <a:stretch>
            <a:fillRect/>
          </a:stretch>
        </p:blipFill>
        <p:spPr>
          <a:xfrm>
            <a:off x="11579987" y="3571984"/>
            <a:ext cx="761819" cy="481149"/>
          </a:xfrm>
          <a:prstGeom prst="rect">
            <a:avLst/>
          </a:prstGeom>
        </p:spPr>
      </p:pic>
      <p:sp>
        <p:nvSpPr>
          <p:cNvPr id="25" name="p340-line2"/>
          <p:cNvSpPr>
            <a:spLocks noGrp="1"/>
          </p:cNvSpPr>
          <p:nvPr/>
        </p:nvSpPr>
        <p:spPr>
          <a:xfrm>
            <a:off x="12378091" y="3542810"/>
            <a:ext cx="4171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个参与者提供自己的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340-line3"/>
          <p:cNvSpPr>
            <a:spLocks noGrp="1"/>
          </p:cNvSpPr>
          <p:nvPr/>
        </p:nvSpPr>
        <p:spPr>
          <a:xfrm>
            <a:off x="1752600" y="470921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子共享</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8">
            <a:clrChange>
              <a:clrFrom>
                <a:srgbClr val="FFFFFF"/>
              </a:clrFrom>
              <a:clrTo>
                <a:srgbClr val="FFFFFF">
                  <a:alpha val="0"/>
                </a:srgbClr>
              </a:clrTo>
            </a:clrChange>
          </a:blip>
          <a:stretch>
            <a:fillRect/>
          </a:stretch>
        </p:blipFill>
        <p:spPr>
          <a:xfrm>
            <a:off x="3203694" y="4626265"/>
            <a:ext cx="1535373" cy="705394"/>
          </a:xfrm>
          <a:prstGeom prst="rect">
            <a:avLst/>
          </a:prstGeom>
        </p:spPr>
      </p:pic>
      <p:sp>
        <p:nvSpPr>
          <p:cNvPr id="29" name="p340-line3"/>
          <p:cNvSpPr>
            <a:spLocks noGrp="1"/>
          </p:cNvSpPr>
          <p:nvPr/>
        </p:nvSpPr>
        <p:spPr>
          <a:xfrm>
            <a:off x="4818561" y="4709214"/>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，则只能求得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0" name="图片 29"/>
          <p:cNvPicPr>
            <a:picLocks noChangeAspect="1"/>
          </p:cNvPicPr>
          <p:nvPr/>
        </p:nvPicPr>
        <p:blipFill>
          <a:blip r:embed="rId9">
            <a:clrChange>
              <a:clrFrom>
                <a:srgbClr val="FFFFFF"/>
              </a:clrFrom>
              <a:clrTo>
                <a:srgbClr val="FFFFFF">
                  <a:alpha val="0"/>
                </a:srgbClr>
              </a:clrTo>
            </a:clrChange>
          </a:blip>
          <a:stretch>
            <a:fillRect/>
          </a:stretch>
        </p:blipFill>
        <p:spPr>
          <a:xfrm>
            <a:off x="7590336" y="4654411"/>
            <a:ext cx="2682240" cy="649102"/>
          </a:xfrm>
          <a:prstGeom prst="rect">
            <a:avLst/>
          </a:prstGeom>
        </p:spPr>
      </p:pic>
      <p:sp>
        <p:nvSpPr>
          <p:cNvPr id="31" name="p340-line3"/>
          <p:cNvSpPr>
            <a:spLocks noGrp="1"/>
          </p:cNvSpPr>
          <p:nvPr/>
        </p:nvSpPr>
        <p:spPr>
          <a:xfrm>
            <a:off x="10301151" y="4709214"/>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2" name="图片 31"/>
          <p:cNvPicPr>
            <a:picLocks noChangeAspect="1"/>
          </p:cNvPicPr>
          <p:nvPr/>
        </p:nvPicPr>
        <p:blipFill>
          <a:blip r:embed="rId10">
            <a:clrChange>
              <a:clrFrom>
                <a:srgbClr val="FFFFFF"/>
              </a:clrFrom>
              <a:clrTo>
                <a:srgbClr val="FFFFFF">
                  <a:alpha val="0"/>
                </a:srgbClr>
              </a:clrTo>
            </a:clrChange>
          </a:blip>
          <a:stretch>
            <a:fillRect/>
          </a:stretch>
        </p:blipFill>
        <p:spPr>
          <a:xfrm>
            <a:off x="11721662" y="4322554"/>
            <a:ext cx="2275810" cy="1312817"/>
          </a:xfrm>
          <a:prstGeom prst="rect">
            <a:avLst/>
          </a:prstGeom>
        </p:spPr>
      </p:pic>
      <p:sp>
        <p:nvSpPr>
          <p:cNvPr id="33" name="p340-line3"/>
          <p:cNvSpPr>
            <a:spLocks noGrp="1"/>
          </p:cNvSpPr>
          <p:nvPr/>
        </p:nvSpPr>
        <p:spPr>
          <a:xfrm>
            <a:off x="14046381" y="4709214"/>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。由条件</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340-line4"/>
          <p:cNvSpPr>
            <a:spLocks noGrp="1"/>
          </p:cNvSpPr>
          <p:nvPr/>
        </p:nvSpPr>
        <p:spPr>
          <a:xfrm>
            <a:off x="1752600" y="5875619"/>
            <a:ext cx="1657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（4）得</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5" name="图片 34"/>
          <p:cNvPicPr>
            <a:picLocks noChangeAspect="1"/>
          </p:cNvPicPr>
          <p:nvPr/>
        </p:nvPicPr>
        <p:blipFill>
          <a:blip r:embed="rId11">
            <a:clrChange>
              <a:clrFrom>
                <a:srgbClr val="FFFFFF"/>
              </a:clrFrom>
              <a:clrTo>
                <a:srgbClr val="FFFFFF">
                  <a:alpha val="0"/>
                </a:srgbClr>
              </a:clrTo>
            </a:clrChange>
          </a:blip>
          <a:stretch>
            <a:fillRect/>
          </a:stretch>
        </p:blipFill>
        <p:spPr>
          <a:xfrm>
            <a:off x="3381375" y="5811430"/>
            <a:ext cx="2048691" cy="667873"/>
          </a:xfrm>
          <a:prstGeom prst="rect">
            <a:avLst/>
          </a:prstGeom>
        </p:spPr>
      </p:pic>
      <p:sp>
        <p:nvSpPr>
          <p:cNvPr id="36" name="p340-line4"/>
          <p:cNvSpPr>
            <a:spLocks noGrp="1"/>
          </p:cNvSpPr>
          <p:nvPr/>
        </p:nvSpPr>
        <p:spPr>
          <a:xfrm>
            <a:off x="5458641" y="5875619"/>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，即</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7" name="图片 36"/>
          <p:cNvPicPr>
            <a:picLocks noChangeAspect="1"/>
          </p:cNvPicPr>
          <p:nvPr/>
        </p:nvPicPr>
        <p:blipFill>
          <a:blip r:embed="rId12">
            <a:clrChange>
              <a:clrFrom>
                <a:srgbClr val="FFFFFF"/>
              </a:clrFrom>
              <a:clrTo>
                <a:srgbClr val="FFFFFF">
                  <a:alpha val="0"/>
                </a:srgbClr>
              </a:clrTo>
            </a:clrChange>
          </a:blip>
          <a:stretch>
            <a:fillRect/>
          </a:stretch>
        </p:blipFill>
        <p:spPr>
          <a:xfrm>
            <a:off x="6401616" y="5811430"/>
            <a:ext cx="2048691" cy="667873"/>
          </a:xfrm>
          <a:prstGeom prst="rect">
            <a:avLst/>
          </a:prstGeom>
        </p:spPr>
      </p:pic>
      <p:sp>
        <p:nvSpPr>
          <p:cNvPr id="38" name="p340-line4"/>
          <p:cNvSpPr>
            <a:spLocks noGrp="1"/>
          </p:cNvSpPr>
          <p:nvPr/>
        </p:nvSpPr>
        <p:spPr>
          <a:xfrm>
            <a:off x="8478883" y="5875619"/>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Asmuth-Bloom门限方案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7" name="p341-line1"/>
          <p:cNvSpPr>
            <a:spLocks noGrp="1"/>
          </p:cNvSpPr>
          <p:nvPr/>
        </p:nvSpPr>
        <p:spPr>
          <a:xfrm>
            <a:off x="2667000" y="214443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令</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3152775" y="2090777"/>
            <a:ext cx="2457994" cy="646804"/>
          </a:xfrm>
          <a:prstGeom prst="rect">
            <a:avLst/>
          </a:prstGeom>
        </p:spPr>
      </p:pic>
      <p:sp>
        <p:nvSpPr>
          <p:cNvPr id="3" name="p341-line1"/>
          <p:cNvSpPr>
            <a:spLocks noGrp="1"/>
          </p:cNvSpPr>
          <p:nvPr/>
        </p:nvSpPr>
        <p:spPr>
          <a:xfrm>
            <a:off x="5639344" y="2144431"/>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，其中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4" name="图片 3"/>
          <p:cNvPicPr>
            <a:picLocks noChangeAspect="1"/>
          </p:cNvPicPr>
          <p:nvPr/>
        </p:nvPicPr>
        <p:blipFill>
          <a:blip r:embed="rId4">
            <a:clrChange>
              <a:clrFrom>
                <a:srgbClr val="FFFFFF"/>
              </a:clrFrom>
              <a:clrTo>
                <a:srgbClr val="FFFFFF">
                  <a:alpha val="0"/>
                </a:srgbClr>
              </a:clrTo>
            </a:clrChange>
          </a:blip>
          <a:stretch>
            <a:fillRect/>
          </a:stretch>
        </p:blipFill>
        <p:spPr>
          <a:xfrm>
            <a:off x="7039519" y="1807676"/>
            <a:ext cx="3248297" cy="1213007"/>
          </a:xfrm>
          <a:prstGeom prst="rect">
            <a:avLst/>
          </a:prstGeom>
        </p:spPr>
      </p:pic>
      <p:sp>
        <p:nvSpPr>
          <p:cNvPr id="10" name="p341-line1"/>
          <p:cNvSpPr>
            <a:spLocks noGrp="1"/>
          </p:cNvSpPr>
          <p:nvPr/>
        </p:nvSpPr>
        <p:spPr>
          <a:xfrm>
            <a:off x="10316391" y="2144431"/>
            <a:ext cx="1428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。由于</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11716566" y="2080243"/>
            <a:ext cx="2048691" cy="667873"/>
          </a:xfrm>
          <a:prstGeom prst="rect">
            <a:avLst/>
          </a:prstGeom>
        </p:spPr>
      </p:pic>
      <p:sp>
        <p:nvSpPr>
          <p:cNvPr id="18" name="p341-line1"/>
          <p:cNvSpPr>
            <a:spLocks noGrp="1"/>
          </p:cNvSpPr>
          <p:nvPr/>
        </p:nvSpPr>
        <p:spPr>
          <a:xfrm>
            <a:off x="13793833" y="2144431"/>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19" name="图片 18"/>
          <p:cNvPicPr>
            <a:picLocks noChangeAspect="1"/>
          </p:cNvPicPr>
          <p:nvPr/>
        </p:nvPicPr>
        <p:blipFill>
          <a:blip r:embed="rId6">
            <a:clrChange>
              <a:clrFrom>
                <a:srgbClr val="FFFFFF"/>
              </a:clrFrom>
              <a:clrTo>
                <a:srgbClr val="FFFFFF">
                  <a:alpha val="0"/>
                </a:srgbClr>
              </a:clrTo>
            </a:clrChange>
          </a:blip>
          <a:stretch>
            <a:fillRect/>
          </a:stretch>
        </p:blipFill>
        <p:spPr>
          <a:xfrm>
            <a:off x="1859854" y="3199584"/>
            <a:ext cx="2115578" cy="705394"/>
          </a:xfrm>
          <a:prstGeom prst="rect">
            <a:avLst/>
          </a:prstGeom>
        </p:spPr>
      </p:pic>
      <p:sp>
        <p:nvSpPr>
          <p:cNvPr id="20" name="p341-line2"/>
          <p:cNvSpPr>
            <a:spLocks noGrp="1"/>
          </p:cNvSpPr>
          <p:nvPr/>
        </p:nvSpPr>
        <p:spPr>
          <a:xfrm>
            <a:off x="4082687" y="328253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，当</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1" name="图片 20"/>
          <p:cNvPicPr>
            <a:picLocks noChangeAspect="1"/>
          </p:cNvPicPr>
          <p:nvPr/>
        </p:nvPicPr>
        <p:blipFill>
          <a:blip r:embed="rId7">
            <a:clrChange>
              <a:clrFrom>
                <a:srgbClr val="FFFFFF"/>
              </a:clrFrom>
              <a:clrTo>
                <a:srgbClr val="FFFFFF">
                  <a:alpha val="0"/>
                </a:srgbClr>
              </a:clrTo>
            </a:clrChange>
          </a:blip>
          <a:stretch>
            <a:fillRect/>
          </a:stretch>
        </p:blipFill>
        <p:spPr>
          <a:xfrm>
            <a:off x="5025662" y="3346442"/>
            <a:ext cx="452846" cy="411678"/>
          </a:xfrm>
          <a:prstGeom prst="rect">
            <a:avLst/>
          </a:prstGeom>
        </p:spPr>
      </p:pic>
      <p:sp>
        <p:nvSpPr>
          <p:cNvPr id="22" name="p341-line2"/>
          <p:cNvSpPr>
            <a:spLocks noGrp="1"/>
          </p:cNvSpPr>
          <p:nvPr/>
        </p:nvSpPr>
        <p:spPr>
          <a:xfrm>
            <a:off x="5507083" y="3282533"/>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3" name="图片 22"/>
          <p:cNvPicPr>
            <a:picLocks noChangeAspect="1"/>
          </p:cNvPicPr>
          <p:nvPr/>
        </p:nvPicPr>
        <p:blipFill>
          <a:blip r:embed="rId8">
            <a:clrChange>
              <a:clrFrom>
                <a:srgbClr val="FFFFFF"/>
              </a:clrFrom>
              <a:clrTo>
                <a:srgbClr val="FFFFFF">
                  <a:alpha val="0"/>
                </a:srgbClr>
              </a:clrTo>
            </a:clrChange>
          </a:blip>
          <a:stretch>
            <a:fillRect/>
          </a:stretch>
        </p:blipFill>
        <p:spPr>
          <a:xfrm>
            <a:off x="6039090" y="3199584"/>
            <a:ext cx="1701502" cy="705394"/>
          </a:xfrm>
          <a:prstGeom prst="rect">
            <a:avLst/>
          </a:prstGeom>
        </p:spPr>
      </p:pic>
      <p:sp>
        <p:nvSpPr>
          <p:cNvPr id="24" name="p341-line2"/>
          <p:cNvSpPr>
            <a:spLocks noGrp="1"/>
          </p:cNvSpPr>
          <p:nvPr/>
        </p:nvSpPr>
        <p:spPr>
          <a:xfrm>
            <a:off x="7815399" y="3282533"/>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变化时，</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5" name="图片 24"/>
          <p:cNvPicPr>
            <a:picLocks noChangeAspect="1"/>
          </p:cNvPicPr>
          <p:nvPr/>
        </p:nvPicPr>
        <p:blipFill>
          <a:blip r:embed="rId9">
            <a:clrChange>
              <a:clrFrom>
                <a:srgbClr val="FFFFFF"/>
              </a:clrFrom>
              <a:clrTo>
                <a:srgbClr val="FFFFFF">
                  <a:alpha val="0"/>
                </a:srgbClr>
              </a:clrTo>
            </a:clrChange>
          </a:blip>
          <a:stretch>
            <a:fillRect/>
          </a:stretch>
        </p:blipFill>
        <p:spPr>
          <a:xfrm>
            <a:off x="9672774" y="3224241"/>
            <a:ext cx="1793966" cy="656079"/>
          </a:xfrm>
          <a:prstGeom prst="rect">
            <a:avLst/>
          </a:prstGeom>
        </p:spPr>
      </p:pic>
      <p:sp>
        <p:nvSpPr>
          <p:cNvPr id="26" name="p341-line2"/>
          <p:cNvSpPr>
            <a:spLocks noGrp="1"/>
          </p:cNvSpPr>
          <p:nvPr/>
        </p:nvSpPr>
        <p:spPr>
          <a:xfrm>
            <a:off x="11495314" y="3282533"/>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都是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8" name="图片 27"/>
          <p:cNvPicPr>
            <a:picLocks noChangeAspect="1"/>
          </p:cNvPicPr>
          <p:nvPr/>
        </p:nvPicPr>
        <p:blipFill>
          <a:blip r:embed="rId10">
            <a:clrChange>
              <a:clrFrom>
                <a:srgbClr val="FFFFFF"/>
              </a:clrFrom>
              <a:clrTo>
                <a:srgbClr val="FFFFFF">
                  <a:alpha val="0"/>
                </a:srgbClr>
              </a:clrTo>
            </a:clrChange>
          </a:blip>
          <a:stretch>
            <a:fillRect/>
          </a:stretch>
        </p:blipFill>
        <p:spPr>
          <a:xfrm>
            <a:off x="12464234" y="3311706"/>
            <a:ext cx="400957" cy="481149"/>
          </a:xfrm>
          <a:prstGeom prst="rect">
            <a:avLst/>
          </a:prstGeom>
        </p:spPr>
      </p:pic>
      <p:sp>
        <p:nvSpPr>
          <p:cNvPr id="29" name="p341-line2"/>
          <p:cNvSpPr>
            <a:spLocks noGrp="1"/>
          </p:cNvSpPr>
          <p:nvPr/>
        </p:nvSpPr>
        <p:spPr>
          <a:xfrm>
            <a:off x="12919710" y="3282533"/>
            <a:ext cx="325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的可能取值，因</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0" name="p341-line3"/>
          <p:cNvSpPr>
            <a:spLocks noGrp="1"/>
          </p:cNvSpPr>
          <p:nvPr/>
        </p:nvSpPr>
        <p:spPr>
          <a:xfrm>
            <a:off x="1752600" y="4076428"/>
            <a:ext cx="234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此无法确定</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31" name="图片 30"/>
          <p:cNvPicPr>
            <a:picLocks noChangeAspect="1"/>
          </p:cNvPicPr>
          <p:nvPr/>
        </p:nvPicPr>
        <p:blipFill>
          <a:blip r:embed="rId10">
            <a:clrChange>
              <a:clrFrom>
                <a:srgbClr val="FFFFFF"/>
              </a:clrFrom>
              <a:clrTo>
                <a:srgbClr val="FFFFFF">
                  <a:alpha val="0"/>
                </a:srgbClr>
              </a:clrTo>
            </a:clrChange>
          </a:blip>
          <a:stretch>
            <a:fillRect/>
          </a:stretch>
        </p:blipFill>
        <p:spPr>
          <a:xfrm>
            <a:off x="4093119" y="4105602"/>
            <a:ext cx="400957" cy="481149"/>
          </a:xfrm>
          <a:prstGeom prst="rect">
            <a:avLst/>
          </a:prstGeom>
        </p:spPr>
      </p:pic>
      <p:sp>
        <p:nvSpPr>
          <p:cNvPr id="32" name="p341-line3"/>
          <p:cNvSpPr>
            <a:spLocks noGrp="1"/>
          </p:cNvSpPr>
          <p:nvPr/>
        </p:nvSpPr>
        <p:spPr>
          <a:xfrm>
            <a:off x="4548596" y="4076428"/>
            <a:ext cx="514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3" name="p342-line1"/>
          <p:cNvSpPr>
            <a:spLocks noGrp="1"/>
          </p:cNvSpPr>
          <p:nvPr/>
        </p:nvSpPr>
        <p:spPr>
          <a:xfrm>
            <a:off x="2667000" y="4901674"/>
            <a:ext cx="7372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在上述两个密钥共享的门限方案中，</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4" name="p342-line1"/>
          <p:cNvSpPr>
            <a:spLocks noGrp="1"/>
          </p:cNvSpPr>
          <p:nvPr/>
        </p:nvSpPr>
        <p:spPr>
          <a:xfrm>
            <a:off x="9982200" y="4901674"/>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n</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35" name="p342-line1"/>
          <p:cNvSpPr>
            <a:spLocks noGrp="1"/>
          </p:cNvSpPr>
          <p:nvPr/>
        </p:nvSpPr>
        <p:spPr>
          <a:xfrm>
            <a:off x="10210800" y="4901674"/>
            <a:ext cx="6000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个共享者（也称委托人）的权</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6" name="p342-line2"/>
          <p:cNvSpPr>
            <a:spLocks noGrp="1"/>
          </p:cNvSpPr>
          <p:nvPr/>
        </p:nvSpPr>
        <p:spPr>
          <a:xfrm>
            <a:off x="1752600" y="5612620"/>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限是一样的。但在实际应用中，委托人的地位和职能不同，其权限通常是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7" name="p342-line3"/>
          <p:cNvSpPr>
            <a:spLocks noGrp="1"/>
          </p:cNvSpPr>
          <p:nvPr/>
        </p:nvSpPr>
        <p:spPr>
          <a:xfrm>
            <a:off x="1752600" y="6323566"/>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不同的，因此需要考虑更一般的密钥共享体制。一个理想的秘密共享方案</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8" name="p342-line4"/>
          <p:cNvSpPr>
            <a:spLocks noGrp="1"/>
          </p:cNvSpPr>
          <p:nvPr/>
        </p:nvSpPr>
        <p:spPr>
          <a:xfrm>
            <a:off x="1752600" y="7034512"/>
            <a:ext cx="4629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应具有如下两个性质。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908081" y="504797"/>
            <a:ext cx="91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Asmuth-Bloom门限方案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6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15.6.2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43-line1"/>
          <p:cNvSpPr>
            <a:spLocks noGrp="1"/>
          </p:cNvSpPr>
          <p:nvPr/>
        </p:nvSpPr>
        <p:spPr>
          <a:xfrm>
            <a:off x="2667000" y="1800225"/>
            <a:ext cx="8515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（1）完全性，即任何授权集可恢复主密钥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343-line1"/>
          <p:cNvSpPr>
            <a:spLocks noGrp="1"/>
          </p:cNvSpPr>
          <p:nvPr/>
        </p:nvSpPr>
        <p:spPr>
          <a:xfrm>
            <a:off x="11125200" y="1800225"/>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4" name="p343-line1"/>
          <p:cNvSpPr>
            <a:spLocks noGrp="1"/>
          </p:cNvSpPr>
          <p:nvPr/>
        </p:nvSpPr>
        <p:spPr>
          <a:xfrm>
            <a:off x="11353800" y="1800225"/>
            <a:ext cx="5086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，而任何非授权集不能得</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343-line2"/>
          <p:cNvSpPr>
            <a:spLocks noGrp="1"/>
          </p:cNvSpPr>
          <p:nvPr/>
        </p:nvSpPr>
        <p:spPr>
          <a:xfrm>
            <a:off x="1752600" y="2511171"/>
            <a:ext cx="1885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到主密钥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7" name="p343-line2"/>
          <p:cNvSpPr>
            <a:spLocks noGrp="1"/>
          </p:cNvSpPr>
          <p:nvPr/>
        </p:nvSpPr>
        <p:spPr>
          <a:xfrm>
            <a:off x="3581400" y="2511171"/>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18" name="p343-line2"/>
          <p:cNvSpPr>
            <a:spLocks noGrp="1"/>
          </p:cNvSpPr>
          <p:nvPr/>
        </p:nvSpPr>
        <p:spPr>
          <a:xfrm>
            <a:off x="3810000" y="2511171"/>
            <a:ext cx="28003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的任何信息。</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9" name="p344-line1"/>
          <p:cNvSpPr>
            <a:spLocks noGrp="1"/>
          </p:cNvSpPr>
          <p:nvPr/>
        </p:nvSpPr>
        <p:spPr>
          <a:xfrm>
            <a:off x="2667000" y="3419366"/>
            <a:ext cx="76009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（2）无数据扩散性，即表示每个共享</a:t>
            </a:r>
            <a:endParaRPr sz="3600" b="0" i="0">
              <a:latin typeface="Times New Roman" panose="02020603050405020304" pitchFamily="18" charset="0"/>
              <a:ea typeface="宋体" panose="02010600030101010101" pitchFamily="2" charset="-122"/>
              <a:cs typeface="字由点字典黑 2"/>
              <a:sym typeface="字由点字典黑 2"/>
            </a:endParaRPr>
          </a:p>
        </p:txBody>
      </p:sp>
      <p:pic>
        <p:nvPicPr>
          <p:cNvPr id="20" name="图片 19"/>
          <p:cNvPicPr>
            <a:picLocks noChangeAspect="1"/>
          </p:cNvPicPr>
          <p:nvPr/>
        </p:nvPicPr>
        <p:blipFill>
          <a:blip r:embed="rId3">
            <a:clrChange>
              <a:clrFrom>
                <a:srgbClr val="FFFFFF"/>
              </a:clrFrom>
              <a:clrTo>
                <a:srgbClr val="FFFFFF">
                  <a:alpha val="0"/>
                </a:srgbClr>
              </a:clrTo>
            </a:clrChange>
          </a:blip>
          <a:stretch>
            <a:fillRect/>
          </a:stretch>
        </p:blipFill>
        <p:spPr>
          <a:xfrm>
            <a:off x="10313333" y="3336417"/>
            <a:ext cx="2281774" cy="705394"/>
          </a:xfrm>
          <a:prstGeom prst="rect">
            <a:avLst/>
          </a:prstGeom>
        </p:spPr>
      </p:pic>
      <p:sp>
        <p:nvSpPr>
          <p:cNvPr id="21" name="p344-line1"/>
          <p:cNvSpPr>
            <a:spLocks noGrp="1"/>
          </p:cNvSpPr>
          <p:nvPr/>
        </p:nvSpPr>
        <p:spPr>
          <a:xfrm>
            <a:off x="12697641" y="3419366"/>
            <a:ext cx="37147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的比特数与表示主</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2" name="p344-line2"/>
          <p:cNvSpPr>
            <a:spLocks noGrp="1"/>
          </p:cNvSpPr>
          <p:nvPr/>
        </p:nvSpPr>
        <p:spPr>
          <a:xfrm>
            <a:off x="1752600" y="4213261"/>
            <a:ext cx="971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密钥</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3" name="p344-line2"/>
          <p:cNvSpPr>
            <a:spLocks noGrp="1"/>
          </p:cNvSpPr>
          <p:nvPr/>
        </p:nvSpPr>
        <p:spPr>
          <a:xfrm>
            <a:off x="2667000" y="4213261"/>
            <a:ext cx="285750" cy="594360"/>
          </a:xfrm>
          <a:prstGeom prst="rect">
            <a:avLst/>
          </a:prstGeom>
          <a:noFill/>
          <a:ln w="0">
            <a:noFill/>
          </a:ln>
        </p:spPr>
        <p:txBody>
          <a:bodyPr wrap="none" lIns="0" tIns="0" rIns="0" bIns="0" anchor="t">
            <a:noAutofit/>
          </a:bodyPr>
          <a:lstStyle>
            <a:def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1">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1">
                <a:latin typeface="Times New Roman" panose="02020603050405020304" pitchFamily="18" charset="0"/>
                <a:ea typeface="宋体" panose="02010600030101010101" pitchFamily="2" charset="-122"/>
                <a:cs typeface="字由点字典黑 2"/>
                <a:sym typeface="字由点字典黑 2"/>
              </a:rPr>
              <a:t>k</a:t>
            </a:r>
            <a:endParaRPr sz="3600" b="0" i="1">
              <a:latin typeface="Times New Roman" panose="02020603050405020304" pitchFamily="18" charset="0"/>
              <a:ea typeface="宋体" panose="02010600030101010101" pitchFamily="2" charset="-122"/>
              <a:cs typeface="字由点字典黑 2"/>
              <a:sym typeface="字由点字典黑 2"/>
            </a:endParaRPr>
          </a:p>
        </p:txBody>
      </p:sp>
      <p:sp>
        <p:nvSpPr>
          <p:cNvPr id="24" name="p344-line2"/>
          <p:cNvSpPr>
            <a:spLocks noGrp="1"/>
          </p:cNvSpPr>
          <p:nvPr/>
        </p:nvSpPr>
        <p:spPr>
          <a:xfrm>
            <a:off x="2895600" y="4213261"/>
            <a:ext cx="7829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的比特数在平均的意义下都是相等的。</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5" name="p345-line1"/>
          <p:cNvSpPr>
            <a:spLocks noGrp="1"/>
          </p:cNvSpPr>
          <p:nvPr/>
        </p:nvSpPr>
        <p:spPr>
          <a:xfrm>
            <a:off x="2667000" y="5038507"/>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有关这方面的理论及各种类型的秘密共享方案，有兴趣的读者可自行</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26" name="p345-line2"/>
          <p:cNvSpPr>
            <a:spLocks noGrp="1"/>
          </p:cNvSpPr>
          <p:nvPr/>
        </p:nvSpPr>
        <p:spPr>
          <a:xfrm>
            <a:off x="1752600" y="5749453"/>
            <a:ext cx="5543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查阅文献进行进一步了解。</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326989" y="2834725"/>
            <a:ext cx="3634019"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lang="en-US" sz="12200"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15.7</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8"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9" name="TextBox 30"/>
          <p:cNvSpPr txBox="1"/>
          <p:nvPr/>
        </p:nvSpPr>
        <p:spPr>
          <a:xfrm>
            <a:off x="2608081" y="504797"/>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15.7</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
        <p:nvSpPr>
          <p:cNvPr id="2" name="p347-line1"/>
          <p:cNvSpPr>
            <a:spLocks noGrp="1"/>
          </p:cNvSpPr>
          <p:nvPr/>
        </p:nvSpPr>
        <p:spPr>
          <a:xfrm>
            <a:off x="2667000" y="1800225"/>
            <a:ext cx="137731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在任何安全系统中，密钥的管理都是一个关键的因素。本章介绍了在</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3" name="p347-line2"/>
          <p:cNvSpPr>
            <a:spLocks noGrp="1"/>
          </p:cNvSpPr>
          <p:nvPr/>
        </p:nvSpPr>
        <p:spPr>
          <a:xfrm>
            <a:off x="1752600" y="2511171"/>
            <a:ext cx="14687550"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参与通信的各方中建立密钥并保护密钥的一整套过程和机制，包括密钥管</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4" name="p347-line3"/>
          <p:cNvSpPr>
            <a:spLocks noGrp="1"/>
          </p:cNvSpPr>
          <p:nvPr/>
        </p:nvSpPr>
        <p:spPr>
          <a:xfrm>
            <a:off x="1752600" y="3222117"/>
            <a:ext cx="144339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理、分配、协商和共享4个方面，同时介绍了SM2椭圆曲线公钥密码算法</a:t>
            </a:r>
            <a:endParaRPr sz="3600" b="0" i="0">
              <a:latin typeface="Times New Roman" panose="02020603050405020304" pitchFamily="18" charset="0"/>
              <a:ea typeface="宋体" panose="02010600030101010101" pitchFamily="2" charset="-122"/>
              <a:cs typeface="字由点字典黑 2"/>
              <a:sym typeface="字由点字典黑 2"/>
            </a:endParaRPr>
          </a:p>
        </p:txBody>
      </p:sp>
      <p:sp>
        <p:nvSpPr>
          <p:cNvPr id="10" name="p347-line4"/>
          <p:cNvSpPr>
            <a:spLocks noGrp="1"/>
          </p:cNvSpPr>
          <p:nvPr/>
        </p:nvSpPr>
        <p:spPr>
          <a:xfrm>
            <a:off x="1752600" y="3933063"/>
            <a:ext cx="7804595" cy="594360"/>
          </a:xfrm>
          <a:prstGeom prst="rect">
            <a:avLst/>
          </a:prstGeom>
          <a:noFill/>
          <a:ln w="0">
            <a:noFill/>
          </a:ln>
        </p:spPr>
        <p:txBody>
          <a:bodyPr wrap="none" lIns="0" tIns="0" rIns="0" bIns="0" anchor="t">
            <a:noAutofit/>
          </a:bodyPr>
          <a:lstStyle>
            <a:def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defPPr>
            <a:lvl1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1pPr>
            <a:lvl2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2pPr>
            <a:lvl3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3pPr>
            <a:lvl4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4pPr>
            <a:lvl5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5pPr>
            <a:lvl6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6pPr>
            <a:lvl7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7pPr>
            <a:lvl8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8pPr>
            <a:lvl9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lvl9pPr>
          </a:lstStyle>
          <a:p>
            <a:pPr algn="l">
              <a:defRPr sz="3600" b="0" i="0">
                <a:solidFill>
                  <a:srgbClr val="000000"/>
                </a:solidFill>
                <a:latin typeface="Times New Roman" panose="02020603050405020304" pitchFamily="18" charset="0"/>
                <a:ea typeface="宋体" panose="02010600030101010101" pitchFamily="2" charset="-122"/>
                <a:cs typeface="字由点字典黑 2"/>
                <a:sym typeface="字由点字典黑 2"/>
              </a:defRPr>
            </a:pPr>
            <a:r>
              <a:rPr sz="3600" b="0" i="0">
                <a:latin typeface="Times New Roman" panose="02020603050405020304" pitchFamily="18" charset="0"/>
                <a:ea typeface="宋体" panose="02010600030101010101" pitchFamily="2" charset="-122"/>
                <a:cs typeface="字由点字典黑 2"/>
                <a:sym typeface="字由点字典黑 2"/>
              </a:rPr>
              <a:t>和SM9标识密码算法的密钥交换协议。</a:t>
            </a:r>
            <a:endParaRPr sz="3600" b="0" i="0">
              <a:latin typeface="Times New Roman" panose="02020603050405020304" pitchFamily="18" charset="0"/>
              <a:ea typeface="宋体" panose="02010600030101010101" pitchFamily="2" charset="-122"/>
              <a:cs typeface="字由点字典黑 2"/>
              <a:sym typeface="字由点字典黑 2"/>
            </a:endParaRPr>
          </a:p>
        </p:txBody>
      </p:sp>
    </p:spTree>
  </p:cSld>
  <p:clrMapOvr>
    <a:masterClrMapping/>
  </p:clrMapOvr>
</p:sld>
</file>

<file path=ppt/tags/tag1.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2.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3.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4.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5.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6.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7.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8.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9.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10.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11.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12.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13.xml><?xml version="1.0" encoding="utf-8"?>
<p:tagLst xmlns:p="http://schemas.openxmlformats.org/presentationml/2006/main">
  <p:tag name="KSO_WM_DIAGRAM_VIRTUALLY_FRAME" val="{&quot;height&quot;:523.5035433070866,&quot;left&quot;:592.9647244094488,&quot;top&quot;:92.33055118110236,&quot;width&quot;:753.8534645669291}"/>
</p:tagLst>
</file>

<file path=ppt/tags/tag14.xml><?xml version="1.0" encoding="utf-8"?>
<p:tagLst xmlns:p="http://schemas.openxmlformats.org/presentationml/2006/main">
  <p:tag name="KSO_WM_DIAGRAM_VIRTUALLY_FRAME" val="{&quot;height&quot;:523.5035433070866,&quot;left&quot;:592.9647244094488,&quot;top&quot;:92.33055118110236,&quot;width&quot;:753.85346456692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25231</Words>
  <Application>WPS 演示</Application>
  <PresentationFormat>自定义</PresentationFormat>
  <Paragraphs>4344</Paragraphs>
  <Slides>133</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133</vt:i4>
      </vt:variant>
    </vt:vector>
  </HeadingPairs>
  <TitlesOfParts>
    <vt:vector size="151" baseType="lpstr">
      <vt:lpstr>Arial</vt:lpstr>
      <vt:lpstr>宋体</vt:lpstr>
      <vt:lpstr>Wingdings</vt:lpstr>
      <vt:lpstr>仿宋</vt:lpstr>
      <vt:lpstr>字由文艺黑</vt:lpstr>
      <vt:lpstr>Times New Roman</vt:lpstr>
      <vt:lpstr>微软雅黑</vt:lpstr>
      <vt:lpstr>字由点字典黑 2</vt:lpstr>
      <vt:lpstr>黑体</vt:lpstr>
      <vt:lpstr>Calibri</vt:lpstr>
      <vt:lpstr>Arial Unicode MS</vt:lpstr>
      <vt:lpstr>等线</vt:lpstr>
      <vt:lpstr>Calibri</vt:lpstr>
      <vt:lpstr>字由点字典黑 2</vt:lpstr>
      <vt:lpstr>字由点字典黑 55J</vt:lpstr>
      <vt:lpstr>MS PGothic</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蓝色简约毕业论文答辩演示文稿</dc:title>
  <dc:creator>snow jiang</dc:creator>
  <cp:lastModifiedBy>杨妮</cp:lastModifiedBy>
  <cp:revision>254</cp:revision>
  <dcterms:created xsi:type="dcterms:W3CDTF">2006-08-16T00:00:00Z</dcterms:created>
  <dcterms:modified xsi:type="dcterms:W3CDTF">2026-10-26T03:06:35Z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9C2330FDE40748A59E6DB387ABEC7A87_13</vt:lpwstr>
  </property>
  <property fmtid="{D5CDD505-2E9C-101B-9397-08002B2CF9AE}" pid="3" name="KSOProductBuildVer">
    <vt:lpwstr>2052-12.1.0.29161</vt:lpwstr>
  </property>
</Properties>
</file>