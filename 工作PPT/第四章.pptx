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0"/>
  </p:notesMasterIdLst>
  <p:handoutMasterIdLst>
    <p:handoutMasterId r:id="rId41"/>
  </p:handoutMasterIdLst>
  <p:sldIdLst>
    <p:sldId id="341" r:id="rId2"/>
    <p:sldId id="342" r:id="rId3"/>
    <p:sldId id="343" r:id="rId4"/>
    <p:sldId id="344" r:id="rId5"/>
    <p:sldId id="345" r:id="rId6"/>
    <p:sldId id="346" r:id="rId7"/>
    <p:sldId id="347" r:id="rId8"/>
    <p:sldId id="348" r:id="rId9"/>
    <p:sldId id="349" r:id="rId10"/>
    <p:sldId id="350" r:id="rId11"/>
    <p:sldId id="351" r:id="rId12"/>
    <p:sldId id="352" r:id="rId13"/>
    <p:sldId id="353" r:id="rId14"/>
    <p:sldId id="354" r:id="rId15"/>
    <p:sldId id="355" r:id="rId16"/>
    <p:sldId id="356" r:id="rId17"/>
    <p:sldId id="357" r:id="rId18"/>
    <p:sldId id="358" r:id="rId19"/>
    <p:sldId id="359" r:id="rId20"/>
    <p:sldId id="360" r:id="rId21"/>
    <p:sldId id="361" r:id="rId22"/>
    <p:sldId id="362" r:id="rId23"/>
    <p:sldId id="363" r:id="rId24"/>
    <p:sldId id="364" r:id="rId25"/>
    <p:sldId id="365" r:id="rId26"/>
    <p:sldId id="366" r:id="rId27"/>
    <p:sldId id="367" r:id="rId28"/>
    <p:sldId id="368" r:id="rId29"/>
    <p:sldId id="369" r:id="rId30"/>
    <p:sldId id="370" r:id="rId31"/>
    <p:sldId id="371" r:id="rId32"/>
    <p:sldId id="372" r:id="rId33"/>
    <p:sldId id="373" r:id="rId34"/>
    <p:sldId id="374" r:id="rId35"/>
    <p:sldId id="375" r:id="rId36"/>
    <p:sldId id="376" r:id="rId37"/>
    <p:sldId id="377" r:id="rId38"/>
    <p:sldId id="378" r:id="rId39"/>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8"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52" d="100"/>
          <a:sy n="52" d="100"/>
        </p:scale>
        <p:origin x="658" y="48"/>
      </p:cViewPr>
      <p:guideLst>
        <p:guide orient="horz" pos="2148"/>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2026/8/21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2026/8/21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FFFFFF">
                <a:alpha val="0"/>
              </a:srgbClr>
            </a:gs>
            <a:gs pos="100000">
              <a:srgbClr val="DEE9FF"/>
            </a:gs>
          </a:gsLst>
          <a:lin ang="5400000" scaled="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image" Target="../media/image1.png"/><Relationship Id="rId4" Type="http://schemas.openxmlformats.org/officeDocument/2006/relationships/tags" Target="../tags/tag4.xml"/><Relationship Id="rId9"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5340279" y="765907"/>
            <a:ext cx="7607443" cy="760744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defTabSz="457200"/>
              <a:endParaRPr lang="zh-CN" altLang="en-US"/>
            </a:p>
          </p:txBody>
        </p:sp>
        <p:sp>
          <p:nvSpPr>
            <p:cNvPr id="4" name="TextBox 4"/>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13" name="Group 13"/>
          <p:cNvGrpSpPr/>
          <p:nvPr/>
        </p:nvGrpSpPr>
        <p:grpSpPr>
          <a:xfrm>
            <a:off x="780296" y="3604350"/>
            <a:ext cx="16727408" cy="1438536"/>
            <a:chOff x="0" y="0"/>
            <a:chExt cx="22303210" cy="1918048"/>
          </a:xfrm>
        </p:grpSpPr>
        <p:grpSp>
          <p:nvGrpSpPr>
            <p:cNvPr id="14" name="Group 14"/>
            <p:cNvGrpSpPr/>
            <p:nvPr/>
          </p:nvGrpSpPr>
          <p:grpSpPr>
            <a:xfrm>
              <a:off x="0" y="0"/>
              <a:ext cx="237212" cy="23721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defTabSz="457200"/>
                <a:endParaRPr lang="zh-CN" altLang="en-US"/>
              </a:p>
            </p:txBody>
          </p:sp>
          <p:sp>
            <p:nvSpPr>
              <p:cNvPr id="16" name="TextBox 16"/>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17" name="Group 17"/>
            <p:cNvGrpSpPr/>
            <p:nvPr/>
          </p:nvGrpSpPr>
          <p:grpSpPr>
            <a:xfrm>
              <a:off x="0" y="560278"/>
              <a:ext cx="237212" cy="23721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defTabSz="457200"/>
                <a:endParaRPr lang="zh-CN" altLang="en-US"/>
              </a:p>
            </p:txBody>
          </p:sp>
          <p:sp>
            <p:nvSpPr>
              <p:cNvPr id="19" name="TextBox 19"/>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20" name="Group 20"/>
            <p:cNvGrpSpPr/>
            <p:nvPr/>
          </p:nvGrpSpPr>
          <p:grpSpPr>
            <a:xfrm>
              <a:off x="0" y="1120557"/>
              <a:ext cx="237212" cy="23721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defTabSz="457200"/>
                <a:endParaRPr lang="zh-CN" altLang="en-US"/>
              </a:p>
            </p:txBody>
          </p:sp>
          <p:sp>
            <p:nvSpPr>
              <p:cNvPr id="22" name="TextBox 22"/>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23" name="Group 23"/>
            <p:cNvGrpSpPr/>
            <p:nvPr/>
          </p:nvGrpSpPr>
          <p:grpSpPr>
            <a:xfrm>
              <a:off x="0" y="1680835"/>
              <a:ext cx="237212" cy="237212"/>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defTabSz="457200"/>
                <a:endParaRPr lang="zh-CN" altLang="en-US"/>
              </a:p>
            </p:txBody>
          </p:sp>
          <p:sp>
            <p:nvSpPr>
              <p:cNvPr id="25" name="TextBox 25"/>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26" name="Group 26"/>
            <p:cNvGrpSpPr/>
            <p:nvPr/>
          </p:nvGrpSpPr>
          <p:grpSpPr>
            <a:xfrm>
              <a:off x="22065998" y="0"/>
              <a:ext cx="237212" cy="237212"/>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defTabSz="457200"/>
                <a:endParaRPr lang="zh-CN" altLang="en-US"/>
              </a:p>
            </p:txBody>
          </p:sp>
          <p:sp>
            <p:nvSpPr>
              <p:cNvPr id="28" name="TextBox 28"/>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29" name="Group 29"/>
            <p:cNvGrpSpPr/>
            <p:nvPr/>
          </p:nvGrpSpPr>
          <p:grpSpPr>
            <a:xfrm>
              <a:off x="22065998" y="560278"/>
              <a:ext cx="237212" cy="237212"/>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defTabSz="457200"/>
                <a:endParaRPr lang="zh-CN" altLang="en-US"/>
              </a:p>
            </p:txBody>
          </p:sp>
          <p:sp>
            <p:nvSpPr>
              <p:cNvPr id="31" name="TextBox 31"/>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32" name="Group 32"/>
            <p:cNvGrpSpPr/>
            <p:nvPr/>
          </p:nvGrpSpPr>
          <p:grpSpPr>
            <a:xfrm>
              <a:off x="22065998" y="1120557"/>
              <a:ext cx="237212" cy="237212"/>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defTabSz="457200"/>
                <a:endParaRPr lang="zh-CN" altLang="en-US"/>
              </a:p>
            </p:txBody>
          </p:sp>
          <p:sp>
            <p:nvSpPr>
              <p:cNvPr id="34" name="TextBox 34"/>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35" name="Group 35"/>
            <p:cNvGrpSpPr/>
            <p:nvPr/>
          </p:nvGrpSpPr>
          <p:grpSpPr>
            <a:xfrm>
              <a:off x="22065998" y="1680835"/>
              <a:ext cx="237212" cy="237212"/>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defTabSz="457200"/>
                <a:endParaRPr lang="zh-CN" altLang="en-US"/>
              </a:p>
            </p:txBody>
          </p:sp>
          <p:sp>
            <p:nvSpPr>
              <p:cNvPr id="37" name="TextBox 37"/>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grpSp>
        <p:nvGrpSpPr>
          <p:cNvPr id="41" name="Group 41"/>
          <p:cNvGrpSpPr/>
          <p:nvPr/>
        </p:nvGrpSpPr>
        <p:grpSpPr>
          <a:xfrm>
            <a:off x="-1299970" y="8495193"/>
            <a:ext cx="21159211" cy="1929995"/>
            <a:chOff x="0" y="0"/>
            <a:chExt cx="28212281" cy="2573326"/>
          </a:xfrm>
        </p:grpSpPr>
        <p:grpSp>
          <p:nvGrpSpPr>
            <p:cNvPr id="42" name="Group 42"/>
            <p:cNvGrpSpPr/>
            <p:nvPr/>
          </p:nvGrpSpPr>
          <p:grpSpPr>
            <a:xfrm>
              <a:off x="361694" y="0"/>
              <a:ext cx="27850587" cy="2024584"/>
              <a:chOff x="0" y="0"/>
              <a:chExt cx="5501351" cy="399918"/>
            </a:xfrm>
          </p:grpSpPr>
          <p:sp>
            <p:nvSpPr>
              <p:cNvPr id="43" name="Freeform 43"/>
              <p:cNvSpPr/>
              <p:nvPr/>
            </p:nvSpPr>
            <p:spPr>
              <a:xfrm>
                <a:off x="0" y="0"/>
                <a:ext cx="5501351" cy="399918"/>
              </a:xfrm>
              <a:custGeom>
                <a:avLst/>
                <a:gdLst/>
                <a:ahLst/>
                <a:cxnLst/>
                <a:rect l="l" t="t" r="r" b="b"/>
                <a:pathLst>
                  <a:path w="5501351" h="399918">
                    <a:moveTo>
                      <a:pt x="18903" y="0"/>
                    </a:moveTo>
                    <a:lnTo>
                      <a:pt x="5482448" y="0"/>
                    </a:lnTo>
                    <a:cubicBezTo>
                      <a:pt x="5487461" y="0"/>
                      <a:pt x="5492269" y="1992"/>
                      <a:pt x="5495814" y="5536"/>
                    </a:cubicBezTo>
                    <a:cubicBezTo>
                      <a:pt x="5499359" y="9081"/>
                      <a:pt x="5501351" y="13889"/>
                      <a:pt x="5501351" y="18903"/>
                    </a:cubicBezTo>
                    <a:lnTo>
                      <a:pt x="5501351" y="381015"/>
                    </a:lnTo>
                    <a:cubicBezTo>
                      <a:pt x="5501351" y="391455"/>
                      <a:pt x="5492888" y="399918"/>
                      <a:pt x="5482448" y="399918"/>
                    </a:cubicBezTo>
                    <a:lnTo>
                      <a:pt x="18903" y="399918"/>
                    </a:lnTo>
                    <a:cubicBezTo>
                      <a:pt x="8463" y="399918"/>
                      <a:pt x="0" y="391455"/>
                      <a:pt x="0" y="381015"/>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defTabSz="457200"/>
                <a:endParaRPr lang="zh-CN" altLang="en-US"/>
              </a:p>
            </p:txBody>
          </p:sp>
          <p:sp>
            <p:nvSpPr>
              <p:cNvPr id="44" name="TextBox 44"/>
              <p:cNvSpPr txBox="1"/>
              <p:nvPr/>
            </p:nvSpPr>
            <p:spPr>
              <a:xfrm>
                <a:off x="0" y="0"/>
                <a:ext cx="5501351" cy="399918"/>
              </a:xfrm>
              <a:prstGeom prst="rect">
                <a:avLst/>
              </a:prstGeom>
            </p:spPr>
            <p:txBody>
              <a:bodyPr lIns="50800" tIns="50800" rIns="50800" bIns="50800" rtlCol="0" anchor="ctr"/>
              <a:lstStyle/>
              <a:p>
                <a:pPr algn="ctr" defTabSz="457200">
                  <a:lnSpc>
                    <a:spcPts val="2880"/>
                  </a:lnSpc>
                </a:pPr>
                <a:endParaRPr/>
              </a:p>
            </p:txBody>
          </p:sp>
        </p:grpSp>
        <p:grpSp>
          <p:nvGrpSpPr>
            <p:cNvPr id="45" name="Group 45"/>
            <p:cNvGrpSpPr/>
            <p:nvPr/>
          </p:nvGrpSpPr>
          <p:grpSpPr>
            <a:xfrm>
              <a:off x="0" y="282042"/>
              <a:ext cx="27850587" cy="2291284"/>
              <a:chOff x="0" y="0"/>
              <a:chExt cx="5501351" cy="452599"/>
            </a:xfrm>
          </p:grpSpPr>
          <p:sp>
            <p:nvSpPr>
              <p:cNvPr id="46" name="Freeform 46"/>
              <p:cNvSpPr/>
              <p:nvPr/>
            </p:nvSpPr>
            <p:spPr>
              <a:xfrm>
                <a:off x="0" y="0"/>
                <a:ext cx="5501351" cy="452599"/>
              </a:xfrm>
              <a:custGeom>
                <a:avLst/>
                <a:gdLst/>
                <a:ahLst/>
                <a:cxnLst/>
                <a:rect l="l" t="t" r="r" b="b"/>
                <a:pathLst>
                  <a:path w="5501351" h="452599">
                    <a:moveTo>
                      <a:pt x="18903" y="0"/>
                    </a:moveTo>
                    <a:lnTo>
                      <a:pt x="5482448" y="0"/>
                    </a:lnTo>
                    <a:cubicBezTo>
                      <a:pt x="5487461" y="0"/>
                      <a:pt x="5492269" y="1992"/>
                      <a:pt x="5495814" y="5536"/>
                    </a:cubicBezTo>
                    <a:cubicBezTo>
                      <a:pt x="5499359" y="9081"/>
                      <a:pt x="5501351" y="13889"/>
                      <a:pt x="5501351" y="18903"/>
                    </a:cubicBezTo>
                    <a:lnTo>
                      <a:pt x="5501351" y="433697"/>
                    </a:lnTo>
                    <a:cubicBezTo>
                      <a:pt x="5501351" y="444136"/>
                      <a:pt x="5492888" y="452599"/>
                      <a:pt x="5482448" y="452599"/>
                    </a:cubicBezTo>
                    <a:lnTo>
                      <a:pt x="18903" y="452599"/>
                    </a:lnTo>
                    <a:cubicBezTo>
                      <a:pt x="8463" y="452599"/>
                      <a:pt x="0" y="444136"/>
                      <a:pt x="0" y="433697"/>
                    </a:cubicBezTo>
                    <a:lnTo>
                      <a:pt x="0" y="18903"/>
                    </a:lnTo>
                    <a:cubicBezTo>
                      <a:pt x="0" y="8463"/>
                      <a:pt x="8463" y="0"/>
                      <a:pt x="18903" y="0"/>
                    </a:cubicBezTo>
                    <a:close/>
                  </a:path>
                </a:pathLst>
              </a:custGeom>
              <a:solidFill>
                <a:srgbClr val="013E7C"/>
              </a:solidFill>
            </p:spPr>
            <p:txBody>
              <a:bodyPr/>
              <a:lstStyle/>
              <a:p>
                <a:pPr defTabSz="457200"/>
                <a:endParaRPr lang="zh-CN" altLang="en-US" dirty="0"/>
              </a:p>
            </p:txBody>
          </p:sp>
          <p:sp>
            <p:nvSpPr>
              <p:cNvPr id="47" name="TextBox 47"/>
              <p:cNvSpPr txBox="1"/>
              <p:nvPr/>
            </p:nvSpPr>
            <p:spPr>
              <a:xfrm>
                <a:off x="0" y="0"/>
                <a:ext cx="5501351" cy="452599"/>
              </a:xfrm>
              <a:prstGeom prst="rect">
                <a:avLst/>
              </a:prstGeom>
            </p:spPr>
            <p:txBody>
              <a:bodyPr lIns="50800" tIns="50800" rIns="50800" bIns="50800" rtlCol="0" anchor="ctr"/>
              <a:lstStyle/>
              <a:p>
                <a:pPr algn="ctr" defTabSz="457200">
                  <a:lnSpc>
                    <a:spcPts val="2880"/>
                  </a:lnSpc>
                </a:pPr>
                <a:endParaRPr/>
              </a:p>
            </p:txBody>
          </p:sp>
        </p:grpSp>
      </p:grpSp>
      <p:sp>
        <p:nvSpPr>
          <p:cNvPr id="7" name="灯片编号占位符 6"/>
          <p:cNvSpPr>
            <a:spLocks noGrp="1"/>
          </p:cNvSpPr>
          <p:nvPr>
            <p:ph type="sldNum" sz="quarter" idx="12"/>
          </p:nvPr>
        </p:nvSpPr>
        <p:spPr>
          <a:xfrm>
            <a:off x="15352206" y="9254412"/>
            <a:ext cx="2133600" cy="365125"/>
          </a:xfrm>
        </p:spPr>
        <p:txBody>
          <a:bodyPr/>
          <a:lstStyle/>
          <a:p>
            <a:pPr algn="r" defTabSz="914400">
              <a:buClrTx/>
              <a:buSzTx/>
              <a:buFontTx/>
            </a:pPr>
            <a:fld id="{9A0DB2DC-4C9A-4742-B13C-FB6460FD3503}" type="slidenum">
              <a:rPr lang="en-US" sz="1400" smtClean="0">
                <a:solidFill>
                  <a:srgbClr val="FFC000"/>
                </a:solidFill>
              </a:rPr>
              <a:t>1</a:t>
            </a:fld>
            <a:endParaRPr lang="en-US" sz="1400">
              <a:solidFill>
                <a:srgbClr val="FFC000"/>
              </a:solidFill>
            </a:endParaRPr>
          </a:p>
        </p:txBody>
      </p:sp>
      <p:sp>
        <p:nvSpPr>
          <p:cNvPr id="5" name="TextBox 1"/>
          <p:cNvSpPr txBox="1"/>
          <p:nvPr/>
        </p:nvSpPr>
        <p:spPr>
          <a:xfrm>
            <a:off x="2158174" y="2706624"/>
            <a:ext cx="13980795" cy="1676400"/>
          </a:xfrm>
          <a:prstGeom prst="rect">
            <a:avLst/>
          </a:prstGeom>
          <a:noFill/>
        </p:spPr>
        <p:txBody>
          <a:bodyPr wrap="none">
            <a:spAutoFit/>
          </a:bodyPr>
          <a:lstStyle/>
          <a:p>
            <a:pPr algn="ctr" defTabSz="457200">
              <a:defRPr sz="7200" b="1">
                <a:solidFill>
                  <a:srgbClr val="004AAD"/>
                </a:solidFill>
                <a:latin typeface="仿宋" panose="02010609060101010101" charset="-122"/>
              </a:defRPr>
            </a:pPr>
            <a:r>
              <a:rPr sz="10300" dirty="0" err="1">
                <a:latin typeface="+mj-ea"/>
                <a:ea typeface="+mj-ea"/>
              </a:rPr>
              <a:t>密码学-基础理论与应用</a:t>
            </a:r>
            <a:endParaRPr sz="10300" dirty="0">
              <a:latin typeface="+mj-ea"/>
              <a:ea typeface="+mj-ea"/>
            </a:endParaRPr>
          </a:p>
        </p:txBody>
      </p:sp>
      <p:sp>
        <p:nvSpPr>
          <p:cNvPr id="6" name="TextBox 2"/>
          <p:cNvSpPr txBox="1"/>
          <p:nvPr/>
        </p:nvSpPr>
        <p:spPr>
          <a:xfrm>
            <a:off x="4149684" y="5330952"/>
            <a:ext cx="9988633" cy="1323439"/>
          </a:xfrm>
          <a:prstGeom prst="rect">
            <a:avLst/>
          </a:prstGeom>
          <a:noFill/>
        </p:spPr>
        <p:txBody>
          <a:bodyPr wrap="none">
            <a:spAutoFit/>
          </a:bodyPr>
          <a:lstStyle/>
          <a:p>
            <a:pPr algn="ctr" defTabSz="457200">
              <a:defRPr sz="5600" b="1">
                <a:solidFill>
                  <a:srgbClr val="004AAD"/>
                </a:solidFill>
                <a:latin typeface="仿宋" panose="02010609060101010101" charset="-122"/>
              </a:defRPr>
            </a:pPr>
            <a:r>
              <a:rPr sz="8000" dirty="0" err="1">
                <a:latin typeface="+mj-ea"/>
                <a:ea typeface="+mj-ea"/>
              </a:rPr>
              <a:t>第四章</a:t>
            </a:r>
            <a:r>
              <a:rPr sz="8000" dirty="0">
                <a:latin typeface="+mj-ea"/>
                <a:ea typeface="+mj-ea"/>
              </a:rPr>
              <a:t>  SM4分组密码</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defTabSz="457200"/>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defTabSz="457200"/>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defTabSz="457200"/>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defTabSz="457200"/>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defTabSz="457200"/>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defTabSz="457200"/>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defTabSz="457200"/>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defTabSz="457200"/>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grpSp>
        <p:nvGrpSpPr>
          <p:cNvPr id="27" name="Group 27"/>
          <p:cNvGrpSpPr/>
          <p:nvPr/>
        </p:nvGrpSpPr>
        <p:grpSpPr>
          <a:xfrm>
            <a:off x="2744623" y="3196873"/>
            <a:ext cx="2745105" cy="3094117"/>
            <a:chOff x="-263312" y="-171450"/>
            <a:chExt cx="3660140" cy="4125488"/>
          </a:xfrm>
        </p:grpSpPr>
        <p:sp>
          <p:nvSpPr>
            <p:cNvPr id="28" name="TextBox 28"/>
            <p:cNvSpPr txBox="1"/>
            <p:nvPr/>
          </p:nvSpPr>
          <p:spPr>
            <a:xfrm>
              <a:off x="8311" y="-171450"/>
              <a:ext cx="3115717" cy="4125488"/>
            </a:xfrm>
            <a:prstGeom prst="rect">
              <a:avLst/>
            </a:prstGeom>
          </p:spPr>
          <p:txBody>
            <a:bodyPr lIns="0" tIns="0" rIns="0" bIns="0" rtlCol="0" anchor="t">
              <a:spAutoFit/>
            </a:bodyPr>
            <a:lstStyle/>
            <a:p>
              <a:pPr algn="ctr" defTabSz="457200">
                <a:lnSpc>
                  <a:spcPts val="12880"/>
                </a:lnSpc>
              </a:pPr>
              <a:r>
                <a:rPr lang="en-US" sz="9200" b="1" dirty="0" err="1">
                  <a:solidFill>
                    <a:srgbClr val="004AAD"/>
                  </a:solidFill>
                  <a:latin typeface="+mj-ea"/>
                  <a:ea typeface="+mj-ea"/>
                  <a:cs typeface="字由文艺黑" panose="00020600040101010101" charset="-122"/>
                  <a:sym typeface="字由文艺黑" panose="00020600040101010101" charset="-122"/>
                </a:rPr>
                <a:t>目录</a:t>
              </a:r>
            </a:p>
          </p:txBody>
        </p:sp>
        <p:sp>
          <p:nvSpPr>
            <p:cNvPr id="29" name="TextBox 29"/>
            <p:cNvSpPr txBox="1"/>
            <p:nvPr/>
          </p:nvSpPr>
          <p:spPr>
            <a:xfrm>
              <a:off x="-263312" y="1713230"/>
              <a:ext cx="3660140" cy="717973"/>
            </a:xfrm>
            <a:prstGeom prst="rect">
              <a:avLst/>
            </a:prstGeom>
          </p:spPr>
          <p:txBody>
            <a:bodyPr wrap="square" lIns="0" tIns="0" rIns="0" bIns="0" rtlCol="0" anchor="t">
              <a:spAutoFit/>
            </a:bodyPr>
            <a:lstStyle/>
            <a:p>
              <a:pPr algn="ctr" defTabSz="457200">
                <a:lnSpc>
                  <a:spcPts val="4200"/>
                </a:lnSpc>
              </a:pPr>
              <a:r>
                <a:rPr lang="en-US" sz="3000" dirty="0">
                  <a:solidFill>
                    <a:srgbClr val="004AAD"/>
                  </a:solidFill>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CONTENTS</a:t>
              </a:r>
            </a:p>
          </p:txBody>
        </p:sp>
      </p:grpSp>
      <p:sp>
        <p:nvSpPr>
          <p:cNvPr id="33" name="TextBox 33"/>
          <p:cNvSpPr txBox="1"/>
          <p:nvPr>
            <p:custDataLst>
              <p:tags r:id="rId1"/>
            </p:custDataLst>
          </p:nvPr>
        </p:nvSpPr>
        <p:spPr>
          <a:xfrm>
            <a:off x="8232662" y="2936832"/>
            <a:ext cx="836133" cy="717550"/>
          </a:xfrm>
          <a:prstGeom prst="rect">
            <a:avLst/>
          </a:prstGeom>
        </p:spPr>
        <p:txBody>
          <a:bodyPr lIns="0" tIns="0" rIns="0" bIns="0" rtlCol="0" anchor="t">
            <a:spAutoFit/>
          </a:bodyPr>
          <a:lstStyle/>
          <a:p>
            <a:pPr algn="ctr" defTabSz="457200">
              <a:lnSpc>
                <a:spcPts val="5600"/>
              </a:lnSpc>
            </a:pPr>
            <a:r>
              <a:rPr lang="en-US" sz="4000" b="1" dirty="0">
                <a:solidFill>
                  <a:srgbClr val="004AAD"/>
                </a:solidFill>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4.1</a:t>
            </a:r>
          </a:p>
        </p:txBody>
      </p:sp>
      <p:sp>
        <p:nvSpPr>
          <p:cNvPr id="34" name="TextBox 34"/>
          <p:cNvSpPr txBox="1"/>
          <p:nvPr>
            <p:custDataLst>
              <p:tags r:id="rId2"/>
            </p:custDataLst>
          </p:nvPr>
        </p:nvSpPr>
        <p:spPr>
          <a:xfrm>
            <a:off x="9577070" y="2936875"/>
            <a:ext cx="5497195" cy="658322"/>
          </a:xfrm>
          <a:prstGeom prst="rect">
            <a:avLst/>
          </a:prstGeom>
        </p:spPr>
        <p:txBody>
          <a:bodyPr wrap="square" lIns="0" tIns="0" rIns="0" bIns="0" rtlCol="0" anchor="t">
            <a:spAutoFit/>
          </a:bodyPr>
          <a:lstStyle/>
          <a:p>
            <a:pPr algn="l" defTabSz="457200">
              <a:lnSpc>
                <a:spcPts val="5880"/>
              </a:lnSpc>
            </a:pPr>
            <a:r>
              <a:rPr lang="en-US" altLang="zh-CN" sz="4200" b="1" dirty="0">
                <a:solidFill>
                  <a:srgbClr val="000000"/>
                </a:solidFill>
                <a:latin typeface="+mj-ea"/>
                <a:ea typeface="+mj-ea"/>
                <a:cs typeface="Times New Roman" panose="02020603050405020304" pitchFamily="18" charset="0"/>
                <a:sym typeface="字由文艺黑" panose="00020600040101010101" charset="-122"/>
              </a:rPr>
              <a:t>SM4</a:t>
            </a:r>
            <a:r>
              <a:rPr lang="en-US" altLang="zh-CN" sz="4200" b="1" dirty="0">
                <a:solidFill>
                  <a:srgbClr val="000000"/>
                </a:solidFill>
                <a:latin typeface="+mj-ea"/>
                <a:ea typeface="+mj-ea"/>
                <a:cs typeface="宋体" panose="02010600030101010101" pitchFamily="2" charset="-122"/>
                <a:sym typeface="字由文艺黑" panose="00020600040101010101" charset="-122"/>
              </a:rPr>
              <a:t>分组</a:t>
            </a:r>
            <a:r>
              <a:rPr lang="zh-CN" altLang="en-US" sz="4200" b="1" dirty="0">
                <a:solidFill>
                  <a:srgbClr val="000000"/>
                </a:solidFill>
                <a:latin typeface="+mj-ea"/>
                <a:ea typeface="+mj-ea"/>
                <a:cs typeface="宋体" panose="02010600030101010101" pitchFamily="2" charset="-122"/>
                <a:sym typeface="字由文艺黑" panose="00020600040101010101" charset="-122"/>
              </a:rPr>
              <a:t>密码算法</a:t>
            </a:r>
          </a:p>
        </p:txBody>
      </p:sp>
      <p:sp>
        <p:nvSpPr>
          <p:cNvPr id="38" name="TextBox 38"/>
          <p:cNvSpPr txBox="1"/>
          <p:nvPr>
            <p:custDataLst>
              <p:tags r:id="rId3"/>
            </p:custDataLst>
          </p:nvPr>
        </p:nvSpPr>
        <p:spPr>
          <a:xfrm>
            <a:off x="8232662" y="3921717"/>
            <a:ext cx="923721" cy="717550"/>
          </a:xfrm>
          <a:prstGeom prst="rect">
            <a:avLst/>
          </a:prstGeom>
        </p:spPr>
        <p:txBody>
          <a:bodyPr lIns="0" tIns="0" rIns="0" bIns="0" rtlCol="0" anchor="t">
            <a:spAutoFit/>
          </a:bodyPr>
          <a:lstStyle/>
          <a:p>
            <a:pPr algn="ctr" defTabSz="457200">
              <a:lnSpc>
                <a:spcPts val="5600"/>
              </a:lnSpc>
            </a:pPr>
            <a:r>
              <a:rPr lang="en-US" sz="4000" b="1" dirty="0">
                <a:solidFill>
                  <a:srgbClr val="004AAD"/>
                </a:solidFill>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4.2</a:t>
            </a:r>
          </a:p>
        </p:txBody>
      </p:sp>
      <p:sp>
        <p:nvSpPr>
          <p:cNvPr id="43" name="TextBox 43"/>
          <p:cNvSpPr txBox="1"/>
          <p:nvPr>
            <p:custDataLst>
              <p:tags r:id="rId4"/>
            </p:custDataLst>
          </p:nvPr>
        </p:nvSpPr>
        <p:spPr>
          <a:xfrm>
            <a:off x="8232662" y="4905967"/>
            <a:ext cx="923721" cy="717550"/>
          </a:xfrm>
          <a:prstGeom prst="rect">
            <a:avLst/>
          </a:prstGeom>
        </p:spPr>
        <p:txBody>
          <a:bodyPr lIns="0" tIns="0" rIns="0" bIns="0" rtlCol="0" anchor="t">
            <a:spAutoFit/>
          </a:bodyPr>
          <a:lstStyle/>
          <a:p>
            <a:pPr algn="ctr" defTabSz="457200">
              <a:lnSpc>
                <a:spcPts val="5600"/>
              </a:lnSpc>
            </a:pPr>
            <a:r>
              <a:rPr lang="en-US" sz="4000" b="1" dirty="0">
                <a:solidFill>
                  <a:srgbClr val="004AAD"/>
                </a:solidFill>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4.3</a:t>
            </a:r>
          </a:p>
        </p:txBody>
      </p:sp>
      <p:sp>
        <p:nvSpPr>
          <p:cNvPr id="44" name="TextBox 44"/>
          <p:cNvSpPr txBox="1"/>
          <p:nvPr>
            <p:custDataLst>
              <p:tags r:id="rId5"/>
            </p:custDataLst>
          </p:nvPr>
        </p:nvSpPr>
        <p:spPr>
          <a:xfrm>
            <a:off x="9577070" y="4906010"/>
            <a:ext cx="7179945" cy="658322"/>
          </a:xfrm>
          <a:prstGeom prst="rect">
            <a:avLst/>
          </a:prstGeom>
        </p:spPr>
        <p:txBody>
          <a:bodyPr wrap="square" lIns="0" tIns="0" rIns="0" bIns="0" rtlCol="0" anchor="t">
            <a:spAutoFit/>
          </a:bodyPr>
          <a:lstStyle/>
          <a:p>
            <a:pPr algn="l" defTabSz="457200">
              <a:lnSpc>
                <a:spcPts val="5880"/>
              </a:lnSpc>
            </a:pPr>
            <a:r>
              <a:rPr lang="en-US" altLang="zh-CN" sz="4200" b="1" dirty="0">
                <a:solidFill>
                  <a:srgbClr val="000000"/>
                </a:solidFill>
                <a:latin typeface="+mj-ea"/>
                <a:ea typeface="+mj-ea"/>
                <a:cs typeface="Times New Roman" panose="02020603050405020304" pitchFamily="18" charset="0"/>
                <a:sym typeface="字由文艺黑" panose="00020600040101010101" charset="-122"/>
              </a:rPr>
              <a:t>SM4</a:t>
            </a:r>
            <a:r>
              <a:rPr lang="zh-CN" altLang="en-US" sz="4200" b="1" dirty="0">
                <a:solidFill>
                  <a:srgbClr val="000000"/>
                </a:solidFill>
                <a:latin typeface="+mj-ea"/>
                <a:ea typeface="+mj-ea"/>
                <a:cs typeface="字由文艺黑" panose="00020600040101010101" charset="-122"/>
                <a:sym typeface="字由文艺黑" panose="00020600040101010101" charset="-122"/>
              </a:rPr>
              <a:t>分组密码算法安全性分析</a:t>
            </a:r>
          </a:p>
        </p:txBody>
      </p:sp>
      <p:grpSp>
        <p:nvGrpSpPr>
          <p:cNvPr id="50" name="Group 50"/>
          <p:cNvGrpSpPr/>
          <p:nvPr/>
        </p:nvGrpSpPr>
        <p:grpSpPr>
          <a:xfrm>
            <a:off x="-1299845" y="9109075"/>
            <a:ext cx="21159470" cy="1315720"/>
            <a:chOff x="0" y="0"/>
            <a:chExt cx="28212281" cy="2573326"/>
          </a:xfrm>
        </p:grpSpPr>
        <p:grpSp>
          <p:nvGrpSpPr>
            <p:cNvPr id="51" name="Group 51"/>
            <p:cNvGrpSpPr/>
            <p:nvPr/>
          </p:nvGrpSpPr>
          <p:grpSpPr>
            <a:xfrm>
              <a:off x="361694" y="0"/>
              <a:ext cx="27850587" cy="2024584"/>
              <a:chOff x="0" y="0"/>
              <a:chExt cx="5501351" cy="399918"/>
            </a:xfrm>
          </p:grpSpPr>
          <p:sp>
            <p:nvSpPr>
              <p:cNvPr id="52" name="Freeform 52"/>
              <p:cNvSpPr/>
              <p:nvPr/>
            </p:nvSpPr>
            <p:spPr>
              <a:xfrm>
                <a:off x="0" y="0"/>
                <a:ext cx="5501351" cy="399918"/>
              </a:xfrm>
              <a:custGeom>
                <a:avLst/>
                <a:gdLst/>
                <a:ahLst/>
                <a:cxnLst/>
                <a:rect l="l" t="t" r="r" b="b"/>
                <a:pathLst>
                  <a:path w="5501351" h="399918">
                    <a:moveTo>
                      <a:pt x="18903" y="0"/>
                    </a:moveTo>
                    <a:lnTo>
                      <a:pt x="5482448" y="0"/>
                    </a:lnTo>
                    <a:cubicBezTo>
                      <a:pt x="5487461" y="0"/>
                      <a:pt x="5492269" y="1992"/>
                      <a:pt x="5495814" y="5536"/>
                    </a:cubicBezTo>
                    <a:cubicBezTo>
                      <a:pt x="5499359" y="9081"/>
                      <a:pt x="5501351" y="13889"/>
                      <a:pt x="5501351" y="18903"/>
                    </a:cubicBezTo>
                    <a:lnTo>
                      <a:pt x="5501351" y="381015"/>
                    </a:lnTo>
                    <a:cubicBezTo>
                      <a:pt x="5501351" y="391455"/>
                      <a:pt x="5492888" y="399918"/>
                      <a:pt x="5482448" y="399918"/>
                    </a:cubicBezTo>
                    <a:lnTo>
                      <a:pt x="18903" y="399918"/>
                    </a:lnTo>
                    <a:cubicBezTo>
                      <a:pt x="8463" y="399918"/>
                      <a:pt x="0" y="391455"/>
                      <a:pt x="0" y="381015"/>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defTabSz="457200"/>
                <a:endParaRPr lang="zh-CN" altLang="en-US"/>
              </a:p>
            </p:txBody>
          </p:sp>
          <p:sp>
            <p:nvSpPr>
              <p:cNvPr id="53" name="TextBox 53"/>
              <p:cNvSpPr txBox="1"/>
              <p:nvPr/>
            </p:nvSpPr>
            <p:spPr>
              <a:xfrm>
                <a:off x="0" y="0"/>
                <a:ext cx="5501351" cy="399918"/>
              </a:xfrm>
              <a:prstGeom prst="rect">
                <a:avLst/>
              </a:prstGeom>
            </p:spPr>
            <p:txBody>
              <a:bodyPr lIns="50800" tIns="50800" rIns="50800" bIns="50800" rtlCol="0" anchor="ctr"/>
              <a:lstStyle/>
              <a:p>
                <a:pPr algn="ctr" defTabSz="457200">
                  <a:lnSpc>
                    <a:spcPts val="2880"/>
                  </a:lnSpc>
                </a:pPr>
                <a:endParaRPr/>
              </a:p>
            </p:txBody>
          </p:sp>
        </p:grpSp>
        <p:grpSp>
          <p:nvGrpSpPr>
            <p:cNvPr id="54" name="Group 54"/>
            <p:cNvGrpSpPr/>
            <p:nvPr/>
          </p:nvGrpSpPr>
          <p:grpSpPr>
            <a:xfrm>
              <a:off x="0" y="282042"/>
              <a:ext cx="27850587" cy="2291284"/>
              <a:chOff x="0" y="0"/>
              <a:chExt cx="5501351" cy="452599"/>
            </a:xfrm>
          </p:grpSpPr>
          <p:sp>
            <p:nvSpPr>
              <p:cNvPr id="55" name="Freeform 55"/>
              <p:cNvSpPr/>
              <p:nvPr/>
            </p:nvSpPr>
            <p:spPr>
              <a:xfrm>
                <a:off x="0" y="0"/>
                <a:ext cx="5501351" cy="452599"/>
              </a:xfrm>
              <a:custGeom>
                <a:avLst/>
                <a:gdLst/>
                <a:ahLst/>
                <a:cxnLst/>
                <a:rect l="l" t="t" r="r" b="b"/>
                <a:pathLst>
                  <a:path w="5501351" h="452599">
                    <a:moveTo>
                      <a:pt x="18903" y="0"/>
                    </a:moveTo>
                    <a:lnTo>
                      <a:pt x="5482448" y="0"/>
                    </a:lnTo>
                    <a:cubicBezTo>
                      <a:pt x="5487461" y="0"/>
                      <a:pt x="5492269" y="1992"/>
                      <a:pt x="5495814" y="5536"/>
                    </a:cubicBezTo>
                    <a:cubicBezTo>
                      <a:pt x="5499359" y="9081"/>
                      <a:pt x="5501351" y="13889"/>
                      <a:pt x="5501351" y="18903"/>
                    </a:cubicBezTo>
                    <a:lnTo>
                      <a:pt x="5501351" y="433697"/>
                    </a:lnTo>
                    <a:cubicBezTo>
                      <a:pt x="5501351" y="444136"/>
                      <a:pt x="5492888" y="452599"/>
                      <a:pt x="5482448" y="452599"/>
                    </a:cubicBezTo>
                    <a:lnTo>
                      <a:pt x="18903" y="452599"/>
                    </a:lnTo>
                    <a:cubicBezTo>
                      <a:pt x="8463" y="452599"/>
                      <a:pt x="0" y="444136"/>
                      <a:pt x="0" y="433697"/>
                    </a:cubicBezTo>
                    <a:lnTo>
                      <a:pt x="0" y="18903"/>
                    </a:lnTo>
                    <a:cubicBezTo>
                      <a:pt x="0" y="8463"/>
                      <a:pt x="8463" y="0"/>
                      <a:pt x="18903" y="0"/>
                    </a:cubicBezTo>
                    <a:close/>
                  </a:path>
                </a:pathLst>
              </a:custGeom>
              <a:solidFill>
                <a:srgbClr val="013E7C"/>
              </a:solidFill>
            </p:spPr>
            <p:txBody>
              <a:bodyPr/>
              <a:lstStyle/>
              <a:p>
                <a:pPr defTabSz="457200"/>
                <a:endParaRPr lang="zh-CN" altLang="en-US"/>
              </a:p>
            </p:txBody>
          </p:sp>
          <p:sp>
            <p:nvSpPr>
              <p:cNvPr id="56" name="TextBox 56"/>
              <p:cNvSpPr txBox="1"/>
              <p:nvPr/>
            </p:nvSpPr>
            <p:spPr>
              <a:xfrm>
                <a:off x="0" y="0"/>
                <a:ext cx="5501351" cy="452599"/>
              </a:xfrm>
              <a:prstGeom prst="rect">
                <a:avLst/>
              </a:prstGeom>
            </p:spPr>
            <p:txBody>
              <a:bodyPr lIns="50800" tIns="50800" rIns="50800" bIns="50800" rtlCol="0" anchor="ctr"/>
              <a:lstStyle/>
              <a:p>
                <a:pPr algn="ctr" defTabSz="457200">
                  <a:lnSpc>
                    <a:spcPts val="2880"/>
                  </a:lnSpc>
                </a:pPr>
                <a:endParaRPr/>
              </a:p>
            </p:txBody>
          </p:sp>
        </p:grpSp>
      </p:grpSp>
      <p:sp>
        <p:nvSpPr>
          <p:cNvPr id="66" name="TextBox 44"/>
          <p:cNvSpPr txBox="1"/>
          <p:nvPr>
            <p:custDataLst>
              <p:tags r:id="rId6"/>
            </p:custDataLst>
          </p:nvPr>
        </p:nvSpPr>
        <p:spPr>
          <a:xfrm>
            <a:off x="9577001" y="5890217"/>
            <a:ext cx="4766247" cy="658322"/>
          </a:xfrm>
          <a:prstGeom prst="rect">
            <a:avLst/>
          </a:prstGeom>
        </p:spPr>
        <p:txBody>
          <a:bodyPr wrap="square" lIns="0" tIns="0" rIns="0" bIns="0" rtlCol="0" anchor="t">
            <a:spAutoFit/>
          </a:bodyPr>
          <a:lstStyle/>
          <a:p>
            <a:pPr algn="l" defTabSz="457200">
              <a:lnSpc>
                <a:spcPts val="5880"/>
              </a:lnSpc>
            </a:pPr>
            <a:r>
              <a:rPr lang="zh-CN" altLang="en-US" sz="4200" b="1" dirty="0">
                <a:solidFill>
                  <a:srgbClr val="000000"/>
                </a:solidFill>
                <a:latin typeface="+mj-ea"/>
                <a:ea typeface="+mj-ea"/>
                <a:cs typeface="字由文艺黑" panose="00020600040101010101" charset="-122"/>
                <a:sym typeface="+mn-ea"/>
              </a:rPr>
              <a:t>本章小结</a:t>
            </a:r>
            <a:endParaRPr sz="4200" b="1" dirty="0">
              <a:latin typeface="+mj-ea"/>
              <a:ea typeface="+mj-ea"/>
              <a:sym typeface="+mn-ea"/>
            </a:endParaRPr>
          </a:p>
        </p:txBody>
      </p:sp>
      <p:sp>
        <p:nvSpPr>
          <p:cNvPr id="67" name="TextBox 43"/>
          <p:cNvSpPr txBox="1"/>
          <p:nvPr>
            <p:custDataLst>
              <p:tags r:id="rId7"/>
            </p:custDataLst>
          </p:nvPr>
        </p:nvSpPr>
        <p:spPr>
          <a:xfrm>
            <a:off x="8232662" y="5890217"/>
            <a:ext cx="923721" cy="717550"/>
          </a:xfrm>
          <a:prstGeom prst="rect">
            <a:avLst/>
          </a:prstGeom>
        </p:spPr>
        <p:txBody>
          <a:bodyPr lIns="0" tIns="0" rIns="0" bIns="0" rtlCol="0" anchor="t">
            <a:spAutoFit/>
          </a:bodyPr>
          <a:lstStyle/>
          <a:p>
            <a:pPr algn="ctr" defTabSz="457200">
              <a:lnSpc>
                <a:spcPts val="5600"/>
              </a:lnSpc>
            </a:pPr>
            <a:r>
              <a:rPr lang="en-US" sz="4000" b="1" dirty="0">
                <a:solidFill>
                  <a:srgbClr val="004AAD"/>
                </a:solidFill>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4.4</a:t>
            </a:r>
          </a:p>
        </p:txBody>
      </p:sp>
      <p:sp>
        <p:nvSpPr>
          <p:cNvPr id="62" name="TextBox 34"/>
          <p:cNvSpPr txBox="1"/>
          <p:nvPr>
            <p:custDataLst>
              <p:tags r:id="rId8"/>
            </p:custDataLst>
          </p:nvPr>
        </p:nvSpPr>
        <p:spPr>
          <a:xfrm>
            <a:off x="9577070" y="3921760"/>
            <a:ext cx="6893560" cy="658322"/>
          </a:xfrm>
          <a:prstGeom prst="rect">
            <a:avLst/>
          </a:prstGeom>
        </p:spPr>
        <p:txBody>
          <a:bodyPr wrap="square" lIns="0" tIns="0" rIns="0" bIns="0" rtlCol="0" anchor="t">
            <a:spAutoFit/>
          </a:bodyPr>
          <a:lstStyle/>
          <a:p>
            <a:pPr algn="l" defTabSz="457200">
              <a:lnSpc>
                <a:spcPts val="5880"/>
              </a:lnSpc>
            </a:pPr>
            <a:r>
              <a:rPr lang="en-US" altLang="zh-CN" sz="4200" b="1" dirty="0">
                <a:solidFill>
                  <a:srgbClr val="000000"/>
                </a:solidFill>
                <a:latin typeface="+mj-ea"/>
                <a:ea typeface="+mj-ea"/>
                <a:cs typeface="Times New Roman" panose="02020603050405020304" pitchFamily="18" charset="0"/>
                <a:sym typeface="字由文艺黑" panose="00020600040101010101" charset="-122"/>
              </a:rPr>
              <a:t>SM4</a:t>
            </a:r>
            <a:r>
              <a:rPr lang="zh-CN" altLang="en-US" sz="4200" b="1" dirty="0">
                <a:solidFill>
                  <a:srgbClr val="000000"/>
                </a:solidFill>
                <a:latin typeface="+mj-ea"/>
                <a:ea typeface="+mj-ea"/>
                <a:cs typeface="字由文艺黑" panose="00020600040101010101" charset="-122"/>
                <a:sym typeface="字由文艺黑" panose="00020600040101010101" charset="-122"/>
              </a:rPr>
              <a:t>分组密码算法设计原理</a:t>
            </a:r>
          </a:p>
        </p:txBody>
      </p:sp>
      <p:sp>
        <p:nvSpPr>
          <p:cNvPr id="32" name="灯片编号占位符 31"/>
          <p:cNvSpPr>
            <a:spLocks noGrp="1"/>
          </p:cNvSpPr>
          <p:nvPr>
            <p:ph type="sldNum" sz="quarter" idx="12"/>
          </p:nvPr>
        </p:nvSpPr>
        <p:spPr>
          <a:xfrm>
            <a:off x="15378279" y="9581905"/>
            <a:ext cx="2133600" cy="441325"/>
          </a:xfrm>
        </p:spPr>
        <p:txBody>
          <a:bodyPr/>
          <a:lstStyle/>
          <a:p>
            <a:fld id="{9A0DB2DC-4C9A-4742-B13C-FB6460FD3503}" type="slidenum">
              <a:rPr lang="en-US" sz="1400" smtClean="0">
                <a:solidFill>
                  <a:srgbClr val="FFC000"/>
                </a:solidFill>
              </a:rPr>
              <a:t>2</a:t>
            </a:fld>
            <a:endParaRPr lang="en-US" sz="1400">
              <a:solidFill>
                <a:srgbClr val="FFC000"/>
              </a:solidFill>
            </a:endParaRPr>
          </a:p>
        </p:txBody>
      </p:sp>
      <p:grpSp>
        <p:nvGrpSpPr>
          <p:cNvPr id="35" name="组合 34"/>
          <p:cNvGrpSpPr/>
          <p:nvPr/>
        </p:nvGrpSpPr>
        <p:grpSpPr>
          <a:xfrm>
            <a:off x="796975" y="605801"/>
            <a:ext cx="3681730" cy="416951"/>
            <a:chOff x="13811849" y="507954"/>
            <a:chExt cx="3681730" cy="416951"/>
          </a:xfrm>
        </p:grpSpPr>
        <p:sp>
          <p:nvSpPr>
            <p:cNvPr id="36" name="文本框 35"/>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7" name="图片 36"/>
            <p:cNvPicPr>
              <a:picLocks noChangeAspect="1"/>
            </p:cNvPicPr>
            <p:nvPr/>
          </p:nvPicPr>
          <p:blipFill>
            <a:blip r:embed="rId10"/>
            <a:stretch>
              <a:fillRect/>
            </a:stretch>
          </p:blipFill>
          <p:spPr>
            <a:xfrm>
              <a:off x="13944600" y="877286"/>
              <a:ext cx="2771429" cy="47619"/>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defTabSz="457200"/>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defTabSz="457200"/>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defTabSz="457200"/>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defTabSz="457200"/>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defTabSz="457200"/>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defTabSz="457200"/>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defTabSz="457200"/>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defTabSz="457200"/>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defTabSz="457200"/>
              <a:endParaRPr lang="zh-CN" altLang="en-US"/>
            </a:p>
          </p:txBody>
        </p:sp>
        <p:sp>
          <p:nvSpPr>
            <p:cNvPr id="29" name="TextBox 29"/>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sp>
        <p:nvSpPr>
          <p:cNvPr id="30" name="TextBox 30"/>
          <p:cNvSpPr txBox="1"/>
          <p:nvPr/>
        </p:nvSpPr>
        <p:spPr>
          <a:xfrm>
            <a:off x="7781241" y="2834725"/>
            <a:ext cx="2725514" cy="2190115"/>
          </a:xfrm>
          <a:prstGeom prst="rect">
            <a:avLst/>
          </a:prstGeom>
        </p:spPr>
        <p:txBody>
          <a:bodyPr lIns="0" tIns="0" rIns="0" bIns="0" rtlCol="0" anchor="t">
            <a:spAutoFit/>
          </a:bodyPr>
          <a:lstStyle/>
          <a:p>
            <a:pPr algn="ctr" defTabSz="457200">
              <a:lnSpc>
                <a:spcPts val="17080"/>
              </a:lnSpc>
            </a:pPr>
            <a:r>
              <a:rPr lang="en-US" sz="12200" dirty="0">
                <a:solidFill>
                  <a:srgbClr val="004AAD"/>
                </a:solidFill>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4.1</a:t>
            </a:r>
          </a:p>
        </p:txBody>
      </p:sp>
      <p:sp>
        <p:nvSpPr>
          <p:cNvPr id="31" name="TextBox 31"/>
          <p:cNvSpPr txBox="1"/>
          <p:nvPr/>
        </p:nvSpPr>
        <p:spPr>
          <a:xfrm>
            <a:off x="3428998" y="5143500"/>
            <a:ext cx="11429999" cy="1435735"/>
          </a:xfrm>
          <a:prstGeom prst="rect">
            <a:avLst/>
          </a:prstGeom>
        </p:spPr>
        <p:txBody>
          <a:bodyPr wrap="square" lIns="0" tIns="0" rIns="0" bIns="0" rtlCol="0" anchor="t">
            <a:spAutoFit/>
          </a:bodyPr>
          <a:lstStyle/>
          <a:p>
            <a:pPr algn="ctr" defTabSz="457200">
              <a:lnSpc>
                <a:spcPts val="11200"/>
              </a:lnSpc>
            </a:pPr>
            <a:r>
              <a:rPr lang="en-US" altLang="zh-CN" sz="9600" b="1" dirty="0">
                <a:solidFill>
                  <a:srgbClr val="004AAD"/>
                </a:solidFill>
                <a:latin typeface="Times New Roman" panose="02020603050405020304" pitchFamily="18" charset="0"/>
                <a:ea typeface="仿宋" panose="02010609060101010101" charset="-122"/>
                <a:cs typeface="字由文艺黑" panose="00020600040101010101" charset="-122"/>
                <a:sym typeface="字由文艺黑" panose="00020600040101010101" charset="-122"/>
              </a:rPr>
              <a:t>SM4</a:t>
            </a:r>
            <a:r>
              <a:rPr lang="zh-CN" altLang="en-US" sz="9600" b="1" dirty="0">
                <a:solidFill>
                  <a:srgbClr val="004AAD"/>
                </a:solidFill>
                <a:latin typeface="Times New Roman" panose="02020603050405020304" pitchFamily="18" charset="0"/>
                <a:ea typeface="仿宋" panose="02010609060101010101" charset="-122"/>
                <a:cs typeface="字由文艺黑" panose="00020600040101010101" charset="-122"/>
                <a:sym typeface="字由文艺黑" panose="00020600040101010101" charset="-122"/>
              </a:rPr>
              <a:t>分组密码算法</a:t>
            </a: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defTabSz="457200"/>
                <a:endParaRPr lang="zh-CN" altLang="en-US"/>
              </a:p>
            </p:txBody>
          </p:sp>
          <p:sp>
            <p:nvSpPr>
              <p:cNvPr id="40" name="TextBox 40"/>
              <p:cNvSpPr txBox="1"/>
              <p:nvPr/>
            </p:nvSpPr>
            <p:spPr>
              <a:xfrm>
                <a:off x="0" y="0"/>
                <a:ext cx="5501351" cy="288980"/>
              </a:xfrm>
              <a:prstGeom prst="rect">
                <a:avLst/>
              </a:prstGeom>
            </p:spPr>
            <p:txBody>
              <a:bodyPr lIns="50800" tIns="50800" rIns="50800" bIns="50800" rtlCol="0" anchor="ctr"/>
              <a:lstStyle/>
              <a:p>
                <a:pPr algn="ctr" defTabSz="457200">
                  <a:lnSpc>
                    <a:spcPts val="2880"/>
                  </a:lnSpc>
                </a:pPr>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defTabSz="457200"/>
                <a:endParaRPr lang="zh-CN" altLang="en-US"/>
              </a:p>
            </p:txBody>
          </p:sp>
          <p:sp>
            <p:nvSpPr>
              <p:cNvPr id="43" name="TextBox 43"/>
              <p:cNvSpPr txBox="1"/>
              <p:nvPr/>
            </p:nvSpPr>
            <p:spPr>
              <a:xfrm>
                <a:off x="0" y="0"/>
                <a:ext cx="5501351" cy="327048"/>
              </a:xfrm>
              <a:prstGeom prst="rect">
                <a:avLst/>
              </a:prstGeom>
            </p:spPr>
            <p:txBody>
              <a:bodyPr lIns="50800" tIns="50800" rIns="50800" bIns="50800" rtlCol="0" anchor="ctr"/>
              <a:lstStyle/>
              <a:p>
                <a:pPr algn="ctr" defTabSz="457200">
                  <a:lnSpc>
                    <a:spcPts val="2880"/>
                  </a:lnSpc>
                </a:pPr>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pPr algn="r">
              <a:buClrTx/>
              <a:buSzTx/>
              <a:buFontTx/>
            </a:pPr>
            <a:fld id="{9A0DB2DC-4C9A-4742-B13C-FB6460FD3503}" type="slidenum">
              <a:rPr lang="en-US" sz="1400" smtClean="0">
                <a:solidFill>
                  <a:srgbClr val="FFC000"/>
                </a:solidFill>
              </a:rPr>
              <a:t>3</a:t>
            </a:fld>
            <a:endParaRPr lang="en-US" sz="1400">
              <a:solidFill>
                <a:srgbClr val="FFC000"/>
              </a:solidFill>
            </a:endParaRPr>
          </a:p>
        </p:txBody>
      </p:sp>
      <p:grpSp>
        <p:nvGrpSpPr>
          <p:cNvPr id="44" name="组合 43"/>
          <p:cNvGrpSpPr/>
          <p:nvPr/>
        </p:nvGrpSpPr>
        <p:grpSpPr>
          <a:xfrm>
            <a:off x="958201" y="56324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defTabSz="457200"/>
              <a:endParaRPr lang="zh-CN" altLang="en-US"/>
            </a:p>
          </p:txBody>
        </p:sp>
        <p:sp>
          <p:nvSpPr>
            <p:cNvPr id="4" name="TextBox 4"/>
            <p:cNvSpPr txBox="1"/>
            <p:nvPr/>
          </p:nvSpPr>
          <p:spPr>
            <a:xfrm>
              <a:off x="0" y="0"/>
              <a:ext cx="2054527" cy="72669"/>
            </a:xfrm>
            <a:prstGeom prst="rect">
              <a:avLst/>
            </a:prstGeom>
          </p:spPr>
          <p:txBody>
            <a:bodyPr lIns="50800" tIns="50800" rIns="50800" bIns="50800" rtlCol="0" anchor="ctr"/>
            <a:lstStyle/>
            <a:p>
              <a:pPr algn="ctr" defTabSz="457200">
                <a:lnSpc>
                  <a:spcPts val="2880"/>
                </a:lnSpc>
              </a:pPr>
              <a:endParaRPr/>
            </a:p>
          </p:txBody>
        </p:sp>
      </p:grpSp>
      <p:sp>
        <p:nvSpPr>
          <p:cNvPr id="29" name="TextBox 29"/>
          <p:cNvSpPr txBox="1"/>
          <p:nvPr/>
        </p:nvSpPr>
        <p:spPr>
          <a:xfrm>
            <a:off x="1734632" y="2324100"/>
            <a:ext cx="14818191" cy="5978525"/>
          </a:xfrm>
          <a:prstGeom prst="rect">
            <a:avLst/>
          </a:prstGeom>
        </p:spPr>
        <p:txBody>
          <a:bodyPr wrap="square" lIns="0" tIns="0" rIns="0" bIns="0" rtlCol="0" anchor="t">
            <a:spAutoFit/>
          </a:bodyPr>
          <a:lstStyle/>
          <a:p>
            <a:pPr indent="914400" algn="just" defTabSz="4572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65J" panose="00020600040101010101" charset="-122"/>
              </a:rPr>
              <a:t>随着国际密码标准制定活动的开展，国内密码学者越来越重视算法的设计与分析。为配合我国无线局域网鉴别和保密基础结构（</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65J" panose="00020600040101010101" charset="-122"/>
              </a:rPr>
              <a:t>Wireless LAN Authentication and Privacy Infrastructure，WAPI）</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65J" panose="00020600040101010101" charset="-122"/>
              </a:rPr>
              <a:t>的推广应用，2006年国家商用密码管理局公开发布我国自主研究设计的商用分组密码算法</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65J" panose="00020600040101010101" charset="-122"/>
              </a:rPr>
              <a:t>SM4（</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65J" panose="00020600040101010101" charset="-122"/>
              </a:rPr>
              <a:t>原名</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65J" panose="00020600040101010101" charset="-122"/>
              </a:rPr>
              <a:t>SMS4）。</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65J" panose="00020600040101010101" charset="-122"/>
              </a:rPr>
              <a:t>随着我国密码算法标准化工作的开展，</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65J" panose="00020600040101010101" charset="-122"/>
              </a:rPr>
              <a:t>SM4</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65J" panose="00020600040101010101" charset="-122"/>
              </a:rPr>
              <a:t>于2012年3月被列入国家密码行业标准（</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65J" panose="00020600040101010101" charset="-122"/>
              </a:rPr>
              <a:t>GM/T0002—2012），</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65J" panose="00020600040101010101" charset="-122"/>
              </a:rPr>
              <a:t>于2016年8月被列入国家标准（</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65J" panose="00020600040101010101" charset="-122"/>
              </a:rPr>
              <a:t>GB/T 32907—2016）。2021</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65J" panose="00020600040101010101" charset="-122"/>
              </a:rPr>
              <a:t>年6月25日，我国</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65J" panose="00020600040101010101" charset="-122"/>
              </a:rPr>
              <a:t>SM4</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65J" panose="00020600040101010101" charset="-122"/>
              </a:rPr>
              <a:t>分组密码算法由国际标准化组织</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65J" panose="00020600040101010101" charset="-122"/>
              </a:rPr>
              <a:t>ISO/IEC</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65J" panose="00020600040101010101" charset="-122"/>
              </a:rPr>
              <a:t>正式发布为国际标准。</a:t>
            </a:r>
          </a:p>
          <a:p>
            <a:pPr indent="914400" algn="just" defTabSz="457200" fontAlgn="auto" latinLnBrk="1">
              <a:lnSpc>
                <a:spcPct val="120000"/>
              </a:lnSpc>
              <a:extLst>
                <a:ext uri="{35155182-B16C-46BC-9424-99874614C6A1}">
                  <wpsdc:indentchars xmlns:wpsdc="http://www.wps.cn/officeDocument/2017/drawingmlCustomData" xmlns=""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65J" panose="00020600040101010101" charset="-122"/>
            </a:endParaRPr>
          </a:p>
        </p:txBody>
      </p:sp>
      <p:sp>
        <p:nvSpPr>
          <p:cNvPr id="30" name="TextBox 30"/>
          <p:cNvSpPr txBox="1"/>
          <p:nvPr/>
        </p:nvSpPr>
        <p:spPr>
          <a:xfrm>
            <a:off x="2210043" y="509179"/>
            <a:ext cx="9458717" cy="717550"/>
          </a:xfrm>
          <a:prstGeom prst="rect">
            <a:avLst/>
          </a:prstGeom>
        </p:spPr>
        <p:txBody>
          <a:bodyPr lIns="0" tIns="0" rIns="0" bIns="0" rtlCol="0" anchor="t">
            <a:spAutoFit/>
          </a:bodyPr>
          <a:lstStyle/>
          <a:p>
            <a:pPr algn="l" defTabSz="457200">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SM4</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分组密码算法</a:t>
            </a:r>
          </a:p>
        </p:txBody>
      </p:sp>
      <p:sp>
        <p:nvSpPr>
          <p:cNvPr id="31" name="TextBox 31"/>
          <p:cNvSpPr txBox="1"/>
          <p:nvPr/>
        </p:nvSpPr>
        <p:spPr>
          <a:xfrm>
            <a:off x="1216848" y="429424"/>
            <a:ext cx="1049507" cy="842645"/>
          </a:xfrm>
          <a:prstGeom prst="rect">
            <a:avLst/>
          </a:prstGeom>
        </p:spPr>
        <p:txBody>
          <a:bodyPr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4.1</a:t>
            </a:r>
          </a:p>
        </p:txBody>
      </p:sp>
      <p:sp>
        <p:nvSpPr>
          <p:cNvPr id="6" name="灯片编号占位符 5"/>
          <p:cNvSpPr>
            <a:spLocks noGrp="1"/>
          </p:cNvSpPr>
          <p:nvPr>
            <p:ph type="sldNum" sz="quarter" idx="12"/>
          </p:nvPr>
        </p:nvSpPr>
        <p:spPr>
          <a:xfrm>
            <a:off x="15206345" y="9263380"/>
            <a:ext cx="2133600" cy="365125"/>
          </a:xfrm>
        </p:spPr>
        <p:txBody>
          <a:bodyPr/>
          <a:lstStyle/>
          <a:p>
            <a:fld id="{9A0DB2DC-4C9A-4742-B13C-FB6460FD3503}" type="slidenum">
              <a:rPr lang="en-US" sz="1400" smtClean="0">
                <a:solidFill>
                  <a:srgbClr val="FFC000"/>
                </a:solidFill>
              </a:rPr>
              <a:t>4</a:t>
            </a:fld>
            <a:endParaRPr lang="en-US" sz="1400">
              <a:solidFill>
                <a:srgbClr val="FFC000"/>
              </a:solidFill>
            </a:endParaRPr>
          </a:p>
        </p:txBody>
      </p:sp>
      <p:pic>
        <p:nvPicPr>
          <p:cNvPr id="7" name="图片 2"/>
          <p:cNvPicPr>
            <a:picLocks noChangeAspect="1"/>
          </p:cNvPicPr>
          <p:nvPr/>
        </p:nvPicPr>
        <p:blipFill>
          <a:blip r:embed="rId3">
            <a:alphaModFix amt="80000"/>
          </a:blip>
          <a:stretch>
            <a:fillRect/>
          </a:stretch>
        </p:blipFill>
        <p:spPr>
          <a:xfrm>
            <a:off x="765175"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defTabSz="457200"/>
              <a:endParaRPr lang="zh-CN" altLang="en-US"/>
            </a:p>
          </p:txBody>
        </p:sp>
        <p:sp>
          <p:nvSpPr>
            <p:cNvPr id="4" name="TextBox 4"/>
            <p:cNvSpPr txBox="1"/>
            <p:nvPr/>
          </p:nvSpPr>
          <p:spPr>
            <a:xfrm>
              <a:off x="0" y="0"/>
              <a:ext cx="2054527" cy="72669"/>
            </a:xfrm>
            <a:prstGeom prst="rect">
              <a:avLst/>
            </a:prstGeom>
          </p:spPr>
          <p:txBody>
            <a:bodyPr lIns="50800" tIns="50800" rIns="50800" bIns="50800" rtlCol="0" anchor="ctr"/>
            <a:lstStyle/>
            <a:p>
              <a:pPr algn="ctr" defTabSz="457200">
                <a:lnSpc>
                  <a:spcPts val="2880"/>
                </a:lnSpc>
              </a:pPr>
              <a:endParaRPr/>
            </a:p>
          </p:txBody>
        </p:sp>
      </p:grpSp>
      <p:sp>
        <p:nvSpPr>
          <p:cNvPr id="29" name="TextBox 29"/>
          <p:cNvSpPr txBox="1"/>
          <p:nvPr/>
        </p:nvSpPr>
        <p:spPr>
          <a:xfrm>
            <a:off x="1734632" y="2324100"/>
            <a:ext cx="14818191" cy="3985260"/>
          </a:xfrm>
          <a:prstGeom prst="rect">
            <a:avLst/>
          </a:prstGeom>
        </p:spPr>
        <p:txBody>
          <a:bodyPr wrap="square" lIns="0" tIns="0" rIns="0" bIns="0" rtlCol="0" anchor="t">
            <a:spAutoFit/>
          </a:bodyPr>
          <a:lstStyle/>
          <a:p>
            <a:pPr indent="914400" algn="just" defTabSz="457200" fontAlgn="auto" latinLnBrk="1">
              <a:lnSpc>
                <a:spcPct val="120000"/>
              </a:lnSpc>
              <a:extLst>
                <a:ext uri="{35155182-B16C-46BC-9424-99874614C6A1}">
                  <wpsdc:indentchars xmlns:wpsdc="http://www.wps.cn/officeDocument/2017/drawingmlCustomData" xmlns=""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65J" panose="00020600040101010101" charset="-122"/>
              </a:rPr>
              <a:t>SM4</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65J" panose="00020600040101010101" charset="-122"/>
              </a:rPr>
              <a:t>分组密码算法是一种迭代分组密码算法，采用非平衡</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65J" panose="00020600040101010101" charset="-122"/>
              </a:rPr>
              <a:t>Feistel</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65J" panose="00020600040101010101" charset="-122"/>
              </a:rPr>
              <a:t>结构，分组长度为128</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65J" panose="00020600040101010101" charset="-122"/>
              </a:rPr>
              <a:t>bit，</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65J" panose="00020600040101010101" charset="-122"/>
              </a:rPr>
              <a:t>密钥长度为128</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65J" panose="00020600040101010101" charset="-122"/>
              </a:rPr>
              <a:t>bit。</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65J" panose="00020600040101010101" charset="-122"/>
              </a:rPr>
              <a:t>该算法由初始变量算法和密钥扩展算法组成，都采用32轮非线性迭代结构。解密算法与加密算法的结构相同，只是轮密钥的使用顺序相反，解密轮密钥是加密轮密钥的逆序。</a:t>
            </a:r>
            <a:r>
              <a:rPr lang="en-US" altLang="zh-CN"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65J" panose="00020600040101010101" charset="-122"/>
              </a:rPr>
              <a:t>SM4</a:t>
            </a:r>
            <a:r>
              <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65J" panose="00020600040101010101" charset="-122"/>
              </a:rPr>
              <a:t>分组密码算法可以抵抗穷举攻击、差分攻击、线性攻击等攻击手段。</a:t>
            </a:r>
          </a:p>
          <a:p>
            <a:pPr indent="914400" algn="just" defTabSz="457200" fontAlgn="auto" latinLnBrk="1">
              <a:lnSpc>
                <a:spcPct val="120000"/>
              </a:lnSpc>
              <a:extLst>
                <a:ext uri="{35155182-B16C-46BC-9424-99874614C6A1}">
                  <wpsdc:indentchars xmlns:wpsdc="http://www.wps.cn/officeDocument/2017/drawingmlCustomData" xmlns=""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字由点字典黑 65J" panose="00020600040101010101" charset="-122"/>
            </a:endParaRPr>
          </a:p>
        </p:txBody>
      </p:sp>
      <p:sp>
        <p:nvSpPr>
          <p:cNvPr id="30" name="TextBox 30"/>
          <p:cNvSpPr txBox="1"/>
          <p:nvPr/>
        </p:nvSpPr>
        <p:spPr>
          <a:xfrm>
            <a:off x="2210043" y="509179"/>
            <a:ext cx="9458717" cy="717550"/>
          </a:xfrm>
          <a:prstGeom prst="rect">
            <a:avLst/>
          </a:prstGeom>
        </p:spPr>
        <p:txBody>
          <a:bodyPr lIns="0" tIns="0" rIns="0" bIns="0" rtlCol="0" anchor="t">
            <a:spAutoFit/>
          </a:bodyPr>
          <a:lstStyle/>
          <a:p>
            <a:pPr algn="l" defTabSz="457200">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SM4</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分组密码算法</a:t>
            </a:r>
          </a:p>
        </p:txBody>
      </p:sp>
      <p:sp>
        <p:nvSpPr>
          <p:cNvPr id="31" name="TextBox 31"/>
          <p:cNvSpPr txBox="1"/>
          <p:nvPr/>
        </p:nvSpPr>
        <p:spPr>
          <a:xfrm>
            <a:off x="1216848" y="429424"/>
            <a:ext cx="1049507" cy="842645"/>
          </a:xfrm>
          <a:prstGeom prst="rect">
            <a:avLst/>
          </a:prstGeom>
        </p:spPr>
        <p:txBody>
          <a:bodyPr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4.1</a:t>
            </a:r>
          </a:p>
        </p:txBody>
      </p:sp>
      <p:sp>
        <p:nvSpPr>
          <p:cNvPr id="6" name="灯片编号占位符 5"/>
          <p:cNvSpPr>
            <a:spLocks noGrp="1"/>
          </p:cNvSpPr>
          <p:nvPr>
            <p:ph type="sldNum" sz="quarter" idx="12"/>
          </p:nvPr>
        </p:nvSpPr>
        <p:spPr>
          <a:xfrm>
            <a:off x="15206345" y="9263380"/>
            <a:ext cx="2133600" cy="365125"/>
          </a:xfrm>
        </p:spPr>
        <p:txBody>
          <a:bodyPr/>
          <a:lstStyle/>
          <a:p>
            <a:pPr algn="r">
              <a:buClrTx/>
              <a:buSzTx/>
              <a:buFontTx/>
            </a:pPr>
            <a:fld id="{9A0DB2DC-4C9A-4742-B13C-FB6460FD3503}" type="slidenum">
              <a:rPr lang="en-US" sz="1400" smtClean="0">
                <a:solidFill>
                  <a:srgbClr val="FFC000"/>
                </a:solidFill>
              </a:rPr>
              <a:t>5</a:t>
            </a:fld>
            <a:endParaRPr lang="en-US" sz="1400">
              <a:solidFill>
                <a:srgbClr val="FFC000"/>
              </a:solidFill>
            </a:endParaRPr>
          </a:p>
        </p:txBody>
      </p:sp>
      <p:pic>
        <p:nvPicPr>
          <p:cNvPr id="7" name="图片 2"/>
          <p:cNvPicPr>
            <a:picLocks noChangeAspect="1"/>
          </p:cNvPicPr>
          <p:nvPr/>
        </p:nvPicPr>
        <p:blipFill>
          <a:blip r:embed="rId2">
            <a:alphaModFix amt="80000"/>
          </a:blip>
          <a:stretch>
            <a:fillRect/>
          </a:stretch>
        </p:blipFill>
        <p:spPr>
          <a:xfrm>
            <a:off x="765175"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1371600" y="1691640"/>
                <a:ext cx="15727680" cy="4533900"/>
              </a:xfrm>
              <a:prstGeom prst="rect">
                <a:avLst/>
              </a:prstGeom>
              <a:noFill/>
            </p:spPr>
            <p:txBody>
              <a:bodyPr wrap="square">
                <a:spAutoFit/>
              </a:bodyPr>
              <a:lstStyle/>
              <a:p>
                <a:pPr defTabSz="457200">
                  <a:lnSpc>
                    <a:spcPct val="140000"/>
                  </a:lnSpc>
                  <a:spcAft>
                    <a:spcPts val="1000"/>
                  </a:spcAft>
                  <a:defRPr sz="2100" b="0">
                    <a:solidFill>
                      <a:srgbClr val="000000"/>
                    </a:solidFill>
                    <a:latin typeface="Times New Roman" panose="02020603050405020304"/>
                  </a:defRPr>
                </a:pPr>
                <a:r>
                  <a:rPr sz="3600" b="1">
                    <a:latin typeface="Times New Roman" panose="02020603050405020304" pitchFamily="18" charset="0"/>
                    <a:ea typeface="宋体" panose="02010600030101010101" pitchFamily="2" charset="-122"/>
                    <a:cs typeface="Times New Roman" panose="02020603050405020304" pitchFamily="18" charset="0"/>
                  </a:rPr>
                  <a:t>1.字与字节</a:t>
                </a:r>
              </a:p>
              <a:p>
                <a:pPr defTabSz="457200">
                  <a:lnSpc>
                    <a:spcPct val="140000"/>
                  </a:lnSpc>
                  <a:spcAft>
                    <a:spcPts val="1000"/>
                  </a:spcAft>
                  <a:defRPr sz="2100" b="0">
                    <a:solidFill>
                      <a:srgbClr val="000000"/>
                    </a:solidFill>
                    <a:latin typeface="Times New Roman" panose="02020603050405020304"/>
                  </a:defRPr>
                </a:pPr>
                <a:r>
                  <a:rPr sz="3600">
                    <a:latin typeface="Times New Roman" panose="02020603050405020304" pitchFamily="18" charset="0"/>
                    <a:ea typeface="宋体" panose="02010600030101010101" pitchFamily="2" charset="-122"/>
                    <a:cs typeface="Times New Roman" panose="02020603050405020304" pitchFamily="18" charset="0"/>
                  </a:rPr>
                  <a:t>用 </a:t>
                </a:r>
                <a14:m>
                  <m:oMath xmlns:m="http://schemas.openxmlformats.org/officeDocument/2006/math">
                    <m:sSubSup>
                      <m:sSubSupPr>
                        <m:ctrlPr>
                          <a:rPr lang="en-US" sz="3600" i="1">
                            <a:latin typeface="Cambria Math" panose="02040503050406030204" charset="0"/>
                            <a:ea typeface="宋体" panose="02010600030101010101" pitchFamily="2" charset="-122"/>
                            <a:cs typeface="Cambria Math" panose="02040503050406030204" charset="0"/>
                          </a:rPr>
                        </m:ctrlPr>
                      </m:sSubSupPr>
                      <m:e>
                        <m:r>
                          <a:rPr lang="en-US" sz="3600" i="1">
                            <a:latin typeface="Cambria Math" panose="02040503050406030204" charset="0"/>
                            <a:ea typeface="宋体" panose="02010600030101010101" pitchFamily="2" charset="-122"/>
                            <a:cs typeface="Cambria Math" panose="02040503050406030204" charset="0"/>
                          </a:rPr>
                          <m:t>𝑍</m:t>
                        </m:r>
                      </m:e>
                      <m:sub>
                        <m:r>
                          <a:rPr lang="en-US" sz="3600" i="1">
                            <a:latin typeface="Cambria Math" panose="02040503050406030204" charset="0"/>
                            <a:ea typeface="MS Mincho" charset="0"/>
                            <a:cs typeface="Cambria Math" panose="02040503050406030204" charset="0"/>
                          </a:rPr>
                          <m:t>2</m:t>
                        </m:r>
                      </m:sub>
                      <m:sup>
                        <m:r>
                          <a:rPr lang="en-US" sz="3600" i="1">
                            <a:latin typeface="Cambria Math" panose="02040503050406030204" charset="0"/>
                            <a:ea typeface="宋体" panose="02010600030101010101" pitchFamily="2" charset="-122"/>
                            <a:cs typeface="Cambria Math" panose="02040503050406030204" charset="0"/>
                          </a:rPr>
                          <m:t>𝑒</m:t>
                        </m:r>
                      </m:sup>
                    </m:sSubSup>
                  </m:oMath>
                </a14:m>
                <a:r>
                  <a:rPr lang="en-US" sz="3600" i="1">
                    <a:latin typeface="Times New Roman" panose="02020603050405020304" pitchFamily="18" charset="0"/>
                    <a:ea typeface="宋体" panose="02010600030101010101" pitchFamily="2" charset="-122"/>
                    <a:cs typeface="Times New Roman" panose="02020603050405020304" pitchFamily="18" charset="0"/>
                  </a:rPr>
                  <a:t> </a:t>
                </a:r>
                <a:r>
                  <a:rPr sz="3600">
                    <a:latin typeface="Times New Roman" panose="02020603050405020304" pitchFamily="18" charset="0"/>
                    <a:ea typeface="宋体" panose="02010600030101010101" pitchFamily="2" charset="-122"/>
                    <a:cs typeface="Times New Roman" panose="02020603050405020304" pitchFamily="18" charset="0"/>
                  </a:rPr>
                  <a:t>表示 e-比特的向量集，</a:t>
                </a:r>
                <a14:m>
                  <m:oMath xmlns:m="http://schemas.openxmlformats.org/officeDocument/2006/math">
                    <m:sSubSup>
                      <m:sSubSupPr>
                        <m:ctrlPr>
                          <a:rPr lang="en-US" sz="3600" i="1">
                            <a:latin typeface="Cambria Math" panose="02040503050406030204" charset="0"/>
                            <a:ea typeface="宋体" panose="02010600030101010101" pitchFamily="2" charset="-122"/>
                            <a:cs typeface="Cambria Math" panose="02040503050406030204" charset="0"/>
                          </a:rPr>
                        </m:ctrlPr>
                      </m:sSubSupPr>
                      <m:e>
                        <m:r>
                          <a:rPr lang="en-US" sz="3600" i="1">
                            <a:latin typeface="Cambria Math" panose="02040503050406030204" charset="0"/>
                            <a:ea typeface="宋体" panose="02010600030101010101" pitchFamily="2" charset="-122"/>
                            <a:cs typeface="Cambria Math" panose="02040503050406030204" charset="0"/>
                          </a:rPr>
                          <m:t>𝑍</m:t>
                        </m:r>
                      </m:e>
                      <m:sub>
                        <m:r>
                          <a:rPr lang="en-US" sz="3600" i="1">
                            <a:latin typeface="Cambria Math" panose="02040503050406030204" charset="0"/>
                            <a:ea typeface="MS Mincho" charset="0"/>
                            <a:cs typeface="Cambria Math" panose="02040503050406030204" charset="0"/>
                          </a:rPr>
                          <m:t>2</m:t>
                        </m:r>
                      </m:sub>
                      <m:sup>
                        <m:r>
                          <a:rPr lang="en-US" sz="3600" i="1">
                            <a:latin typeface="Cambria Math" panose="02040503050406030204" charset="0"/>
                            <a:ea typeface="MS Mincho" charset="0"/>
                            <a:cs typeface="Cambria Math" panose="02040503050406030204" charset="0"/>
                          </a:rPr>
                          <m:t>32</m:t>
                        </m:r>
                      </m:sup>
                    </m:sSubSup>
                  </m:oMath>
                </a14:m>
                <a:r>
                  <a:rPr sz="3600">
                    <a:latin typeface="Times New Roman" panose="02020603050405020304" pitchFamily="18" charset="0"/>
                    <a:ea typeface="宋体" panose="02010600030101010101" pitchFamily="2" charset="-122"/>
                    <a:cs typeface="Times New Roman" panose="02020603050405020304" pitchFamily="18" charset="0"/>
                  </a:rPr>
                  <a:t> 中的元素称为字，</a:t>
                </a:r>
                <a14:m>
                  <m:oMath xmlns:m="http://schemas.openxmlformats.org/officeDocument/2006/math">
                    <m:sSubSup>
                      <m:sSubSupPr>
                        <m:ctrlPr>
                          <a:rPr lang="en-US" sz="3600" i="1">
                            <a:latin typeface="Cambria Math" panose="02040503050406030204" charset="0"/>
                            <a:ea typeface="宋体" panose="02010600030101010101" pitchFamily="2" charset="-122"/>
                            <a:cs typeface="Cambria Math" panose="02040503050406030204" charset="0"/>
                          </a:rPr>
                        </m:ctrlPr>
                      </m:sSubSupPr>
                      <m:e>
                        <m:r>
                          <a:rPr lang="en-US" sz="3600" i="1">
                            <a:latin typeface="Cambria Math" panose="02040503050406030204" charset="0"/>
                            <a:ea typeface="宋体" panose="02010600030101010101" pitchFamily="2" charset="-122"/>
                            <a:cs typeface="Cambria Math" panose="02040503050406030204" charset="0"/>
                          </a:rPr>
                          <m:t>𝑍</m:t>
                        </m:r>
                      </m:e>
                      <m:sub>
                        <m:r>
                          <a:rPr lang="en-US" sz="3600" i="1">
                            <a:latin typeface="Cambria Math" panose="02040503050406030204" charset="0"/>
                            <a:ea typeface="MS Mincho" charset="0"/>
                            <a:cs typeface="Cambria Math" panose="02040503050406030204" charset="0"/>
                          </a:rPr>
                          <m:t>2</m:t>
                        </m:r>
                      </m:sub>
                      <m:sup>
                        <m:r>
                          <a:rPr lang="en-US" sz="3600" i="1">
                            <a:latin typeface="Cambria Math" panose="02040503050406030204" charset="0"/>
                            <a:ea typeface="MS Mincho" charset="0"/>
                            <a:cs typeface="Cambria Math" panose="02040503050406030204" charset="0"/>
                          </a:rPr>
                          <m:t>8</m:t>
                        </m:r>
                      </m:sup>
                    </m:sSubSup>
                  </m:oMath>
                </a14:m>
                <a:r>
                  <a:rPr sz="3600">
                    <a:latin typeface="Times New Roman" panose="02020603050405020304" pitchFamily="18" charset="0"/>
                    <a:ea typeface="宋体" panose="02010600030101010101" pitchFamily="2" charset="-122"/>
                    <a:cs typeface="Times New Roman" panose="02020603050405020304" pitchFamily="18" charset="0"/>
                  </a:rPr>
                  <a:t> 中的元素称为字节。</a:t>
                </a:r>
              </a:p>
              <a:p>
                <a:pPr defTabSz="457200">
                  <a:lnSpc>
                    <a:spcPct val="140000"/>
                  </a:lnSpc>
                  <a:spcAft>
                    <a:spcPts val="1000"/>
                  </a:spcAft>
                  <a:defRPr sz="2100" b="0">
                    <a:solidFill>
                      <a:srgbClr val="000000"/>
                    </a:solidFill>
                    <a:latin typeface="Times New Roman" panose="02020603050405020304"/>
                  </a:defRPr>
                </a:pPr>
                <a:endParaRPr sz="3600">
                  <a:latin typeface="Times New Roman" panose="02020603050405020304" pitchFamily="18" charset="0"/>
                  <a:ea typeface="宋体" panose="02010600030101010101" pitchFamily="2" charset="-122"/>
                  <a:cs typeface="Times New Roman" panose="02020603050405020304" pitchFamily="18" charset="0"/>
                </a:endParaRPr>
              </a:p>
              <a:p>
                <a:pPr defTabSz="457200">
                  <a:lnSpc>
                    <a:spcPct val="140000"/>
                  </a:lnSpc>
                  <a:spcAft>
                    <a:spcPts val="1000"/>
                  </a:spcAft>
                  <a:defRPr sz="2100" b="0">
                    <a:solidFill>
                      <a:srgbClr val="000000"/>
                    </a:solidFill>
                    <a:latin typeface="Times New Roman" panose="02020603050405020304"/>
                  </a:defRPr>
                </a:pPr>
                <a:r>
                  <a:rPr sz="3600" b="1">
                    <a:latin typeface="Times New Roman" panose="02020603050405020304" pitchFamily="18" charset="0"/>
                    <a:ea typeface="宋体" panose="02010600030101010101" pitchFamily="2" charset="-122"/>
                    <a:cs typeface="Times New Roman" panose="02020603050405020304" pitchFamily="18" charset="0"/>
                  </a:rPr>
                  <a:t>2．S盒</a:t>
                </a:r>
              </a:p>
              <a:p>
                <a:pPr defTabSz="457200">
                  <a:lnSpc>
                    <a:spcPct val="140000"/>
                  </a:lnSpc>
                  <a:spcAft>
                    <a:spcPts val="1000"/>
                  </a:spcAft>
                  <a:defRPr sz="2100" b="0">
                    <a:solidFill>
                      <a:srgbClr val="000000"/>
                    </a:solidFill>
                    <a:latin typeface="Times New Roman" panose="02020603050405020304"/>
                  </a:defRPr>
                </a:pPr>
                <a:r>
                  <a:rPr sz="3600">
                    <a:latin typeface="Times New Roman" panose="02020603050405020304" pitchFamily="18" charset="0"/>
                    <a:ea typeface="宋体" panose="02010600030101010101" pitchFamily="2" charset="-122"/>
                    <a:cs typeface="Times New Roman" panose="02020603050405020304" pitchFamily="18" charset="0"/>
                  </a:rPr>
                  <a:t>S盒为固定的8bit输入8bit输出的置换，记为 Sbox( )。</a:t>
                </a:r>
              </a:p>
            </p:txBody>
          </p:sp>
        </mc:Choice>
        <mc:Fallback xmlns="">
          <p:sp>
            <p:nvSpPr>
              <p:cNvPr id="5" name="TextBox 4"/>
              <p:cNvSpPr txBox="1">
                <a:spLocks noRot="1" noChangeAspect="1" noMove="1" noResize="1" noEditPoints="1" noAdjustHandles="1" noChangeArrowheads="1" noChangeShapeType="1" noTextEdit="1"/>
              </p:cNvSpPr>
              <p:nvPr/>
            </p:nvSpPr>
            <p:spPr>
              <a:xfrm>
                <a:off x="1371600" y="1691640"/>
                <a:ext cx="15727680" cy="4533900"/>
              </a:xfrm>
              <a:prstGeom prst="rect">
                <a:avLst/>
              </a:prstGeom>
              <a:blipFill rotWithShape="1">
                <a:blip r:embed="rId2"/>
                <a:stretch>
                  <a:fillRect/>
                </a:stretch>
              </a:blipFill>
            </p:spPr>
            <p:txBody>
              <a:bodyPr/>
              <a:lstStyle/>
              <a:p>
                <a:r>
                  <a:rPr lang="zh-CN" altLang="en-US">
                    <a:noFill/>
                  </a:rPr>
                  <a:t> </a:t>
                </a:r>
              </a:p>
            </p:txBody>
          </p:sp>
        </mc:Fallback>
      </mc:AlternateContent>
      <p:sp>
        <p:nvSpPr>
          <p:cNvPr id="6" name="TextBox 5"/>
          <p:cNvSpPr txBox="1"/>
          <p:nvPr/>
        </p:nvSpPr>
        <p:spPr>
          <a:xfrm>
            <a:off x="17123537" y="9409176"/>
            <a:ext cx="273050" cy="306705"/>
          </a:xfrm>
          <a:prstGeom prst="rect">
            <a:avLst/>
          </a:prstGeom>
          <a:noFill/>
        </p:spPr>
        <p:txBody>
          <a:bodyPr wrap="none">
            <a:spAutoFit/>
          </a:bodyPr>
          <a:lstStyle/>
          <a:p>
            <a:pPr algn="r" defTabSz="457200">
              <a:buClrTx/>
              <a:buSzTx/>
              <a:buFontTx/>
            </a:pPr>
            <a:r>
              <a:rPr lang="en-US" sz="1400">
                <a:solidFill>
                  <a:srgbClr val="FFC000"/>
                </a:solidFill>
              </a:rPr>
              <a:t>6</a:t>
            </a:r>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3"/>
            <a:stretch>
              <a:fillRect/>
            </a:stretch>
          </p:blipFill>
          <p:spPr>
            <a:xfrm>
              <a:off x="13944600" y="877286"/>
              <a:ext cx="2771429" cy="47619"/>
            </a:xfrm>
            <a:prstGeom prst="rect">
              <a:avLst/>
            </a:prstGeom>
          </p:spPr>
        </p:pic>
      </p:grpSp>
      <p:sp>
        <p:nvSpPr>
          <p:cNvPr id="11"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术语说明</a:t>
            </a:r>
          </a:p>
        </p:txBody>
      </p:sp>
      <p:sp>
        <p:nvSpPr>
          <p:cNvPr id="12"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4.1.1</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4">
            <a:alphaModFix amt="80000"/>
          </a:blip>
          <a:stretch>
            <a:fillRect/>
          </a:stretch>
        </p:blipFill>
        <p:spPr>
          <a:xfrm>
            <a:off x="674370"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1371600" y="1386205"/>
                <a:ext cx="16278225" cy="7837805"/>
              </a:xfrm>
              <a:prstGeom prst="rect">
                <a:avLst/>
              </a:prstGeom>
              <a:noFill/>
            </p:spPr>
            <p:txBody>
              <a:bodyPr wrap="square">
                <a:spAutoFit/>
              </a:bodyPr>
              <a:lstStyle/>
              <a:p>
                <a:pPr defTabSz="457200">
                  <a:lnSpc>
                    <a:spcPct val="140000"/>
                  </a:lnSpc>
                  <a:spcAft>
                    <a:spcPts val="1000"/>
                  </a:spcAft>
                  <a:defRPr sz="2100" b="0">
                    <a:solidFill>
                      <a:srgbClr val="000000"/>
                    </a:solidFill>
                    <a:latin typeface="Times New Roman" panose="02020603050405020304"/>
                  </a:defRPr>
                </a:pPr>
                <a:r>
                  <a:rPr sz="3600" b="1">
                    <a:latin typeface="Times New Roman" panose="02020603050405020304" pitchFamily="18" charset="0"/>
                    <a:ea typeface="宋体" panose="02010600030101010101" pitchFamily="2" charset="-122"/>
                    <a:cs typeface="Times New Roman" panose="02020603050405020304" pitchFamily="18" charset="0"/>
                  </a:rPr>
                  <a:t>3.基本运算</a:t>
                </a:r>
              </a:p>
              <a:p>
                <a:pPr defTabSz="457200">
                  <a:lnSpc>
                    <a:spcPct val="140000"/>
                  </a:lnSpc>
                  <a:spcAft>
                    <a:spcPts val="1000"/>
                  </a:spcAft>
                  <a:defRPr sz="2100" b="0">
                    <a:solidFill>
                      <a:srgbClr val="000000"/>
                    </a:solidFill>
                    <a:latin typeface="Times New Roman" panose="02020603050405020304"/>
                  </a:defRPr>
                </a:pPr>
                <a14:m>
                  <m:oMath xmlns:m="http://schemas.openxmlformats.org/officeDocument/2006/math">
                    <m:r>
                      <a:rPr lang="en-US" altLang="zh-CN" sz="3600" i="1">
                        <a:latin typeface="Cambria Math" panose="02040503050406030204" charset="0"/>
                        <a:ea typeface="MS Mincho" charset="0"/>
                        <a:cs typeface="Cambria Math" panose="02040503050406030204" charset="0"/>
                      </a:rPr>
                      <m:t>⊕</m:t>
                    </m:r>
                  </m:oMath>
                </a14:m>
                <a:r>
                  <a:rPr sz="3600">
                    <a:latin typeface="Times New Roman" panose="02020603050405020304" pitchFamily="18" charset="0"/>
                    <a:ea typeface="宋体" panose="02010600030101010101" pitchFamily="2" charset="-122"/>
                    <a:cs typeface="Times New Roman" panose="02020603050405020304" pitchFamily="18" charset="0"/>
                  </a:rPr>
                  <a:t>：2bit异或；</a:t>
                </a:r>
              </a:p>
              <a:p>
                <a:pPr defTabSz="457200">
                  <a:lnSpc>
                    <a:spcPct val="140000"/>
                  </a:lnSpc>
                  <a:spcAft>
                    <a:spcPts val="1000"/>
                  </a:spcAft>
                  <a:defRPr sz="2100" b="0">
                    <a:solidFill>
                      <a:srgbClr val="000000"/>
                    </a:solidFill>
                    <a:latin typeface="Times New Roman" panose="02020603050405020304"/>
                  </a:defRPr>
                </a:pPr>
                <a:r>
                  <a:rPr sz="3600">
                    <a:latin typeface="Times New Roman" panose="02020603050405020304" pitchFamily="18" charset="0"/>
                    <a:ea typeface="宋体" panose="02010600030101010101" pitchFamily="2" charset="-122"/>
                    <a:cs typeface="Times New Roman" panose="02020603050405020304" pitchFamily="18" charset="0"/>
                  </a:rPr>
                  <a:t>&lt;&lt;&lt;i：32bit循环左移i位。</a:t>
                </a:r>
              </a:p>
              <a:p>
                <a:pPr defTabSz="457200">
                  <a:lnSpc>
                    <a:spcPct val="140000"/>
                  </a:lnSpc>
                  <a:spcAft>
                    <a:spcPts val="1000"/>
                  </a:spcAft>
                  <a:defRPr sz="2100" b="0">
                    <a:solidFill>
                      <a:srgbClr val="000000"/>
                    </a:solidFill>
                    <a:latin typeface="Times New Roman" panose="02020603050405020304"/>
                  </a:defRPr>
                </a:pPr>
                <a:r>
                  <a:rPr sz="3600" b="1">
                    <a:latin typeface="Times New Roman" panose="02020603050405020304" pitchFamily="18" charset="0"/>
                    <a:ea typeface="宋体" panose="02010600030101010101" pitchFamily="2" charset="-122"/>
                    <a:cs typeface="Times New Roman" panose="02020603050405020304" pitchFamily="18" charset="0"/>
                  </a:rPr>
                  <a:t>4.密钥及密钥参量</a:t>
                </a:r>
              </a:p>
              <a:p>
                <a:pPr defTabSz="457200">
                  <a:lnSpc>
                    <a:spcPct val="140000"/>
                  </a:lnSpc>
                  <a:spcAft>
                    <a:spcPts val="1000"/>
                  </a:spcAft>
                  <a:defRPr sz="2100" b="0">
                    <a:solidFill>
                      <a:srgbClr val="000000"/>
                    </a:solidFill>
                    <a:latin typeface="Times New Roman" panose="02020603050405020304"/>
                  </a:defRPr>
                </a:pPr>
                <a:r>
                  <a:rPr sz="3600">
                    <a:latin typeface="Times New Roman" panose="02020603050405020304" pitchFamily="18" charset="0"/>
                    <a:ea typeface="宋体" panose="02010600030101010101" pitchFamily="2" charset="-122"/>
                    <a:cs typeface="Times New Roman" panose="02020603050405020304" pitchFamily="18" charset="0"/>
                  </a:rPr>
                  <a:t>SM4分组密码算法的加密密钥长度是128bit，表示为 MK = (MK₀, MK₁, MK₂, MK₃)，其中 MKᵢ (i=0,1,2,3) 为字。</a:t>
                </a:r>
              </a:p>
              <a:p>
                <a:pPr defTabSz="457200">
                  <a:lnSpc>
                    <a:spcPct val="140000"/>
                  </a:lnSpc>
                  <a:spcAft>
                    <a:spcPts val="1000"/>
                  </a:spcAft>
                  <a:defRPr sz="2100" b="0">
                    <a:solidFill>
                      <a:srgbClr val="000000"/>
                    </a:solidFill>
                    <a:latin typeface="Times New Roman" panose="02020603050405020304"/>
                  </a:defRPr>
                </a:pPr>
                <a:r>
                  <a:rPr sz="3600">
                    <a:latin typeface="Times New Roman" panose="02020603050405020304" pitchFamily="18" charset="0"/>
                    <a:ea typeface="宋体" panose="02010600030101010101" pitchFamily="2" charset="-122"/>
                    <a:cs typeface="Times New Roman" panose="02020603050405020304" pitchFamily="18" charset="0"/>
                  </a:rPr>
                  <a:t>轮密钥表示为 (rk₀, rk₁, ..., rk₃₁)，其中 rkᵢ (i=0,...,31) 为字，轮密钥由加密密钥生成。</a:t>
                </a:r>
              </a:p>
              <a:p>
                <a:pPr defTabSz="457200">
                  <a:lnSpc>
                    <a:spcPct val="140000"/>
                  </a:lnSpc>
                  <a:spcAft>
                    <a:spcPts val="1000"/>
                  </a:spcAft>
                  <a:defRPr sz="2100" b="0">
                    <a:solidFill>
                      <a:srgbClr val="000000"/>
                    </a:solidFill>
                    <a:latin typeface="Times New Roman" panose="02020603050405020304"/>
                  </a:defRPr>
                </a:pPr>
                <a:r>
                  <a:rPr sz="3600">
                    <a:latin typeface="Times New Roman" panose="02020603050405020304" pitchFamily="18" charset="0"/>
                    <a:ea typeface="宋体" panose="02010600030101010101" pitchFamily="2" charset="-122"/>
                    <a:cs typeface="Times New Roman" panose="02020603050405020304" pitchFamily="18" charset="0"/>
                  </a:rPr>
                  <a:t>FK = (FK₀, FK₁, FK₂, FK₃) 为系统参数，CK = (CK₀, CK₁, ..., CK₃₁) 为固定参数，用于密钥扩展算法，其中 FKᵢ、CKᵢ 为字。</a:t>
                </a:r>
              </a:p>
            </p:txBody>
          </p:sp>
        </mc:Choice>
        <mc:Fallback xmlns="">
          <p:sp>
            <p:nvSpPr>
              <p:cNvPr id="5" name="TextBox 4"/>
              <p:cNvSpPr txBox="1">
                <a:spLocks noRot="1" noChangeAspect="1" noMove="1" noResize="1" noEditPoints="1" noAdjustHandles="1" noChangeArrowheads="1" noChangeShapeType="1" noTextEdit="1"/>
              </p:cNvSpPr>
              <p:nvPr/>
            </p:nvSpPr>
            <p:spPr>
              <a:xfrm>
                <a:off x="1371600" y="1386205"/>
                <a:ext cx="16278225" cy="7837805"/>
              </a:xfrm>
              <a:prstGeom prst="rect">
                <a:avLst/>
              </a:prstGeom>
              <a:blipFill rotWithShape="1">
                <a:blip r:embed="rId2"/>
                <a:stretch>
                  <a:fillRect r="-1315"/>
                </a:stretch>
              </a:blipFill>
            </p:spPr>
            <p:txBody>
              <a:bodyPr/>
              <a:lstStyle/>
              <a:p>
                <a:r>
                  <a:rPr lang="zh-CN" altLang="en-US">
                    <a:noFill/>
                  </a:rPr>
                  <a:t> </a:t>
                </a:r>
              </a:p>
            </p:txBody>
          </p:sp>
        </mc:Fallback>
      </mc:AlternateContent>
      <p:sp>
        <p:nvSpPr>
          <p:cNvPr id="6" name="TextBox 5"/>
          <p:cNvSpPr txBox="1"/>
          <p:nvPr/>
        </p:nvSpPr>
        <p:spPr>
          <a:xfrm>
            <a:off x="17105122" y="9409176"/>
            <a:ext cx="273050" cy="306705"/>
          </a:xfrm>
          <a:prstGeom prst="rect">
            <a:avLst/>
          </a:prstGeom>
          <a:noFill/>
        </p:spPr>
        <p:txBody>
          <a:bodyPr wrap="none">
            <a:spAutoFit/>
          </a:bodyPr>
          <a:lstStyle/>
          <a:p>
            <a:pPr algn="r" defTabSz="457200">
              <a:buClrTx/>
              <a:buSzTx/>
              <a:buFontTx/>
            </a:pPr>
            <a:r>
              <a:rPr lang="en-US" sz="1400">
                <a:solidFill>
                  <a:srgbClr val="FFC000"/>
                </a:solidFill>
              </a:rPr>
              <a:t>7</a:t>
            </a:r>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3"/>
            <a:stretch>
              <a:fillRect/>
            </a:stretch>
          </p:blipFill>
          <p:spPr>
            <a:xfrm>
              <a:off x="13944600" y="877286"/>
              <a:ext cx="2771429" cy="47619"/>
            </a:xfrm>
            <a:prstGeom prst="rect">
              <a:avLst/>
            </a:prstGeom>
          </p:spPr>
        </p:pic>
      </p:grpSp>
      <p:sp>
        <p:nvSpPr>
          <p:cNvPr id="11"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术语说明</a:t>
            </a:r>
          </a:p>
        </p:txBody>
      </p:sp>
      <p:sp>
        <p:nvSpPr>
          <p:cNvPr id="12"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4.1.1</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4">
            <a:alphaModFix amt="80000"/>
          </a:blip>
          <a:stretch>
            <a:fillRect/>
          </a:stretch>
        </p:blipFill>
        <p:spPr>
          <a:xfrm>
            <a:off x="674370"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1371600" y="1691640"/>
                <a:ext cx="15727680" cy="6521450"/>
              </a:xfrm>
              <a:prstGeom prst="rect">
                <a:avLst/>
              </a:prstGeom>
              <a:noFill/>
            </p:spPr>
            <p:txBody>
              <a:bodyPr wrap="square">
                <a:spAutoFit/>
              </a:bodyPr>
              <a:lstStyle/>
              <a:p>
                <a:pPr defTabSz="457200">
                  <a:lnSpc>
                    <a:spcPct val="140000"/>
                  </a:lnSpc>
                  <a:spcAft>
                    <a:spcPts val="1000"/>
                  </a:spcAft>
                  <a:defRPr sz="2100" b="0">
                    <a:solidFill>
                      <a:srgbClr val="000000"/>
                    </a:solidFill>
                    <a:latin typeface="Times New Roman" panose="02020603050405020304"/>
                  </a:defRPr>
                </a:pPr>
                <a:r>
                  <a:rPr sz="3600">
                    <a:latin typeface="Times New Roman" panose="02020603050405020304" pitchFamily="18" charset="0"/>
                    <a:ea typeface="宋体" panose="02010600030101010101" pitchFamily="2" charset="-122"/>
                    <a:cs typeface="Times New Roman" panose="02020603050405020304" pitchFamily="18" charset="0"/>
                  </a:rPr>
                  <a:t>定义反序变换 R 为 R(A₀, A₁, A₂, A₃) = (A₃, A₂, A₁, A₀)。</a:t>
                </a:r>
              </a:p>
              <a:p>
                <a:pPr defTabSz="457200">
                  <a:lnSpc>
                    <a:spcPct val="140000"/>
                  </a:lnSpc>
                  <a:spcAft>
                    <a:spcPts val="1000"/>
                  </a:spcAft>
                  <a:defRPr sz="2100" b="0">
                    <a:solidFill>
                      <a:srgbClr val="000000"/>
                    </a:solidFill>
                    <a:latin typeface="Times New Roman" panose="02020603050405020304"/>
                  </a:defRPr>
                </a:pPr>
                <a:r>
                  <a:rPr sz="3600">
                    <a:latin typeface="Times New Roman" panose="02020603050405020304" pitchFamily="18" charset="0"/>
                    <a:ea typeface="宋体" panose="02010600030101010101" pitchFamily="2" charset="-122"/>
                    <a:cs typeface="Times New Roman" panose="02020603050405020304" pitchFamily="18" charset="0"/>
                  </a:rPr>
                  <a:t>假设明文输入为 (X₀, X₁, X₂, X₃) ∈ (</a:t>
                </a:r>
                <a14:m>
                  <m:oMath xmlns:m="http://schemas.openxmlformats.org/officeDocument/2006/math">
                    <m:sSubSup>
                      <m:sSubSupPr>
                        <m:ctrlPr>
                          <a:rPr lang="en-US" sz="3600" i="1">
                            <a:latin typeface="Cambria Math" panose="02040503050406030204" charset="0"/>
                            <a:ea typeface="宋体" panose="02010600030101010101" pitchFamily="2" charset="-122"/>
                            <a:cs typeface="Cambria Math" panose="02040503050406030204" charset="0"/>
                          </a:rPr>
                        </m:ctrlPr>
                      </m:sSubSupPr>
                      <m:e>
                        <m:r>
                          <a:rPr lang="en-US" sz="3600" i="1">
                            <a:latin typeface="Cambria Math" panose="02040503050406030204" charset="0"/>
                            <a:ea typeface="宋体" panose="02010600030101010101" pitchFamily="2" charset="-122"/>
                            <a:cs typeface="Cambria Math" panose="02040503050406030204" charset="0"/>
                          </a:rPr>
                          <m:t>𝑍</m:t>
                        </m:r>
                      </m:e>
                      <m:sub>
                        <m:r>
                          <a:rPr lang="en-US" sz="3600" i="1">
                            <a:latin typeface="Cambria Math" panose="02040503050406030204" charset="0"/>
                            <a:ea typeface="MS Mincho" charset="0"/>
                            <a:cs typeface="Cambria Math" panose="02040503050406030204" charset="0"/>
                          </a:rPr>
                          <m:t>2</m:t>
                        </m:r>
                      </m:sub>
                      <m:sup>
                        <m:r>
                          <a:rPr lang="en-US" sz="3600" i="1">
                            <a:latin typeface="Cambria Math" panose="02040503050406030204" charset="0"/>
                            <a:ea typeface="MS Mincho" charset="0"/>
                            <a:cs typeface="Cambria Math" panose="02040503050406030204" charset="0"/>
                          </a:rPr>
                          <m:t>32</m:t>
                        </m:r>
                      </m:sup>
                    </m:sSubSup>
                  </m:oMath>
                </a14:m>
                <a:r>
                  <a:rPr sz="3600">
                    <a:latin typeface="Times New Roman" panose="02020603050405020304" pitchFamily="18" charset="0"/>
                    <a:ea typeface="宋体" panose="02010600030101010101" pitchFamily="2" charset="-122"/>
                    <a:cs typeface="Times New Roman" panose="02020603050405020304" pitchFamily="18" charset="0"/>
                  </a:rPr>
                  <a:t>)⁴，密文输出为 (Y₀, Y₁, Y₂, Y₃) ∈ (</a:t>
                </a:r>
                <a14:m>
                  <m:oMath xmlns:m="http://schemas.openxmlformats.org/officeDocument/2006/math">
                    <m:sSubSup>
                      <m:sSubSupPr>
                        <m:ctrlPr>
                          <a:rPr lang="en-US" sz="3600" i="1">
                            <a:latin typeface="Cambria Math" panose="02040503050406030204" charset="0"/>
                            <a:ea typeface="宋体" panose="02010600030101010101" pitchFamily="2" charset="-122"/>
                            <a:cs typeface="Cambria Math" panose="02040503050406030204" charset="0"/>
                          </a:rPr>
                        </m:ctrlPr>
                      </m:sSubSupPr>
                      <m:e>
                        <m:r>
                          <a:rPr lang="en-US" sz="3600" i="1">
                            <a:latin typeface="Cambria Math" panose="02040503050406030204" charset="0"/>
                            <a:ea typeface="宋体" panose="02010600030101010101" pitchFamily="2" charset="-122"/>
                            <a:cs typeface="Cambria Math" panose="02040503050406030204" charset="0"/>
                          </a:rPr>
                          <m:t>𝑍</m:t>
                        </m:r>
                      </m:e>
                      <m:sub>
                        <m:r>
                          <a:rPr lang="en-US" sz="3600" i="1">
                            <a:latin typeface="Cambria Math" panose="02040503050406030204" charset="0"/>
                            <a:ea typeface="MS Mincho" charset="0"/>
                            <a:cs typeface="Cambria Math" panose="02040503050406030204" charset="0"/>
                          </a:rPr>
                          <m:t>2</m:t>
                        </m:r>
                      </m:sub>
                      <m:sup>
                        <m:r>
                          <a:rPr lang="en-US" sz="3600" i="1">
                            <a:latin typeface="Cambria Math" panose="02040503050406030204" charset="0"/>
                            <a:ea typeface="MS Mincho" charset="0"/>
                            <a:cs typeface="Cambria Math" panose="02040503050406030204" charset="0"/>
                          </a:rPr>
                          <m:t>32</m:t>
                        </m:r>
                      </m:sup>
                    </m:sSubSup>
                  </m:oMath>
                </a14:m>
                <a:r>
                  <a:rPr sz="3600">
                    <a:latin typeface="Times New Roman" panose="02020603050405020304" pitchFamily="18" charset="0"/>
                    <a:ea typeface="宋体" panose="02010600030101010101" pitchFamily="2" charset="-122"/>
                    <a:cs typeface="Times New Roman" panose="02020603050405020304" pitchFamily="18" charset="0"/>
                  </a:rPr>
                  <a:t>)⁴，轮密钥为 rkᵢ ∈ </a:t>
                </a:r>
                <a14:m>
                  <m:oMath xmlns:m="http://schemas.openxmlformats.org/officeDocument/2006/math">
                    <m:sSubSup>
                      <m:sSubSupPr>
                        <m:ctrlPr>
                          <a:rPr lang="en-US" sz="3600" i="1">
                            <a:latin typeface="Cambria Math" panose="02040503050406030204" charset="0"/>
                            <a:ea typeface="宋体" panose="02010600030101010101" pitchFamily="2" charset="-122"/>
                            <a:cs typeface="Cambria Math" panose="02040503050406030204" charset="0"/>
                          </a:rPr>
                        </m:ctrlPr>
                      </m:sSubSupPr>
                      <m:e>
                        <m:r>
                          <a:rPr lang="en-US" sz="3600" i="1">
                            <a:latin typeface="Cambria Math" panose="02040503050406030204" charset="0"/>
                            <a:ea typeface="宋体" panose="02010600030101010101" pitchFamily="2" charset="-122"/>
                            <a:cs typeface="Cambria Math" panose="02040503050406030204" charset="0"/>
                          </a:rPr>
                          <m:t>𝑍</m:t>
                        </m:r>
                      </m:e>
                      <m:sub>
                        <m:r>
                          <a:rPr lang="en-US" sz="3600" i="1">
                            <a:latin typeface="Cambria Math" panose="02040503050406030204" charset="0"/>
                            <a:ea typeface="MS Mincho" charset="0"/>
                            <a:cs typeface="Cambria Math" panose="02040503050406030204" charset="0"/>
                          </a:rPr>
                          <m:t>2</m:t>
                        </m:r>
                      </m:sub>
                      <m:sup>
                        <m:r>
                          <a:rPr lang="en-US" sz="3600" i="1">
                            <a:latin typeface="Cambria Math" panose="02040503050406030204" charset="0"/>
                            <a:ea typeface="MS Mincho" charset="0"/>
                            <a:cs typeface="Cambria Math" panose="02040503050406030204" charset="0"/>
                          </a:rPr>
                          <m:t>32</m:t>
                        </m:r>
                      </m:sup>
                    </m:sSubSup>
                  </m:oMath>
                </a14:m>
                <a:r>
                  <a:rPr sz="3600">
                    <a:latin typeface="Times New Roman" panose="02020603050405020304" pitchFamily="18" charset="0"/>
                    <a:ea typeface="宋体" panose="02010600030101010101" pitchFamily="2" charset="-122"/>
                    <a:cs typeface="Times New Roman" panose="02020603050405020304" pitchFamily="18" charset="0"/>
                  </a:rPr>
                  <a:t> (i=0,...,31)，则算法的加密变换为：</a:t>
                </a:r>
              </a:p>
              <a:p>
                <a:pPr defTabSz="457200">
                  <a:lnSpc>
                    <a:spcPct val="140000"/>
                  </a:lnSpc>
                  <a:spcAft>
                    <a:spcPts val="1000"/>
                  </a:spcAft>
                  <a:defRPr sz="2100" b="0">
                    <a:solidFill>
                      <a:srgbClr val="000000"/>
                    </a:solidFill>
                    <a:latin typeface="Times New Roman" panose="02020603050405020304"/>
                  </a:defRPr>
                </a:pPr>
                <a:r>
                  <a:rPr sz="3600">
                    <a:latin typeface="Times New Roman" panose="02020603050405020304" pitchFamily="18" charset="0"/>
                    <a:ea typeface="宋体" panose="02010600030101010101" pitchFamily="2" charset="-122"/>
                    <a:cs typeface="Times New Roman" panose="02020603050405020304" pitchFamily="18" charset="0"/>
                  </a:rPr>
                  <a:t>Xᵢ₊₄ = F(Xᵢ, Xᵢ₊₁, Xᵢ₊₂, Xᵢ₊₃, rkᵢ) = Xᵢ </a:t>
                </a:r>
                <a14:m>
                  <m:oMath xmlns:m="http://schemas.openxmlformats.org/officeDocument/2006/math">
                    <m:r>
                      <a:rPr lang="en-US" altLang="zh-CN" sz="3600" i="1">
                        <a:latin typeface="Cambria Math" panose="02040503050406030204" charset="0"/>
                        <a:ea typeface="MS Mincho" charset="0"/>
                        <a:cs typeface="Cambria Math" panose="02040503050406030204" charset="0"/>
                      </a:rPr>
                      <m:t>⊕</m:t>
                    </m:r>
                  </m:oMath>
                </a14:m>
                <a:r>
                  <a:rPr sz="3600">
                    <a:latin typeface="Times New Roman" panose="02020603050405020304" pitchFamily="18" charset="0"/>
                    <a:ea typeface="宋体" panose="02010600030101010101" pitchFamily="2" charset="-122"/>
                    <a:cs typeface="Times New Roman" panose="02020603050405020304" pitchFamily="18" charset="0"/>
                  </a:rPr>
                  <a:t> T(Xᵢ₊₁ </a:t>
                </a:r>
                <a14:m>
                  <m:oMath xmlns:m="http://schemas.openxmlformats.org/officeDocument/2006/math">
                    <m:r>
                      <a:rPr lang="en-US" altLang="zh-CN" sz="3600" i="1">
                        <a:latin typeface="Cambria Math" panose="02040503050406030204" charset="0"/>
                        <a:ea typeface="MS Mincho" charset="0"/>
                        <a:cs typeface="Cambria Math" panose="02040503050406030204" charset="0"/>
                      </a:rPr>
                      <m:t>⊕</m:t>
                    </m:r>
                  </m:oMath>
                </a14:m>
                <a:r>
                  <a:rPr sz="3600">
                    <a:latin typeface="Times New Roman" panose="02020603050405020304" pitchFamily="18" charset="0"/>
                    <a:ea typeface="宋体" panose="02010600030101010101" pitchFamily="2" charset="-122"/>
                    <a:cs typeface="Times New Roman" panose="02020603050405020304" pitchFamily="18" charset="0"/>
                  </a:rPr>
                  <a:t> Xᵢ₊₂ </a:t>
                </a:r>
                <a14:m>
                  <m:oMath xmlns:m="http://schemas.openxmlformats.org/officeDocument/2006/math">
                    <m:r>
                      <a:rPr lang="en-US" altLang="zh-CN" sz="3600" i="1">
                        <a:latin typeface="Cambria Math" panose="02040503050406030204" charset="0"/>
                        <a:ea typeface="MS Mincho" charset="0"/>
                        <a:cs typeface="Cambria Math" panose="02040503050406030204" charset="0"/>
                      </a:rPr>
                      <m:t>⊕</m:t>
                    </m:r>
                  </m:oMath>
                </a14:m>
                <a:r>
                  <a:rPr sz="3600">
                    <a:latin typeface="Times New Roman" panose="02020603050405020304" pitchFamily="18" charset="0"/>
                    <a:ea typeface="宋体" panose="02010600030101010101" pitchFamily="2" charset="-122"/>
                    <a:cs typeface="Times New Roman" panose="02020603050405020304" pitchFamily="18" charset="0"/>
                  </a:rPr>
                  <a:t> Xᵢ₊₃ </a:t>
                </a:r>
                <a14:m>
                  <m:oMath xmlns:m="http://schemas.openxmlformats.org/officeDocument/2006/math">
                    <m:r>
                      <a:rPr lang="en-US" altLang="zh-CN" sz="3600" i="1">
                        <a:latin typeface="Cambria Math" panose="02040503050406030204" charset="0"/>
                        <a:ea typeface="MS Mincho" charset="0"/>
                        <a:cs typeface="Cambria Math" panose="02040503050406030204" charset="0"/>
                      </a:rPr>
                      <m:t>⊕</m:t>
                    </m:r>
                  </m:oMath>
                </a14:m>
                <a:r>
                  <a:rPr sz="3600">
                    <a:latin typeface="Times New Roman" panose="02020603050405020304" pitchFamily="18" charset="0"/>
                    <a:ea typeface="宋体" panose="02010600030101010101" pitchFamily="2" charset="-122"/>
                    <a:cs typeface="Times New Roman" panose="02020603050405020304" pitchFamily="18" charset="0"/>
                  </a:rPr>
                  <a:t> rkᵢ)，  i = 0,1,...,31</a:t>
                </a:r>
              </a:p>
              <a:p>
                <a:pPr defTabSz="457200">
                  <a:lnSpc>
                    <a:spcPct val="140000"/>
                  </a:lnSpc>
                  <a:spcAft>
                    <a:spcPts val="1000"/>
                  </a:spcAft>
                  <a:defRPr sz="2100" b="0">
                    <a:solidFill>
                      <a:srgbClr val="000000"/>
                    </a:solidFill>
                    <a:latin typeface="Times New Roman" panose="02020603050405020304"/>
                  </a:defRPr>
                </a:pPr>
                <a:r>
                  <a:rPr sz="3600">
                    <a:latin typeface="Times New Roman" panose="02020603050405020304" pitchFamily="18" charset="0"/>
                    <a:ea typeface="宋体" panose="02010600030101010101" pitchFamily="2" charset="-122"/>
                    <a:cs typeface="Times New Roman" panose="02020603050405020304" pitchFamily="18" charset="0"/>
                    <a:sym typeface="+mn-ea"/>
                  </a:rPr>
                  <a:t> (Y₀, Y₁, Y₂, Y₃)</a:t>
                </a:r>
                <a:r>
                  <a:rPr lang="en-US" sz="3600">
                    <a:latin typeface="Times New Roman" panose="02020603050405020304" pitchFamily="18" charset="0"/>
                    <a:ea typeface="宋体" panose="02010600030101010101" pitchFamily="2" charset="-122"/>
                    <a:cs typeface="Times New Roman" panose="02020603050405020304" pitchFamily="18" charset="0"/>
                    <a:sym typeface="+mn-ea"/>
                  </a:rPr>
                  <a:t> = R(X</a:t>
                </a:r>
                <a:r>
                  <a:rPr lang="en-US" sz="3600" baseline="-25000">
                    <a:latin typeface="Times New Roman" panose="02020603050405020304" pitchFamily="18" charset="0"/>
                    <a:ea typeface="宋体" panose="02010600030101010101" pitchFamily="2" charset="-122"/>
                    <a:cs typeface="Times New Roman" panose="02020603050405020304" pitchFamily="18" charset="0"/>
                    <a:sym typeface="+mn-ea"/>
                  </a:rPr>
                  <a:t>32 </a:t>
                </a:r>
                <a:r>
                  <a:rPr lang="en-US" sz="3600">
                    <a:latin typeface="Times New Roman" panose="02020603050405020304" pitchFamily="18" charset="0"/>
                    <a:ea typeface="宋体" panose="02010600030101010101" pitchFamily="2" charset="-122"/>
                    <a:cs typeface="Times New Roman" panose="02020603050405020304" pitchFamily="18" charset="0"/>
                    <a:sym typeface="+mn-ea"/>
                  </a:rPr>
                  <a:t>, X</a:t>
                </a:r>
                <a:r>
                  <a:rPr lang="en-US" sz="3600" baseline="-25000">
                    <a:latin typeface="Times New Roman" panose="02020603050405020304" pitchFamily="18" charset="0"/>
                    <a:ea typeface="宋体" panose="02010600030101010101" pitchFamily="2" charset="-122"/>
                    <a:cs typeface="Times New Roman" panose="02020603050405020304" pitchFamily="18" charset="0"/>
                    <a:sym typeface="+mn-ea"/>
                  </a:rPr>
                  <a:t>33</a:t>
                </a:r>
                <a:r>
                  <a:rPr lang="en-US" sz="3600">
                    <a:latin typeface="Times New Roman" panose="02020603050405020304" pitchFamily="18" charset="0"/>
                    <a:ea typeface="宋体" panose="02010600030101010101" pitchFamily="2" charset="-122"/>
                    <a:cs typeface="Times New Roman" panose="02020603050405020304" pitchFamily="18" charset="0"/>
                    <a:sym typeface="+mn-ea"/>
                  </a:rPr>
                  <a:t> , X</a:t>
                </a:r>
                <a:r>
                  <a:rPr lang="en-US" sz="3600" baseline="-25000">
                    <a:latin typeface="Times New Roman" panose="02020603050405020304" pitchFamily="18" charset="0"/>
                    <a:ea typeface="宋体" panose="02010600030101010101" pitchFamily="2" charset="-122"/>
                    <a:cs typeface="Times New Roman" panose="02020603050405020304" pitchFamily="18" charset="0"/>
                    <a:sym typeface="+mn-ea"/>
                  </a:rPr>
                  <a:t>34</a:t>
                </a:r>
                <a:r>
                  <a:rPr lang="en-US" sz="3600">
                    <a:latin typeface="Times New Roman" panose="02020603050405020304" pitchFamily="18" charset="0"/>
                    <a:ea typeface="宋体" panose="02010600030101010101" pitchFamily="2" charset="-122"/>
                    <a:cs typeface="Times New Roman" panose="02020603050405020304" pitchFamily="18" charset="0"/>
                    <a:sym typeface="+mn-ea"/>
                  </a:rPr>
                  <a:t> , X</a:t>
                </a:r>
                <a:r>
                  <a:rPr lang="en-US" sz="3600" baseline="-25000">
                    <a:latin typeface="Times New Roman" panose="02020603050405020304" pitchFamily="18" charset="0"/>
                    <a:ea typeface="宋体" panose="02010600030101010101" pitchFamily="2" charset="-122"/>
                    <a:cs typeface="Times New Roman" panose="02020603050405020304" pitchFamily="18" charset="0"/>
                    <a:sym typeface="+mn-ea"/>
                  </a:rPr>
                  <a:t>35</a:t>
                </a:r>
                <a:r>
                  <a:rPr lang="en-US" sz="3600">
                    <a:latin typeface="Times New Roman" panose="02020603050405020304" pitchFamily="18" charset="0"/>
                    <a:ea typeface="宋体" panose="02010600030101010101" pitchFamily="2" charset="-122"/>
                    <a:cs typeface="Times New Roman" panose="02020603050405020304" pitchFamily="18" charset="0"/>
                    <a:sym typeface="+mn-ea"/>
                  </a:rPr>
                  <a:t>) = </a:t>
                </a:r>
                <a:r>
                  <a:rPr lang="en-US" altLang="zh-CN" sz="3600">
                    <a:latin typeface="Times New Roman" panose="02020603050405020304" pitchFamily="18" charset="0"/>
                    <a:ea typeface="宋体" panose="02010600030101010101" pitchFamily="2" charset="-122"/>
                    <a:cs typeface="Times New Roman" panose="02020603050405020304" pitchFamily="18" charset="0"/>
                    <a:sym typeface="+mn-ea"/>
                  </a:rPr>
                  <a:t>(X</a:t>
                </a:r>
                <a:r>
                  <a:rPr lang="en-US" altLang="zh-CN" sz="3600" baseline="-25000">
                    <a:latin typeface="Times New Roman" panose="02020603050405020304" pitchFamily="18" charset="0"/>
                    <a:ea typeface="宋体" panose="02010600030101010101" pitchFamily="2" charset="-122"/>
                    <a:cs typeface="Times New Roman" panose="02020603050405020304" pitchFamily="18" charset="0"/>
                    <a:sym typeface="+mn-ea"/>
                  </a:rPr>
                  <a:t>35</a:t>
                </a:r>
                <a:r>
                  <a:rPr lang="en-US" altLang="zh-CN" sz="3600">
                    <a:latin typeface="Times New Roman" panose="02020603050405020304" pitchFamily="18" charset="0"/>
                    <a:ea typeface="宋体" panose="02010600030101010101" pitchFamily="2" charset="-122"/>
                    <a:cs typeface="Times New Roman" panose="02020603050405020304" pitchFamily="18" charset="0"/>
                    <a:sym typeface="+mn-ea"/>
                  </a:rPr>
                  <a:t> , X</a:t>
                </a:r>
                <a:r>
                  <a:rPr lang="en-US" altLang="zh-CN" sz="3600" baseline="-25000">
                    <a:latin typeface="Times New Roman" panose="02020603050405020304" pitchFamily="18" charset="0"/>
                    <a:ea typeface="宋体" panose="02010600030101010101" pitchFamily="2" charset="-122"/>
                    <a:cs typeface="Times New Roman" panose="02020603050405020304" pitchFamily="18" charset="0"/>
                    <a:sym typeface="+mn-ea"/>
                  </a:rPr>
                  <a:t>34</a:t>
                </a:r>
                <a:r>
                  <a:rPr lang="en-US" altLang="zh-CN" sz="3600">
                    <a:latin typeface="Times New Roman" panose="02020603050405020304" pitchFamily="18" charset="0"/>
                    <a:ea typeface="宋体" panose="02010600030101010101" pitchFamily="2" charset="-122"/>
                    <a:cs typeface="Times New Roman" panose="02020603050405020304" pitchFamily="18" charset="0"/>
                    <a:sym typeface="+mn-ea"/>
                  </a:rPr>
                  <a:t> , X</a:t>
                </a:r>
                <a:r>
                  <a:rPr lang="en-US" altLang="zh-CN" sz="3600" baseline="-25000">
                    <a:latin typeface="Times New Roman" panose="02020603050405020304" pitchFamily="18" charset="0"/>
                    <a:ea typeface="宋体" panose="02010600030101010101" pitchFamily="2" charset="-122"/>
                    <a:cs typeface="Times New Roman" panose="02020603050405020304" pitchFamily="18" charset="0"/>
                    <a:sym typeface="+mn-ea"/>
                  </a:rPr>
                  <a:t>33</a:t>
                </a:r>
                <a:r>
                  <a:rPr lang="en-US" altLang="zh-CN" sz="3600">
                    <a:latin typeface="Times New Roman" panose="02020603050405020304" pitchFamily="18" charset="0"/>
                    <a:ea typeface="宋体" panose="02010600030101010101" pitchFamily="2" charset="-122"/>
                    <a:cs typeface="Times New Roman" panose="02020603050405020304" pitchFamily="18" charset="0"/>
                    <a:sym typeface="+mn-ea"/>
                  </a:rPr>
                  <a:t> , X</a:t>
                </a:r>
                <a:r>
                  <a:rPr lang="en-US" altLang="zh-CN" sz="3600" baseline="-25000">
                    <a:latin typeface="Times New Roman" panose="02020603050405020304" pitchFamily="18" charset="0"/>
                    <a:ea typeface="宋体" panose="02010600030101010101" pitchFamily="2" charset="-122"/>
                    <a:cs typeface="Times New Roman" panose="02020603050405020304" pitchFamily="18" charset="0"/>
                    <a:sym typeface="+mn-ea"/>
                  </a:rPr>
                  <a:t>32</a:t>
                </a:r>
                <a:r>
                  <a:rPr lang="en-US" altLang="zh-CN" sz="3600">
                    <a:latin typeface="Times New Roman" panose="02020603050405020304" pitchFamily="18" charset="0"/>
                    <a:ea typeface="宋体" panose="02010600030101010101" pitchFamily="2" charset="-122"/>
                    <a:cs typeface="Times New Roman" panose="02020603050405020304" pitchFamily="18" charset="0"/>
                    <a:sym typeface="+mn-ea"/>
                  </a:rPr>
                  <a:t>)</a:t>
                </a:r>
              </a:p>
              <a:p>
                <a:pPr defTabSz="457200">
                  <a:lnSpc>
                    <a:spcPct val="140000"/>
                  </a:lnSpc>
                  <a:spcAft>
                    <a:spcPts val="1000"/>
                  </a:spcAft>
                  <a:defRPr sz="2100" b="0">
                    <a:solidFill>
                      <a:srgbClr val="000000"/>
                    </a:solidFill>
                    <a:latin typeface="Times New Roman" panose="02020603050405020304"/>
                  </a:defRPr>
                </a:pPr>
                <a:r>
                  <a:rPr sz="3600">
                    <a:latin typeface="Times New Roman" panose="02020603050405020304" pitchFamily="18" charset="0"/>
                    <a:ea typeface="宋体" panose="02010600030101010101" pitchFamily="2" charset="-122"/>
                    <a:cs typeface="Times New Roman" panose="02020603050405020304" pitchFamily="18" charset="0"/>
                  </a:rPr>
                  <a:t>其中，F为轮函数；T为合成置换，下面详细介绍。</a:t>
                </a:r>
              </a:p>
              <a:p>
                <a:pPr defTabSz="457200">
                  <a:lnSpc>
                    <a:spcPct val="140000"/>
                  </a:lnSpc>
                  <a:spcAft>
                    <a:spcPts val="1000"/>
                  </a:spcAft>
                  <a:defRPr sz="2100" b="0">
                    <a:solidFill>
                      <a:srgbClr val="000000"/>
                    </a:solidFill>
                    <a:latin typeface="Times New Roman" panose="02020603050405020304"/>
                  </a:defRPr>
                </a:pPr>
                <a:endParaRPr>
                  <a:latin typeface="Times New Roman" panose="02020603050405020304" pitchFamily="18" charset="0"/>
                  <a:ea typeface="宋体" panose="02010600030101010101" pitchFamily="2" charset="-122"/>
                </a:endParaRPr>
              </a:p>
              <a:p>
                <a:pPr defTabSz="457200">
                  <a:lnSpc>
                    <a:spcPct val="140000"/>
                  </a:lnSpc>
                  <a:spcAft>
                    <a:spcPts val="1000"/>
                  </a:spcAft>
                  <a:defRPr sz="2100" b="0">
                    <a:solidFill>
                      <a:srgbClr val="000000"/>
                    </a:solidFill>
                    <a:latin typeface="Times New Roman" panose="02020603050405020304"/>
                  </a:defRPr>
                </a:pPr>
                <a:endParaRPr>
                  <a:latin typeface="Times New Roman" panose="02020603050405020304" pitchFamily="18" charset="0"/>
                  <a:ea typeface="宋体" panose="02010600030101010101" pitchFamily="2" charset="-122"/>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1371600" y="1691640"/>
                <a:ext cx="15727680" cy="6521450"/>
              </a:xfrm>
              <a:prstGeom prst="rect">
                <a:avLst/>
              </a:prstGeom>
              <a:blipFill rotWithShape="1">
                <a:blip r:embed="rId2"/>
                <a:stretch>
                  <a:fillRect r="-1643"/>
                </a:stretch>
              </a:blipFill>
            </p:spPr>
            <p:txBody>
              <a:bodyPr/>
              <a:lstStyle/>
              <a:p>
                <a:r>
                  <a:rPr lang="zh-CN" altLang="en-US">
                    <a:noFill/>
                  </a:rPr>
                  <a:t> </a:t>
                </a:r>
              </a:p>
            </p:txBody>
          </p:sp>
        </mc:Fallback>
      </mc:AlternateContent>
      <p:sp>
        <p:nvSpPr>
          <p:cNvPr id="6" name="TextBox 5"/>
          <p:cNvSpPr txBox="1"/>
          <p:nvPr/>
        </p:nvSpPr>
        <p:spPr>
          <a:xfrm>
            <a:off x="17123537" y="9409176"/>
            <a:ext cx="273050" cy="306705"/>
          </a:xfrm>
          <a:prstGeom prst="rect">
            <a:avLst/>
          </a:prstGeom>
          <a:noFill/>
        </p:spPr>
        <p:txBody>
          <a:bodyPr wrap="none">
            <a:spAutoFit/>
          </a:bodyPr>
          <a:lstStyle/>
          <a:p>
            <a:pPr algn="r" defTabSz="457200">
              <a:buClrTx/>
              <a:buSzTx/>
              <a:buFontTx/>
            </a:pPr>
            <a:r>
              <a:rPr lang="en-US" sz="1400">
                <a:solidFill>
                  <a:srgbClr val="FFC000"/>
                </a:solidFill>
              </a:rPr>
              <a:t>8</a:t>
            </a:r>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3"/>
            <a:stretch>
              <a:fillRect/>
            </a:stretch>
          </p:blipFill>
          <p:spPr>
            <a:xfrm>
              <a:off x="13944600" y="877286"/>
              <a:ext cx="2771429" cy="47619"/>
            </a:xfrm>
            <a:prstGeom prst="rect">
              <a:avLst/>
            </a:prstGeom>
          </p:spPr>
        </p:pic>
      </p:grpSp>
      <p:sp>
        <p:nvSpPr>
          <p:cNvPr id="11"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加密算法</a:t>
            </a:r>
          </a:p>
        </p:txBody>
      </p:sp>
      <p:sp>
        <p:nvSpPr>
          <p:cNvPr id="12"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4.1.2</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4">
            <a:alphaModFix amt="80000"/>
          </a:blip>
          <a:stretch>
            <a:fillRect/>
          </a:stretch>
        </p:blipFill>
        <p:spPr>
          <a:xfrm>
            <a:off x="674370"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77645" y="1225550"/>
            <a:ext cx="15727680" cy="2027555"/>
          </a:xfrm>
          <a:prstGeom prst="rect">
            <a:avLst/>
          </a:prstGeom>
          <a:noFill/>
        </p:spPr>
        <p:txBody>
          <a:bodyPr wrap="square">
            <a:spAutoFit/>
          </a:bodyPr>
          <a:lstStyle/>
          <a:p>
            <a:pPr defTabSz="457200">
              <a:lnSpc>
                <a:spcPct val="140000"/>
              </a:lnSpc>
              <a:spcAft>
                <a:spcPts val="1000"/>
              </a:spcAft>
              <a:defRPr sz="2200" b="0">
                <a:solidFill>
                  <a:srgbClr val="000000"/>
                </a:solidFill>
                <a:latin typeface="Times New Roman" panose="02020603050405020304"/>
              </a:defRPr>
            </a:pPr>
            <a:r>
              <a:rPr lang="en-US" altLang="zh-CN">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a:latin typeface="Times New Roman" panose="02020603050405020304" pitchFamily="18" charset="0"/>
                <a:ea typeface="宋体" panose="02010600030101010101" pitchFamily="2" charset="-122"/>
                <a:cs typeface="Times New Roman" panose="02020603050405020304" pitchFamily="18" charset="0"/>
              </a:rPr>
              <a:t>解密变换与加密变换的结构相同，不同的仅是轮密钥的使用顺序。加密时轮密钥的使用顺序为 (</a:t>
            </a:r>
            <a:r>
              <a:rPr lang="en-US" altLang="zh-CN" sz="2800">
                <a:latin typeface="Times New Roman" panose="02020603050405020304" pitchFamily="18" charset="0"/>
                <a:ea typeface="宋体" panose="02010600030101010101" pitchFamily="2" charset="-122"/>
                <a:cs typeface="Times New Roman" panose="02020603050405020304" pitchFamily="18" charset="0"/>
              </a:rPr>
              <a:t>rk₀, rk₁, ..., rk₃₁)，</a:t>
            </a:r>
            <a:r>
              <a:rPr lang="zh-CN" altLang="en-US" sz="2800">
                <a:latin typeface="Times New Roman" panose="02020603050405020304" pitchFamily="18" charset="0"/>
                <a:ea typeface="宋体" panose="02010600030101010101" pitchFamily="2" charset="-122"/>
                <a:cs typeface="Times New Roman" panose="02020603050405020304" pitchFamily="18" charset="0"/>
              </a:rPr>
              <a:t>解密时轮密钥的使用顺序为 (</a:t>
            </a:r>
            <a:r>
              <a:rPr lang="en-US" altLang="zh-CN" sz="2800">
                <a:latin typeface="Times New Roman" panose="02020603050405020304" pitchFamily="18" charset="0"/>
                <a:ea typeface="宋体" panose="02010600030101010101" pitchFamily="2" charset="-122"/>
                <a:cs typeface="Times New Roman" panose="02020603050405020304" pitchFamily="18" charset="0"/>
              </a:rPr>
              <a:t>rk₃₁, rk₃₀, ..., rk₀)。</a:t>
            </a:r>
          </a:p>
          <a:p>
            <a:pPr defTabSz="457200">
              <a:lnSpc>
                <a:spcPct val="140000"/>
              </a:lnSpc>
              <a:spcAft>
                <a:spcPts val="1000"/>
              </a:spcAft>
              <a:defRPr sz="2200" b="0">
                <a:solidFill>
                  <a:srgbClr val="000000"/>
                </a:solidFill>
                <a:latin typeface="Times New Roman" panose="02020603050405020304"/>
              </a:defRPr>
            </a:pPr>
            <a:r>
              <a:rPr lang="en-US" sz="2800">
                <a:latin typeface="Times New Roman" panose="02020603050405020304" pitchFamily="18" charset="0"/>
                <a:ea typeface="宋体" panose="02010600030101010101" pitchFamily="2" charset="-122"/>
                <a:cs typeface="Times New Roman" panose="02020603050405020304" pitchFamily="18" charset="0"/>
              </a:rPr>
              <a:t>     </a:t>
            </a:r>
            <a:r>
              <a:rPr sz="2800">
                <a:latin typeface="Times New Roman" panose="02020603050405020304" pitchFamily="18" charset="0"/>
                <a:ea typeface="宋体" panose="02010600030101010101" pitchFamily="2" charset="-122"/>
                <a:cs typeface="Times New Roman" panose="02020603050405020304" pitchFamily="18" charset="0"/>
              </a:rPr>
              <a:t>SM4分组密码算法加密流程图和SM4分组密码算法轮函数示意图分别如图4.1和图4.2所示。</a:t>
            </a:r>
          </a:p>
        </p:txBody>
      </p:sp>
      <p:pic>
        <p:nvPicPr>
          <p:cNvPr id="6" name="Picture 5" descr="image23.png"/>
          <p:cNvPicPr>
            <a:picLocks noChangeAspect="1"/>
          </p:cNvPicPr>
          <p:nvPr/>
        </p:nvPicPr>
        <p:blipFill>
          <a:blip r:embed="rId2"/>
          <a:stretch>
            <a:fillRect/>
          </a:stretch>
        </p:blipFill>
        <p:spPr>
          <a:xfrm>
            <a:off x="3513455" y="3581400"/>
            <a:ext cx="2846372" cy="5303520"/>
          </a:xfrm>
          <a:prstGeom prst="rect">
            <a:avLst/>
          </a:prstGeom>
        </p:spPr>
      </p:pic>
      <p:pic>
        <p:nvPicPr>
          <p:cNvPr id="7" name="Picture 6" descr="image24.png"/>
          <p:cNvPicPr>
            <a:picLocks noChangeAspect="1"/>
          </p:cNvPicPr>
          <p:nvPr/>
        </p:nvPicPr>
        <p:blipFill>
          <a:blip r:embed="rId3"/>
          <a:stretch>
            <a:fillRect/>
          </a:stretch>
        </p:blipFill>
        <p:spPr>
          <a:xfrm>
            <a:off x="10125710" y="3679190"/>
            <a:ext cx="6722771" cy="5303520"/>
          </a:xfrm>
          <a:prstGeom prst="rect">
            <a:avLst/>
          </a:prstGeom>
        </p:spPr>
      </p:pic>
      <p:sp>
        <p:nvSpPr>
          <p:cNvPr id="8" name="TextBox 7"/>
          <p:cNvSpPr txBox="1"/>
          <p:nvPr/>
        </p:nvSpPr>
        <p:spPr>
          <a:xfrm>
            <a:off x="2670175" y="9213215"/>
            <a:ext cx="4169410" cy="398780"/>
          </a:xfrm>
          <a:prstGeom prst="rect">
            <a:avLst/>
          </a:prstGeom>
          <a:noFill/>
        </p:spPr>
        <p:txBody>
          <a:bodyPr wrap="none">
            <a:spAutoFit/>
          </a:bodyPr>
          <a:lstStyle/>
          <a:p>
            <a:pPr algn="ctr" defTabSz="457200">
              <a:defRPr sz="2000">
                <a:latin typeface="仿宋" panose="02010609060101010101" charset="-122"/>
              </a:defRPr>
            </a:pPr>
            <a:r>
              <a:rPr>
                <a:latin typeface="Times New Roman" panose="02020603050405020304" pitchFamily="18" charset="0"/>
                <a:ea typeface="宋体" panose="02010600030101010101" pitchFamily="2" charset="-122"/>
                <a:cs typeface="Times New Roman" panose="02020603050405020304" pitchFamily="18" charset="0"/>
              </a:rPr>
              <a:t>图4.1  SM4分组密码算法加密流程图</a:t>
            </a:r>
          </a:p>
        </p:txBody>
      </p:sp>
      <p:sp>
        <p:nvSpPr>
          <p:cNvPr id="9" name="TextBox 8"/>
          <p:cNvSpPr txBox="1"/>
          <p:nvPr/>
        </p:nvSpPr>
        <p:spPr>
          <a:xfrm>
            <a:off x="11275695" y="9213215"/>
            <a:ext cx="4423410" cy="398780"/>
          </a:xfrm>
          <a:prstGeom prst="rect">
            <a:avLst/>
          </a:prstGeom>
          <a:noFill/>
        </p:spPr>
        <p:txBody>
          <a:bodyPr wrap="none">
            <a:spAutoFit/>
          </a:bodyPr>
          <a:lstStyle/>
          <a:p>
            <a:pPr algn="ctr" defTabSz="457200">
              <a:defRPr sz="2000">
                <a:latin typeface="仿宋" panose="02010609060101010101" charset="-122"/>
              </a:defRPr>
            </a:pPr>
            <a:r>
              <a:rPr>
                <a:latin typeface="Times New Roman" panose="02020603050405020304" pitchFamily="18" charset="0"/>
                <a:ea typeface="宋体" panose="02010600030101010101" pitchFamily="2" charset="-122"/>
                <a:cs typeface="Times New Roman" panose="02020603050405020304" pitchFamily="18" charset="0"/>
              </a:rPr>
              <a:t>图4.2  SM4分组密码算法轮函数示意图</a:t>
            </a:r>
          </a:p>
        </p:txBody>
      </p:sp>
      <p:sp>
        <p:nvSpPr>
          <p:cNvPr id="10" name="TextBox 9"/>
          <p:cNvSpPr txBox="1"/>
          <p:nvPr/>
        </p:nvSpPr>
        <p:spPr>
          <a:xfrm>
            <a:off x="17402302" y="9409176"/>
            <a:ext cx="273050" cy="306705"/>
          </a:xfrm>
          <a:prstGeom prst="rect">
            <a:avLst/>
          </a:prstGeom>
          <a:noFill/>
        </p:spPr>
        <p:txBody>
          <a:bodyPr wrap="none">
            <a:spAutoFit/>
          </a:bodyPr>
          <a:lstStyle/>
          <a:p>
            <a:pPr algn="r" defTabSz="457200">
              <a:defRPr sz="1800">
                <a:solidFill>
                  <a:srgbClr val="000000"/>
                </a:solidFill>
                <a:latin typeface="Times New Roman" panose="02020603050405020304"/>
              </a:defRPr>
            </a:pPr>
            <a:r>
              <a:rPr lang="en-US" sz="1400">
                <a:solidFill>
                  <a:srgbClr val="FFC000"/>
                </a:solidFill>
                <a:latin typeface="+mn-lt"/>
              </a:rPr>
              <a:t>9</a:t>
            </a:r>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4"/>
            <a:stretch>
              <a:fillRect/>
            </a:stretch>
          </p:blipFill>
          <p:spPr>
            <a:xfrm>
              <a:off x="13944600" y="877286"/>
              <a:ext cx="2771429" cy="47619"/>
            </a:xfrm>
            <a:prstGeom prst="rect">
              <a:avLst/>
            </a:prstGeom>
          </p:spPr>
        </p:pic>
      </p:grpSp>
      <p:sp>
        <p:nvSpPr>
          <p:cNvPr id="11"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字由文艺黑" panose="00020600040101010101" charset="-122"/>
                <a:sym typeface="字由文艺黑" panose="00020600040101010101" charset="-122"/>
              </a:rPr>
              <a:t>加密算法</a:t>
            </a:r>
          </a:p>
        </p:txBody>
      </p:sp>
      <p:sp>
        <p:nvSpPr>
          <p:cNvPr id="12"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4.1.2</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5">
            <a:alphaModFix amt="80000"/>
          </a:blip>
          <a:stretch>
            <a:fillRect/>
          </a:stretch>
        </p:blipFill>
        <p:spPr>
          <a:xfrm>
            <a:off x="674370"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1371600" y="1691640"/>
                <a:ext cx="15727680" cy="7814945"/>
              </a:xfrm>
              <a:prstGeom prst="rect">
                <a:avLst/>
              </a:prstGeom>
              <a:noFill/>
            </p:spPr>
            <p:txBody>
              <a:bodyPr wrap="square">
                <a:spAutoFit/>
              </a:bodyPr>
              <a:lstStyle/>
              <a:p>
                <a:pPr defTabSz="457200">
                  <a:lnSpc>
                    <a:spcPct val="140000"/>
                  </a:lnSpc>
                  <a:spcAft>
                    <a:spcPts val="1000"/>
                  </a:spcAft>
                  <a:defRPr sz="2100" b="0">
                    <a:solidFill>
                      <a:srgbClr val="000000"/>
                    </a:solidFill>
                    <a:latin typeface="Times New Roman" panose="02020603050405020304"/>
                  </a:defRPr>
                </a:pPr>
                <a:r>
                  <a:rPr sz="3600">
                    <a:latin typeface="Times New Roman" panose="02020603050405020304" pitchFamily="18" charset="0"/>
                    <a:ea typeface="宋体" panose="02010600030101010101" pitchFamily="2" charset="-122"/>
                    <a:cs typeface="Times New Roman" panose="02020603050405020304" pitchFamily="18" charset="0"/>
                  </a:rPr>
                  <a:t>上述加密算法的轮密钥是由加密密钥通过密钥扩展算法生成的。下面介绍密钥扩展算法。</a:t>
                </a:r>
              </a:p>
              <a:p>
                <a:pPr defTabSz="457200">
                  <a:lnSpc>
                    <a:spcPct val="140000"/>
                  </a:lnSpc>
                  <a:spcAft>
                    <a:spcPts val="1000"/>
                  </a:spcAft>
                  <a:defRPr sz="2100" b="0">
                    <a:solidFill>
                      <a:srgbClr val="000000"/>
                    </a:solidFill>
                    <a:latin typeface="Times New Roman" panose="02020603050405020304"/>
                  </a:defRPr>
                </a:pPr>
                <a:r>
                  <a:rPr sz="3600">
                    <a:latin typeface="Times New Roman" panose="02020603050405020304" pitchFamily="18" charset="0"/>
                    <a:ea typeface="宋体" panose="02010600030101010101" pitchFamily="2" charset="-122"/>
                    <a:cs typeface="Times New Roman" panose="02020603050405020304" pitchFamily="18" charset="0"/>
                  </a:rPr>
                  <a:t>假设加密密钥 MK = (MK₀, MK₁, MK₂, MK₃)，MKᵢ ∈ </a:t>
                </a:r>
                <a14:m>
                  <m:oMath xmlns:m="http://schemas.openxmlformats.org/officeDocument/2006/math">
                    <m:sSubSup>
                      <m:sSubSupPr>
                        <m:ctrlPr>
                          <a:rPr lang="en-US" sz="3600" i="1">
                            <a:latin typeface="Cambria Math" panose="02040503050406030204" charset="0"/>
                            <a:ea typeface="宋体" panose="02010600030101010101" pitchFamily="2" charset="-122"/>
                            <a:cs typeface="Cambria Math" panose="02040503050406030204" charset="0"/>
                          </a:rPr>
                        </m:ctrlPr>
                      </m:sSubSupPr>
                      <m:e>
                        <m:r>
                          <a:rPr lang="en-US" sz="3600" i="1">
                            <a:latin typeface="Cambria Math" panose="02040503050406030204" charset="0"/>
                            <a:ea typeface="宋体" panose="02010600030101010101" pitchFamily="2" charset="-122"/>
                            <a:cs typeface="Cambria Math" panose="02040503050406030204" charset="0"/>
                          </a:rPr>
                          <m:t>𝑍</m:t>
                        </m:r>
                      </m:e>
                      <m:sub>
                        <m:r>
                          <a:rPr lang="en-US" sz="3600" i="1">
                            <a:latin typeface="Cambria Math" panose="02040503050406030204" charset="0"/>
                            <a:ea typeface="MS Mincho" charset="0"/>
                            <a:cs typeface="Cambria Math" panose="02040503050406030204" charset="0"/>
                          </a:rPr>
                          <m:t>2</m:t>
                        </m:r>
                      </m:sub>
                      <m:sup>
                        <m:r>
                          <a:rPr lang="en-US" sz="3600" i="1">
                            <a:latin typeface="Cambria Math" panose="02040503050406030204" charset="0"/>
                            <a:ea typeface="MS Mincho" charset="0"/>
                            <a:cs typeface="Cambria Math" panose="02040503050406030204" charset="0"/>
                          </a:rPr>
                          <m:t>32</m:t>
                        </m:r>
                      </m:sup>
                    </m:sSubSup>
                  </m:oMath>
                </a14:m>
                <a:r>
                  <a:rPr sz="3600">
                    <a:latin typeface="Times New Roman" panose="02020603050405020304" pitchFamily="18" charset="0"/>
                    <a:ea typeface="宋体" panose="02010600030101010101" pitchFamily="2" charset="-122"/>
                    <a:cs typeface="Times New Roman" panose="02020603050405020304" pitchFamily="18" charset="0"/>
                  </a:rPr>
                  <a:t>，令 Kᵢ </a:t>
                </a:r>
                <a:r>
                  <a:rPr sz="3600">
                    <a:latin typeface="Times New Roman" panose="02020603050405020304" pitchFamily="18" charset="0"/>
                    <a:ea typeface="宋体" panose="02010600030101010101" pitchFamily="2" charset="-122"/>
                    <a:cs typeface="Times New Roman" panose="02020603050405020304" pitchFamily="18" charset="0"/>
                    <a:sym typeface="+mn-ea"/>
                  </a:rPr>
                  <a:t>∈</a:t>
                </a:r>
                <a14:m>
                  <m:oMath xmlns:m="http://schemas.openxmlformats.org/officeDocument/2006/math">
                    <m:sSubSup>
                      <m:sSubSupPr>
                        <m:ctrlPr>
                          <a:rPr lang="en-US" sz="3600" i="1">
                            <a:latin typeface="Cambria Math" panose="02040503050406030204" charset="0"/>
                            <a:ea typeface="宋体" panose="02010600030101010101" pitchFamily="2" charset="-122"/>
                            <a:cs typeface="Cambria Math" panose="02040503050406030204" charset="0"/>
                          </a:rPr>
                        </m:ctrlPr>
                      </m:sSubSupPr>
                      <m:e>
                        <m:r>
                          <a:rPr lang="en-US" sz="3600" i="1">
                            <a:latin typeface="Cambria Math" panose="02040503050406030204" charset="0"/>
                            <a:ea typeface="宋体" panose="02010600030101010101" pitchFamily="2" charset="-122"/>
                            <a:cs typeface="Cambria Math" panose="02040503050406030204" charset="0"/>
                          </a:rPr>
                          <m:t>𝑍</m:t>
                        </m:r>
                      </m:e>
                      <m:sub>
                        <m:r>
                          <a:rPr lang="en-US" sz="3600" i="1">
                            <a:latin typeface="Cambria Math" panose="02040503050406030204" charset="0"/>
                            <a:ea typeface="MS Mincho" charset="0"/>
                            <a:cs typeface="Cambria Math" panose="02040503050406030204" charset="0"/>
                          </a:rPr>
                          <m:t>2</m:t>
                        </m:r>
                      </m:sub>
                      <m:sup>
                        <m:r>
                          <a:rPr lang="en-US" sz="3600" i="1">
                            <a:latin typeface="Cambria Math" panose="02040503050406030204" charset="0"/>
                            <a:ea typeface="MS Mincho" charset="0"/>
                            <a:cs typeface="Cambria Math" panose="02040503050406030204" charset="0"/>
                          </a:rPr>
                          <m:t>32</m:t>
                        </m:r>
                      </m:sup>
                    </m:sSubSup>
                  </m:oMath>
                </a14:m>
                <a:r>
                  <a:rPr sz="3600">
                    <a:latin typeface="Times New Roman" panose="02020603050405020304" pitchFamily="18" charset="0"/>
                    <a:ea typeface="宋体" panose="02010600030101010101" pitchFamily="2" charset="-122"/>
                    <a:cs typeface="Times New Roman" panose="02020603050405020304" pitchFamily="18" charset="0"/>
                  </a:rPr>
                  <a:t>(i=0,1,</a:t>
                </a:r>
                <a:r>
                  <a:rPr lang="en-US" sz="3600">
                    <a:latin typeface="Times New Roman" panose="02020603050405020304" pitchFamily="18" charset="0"/>
                    <a:ea typeface="宋体" panose="02010600030101010101" pitchFamily="2" charset="-122"/>
                    <a:cs typeface="Times New Roman" panose="02020603050405020304" pitchFamily="18" charset="0"/>
                  </a:rPr>
                  <a:t>....,</a:t>
                </a:r>
                <a:r>
                  <a:rPr sz="3600">
                    <a:latin typeface="Times New Roman" panose="02020603050405020304" pitchFamily="18" charset="0"/>
                    <a:ea typeface="宋体" panose="02010600030101010101" pitchFamily="2" charset="-122"/>
                    <a:cs typeface="Times New Roman" panose="02020603050405020304" pitchFamily="18" charset="0"/>
                  </a:rPr>
                  <a:t>3)，轮密钥为 rkᵢ (i=0,...,31)，则轮密钥生成的方法为：</a:t>
                </a:r>
              </a:p>
              <a:p>
                <a:pPr defTabSz="457200">
                  <a:lnSpc>
                    <a:spcPct val="140000"/>
                  </a:lnSpc>
                  <a:spcAft>
                    <a:spcPts val="1000"/>
                  </a:spcAft>
                  <a:defRPr sz="2100" b="0">
                    <a:solidFill>
                      <a:srgbClr val="000000"/>
                    </a:solidFill>
                    <a:latin typeface="Times New Roman" panose="02020603050405020304"/>
                  </a:defRPr>
                </a:pPr>
                <a:r>
                  <a:rPr lang="en-US" sz="3600">
                    <a:latin typeface="Times New Roman" panose="02020603050405020304" pitchFamily="18" charset="0"/>
                    <a:ea typeface="宋体" panose="02010600030101010101" pitchFamily="2" charset="-122"/>
                    <a:cs typeface="Times New Roman" panose="02020603050405020304" pitchFamily="18" charset="0"/>
                  </a:rPr>
                  <a:t>(K</a:t>
                </a:r>
                <a:r>
                  <a:rPr lang="en-US" sz="3600" baseline="-25000">
                    <a:latin typeface="Times New Roman" panose="02020603050405020304" pitchFamily="18" charset="0"/>
                    <a:ea typeface="宋体" panose="02010600030101010101" pitchFamily="2" charset="-122"/>
                    <a:cs typeface="Times New Roman" panose="02020603050405020304" pitchFamily="18" charset="0"/>
                  </a:rPr>
                  <a:t>0</a:t>
                </a:r>
                <a:r>
                  <a:rPr lang="en-US" sz="3600">
                    <a:latin typeface="Times New Roman" panose="02020603050405020304" pitchFamily="18" charset="0"/>
                    <a:ea typeface="宋体" panose="02010600030101010101" pitchFamily="2" charset="-122"/>
                    <a:cs typeface="Times New Roman" panose="02020603050405020304" pitchFamily="18" charset="0"/>
                  </a:rPr>
                  <a:t> , K</a:t>
                </a:r>
                <a:r>
                  <a:rPr lang="en-US" sz="3600" baseline="-25000">
                    <a:latin typeface="Times New Roman" panose="02020603050405020304" pitchFamily="18" charset="0"/>
                    <a:ea typeface="宋体" panose="02010600030101010101" pitchFamily="2" charset="-122"/>
                    <a:cs typeface="Times New Roman" panose="02020603050405020304" pitchFamily="18" charset="0"/>
                  </a:rPr>
                  <a:t>1</a:t>
                </a:r>
                <a:r>
                  <a:rPr lang="en-US" sz="3600">
                    <a:latin typeface="Times New Roman" panose="02020603050405020304" pitchFamily="18" charset="0"/>
                    <a:ea typeface="宋体" panose="02010600030101010101" pitchFamily="2" charset="-122"/>
                    <a:cs typeface="Times New Roman" panose="02020603050405020304" pitchFamily="18" charset="0"/>
                  </a:rPr>
                  <a:t> , K</a:t>
                </a:r>
                <a:r>
                  <a:rPr lang="en-US" sz="3600" baseline="-25000">
                    <a:latin typeface="Times New Roman" panose="02020603050405020304" pitchFamily="18" charset="0"/>
                    <a:ea typeface="宋体" panose="02010600030101010101" pitchFamily="2" charset="-122"/>
                    <a:cs typeface="Times New Roman" panose="02020603050405020304" pitchFamily="18" charset="0"/>
                  </a:rPr>
                  <a:t>2</a:t>
                </a:r>
                <a:r>
                  <a:rPr lang="en-US" sz="3600">
                    <a:latin typeface="Times New Roman" panose="02020603050405020304" pitchFamily="18" charset="0"/>
                    <a:ea typeface="宋体" panose="02010600030101010101" pitchFamily="2" charset="-122"/>
                    <a:cs typeface="Times New Roman" panose="02020603050405020304" pitchFamily="18" charset="0"/>
                  </a:rPr>
                  <a:t> , K</a:t>
                </a:r>
                <a:r>
                  <a:rPr lang="en-US" sz="3600" baseline="-25000">
                    <a:latin typeface="Times New Roman" panose="02020603050405020304" pitchFamily="18" charset="0"/>
                    <a:ea typeface="宋体" panose="02010600030101010101" pitchFamily="2" charset="-122"/>
                    <a:cs typeface="Times New Roman" panose="02020603050405020304" pitchFamily="18" charset="0"/>
                  </a:rPr>
                  <a:t>3</a:t>
                </a:r>
                <a:r>
                  <a:rPr lang="en-US" sz="3600">
                    <a:latin typeface="Times New Roman" panose="02020603050405020304" pitchFamily="18" charset="0"/>
                    <a:ea typeface="宋体" panose="02010600030101010101" pitchFamily="2" charset="-122"/>
                    <a:cs typeface="Times New Roman" panose="02020603050405020304" pitchFamily="18" charset="0"/>
                  </a:rPr>
                  <a:t>) = (MK</a:t>
                </a:r>
                <a:r>
                  <a:rPr lang="en-US" sz="3600" baseline="-25000">
                    <a:latin typeface="Times New Roman" panose="02020603050405020304" pitchFamily="18" charset="0"/>
                    <a:ea typeface="宋体" panose="02010600030101010101" pitchFamily="2" charset="-122"/>
                    <a:cs typeface="Times New Roman" panose="02020603050405020304" pitchFamily="18" charset="0"/>
                  </a:rPr>
                  <a:t>0</a:t>
                </a:r>
                <a14:m>
                  <m:oMath xmlns:m="http://schemas.openxmlformats.org/officeDocument/2006/math">
                    <m:r>
                      <a:rPr lang="en-US" altLang="zh-CN" sz="3600" i="1">
                        <a:latin typeface="Cambria Math" panose="02040503050406030204" charset="0"/>
                        <a:ea typeface="MS Mincho" charset="0"/>
                        <a:cs typeface="Cambria Math" panose="02040503050406030204" charset="0"/>
                      </a:rPr>
                      <m:t>⊕</m:t>
                    </m:r>
                  </m:oMath>
                </a14:m>
                <a:r>
                  <a:rPr sz="3600">
                    <a:latin typeface="Times New Roman" panose="02020603050405020304" pitchFamily="18" charset="0"/>
                    <a:ea typeface="宋体" panose="02010600030101010101" pitchFamily="2" charset="-122"/>
                    <a:cs typeface="Times New Roman" panose="02020603050405020304" pitchFamily="18" charset="0"/>
                    <a:sym typeface="+mn-ea"/>
                  </a:rPr>
                  <a:t> </a:t>
                </a:r>
                <a:r>
                  <a:rPr lang="en-US" sz="3600">
                    <a:latin typeface="Times New Roman" panose="02020603050405020304" pitchFamily="18" charset="0"/>
                    <a:ea typeface="宋体" panose="02010600030101010101" pitchFamily="2" charset="-122"/>
                    <a:cs typeface="Times New Roman" panose="02020603050405020304" pitchFamily="18" charset="0"/>
                    <a:sym typeface="+mn-ea"/>
                  </a:rPr>
                  <a:t>FK</a:t>
                </a:r>
                <a:r>
                  <a:rPr lang="en-US" sz="3600" baseline="-25000">
                    <a:latin typeface="Times New Roman" panose="02020603050405020304" pitchFamily="18" charset="0"/>
                    <a:ea typeface="宋体" panose="02010600030101010101" pitchFamily="2" charset="-122"/>
                    <a:cs typeface="Times New Roman" panose="02020603050405020304" pitchFamily="18" charset="0"/>
                    <a:sym typeface="+mn-ea"/>
                  </a:rPr>
                  <a:t>0</a:t>
                </a:r>
                <a:r>
                  <a:rPr lang="en-US" sz="3600">
                    <a:latin typeface="Times New Roman" panose="02020603050405020304" pitchFamily="18" charset="0"/>
                    <a:ea typeface="宋体" panose="02010600030101010101" pitchFamily="2" charset="-122"/>
                    <a:cs typeface="Times New Roman" panose="02020603050405020304" pitchFamily="18" charset="0"/>
                    <a:sym typeface="+mn-ea"/>
                  </a:rPr>
                  <a:t> , MK</a:t>
                </a:r>
                <a:r>
                  <a:rPr lang="en-US" sz="3600" baseline="-25000">
                    <a:latin typeface="Times New Roman" panose="02020603050405020304" pitchFamily="18" charset="0"/>
                    <a:ea typeface="宋体" panose="02010600030101010101" pitchFamily="2" charset="-122"/>
                    <a:cs typeface="Times New Roman" panose="02020603050405020304" pitchFamily="18" charset="0"/>
                    <a:sym typeface="+mn-ea"/>
                  </a:rPr>
                  <a:t>1</a:t>
                </a:r>
                <a14:m>
                  <m:oMath xmlns:m="http://schemas.openxmlformats.org/officeDocument/2006/math">
                    <m:r>
                      <a:rPr lang="en-US" altLang="zh-CN" sz="3600" i="1">
                        <a:latin typeface="Cambria Math" panose="02040503050406030204" charset="0"/>
                        <a:ea typeface="MS Mincho" charset="0"/>
                        <a:cs typeface="Cambria Math" panose="02040503050406030204" charset="0"/>
                      </a:rPr>
                      <m:t>⊕</m:t>
                    </m:r>
                  </m:oMath>
                </a14:m>
                <a:r>
                  <a:rPr sz="3600">
                    <a:latin typeface="Times New Roman" panose="02020603050405020304" pitchFamily="18" charset="0"/>
                    <a:ea typeface="宋体" panose="02010600030101010101" pitchFamily="2" charset="-122"/>
                    <a:cs typeface="Times New Roman" panose="02020603050405020304" pitchFamily="18" charset="0"/>
                    <a:sym typeface="+mn-ea"/>
                  </a:rPr>
                  <a:t> </a:t>
                </a:r>
                <a:r>
                  <a:rPr lang="en-US" sz="3600">
                    <a:latin typeface="Times New Roman" panose="02020603050405020304" pitchFamily="18" charset="0"/>
                    <a:ea typeface="宋体" panose="02010600030101010101" pitchFamily="2" charset="-122"/>
                    <a:cs typeface="Times New Roman" panose="02020603050405020304" pitchFamily="18" charset="0"/>
                    <a:sym typeface="+mn-ea"/>
                  </a:rPr>
                  <a:t>FK</a:t>
                </a:r>
                <a:r>
                  <a:rPr lang="en-US" sz="3600" baseline="-2500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sz="3600">
                    <a:latin typeface="Times New Roman" panose="02020603050405020304" pitchFamily="18" charset="0"/>
                    <a:ea typeface="宋体" panose="02010600030101010101" pitchFamily="2" charset="-122"/>
                    <a:cs typeface="Times New Roman" panose="02020603050405020304" pitchFamily="18" charset="0"/>
                    <a:sym typeface="+mn-ea"/>
                  </a:rPr>
                  <a:t> , MK</a:t>
                </a:r>
                <a:r>
                  <a:rPr lang="en-US" sz="3600" baseline="-25000">
                    <a:latin typeface="Times New Roman" panose="02020603050405020304" pitchFamily="18" charset="0"/>
                    <a:ea typeface="宋体" panose="02010600030101010101" pitchFamily="2" charset="-122"/>
                    <a:cs typeface="Times New Roman" panose="02020603050405020304" pitchFamily="18" charset="0"/>
                    <a:sym typeface="+mn-ea"/>
                  </a:rPr>
                  <a:t>2</a:t>
                </a:r>
                <a14:m>
                  <m:oMath xmlns:m="http://schemas.openxmlformats.org/officeDocument/2006/math">
                    <m:r>
                      <a:rPr lang="en-US" altLang="zh-CN" sz="3600" i="1">
                        <a:latin typeface="Cambria Math" panose="02040503050406030204" charset="0"/>
                        <a:ea typeface="MS Mincho" charset="0"/>
                        <a:cs typeface="Cambria Math" panose="02040503050406030204" charset="0"/>
                      </a:rPr>
                      <m:t>⊕</m:t>
                    </m:r>
                  </m:oMath>
                </a14:m>
                <a:r>
                  <a:rPr sz="3600">
                    <a:latin typeface="Times New Roman" panose="02020603050405020304" pitchFamily="18" charset="0"/>
                    <a:ea typeface="宋体" panose="02010600030101010101" pitchFamily="2" charset="-122"/>
                    <a:cs typeface="Times New Roman" panose="02020603050405020304" pitchFamily="18" charset="0"/>
                    <a:sym typeface="+mn-ea"/>
                  </a:rPr>
                  <a:t> </a:t>
                </a:r>
                <a:r>
                  <a:rPr lang="en-US" sz="3600">
                    <a:latin typeface="Times New Roman" panose="02020603050405020304" pitchFamily="18" charset="0"/>
                    <a:ea typeface="宋体" panose="02010600030101010101" pitchFamily="2" charset="-122"/>
                    <a:cs typeface="Times New Roman" panose="02020603050405020304" pitchFamily="18" charset="0"/>
                    <a:sym typeface="+mn-ea"/>
                  </a:rPr>
                  <a:t>FK</a:t>
                </a:r>
                <a:r>
                  <a:rPr lang="en-US" sz="3600" baseline="-25000">
                    <a:latin typeface="Times New Roman" panose="02020603050405020304" pitchFamily="18" charset="0"/>
                    <a:ea typeface="宋体" panose="02010600030101010101" pitchFamily="2" charset="-122"/>
                    <a:cs typeface="Times New Roman" panose="02020603050405020304" pitchFamily="18" charset="0"/>
                    <a:sym typeface="+mn-ea"/>
                  </a:rPr>
                  <a:t>2</a:t>
                </a:r>
                <a:r>
                  <a:rPr lang="en-US" sz="3600">
                    <a:latin typeface="Times New Roman" panose="02020603050405020304" pitchFamily="18" charset="0"/>
                    <a:ea typeface="宋体" panose="02010600030101010101" pitchFamily="2" charset="-122"/>
                    <a:cs typeface="Times New Roman" panose="02020603050405020304" pitchFamily="18" charset="0"/>
                    <a:sym typeface="+mn-ea"/>
                  </a:rPr>
                  <a:t> , MK</a:t>
                </a:r>
                <a:r>
                  <a:rPr lang="en-US" sz="3600" baseline="-25000">
                    <a:latin typeface="Times New Roman" panose="02020603050405020304" pitchFamily="18" charset="0"/>
                    <a:ea typeface="宋体" panose="02010600030101010101" pitchFamily="2" charset="-122"/>
                    <a:cs typeface="Times New Roman" panose="02020603050405020304" pitchFamily="18" charset="0"/>
                    <a:sym typeface="+mn-ea"/>
                  </a:rPr>
                  <a:t>3</a:t>
                </a:r>
                <a14:m>
                  <m:oMath xmlns:m="http://schemas.openxmlformats.org/officeDocument/2006/math">
                    <m:r>
                      <a:rPr lang="en-US" altLang="zh-CN" sz="3600" i="1">
                        <a:latin typeface="Cambria Math" panose="02040503050406030204" charset="0"/>
                        <a:ea typeface="MS Mincho" charset="0"/>
                        <a:cs typeface="Cambria Math" panose="02040503050406030204" charset="0"/>
                      </a:rPr>
                      <m:t>⊕</m:t>
                    </m:r>
                  </m:oMath>
                </a14:m>
                <a:r>
                  <a:rPr sz="3600">
                    <a:latin typeface="Times New Roman" panose="02020603050405020304" pitchFamily="18" charset="0"/>
                    <a:ea typeface="宋体" panose="02010600030101010101" pitchFamily="2" charset="-122"/>
                    <a:cs typeface="Times New Roman" panose="02020603050405020304" pitchFamily="18" charset="0"/>
                    <a:sym typeface="+mn-ea"/>
                  </a:rPr>
                  <a:t> </a:t>
                </a:r>
                <a:r>
                  <a:rPr lang="en-US" sz="3600">
                    <a:latin typeface="Times New Roman" panose="02020603050405020304" pitchFamily="18" charset="0"/>
                    <a:ea typeface="宋体" panose="02010600030101010101" pitchFamily="2" charset="-122"/>
                    <a:cs typeface="Times New Roman" panose="02020603050405020304" pitchFamily="18" charset="0"/>
                    <a:sym typeface="+mn-ea"/>
                  </a:rPr>
                  <a:t>FK</a:t>
                </a:r>
                <a:r>
                  <a:rPr lang="en-US" sz="3600" baseline="-25000">
                    <a:latin typeface="Times New Roman" panose="02020603050405020304" pitchFamily="18" charset="0"/>
                    <a:ea typeface="宋体" panose="02010600030101010101" pitchFamily="2" charset="-122"/>
                    <a:cs typeface="Times New Roman" panose="02020603050405020304" pitchFamily="18" charset="0"/>
                    <a:sym typeface="+mn-ea"/>
                  </a:rPr>
                  <a:t>3</a:t>
                </a:r>
                <a:r>
                  <a:rPr lang="en-US" sz="3600">
                    <a:latin typeface="Times New Roman" panose="02020603050405020304" pitchFamily="18" charset="0"/>
                    <a:ea typeface="宋体" panose="02010600030101010101" pitchFamily="2" charset="-122"/>
                    <a:cs typeface="Times New Roman" panose="02020603050405020304" pitchFamily="18" charset="0"/>
                    <a:sym typeface="+mn-ea"/>
                  </a:rPr>
                  <a:t>)</a:t>
                </a:r>
                <a:endParaRPr sz="3600">
                  <a:latin typeface="Times New Roman" panose="02020603050405020304" pitchFamily="18" charset="0"/>
                  <a:ea typeface="宋体" panose="02010600030101010101" pitchFamily="2" charset="-122"/>
                  <a:cs typeface="Times New Roman" panose="02020603050405020304" pitchFamily="18" charset="0"/>
                </a:endParaRPr>
              </a:p>
              <a:p>
                <a:pPr defTabSz="457200">
                  <a:lnSpc>
                    <a:spcPct val="140000"/>
                  </a:lnSpc>
                  <a:spcAft>
                    <a:spcPts val="1000"/>
                  </a:spcAft>
                  <a:defRPr sz="2100" b="0">
                    <a:solidFill>
                      <a:srgbClr val="000000"/>
                    </a:solidFill>
                    <a:latin typeface="Times New Roman" panose="02020603050405020304"/>
                  </a:defRPr>
                </a:pPr>
                <a:r>
                  <a:rPr sz="3600">
                    <a:latin typeface="Times New Roman" panose="02020603050405020304" pitchFamily="18" charset="0"/>
                    <a:ea typeface="宋体" panose="02010600030101010101" pitchFamily="2" charset="-122"/>
                    <a:cs typeface="Times New Roman" panose="02020603050405020304" pitchFamily="18" charset="0"/>
                  </a:rPr>
                  <a:t>rkᵢ = </a:t>
                </a:r>
                <a:r>
                  <a:rPr sz="3600">
                    <a:latin typeface="Times New Roman" panose="02020603050405020304" pitchFamily="18" charset="0"/>
                    <a:ea typeface="宋体" panose="02010600030101010101" pitchFamily="2" charset="-122"/>
                    <a:cs typeface="Times New Roman" panose="02020603050405020304" pitchFamily="18" charset="0"/>
                    <a:sym typeface="+mn-ea"/>
                  </a:rPr>
                  <a:t>Kᵢ₊₄ = Kᵢ </a:t>
                </a:r>
                <a14:m>
                  <m:oMath xmlns:m="http://schemas.openxmlformats.org/officeDocument/2006/math">
                    <m:r>
                      <a:rPr lang="en-US" altLang="zh-CN" sz="3600" i="1">
                        <a:latin typeface="Cambria Math" panose="02040503050406030204" charset="0"/>
                        <a:ea typeface="MS Mincho" charset="0"/>
                        <a:cs typeface="Cambria Math" panose="02040503050406030204" charset="0"/>
                      </a:rPr>
                      <m:t>⊕</m:t>
                    </m:r>
                  </m:oMath>
                </a14:m>
                <a:r>
                  <a:rPr sz="3600">
                    <a:latin typeface="Times New Roman" panose="02020603050405020304" pitchFamily="18" charset="0"/>
                    <a:ea typeface="宋体" panose="02010600030101010101" pitchFamily="2" charset="-122"/>
                    <a:cs typeface="Times New Roman" panose="02020603050405020304" pitchFamily="18" charset="0"/>
                    <a:sym typeface="+mn-ea"/>
                  </a:rPr>
                  <a:t> T'(Kᵢ₊₁ </a:t>
                </a:r>
                <a14:m>
                  <m:oMath xmlns:m="http://schemas.openxmlformats.org/officeDocument/2006/math">
                    <m:r>
                      <a:rPr lang="en-US" altLang="zh-CN" sz="3600" i="1">
                        <a:latin typeface="Cambria Math" panose="02040503050406030204" charset="0"/>
                        <a:ea typeface="MS Mincho" charset="0"/>
                        <a:cs typeface="Cambria Math" panose="02040503050406030204" charset="0"/>
                      </a:rPr>
                      <m:t>⊕</m:t>
                    </m:r>
                  </m:oMath>
                </a14:m>
                <a:r>
                  <a:rPr sz="3600">
                    <a:latin typeface="Times New Roman" panose="02020603050405020304" pitchFamily="18" charset="0"/>
                    <a:ea typeface="宋体" panose="02010600030101010101" pitchFamily="2" charset="-122"/>
                    <a:cs typeface="Times New Roman" panose="02020603050405020304" pitchFamily="18" charset="0"/>
                    <a:sym typeface="+mn-ea"/>
                  </a:rPr>
                  <a:t>Kᵢ₊₂ </a:t>
                </a:r>
                <a14:m>
                  <m:oMath xmlns:m="http://schemas.openxmlformats.org/officeDocument/2006/math">
                    <m:r>
                      <a:rPr lang="en-US" altLang="zh-CN" sz="3600" i="1">
                        <a:latin typeface="Cambria Math" panose="02040503050406030204" charset="0"/>
                        <a:ea typeface="MS Mincho" charset="0"/>
                        <a:cs typeface="Cambria Math" panose="02040503050406030204" charset="0"/>
                      </a:rPr>
                      <m:t>⊕</m:t>
                    </m:r>
                  </m:oMath>
                </a14:m>
                <a:r>
                  <a:rPr sz="3600">
                    <a:latin typeface="Times New Roman" panose="02020603050405020304" pitchFamily="18" charset="0"/>
                    <a:ea typeface="宋体" panose="02010600030101010101" pitchFamily="2" charset="-122"/>
                    <a:cs typeface="Times New Roman" panose="02020603050405020304" pitchFamily="18" charset="0"/>
                    <a:sym typeface="+mn-ea"/>
                  </a:rPr>
                  <a:t>Kᵢ₊₃ </a:t>
                </a:r>
                <a14:m>
                  <m:oMath xmlns:m="http://schemas.openxmlformats.org/officeDocument/2006/math">
                    <m:r>
                      <a:rPr lang="en-US" altLang="zh-CN" sz="3600" i="1">
                        <a:latin typeface="Cambria Math" panose="02040503050406030204" charset="0"/>
                        <a:ea typeface="MS Mincho" charset="0"/>
                        <a:cs typeface="Cambria Math" panose="02040503050406030204" charset="0"/>
                      </a:rPr>
                      <m:t>⊕</m:t>
                    </m:r>
                  </m:oMath>
                </a14:m>
                <a:r>
                  <a:rPr sz="3600">
                    <a:latin typeface="Times New Roman" panose="02020603050405020304" pitchFamily="18" charset="0"/>
                    <a:ea typeface="宋体" panose="02010600030101010101" pitchFamily="2" charset="-122"/>
                    <a:cs typeface="Times New Roman" panose="02020603050405020304" pitchFamily="18" charset="0"/>
                    <a:sym typeface="+mn-ea"/>
                  </a:rPr>
                  <a:t> CKᵢ)</a:t>
                </a:r>
                <a:endParaRPr sz="3600">
                  <a:latin typeface="Times New Roman" panose="02020603050405020304" pitchFamily="18" charset="0"/>
                  <a:ea typeface="宋体" panose="02010600030101010101" pitchFamily="2" charset="-122"/>
                  <a:cs typeface="Times New Roman" panose="02020603050405020304" pitchFamily="18" charset="0"/>
                </a:endParaRPr>
              </a:p>
              <a:p>
                <a:pPr defTabSz="457200">
                  <a:lnSpc>
                    <a:spcPct val="140000"/>
                  </a:lnSpc>
                  <a:spcAft>
                    <a:spcPts val="1000"/>
                  </a:spcAft>
                  <a:defRPr sz="2100" b="0">
                    <a:solidFill>
                      <a:srgbClr val="000000"/>
                    </a:solidFill>
                    <a:latin typeface="Times New Roman" panose="02020603050405020304"/>
                  </a:defRPr>
                </a:pPr>
                <a:r>
                  <a:rPr sz="3600">
                    <a:latin typeface="Times New Roman" panose="02020603050405020304" pitchFamily="18" charset="0"/>
                    <a:ea typeface="宋体" panose="02010600030101010101" pitchFamily="2" charset="-122"/>
                    <a:cs typeface="Times New Roman" panose="02020603050405020304" pitchFamily="18" charset="0"/>
                  </a:rPr>
                  <a:t>其中，T'变换与加密算法轮函数中的T基本相同，只是其中的线性变换L变为L'，即：</a:t>
                </a:r>
              </a:p>
              <a:p>
                <a:pPr defTabSz="457200">
                  <a:lnSpc>
                    <a:spcPct val="140000"/>
                  </a:lnSpc>
                  <a:spcAft>
                    <a:spcPts val="1000"/>
                  </a:spcAft>
                  <a:defRPr sz="2100" b="0">
                    <a:solidFill>
                      <a:srgbClr val="000000"/>
                    </a:solidFill>
                    <a:latin typeface="Times New Roman" panose="02020603050405020304"/>
                  </a:defRPr>
                </a:pPr>
                <a:r>
                  <a:rPr sz="3600">
                    <a:latin typeface="Times New Roman" panose="02020603050405020304" pitchFamily="18" charset="0"/>
                    <a:ea typeface="宋体" panose="02010600030101010101" pitchFamily="2" charset="-122"/>
                    <a:cs typeface="Times New Roman" panose="02020603050405020304" pitchFamily="18" charset="0"/>
                  </a:rPr>
                  <a:t>L'(B) = B </a:t>
                </a:r>
                <a14:m>
                  <m:oMath xmlns:m="http://schemas.openxmlformats.org/officeDocument/2006/math">
                    <m:r>
                      <a:rPr lang="en-US" altLang="zh-CN" sz="3600" i="1">
                        <a:latin typeface="Cambria Math" panose="02040503050406030204" charset="0"/>
                        <a:ea typeface="MS Mincho" charset="0"/>
                        <a:cs typeface="Cambria Math" panose="02040503050406030204" charset="0"/>
                      </a:rPr>
                      <m:t>⊕</m:t>
                    </m:r>
                  </m:oMath>
                </a14:m>
                <a:r>
                  <a:rPr sz="3600">
                    <a:latin typeface="Times New Roman" panose="02020603050405020304" pitchFamily="18" charset="0"/>
                    <a:ea typeface="宋体" panose="02010600030101010101" pitchFamily="2" charset="-122"/>
                    <a:cs typeface="Times New Roman" panose="02020603050405020304" pitchFamily="18" charset="0"/>
                  </a:rPr>
                  <a:t> (B &lt;&lt;&lt; 13) </a:t>
                </a:r>
                <a14:m>
                  <m:oMath xmlns:m="http://schemas.openxmlformats.org/officeDocument/2006/math">
                    <m:r>
                      <a:rPr lang="en-US" altLang="zh-CN" sz="3600" i="1">
                        <a:latin typeface="Cambria Math" panose="02040503050406030204" charset="0"/>
                        <a:ea typeface="MS Mincho" charset="0"/>
                        <a:cs typeface="Cambria Math" panose="02040503050406030204" charset="0"/>
                      </a:rPr>
                      <m:t>⊕</m:t>
                    </m:r>
                  </m:oMath>
                </a14:m>
                <a:r>
                  <a:rPr sz="3600">
                    <a:latin typeface="Times New Roman" panose="02020603050405020304" pitchFamily="18" charset="0"/>
                    <a:ea typeface="宋体" panose="02010600030101010101" pitchFamily="2" charset="-122"/>
                    <a:cs typeface="Times New Roman" panose="02020603050405020304" pitchFamily="18" charset="0"/>
                  </a:rPr>
                  <a:t> (B &lt;&lt;&lt; 23)</a:t>
                </a:r>
              </a:p>
            </p:txBody>
          </p:sp>
        </mc:Choice>
        <mc:Fallback xmlns="">
          <p:sp>
            <p:nvSpPr>
              <p:cNvPr id="5" name="TextBox 4"/>
              <p:cNvSpPr txBox="1">
                <a:spLocks noRot="1" noChangeAspect="1" noMove="1" noResize="1" noEditPoints="1" noAdjustHandles="1" noChangeArrowheads="1" noChangeShapeType="1" noTextEdit="1"/>
              </p:cNvSpPr>
              <p:nvPr/>
            </p:nvSpPr>
            <p:spPr>
              <a:xfrm>
                <a:off x="1371600" y="1691640"/>
                <a:ext cx="15727680" cy="7814945"/>
              </a:xfrm>
              <a:prstGeom prst="rect">
                <a:avLst/>
              </a:prstGeom>
              <a:blipFill rotWithShape="1">
                <a:blip r:embed="rId2"/>
                <a:stretch>
                  <a:fillRect r="-1760"/>
                </a:stretch>
              </a:blipFill>
            </p:spPr>
            <p:txBody>
              <a:bodyPr/>
              <a:lstStyle/>
              <a:p>
                <a:r>
                  <a:rPr lang="zh-CN" altLang="en-US">
                    <a:noFill/>
                  </a:rPr>
                  <a:t> </a:t>
                </a:r>
              </a:p>
            </p:txBody>
          </p:sp>
        </mc:Fallback>
      </mc:AlternateContent>
      <p:sp>
        <p:nvSpPr>
          <p:cNvPr id="6" name="TextBox 5"/>
          <p:cNvSpPr txBox="1"/>
          <p:nvPr/>
        </p:nvSpPr>
        <p:spPr>
          <a:xfrm>
            <a:off x="17312132" y="9409176"/>
            <a:ext cx="363220" cy="306705"/>
          </a:xfrm>
          <a:prstGeom prst="rect">
            <a:avLst/>
          </a:prstGeom>
          <a:noFill/>
        </p:spPr>
        <p:txBody>
          <a:bodyPr wrap="none">
            <a:spAutoFit/>
          </a:bodyPr>
          <a:lstStyle/>
          <a:p>
            <a:pPr algn="r" defTabSz="457200">
              <a:defRPr sz="1800">
                <a:solidFill>
                  <a:srgbClr val="000000"/>
                </a:solidFill>
                <a:latin typeface="Times New Roman" panose="02020603050405020304"/>
              </a:defRPr>
            </a:pPr>
            <a:r>
              <a:rPr lang="en-US" sz="1400">
                <a:solidFill>
                  <a:srgbClr val="FFC000"/>
                </a:solidFill>
                <a:latin typeface="+mn-lt"/>
              </a:rPr>
              <a:t>10</a:t>
            </a:r>
            <a:endParaRPr lang="en-US" sz="2000"/>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3"/>
            <a:stretch>
              <a:fillRect/>
            </a:stretch>
          </p:blipFill>
          <p:spPr>
            <a:xfrm>
              <a:off x="13944600" y="877286"/>
              <a:ext cx="2771429" cy="47619"/>
            </a:xfrm>
            <a:prstGeom prst="rect">
              <a:avLst/>
            </a:prstGeom>
          </p:spPr>
        </p:pic>
      </p:grpSp>
      <p:sp>
        <p:nvSpPr>
          <p:cNvPr id="11"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密钥扩展算法</a:t>
            </a:r>
          </a:p>
        </p:txBody>
      </p:sp>
      <p:sp>
        <p:nvSpPr>
          <p:cNvPr id="12"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4.1.3</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4">
            <a:alphaModFix amt="80000"/>
          </a:blip>
          <a:stretch>
            <a:fillRect/>
          </a:stretch>
        </p:blipFill>
        <p:spPr>
          <a:xfrm>
            <a:off x="674370"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1371600" y="1691640"/>
                <a:ext cx="15727680" cy="7911465"/>
              </a:xfrm>
              <a:prstGeom prst="rect">
                <a:avLst/>
              </a:prstGeom>
              <a:noFill/>
            </p:spPr>
            <p:txBody>
              <a:bodyPr wrap="square">
                <a:spAutoFit/>
              </a:bodyPr>
              <a:lstStyle/>
              <a:p>
                <a:pPr defTabSz="457200">
                  <a:lnSpc>
                    <a:spcPct val="140000"/>
                  </a:lnSpc>
                  <a:spcAft>
                    <a:spcPts val="1000"/>
                  </a:spcAft>
                  <a:defRPr sz="2000" b="0">
                    <a:solidFill>
                      <a:srgbClr val="000000"/>
                    </a:solidFill>
                    <a:latin typeface="Times New Roman" panose="02020603050405020304"/>
                  </a:defRPr>
                </a:pPr>
                <a:r>
                  <a:rPr sz="2800">
                    <a:latin typeface="Times New Roman" panose="02020603050405020304" pitchFamily="18" charset="0"/>
                    <a:ea typeface="宋体" panose="02010600030101010101" pitchFamily="2" charset="-122"/>
                    <a:cs typeface="Times New Roman" panose="02020603050405020304" pitchFamily="18" charset="0"/>
                  </a:rPr>
                  <a:t>系统参数FK的取值采用十六进制数表示为：</a:t>
                </a:r>
              </a:p>
              <a:p>
                <a:pPr defTabSz="457200">
                  <a:lnSpc>
                    <a:spcPct val="140000"/>
                  </a:lnSpc>
                  <a:spcAft>
                    <a:spcPts val="1000"/>
                  </a:spcAft>
                  <a:defRPr sz="2000" b="0">
                    <a:solidFill>
                      <a:srgbClr val="000000"/>
                    </a:solidFill>
                    <a:latin typeface="Times New Roman" panose="02020603050405020304"/>
                  </a:defRPr>
                </a:pPr>
                <a:r>
                  <a:rPr sz="2800">
                    <a:latin typeface="Times New Roman" panose="02020603050405020304" pitchFamily="18" charset="0"/>
                    <a:ea typeface="宋体" panose="02010600030101010101" pitchFamily="2" charset="-122"/>
                    <a:cs typeface="Times New Roman" panose="02020603050405020304" pitchFamily="18" charset="0"/>
                  </a:rPr>
                  <a:t>FK₀ = </a:t>
                </a:r>
                <a:r>
                  <a:rPr lang="en-US" sz="2800">
                    <a:latin typeface="Times New Roman" panose="02020603050405020304" pitchFamily="18" charset="0"/>
                    <a:ea typeface="宋体" panose="02010600030101010101" pitchFamily="2" charset="-122"/>
                    <a:cs typeface="Times New Roman" panose="02020603050405020304" pitchFamily="18" charset="0"/>
                  </a:rPr>
                  <a:t>(</a:t>
                </a:r>
                <a:r>
                  <a:rPr sz="2800">
                    <a:latin typeface="Times New Roman" panose="02020603050405020304" pitchFamily="18" charset="0"/>
                    <a:ea typeface="宋体" panose="02010600030101010101" pitchFamily="2" charset="-122"/>
                    <a:cs typeface="Times New Roman" panose="02020603050405020304" pitchFamily="18" charset="0"/>
                  </a:rPr>
                  <a:t>A3B1BAC6</a:t>
                </a:r>
                <a:r>
                  <a:rPr lang="en-US" sz="2800">
                    <a:latin typeface="Times New Roman" panose="02020603050405020304" pitchFamily="18" charset="0"/>
                    <a:ea typeface="宋体" panose="02010600030101010101" pitchFamily="2" charset="-122"/>
                    <a:cs typeface="Times New Roman" panose="02020603050405020304" pitchFamily="18" charset="0"/>
                  </a:rPr>
                  <a:t>)</a:t>
                </a:r>
                <a:r>
                  <a:rPr sz="2800">
                    <a:latin typeface="Times New Roman" panose="02020603050405020304" pitchFamily="18" charset="0"/>
                    <a:ea typeface="宋体" panose="02010600030101010101" pitchFamily="2" charset="-122"/>
                    <a:cs typeface="Times New Roman" panose="02020603050405020304" pitchFamily="18" charset="0"/>
                  </a:rPr>
                  <a:t>    FK₁ = </a:t>
                </a:r>
                <a:r>
                  <a:rPr lang="en-US" sz="2800">
                    <a:latin typeface="Times New Roman" panose="02020603050405020304" pitchFamily="18" charset="0"/>
                    <a:ea typeface="宋体" panose="02010600030101010101" pitchFamily="2" charset="-122"/>
                    <a:cs typeface="Times New Roman" panose="02020603050405020304" pitchFamily="18" charset="0"/>
                  </a:rPr>
                  <a:t>(</a:t>
                </a:r>
                <a:r>
                  <a:rPr sz="2800">
                    <a:latin typeface="Times New Roman" panose="02020603050405020304" pitchFamily="18" charset="0"/>
                    <a:ea typeface="宋体" panose="02010600030101010101" pitchFamily="2" charset="-122"/>
                    <a:cs typeface="Times New Roman" panose="02020603050405020304" pitchFamily="18" charset="0"/>
                  </a:rPr>
                  <a:t>56AA3350</a:t>
                </a:r>
                <a:r>
                  <a:rPr lang="en-US" sz="2800">
                    <a:latin typeface="Times New Roman" panose="02020603050405020304" pitchFamily="18" charset="0"/>
                    <a:ea typeface="宋体" panose="02010600030101010101" pitchFamily="2" charset="-122"/>
                    <a:cs typeface="Times New Roman" panose="02020603050405020304" pitchFamily="18" charset="0"/>
                  </a:rPr>
                  <a:t>)</a:t>
                </a:r>
                <a:r>
                  <a:rPr sz="2800">
                    <a:latin typeface="Times New Roman" panose="02020603050405020304" pitchFamily="18" charset="0"/>
                    <a:ea typeface="宋体" panose="02010600030101010101" pitchFamily="2" charset="-122"/>
                    <a:cs typeface="Times New Roman" panose="02020603050405020304" pitchFamily="18" charset="0"/>
                  </a:rPr>
                  <a:t>    FK₂ = </a:t>
                </a:r>
                <a:r>
                  <a:rPr lang="en-US" sz="2800">
                    <a:latin typeface="Times New Roman" panose="02020603050405020304" pitchFamily="18" charset="0"/>
                    <a:ea typeface="宋体" panose="02010600030101010101" pitchFamily="2" charset="-122"/>
                    <a:cs typeface="Times New Roman" panose="02020603050405020304" pitchFamily="18" charset="0"/>
                  </a:rPr>
                  <a:t>(</a:t>
                </a:r>
                <a:r>
                  <a:rPr sz="2800">
                    <a:latin typeface="Times New Roman" panose="02020603050405020304" pitchFamily="18" charset="0"/>
                    <a:ea typeface="宋体" panose="02010600030101010101" pitchFamily="2" charset="-122"/>
                    <a:cs typeface="Times New Roman" panose="02020603050405020304" pitchFamily="18" charset="0"/>
                  </a:rPr>
                  <a:t>677D9197</a:t>
                </a:r>
                <a:r>
                  <a:rPr lang="en-US" sz="2800">
                    <a:latin typeface="Times New Roman" panose="02020603050405020304" pitchFamily="18" charset="0"/>
                    <a:ea typeface="宋体" panose="02010600030101010101" pitchFamily="2" charset="-122"/>
                    <a:cs typeface="Times New Roman" panose="02020603050405020304" pitchFamily="18" charset="0"/>
                  </a:rPr>
                  <a:t>)</a:t>
                </a:r>
                <a:r>
                  <a:rPr sz="2800">
                    <a:latin typeface="Times New Roman" panose="02020603050405020304" pitchFamily="18" charset="0"/>
                    <a:ea typeface="宋体" panose="02010600030101010101" pitchFamily="2" charset="-122"/>
                    <a:cs typeface="Times New Roman" panose="02020603050405020304" pitchFamily="18" charset="0"/>
                  </a:rPr>
                  <a:t>    FK₃ = </a:t>
                </a:r>
                <a:r>
                  <a:rPr lang="en-US" sz="2800">
                    <a:latin typeface="Times New Roman" panose="02020603050405020304" pitchFamily="18" charset="0"/>
                    <a:ea typeface="宋体" panose="02010600030101010101" pitchFamily="2" charset="-122"/>
                    <a:cs typeface="Times New Roman" panose="02020603050405020304" pitchFamily="18" charset="0"/>
                  </a:rPr>
                  <a:t>(</a:t>
                </a:r>
                <a:r>
                  <a:rPr sz="2800">
                    <a:latin typeface="Times New Roman" panose="02020603050405020304" pitchFamily="18" charset="0"/>
                    <a:ea typeface="宋体" panose="02010600030101010101" pitchFamily="2" charset="-122"/>
                    <a:cs typeface="Times New Roman" panose="02020603050405020304" pitchFamily="18" charset="0"/>
                  </a:rPr>
                  <a:t>B27022DC</a:t>
                </a:r>
                <a:r>
                  <a:rPr lang="en-US" sz="2800">
                    <a:latin typeface="Times New Roman" panose="02020603050405020304" pitchFamily="18" charset="0"/>
                    <a:ea typeface="宋体" panose="02010600030101010101" pitchFamily="2" charset="-122"/>
                    <a:cs typeface="Times New Roman" panose="02020603050405020304" pitchFamily="18" charset="0"/>
                  </a:rPr>
                  <a:t>)</a:t>
                </a:r>
                <a:endParaRPr sz="2800">
                  <a:latin typeface="Times New Roman" panose="02020603050405020304" pitchFamily="18" charset="0"/>
                  <a:ea typeface="宋体" panose="02010600030101010101" pitchFamily="2" charset="-122"/>
                  <a:cs typeface="Times New Roman" panose="02020603050405020304" pitchFamily="18" charset="0"/>
                </a:endParaRPr>
              </a:p>
              <a:p>
                <a:pPr defTabSz="457200">
                  <a:lnSpc>
                    <a:spcPct val="140000"/>
                  </a:lnSpc>
                  <a:spcAft>
                    <a:spcPts val="1000"/>
                  </a:spcAft>
                  <a:defRPr sz="2000" b="0">
                    <a:solidFill>
                      <a:srgbClr val="000000"/>
                    </a:solidFill>
                    <a:latin typeface="Times New Roman" panose="02020603050405020304"/>
                  </a:defRPr>
                </a:pPr>
                <a:endParaRPr sz="2800">
                  <a:latin typeface="Times New Roman" panose="02020603050405020304" pitchFamily="18" charset="0"/>
                  <a:ea typeface="宋体" panose="02010600030101010101" pitchFamily="2" charset="-122"/>
                  <a:cs typeface="Times New Roman" panose="02020603050405020304" pitchFamily="18" charset="0"/>
                </a:endParaRPr>
              </a:p>
              <a:p>
                <a:pPr defTabSz="457200">
                  <a:lnSpc>
                    <a:spcPct val="140000"/>
                  </a:lnSpc>
                  <a:spcAft>
                    <a:spcPts val="1000"/>
                  </a:spcAft>
                  <a:defRPr sz="2000" b="0">
                    <a:solidFill>
                      <a:srgbClr val="000000"/>
                    </a:solidFill>
                    <a:latin typeface="Times New Roman" panose="02020603050405020304"/>
                  </a:defRPr>
                </a:pPr>
                <a:r>
                  <a:rPr sz="2800">
                    <a:latin typeface="Times New Roman" panose="02020603050405020304" pitchFamily="18" charset="0"/>
                    <a:ea typeface="宋体" panose="02010600030101010101" pitchFamily="2" charset="-122"/>
                    <a:cs typeface="Times New Roman" panose="02020603050405020304" pitchFamily="18" charset="0"/>
                  </a:rPr>
                  <a:t>固定参数CK则按照以下方法来取值：设 CKᵢⱼ 为 CKᵢ 的第 j 个字节 (i=0,1,...,31; j=0,1,2,3)，即 CKᵢ = (CKᵢ₀, CKᵢ₁, CKᵢ₂, CKᵢ₃) ∈ (</a:t>
                </a:r>
                <a14:m>
                  <m:oMath xmlns:m="http://schemas.openxmlformats.org/officeDocument/2006/math">
                    <m:sSubSup>
                      <m:sSubSupPr>
                        <m:ctrlPr>
                          <a:rPr lang="en-US" sz="2800" i="1">
                            <a:latin typeface="Cambria Math" panose="02040503050406030204" charset="0"/>
                            <a:ea typeface="宋体" panose="02010600030101010101" pitchFamily="2" charset="-122"/>
                            <a:cs typeface="Cambria Math" panose="02040503050406030204" charset="0"/>
                          </a:rPr>
                        </m:ctrlPr>
                      </m:sSubSupPr>
                      <m:e>
                        <m:r>
                          <a:rPr lang="en-US" sz="2800" i="1">
                            <a:latin typeface="Cambria Math" panose="02040503050406030204" charset="0"/>
                            <a:ea typeface="宋体" panose="02010600030101010101" pitchFamily="2" charset="-122"/>
                            <a:cs typeface="Cambria Math" panose="02040503050406030204" charset="0"/>
                          </a:rPr>
                          <m:t>𝑍</m:t>
                        </m:r>
                      </m:e>
                      <m:sub>
                        <m:r>
                          <a:rPr lang="en-US" sz="2800" i="1">
                            <a:latin typeface="Cambria Math" panose="02040503050406030204" charset="0"/>
                            <a:ea typeface="MS Mincho" charset="0"/>
                            <a:cs typeface="Cambria Math" panose="02040503050406030204" charset="0"/>
                          </a:rPr>
                          <m:t>2</m:t>
                        </m:r>
                      </m:sub>
                      <m:sup>
                        <m:r>
                          <a:rPr lang="en-US" sz="2800" i="1">
                            <a:latin typeface="Cambria Math" panose="02040503050406030204" charset="0"/>
                            <a:ea typeface="MS Mincho" charset="0"/>
                            <a:cs typeface="Cambria Math" panose="02040503050406030204" charset="0"/>
                          </a:rPr>
                          <m:t>8</m:t>
                        </m:r>
                      </m:sup>
                    </m:sSubSup>
                  </m:oMath>
                </a14:m>
                <a:r>
                  <a:rPr sz="2800">
                    <a:latin typeface="Times New Roman" panose="02020603050405020304" pitchFamily="18" charset="0"/>
                    <a:ea typeface="宋体" panose="02010600030101010101" pitchFamily="2" charset="-122"/>
                    <a:cs typeface="Times New Roman" panose="02020603050405020304" pitchFamily="18" charset="0"/>
                  </a:rPr>
                  <a:t>)⁴，则 CKᵢⱼ = (4i + j) × 7 (mod 256)。</a:t>
                </a:r>
              </a:p>
              <a:p>
                <a:pPr defTabSz="457200">
                  <a:lnSpc>
                    <a:spcPct val="140000"/>
                  </a:lnSpc>
                  <a:spcAft>
                    <a:spcPts val="1000"/>
                  </a:spcAft>
                  <a:defRPr sz="2000" b="0">
                    <a:solidFill>
                      <a:srgbClr val="000000"/>
                    </a:solidFill>
                    <a:latin typeface="Times New Roman" panose="02020603050405020304"/>
                  </a:defRPr>
                </a:pPr>
                <a:endParaRPr sz="2800">
                  <a:latin typeface="Times New Roman" panose="02020603050405020304" pitchFamily="18" charset="0"/>
                  <a:ea typeface="宋体" panose="02010600030101010101" pitchFamily="2" charset="-122"/>
                  <a:cs typeface="Times New Roman" panose="02020603050405020304" pitchFamily="18" charset="0"/>
                </a:endParaRPr>
              </a:p>
              <a:p>
                <a:pPr defTabSz="457200">
                  <a:lnSpc>
                    <a:spcPct val="140000"/>
                  </a:lnSpc>
                  <a:spcAft>
                    <a:spcPts val="1000"/>
                  </a:spcAft>
                  <a:defRPr sz="2000" b="0">
                    <a:solidFill>
                      <a:srgbClr val="000000"/>
                    </a:solidFill>
                    <a:latin typeface="Times New Roman" panose="02020603050405020304"/>
                  </a:defRPr>
                </a:pPr>
                <a:r>
                  <a:rPr sz="2800">
                    <a:latin typeface="Times New Roman" panose="02020603050405020304" pitchFamily="18" charset="0"/>
                    <a:ea typeface="宋体" panose="02010600030101010101" pitchFamily="2" charset="-122"/>
                    <a:cs typeface="Times New Roman" panose="02020603050405020304" pitchFamily="18" charset="0"/>
                  </a:rPr>
                  <a:t>下面是32个固定参数CK的十六进制表示形式的具体值：</a:t>
                </a:r>
              </a:p>
              <a:p>
                <a:pPr defTabSz="457200">
                  <a:lnSpc>
                    <a:spcPct val="140000"/>
                  </a:lnSpc>
                  <a:spcAft>
                    <a:spcPts val="1000"/>
                  </a:spcAft>
                  <a:defRPr sz="2000" b="0">
                    <a:solidFill>
                      <a:srgbClr val="000000"/>
                    </a:solidFill>
                    <a:latin typeface="Times New Roman" panose="02020603050405020304"/>
                  </a:defRPr>
                </a:pPr>
                <a:r>
                  <a:rPr sz="2800">
                    <a:latin typeface="Times New Roman" panose="02020603050405020304" pitchFamily="18" charset="0"/>
                    <a:ea typeface="宋体" panose="02010600030101010101" pitchFamily="2" charset="-122"/>
                    <a:cs typeface="Times New Roman" panose="02020603050405020304" pitchFamily="18" charset="0"/>
                  </a:rPr>
                  <a:t>00070E15, 1C232A31, 383F464D, 545B6269, 70777E85, 8C939AA1, A8AFB6BD, C4CBD2D9,</a:t>
                </a:r>
              </a:p>
              <a:p>
                <a:pPr defTabSz="457200">
                  <a:lnSpc>
                    <a:spcPct val="140000"/>
                  </a:lnSpc>
                  <a:spcAft>
                    <a:spcPts val="1000"/>
                  </a:spcAft>
                  <a:defRPr sz="2000" b="0">
                    <a:solidFill>
                      <a:srgbClr val="000000"/>
                    </a:solidFill>
                    <a:latin typeface="Times New Roman" panose="02020603050405020304"/>
                  </a:defRPr>
                </a:pPr>
                <a:r>
                  <a:rPr sz="2800">
                    <a:latin typeface="Times New Roman" panose="02020603050405020304" pitchFamily="18" charset="0"/>
                    <a:ea typeface="宋体" panose="02010600030101010101" pitchFamily="2" charset="-122"/>
                    <a:cs typeface="Times New Roman" panose="02020603050405020304" pitchFamily="18" charset="0"/>
                  </a:rPr>
                  <a:t>E0E7EEF5, FC030A11, 181F262D, 343B4249, 50575E65, 6C737A81, 888F969D, A4ABB2B9,</a:t>
                </a:r>
              </a:p>
              <a:p>
                <a:pPr defTabSz="457200">
                  <a:lnSpc>
                    <a:spcPct val="140000"/>
                  </a:lnSpc>
                  <a:spcAft>
                    <a:spcPts val="1000"/>
                  </a:spcAft>
                  <a:defRPr sz="2000" b="0">
                    <a:solidFill>
                      <a:srgbClr val="000000"/>
                    </a:solidFill>
                    <a:latin typeface="Times New Roman" panose="02020603050405020304"/>
                  </a:defRPr>
                </a:pPr>
                <a:r>
                  <a:rPr sz="2800">
                    <a:latin typeface="Times New Roman" panose="02020603050405020304" pitchFamily="18" charset="0"/>
                    <a:ea typeface="宋体" panose="02010600030101010101" pitchFamily="2" charset="-122"/>
                    <a:cs typeface="Times New Roman" panose="02020603050405020304" pitchFamily="18" charset="0"/>
                  </a:rPr>
                  <a:t>C0C7CED5, DCE3EAF1, F8FF060D, 141B2229, 30373E45, 4C535A61, 686F767D, 848B9299,</a:t>
                </a:r>
              </a:p>
              <a:p>
                <a:pPr defTabSz="457200">
                  <a:lnSpc>
                    <a:spcPct val="140000"/>
                  </a:lnSpc>
                  <a:spcAft>
                    <a:spcPts val="1000"/>
                  </a:spcAft>
                  <a:defRPr sz="2000" b="0">
                    <a:solidFill>
                      <a:srgbClr val="000000"/>
                    </a:solidFill>
                    <a:latin typeface="Times New Roman" panose="02020603050405020304"/>
                  </a:defRPr>
                </a:pPr>
                <a:r>
                  <a:rPr sz="2800">
                    <a:latin typeface="Times New Roman" panose="02020603050405020304" pitchFamily="18" charset="0"/>
                    <a:ea typeface="宋体" panose="02010600030101010101" pitchFamily="2" charset="-122"/>
                    <a:cs typeface="Times New Roman" panose="02020603050405020304" pitchFamily="18" charset="0"/>
                  </a:rPr>
                  <a:t>A0A7AEB5, BCC3CAD1, D8DFE6ED, F4FB0209, 10171E25, 2C333A41, 484F565D, 646B7279。</a:t>
                </a:r>
              </a:p>
            </p:txBody>
          </p:sp>
        </mc:Choice>
        <mc:Fallback xmlns="">
          <p:sp>
            <p:nvSpPr>
              <p:cNvPr id="5" name="TextBox 4"/>
              <p:cNvSpPr txBox="1">
                <a:spLocks noRot="1" noChangeAspect="1" noMove="1" noResize="1" noEditPoints="1" noAdjustHandles="1" noChangeArrowheads="1" noChangeShapeType="1" noTextEdit="1"/>
              </p:cNvSpPr>
              <p:nvPr/>
            </p:nvSpPr>
            <p:spPr>
              <a:xfrm>
                <a:off x="1371600" y="1691640"/>
                <a:ext cx="15727680" cy="7911465"/>
              </a:xfrm>
              <a:prstGeom prst="rect">
                <a:avLst/>
              </a:prstGeom>
              <a:blipFill rotWithShape="1">
                <a:blip r:embed="rId2"/>
                <a:stretch>
                  <a:fillRect/>
                </a:stretch>
              </a:blipFill>
            </p:spPr>
            <p:txBody>
              <a:bodyPr/>
              <a:lstStyle/>
              <a:p>
                <a:r>
                  <a:rPr lang="zh-CN" altLang="en-US">
                    <a:noFill/>
                  </a:rPr>
                  <a:t> </a:t>
                </a:r>
              </a:p>
            </p:txBody>
          </p:sp>
        </mc:Fallback>
      </mc:AlternateContent>
      <p:sp>
        <p:nvSpPr>
          <p:cNvPr id="6" name="TextBox 5"/>
          <p:cNvSpPr txBox="1"/>
          <p:nvPr/>
        </p:nvSpPr>
        <p:spPr>
          <a:xfrm>
            <a:off x="17312132" y="9409176"/>
            <a:ext cx="363220" cy="306705"/>
          </a:xfrm>
          <a:prstGeom prst="rect">
            <a:avLst/>
          </a:prstGeom>
          <a:noFill/>
        </p:spPr>
        <p:txBody>
          <a:bodyPr wrap="none">
            <a:spAutoFit/>
          </a:bodyPr>
          <a:lstStyle/>
          <a:p>
            <a:pPr algn="r" defTabSz="457200">
              <a:defRPr sz="1800">
                <a:solidFill>
                  <a:srgbClr val="000000"/>
                </a:solidFill>
                <a:latin typeface="Times New Roman" panose="02020603050405020304"/>
              </a:defRPr>
            </a:pPr>
            <a:r>
              <a:rPr lang="en-US" sz="1400">
                <a:solidFill>
                  <a:srgbClr val="FFC000"/>
                </a:solidFill>
                <a:latin typeface="+mn-lt"/>
              </a:rPr>
              <a:t>11</a:t>
            </a:r>
            <a:endParaRPr lang="en-US" sz="2000"/>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3"/>
            <a:stretch>
              <a:fillRect/>
            </a:stretch>
          </p:blipFill>
          <p:spPr>
            <a:xfrm>
              <a:off x="13944600" y="877286"/>
              <a:ext cx="2771429" cy="47619"/>
            </a:xfrm>
            <a:prstGeom prst="rect">
              <a:avLst/>
            </a:prstGeom>
          </p:spPr>
        </p:pic>
      </p:grpSp>
      <p:sp>
        <p:nvSpPr>
          <p:cNvPr id="11"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密钥扩展算法</a:t>
            </a:r>
          </a:p>
        </p:txBody>
      </p:sp>
      <p:sp>
        <p:nvSpPr>
          <p:cNvPr id="12"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4.1.3</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4">
            <a:alphaModFix amt="80000"/>
          </a:blip>
          <a:stretch>
            <a:fillRect/>
          </a:stretch>
        </p:blipFill>
        <p:spPr>
          <a:xfrm>
            <a:off x="674370"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1707515" y="1583055"/>
                <a:ext cx="14408785" cy="7192010"/>
              </a:xfrm>
              <a:prstGeom prst="rect">
                <a:avLst/>
              </a:prstGeom>
              <a:noFill/>
            </p:spPr>
            <p:txBody>
              <a:bodyPr wrap="square">
                <a:spAutoFit/>
              </a:bodyPr>
              <a:lstStyle/>
              <a:p>
                <a:pPr defTabSz="457200">
                  <a:lnSpc>
                    <a:spcPct val="140000"/>
                  </a:lnSpc>
                  <a:spcAft>
                    <a:spcPts val="1000"/>
                  </a:spcAft>
                  <a:defRPr sz="2000" b="0">
                    <a:solidFill>
                      <a:srgbClr val="000000"/>
                    </a:solidFill>
                    <a:latin typeface="Times New Roman" panose="02020603050405020304"/>
                  </a:defRPr>
                </a:pPr>
                <a:r>
                  <a:rPr lang="en-US" sz="2800">
                    <a:latin typeface="Times New Roman" panose="02020603050405020304" pitchFamily="18" charset="0"/>
                    <a:ea typeface="宋体" panose="02010600030101010101" pitchFamily="2" charset="-122"/>
                  </a:rPr>
                  <a:t>    </a:t>
                </a:r>
                <a:r>
                  <a:rPr lang="en-US" sz="2800">
                    <a:latin typeface="Times New Roman" panose="02020603050405020304" pitchFamily="18" charset="0"/>
                    <a:ea typeface="宋体" panose="02010600030101010101" pitchFamily="2" charset="-122"/>
                    <a:cs typeface="Times New Roman" panose="02020603050405020304" pitchFamily="18" charset="0"/>
                  </a:rPr>
                  <a:t> </a:t>
                </a:r>
                <a:r>
                  <a:rPr sz="2800">
                    <a:latin typeface="Times New Roman" panose="02020603050405020304" pitchFamily="18" charset="0"/>
                    <a:ea typeface="宋体" panose="02010600030101010101" pitchFamily="2" charset="-122"/>
                    <a:cs typeface="Times New Roman" panose="02020603050405020304" pitchFamily="18" charset="0"/>
                  </a:rPr>
                  <a:t>算法采用非线性迭代结构，以字为单位进行加密运算，称一次迭代运算为一轮变换。设明文输入为 (X₀, X₁, X₂, X₃)</a:t>
                </a:r>
                <a:r>
                  <a:rPr sz="2800">
                    <a:latin typeface="Times New Roman" panose="02020603050405020304" pitchFamily="18" charset="0"/>
                    <a:ea typeface="宋体" panose="02010600030101010101" pitchFamily="2" charset="-122"/>
                    <a:cs typeface="Times New Roman" panose="02020603050405020304" pitchFamily="18" charset="0"/>
                    <a:sym typeface="+mn-ea"/>
                  </a:rPr>
                  <a:t>∈ (</a:t>
                </a:r>
                <a14:m>
                  <m:oMath xmlns:m="http://schemas.openxmlformats.org/officeDocument/2006/math">
                    <m:sSubSup>
                      <m:sSubSupPr>
                        <m:ctrlPr>
                          <a:rPr lang="en-US" sz="2800" i="1">
                            <a:latin typeface="Cambria Math" panose="02040503050406030204" charset="0"/>
                            <a:ea typeface="宋体" panose="02010600030101010101" pitchFamily="2" charset="-122"/>
                            <a:cs typeface="Cambria Math" panose="02040503050406030204" charset="0"/>
                            <a:sym typeface="+mn-ea"/>
                          </a:rPr>
                        </m:ctrlPr>
                      </m:sSubSupPr>
                      <m:e>
                        <m:r>
                          <a:rPr lang="en-US" sz="2800" i="1">
                            <a:latin typeface="Cambria Math" panose="02040503050406030204" charset="0"/>
                            <a:ea typeface="宋体" panose="02010600030101010101" pitchFamily="2" charset="-122"/>
                            <a:cs typeface="Cambria Math" panose="02040503050406030204" charset="0"/>
                            <a:sym typeface="+mn-ea"/>
                          </a:rPr>
                          <m:t>𝑍</m:t>
                        </m:r>
                      </m:e>
                      <m:sub>
                        <m:r>
                          <a:rPr lang="en-US" sz="2800" i="1">
                            <a:latin typeface="Cambria Math" panose="02040503050406030204" charset="0"/>
                            <a:ea typeface="MS Mincho" charset="0"/>
                            <a:cs typeface="Cambria Math" panose="02040503050406030204" charset="0"/>
                            <a:sym typeface="+mn-ea"/>
                          </a:rPr>
                          <m:t>2</m:t>
                        </m:r>
                      </m:sub>
                      <m:sup>
                        <m:r>
                          <a:rPr lang="en-US" sz="2800" i="1">
                            <a:latin typeface="Cambria Math" panose="02040503050406030204" charset="0"/>
                            <a:ea typeface="MS Mincho" charset="0"/>
                            <a:cs typeface="Cambria Math" panose="02040503050406030204" charset="0"/>
                            <a:sym typeface="+mn-ea"/>
                          </a:rPr>
                          <m:t>32</m:t>
                        </m:r>
                      </m:sup>
                    </m:sSubSup>
                  </m:oMath>
                </a14:m>
                <a:r>
                  <a:rPr sz="2800">
                    <a:latin typeface="Times New Roman" panose="02020603050405020304" pitchFamily="18" charset="0"/>
                    <a:ea typeface="宋体" panose="02010600030101010101" pitchFamily="2" charset="-122"/>
                    <a:cs typeface="Times New Roman" panose="02020603050405020304" pitchFamily="18" charset="0"/>
                    <a:sym typeface="+mn-ea"/>
                  </a:rPr>
                  <a:t>)⁴</a:t>
                </a:r>
                <a:r>
                  <a:rPr sz="2800">
                    <a:latin typeface="Times New Roman" panose="02020603050405020304" pitchFamily="18" charset="0"/>
                    <a:ea typeface="宋体" panose="02010600030101010101" pitchFamily="2" charset="-122"/>
                    <a:cs typeface="Times New Roman" panose="02020603050405020304" pitchFamily="18" charset="0"/>
                  </a:rPr>
                  <a:t>，轮密钥为 rkᵢ</a:t>
                </a:r>
                <a:r>
                  <a:rPr sz="2800">
                    <a:latin typeface="Times New Roman" panose="02020603050405020304" pitchFamily="18" charset="0"/>
                    <a:ea typeface="宋体" panose="02010600030101010101" pitchFamily="2" charset="-122"/>
                    <a:cs typeface="Times New Roman" panose="02020603050405020304" pitchFamily="18" charset="0"/>
                    <a:sym typeface="+mn-ea"/>
                  </a:rPr>
                  <a:t>∈</a:t>
                </a:r>
                <a14:m>
                  <m:oMath xmlns:m="http://schemas.openxmlformats.org/officeDocument/2006/math">
                    <m:sSubSup>
                      <m:sSubSupPr>
                        <m:ctrlPr>
                          <a:rPr lang="en-US" sz="2800" i="1">
                            <a:latin typeface="Cambria Math" panose="02040503050406030204" charset="0"/>
                            <a:ea typeface="宋体" panose="02010600030101010101" pitchFamily="2" charset="-122"/>
                            <a:cs typeface="Cambria Math" panose="02040503050406030204" charset="0"/>
                            <a:sym typeface="+mn-ea"/>
                          </a:rPr>
                        </m:ctrlPr>
                      </m:sSubSupPr>
                      <m:e>
                        <m:r>
                          <a:rPr lang="en-US" sz="2800" i="1">
                            <a:latin typeface="Cambria Math" panose="02040503050406030204" charset="0"/>
                            <a:ea typeface="宋体" panose="02010600030101010101" pitchFamily="2" charset="-122"/>
                            <a:cs typeface="Cambria Math" panose="02040503050406030204" charset="0"/>
                            <a:sym typeface="+mn-ea"/>
                          </a:rPr>
                          <m:t>𝑍</m:t>
                        </m:r>
                      </m:e>
                      <m:sub>
                        <m:r>
                          <a:rPr lang="en-US" sz="2800" i="1">
                            <a:latin typeface="Cambria Math" panose="02040503050406030204" charset="0"/>
                            <a:ea typeface="MS Mincho" charset="0"/>
                            <a:cs typeface="Cambria Math" panose="02040503050406030204" charset="0"/>
                            <a:sym typeface="+mn-ea"/>
                          </a:rPr>
                          <m:t>2</m:t>
                        </m:r>
                      </m:sub>
                      <m:sup>
                        <m:r>
                          <a:rPr lang="en-US" sz="2800" i="1">
                            <a:latin typeface="Cambria Math" panose="02040503050406030204" charset="0"/>
                            <a:ea typeface="MS Mincho" charset="0"/>
                            <a:cs typeface="Cambria Math" panose="02040503050406030204" charset="0"/>
                            <a:sym typeface="+mn-ea"/>
                          </a:rPr>
                          <m:t>32</m:t>
                        </m:r>
                      </m:sup>
                    </m:sSubSup>
                  </m:oMath>
                </a14:m>
                <a:r>
                  <a:rPr sz="2800">
                    <a:latin typeface="Times New Roman" panose="02020603050405020304" pitchFamily="18" charset="0"/>
                    <a:ea typeface="宋体" panose="02010600030101010101" pitchFamily="2" charset="-122"/>
                    <a:cs typeface="Times New Roman" panose="02020603050405020304" pitchFamily="18" charset="0"/>
                  </a:rPr>
                  <a:t>，则轮函数为：</a:t>
                </a:r>
              </a:p>
              <a:p>
                <a:pPr defTabSz="457200">
                  <a:lnSpc>
                    <a:spcPct val="140000"/>
                  </a:lnSpc>
                  <a:spcAft>
                    <a:spcPts val="1000"/>
                  </a:spcAft>
                  <a:defRPr sz="2000" b="0">
                    <a:solidFill>
                      <a:srgbClr val="000000"/>
                    </a:solidFill>
                    <a:latin typeface="Times New Roman" panose="02020603050405020304"/>
                  </a:defRPr>
                </a:pPr>
                <a:r>
                  <a:rPr sz="2800">
                    <a:latin typeface="Times New Roman" panose="02020603050405020304" pitchFamily="18" charset="0"/>
                    <a:ea typeface="宋体" panose="02010600030101010101" pitchFamily="2" charset="-122"/>
                    <a:cs typeface="Times New Roman" panose="02020603050405020304" pitchFamily="18" charset="0"/>
                  </a:rPr>
                  <a:t>F(X</a:t>
                </a:r>
                <a:r>
                  <a:rPr lang="en-US" sz="2800" baseline="-25000">
                    <a:latin typeface="Times New Roman" panose="02020603050405020304" pitchFamily="18" charset="0"/>
                    <a:ea typeface="宋体" panose="02010600030101010101" pitchFamily="2" charset="-122"/>
                    <a:cs typeface="Times New Roman" panose="02020603050405020304" pitchFamily="18" charset="0"/>
                  </a:rPr>
                  <a:t>0</a:t>
                </a:r>
                <a:r>
                  <a:rPr sz="2800">
                    <a:latin typeface="Times New Roman" panose="02020603050405020304" pitchFamily="18" charset="0"/>
                    <a:ea typeface="宋体" panose="02010600030101010101" pitchFamily="2" charset="-122"/>
                    <a:cs typeface="Times New Roman" panose="02020603050405020304" pitchFamily="18" charset="0"/>
                  </a:rPr>
                  <a:t>, X</a:t>
                </a:r>
                <a:r>
                  <a:rPr lang="en-US" sz="2800" baseline="-25000">
                    <a:latin typeface="Times New Roman" panose="02020603050405020304" pitchFamily="18" charset="0"/>
                    <a:ea typeface="宋体" panose="02010600030101010101" pitchFamily="2" charset="-122"/>
                    <a:cs typeface="Times New Roman" panose="02020603050405020304" pitchFamily="18" charset="0"/>
                  </a:rPr>
                  <a:t>1</a:t>
                </a:r>
                <a:r>
                  <a:rPr sz="2800">
                    <a:latin typeface="Times New Roman" panose="02020603050405020304" pitchFamily="18" charset="0"/>
                    <a:ea typeface="宋体" panose="02010600030101010101" pitchFamily="2" charset="-122"/>
                    <a:cs typeface="Times New Roman" panose="02020603050405020304" pitchFamily="18" charset="0"/>
                  </a:rPr>
                  <a:t>, X</a:t>
                </a:r>
                <a:r>
                  <a:rPr lang="en-US" sz="2800" baseline="-25000">
                    <a:latin typeface="Times New Roman" panose="02020603050405020304" pitchFamily="18" charset="0"/>
                    <a:ea typeface="宋体" panose="02010600030101010101" pitchFamily="2" charset="-122"/>
                    <a:cs typeface="Times New Roman" panose="02020603050405020304" pitchFamily="18" charset="0"/>
                  </a:rPr>
                  <a:t>2</a:t>
                </a:r>
                <a:r>
                  <a:rPr sz="2800">
                    <a:latin typeface="Times New Roman" panose="02020603050405020304" pitchFamily="18" charset="0"/>
                    <a:ea typeface="宋体" panose="02010600030101010101" pitchFamily="2" charset="-122"/>
                    <a:cs typeface="Times New Roman" panose="02020603050405020304" pitchFamily="18" charset="0"/>
                  </a:rPr>
                  <a:t>, X</a:t>
                </a:r>
                <a:r>
                  <a:rPr lang="en-US" sz="2800" baseline="-25000">
                    <a:latin typeface="Times New Roman" panose="02020603050405020304" pitchFamily="18" charset="0"/>
                    <a:ea typeface="宋体" panose="02010600030101010101" pitchFamily="2" charset="-122"/>
                    <a:cs typeface="Times New Roman" panose="02020603050405020304" pitchFamily="18" charset="0"/>
                  </a:rPr>
                  <a:t>3</a:t>
                </a:r>
                <a:r>
                  <a:rPr sz="2800">
                    <a:latin typeface="Times New Roman" panose="02020603050405020304" pitchFamily="18" charset="0"/>
                    <a:ea typeface="宋体" panose="02010600030101010101" pitchFamily="2" charset="-122"/>
                    <a:cs typeface="Times New Roman" panose="02020603050405020304" pitchFamily="18" charset="0"/>
                  </a:rPr>
                  <a:t>) = X</a:t>
                </a:r>
                <a:r>
                  <a:rPr lang="en-US" sz="2800" baseline="-25000">
                    <a:latin typeface="Times New Roman" panose="02020603050405020304" pitchFamily="18" charset="0"/>
                    <a:ea typeface="宋体" panose="02010600030101010101" pitchFamily="2" charset="-122"/>
                    <a:cs typeface="Times New Roman" panose="02020603050405020304" pitchFamily="18" charset="0"/>
                  </a:rPr>
                  <a:t>0</a:t>
                </a:r>
                <a:r>
                  <a:rPr sz="2800">
                    <a:latin typeface="Times New Roman" panose="02020603050405020304" pitchFamily="18" charset="0"/>
                    <a:ea typeface="宋体" panose="02010600030101010101" pitchFamily="2" charset="-122"/>
                    <a:cs typeface="Times New Roman" panose="02020603050405020304" pitchFamily="18" charset="0"/>
                  </a:rPr>
                  <a:t> </a:t>
                </a:r>
                <a14:m>
                  <m:oMath xmlns:m="http://schemas.openxmlformats.org/officeDocument/2006/math">
                    <m:r>
                      <a:rPr lang="en-US" altLang="zh-CN" sz="2800" i="1">
                        <a:latin typeface="Cambria Math" panose="02040503050406030204" charset="0"/>
                        <a:ea typeface="MS Mincho" charset="0"/>
                        <a:cs typeface="Cambria Math" panose="02040503050406030204" charset="0"/>
                      </a:rPr>
                      <m:t>⊕</m:t>
                    </m:r>
                  </m:oMath>
                </a14:m>
                <a:r>
                  <a:rPr sz="2800">
                    <a:latin typeface="Times New Roman" panose="02020603050405020304" pitchFamily="18" charset="0"/>
                    <a:ea typeface="宋体" panose="02010600030101010101" pitchFamily="2" charset="-122"/>
                    <a:cs typeface="Times New Roman" panose="02020603050405020304" pitchFamily="18" charset="0"/>
                  </a:rPr>
                  <a:t> T(X</a:t>
                </a:r>
                <a:r>
                  <a:rPr lang="en-US" sz="2800" baseline="-25000">
                    <a:latin typeface="Times New Roman" panose="02020603050405020304" pitchFamily="18" charset="0"/>
                    <a:ea typeface="宋体" panose="02010600030101010101" pitchFamily="2" charset="-122"/>
                    <a:cs typeface="Times New Roman" panose="02020603050405020304" pitchFamily="18" charset="0"/>
                  </a:rPr>
                  <a:t>1</a:t>
                </a:r>
                <a:r>
                  <a:rPr sz="2800">
                    <a:latin typeface="Times New Roman" panose="02020603050405020304" pitchFamily="18" charset="0"/>
                    <a:ea typeface="宋体" panose="02010600030101010101" pitchFamily="2" charset="-122"/>
                    <a:cs typeface="Times New Roman" panose="02020603050405020304" pitchFamily="18" charset="0"/>
                  </a:rPr>
                  <a:t> </a:t>
                </a:r>
                <a14:m>
                  <m:oMath xmlns:m="http://schemas.openxmlformats.org/officeDocument/2006/math">
                    <m:r>
                      <a:rPr lang="en-US" altLang="zh-CN" sz="2800" i="1">
                        <a:latin typeface="Cambria Math" panose="02040503050406030204" charset="0"/>
                        <a:ea typeface="MS Mincho" charset="0"/>
                        <a:cs typeface="Cambria Math" panose="02040503050406030204" charset="0"/>
                      </a:rPr>
                      <m:t>⊕</m:t>
                    </m:r>
                  </m:oMath>
                </a14:m>
                <a:r>
                  <a:rPr sz="2800">
                    <a:latin typeface="Times New Roman" panose="02020603050405020304" pitchFamily="18" charset="0"/>
                    <a:ea typeface="宋体" panose="02010600030101010101" pitchFamily="2" charset="-122"/>
                    <a:cs typeface="Times New Roman" panose="02020603050405020304" pitchFamily="18" charset="0"/>
                  </a:rPr>
                  <a:t> X</a:t>
                </a:r>
                <a:r>
                  <a:rPr lang="en-US" sz="2800" baseline="-25000">
                    <a:latin typeface="Times New Roman" panose="02020603050405020304" pitchFamily="18" charset="0"/>
                    <a:ea typeface="宋体" panose="02010600030101010101" pitchFamily="2" charset="-122"/>
                    <a:cs typeface="Times New Roman" panose="02020603050405020304" pitchFamily="18" charset="0"/>
                  </a:rPr>
                  <a:t>2</a:t>
                </a:r>
                <a:r>
                  <a:rPr sz="2800">
                    <a:latin typeface="Times New Roman" panose="02020603050405020304" pitchFamily="18" charset="0"/>
                    <a:ea typeface="宋体" panose="02010600030101010101" pitchFamily="2" charset="-122"/>
                    <a:cs typeface="Times New Roman" panose="02020603050405020304" pitchFamily="18" charset="0"/>
                  </a:rPr>
                  <a:t> </a:t>
                </a:r>
                <a14:m>
                  <m:oMath xmlns:m="http://schemas.openxmlformats.org/officeDocument/2006/math">
                    <m:r>
                      <a:rPr lang="en-US" altLang="zh-CN" sz="2800" i="1">
                        <a:latin typeface="Cambria Math" panose="02040503050406030204" charset="0"/>
                        <a:ea typeface="MS Mincho" charset="0"/>
                        <a:cs typeface="Cambria Math" panose="02040503050406030204" charset="0"/>
                      </a:rPr>
                      <m:t>⊕</m:t>
                    </m:r>
                  </m:oMath>
                </a14:m>
                <a:r>
                  <a:rPr sz="2800">
                    <a:latin typeface="Times New Roman" panose="02020603050405020304" pitchFamily="18" charset="0"/>
                    <a:ea typeface="宋体" panose="02010600030101010101" pitchFamily="2" charset="-122"/>
                    <a:cs typeface="Times New Roman" panose="02020603050405020304" pitchFamily="18" charset="0"/>
                  </a:rPr>
                  <a:t> X</a:t>
                </a:r>
                <a:r>
                  <a:rPr lang="en-US" sz="2800" baseline="-25000">
                    <a:latin typeface="Times New Roman" panose="02020603050405020304" pitchFamily="18" charset="0"/>
                    <a:ea typeface="宋体" panose="02010600030101010101" pitchFamily="2" charset="-122"/>
                    <a:cs typeface="Times New Roman" panose="02020603050405020304" pitchFamily="18" charset="0"/>
                  </a:rPr>
                  <a:t>3</a:t>
                </a:r>
                <a:r>
                  <a:rPr sz="2800">
                    <a:latin typeface="Times New Roman" panose="02020603050405020304" pitchFamily="18" charset="0"/>
                    <a:ea typeface="宋体" panose="02010600030101010101" pitchFamily="2" charset="-122"/>
                    <a:cs typeface="Times New Roman" panose="02020603050405020304" pitchFamily="18" charset="0"/>
                  </a:rPr>
                  <a:t> </a:t>
                </a:r>
                <a14:m>
                  <m:oMath xmlns:m="http://schemas.openxmlformats.org/officeDocument/2006/math">
                    <m:r>
                      <a:rPr lang="en-US" altLang="zh-CN" sz="2800" i="1">
                        <a:latin typeface="Cambria Math" panose="02040503050406030204" charset="0"/>
                        <a:ea typeface="MS Mincho" charset="0"/>
                        <a:cs typeface="Cambria Math" panose="02040503050406030204" charset="0"/>
                      </a:rPr>
                      <m:t>⊕</m:t>
                    </m:r>
                  </m:oMath>
                </a14:m>
                <a:r>
                  <a:rPr sz="2800">
                    <a:latin typeface="Times New Roman" panose="02020603050405020304" pitchFamily="18" charset="0"/>
                    <a:ea typeface="宋体" panose="02010600030101010101" pitchFamily="2" charset="-122"/>
                    <a:cs typeface="Times New Roman" panose="02020603050405020304" pitchFamily="18" charset="0"/>
                  </a:rPr>
                  <a:t> rk</a:t>
                </a:r>
                <a:r>
                  <a:rPr lang="en-US" sz="2800" baseline="-25000">
                    <a:latin typeface="Times New Roman" panose="02020603050405020304" pitchFamily="18" charset="0"/>
                    <a:ea typeface="宋体" panose="02010600030101010101" pitchFamily="2" charset="-122"/>
                    <a:cs typeface="Times New Roman" panose="02020603050405020304" pitchFamily="18" charset="0"/>
                  </a:rPr>
                  <a:t>0</a:t>
                </a:r>
                <a:r>
                  <a:rPr sz="2800">
                    <a:latin typeface="Times New Roman" panose="02020603050405020304" pitchFamily="18" charset="0"/>
                    <a:ea typeface="宋体" panose="02010600030101010101" pitchFamily="2" charset="-122"/>
                    <a:cs typeface="Times New Roman" panose="02020603050405020304" pitchFamily="18" charset="0"/>
                  </a:rPr>
                  <a:t>)</a:t>
                </a:r>
              </a:p>
              <a:p>
                <a:pPr defTabSz="457200">
                  <a:lnSpc>
                    <a:spcPct val="140000"/>
                  </a:lnSpc>
                  <a:spcAft>
                    <a:spcPts val="1000"/>
                  </a:spcAft>
                  <a:defRPr sz="2000" b="0">
                    <a:solidFill>
                      <a:srgbClr val="000000"/>
                    </a:solidFill>
                    <a:latin typeface="Times New Roman" panose="02020603050405020304"/>
                  </a:defRPr>
                </a:pPr>
                <a:r>
                  <a:rPr sz="2800" b="1">
                    <a:latin typeface="Times New Roman" panose="02020603050405020304" pitchFamily="18" charset="0"/>
                    <a:ea typeface="宋体" panose="02010600030101010101" pitchFamily="2" charset="-122"/>
                    <a:cs typeface="Times New Roman" panose="02020603050405020304" pitchFamily="18" charset="0"/>
                  </a:rPr>
                  <a:t>1.合成置换T</a:t>
                </a:r>
              </a:p>
              <a:p>
                <a:pPr defTabSz="457200">
                  <a:lnSpc>
                    <a:spcPct val="140000"/>
                  </a:lnSpc>
                  <a:spcAft>
                    <a:spcPts val="1000"/>
                  </a:spcAft>
                  <a:defRPr sz="2000" b="0">
                    <a:solidFill>
                      <a:srgbClr val="000000"/>
                    </a:solidFill>
                    <a:latin typeface="Times New Roman" panose="02020603050405020304"/>
                  </a:defRPr>
                </a:pPr>
                <a:r>
                  <a:rPr sz="2800">
                    <a:latin typeface="Times New Roman" panose="02020603050405020304" pitchFamily="18" charset="0"/>
                    <a:ea typeface="宋体" panose="02010600030101010101" pitchFamily="2" charset="-122"/>
                    <a:cs typeface="Times New Roman" panose="02020603050405020304" pitchFamily="18" charset="0"/>
                  </a:rPr>
                  <a:t>T: </a:t>
                </a:r>
                <a14:m>
                  <m:oMath xmlns:m="http://schemas.openxmlformats.org/officeDocument/2006/math">
                    <m:sSubSup>
                      <m:sSubSupPr>
                        <m:ctrlPr>
                          <a:rPr lang="en-US" sz="2800" i="1">
                            <a:latin typeface="Cambria Math" panose="02040503050406030204" charset="0"/>
                            <a:ea typeface="宋体" panose="02010600030101010101" pitchFamily="2" charset="-122"/>
                            <a:cs typeface="Cambria Math" panose="02040503050406030204" charset="0"/>
                          </a:rPr>
                        </m:ctrlPr>
                      </m:sSubSupPr>
                      <m:e>
                        <m:r>
                          <a:rPr lang="en-US" sz="2800" i="1">
                            <a:latin typeface="Cambria Math" panose="02040503050406030204" charset="0"/>
                            <a:ea typeface="宋体" panose="02010600030101010101" pitchFamily="2" charset="-122"/>
                            <a:cs typeface="Cambria Math" panose="02040503050406030204" charset="0"/>
                          </a:rPr>
                          <m:t>𝑍</m:t>
                        </m:r>
                      </m:e>
                      <m:sub>
                        <m:r>
                          <a:rPr lang="en-US" sz="2800" i="1">
                            <a:latin typeface="Cambria Math" panose="02040503050406030204" charset="0"/>
                            <a:ea typeface="MS Mincho" charset="0"/>
                            <a:cs typeface="Cambria Math" panose="02040503050406030204" charset="0"/>
                          </a:rPr>
                          <m:t>2</m:t>
                        </m:r>
                      </m:sub>
                      <m:sup>
                        <m:r>
                          <a:rPr lang="en-US" sz="2800" i="1">
                            <a:latin typeface="Cambria Math" panose="02040503050406030204" charset="0"/>
                            <a:ea typeface="MS Mincho" charset="0"/>
                            <a:cs typeface="Cambria Math" panose="02040503050406030204" charset="0"/>
                          </a:rPr>
                          <m:t>32</m:t>
                        </m:r>
                      </m:sup>
                    </m:sSubSup>
                  </m:oMath>
                </a14:m>
                <a:r>
                  <a:rPr sz="2800">
                    <a:latin typeface="Times New Roman" panose="02020603050405020304" pitchFamily="18" charset="0"/>
                    <a:ea typeface="宋体" panose="02010600030101010101" pitchFamily="2" charset="-122"/>
                    <a:cs typeface="Times New Roman" panose="02020603050405020304" pitchFamily="18" charset="0"/>
                  </a:rPr>
                  <a:t> → </a:t>
                </a:r>
                <a14:m>
                  <m:oMath xmlns:m="http://schemas.openxmlformats.org/officeDocument/2006/math">
                    <m:sSubSup>
                      <m:sSubSupPr>
                        <m:ctrlPr>
                          <a:rPr lang="en-US" sz="2800" i="1">
                            <a:latin typeface="Cambria Math" panose="02040503050406030204" charset="0"/>
                            <a:ea typeface="宋体" panose="02010600030101010101" pitchFamily="2" charset="-122"/>
                            <a:cs typeface="Cambria Math" panose="02040503050406030204" charset="0"/>
                          </a:rPr>
                        </m:ctrlPr>
                      </m:sSubSupPr>
                      <m:e>
                        <m:r>
                          <a:rPr lang="en-US" sz="2800" i="1">
                            <a:latin typeface="Cambria Math" panose="02040503050406030204" charset="0"/>
                            <a:ea typeface="宋体" panose="02010600030101010101" pitchFamily="2" charset="-122"/>
                            <a:cs typeface="Cambria Math" panose="02040503050406030204" charset="0"/>
                          </a:rPr>
                          <m:t>𝑍</m:t>
                        </m:r>
                      </m:e>
                      <m:sub>
                        <m:r>
                          <a:rPr lang="en-US" sz="2800" i="1">
                            <a:latin typeface="Cambria Math" panose="02040503050406030204" charset="0"/>
                            <a:ea typeface="MS Mincho" charset="0"/>
                            <a:cs typeface="Cambria Math" panose="02040503050406030204" charset="0"/>
                          </a:rPr>
                          <m:t>2</m:t>
                        </m:r>
                      </m:sub>
                      <m:sup>
                        <m:r>
                          <a:rPr lang="en-US" sz="2800" i="1">
                            <a:latin typeface="Cambria Math" panose="02040503050406030204" charset="0"/>
                            <a:ea typeface="MS Mincho" charset="0"/>
                            <a:cs typeface="Cambria Math" panose="02040503050406030204" charset="0"/>
                          </a:rPr>
                          <m:t>32</m:t>
                        </m:r>
                      </m:sup>
                    </m:sSubSup>
                  </m:oMath>
                </a14:m>
                <a:r>
                  <a:rPr sz="2800">
                    <a:latin typeface="Times New Roman" panose="02020603050405020304" pitchFamily="18" charset="0"/>
                    <a:ea typeface="宋体" panose="02010600030101010101" pitchFamily="2" charset="-122"/>
                    <a:cs typeface="Times New Roman" panose="02020603050405020304" pitchFamily="18" charset="0"/>
                  </a:rPr>
                  <a:t>，是一个可逆变换，由非线性变换 τ 和线性变换L复合而成，即 T(·) = L(τ(·))。</a:t>
                </a:r>
              </a:p>
              <a:p>
                <a:pPr defTabSz="457200">
                  <a:lnSpc>
                    <a:spcPct val="140000"/>
                  </a:lnSpc>
                  <a:spcAft>
                    <a:spcPts val="1000"/>
                  </a:spcAft>
                  <a:defRPr sz="2000" b="0">
                    <a:solidFill>
                      <a:srgbClr val="000000"/>
                    </a:solidFill>
                    <a:latin typeface="Times New Roman" panose="02020603050405020304"/>
                  </a:defRPr>
                </a:pPr>
                <a:r>
                  <a:rPr sz="2800">
                    <a:latin typeface="Times New Roman" panose="02020603050405020304" pitchFamily="18" charset="0"/>
                    <a:ea typeface="宋体" panose="02010600030101010101" pitchFamily="2" charset="-122"/>
                    <a:cs typeface="Times New Roman" panose="02020603050405020304" pitchFamily="18" charset="0"/>
                  </a:rPr>
                  <a:t>非线性变换 τ 由4个并行的S盒构成。设输入为 A = (a₀, a₁, a₂, a₃) ∈ (</a:t>
                </a:r>
                <a14:m>
                  <m:oMath xmlns:m="http://schemas.openxmlformats.org/officeDocument/2006/math">
                    <m:sSubSup>
                      <m:sSubSupPr>
                        <m:ctrlPr>
                          <a:rPr lang="en-US" sz="2800" i="1">
                            <a:latin typeface="Cambria Math" panose="02040503050406030204" charset="0"/>
                            <a:ea typeface="宋体" panose="02010600030101010101" pitchFamily="2" charset="-122"/>
                            <a:cs typeface="Cambria Math" panose="02040503050406030204" charset="0"/>
                            <a:sym typeface="+mn-ea"/>
                          </a:rPr>
                        </m:ctrlPr>
                      </m:sSubSupPr>
                      <m:e>
                        <m:r>
                          <a:rPr lang="en-US" sz="2800" i="1">
                            <a:latin typeface="Cambria Math" panose="02040503050406030204" charset="0"/>
                            <a:ea typeface="宋体" panose="02010600030101010101" pitchFamily="2" charset="-122"/>
                            <a:cs typeface="Cambria Math" panose="02040503050406030204" charset="0"/>
                            <a:sym typeface="+mn-ea"/>
                          </a:rPr>
                          <m:t>𝑍</m:t>
                        </m:r>
                      </m:e>
                      <m:sub>
                        <m:r>
                          <a:rPr lang="en-US" sz="2800" i="1">
                            <a:latin typeface="Cambria Math" panose="02040503050406030204" charset="0"/>
                            <a:ea typeface="MS Mincho" charset="0"/>
                            <a:cs typeface="Cambria Math" panose="02040503050406030204" charset="0"/>
                            <a:sym typeface="+mn-ea"/>
                          </a:rPr>
                          <m:t>2</m:t>
                        </m:r>
                      </m:sub>
                      <m:sup>
                        <m:r>
                          <a:rPr lang="en-US" sz="2800" i="1">
                            <a:latin typeface="Cambria Math" panose="02040503050406030204" charset="0"/>
                            <a:ea typeface="MS Mincho" charset="0"/>
                            <a:cs typeface="Cambria Math" panose="02040503050406030204" charset="0"/>
                            <a:sym typeface="+mn-ea"/>
                          </a:rPr>
                          <m:t>8</m:t>
                        </m:r>
                      </m:sup>
                    </m:sSubSup>
                  </m:oMath>
                </a14:m>
                <a:r>
                  <a:rPr sz="2800">
                    <a:latin typeface="Times New Roman" panose="02020603050405020304" pitchFamily="18" charset="0"/>
                    <a:ea typeface="宋体" panose="02010600030101010101" pitchFamily="2" charset="-122"/>
                    <a:cs typeface="Times New Roman" panose="02020603050405020304" pitchFamily="18" charset="0"/>
                  </a:rPr>
                  <a:t>)⁴，输出为 B = (b₀, b₁, b₂, b₃) ∈ (</a:t>
                </a:r>
                <a14:m>
                  <m:oMath xmlns:m="http://schemas.openxmlformats.org/officeDocument/2006/math">
                    <m:sSubSup>
                      <m:sSubSupPr>
                        <m:ctrlPr>
                          <a:rPr lang="en-US" sz="2800" i="1">
                            <a:latin typeface="Cambria Math" panose="02040503050406030204" charset="0"/>
                            <a:ea typeface="宋体" panose="02010600030101010101" pitchFamily="2" charset="-122"/>
                            <a:cs typeface="Cambria Math" panose="02040503050406030204" charset="0"/>
                            <a:sym typeface="+mn-ea"/>
                          </a:rPr>
                        </m:ctrlPr>
                      </m:sSubSupPr>
                      <m:e>
                        <m:r>
                          <a:rPr lang="en-US" sz="2800" i="1">
                            <a:latin typeface="Cambria Math" panose="02040503050406030204" charset="0"/>
                            <a:ea typeface="宋体" panose="02010600030101010101" pitchFamily="2" charset="-122"/>
                            <a:cs typeface="Cambria Math" panose="02040503050406030204" charset="0"/>
                            <a:sym typeface="+mn-ea"/>
                          </a:rPr>
                          <m:t>𝑍</m:t>
                        </m:r>
                      </m:e>
                      <m:sub>
                        <m:r>
                          <a:rPr lang="en-US" sz="2800" i="1">
                            <a:latin typeface="Cambria Math" panose="02040503050406030204" charset="0"/>
                            <a:ea typeface="MS Mincho" charset="0"/>
                            <a:cs typeface="Cambria Math" panose="02040503050406030204" charset="0"/>
                            <a:sym typeface="+mn-ea"/>
                          </a:rPr>
                          <m:t>2</m:t>
                        </m:r>
                      </m:sub>
                      <m:sup>
                        <m:r>
                          <a:rPr lang="en-US" sz="2800" i="1">
                            <a:latin typeface="Cambria Math" panose="02040503050406030204" charset="0"/>
                            <a:ea typeface="MS Mincho" charset="0"/>
                            <a:cs typeface="Cambria Math" panose="02040503050406030204" charset="0"/>
                            <a:sym typeface="+mn-ea"/>
                          </a:rPr>
                          <m:t>8</m:t>
                        </m:r>
                      </m:sup>
                    </m:sSubSup>
                  </m:oMath>
                </a14:m>
                <a:r>
                  <a:rPr sz="2800">
                    <a:latin typeface="Times New Roman" panose="02020603050405020304" pitchFamily="18" charset="0"/>
                    <a:ea typeface="宋体" panose="02010600030101010101" pitchFamily="2" charset="-122"/>
                    <a:cs typeface="Times New Roman" panose="02020603050405020304" pitchFamily="18" charset="0"/>
                  </a:rPr>
                  <a:t>)⁴，则：</a:t>
                </a:r>
              </a:p>
              <a:p>
                <a:pPr defTabSz="457200">
                  <a:lnSpc>
                    <a:spcPct val="140000"/>
                  </a:lnSpc>
                  <a:spcAft>
                    <a:spcPts val="1000"/>
                  </a:spcAft>
                  <a:defRPr sz="2000" b="0">
                    <a:solidFill>
                      <a:srgbClr val="000000"/>
                    </a:solidFill>
                    <a:latin typeface="Times New Roman" panose="02020603050405020304"/>
                  </a:defRPr>
                </a:pPr>
                <a:r>
                  <a:rPr lang="en-US" sz="2800">
                    <a:latin typeface="Times New Roman" panose="02020603050405020304" pitchFamily="18" charset="0"/>
                    <a:ea typeface="宋体" panose="02010600030101010101" pitchFamily="2" charset="-122"/>
                    <a:cs typeface="Times New Roman" panose="02020603050405020304" pitchFamily="18" charset="0"/>
                  </a:rPr>
                  <a:t>(b</a:t>
                </a:r>
                <a:r>
                  <a:rPr lang="en-US" sz="2800" baseline="-25000">
                    <a:latin typeface="Times New Roman" panose="02020603050405020304" pitchFamily="18" charset="0"/>
                    <a:ea typeface="宋体" panose="02010600030101010101" pitchFamily="2" charset="-122"/>
                    <a:cs typeface="Times New Roman" panose="02020603050405020304" pitchFamily="18" charset="0"/>
                  </a:rPr>
                  <a:t>0</a:t>
                </a:r>
                <a:r>
                  <a:rPr lang="en-US" sz="2800">
                    <a:latin typeface="Times New Roman" panose="02020603050405020304" pitchFamily="18" charset="0"/>
                    <a:ea typeface="宋体" panose="02010600030101010101" pitchFamily="2" charset="-122"/>
                    <a:cs typeface="Times New Roman" panose="02020603050405020304" pitchFamily="18" charset="0"/>
                  </a:rPr>
                  <a:t>, b</a:t>
                </a:r>
                <a:r>
                  <a:rPr lang="en-US" sz="2800" baseline="-25000">
                    <a:latin typeface="Times New Roman" panose="02020603050405020304" pitchFamily="18" charset="0"/>
                    <a:ea typeface="宋体" panose="02010600030101010101" pitchFamily="2" charset="-122"/>
                    <a:cs typeface="Times New Roman" panose="02020603050405020304" pitchFamily="18" charset="0"/>
                  </a:rPr>
                  <a:t>1</a:t>
                </a:r>
                <a:r>
                  <a:rPr lang="en-US" sz="2800">
                    <a:latin typeface="Times New Roman" panose="02020603050405020304" pitchFamily="18" charset="0"/>
                    <a:ea typeface="宋体" panose="02010600030101010101" pitchFamily="2" charset="-122"/>
                    <a:cs typeface="Times New Roman" panose="02020603050405020304" pitchFamily="18" charset="0"/>
                  </a:rPr>
                  <a:t> , b</a:t>
                </a:r>
                <a:r>
                  <a:rPr lang="en-US" sz="2800" baseline="-25000">
                    <a:latin typeface="Times New Roman" panose="02020603050405020304" pitchFamily="18" charset="0"/>
                    <a:ea typeface="宋体" panose="02010600030101010101" pitchFamily="2" charset="-122"/>
                    <a:cs typeface="Times New Roman" panose="02020603050405020304" pitchFamily="18" charset="0"/>
                  </a:rPr>
                  <a:t>2</a:t>
                </a:r>
                <a:r>
                  <a:rPr lang="en-US" sz="2800">
                    <a:latin typeface="Times New Roman" panose="02020603050405020304" pitchFamily="18" charset="0"/>
                    <a:ea typeface="宋体" panose="02010600030101010101" pitchFamily="2" charset="-122"/>
                    <a:cs typeface="Times New Roman" panose="02020603050405020304" pitchFamily="18" charset="0"/>
                  </a:rPr>
                  <a:t> , b</a:t>
                </a:r>
                <a:r>
                  <a:rPr lang="en-US" sz="2800" baseline="-25000">
                    <a:latin typeface="Times New Roman" panose="02020603050405020304" pitchFamily="18" charset="0"/>
                    <a:ea typeface="宋体" panose="02010600030101010101" pitchFamily="2" charset="-122"/>
                    <a:cs typeface="Times New Roman" panose="02020603050405020304" pitchFamily="18" charset="0"/>
                  </a:rPr>
                  <a:t>3</a:t>
                </a:r>
                <a:r>
                  <a:rPr lang="en-US" sz="2800">
                    <a:latin typeface="Times New Roman" panose="02020603050405020304" pitchFamily="18" charset="0"/>
                    <a:ea typeface="宋体" panose="02010600030101010101" pitchFamily="2" charset="-122"/>
                    <a:cs typeface="Times New Roman" panose="02020603050405020304" pitchFamily="18" charset="0"/>
                  </a:rPr>
                  <a:t>) = </a:t>
                </a:r>
                <a:r>
                  <a:rPr sz="2800">
                    <a:latin typeface="Times New Roman" panose="02020603050405020304" pitchFamily="18" charset="0"/>
                    <a:ea typeface="宋体" panose="02010600030101010101" pitchFamily="2" charset="-122"/>
                    <a:cs typeface="Times New Roman" panose="02020603050405020304" pitchFamily="18" charset="0"/>
                  </a:rPr>
                  <a:t>τ(A) = (Sbox(a₀), Sbox(a₁), Sbox(a₂), Sbox(a₃))</a:t>
                </a:r>
              </a:p>
              <a:p>
                <a:pPr defTabSz="457200">
                  <a:lnSpc>
                    <a:spcPct val="140000"/>
                  </a:lnSpc>
                  <a:spcAft>
                    <a:spcPts val="1000"/>
                  </a:spcAft>
                  <a:defRPr sz="2000" b="0">
                    <a:solidFill>
                      <a:srgbClr val="000000"/>
                    </a:solidFill>
                    <a:latin typeface="Times New Roman" panose="02020603050405020304"/>
                  </a:defRPr>
                </a:pPr>
                <a:r>
                  <a:rPr sz="2800">
                    <a:latin typeface="Times New Roman" panose="02020603050405020304" pitchFamily="18" charset="0"/>
                    <a:ea typeface="宋体" panose="02010600030101010101" pitchFamily="2" charset="-122"/>
                    <a:cs typeface="Times New Roman" panose="02020603050405020304" pitchFamily="18" charset="0"/>
                  </a:rPr>
                  <a:t>非线性变换 τ 的输出是线性变换L的输入。设输入为 B ∈ </a:t>
                </a:r>
                <a14:m>
                  <m:oMath xmlns:m="http://schemas.openxmlformats.org/officeDocument/2006/math">
                    <m:sSubSup>
                      <m:sSubSupPr>
                        <m:ctrlPr>
                          <a:rPr lang="en-US" sz="2800" i="1">
                            <a:latin typeface="Cambria Math" panose="02040503050406030204" charset="0"/>
                            <a:ea typeface="宋体" panose="02010600030101010101" pitchFamily="2" charset="-122"/>
                            <a:cs typeface="Cambria Math" panose="02040503050406030204" charset="0"/>
                          </a:rPr>
                        </m:ctrlPr>
                      </m:sSubSupPr>
                      <m:e>
                        <m:r>
                          <a:rPr lang="en-US" sz="2800" i="1">
                            <a:latin typeface="Cambria Math" panose="02040503050406030204" charset="0"/>
                            <a:ea typeface="宋体" panose="02010600030101010101" pitchFamily="2" charset="-122"/>
                            <a:cs typeface="Cambria Math" panose="02040503050406030204" charset="0"/>
                          </a:rPr>
                          <m:t>𝑍</m:t>
                        </m:r>
                      </m:e>
                      <m:sub>
                        <m:r>
                          <a:rPr lang="en-US" sz="2800" i="1">
                            <a:latin typeface="Cambria Math" panose="02040503050406030204" charset="0"/>
                            <a:ea typeface="MS Mincho" charset="0"/>
                            <a:cs typeface="Cambria Math" panose="02040503050406030204" charset="0"/>
                          </a:rPr>
                          <m:t>2</m:t>
                        </m:r>
                      </m:sub>
                      <m:sup>
                        <m:r>
                          <a:rPr lang="en-US" sz="2800" i="1">
                            <a:latin typeface="Cambria Math" panose="02040503050406030204" charset="0"/>
                            <a:ea typeface="MS Mincho" charset="0"/>
                            <a:cs typeface="Cambria Math" panose="02040503050406030204" charset="0"/>
                          </a:rPr>
                          <m:t>32</m:t>
                        </m:r>
                      </m:sup>
                    </m:sSubSup>
                  </m:oMath>
                </a14:m>
                <a:r>
                  <a:rPr sz="2800">
                    <a:latin typeface="Times New Roman" panose="02020603050405020304" pitchFamily="18" charset="0"/>
                    <a:ea typeface="宋体" panose="02010600030101010101" pitchFamily="2" charset="-122"/>
                    <a:cs typeface="Times New Roman" panose="02020603050405020304" pitchFamily="18" charset="0"/>
                  </a:rPr>
                  <a:t>，输出为 C ∈ </a:t>
                </a:r>
                <a14:m>
                  <m:oMath xmlns:m="http://schemas.openxmlformats.org/officeDocument/2006/math">
                    <m:sSubSup>
                      <m:sSubSupPr>
                        <m:ctrlPr>
                          <a:rPr lang="en-US" sz="2800" i="1">
                            <a:latin typeface="Cambria Math" panose="02040503050406030204" charset="0"/>
                            <a:ea typeface="宋体" panose="02010600030101010101" pitchFamily="2" charset="-122"/>
                            <a:cs typeface="Cambria Math" panose="02040503050406030204" charset="0"/>
                          </a:rPr>
                        </m:ctrlPr>
                      </m:sSubSupPr>
                      <m:e>
                        <m:r>
                          <a:rPr lang="en-US" sz="2800" i="1">
                            <a:latin typeface="Cambria Math" panose="02040503050406030204" charset="0"/>
                            <a:ea typeface="宋体" panose="02010600030101010101" pitchFamily="2" charset="-122"/>
                            <a:cs typeface="Cambria Math" panose="02040503050406030204" charset="0"/>
                          </a:rPr>
                          <m:t>𝑍</m:t>
                        </m:r>
                      </m:e>
                      <m:sub>
                        <m:r>
                          <a:rPr lang="en-US" sz="2800" i="1">
                            <a:latin typeface="Cambria Math" panose="02040503050406030204" charset="0"/>
                            <a:ea typeface="MS Mincho" charset="0"/>
                            <a:cs typeface="Cambria Math" panose="02040503050406030204" charset="0"/>
                          </a:rPr>
                          <m:t>2</m:t>
                        </m:r>
                      </m:sub>
                      <m:sup>
                        <m:r>
                          <a:rPr lang="en-US" sz="2800" i="1">
                            <a:latin typeface="Cambria Math" panose="02040503050406030204" charset="0"/>
                            <a:ea typeface="MS Mincho" charset="0"/>
                            <a:cs typeface="Cambria Math" panose="02040503050406030204" charset="0"/>
                          </a:rPr>
                          <m:t>32</m:t>
                        </m:r>
                      </m:sup>
                    </m:sSubSup>
                  </m:oMath>
                </a14:m>
                <a:r>
                  <a:rPr sz="2800">
                    <a:latin typeface="Times New Roman" panose="02020603050405020304" pitchFamily="18" charset="0"/>
                    <a:ea typeface="宋体" panose="02010600030101010101" pitchFamily="2" charset="-122"/>
                    <a:cs typeface="Times New Roman" panose="02020603050405020304" pitchFamily="18" charset="0"/>
                  </a:rPr>
                  <a:t>，则：</a:t>
                </a:r>
              </a:p>
              <a:p>
                <a:pPr defTabSz="457200">
                  <a:lnSpc>
                    <a:spcPct val="140000"/>
                  </a:lnSpc>
                  <a:spcAft>
                    <a:spcPts val="1000"/>
                  </a:spcAft>
                  <a:defRPr sz="2000" b="0">
                    <a:solidFill>
                      <a:srgbClr val="000000"/>
                    </a:solidFill>
                    <a:latin typeface="Times New Roman" panose="02020603050405020304"/>
                  </a:defRPr>
                </a:pPr>
                <a:r>
                  <a:rPr sz="2800">
                    <a:latin typeface="Times New Roman" panose="02020603050405020304" pitchFamily="18" charset="0"/>
                    <a:ea typeface="宋体" panose="02010600030101010101" pitchFamily="2" charset="-122"/>
                    <a:cs typeface="Times New Roman" panose="02020603050405020304" pitchFamily="18" charset="0"/>
                  </a:rPr>
                  <a:t>C = L(B) = B </a:t>
                </a:r>
                <a14:m>
                  <m:oMath xmlns:m="http://schemas.openxmlformats.org/officeDocument/2006/math">
                    <m:r>
                      <a:rPr lang="en-US" altLang="zh-CN" sz="2800" i="1">
                        <a:latin typeface="Cambria Math" panose="02040503050406030204" charset="0"/>
                        <a:ea typeface="MS Mincho" charset="0"/>
                        <a:cs typeface="Cambria Math" panose="02040503050406030204" charset="0"/>
                      </a:rPr>
                      <m:t>⊕</m:t>
                    </m:r>
                  </m:oMath>
                </a14:m>
                <a:r>
                  <a:rPr sz="2800">
                    <a:latin typeface="Times New Roman" panose="02020603050405020304" pitchFamily="18" charset="0"/>
                    <a:ea typeface="宋体" panose="02010600030101010101" pitchFamily="2" charset="-122"/>
                    <a:cs typeface="Times New Roman" panose="02020603050405020304" pitchFamily="18" charset="0"/>
                  </a:rPr>
                  <a:t> (B &lt;&lt;&lt; 2) </a:t>
                </a:r>
                <a14:m>
                  <m:oMath xmlns:m="http://schemas.openxmlformats.org/officeDocument/2006/math">
                    <m:r>
                      <a:rPr lang="en-US" altLang="zh-CN" sz="2800" i="1">
                        <a:latin typeface="Cambria Math" panose="02040503050406030204" charset="0"/>
                        <a:ea typeface="MS Mincho" charset="0"/>
                        <a:cs typeface="Cambria Math" panose="02040503050406030204" charset="0"/>
                      </a:rPr>
                      <m:t>⊕</m:t>
                    </m:r>
                  </m:oMath>
                </a14:m>
                <a:r>
                  <a:rPr sz="2800">
                    <a:latin typeface="Times New Roman" panose="02020603050405020304" pitchFamily="18" charset="0"/>
                    <a:ea typeface="宋体" panose="02010600030101010101" pitchFamily="2" charset="-122"/>
                    <a:cs typeface="Times New Roman" panose="02020603050405020304" pitchFamily="18" charset="0"/>
                  </a:rPr>
                  <a:t> (B &lt;&lt;&lt; 10) </a:t>
                </a:r>
                <a14:m>
                  <m:oMath xmlns:m="http://schemas.openxmlformats.org/officeDocument/2006/math">
                    <m:r>
                      <a:rPr lang="en-US" altLang="zh-CN" sz="2800" i="1">
                        <a:latin typeface="Cambria Math" panose="02040503050406030204" charset="0"/>
                        <a:ea typeface="MS Mincho" charset="0"/>
                        <a:cs typeface="Cambria Math" panose="02040503050406030204" charset="0"/>
                      </a:rPr>
                      <m:t>⊕</m:t>
                    </m:r>
                  </m:oMath>
                </a14:m>
                <a:r>
                  <a:rPr sz="2800">
                    <a:latin typeface="Times New Roman" panose="02020603050405020304" pitchFamily="18" charset="0"/>
                    <a:ea typeface="宋体" panose="02010600030101010101" pitchFamily="2" charset="-122"/>
                    <a:cs typeface="Times New Roman" panose="02020603050405020304" pitchFamily="18" charset="0"/>
                  </a:rPr>
                  <a:t> (B &lt;&lt;&lt; 18) </a:t>
                </a:r>
                <a14:m>
                  <m:oMath xmlns:m="http://schemas.openxmlformats.org/officeDocument/2006/math">
                    <m:r>
                      <a:rPr lang="en-US" altLang="zh-CN" sz="2800" i="1">
                        <a:latin typeface="Cambria Math" panose="02040503050406030204" charset="0"/>
                        <a:ea typeface="MS Mincho" charset="0"/>
                        <a:cs typeface="Cambria Math" panose="02040503050406030204" charset="0"/>
                      </a:rPr>
                      <m:t>⊕</m:t>
                    </m:r>
                  </m:oMath>
                </a14:m>
                <a:r>
                  <a:rPr sz="2800">
                    <a:latin typeface="Times New Roman" panose="02020603050405020304" pitchFamily="18" charset="0"/>
                    <a:ea typeface="宋体" panose="02010600030101010101" pitchFamily="2" charset="-122"/>
                    <a:cs typeface="Times New Roman" panose="02020603050405020304" pitchFamily="18" charset="0"/>
                  </a:rPr>
                  <a:t> (B &lt;&lt;&lt; 24)</a:t>
                </a:r>
              </a:p>
            </p:txBody>
          </p:sp>
        </mc:Choice>
        <mc:Fallback xmlns="">
          <p:sp>
            <p:nvSpPr>
              <p:cNvPr id="5" name="TextBox 4"/>
              <p:cNvSpPr txBox="1">
                <a:spLocks noRot="1" noChangeAspect="1" noMove="1" noResize="1" noEditPoints="1" noAdjustHandles="1" noChangeArrowheads="1" noChangeShapeType="1" noTextEdit="1"/>
              </p:cNvSpPr>
              <p:nvPr/>
            </p:nvSpPr>
            <p:spPr>
              <a:xfrm>
                <a:off x="1707515" y="1583055"/>
                <a:ext cx="14408785" cy="7192010"/>
              </a:xfrm>
              <a:prstGeom prst="rect">
                <a:avLst/>
              </a:prstGeom>
              <a:blipFill rotWithShape="1">
                <a:blip r:embed="rId2"/>
                <a:stretch>
                  <a:fillRect/>
                </a:stretch>
              </a:blipFill>
            </p:spPr>
            <p:txBody>
              <a:bodyPr/>
              <a:lstStyle/>
              <a:p>
                <a:r>
                  <a:rPr lang="zh-CN" altLang="en-US">
                    <a:noFill/>
                  </a:rPr>
                  <a:t> </a:t>
                </a:r>
              </a:p>
            </p:txBody>
          </p:sp>
        </mc:Fallback>
      </mc:AlternateContent>
      <p:sp>
        <p:nvSpPr>
          <p:cNvPr id="6" name="TextBox 5"/>
          <p:cNvSpPr txBox="1"/>
          <p:nvPr/>
        </p:nvSpPr>
        <p:spPr>
          <a:xfrm>
            <a:off x="17312132" y="9409176"/>
            <a:ext cx="363220" cy="306705"/>
          </a:xfrm>
          <a:prstGeom prst="rect">
            <a:avLst/>
          </a:prstGeom>
          <a:noFill/>
        </p:spPr>
        <p:txBody>
          <a:bodyPr wrap="none">
            <a:spAutoFit/>
          </a:bodyPr>
          <a:lstStyle/>
          <a:p>
            <a:pPr algn="r" defTabSz="457200">
              <a:defRPr sz="1800">
                <a:solidFill>
                  <a:srgbClr val="000000"/>
                </a:solidFill>
                <a:latin typeface="Times New Roman" panose="02020603050405020304"/>
              </a:defRPr>
            </a:pPr>
            <a:r>
              <a:rPr lang="en-US" sz="1400">
                <a:solidFill>
                  <a:srgbClr val="FFC000"/>
                </a:solidFill>
                <a:latin typeface="+mn-lt"/>
              </a:rPr>
              <a:t>12</a:t>
            </a:r>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3"/>
            <a:stretch>
              <a:fillRect/>
            </a:stretch>
          </p:blipFill>
          <p:spPr>
            <a:xfrm>
              <a:off x="13944600" y="877286"/>
              <a:ext cx="2771429" cy="47619"/>
            </a:xfrm>
            <a:prstGeom prst="rect">
              <a:avLst/>
            </a:prstGeom>
          </p:spPr>
        </p:pic>
      </p:grpSp>
      <p:sp>
        <p:nvSpPr>
          <p:cNvPr id="11"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轮函数</a:t>
            </a: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F</a:t>
            </a:r>
          </a:p>
        </p:txBody>
      </p:sp>
      <p:sp>
        <p:nvSpPr>
          <p:cNvPr id="12"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4.1.4</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4">
            <a:alphaModFix amt="80000"/>
          </a:blip>
          <a:stretch>
            <a:fillRect/>
          </a:stretch>
        </p:blipFill>
        <p:spPr>
          <a:xfrm>
            <a:off x="674370"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71600" y="1554480"/>
            <a:ext cx="15727680" cy="3188970"/>
          </a:xfrm>
          <a:prstGeom prst="rect">
            <a:avLst/>
          </a:prstGeom>
          <a:noFill/>
        </p:spPr>
        <p:txBody>
          <a:bodyPr wrap="square">
            <a:spAutoFit/>
          </a:bodyPr>
          <a:lstStyle/>
          <a:p>
            <a:pPr defTabSz="457200">
              <a:lnSpc>
                <a:spcPct val="140000"/>
              </a:lnSpc>
              <a:spcAft>
                <a:spcPts val="1000"/>
              </a:spcAft>
              <a:defRPr sz="2200" b="0">
                <a:solidFill>
                  <a:srgbClr val="000000"/>
                </a:solidFill>
                <a:latin typeface="Times New Roman" panose="02020603050405020304"/>
              </a:defRPr>
            </a:pPr>
            <a:r>
              <a:rPr sz="2800" b="1">
                <a:latin typeface="Times New Roman" panose="02020603050405020304" pitchFamily="18" charset="0"/>
                <a:ea typeface="宋体" panose="02010600030101010101" pitchFamily="2" charset="-122"/>
                <a:cs typeface="Times New Roman" panose="02020603050405020304" pitchFamily="18" charset="0"/>
              </a:rPr>
              <a:t>2．S盒</a:t>
            </a:r>
            <a:endParaRPr sz="2800">
              <a:latin typeface="Times New Roman" panose="02020603050405020304" pitchFamily="18" charset="0"/>
              <a:ea typeface="宋体" panose="02010600030101010101" pitchFamily="2" charset="-122"/>
              <a:cs typeface="Times New Roman" panose="02020603050405020304" pitchFamily="18" charset="0"/>
            </a:endParaRPr>
          </a:p>
          <a:p>
            <a:pPr defTabSz="457200">
              <a:lnSpc>
                <a:spcPct val="140000"/>
              </a:lnSpc>
              <a:spcAft>
                <a:spcPts val="1000"/>
              </a:spcAft>
              <a:defRPr sz="2200" b="0">
                <a:solidFill>
                  <a:srgbClr val="000000"/>
                </a:solidFill>
                <a:latin typeface="Times New Roman" panose="02020603050405020304"/>
              </a:defRPr>
            </a:pPr>
            <a:r>
              <a:rPr sz="2800">
                <a:latin typeface="Times New Roman" panose="02020603050405020304" pitchFamily="18" charset="0"/>
                <a:ea typeface="宋体" panose="02010600030101010101" pitchFamily="2" charset="-122"/>
                <a:cs typeface="Times New Roman" panose="02020603050405020304" pitchFamily="18" charset="0"/>
              </a:rPr>
              <a:t>S盒如表4.1所示，S盒中的数据均采用十六进制数表示。设S盒的输入为EF，则经S盒运算的输出结果为表中第E行、第F列的值，即 Sbox(EF) = 0x84。</a:t>
            </a:r>
          </a:p>
          <a:p>
            <a:pPr defTabSz="457200">
              <a:lnSpc>
                <a:spcPct val="140000"/>
              </a:lnSpc>
              <a:spcAft>
                <a:spcPts val="1000"/>
              </a:spcAft>
              <a:defRPr sz="2200" b="0">
                <a:solidFill>
                  <a:srgbClr val="000000"/>
                </a:solidFill>
                <a:latin typeface="Times New Roman" panose="02020603050405020304"/>
              </a:defRPr>
            </a:pPr>
            <a:endParaRPr>
              <a:latin typeface="Times New Roman" panose="02020603050405020304" pitchFamily="18" charset="0"/>
              <a:ea typeface="宋体" panose="02010600030101010101" pitchFamily="2" charset="-122"/>
            </a:endParaRPr>
          </a:p>
          <a:p>
            <a:pPr defTabSz="457200">
              <a:lnSpc>
                <a:spcPct val="140000"/>
              </a:lnSpc>
              <a:spcAft>
                <a:spcPts val="1000"/>
              </a:spcAft>
              <a:defRPr sz="2200" b="0">
                <a:solidFill>
                  <a:srgbClr val="000000"/>
                </a:solidFill>
                <a:latin typeface="Times New Roman" panose="02020603050405020304"/>
              </a:defRPr>
            </a:pPr>
            <a:r>
              <a:rPr sz="2000">
                <a:latin typeface="Times New Roman" panose="02020603050405020304" pitchFamily="18" charset="0"/>
                <a:ea typeface="宋体" panose="02010600030101010101" pitchFamily="2" charset="-122"/>
              </a:rPr>
              <a:t>表4.1  S盒</a:t>
            </a:r>
          </a:p>
        </p:txBody>
      </p:sp>
      <p:graphicFrame>
        <p:nvGraphicFramePr>
          <p:cNvPr id="6" name="Table 5"/>
          <p:cNvGraphicFramePr>
            <a:graphicFrameLocks noGrp="1"/>
          </p:cNvGraphicFramePr>
          <p:nvPr/>
        </p:nvGraphicFramePr>
        <p:xfrm>
          <a:off x="949325" y="4805680"/>
          <a:ext cx="16824960" cy="3840480"/>
        </p:xfrm>
        <a:graphic>
          <a:graphicData uri="http://schemas.openxmlformats.org/drawingml/2006/table">
            <a:tbl>
              <a:tblPr firstRow="1" bandRow="1">
                <a:tableStyleId>{5C22544A-7EE6-4342-B048-85BDC9FD1C3A}</a:tableStyleId>
              </a:tblPr>
              <a:tblGrid>
                <a:gridCol w="989703">
                  <a:extLst>
                    <a:ext uri="{9D8B030D-6E8A-4147-A177-3AD203B41FA5}">
                      <a16:colId xmlns:a16="http://schemas.microsoft.com/office/drawing/2014/main" val="20000"/>
                    </a:ext>
                  </a:extLst>
                </a:gridCol>
                <a:gridCol w="989703">
                  <a:extLst>
                    <a:ext uri="{9D8B030D-6E8A-4147-A177-3AD203B41FA5}">
                      <a16:colId xmlns:a16="http://schemas.microsoft.com/office/drawing/2014/main" val="20001"/>
                    </a:ext>
                  </a:extLst>
                </a:gridCol>
                <a:gridCol w="989703">
                  <a:extLst>
                    <a:ext uri="{9D8B030D-6E8A-4147-A177-3AD203B41FA5}">
                      <a16:colId xmlns:a16="http://schemas.microsoft.com/office/drawing/2014/main" val="20002"/>
                    </a:ext>
                  </a:extLst>
                </a:gridCol>
                <a:gridCol w="989703">
                  <a:extLst>
                    <a:ext uri="{9D8B030D-6E8A-4147-A177-3AD203B41FA5}">
                      <a16:colId xmlns:a16="http://schemas.microsoft.com/office/drawing/2014/main" val="20003"/>
                    </a:ext>
                  </a:extLst>
                </a:gridCol>
                <a:gridCol w="989703">
                  <a:extLst>
                    <a:ext uri="{9D8B030D-6E8A-4147-A177-3AD203B41FA5}">
                      <a16:colId xmlns:a16="http://schemas.microsoft.com/office/drawing/2014/main" val="20004"/>
                    </a:ext>
                  </a:extLst>
                </a:gridCol>
                <a:gridCol w="989703">
                  <a:extLst>
                    <a:ext uri="{9D8B030D-6E8A-4147-A177-3AD203B41FA5}">
                      <a16:colId xmlns:a16="http://schemas.microsoft.com/office/drawing/2014/main" val="20005"/>
                    </a:ext>
                  </a:extLst>
                </a:gridCol>
                <a:gridCol w="989703">
                  <a:extLst>
                    <a:ext uri="{9D8B030D-6E8A-4147-A177-3AD203B41FA5}">
                      <a16:colId xmlns:a16="http://schemas.microsoft.com/office/drawing/2014/main" val="20006"/>
                    </a:ext>
                  </a:extLst>
                </a:gridCol>
                <a:gridCol w="989703">
                  <a:extLst>
                    <a:ext uri="{9D8B030D-6E8A-4147-A177-3AD203B41FA5}">
                      <a16:colId xmlns:a16="http://schemas.microsoft.com/office/drawing/2014/main" val="20007"/>
                    </a:ext>
                  </a:extLst>
                </a:gridCol>
                <a:gridCol w="989703">
                  <a:extLst>
                    <a:ext uri="{9D8B030D-6E8A-4147-A177-3AD203B41FA5}">
                      <a16:colId xmlns:a16="http://schemas.microsoft.com/office/drawing/2014/main" val="20008"/>
                    </a:ext>
                  </a:extLst>
                </a:gridCol>
                <a:gridCol w="989703">
                  <a:extLst>
                    <a:ext uri="{9D8B030D-6E8A-4147-A177-3AD203B41FA5}">
                      <a16:colId xmlns:a16="http://schemas.microsoft.com/office/drawing/2014/main" val="20009"/>
                    </a:ext>
                  </a:extLst>
                </a:gridCol>
                <a:gridCol w="989703">
                  <a:extLst>
                    <a:ext uri="{9D8B030D-6E8A-4147-A177-3AD203B41FA5}">
                      <a16:colId xmlns:a16="http://schemas.microsoft.com/office/drawing/2014/main" val="20010"/>
                    </a:ext>
                  </a:extLst>
                </a:gridCol>
                <a:gridCol w="989703">
                  <a:extLst>
                    <a:ext uri="{9D8B030D-6E8A-4147-A177-3AD203B41FA5}">
                      <a16:colId xmlns:a16="http://schemas.microsoft.com/office/drawing/2014/main" val="20011"/>
                    </a:ext>
                  </a:extLst>
                </a:gridCol>
                <a:gridCol w="989703">
                  <a:extLst>
                    <a:ext uri="{9D8B030D-6E8A-4147-A177-3AD203B41FA5}">
                      <a16:colId xmlns:a16="http://schemas.microsoft.com/office/drawing/2014/main" val="20012"/>
                    </a:ext>
                  </a:extLst>
                </a:gridCol>
                <a:gridCol w="989703">
                  <a:extLst>
                    <a:ext uri="{9D8B030D-6E8A-4147-A177-3AD203B41FA5}">
                      <a16:colId xmlns:a16="http://schemas.microsoft.com/office/drawing/2014/main" val="20013"/>
                    </a:ext>
                  </a:extLst>
                </a:gridCol>
                <a:gridCol w="989703">
                  <a:extLst>
                    <a:ext uri="{9D8B030D-6E8A-4147-A177-3AD203B41FA5}">
                      <a16:colId xmlns:a16="http://schemas.microsoft.com/office/drawing/2014/main" val="20014"/>
                    </a:ext>
                  </a:extLst>
                </a:gridCol>
                <a:gridCol w="989703">
                  <a:extLst>
                    <a:ext uri="{9D8B030D-6E8A-4147-A177-3AD203B41FA5}">
                      <a16:colId xmlns:a16="http://schemas.microsoft.com/office/drawing/2014/main" val="20015"/>
                    </a:ext>
                  </a:extLst>
                </a:gridCol>
                <a:gridCol w="989712">
                  <a:extLst>
                    <a:ext uri="{9D8B030D-6E8A-4147-A177-3AD203B41FA5}">
                      <a16:colId xmlns:a16="http://schemas.microsoft.com/office/drawing/2014/main" val="20016"/>
                    </a:ext>
                  </a:extLst>
                </a:gridCol>
              </a:tblGrid>
              <a:tr h="426720">
                <a:tc>
                  <a:txBody>
                    <a:bodyPr/>
                    <a:lstStyle/>
                    <a:p>
                      <a:pPr algn="ctr">
                        <a:defRPr sz="1400" b="1">
                          <a:latin typeface="Courier New" panose="02070309020205020404"/>
                        </a:defRPr>
                      </a:pPr>
                      <a:endParaRPr/>
                    </a:p>
                  </a:txBody>
                  <a:tcPr>
                    <a:solidFill>
                      <a:srgbClr val="E0E0E0"/>
                    </a:solidFill>
                  </a:tcPr>
                </a:tc>
                <a:tc>
                  <a:txBody>
                    <a:bodyPr/>
                    <a:lstStyle/>
                    <a:p>
                      <a:pPr algn="ctr">
                        <a:defRPr sz="1400" b="1">
                          <a:latin typeface="Courier New" panose="02070309020205020404"/>
                        </a:defRPr>
                      </a:pPr>
                      <a:r>
                        <a:t>0</a:t>
                      </a:r>
                    </a:p>
                  </a:txBody>
                  <a:tcPr>
                    <a:solidFill>
                      <a:srgbClr val="E0E0E0"/>
                    </a:solidFill>
                  </a:tcPr>
                </a:tc>
                <a:tc>
                  <a:txBody>
                    <a:bodyPr/>
                    <a:lstStyle/>
                    <a:p>
                      <a:pPr algn="ctr">
                        <a:defRPr sz="1400" b="1">
                          <a:latin typeface="Courier New" panose="02070309020205020404"/>
                        </a:defRPr>
                      </a:pPr>
                      <a:r>
                        <a:t>1</a:t>
                      </a:r>
                    </a:p>
                  </a:txBody>
                  <a:tcPr>
                    <a:solidFill>
                      <a:srgbClr val="E0E0E0"/>
                    </a:solidFill>
                  </a:tcPr>
                </a:tc>
                <a:tc>
                  <a:txBody>
                    <a:bodyPr/>
                    <a:lstStyle/>
                    <a:p>
                      <a:pPr algn="ctr">
                        <a:defRPr sz="1400" b="1">
                          <a:latin typeface="Courier New" panose="02070309020205020404"/>
                        </a:defRPr>
                      </a:pPr>
                      <a:r>
                        <a:t>2</a:t>
                      </a:r>
                    </a:p>
                  </a:txBody>
                  <a:tcPr>
                    <a:solidFill>
                      <a:srgbClr val="E0E0E0"/>
                    </a:solidFill>
                  </a:tcPr>
                </a:tc>
                <a:tc>
                  <a:txBody>
                    <a:bodyPr/>
                    <a:lstStyle/>
                    <a:p>
                      <a:pPr algn="ctr">
                        <a:defRPr sz="1400" b="1">
                          <a:latin typeface="Courier New" panose="02070309020205020404"/>
                        </a:defRPr>
                      </a:pPr>
                      <a:r>
                        <a:t>3</a:t>
                      </a:r>
                    </a:p>
                  </a:txBody>
                  <a:tcPr>
                    <a:solidFill>
                      <a:srgbClr val="E0E0E0"/>
                    </a:solidFill>
                  </a:tcPr>
                </a:tc>
                <a:tc>
                  <a:txBody>
                    <a:bodyPr/>
                    <a:lstStyle/>
                    <a:p>
                      <a:pPr algn="ctr">
                        <a:defRPr sz="1400" b="1">
                          <a:latin typeface="Courier New" panose="02070309020205020404"/>
                        </a:defRPr>
                      </a:pPr>
                      <a:r>
                        <a:t>4</a:t>
                      </a:r>
                    </a:p>
                  </a:txBody>
                  <a:tcPr>
                    <a:solidFill>
                      <a:srgbClr val="E0E0E0"/>
                    </a:solidFill>
                  </a:tcPr>
                </a:tc>
                <a:tc>
                  <a:txBody>
                    <a:bodyPr/>
                    <a:lstStyle/>
                    <a:p>
                      <a:pPr algn="ctr">
                        <a:defRPr sz="1400" b="1">
                          <a:latin typeface="Courier New" panose="02070309020205020404"/>
                        </a:defRPr>
                      </a:pPr>
                      <a:r>
                        <a:t>5</a:t>
                      </a:r>
                    </a:p>
                  </a:txBody>
                  <a:tcPr>
                    <a:solidFill>
                      <a:srgbClr val="E0E0E0"/>
                    </a:solidFill>
                  </a:tcPr>
                </a:tc>
                <a:tc>
                  <a:txBody>
                    <a:bodyPr/>
                    <a:lstStyle/>
                    <a:p>
                      <a:pPr algn="ctr">
                        <a:defRPr sz="1400" b="1">
                          <a:latin typeface="Courier New" panose="02070309020205020404"/>
                        </a:defRPr>
                      </a:pPr>
                      <a:r>
                        <a:t>6</a:t>
                      </a:r>
                    </a:p>
                  </a:txBody>
                  <a:tcPr>
                    <a:solidFill>
                      <a:srgbClr val="E0E0E0"/>
                    </a:solidFill>
                  </a:tcPr>
                </a:tc>
                <a:tc>
                  <a:txBody>
                    <a:bodyPr/>
                    <a:lstStyle/>
                    <a:p>
                      <a:pPr algn="ctr">
                        <a:defRPr sz="1400" b="1">
                          <a:latin typeface="Courier New" panose="02070309020205020404"/>
                        </a:defRPr>
                      </a:pPr>
                      <a:r>
                        <a:t>7</a:t>
                      </a:r>
                    </a:p>
                  </a:txBody>
                  <a:tcPr>
                    <a:solidFill>
                      <a:srgbClr val="E0E0E0"/>
                    </a:solidFill>
                  </a:tcPr>
                </a:tc>
                <a:tc>
                  <a:txBody>
                    <a:bodyPr/>
                    <a:lstStyle/>
                    <a:p>
                      <a:pPr algn="ctr">
                        <a:defRPr sz="1400" b="1">
                          <a:latin typeface="Courier New" panose="02070309020205020404"/>
                        </a:defRPr>
                      </a:pPr>
                      <a:r>
                        <a:t>8</a:t>
                      </a:r>
                    </a:p>
                  </a:txBody>
                  <a:tcPr>
                    <a:solidFill>
                      <a:srgbClr val="E0E0E0"/>
                    </a:solidFill>
                  </a:tcPr>
                </a:tc>
                <a:tc>
                  <a:txBody>
                    <a:bodyPr/>
                    <a:lstStyle/>
                    <a:p>
                      <a:pPr algn="ctr">
                        <a:defRPr sz="1400" b="1">
                          <a:latin typeface="Courier New" panose="02070309020205020404"/>
                        </a:defRPr>
                      </a:pPr>
                      <a:r>
                        <a:t>9</a:t>
                      </a:r>
                    </a:p>
                  </a:txBody>
                  <a:tcPr>
                    <a:solidFill>
                      <a:srgbClr val="E0E0E0"/>
                    </a:solidFill>
                  </a:tcPr>
                </a:tc>
                <a:tc>
                  <a:txBody>
                    <a:bodyPr/>
                    <a:lstStyle/>
                    <a:p>
                      <a:pPr algn="ctr">
                        <a:defRPr sz="1400" b="1">
                          <a:latin typeface="Courier New" panose="02070309020205020404"/>
                        </a:defRPr>
                      </a:pPr>
                      <a:r>
                        <a:t>A</a:t>
                      </a:r>
                    </a:p>
                  </a:txBody>
                  <a:tcPr>
                    <a:solidFill>
                      <a:srgbClr val="E0E0E0"/>
                    </a:solidFill>
                  </a:tcPr>
                </a:tc>
                <a:tc>
                  <a:txBody>
                    <a:bodyPr/>
                    <a:lstStyle/>
                    <a:p>
                      <a:pPr algn="ctr">
                        <a:defRPr sz="1400" b="1">
                          <a:latin typeface="Courier New" panose="02070309020205020404"/>
                        </a:defRPr>
                      </a:pPr>
                      <a:r>
                        <a:t>B</a:t>
                      </a:r>
                    </a:p>
                  </a:txBody>
                  <a:tcPr>
                    <a:solidFill>
                      <a:srgbClr val="E0E0E0"/>
                    </a:solidFill>
                  </a:tcPr>
                </a:tc>
                <a:tc>
                  <a:txBody>
                    <a:bodyPr/>
                    <a:lstStyle/>
                    <a:p>
                      <a:pPr algn="ctr">
                        <a:defRPr sz="1400" b="1">
                          <a:latin typeface="Courier New" panose="02070309020205020404"/>
                        </a:defRPr>
                      </a:pPr>
                      <a:r>
                        <a:t>C</a:t>
                      </a:r>
                    </a:p>
                  </a:txBody>
                  <a:tcPr>
                    <a:solidFill>
                      <a:srgbClr val="E0E0E0"/>
                    </a:solidFill>
                  </a:tcPr>
                </a:tc>
                <a:tc>
                  <a:txBody>
                    <a:bodyPr/>
                    <a:lstStyle/>
                    <a:p>
                      <a:pPr algn="ctr">
                        <a:defRPr sz="1400" b="1">
                          <a:latin typeface="Courier New" panose="02070309020205020404"/>
                        </a:defRPr>
                      </a:pPr>
                      <a:r>
                        <a:t>D</a:t>
                      </a:r>
                    </a:p>
                  </a:txBody>
                  <a:tcPr>
                    <a:solidFill>
                      <a:srgbClr val="E0E0E0"/>
                    </a:solidFill>
                  </a:tcPr>
                </a:tc>
                <a:tc>
                  <a:txBody>
                    <a:bodyPr/>
                    <a:lstStyle/>
                    <a:p>
                      <a:pPr algn="ctr">
                        <a:defRPr sz="1400" b="1">
                          <a:latin typeface="Courier New" panose="02070309020205020404"/>
                        </a:defRPr>
                      </a:pPr>
                      <a:r>
                        <a:t>E</a:t>
                      </a:r>
                    </a:p>
                  </a:txBody>
                  <a:tcPr>
                    <a:solidFill>
                      <a:srgbClr val="E0E0E0"/>
                    </a:solidFill>
                  </a:tcPr>
                </a:tc>
                <a:tc>
                  <a:txBody>
                    <a:bodyPr/>
                    <a:lstStyle/>
                    <a:p>
                      <a:pPr algn="ctr">
                        <a:defRPr sz="1400" b="1">
                          <a:latin typeface="Courier New" panose="02070309020205020404"/>
                        </a:defRPr>
                      </a:pPr>
                      <a:r>
                        <a:t>F</a:t>
                      </a:r>
                    </a:p>
                  </a:txBody>
                  <a:tcPr>
                    <a:solidFill>
                      <a:srgbClr val="E0E0E0"/>
                    </a:solidFill>
                  </a:tcPr>
                </a:tc>
                <a:extLst>
                  <a:ext uri="{0D108BD9-81ED-4DB2-BD59-A6C34878D82A}">
                    <a16:rowId xmlns:a16="http://schemas.microsoft.com/office/drawing/2014/main" val="10000"/>
                  </a:ext>
                </a:extLst>
              </a:tr>
              <a:tr h="426720">
                <a:tc>
                  <a:txBody>
                    <a:bodyPr/>
                    <a:lstStyle/>
                    <a:p>
                      <a:pPr algn="ctr">
                        <a:defRPr sz="1400" b="1">
                          <a:latin typeface="Courier New" panose="02070309020205020404"/>
                        </a:defRPr>
                      </a:pPr>
                      <a:r>
                        <a:t>0</a:t>
                      </a:r>
                    </a:p>
                  </a:txBody>
                  <a:tcPr>
                    <a:solidFill>
                      <a:srgbClr val="E0E0E0"/>
                    </a:solidFill>
                  </a:tcPr>
                </a:tc>
                <a:tc>
                  <a:txBody>
                    <a:bodyPr/>
                    <a:lstStyle/>
                    <a:p>
                      <a:pPr algn="ctr">
                        <a:defRPr sz="1400">
                          <a:latin typeface="Courier New" panose="02070309020205020404"/>
                        </a:defRPr>
                      </a:pPr>
                      <a:r>
                        <a:t>D6</a:t>
                      </a:r>
                    </a:p>
                  </a:txBody>
                  <a:tcPr/>
                </a:tc>
                <a:tc>
                  <a:txBody>
                    <a:bodyPr/>
                    <a:lstStyle/>
                    <a:p>
                      <a:pPr algn="ctr">
                        <a:defRPr sz="1400">
                          <a:latin typeface="Courier New" panose="02070309020205020404"/>
                        </a:defRPr>
                      </a:pPr>
                      <a:r>
                        <a:t>90</a:t>
                      </a:r>
                    </a:p>
                  </a:txBody>
                  <a:tcPr/>
                </a:tc>
                <a:tc>
                  <a:txBody>
                    <a:bodyPr/>
                    <a:lstStyle/>
                    <a:p>
                      <a:pPr algn="ctr">
                        <a:defRPr sz="1400">
                          <a:latin typeface="Courier New" panose="02070309020205020404"/>
                        </a:defRPr>
                      </a:pPr>
                      <a:r>
                        <a:t>E9</a:t>
                      </a:r>
                    </a:p>
                  </a:txBody>
                  <a:tcPr/>
                </a:tc>
                <a:tc>
                  <a:txBody>
                    <a:bodyPr/>
                    <a:lstStyle/>
                    <a:p>
                      <a:pPr algn="ctr">
                        <a:defRPr sz="1400">
                          <a:latin typeface="Courier New" panose="02070309020205020404"/>
                        </a:defRPr>
                      </a:pPr>
                      <a:r>
                        <a:t>FE</a:t>
                      </a:r>
                    </a:p>
                  </a:txBody>
                  <a:tcPr/>
                </a:tc>
                <a:tc>
                  <a:txBody>
                    <a:bodyPr/>
                    <a:lstStyle/>
                    <a:p>
                      <a:pPr algn="ctr">
                        <a:defRPr sz="1400">
                          <a:latin typeface="Courier New" panose="02070309020205020404"/>
                        </a:defRPr>
                      </a:pPr>
                      <a:r>
                        <a:t>CC</a:t>
                      </a:r>
                    </a:p>
                  </a:txBody>
                  <a:tcPr/>
                </a:tc>
                <a:tc>
                  <a:txBody>
                    <a:bodyPr/>
                    <a:lstStyle/>
                    <a:p>
                      <a:pPr algn="ctr">
                        <a:defRPr sz="1400">
                          <a:latin typeface="Courier New" panose="02070309020205020404"/>
                        </a:defRPr>
                      </a:pPr>
                      <a:r>
                        <a:t>E1</a:t>
                      </a:r>
                    </a:p>
                  </a:txBody>
                  <a:tcPr/>
                </a:tc>
                <a:tc>
                  <a:txBody>
                    <a:bodyPr/>
                    <a:lstStyle/>
                    <a:p>
                      <a:pPr algn="ctr">
                        <a:defRPr sz="1400">
                          <a:latin typeface="Courier New" panose="02070309020205020404"/>
                        </a:defRPr>
                      </a:pPr>
                      <a:r>
                        <a:t>3D</a:t>
                      </a:r>
                    </a:p>
                  </a:txBody>
                  <a:tcPr/>
                </a:tc>
                <a:tc>
                  <a:txBody>
                    <a:bodyPr/>
                    <a:lstStyle/>
                    <a:p>
                      <a:pPr algn="ctr">
                        <a:defRPr sz="1400">
                          <a:latin typeface="Courier New" panose="02070309020205020404"/>
                        </a:defRPr>
                      </a:pPr>
                      <a:r>
                        <a:t>B7</a:t>
                      </a:r>
                    </a:p>
                  </a:txBody>
                  <a:tcPr/>
                </a:tc>
                <a:tc>
                  <a:txBody>
                    <a:bodyPr/>
                    <a:lstStyle/>
                    <a:p>
                      <a:pPr algn="ctr">
                        <a:defRPr sz="1400">
                          <a:latin typeface="Courier New" panose="02070309020205020404"/>
                        </a:defRPr>
                      </a:pPr>
                      <a:r>
                        <a:t>16</a:t>
                      </a:r>
                    </a:p>
                  </a:txBody>
                  <a:tcPr/>
                </a:tc>
                <a:tc>
                  <a:txBody>
                    <a:bodyPr/>
                    <a:lstStyle/>
                    <a:p>
                      <a:pPr algn="ctr">
                        <a:defRPr sz="1400">
                          <a:latin typeface="Courier New" panose="02070309020205020404"/>
                        </a:defRPr>
                      </a:pPr>
                      <a:r>
                        <a:t>B6</a:t>
                      </a:r>
                    </a:p>
                  </a:txBody>
                  <a:tcPr/>
                </a:tc>
                <a:tc>
                  <a:txBody>
                    <a:bodyPr/>
                    <a:lstStyle/>
                    <a:p>
                      <a:pPr algn="ctr">
                        <a:defRPr sz="1400">
                          <a:latin typeface="Courier New" panose="02070309020205020404"/>
                        </a:defRPr>
                      </a:pPr>
                      <a:r>
                        <a:t>14</a:t>
                      </a:r>
                    </a:p>
                  </a:txBody>
                  <a:tcPr/>
                </a:tc>
                <a:tc>
                  <a:txBody>
                    <a:bodyPr/>
                    <a:lstStyle/>
                    <a:p>
                      <a:pPr algn="ctr">
                        <a:defRPr sz="1400">
                          <a:latin typeface="Courier New" panose="02070309020205020404"/>
                        </a:defRPr>
                      </a:pPr>
                      <a:r>
                        <a:t>C2</a:t>
                      </a:r>
                    </a:p>
                  </a:txBody>
                  <a:tcPr/>
                </a:tc>
                <a:tc>
                  <a:txBody>
                    <a:bodyPr/>
                    <a:lstStyle/>
                    <a:p>
                      <a:pPr algn="ctr">
                        <a:defRPr sz="1400">
                          <a:latin typeface="Courier New" panose="02070309020205020404"/>
                        </a:defRPr>
                      </a:pPr>
                      <a:r>
                        <a:t>28</a:t>
                      </a:r>
                    </a:p>
                  </a:txBody>
                  <a:tcPr/>
                </a:tc>
                <a:tc>
                  <a:txBody>
                    <a:bodyPr/>
                    <a:lstStyle/>
                    <a:p>
                      <a:pPr algn="ctr">
                        <a:defRPr sz="1400">
                          <a:latin typeface="Courier New" panose="02070309020205020404"/>
                        </a:defRPr>
                      </a:pPr>
                      <a:r>
                        <a:t>FB</a:t>
                      </a:r>
                    </a:p>
                  </a:txBody>
                  <a:tcPr/>
                </a:tc>
                <a:tc>
                  <a:txBody>
                    <a:bodyPr/>
                    <a:lstStyle/>
                    <a:p>
                      <a:pPr algn="ctr">
                        <a:defRPr sz="1400">
                          <a:latin typeface="Courier New" panose="02070309020205020404"/>
                        </a:defRPr>
                      </a:pPr>
                      <a:r>
                        <a:t>2C</a:t>
                      </a:r>
                    </a:p>
                  </a:txBody>
                  <a:tcPr/>
                </a:tc>
                <a:tc>
                  <a:txBody>
                    <a:bodyPr/>
                    <a:lstStyle/>
                    <a:p>
                      <a:pPr algn="ctr">
                        <a:defRPr sz="1400">
                          <a:latin typeface="Courier New" panose="02070309020205020404"/>
                        </a:defRPr>
                      </a:pPr>
                      <a:r>
                        <a:t>05</a:t>
                      </a:r>
                    </a:p>
                  </a:txBody>
                  <a:tcPr/>
                </a:tc>
                <a:extLst>
                  <a:ext uri="{0D108BD9-81ED-4DB2-BD59-A6C34878D82A}">
                    <a16:rowId xmlns:a16="http://schemas.microsoft.com/office/drawing/2014/main" val="10001"/>
                  </a:ext>
                </a:extLst>
              </a:tr>
              <a:tr h="426720">
                <a:tc>
                  <a:txBody>
                    <a:bodyPr/>
                    <a:lstStyle/>
                    <a:p>
                      <a:pPr algn="ctr">
                        <a:defRPr sz="1400" b="1">
                          <a:latin typeface="Courier New" panose="02070309020205020404"/>
                        </a:defRPr>
                      </a:pPr>
                      <a:r>
                        <a:t>1</a:t>
                      </a:r>
                    </a:p>
                  </a:txBody>
                  <a:tcPr>
                    <a:solidFill>
                      <a:srgbClr val="E0E0E0"/>
                    </a:solidFill>
                  </a:tcPr>
                </a:tc>
                <a:tc>
                  <a:txBody>
                    <a:bodyPr/>
                    <a:lstStyle/>
                    <a:p>
                      <a:pPr algn="ctr">
                        <a:defRPr sz="1400">
                          <a:latin typeface="Courier New" panose="02070309020205020404"/>
                        </a:defRPr>
                      </a:pPr>
                      <a:r>
                        <a:t>2B</a:t>
                      </a:r>
                    </a:p>
                  </a:txBody>
                  <a:tcPr/>
                </a:tc>
                <a:tc>
                  <a:txBody>
                    <a:bodyPr/>
                    <a:lstStyle/>
                    <a:p>
                      <a:pPr algn="ctr">
                        <a:defRPr sz="1400">
                          <a:latin typeface="Courier New" panose="02070309020205020404"/>
                        </a:defRPr>
                      </a:pPr>
                      <a:r>
                        <a:t>67</a:t>
                      </a:r>
                    </a:p>
                  </a:txBody>
                  <a:tcPr/>
                </a:tc>
                <a:tc>
                  <a:txBody>
                    <a:bodyPr/>
                    <a:lstStyle/>
                    <a:p>
                      <a:pPr algn="ctr">
                        <a:defRPr sz="1400">
                          <a:latin typeface="Courier New" panose="02070309020205020404"/>
                        </a:defRPr>
                      </a:pPr>
                      <a:r>
                        <a:t>9A</a:t>
                      </a:r>
                    </a:p>
                  </a:txBody>
                  <a:tcPr/>
                </a:tc>
                <a:tc>
                  <a:txBody>
                    <a:bodyPr/>
                    <a:lstStyle/>
                    <a:p>
                      <a:pPr algn="ctr">
                        <a:defRPr sz="1400">
                          <a:latin typeface="Courier New" panose="02070309020205020404"/>
                        </a:defRPr>
                      </a:pPr>
                      <a:r>
                        <a:t>76</a:t>
                      </a:r>
                    </a:p>
                  </a:txBody>
                  <a:tcPr/>
                </a:tc>
                <a:tc>
                  <a:txBody>
                    <a:bodyPr/>
                    <a:lstStyle/>
                    <a:p>
                      <a:pPr algn="ctr">
                        <a:defRPr sz="1400">
                          <a:latin typeface="Courier New" panose="02070309020205020404"/>
                        </a:defRPr>
                      </a:pPr>
                      <a:r>
                        <a:t>2A</a:t>
                      </a:r>
                    </a:p>
                  </a:txBody>
                  <a:tcPr/>
                </a:tc>
                <a:tc>
                  <a:txBody>
                    <a:bodyPr/>
                    <a:lstStyle/>
                    <a:p>
                      <a:pPr algn="ctr">
                        <a:defRPr sz="1400">
                          <a:latin typeface="Courier New" panose="02070309020205020404"/>
                        </a:defRPr>
                      </a:pPr>
                      <a:r>
                        <a:t>BE</a:t>
                      </a:r>
                    </a:p>
                  </a:txBody>
                  <a:tcPr/>
                </a:tc>
                <a:tc>
                  <a:txBody>
                    <a:bodyPr/>
                    <a:lstStyle/>
                    <a:p>
                      <a:pPr algn="ctr">
                        <a:defRPr sz="1400">
                          <a:latin typeface="Courier New" panose="02070309020205020404"/>
                        </a:defRPr>
                      </a:pPr>
                      <a:r>
                        <a:t>04</a:t>
                      </a:r>
                    </a:p>
                  </a:txBody>
                  <a:tcPr/>
                </a:tc>
                <a:tc>
                  <a:txBody>
                    <a:bodyPr/>
                    <a:lstStyle/>
                    <a:p>
                      <a:pPr algn="ctr">
                        <a:defRPr sz="1400">
                          <a:latin typeface="Courier New" panose="02070309020205020404"/>
                        </a:defRPr>
                      </a:pPr>
                      <a:r>
                        <a:t>C3</a:t>
                      </a:r>
                    </a:p>
                  </a:txBody>
                  <a:tcPr/>
                </a:tc>
                <a:tc>
                  <a:txBody>
                    <a:bodyPr/>
                    <a:lstStyle/>
                    <a:p>
                      <a:pPr algn="ctr">
                        <a:defRPr sz="1400">
                          <a:latin typeface="Courier New" panose="02070309020205020404"/>
                        </a:defRPr>
                      </a:pPr>
                      <a:r>
                        <a:t>AA</a:t>
                      </a:r>
                    </a:p>
                  </a:txBody>
                  <a:tcPr/>
                </a:tc>
                <a:tc>
                  <a:txBody>
                    <a:bodyPr/>
                    <a:lstStyle/>
                    <a:p>
                      <a:pPr algn="ctr">
                        <a:defRPr sz="1400">
                          <a:latin typeface="Courier New" panose="02070309020205020404"/>
                        </a:defRPr>
                      </a:pPr>
                      <a:r>
                        <a:t>44</a:t>
                      </a:r>
                    </a:p>
                  </a:txBody>
                  <a:tcPr/>
                </a:tc>
                <a:tc>
                  <a:txBody>
                    <a:bodyPr/>
                    <a:lstStyle/>
                    <a:p>
                      <a:pPr algn="ctr">
                        <a:defRPr sz="1400">
                          <a:latin typeface="Courier New" panose="02070309020205020404"/>
                        </a:defRPr>
                      </a:pPr>
                      <a:r>
                        <a:t>13</a:t>
                      </a:r>
                    </a:p>
                  </a:txBody>
                  <a:tcPr/>
                </a:tc>
                <a:tc>
                  <a:txBody>
                    <a:bodyPr/>
                    <a:lstStyle/>
                    <a:p>
                      <a:pPr algn="ctr">
                        <a:defRPr sz="1400">
                          <a:latin typeface="Courier New" panose="02070309020205020404"/>
                        </a:defRPr>
                      </a:pPr>
                      <a:r>
                        <a:t>26</a:t>
                      </a:r>
                    </a:p>
                  </a:txBody>
                  <a:tcPr/>
                </a:tc>
                <a:tc>
                  <a:txBody>
                    <a:bodyPr/>
                    <a:lstStyle/>
                    <a:p>
                      <a:pPr algn="ctr">
                        <a:defRPr sz="1400">
                          <a:latin typeface="Courier New" panose="02070309020205020404"/>
                        </a:defRPr>
                      </a:pPr>
                      <a:r>
                        <a:t>49</a:t>
                      </a:r>
                    </a:p>
                  </a:txBody>
                  <a:tcPr/>
                </a:tc>
                <a:tc>
                  <a:txBody>
                    <a:bodyPr/>
                    <a:lstStyle/>
                    <a:p>
                      <a:pPr algn="ctr">
                        <a:defRPr sz="1400">
                          <a:latin typeface="Courier New" panose="02070309020205020404"/>
                        </a:defRPr>
                      </a:pPr>
                      <a:r>
                        <a:t>86</a:t>
                      </a:r>
                    </a:p>
                  </a:txBody>
                  <a:tcPr/>
                </a:tc>
                <a:tc>
                  <a:txBody>
                    <a:bodyPr/>
                    <a:lstStyle/>
                    <a:p>
                      <a:pPr algn="ctr">
                        <a:defRPr sz="1400">
                          <a:latin typeface="Courier New" panose="02070309020205020404"/>
                        </a:defRPr>
                      </a:pPr>
                      <a:r>
                        <a:t>06</a:t>
                      </a:r>
                    </a:p>
                  </a:txBody>
                  <a:tcPr/>
                </a:tc>
                <a:tc>
                  <a:txBody>
                    <a:bodyPr/>
                    <a:lstStyle/>
                    <a:p>
                      <a:pPr algn="ctr">
                        <a:defRPr sz="1400">
                          <a:latin typeface="Courier New" panose="02070309020205020404"/>
                        </a:defRPr>
                      </a:pPr>
                      <a:r>
                        <a:t>99</a:t>
                      </a:r>
                    </a:p>
                  </a:txBody>
                  <a:tcPr/>
                </a:tc>
                <a:extLst>
                  <a:ext uri="{0D108BD9-81ED-4DB2-BD59-A6C34878D82A}">
                    <a16:rowId xmlns:a16="http://schemas.microsoft.com/office/drawing/2014/main" val="10002"/>
                  </a:ext>
                </a:extLst>
              </a:tr>
              <a:tr h="426720">
                <a:tc>
                  <a:txBody>
                    <a:bodyPr/>
                    <a:lstStyle/>
                    <a:p>
                      <a:pPr algn="ctr">
                        <a:defRPr sz="1400" b="1">
                          <a:latin typeface="Courier New" panose="02070309020205020404"/>
                        </a:defRPr>
                      </a:pPr>
                      <a:r>
                        <a:t>2</a:t>
                      </a:r>
                    </a:p>
                  </a:txBody>
                  <a:tcPr>
                    <a:solidFill>
                      <a:srgbClr val="E0E0E0"/>
                    </a:solidFill>
                  </a:tcPr>
                </a:tc>
                <a:tc>
                  <a:txBody>
                    <a:bodyPr/>
                    <a:lstStyle/>
                    <a:p>
                      <a:pPr algn="ctr">
                        <a:defRPr sz="1400">
                          <a:latin typeface="Courier New" panose="02070309020205020404"/>
                        </a:defRPr>
                      </a:pPr>
                      <a:r>
                        <a:t>9C</a:t>
                      </a:r>
                    </a:p>
                  </a:txBody>
                  <a:tcPr/>
                </a:tc>
                <a:tc>
                  <a:txBody>
                    <a:bodyPr/>
                    <a:lstStyle/>
                    <a:p>
                      <a:pPr algn="ctr">
                        <a:defRPr sz="1400">
                          <a:latin typeface="Courier New" panose="02070309020205020404"/>
                        </a:defRPr>
                      </a:pPr>
                      <a:r>
                        <a:t>42</a:t>
                      </a:r>
                    </a:p>
                  </a:txBody>
                  <a:tcPr/>
                </a:tc>
                <a:tc>
                  <a:txBody>
                    <a:bodyPr/>
                    <a:lstStyle/>
                    <a:p>
                      <a:pPr algn="ctr">
                        <a:defRPr sz="1400">
                          <a:latin typeface="Courier New" panose="02070309020205020404"/>
                        </a:defRPr>
                      </a:pPr>
                      <a:r>
                        <a:t>50</a:t>
                      </a:r>
                    </a:p>
                  </a:txBody>
                  <a:tcPr/>
                </a:tc>
                <a:tc>
                  <a:txBody>
                    <a:bodyPr/>
                    <a:lstStyle/>
                    <a:p>
                      <a:pPr algn="ctr">
                        <a:defRPr sz="1400">
                          <a:latin typeface="Courier New" panose="02070309020205020404"/>
                        </a:defRPr>
                      </a:pPr>
                      <a:r>
                        <a:t>F4</a:t>
                      </a:r>
                    </a:p>
                  </a:txBody>
                  <a:tcPr/>
                </a:tc>
                <a:tc>
                  <a:txBody>
                    <a:bodyPr/>
                    <a:lstStyle/>
                    <a:p>
                      <a:pPr algn="ctr">
                        <a:defRPr sz="1400">
                          <a:latin typeface="Courier New" panose="02070309020205020404"/>
                        </a:defRPr>
                      </a:pPr>
                      <a:r>
                        <a:t>91</a:t>
                      </a:r>
                    </a:p>
                  </a:txBody>
                  <a:tcPr/>
                </a:tc>
                <a:tc>
                  <a:txBody>
                    <a:bodyPr/>
                    <a:lstStyle/>
                    <a:p>
                      <a:pPr algn="ctr">
                        <a:defRPr sz="1400">
                          <a:latin typeface="Courier New" panose="02070309020205020404"/>
                        </a:defRPr>
                      </a:pPr>
                      <a:r>
                        <a:t>EF</a:t>
                      </a:r>
                    </a:p>
                  </a:txBody>
                  <a:tcPr/>
                </a:tc>
                <a:tc>
                  <a:txBody>
                    <a:bodyPr/>
                    <a:lstStyle/>
                    <a:p>
                      <a:pPr algn="ctr">
                        <a:defRPr sz="1400">
                          <a:latin typeface="Courier New" panose="02070309020205020404"/>
                        </a:defRPr>
                      </a:pPr>
                      <a:r>
                        <a:t>98</a:t>
                      </a:r>
                    </a:p>
                  </a:txBody>
                  <a:tcPr/>
                </a:tc>
                <a:tc>
                  <a:txBody>
                    <a:bodyPr/>
                    <a:lstStyle/>
                    <a:p>
                      <a:pPr algn="ctr">
                        <a:defRPr sz="1400">
                          <a:latin typeface="Courier New" panose="02070309020205020404"/>
                        </a:defRPr>
                      </a:pPr>
                      <a:r>
                        <a:t>7A</a:t>
                      </a:r>
                    </a:p>
                  </a:txBody>
                  <a:tcPr/>
                </a:tc>
                <a:tc>
                  <a:txBody>
                    <a:bodyPr/>
                    <a:lstStyle/>
                    <a:p>
                      <a:pPr algn="ctr">
                        <a:defRPr sz="1400">
                          <a:latin typeface="Courier New" panose="02070309020205020404"/>
                        </a:defRPr>
                      </a:pPr>
                      <a:r>
                        <a:t>33</a:t>
                      </a:r>
                    </a:p>
                  </a:txBody>
                  <a:tcPr/>
                </a:tc>
                <a:tc>
                  <a:txBody>
                    <a:bodyPr/>
                    <a:lstStyle/>
                    <a:p>
                      <a:pPr algn="ctr">
                        <a:defRPr sz="1400">
                          <a:latin typeface="Courier New" panose="02070309020205020404"/>
                        </a:defRPr>
                      </a:pPr>
                      <a:r>
                        <a:t>54</a:t>
                      </a:r>
                    </a:p>
                  </a:txBody>
                  <a:tcPr/>
                </a:tc>
                <a:tc>
                  <a:txBody>
                    <a:bodyPr/>
                    <a:lstStyle/>
                    <a:p>
                      <a:pPr algn="ctr">
                        <a:defRPr sz="1400">
                          <a:latin typeface="Courier New" panose="02070309020205020404"/>
                        </a:defRPr>
                      </a:pPr>
                      <a:r>
                        <a:t>0B</a:t>
                      </a:r>
                    </a:p>
                  </a:txBody>
                  <a:tcPr/>
                </a:tc>
                <a:tc>
                  <a:txBody>
                    <a:bodyPr/>
                    <a:lstStyle/>
                    <a:p>
                      <a:pPr algn="ctr">
                        <a:defRPr sz="1400">
                          <a:latin typeface="Courier New" panose="02070309020205020404"/>
                        </a:defRPr>
                      </a:pPr>
                      <a:r>
                        <a:t>43</a:t>
                      </a:r>
                    </a:p>
                  </a:txBody>
                  <a:tcPr/>
                </a:tc>
                <a:tc>
                  <a:txBody>
                    <a:bodyPr/>
                    <a:lstStyle/>
                    <a:p>
                      <a:pPr algn="ctr">
                        <a:defRPr sz="1400">
                          <a:latin typeface="Courier New" panose="02070309020205020404"/>
                        </a:defRPr>
                      </a:pPr>
                      <a:r>
                        <a:t>ED</a:t>
                      </a:r>
                    </a:p>
                  </a:txBody>
                  <a:tcPr/>
                </a:tc>
                <a:tc>
                  <a:txBody>
                    <a:bodyPr/>
                    <a:lstStyle/>
                    <a:p>
                      <a:pPr algn="ctr">
                        <a:defRPr sz="1400">
                          <a:latin typeface="Courier New" panose="02070309020205020404"/>
                        </a:defRPr>
                      </a:pPr>
                      <a:r>
                        <a:t>CF</a:t>
                      </a:r>
                    </a:p>
                  </a:txBody>
                  <a:tcPr/>
                </a:tc>
                <a:tc>
                  <a:txBody>
                    <a:bodyPr/>
                    <a:lstStyle/>
                    <a:p>
                      <a:pPr algn="ctr">
                        <a:defRPr sz="1400">
                          <a:latin typeface="Courier New" panose="02070309020205020404"/>
                        </a:defRPr>
                      </a:pPr>
                      <a:r>
                        <a:t>AC</a:t>
                      </a:r>
                    </a:p>
                  </a:txBody>
                  <a:tcPr/>
                </a:tc>
                <a:tc>
                  <a:txBody>
                    <a:bodyPr/>
                    <a:lstStyle/>
                    <a:p>
                      <a:pPr algn="ctr">
                        <a:defRPr sz="1400">
                          <a:latin typeface="Courier New" panose="02070309020205020404"/>
                        </a:defRPr>
                      </a:pPr>
                      <a:r>
                        <a:t>62</a:t>
                      </a:r>
                    </a:p>
                  </a:txBody>
                  <a:tcPr/>
                </a:tc>
                <a:extLst>
                  <a:ext uri="{0D108BD9-81ED-4DB2-BD59-A6C34878D82A}">
                    <a16:rowId xmlns:a16="http://schemas.microsoft.com/office/drawing/2014/main" val="10003"/>
                  </a:ext>
                </a:extLst>
              </a:tr>
              <a:tr h="426720">
                <a:tc>
                  <a:txBody>
                    <a:bodyPr/>
                    <a:lstStyle/>
                    <a:p>
                      <a:pPr algn="ctr">
                        <a:defRPr sz="1400" b="1">
                          <a:latin typeface="Courier New" panose="02070309020205020404"/>
                        </a:defRPr>
                      </a:pPr>
                      <a:r>
                        <a:t>3</a:t>
                      </a:r>
                    </a:p>
                  </a:txBody>
                  <a:tcPr>
                    <a:solidFill>
                      <a:srgbClr val="E0E0E0"/>
                    </a:solidFill>
                  </a:tcPr>
                </a:tc>
                <a:tc>
                  <a:txBody>
                    <a:bodyPr/>
                    <a:lstStyle/>
                    <a:p>
                      <a:pPr algn="ctr">
                        <a:defRPr sz="1400">
                          <a:latin typeface="Courier New" panose="02070309020205020404"/>
                        </a:defRPr>
                      </a:pPr>
                      <a:r>
                        <a:t>E4</a:t>
                      </a:r>
                    </a:p>
                  </a:txBody>
                  <a:tcPr/>
                </a:tc>
                <a:tc>
                  <a:txBody>
                    <a:bodyPr/>
                    <a:lstStyle/>
                    <a:p>
                      <a:pPr algn="ctr">
                        <a:defRPr sz="1400">
                          <a:latin typeface="Courier New" panose="02070309020205020404"/>
                        </a:defRPr>
                      </a:pPr>
                      <a:r>
                        <a:t>B3</a:t>
                      </a:r>
                    </a:p>
                  </a:txBody>
                  <a:tcPr/>
                </a:tc>
                <a:tc>
                  <a:txBody>
                    <a:bodyPr/>
                    <a:lstStyle/>
                    <a:p>
                      <a:pPr algn="ctr">
                        <a:defRPr sz="1400">
                          <a:latin typeface="Courier New" panose="02070309020205020404"/>
                        </a:defRPr>
                      </a:pPr>
                      <a:r>
                        <a:t>1C</a:t>
                      </a:r>
                    </a:p>
                  </a:txBody>
                  <a:tcPr/>
                </a:tc>
                <a:tc>
                  <a:txBody>
                    <a:bodyPr/>
                    <a:lstStyle/>
                    <a:p>
                      <a:pPr algn="ctr">
                        <a:defRPr sz="1400">
                          <a:latin typeface="Courier New" panose="02070309020205020404"/>
                        </a:defRPr>
                      </a:pPr>
                      <a:r>
                        <a:t>A9</a:t>
                      </a:r>
                    </a:p>
                  </a:txBody>
                  <a:tcPr/>
                </a:tc>
                <a:tc>
                  <a:txBody>
                    <a:bodyPr/>
                    <a:lstStyle/>
                    <a:p>
                      <a:pPr algn="ctr">
                        <a:defRPr sz="1400">
                          <a:latin typeface="Courier New" panose="02070309020205020404"/>
                        </a:defRPr>
                      </a:pPr>
                      <a:r>
                        <a:t>C9</a:t>
                      </a:r>
                    </a:p>
                  </a:txBody>
                  <a:tcPr/>
                </a:tc>
                <a:tc>
                  <a:txBody>
                    <a:bodyPr/>
                    <a:lstStyle/>
                    <a:p>
                      <a:pPr algn="ctr">
                        <a:defRPr sz="1400">
                          <a:latin typeface="Courier New" panose="02070309020205020404"/>
                        </a:defRPr>
                      </a:pPr>
                      <a:r>
                        <a:t>08</a:t>
                      </a:r>
                    </a:p>
                  </a:txBody>
                  <a:tcPr/>
                </a:tc>
                <a:tc>
                  <a:txBody>
                    <a:bodyPr/>
                    <a:lstStyle/>
                    <a:p>
                      <a:pPr algn="ctr">
                        <a:defRPr sz="1400">
                          <a:latin typeface="Courier New" panose="02070309020205020404"/>
                        </a:defRPr>
                      </a:pPr>
                      <a:r>
                        <a:t>E8</a:t>
                      </a:r>
                    </a:p>
                  </a:txBody>
                  <a:tcPr/>
                </a:tc>
                <a:tc>
                  <a:txBody>
                    <a:bodyPr/>
                    <a:lstStyle/>
                    <a:p>
                      <a:pPr algn="ctr">
                        <a:defRPr sz="1400">
                          <a:latin typeface="Courier New" panose="02070309020205020404"/>
                        </a:defRPr>
                      </a:pPr>
                      <a:r>
                        <a:t>95</a:t>
                      </a:r>
                    </a:p>
                  </a:txBody>
                  <a:tcPr/>
                </a:tc>
                <a:tc>
                  <a:txBody>
                    <a:bodyPr/>
                    <a:lstStyle/>
                    <a:p>
                      <a:pPr algn="ctr">
                        <a:defRPr sz="1400">
                          <a:latin typeface="Courier New" panose="02070309020205020404"/>
                        </a:defRPr>
                      </a:pPr>
                      <a:r>
                        <a:t>80</a:t>
                      </a:r>
                    </a:p>
                  </a:txBody>
                  <a:tcPr/>
                </a:tc>
                <a:tc>
                  <a:txBody>
                    <a:bodyPr/>
                    <a:lstStyle/>
                    <a:p>
                      <a:pPr algn="ctr">
                        <a:defRPr sz="1400">
                          <a:latin typeface="Courier New" panose="02070309020205020404"/>
                        </a:defRPr>
                      </a:pPr>
                      <a:r>
                        <a:t>DF</a:t>
                      </a:r>
                    </a:p>
                  </a:txBody>
                  <a:tcPr/>
                </a:tc>
                <a:tc>
                  <a:txBody>
                    <a:bodyPr/>
                    <a:lstStyle/>
                    <a:p>
                      <a:pPr algn="ctr">
                        <a:defRPr sz="1400">
                          <a:latin typeface="Courier New" panose="02070309020205020404"/>
                        </a:defRPr>
                      </a:pPr>
                      <a:r>
                        <a:t>94</a:t>
                      </a:r>
                    </a:p>
                  </a:txBody>
                  <a:tcPr/>
                </a:tc>
                <a:tc>
                  <a:txBody>
                    <a:bodyPr/>
                    <a:lstStyle/>
                    <a:p>
                      <a:pPr algn="ctr">
                        <a:defRPr sz="1400">
                          <a:latin typeface="Courier New" panose="02070309020205020404"/>
                        </a:defRPr>
                      </a:pPr>
                      <a:r>
                        <a:t>FA</a:t>
                      </a:r>
                    </a:p>
                  </a:txBody>
                  <a:tcPr/>
                </a:tc>
                <a:tc>
                  <a:txBody>
                    <a:bodyPr/>
                    <a:lstStyle/>
                    <a:p>
                      <a:pPr algn="ctr">
                        <a:defRPr sz="1400">
                          <a:latin typeface="Courier New" panose="02070309020205020404"/>
                        </a:defRPr>
                      </a:pPr>
                      <a:r>
                        <a:t>75</a:t>
                      </a:r>
                    </a:p>
                  </a:txBody>
                  <a:tcPr/>
                </a:tc>
                <a:tc>
                  <a:txBody>
                    <a:bodyPr/>
                    <a:lstStyle/>
                    <a:p>
                      <a:pPr algn="ctr">
                        <a:defRPr sz="1400">
                          <a:latin typeface="Courier New" panose="02070309020205020404"/>
                        </a:defRPr>
                      </a:pPr>
                      <a:r>
                        <a:t>8F</a:t>
                      </a:r>
                    </a:p>
                  </a:txBody>
                  <a:tcPr/>
                </a:tc>
                <a:tc>
                  <a:txBody>
                    <a:bodyPr/>
                    <a:lstStyle/>
                    <a:p>
                      <a:pPr algn="ctr">
                        <a:defRPr sz="1400">
                          <a:latin typeface="Courier New" panose="02070309020205020404"/>
                        </a:defRPr>
                      </a:pPr>
                      <a:r>
                        <a:t>3F</a:t>
                      </a:r>
                    </a:p>
                  </a:txBody>
                  <a:tcPr/>
                </a:tc>
                <a:tc>
                  <a:txBody>
                    <a:bodyPr/>
                    <a:lstStyle/>
                    <a:p>
                      <a:pPr algn="ctr">
                        <a:defRPr sz="1400">
                          <a:latin typeface="Courier New" panose="02070309020205020404"/>
                        </a:defRPr>
                      </a:pPr>
                      <a:r>
                        <a:t>A6</a:t>
                      </a:r>
                    </a:p>
                  </a:txBody>
                  <a:tcPr/>
                </a:tc>
                <a:extLst>
                  <a:ext uri="{0D108BD9-81ED-4DB2-BD59-A6C34878D82A}">
                    <a16:rowId xmlns:a16="http://schemas.microsoft.com/office/drawing/2014/main" val="10004"/>
                  </a:ext>
                </a:extLst>
              </a:tr>
              <a:tr h="426720">
                <a:tc>
                  <a:txBody>
                    <a:bodyPr/>
                    <a:lstStyle/>
                    <a:p>
                      <a:pPr algn="ctr">
                        <a:defRPr sz="1400" b="1">
                          <a:latin typeface="Courier New" panose="02070309020205020404"/>
                        </a:defRPr>
                      </a:pPr>
                      <a:r>
                        <a:t>4</a:t>
                      </a:r>
                    </a:p>
                  </a:txBody>
                  <a:tcPr>
                    <a:solidFill>
                      <a:srgbClr val="E0E0E0"/>
                    </a:solidFill>
                  </a:tcPr>
                </a:tc>
                <a:tc>
                  <a:txBody>
                    <a:bodyPr/>
                    <a:lstStyle/>
                    <a:p>
                      <a:pPr algn="ctr">
                        <a:defRPr sz="1400">
                          <a:latin typeface="Courier New" panose="02070309020205020404"/>
                        </a:defRPr>
                      </a:pPr>
                      <a:r>
                        <a:t>47</a:t>
                      </a:r>
                    </a:p>
                  </a:txBody>
                  <a:tcPr/>
                </a:tc>
                <a:tc>
                  <a:txBody>
                    <a:bodyPr/>
                    <a:lstStyle/>
                    <a:p>
                      <a:pPr algn="ctr">
                        <a:defRPr sz="1400">
                          <a:latin typeface="Courier New" panose="02070309020205020404"/>
                        </a:defRPr>
                      </a:pPr>
                      <a:r>
                        <a:t>07</a:t>
                      </a:r>
                    </a:p>
                  </a:txBody>
                  <a:tcPr/>
                </a:tc>
                <a:tc>
                  <a:txBody>
                    <a:bodyPr/>
                    <a:lstStyle/>
                    <a:p>
                      <a:pPr algn="ctr">
                        <a:defRPr sz="1400">
                          <a:latin typeface="Courier New" panose="02070309020205020404"/>
                        </a:defRPr>
                      </a:pPr>
                      <a:r>
                        <a:t>A7</a:t>
                      </a:r>
                    </a:p>
                  </a:txBody>
                  <a:tcPr/>
                </a:tc>
                <a:tc>
                  <a:txBody>
                    <a:bodyPr/>
                    <a:lstStyle/>
                    <a:p>
                      <a:pPr algn="ctr">
                        <a:defRPr sz="1400">
                          <a:latin typeface="Courier New" panose="02070309020205020404"/>
                        </a:defRPr>
                      </a:pPr>
                      <a:r>
                        <a:t>FC</a:t>
                      </a:r>
                    </a:p>
                  </a:txBody>
                  <a:tcPr/>
                </a:tc>
                <a:tc>
                  <a:txBody>
                    <a:bodyPr/>
                    <a:lstStyle/>
                    <a:p>
                      <a:pPr algn="ctr">
                        <a:defRPr sz="1400">
                          <a:latin typeface="Courier New" panose="02070309020205020404"/>
                        </a:defRPr>
                      </a:pPr>
                      <a:r>
                        <a:t>F3</a:t>
                      </a:r>
                    </a:p>
                  </a:txBody>
                  <a:tcPr/>
                </a:tc>
                <a:tc>
                  <a:txBody>
                    <a:bodyPr/>
                    <a:lstStyle/>
                    <a:p>
                      <a:pPr algn="ctr">
                        <a:defRPr sz="1400">
                          <a:latin typeface="Courier New" panose="02070309020205020404"/>
                        </a:defRPr>
                      </a:pPr>
                      <a:r>
                        <a:t>73</a:t>
                      </a:r>
                    </a:p>
                  </a:txBody>
                  <a:tcPr/>
                </a:tc>
                <a:tc>
                  <a:txBody>
                    <a:bodyPr/>
                    <a:lstStyle/>
                    <a:p>
                      <a:pPr algn="ctr">
                        <a:defRPr sz="1400">
                          <a:latin typeface="Courier New" panose="02070309020205020404"/>
                        </a:defRPr>
                      </a:pPr>
                      <a:r>
                        <a:t>17</a:t>
                      </a:r>
                    </a:p>
                  </a:txBody>
                  <a:tcPr/>
                </a:tc>
                <a:tc>
                  <a:txBody>
                    <a:bodyPr/>
                    <a:lstStyle/>
                    <a:p>
                      <a:pPr algn="ctr">
                        <a:defRPr sz="1400">
                          <a:latin typeface="Courier New" panose="02070309020205020404"/>
                        </a:defRPr>
                      </a:pPr>
                      <a:r>
                        <a:t>BA</a:t>
                      </a:r>
                    </a:p>
                  </a:txBody>
                  <a:tcPr/>
                </a:tc>
                <a:tc>
                  <a:txBody>
                    <a:bodyPr/>
                    <a:lstStyle/>
                    <a:p>
                      <a:pPr algn="ctr">
                        <a:defRPr sz="1400">
                          <a:latin typeface="Courier New" panose="02070309020205020404"/>
                        </a:defRPr>
                      </a:pPr>
                      <a:r>
                        <a:t>83</a:t>
                      </a:r>
                    </a:p>
                  </a:txBody>
                  <a:tcPr/>
                </a:tc>
                <a:tc>
                  <a:txBody>
                    <a:bodyPr/>
                    <a:lstStyle/>
                    <a:p>
                      <a:pPr algn="ctr">
                        <a:defRPr sz="1400">
                          <a:latin typeface="Courier New" panose="02070309020205020404"/>
                        </a:defRPr>
                      </a:pPr>
                      <a:r>
                        <a:t>59</a:t>
                      </a:r>
                    </a:p>
                  </a:txBody>
                  <a:tcPr/>
                </a:tc>
                <a:tc>
                  <a:txBody>
                    <a:bodyPr/>
                    <a:lstStyle/>
                    <a:p>
                      <a:pPr algn="ctr">
                        <a:defRPr sz="1400">
                          <a:latin typeface="Courier New" panose="02070309020205020404"/>
                        </a:defRPr>
                      </a:pPr>
                      <a:r>
                        <a:t>3C</a:t>
                      </a:r>
                    </a:p>
                  </a:txBody>
                  <a:tcPr/>
                </a:tc>
                <a:tc>
                  <a:txBody>
                    <a:bodyPr/>
                    <a:lstStyle/>
                    <a:p>
                      <a:pPr algn="ctr">
                        <a:defRPr sz="1400">
                          <a:latin typeface="Courier New" panose="02070309020205020404"/>
                        </a:defRPr>
                      </a:pPr>
                      <a:r>
                        <a:t>19</a:t>
                      </a:r>
                    </a:p>
                  </a:txBody>
                  <a:tcPr/>
                </a:tc>
                <a:tc>
                  <a:txBody>
                    <a:bodyPr/>
                    <a:lstStyle/>
                    <a:p>
                      <a:pPr algn="ctr">
                        <a:defRPr sz="1400">
                          <a:latin typeface="Courier New" panose="02070309020205020404"/>
                        </a:defRPr>
                      </a:pPr>
                      <a:r>
                        <a:t>E6</a:t>
                      </a:r>
                    </a:p>
                  </a:txBody>
                  <a:tcPr/>
                </a:tc>
                <a:tc>
                  <a:txBody>
                    <a:bodyPr/>
                    <a:lstStyle/>
                    <a:p>
                      <a:pPr algn="ctr">
                        <a:defRPr sz="1400">
                          <a:latin typeface="Courier New" panose="02070309020205020404"/>
                        </a:defRPr>
                      </a:pPr>
                      <a:r>
                        <a:t>85</a:t>
                      </a:r>
                    </a:p>
                  </a:txBody>
                  <a:tcPr/>
                </a:tc>
                <a:tc>
                  <a:txBody>
                    <a:bodyPr/>
                    <a:lstStyle/>
                    <a:p>
                      <a:pPr algn="ctr">
                        <a:defRPr sz="1400">
                          <a:latin typeface="Courier New" panose="02070309020205020404"/>
                        </a:defRPr>
                      </a:pPr>
                      <a:r>
                        <a:t>4F</a:t>
                      </a:r>
                    </a:p>
                  </a:txBody>
                  <a:tcPr/>
                </a:tc>
                <a:tc>
                  <a:txBody>
                    <a:bodyPr/>
                    <a:lstStyle/>
                    <a:p>
                      <a:pPr algn="ctr">
                        <a:defRPr sz="1400">
                          <a:latin typeface="Courier New" panose="02070309020205020404"/>
                        </a:defRPr>
                      </a:pPr>
                      <a:r>
                        <a:t>A8</a:t>
                      </a:r>
                    </a:p>
                  </a:txBody>
                  <a:tcPr/>
                </a:tc>
                <a:extLst>
                  <a:ext uri="{0D108BD9-81ED-4DB2-BD59-A6C34878D82A}">
                    <a16:rowId xmlns:a16="http://schemas.microsoft.com/office/drawing/2014/main" val="10005"/>
                  </a:ext>
                </a:extLst>
              </a:tr>
              <a:tr h="426720">
                <a:tc>
                  <a:txBody>
                    <a:bodyPr/>
                    <a:lstStyle/>
                    <a:p>
                      <a:pPr algn="ctr">
                        <a:defRPr sz="1400" b="1">
                          <a:latin typeface="Courier New" panose="02070309020205020404"/>
                        </a:defRPr>
                      </a:pPr>
                      <a:r>
                        <a:t>5</a:t>
                      </a:r>
                    </a:p>
                  </a:txBody>
                  <a:tcPr>
                    <a:solidFill>
                      <a:srgbClr val="E0E0E0"/>
                    </a:solidFill>
                  </a:tcPr>
                </a:tc>
                <a:tc>
                  <a:txBody>
                    <a:bodyPr/>
                    <a:lstStyle/>
                    <a:p>
                      <a:pPr algn="ctr">
                        <a:defRPr sz="1400">
                          <a:latin typeface="Courier New" panose="02070309020205020404"/>
                        </a:defRPr>
                      </a:pPr>
                      <a:r>
                        <a:t>68</a:t>
                      </a:r>
                    </a:p>
                  </a:txBody>
                  <a:tcPr/>
                </a:tc>
                <a:tc>
                  <a:txBody>
                    <a:bodyPr/>
                    <a:lstStyle/>
                    <a:p>
                      <a:pPr algn="ctr">
                        <a:defRPr sz="1400">
                          <a:latin typeface="Courier New" panose="02070309020205020404"/>
                        </a:defRPr>
                      </a:pPr>
                      <a:r>
                        <a:t>6B</a:t>
                      </a:r>
                    </a:p>
                  </a:txBody>
                  <a:tcPr/>
                </a:tc>
                <a:tc>
                  <a:txBody>
                    <a:bodyPr/>
                    <a:lstStyle/>
                    <a:p>
                      <a:pPr algn="ctr">
                        <a:defRPr sz="1400">
                          <a:latin typeface="Courier New" panose="02070309020205020404"/>
                        </a:defRPr>
                      </a:pPr>
                      <a:r>
                        <a:t>81</a:t>
                      </a:r>
                    </a:p>
                  </a:txBody>
                  <a:tcPr/>
                </a:tc>
                <a:tc>
                  <a:txBody>
                    <a:bodyPr/>
                    <a:lstStyle/>
                    <a:p>
                      <a:pPr algn="ctr">
                        <a:defRPr sz="1400">
                          <a:latin typeface="Courier New" panose="02070309020205020404"/>
                        </a:defRPr>
                      </a:pPr>
                      <a:r>
                        <a:t>B2</a:t>
                      </a:r>
                    </a:p>
                  </a:txBody>
                  <a:tcPr/>
                </a:tc>
                <a:tc>
                  <a:txBody>
                    <a:bodyPr/>
                    <a:lstStyle/>
                    <a:p>
                      <a:pPr algn="ctr">
                        <a:defRPr sz="1400">
                          <a:latin typeface="Courier New" panose="02070309020205020404"/>
                        </a:defRPr>
                      </a:pPr>
                      <a:r>
                        <a:t>71</a:t>
                      </a:r>
                    </a:p>
                  </a:txBody>
                  <a:tcPr/>
                </a:tc>
                <a:tc>
                  <a:txBody>
                    <a:bodyPr/>
                    <a:lstStyle/>
                    <a:p>
                      <a:pPr algn="ctr">
                        <a:defRPr sz="1400">
                          <a:latin typeface="Courier New" panose="02070309020205020404"/>
                        </a:defRPr>
                      </a:pPr>
                      <a:r>
                        <a:t>64</a:t>
                      </a:r>
                    </a:p>
                  </a:txBody>
                  <a:tcPr/>
                </a:tc>
                <a:tc>
                  <a:txBody>
                    <a:bodyPr/>
                    <a:lstStyle/>
                    <a:p>
                      <a:pPr algn="ctr">
                        <a:defRPr sz="1400">
                          <a:latin typeface="Courier New" panose="02070309020205020404"/>
                        </a:defRPr>
                      </a:pPr>
                      <a:r>
                        <a:t>DA</a:t>
                      </a:r>
                    </a:p>
                  </a:txBody>
                  <a:tcPr/>
                </a:tc>
                <a:tc>
                  <a:txBody>
                    <a:bodyPr/>
                    <a:lstStyle/>
                    <a:p>
                      <a:pPr algn="ctr">
                        <a:defRPr sz="1400">
                          <a:latin typeface="Courier New" panose="02070309020205020404"/>
                        </a:defRPr>
                      </a:pPr>
                      <a:r>
                        <a:t>8B</a:t>
                      </a:r>
                    </a:p>
                  </a:txBody>
                  <a:tcPr/>
                </a:tc>
                <a:tc>
                  <a:txBody>
                    <a:bodyPr/>
                    <a:lstStyle/>
                    <a:p>
                      <a:pPr algn="ctr">
                        <a:defRPr sz="1400">
                          <a:latin typeface="Courier New" panose="02070309020205020404"/>
                        </a:defRPr>
                      </a:pPr>
                      <a:r>
                        <a:t>F8</a:t>
                      </a:r>
                    </a:p>
                  </a:txBody>
                  <a:tcPr/>
                </a:tc>
                <a:tc>
                  <a:txBody>
                    <a:bodyPr/>
                    <a:lstStyle/>
                    <a:p>
                      <a:pPr algn="ctr">
                        <a:defRPr sz="1400">
                          <a:latin typeface="Courier New" panose="02070309020205020404"/>
                        </a:defRPr>
                      </a:pPr>
                      <a:r>
                        <a:t>EB</a:t>
                      </a:r>
                    </a:p>
                  </a:txBody>
                  <a:tcPr/>
                </a:tc>
                <a:tc>
                  <a:txBody>
                    <a:bodyPr/>
                    <a:lstStyle/>
                    <a:p>
                      <a:pPr algn="ctr">
                        <a:defRPr sz="1400">
                          <a:latin typeface="Courier New" panose="02070309020205020404"/>
                        </a:defRPr>
                      </a:pPr>
                      <a:r>
                        <a:t>0F</a:t>
                      </a:r>
                    </a:p>
                  </a:txBody>
                  <a:tcPr/>
                </a:tc>
                <a:tc>
                  <a:txBody>
                    <a:bodyPr/>
                    <a:lstStyle/>
                    <a:p>
                      <a:pPr algn="ctr">
                        <a:defRPr sz="1400">
                          <a:latin typeface="Courier New" panose="02070309020205020404"/>
                        </a:defRPr>
                      </a:pPr>
                      <a:r>
                        <a:t>4B</a:t>
                      </a:r>
                    </a:p>
                  </a:txBody>
                  <a:tcPr/>
                </a:tc>
                <a:tc>
                  <a:txBody>
                    <a:bodyPr/>
                    <a:lstStyle/>
                    <a:p>
                      <a:pPr algn="ctr">
                        <a:defRPr sz="1400">
                          <a:latin typeface="Courier New" panose="02070309020205020404"/>
                        </a:defRPr>
                      </a:pPr>
                      <a:r>
                        <a:t>70</a:t>
                      </a:r>
                    </a:p>
                  </a:txBody>
                  <a:tcPr/>
                </a:tc>
                <a:tc>
                  <a:txBody>
                    <a:bodyPr/>
                    <a:lstStyle/>
                    <a:p>
                      <a:pPr algn="ctr">
                        <a:defRPr sz="1400">
                          <a:latin typeface="Courier New" panose="02070309020205020404"/>
                        </a:defRPr>
                      </a:pPr>
                      <a:r>
                        <a:t>56</a:t>
                      </a:r>
                    </a:p>
                  </a:txBody>
                  <a:tcPr/>
                </a:tc>
                <a:tc>
                  <a:txBody>
                    <a:bodyPr/>
                    <a:lstStyle/>
                    <a:p>
                      <a:pPr algn="ctr">
                        <a:defRPr sz="1400">
                          <a:latin typeface="Courier New" panose="02070309020205020404"/>
                        </a:defRPr>
                      </a:pPr>
                      <a:r>
                        <a:t>9D</a:t>
                      </a:r>
                    </a:p>
                  </a:txBody>
                  <a:tcPr/>
                </a:tc>
                <a:tc>
                  <a:txBody>
                    <a:bodyPr/>
                    <a:lstStyle/>
                    <a:p>
                      <a:pPr algn="ctr">
                        <a:defRPr sz="1400">
                          <a:latin typeface="Courier New" panose="02070309020205020404"/>
                        </a:defRPr>
                      </a:pPr>
                      <a:r>
                        <a:t>35</a:t>
                      </a:r>
                    </a:p>
                  </a:txBody>
                  <a:tcPr/>
                </a:tc>
                <a:extLst>
                  <a:ext uri="{0D108BD9-81ED-4DB2-BD59-A6C34878D82A}">
                    <a16:rowId xmlns:a16="http://schemas.microsoft.com/office/drawing/2014/main" val="10006"/>
                  </a:ext>
                </a:extLst>
              </a:tr>
              <a:tr h="426720">
                <a:tc>
                  <a:txBody>
                    <a:bodyPr/>
                    <a:lstStyle/>
                    <a:p>
                      <a:pPr algn="ctr">
                        <a:defRPr sz="1400" b="1">
                          <a:latin typeface="Courier New" panose="02070309020205020404"/>
                        </a:defRPr>
                      </a:pPr>
                      <a:r>
                        <a:t>6</a:t>
                      </a:r>
                    </a:p>
                  </a:txBody>
                  <a:tcPr>
                    <a:solidFill>
                      <a:srgbClr val="E0E0E0"/>
                    </a:solidFill>
                  </a:tcPr>
                </a:tc>
                <a:tc>
                  <a:txBody>
                    <a:bodyPr/>
                    <a:lstStyle/>
                    <a:p>
                      <a:pPr algn="ctr">
                        <a:defRPr sz="1400">
                          <a:latin typeface="Courier New" panose="02070309020205020404"/>
                        </a:defRPr>
                      </a:pPr>
                      <a:r>
                        <a:t>1E</a:t>
                      </a:r>
                    </a:p>
                  </a:txBody>
                  <a:tcPr/>
                </a:tc>
                <a:tc>
                  <a:txBody>
                    <a:bodyPr/>
                    <a:lstStyle/>
                    <a:p>
                      <a:pPr algn="ctr">
                        <a:defRPr sz="1400">
                          <a:latin typeface="Courier New" panose="02070309020205020404"/>
                        </a:defRPr>
                      </a:pPr>
                      <a:r>
                        <a:t>24</a:t>
                      </a:r>
                    </a:p>
                  </a:txBody>
                  <a:tcPr/>
                </a:tc>
                <a:tc>
                  <a:txBody>
                    <a:bodyPr/>
                    <a:lstStyle/>
                    <a:p>
                      <a:pPr algn="ctr">
                        <a:defRPr sz="1400">
                          <a:latin typeface="Courier New" panose="02070309020205020404"/>
                        </a:defRPr>
                      </a:pPr>
                      <a:r>
                        <a:t>0E</a:t>
                      </a:r>
                    </a:p>
                  </a:txBody>
                  <a:tcPr/>
                </a:tc>
                <a:tc>
                  <a:txBody>
                    <a:bodyPr/>
                    <a:lstStyle/>
                    <a:p>
                      <a:pPr algn="ctr">
                        <a:defRPr sz="1400">
                          <a:latin typeface="Courier New" panose="02070309020205020404"/>
                        </a:defRPr>
                      </a:pPr>
                      <a:r>
                        <a:t>5E</a:t>
                      </a:r>
                    </a:p>
                  </a:txBody>
                  <a:tcPr/>
                </a:tc>
                <a:tc>
                  <a:txBody>
                    <a:bodyPr/>
                    <a:lstStyle/>
                    <a:p>
                      <a:pPr algn="ctr">
                        <a:defRPr sz="1400">
                          <a:latin typeface="Courier New" panose="02070309020205020404"/>
                        </a:defRPr>
                      </a:pPr>
                      <a:r>
                        <a:t>63</a:t>
                      </a:r>
                    </a:p>
                  </a:txBody>
                  <a:tcPr/>
                </a:tc>
                <a:tc>
                  <a:txBody>
                    <a:bodyPr/>
                    <a:lstStyle/>
                    <a:p>
                      <a:pPr algn="ctr">
                        <a:defRPr sz="1400">
                          <a:latin typeface="Courier New" panose="02070309020205020404"/>
                        </a:defRPr>
                      </a:pPr>
                      <a:r>
                        <a:t>58</a:t>
                      </a:r>
                    </a:p>
                  </a:txBody>
                  <a:tcPr/>
                </a:tc>
                <a:tc>
                  <a:txBody>
                    <a:bodyPr/>
                    <a:lstStyle/>
                    <a:p>
                      <a:pPr algn="ctr">
                        <a:defRPr sz="1400">
                          <a:latin typeface="Courier New" panose="02070309020205020404"/>
                        </a:defRPr>
                      </a:pPr>
                      <a:r>
                        <a:t>D1</a:t>
                      </a:r>
                    </a:p>
                  </a:txBody>
                  <a:tcPr/>
                </a:tc>
                <a:tc>
                  <a:txBody>
                    <a:bodyPr/>
                    <a:lstStyle/>
                    <a:p>
                      <a:pPr algn="ctr">
                        <a:defRPr sz="1400">
                          <a:latin typeface="Courier New" panose="02070309020205020404"/>
                        </a:defRPr>
                      </a:pPr>
                      <a:r>
                        <a:t>A2</a:t>
                      </a:r>
                    </a:p>
                  </a:txBody>
                  <a:tcPr/>
                </a:tc>
                <a:tc>
                  <a:txBody>
                    <a:bodyPr/>
                    <a:lstStyle/>
                    <a:p>
                      <a:pPr algn="ctr">
                        <a:defRPr sz="1400">
                          <a:latin typeface="Courier New" panose="02070309020205020404"/>
                        </a:defRPr>
                      </a:pPr>
                      <a:r>
                        <a:t>25</a:t>
                      </a:r>
                    </a:p>
                  </a:txBody>
                  <a:tcPr/>
                </a:tc>
                <a:tc>
                  <a:txBody>
                    <a:bodyPr/>
                    <a:lstStyle/>
                    <a:p>
                      <a:pPr algn="ctr">
                        <a:defRPr sz="1400">
                          <a:latin typeface="Courier New" panose="02070309020205020404"/>
                        </a:defRPr>
                      </a:pPr>
                      <a:r>
                        <a:t>22</a:t>
                      </a:r>
                    </a:p>
                  </a:txBody>
                  <a:tcPr/>
                </a:tc>
                <a:tc>
                  <a:txBody>
                    <a:bodyPr/>
                    <a:lstStyle/>
                    <a:p>
                      <a:pPr algn="ctr">
                        <a:defRPr sz="1400">
                          <a:latin typeface="Courier New" panose="02070309020205020404"/>
                        </a:defRPr>
                      </a:pPr>
                      <a:r>
                        <a:t>7C</a:t>
                      </a:r>
                    </a:p>
                  </a:txBody>
                  <a:tcPr/>
                </a:tc>
                <a:tc>
                  <a:txBody>
                    <a:bodyPr/>
                    <a:lstStyle/>
                    <a:p>
                      <a:pPr algn="ctr">
                        <a:defRPr sz="1400">
                          <a:latin typeface="Courier New" panose="02070309020205020404"/>
                        </a:defRPr>
                      </a:pPr>
                      <a:r>
                        <a:t>3B</a:t>
                      </a:r>
                    </a:p>
                  </a:txBody>
                  <a:tcPr/>
                </a:tc>
                <a:tc>
                  <a:txBody>
                    <a:bodyPr/>
                    <a:lstStyle/>
                    <a:p>
                      <a:pPr algn="ctr">
                        <a:defRPr sz="1400">
                          <a:latin typeface="Courier New" panose="02070309020205020404"/>
                        </a:defRPr>
                      </a:pPr>
                      <a:r>
                        <a:t>01</a:t>
                      </a:r>
                    </a:p>
                  </a:txBody>
                  <a:tcPr/>
                </a:tc>
                <a:tc>
                  <a:txBody>
                    <a:bodyPr/>
                    <a:lstStyle/>
                    <a:p>
                      <a:pPr algn="ctr">
                        <a:defRPr sz="1400">
                          <a:latin typeface="Courier New" panose="02070309020205020404"/>
                        </a:defRPr>
                      </a:pPr>
                      <a:r>
                        <a:t>21</a:t>
                      </a:r>
                    </a:p>
                  </a:txBody>
                  <a:tcPr/>
                </a:tc>
                <a:tc>
                  <a:txBody>
                    <a:bodyPr/>
                    <a:lstStyle/>
                    <a:p>
                      <a:pPr algn="ctr">
                        <a:defRPr sz="1400">
                          <a:latin typeface="Courier New" panose="02070309020205020404"/>
                        </a:defRPr>
                      </a:pPr>
                      <a:r>
                        <a:t>78</a:t>
                      </a:r>
                    </a:p>
                  </a:txBody>
                  <a:tcPr/>
                </a:tc>
                <a:tc>
                  <a:txBody>
                    <a:bodyPr/>
                    <a:lstStyle/>
                    <a:p>
                      <a:pPr algn="ctr">
                        <a:defRPr sz="1400">
                          <a:latin typeface="Courier New" panose="02070309020205020404"/>
                        </a:defRPr>
                      </a:pPr>
                      <a:r>
                        <a:t>87</a:t>
                      </a:r>
                    </a:p>
                  </a:txBody>
                  <a:tcPr/>
                </a:tc>
                <a:extLst>
                  <a:ext uri="{0D108BD9-81ED-4DB2-BD59-A6C34878D82A}">
                    <a16:rowId xmlns:a16="http://schemas.microsoft.com/office/drawing/2014/main" val="10007"/>
                  </a:ext>
                </a:extLst>
              </a:tr>
              <a:tr h="426720">
                <a:tc>
                  <a:txBody>
                    <a:bodyPr/>
                    <a:lstStyle/>
                    <a:p>
                      <a:pPr algn="ctr">
                        <a:defRPr sz="1400" b="1">
                          <a:latin typeface="Courier New" panose="02070309020205020404"/>
                        </a:defRPr>
                      </a:pPr>
                      <a:r>
                        <a:t>7</a:t>
                      </a:r>
                    </a:p>
                  </a:txBody>
                  <a:tcPr>
                    <a:solidFill>
                      <a:srgbClr val="E0E0E0"/>
                    </a:solidFill>
                  </a:tcPr>
                </a:tc>
                <a:tc>
                  <a:txBody>
                    <a:bodyPr/>
                    <a:lstStyle/>
                    <a:p>
                      <a:pPr algn="ctr">
                        <a:defRPr sz="1400">
                          <a:latin typeface="Courier New" panose="02070309020205020404"/>
                        </a:defRPr>
                      </a:pPr>
                      <a:r>
                        <a:t>D4</a:t>
                      </a:r>
                    </a:p>
                  </a:txBody>
                  <a:tcPr/>
                </a:tc>
                <a:tc>
                  <a:txBody>
                    <a:bodyPr/>
                    <a:lstStyle/>
                    <a:p>
                      <a:pPr algn="ctr">
                        <a:defRPr sz="1400">
                          <a:latin typeface="Courier New" panose="02070309020205020404"/>
                        </a:defRPr>
                      </a:pPr>
                      <a:r>
                        <a:t>00</a:t>
                      </a:r>
                    </a:p>
                  </a:txBody>
                  <a:tcPr/>
                </a:tc>
                <a:tc>
                  <a:txBody>
                    <a:bodyPr/>
                    <a:lstStyle/>
                    <a:p>
                      <a:pPr algn="ctr">
                        <a:defRPr sz="1400">
                          <a:latin typeface="Courier New" panose="02070309020205020404"/>
                        </a:defRPr>
                      </a:pPr>
                      <a:r>
                        <a:t>46</a:t>
                      </a:r>
                    </a:p>
                  </a:txBody>
                  <a:tcPr/>
                </a:tc>
                <a:tc>
                  <a:txBody>
                    <a:bodyPr/>
                    <a:lstStyle/>
                    <a:p>
                      <a:pPr algn="ctr">
                        <a:defRPr sz="1400">
                          <a:latin typeface="Courier New" panose="02070309020205020404"/>
                        </a:defRPr>
                      </a:pPr>
                      <a:r>
                        <a:t>57</a:t>
                      </a:r>
                    </a:p>
                  </a:txBody>
                  <a:tcPr/>
                </a:tc>
                <a:tc>
                  <a:txBody>
                    <a:bodyPr/>
                    <a:lstStyle/>
                    <a:p>
                      <a:pPr algn="ctr">
                        <a:defRPr sz="1400">
                          <a:latin typeface="Courier New" panose="02070309020205020404"/>
                        </a:defRPr>
                      </a:pPr>
                      <a:r>
                        <a:t>9F</a:t>
                      </a:r>
                    </a:p>
                  </a:txBody>
                  <a:tcPr/>
                </a:tc>
                <a:tc>
                  <a:txBody>
                    <a:bodyPr/>
                    <a:lstStyle/>
                    <a:p>
                      <a:pPr algn="ctr">
                        <a:defRPr sz="1400">
                          <a:latin typeface="Courier New" panose="02070309020205020404"/>
                        </a:defRPr>
                      </a:pPr>
                      <a:r>
                        <a:t>D3</a:t>
                      </a:r>
                    </a:p>
                  </a:txBody>
                  <a:tcPr/>
                </a:tc>
                <a:tc>
                  <a:txBody>
                    <a:bodyPr/>
                    <a:lstStyle/>
                    <a:p>
                      <a:pPr algn="ctr">
                        <a:defRPr sz="1400">
                          <a:latin typeface="Courier New" panose="02070309020205020404"/>
                        </a:defRPr>
                      </a:pPr>
                      <a:r>
                        <a:t>27</a:t>
                      </a:r>
                    </a:p>
                  </a:txBody>
                  <a:tcPr/>
                </a:tc>
                <a:tc>
                  <a:txBody>
                    <a:bodyPr/>
                    <a:lstStyle/>
                    <a:p>
                      <a:pPr algn="ctr">
                        <a:defRPr sz="1400">
                          <a:latin typeface="Courier New" panose="02070309020205020404"/>
                        </a:defRPr>
                      </a:pPr>
                      <a:r>
                        <a:t>52</a:t>
                      </a:r>
                    </a:p>
                  </a:txBody>
                  <a:tcPr/>
                </a:tc>
                <a:tc>
                  <a:txBody>
                    <a:bodyPr/>
                    <a:lstStyle/>
                    <a:p>
                      <a:pPr algn="ctr">
                        <a:defRPr sz="1400">
                          <a:latin typeface="Courier New" panose="02070309020205020404"/>
                        </a:defRPr>
                      </a:pPr>
                      <a:r>
                        <a:t>4C</a:t>
                      </a:r>
                    </a:p>
                  </a:txBody>
                  <a:tcPr/>
                </a:tc>
                <a:tc>
                  <a:txBody>
                    <a:bodyPr/>
                    <a:lstStyle/>
                    <a:p>
                      <a:pPr algn="ctr">
                        <a:defRPr sz="1400">
                          <a:latin typeface="Courier New" panose="02070309020205020404"/>
                        </a:defRPr>
                      </a:pPr>
                      <a:r>
                        <a:t>36</a:t>
                      </a:r>
                    </a:p>
                  </a:txBody>
                  <a:tcPr/>
                </a:tc>
                <a:tc>
                  <a:txBody>
                    <a:bodyPr/>
                    <a:lstStyle/>
                    <a:p>
                      <a:pPr algn="ctr">
                        <a:defRPr sz="1400">
                          <a:latin typeface="Courier New" panose="02070309020205020404"/>
                        </a:defRPr>
                      </a:pPr>
                      <a:r>
                        <a:t>02</a:t>
                      </a:r>
                    </a:p>
                  </a:txBody>
                  <a:tcPr/>
                </a:tc>
                <a:tc>
                  <a:txBody>
                    <a:bodyPr/>
                    <a:lstStyle/>
                    <a:p>
                      <a:pPr algn="ctr">
                        <a:defRPr sz="1400">
                          <a:latin typeface="Courier New" panose="02070309020205020404"/>
                        </a:defRPr>
                      </a:pPr>
                      <a:r>
                        <a:t>E7</a:t>
                      </a:r>
                    </a:p>
                  </a:txBody>
                  <a:tcPr/>
                </a:tc>
                <a:tc>
                  <a:txBody>
                    <a:bodyPr/>
                    <a:lstStyle/>
                    <a:p>
                      <a:pPr algn="ctr">
                        <a:defRPr sz="1400">
                          <a:latin typeface="Courier New" panose="02070309020205020404"/>
                        </a:defRPr>
                      </a:pPr>
                      <a:r>
                        <a:t>A0</a:t>
                      </a:r>
                    </a:p>
                  </a:txBody>
                  <a:tcPr/>
                </a:tc>
                <a:tc>
                  <a:txBody>
                    <a:bodyPr/>
                    <a:lstStyle/>
                    <a:p>
                      <a:pPr algn="ctr">
                        <a:defRPr sz="1400">
                          <a:latin typeface="Courier New" panose="02070309020205020404"/>
                        </a:defRPr>
                      </a:pPr>
                      <a:r>
                        <a:t>C4</a:t>
                      </a:r>
                    </a:p>
                  </a:txBody>
                  <a:tcPr/>
                </a:tc>
                <a:tc>
                  <a:txBody>
                    <a:bodyPr/>
                    <a:lstStyle/>
                    <a:p>
                      <a:pPr algn="ctr">
                        <a:defRPr sz="1400">
                          <a:latin typeface="Courier New" panose="02070309020205020404"/>
                        </a:defRPr>
                      </a:pPr>
                      <a:r>
                        <a:t>C8</a:t>
                      </a:r>
                    </a:p>
                  </a:txBody>
                  <a:tcPr/>
                </a:tc>
                <a:tc>
                  <a:txBody>
                    <a:bodyPr/>
                    <a:lstStyle/>
                    <a:p>
                      <a:pPr algn="ctr">
                        <a:defRPr sz="1400">
                          <a:latin typeface="Courier New" panose="02070309020205020404"/>
                        </a:defRPr>
                      </a:pPr>
                      <a:r>
                        <a:t>9E</a:t>
                      </a:r>
                    </a:p>
                  </a:txBody>
                  <a:tcPr/>
                </a:tc>
                <a:extLst>
                  <a:ext uri="{0D108BD9-81ED-4DB2-BD59-A6C34878D82A}">
                    <a16:rowId xmlns:a16="http://schemas.microsoft.com/office/drawing/2014/main" val="10008"/>
                  </a:ext>
                </a:extLst>
              </a:tr>
            </a:tbl>
          </a:graphicData>
        </a:graphic>
      </p:graphicFrame>
      <p:sp>
        <p:nvSpPr>
          <p:cNvPr id="7" name="TextBox 6"/>
          <p:cNvSpPr txBox="1"/>
          <p:nvPr/>
        </p:nvSpPr>
        <p:spPr>
          <a:xfrm>
            <a:off x="17312132" y="9409176"/>
            <a:ext cx="363220" cy="306705"/>
          </a:xfrm>
          <a:prstGeom prst="rect">
            <a:avLst/>
          </a:prstGeom>
          <a:noFill/>
        </p:spPr>
        <p:txBody>
          <a:bodyPr wrap="none">
            <a:spAutoFit/>
          </a:bodyPr>
          <a:lstStyle/>
          <a:p>
            <a:pPr algn="r" defTabSz="457200">
              <a:defRPr sz="1800">
                <a:solidFill>
                  <a:srgbClr val="000000"/>
                </a:solidFill>
                <a:latin typeface="Times New Roman" panose="02020603050405020304"/>
              </a:defRPr>
            </a:pPr>
            <a:r>
              <a:rPr lang="en-US" sz="1400">
                <a:solidFill>
                  <a:srgbClr val="FFC000"/>
                </a:solidFill>
                <a:latin typeface="+mn-lt"/>
              </a:rPr>
              <a:t>13</a:t>
            </a:r>
            <a:endParaRPr lang="en-US" sz="2000"/>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
        <p:nvSpPr>
          <p:cNvPr id="11"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字由文艺黑" panose="00020600040101010101" charset="-122"/>
                <a:sym typeface="字由文艺黑" panose="00020600040101010101" charset="-122"/>
              </a:rPr>
              <a:t>轮函数</a:t>
            </a: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字由文艺黑" panose="00020600040101010101" charset="-122"/>
                <a:sym typeface="字由文艺黑" panose="00020600040101010101" charset="-122"/>
              </a:rPr>
              <a:t>F</a:t>
            </a:r>
          </a:p>
        </p:txBody>
      </p:sp>
      <p:sp>
        <p:nvSpPr>
          <p:cNvPr id="12"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4.1.4</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3">
            <a:alphaModFix amt="80000"/>
          </a:blip>
          <a:stretch>
            <a:fillRect/>
          </a:stretch>
        </p:blipFill>
        <p:spPr>
          <a:xfrm>
            <a:off x="674370"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731520" y="1554480"/>
          <a:ext cx="16824960" cy="3474720"/>
        </p:xfrm>
        <a:graphic>
          <a:graphicData uri="http://schemas.openxmlformats.org/drawingml/2006/table">
            <a:tbl>
              <a:tblPr firstRow="1" bandRow="1">
                <a:tableStyleId>{5C22544A-7EE6-4342-B048-85BDC9FD1C3A}</a:tableStyleId>
              </a:tblPr>
              <a:tblGrid>
                <a:gridCol w="989703">
                  <a:extLst>
                    <a:ext uri="{9D8B030D-6E8A-4147-A177-3AD203B41FA5}">
                      <a16:colId xmlns:a16="http://schemas.microsoft.com/office/drawing/2014/main" val="20000"/>
                    </a:ext>
                  </a:extLst>
                </a:gridCol>
                <a:gridCol w="989703">
                  <a:extLst>
                    <a:ext uri="{9D8B030D-6E8A-4147-A177-3AD203B41FA5}">
                      <a16:colId xmlns:a16="http://schemas.microsoft.com/office/drawing/2014/main" val="20001"/>
                    </a:ext>
                  </a:extLst>
                </a:gridCol>
                <a:gridCol w="989703">
                  <a:extLst>
                    <a:ext uri="{9D8B030D-6E8A-4147-A177-3AD203B41FA5}">
                      <a16:colId xmlns:a16="http://schemas.microsoft.com/office/drawing/2014/main" val="20002"/>
                    </a:ext>
                  </a:extLst>
                </a:gridCol>
                <a:gridCol w="989703">
                  <a:extLst>
                    <a:ext uri="{9D8B030D-6E8A-4147-A177-3AD203B41FA5}">
                      <a16:colId xmlns:a16="http://schemas.microsoft.com/office/drawing/2014/main" val="20003"/>
                    </a:ext>
                  </a:extLst>
                </a:gridCol>
                <a:gridCol w="989703">
                  <a:extLst>
                    <a:ext uri="{9D8B030D-6E8A-4147-A177-3AD203B41FA5}">
                      <a16:colId xmlns:a16="http://schemas.microsoft.com/office/drawing/2014/main" val="20004"/>
                    </a:ext>
                  </a:extLst>
                </a:gridCol>
                <a:gridCol w="989703">
                  <a:extLst>
                    <a:ext uri="{9D8B030D-6E8A-4147-A177-3AD203B41FA5}">
                      <a16:colId xmlns:a16="http://schemas.microsoft.com/office/drawing/2014/main" val="20005"/>
                    </a:ext>
                  </a:extLst>
                </a:gridCol>
                <a:gridCol w="989703">
                  <a:extLst>
                    <a:ext uri="{9D8B030D-6E8A-4147-A177-3AD203B41FA5}">
                      <a16:colId xmlns:a16="http://schemas.microsoft.com/office/drawing/2014/main" val="20006"/>
                    </a:ext>
                  </a:extLst>
                </a:gridCol>
                <a:gridCol w="989703">
                  <a:extLst>
                    <a:ext uri="{9D8B030D-6E8A-4147-A177-3AD203B41FA5}">
                      <a16:colId xmlns:a16="http://schemas.microsoft.com/office/drawing/2014/main" val="20007"/>
                    </a:ext>
                  </a:extLst>
                </a:gridCol>
                <a:gridCol w="989703">
                  <a:extLst>
                    <a:ext uri="{9D8B030D-6E8A-4147-A177-3AD203B41FA5}">
                      <a16:colId xmlns:a16="http://schemas.microsoft.com/office/drawing/2014/main" val="20008"/>
                    </a:ext>
                  </a:extLst>
                </a:gridCol>
                <a:gridCol w="989703">
                  <a:extLst>
                    <a:ext uri="{9D8B030D-6E8A-4147-A177-3AD203B41FA5}">
                      <a16:colId xmlns:a16="http://schemas.microsoft.com/office/drawing/2014/main" val="20009"/>
                    </a:ext>
                  </a:extLst>
                </a:gridCol>
                <a:gridCol w="989703">
                  <a:extLst>
                    <a:ext uri="{9D8B030D-6E8A-4147-A177-3AD203B41FA5}">
                      <a16:colId xmlns:a16="http://schemas.microsoft.com/office/drawing/2014/main" val="20010"/>
                    </a:ext>
                  </a:extLst>
                </a:gridCol>
                <a:gridCol w="989703">
                  <a:extLst>
                    <a:ext uri="{9D8B030D-6E8A-4147-A177-3AD203B41FA5}">
                      <a16:colId xmlns:a16="http://schemas.microsoft.com/office/drawing/2014/main" val="20011"/>
                    </a:ext>
                  </a:extLst>
                </a:gridCol>
                <a:gridCol w="989703">
                  <a:extLst>
                    <a:ext uri="{9D8B030D-6E8A-4147-A177-3AD203B41FA5}">
                      <a16:colId xmlns:a16="http://schemas.microsoft.com/office/drawing/2014/main" val="20012"/>
                    </a:ext>
                  </a:extLst>
                </a:gridCol>
                <a:gridCol w="989703">
                  <a:extLst>
                    <a:ext uri="{9D8B030D-6E8A-4147-A177-3AD203B41FA5}">
                      <a16:colId xmlns:a16="http://schemas.microsoft.com/office/drawing/2014/main" val="20013"/>
                    </a:ext>
                  </a:extLst>
                </a:gridCol>
                <a:gridCol w="989703">
                  <a:extLst>
                    <a:ext uri="{9D8B030D-6E8A-4147-A177-3AD203B41FA5}">
                      <a16:colId xmlns:a16="http://schemas.microsoft.com/office/drawing/2014/main" val="20014"/>
                    </a:ext>
                  </a:extLst>
                </a:gridCol>
                <a:gridCol w="989703">
                  <a:extLst>
                    <a:ext uri="{9D8B030D-6E8A-4147-A177-3AD203B41FA5}">
                      <a16:colId xmlns:a16="http://schemas.microsoft.com/office/drawing/2014/main" val="20015"/>
                    </a:ext>
                  </a:extLst>
                </a:gridCol>
                <a:gridCol w="989712">
                  <a:extLst>
                    <a:ext uri="{9D8B030D-6E8A-4147-A177-3AD203B41FA5}">
                      <a16:colId xmlns:a16="http://schemas.microsoft.com/office/drawing/2014/main" val="20016"/>
                    </a:ext>
                  </a:extLst>
                </a:gridCol>
              </a:tblGrid>
              <a:tr h="386080">
                <a:tc>
                  <a:txBody>
                    <a:bodyPr/>
                    <a:lstStyle/>
                    <a:p>
                      <a:pPr algn="ctr">
                        <a:defRPr sz="1400" b="1">
                          <a:latin typeface="Courier New" panose="02070309020205020404"/>
                        </a:defRPr>
                      </a:pPr>
                      <a:endParaRPr/>
                    </a:p>
                  </a:txBody>
                  <a:tcPr>
                    <a:solidFill>
                      <a:srgbClr val="E0E0E0"/>
                    </a:solidFill>
                  </a:tcPr>
                </a:tc>
                <a:tc>
                  <a:txBody>
                    <a:bodyPr/>
                    <a:lstStyle/>
                    <a:p>
                      <a:pPr algn="ctr">
                        <a:defRPr sz="1400" b="1">
                          <a:latin typeface="Courier New" panose="02070309020205020404"/>
                        </a:defRPr>
                      </a:pPr>
                      <a:r>
                        <a:t>0</a:t>
                      </a:r>
                    </a:p>
                  </a:txBody>
                  <a:tcPr>
                    <a:solidFill>
                      <a:srgbClr val="E0E0E0"/>
                    </a:solidFill>
                  </a:tcPr>
                </a:tc>
                <a:tc>
                  <a:txBody>
                    <a:bodyPr/>
                    <a:lstStyle/>
                    <a:p>
                      <a:pPr algn="ctr">
                        <a:defRPr sz="1400" b="1">
                          <a:latin typeface="Courier New" panose="02070309020205020404"/>
                        </a:defRPr>
                      </a:pPr>
                      <a:r>
                        <a:t>1</a:t>
                      </a:r>
                    </a:p>
                  </a:txBody>
                  <a:tcPr>
                    <a:solidFill>
                      <a:srgbClr val="E0E0E0"/>
                    </a:solidFill>
                  </a:tcPr>
                </a:tc>
                <a:tc>
                  <a:txBody>
                    <a:bodyPr/>
                    <a:lstStyle/>
                    <a:p>
                      <a:pPr algn="ctr">
                        <a:defRPr sz="1400" b="1">
                          <a:latin typeface="Courier New" panose="02070309020205020404"/>
                        </a:defRPr>
                      </a:pPr>
                      <a:r>
                        <a:t>2</a:t>
                      </a:r>
                    </a:p>
                  </a:txBody>
                  <a:tcPr>
                    <a:solidFill>
                      <a:srgbClr val="E0E0E0"/>
                    </a:solidFill>
                  </a:tcPr>
                </a:tc>
                <a:tc>
                  <a:txBody>
                    <a:bodyPr/>
                    <a:lstStyle/>
                    <a:p>
                      <a:pPr algn="ctr">
                        <a:defRPr sz="1400" b="1">
                          <a:latin typeface="Courier New" panose="02070309020205020404"/>
                        </a:defRPr>
                      </a:pPr>
                      <a:r>
                        <a:t>3</a:t>
                      </a:r>
                    </a:p>
                  </a:txBody>
                  <a:tcPr>
                    <a:solidFill>
                      <a:srgbClr val="E0E0E0"/>
                    </a:solidFill>
                  </a:tcPr>
                </a:tc>
                <a:tc>
                  <a:txBody>
                    <a:bodyPr/>
                    <a:lstStyle/>
                    <a:p>
                      <a:pPr algn="ctr">
                        <a:defRPr sz="1400" b="1">
                          <a:latin typeface="Courier New" panose="02070309020205020404"/>
                        </a:defRPr>
                      </a:pPr>
                      <a:r>
                        <a:t>4</a:t>
                      </a:r>
                    </a:p>
                  </a:txBody>
                  <a:tcPr>
                    <a:solidFill>
                      <a:srgbClr val="E0E0E0"/>
                    </a:solidFill>
                  </a:tcPr>
                </a:tc>
                <a:tc>
                  <a:txBody>
                    <a:bodyPr/>
                    <a:lstStyle/>
                    <a:p>
                      <a:pPr algn="ctr">
                        <a:defRPr sz="1400" b="1">
                          <a:latin typeface="Courier New" panose="02070309020205020404"/>
                        </a:defRPr>
                      </a:pPr>
                      <a:r>
                        <a:t>5</a:t>
                      </a:r>
                    </a:p>
                  </a:txBody>
                  <a:tcPr>
                    <a:solidFill>
                      <a:srgbClr val="E0E0E0"/>
                    </a:solidFill>
                  </a:tcPr>
                </a:tc>
                <a:tc>
                  <a:txBody>
                    <a:bodyPr/>
                    <a:lstStyle/>
                    <a:p>
                      <a:pPr algn="ctr">
                        <a:defRPr sz="1400" b="1">
                          <a:latin typeface="Courier New" panose="02070309020205020404"/>
                        </a:defRPr>
                      </a:pPr>
                      <a:r>
                        <a:t>6</a:t>
                      </a:r>
                    </a:p>
                  </a:txBody>
                  <a:tcPr>
                    <a:solidFill>
                      <a:srgbClr val="E0E0E0"/>
                    </a:solidFill>
                  </a:tcPr>
                </a:tc>
                <a:tc>
                  <a:txBody>
                    <a:bodyPr/>
                    <a:lstStyle/>
                    <a:p>
                      <a:pPr algn="ctr">
                        <a:defRPr sz="1400" b="1">
                          <a:latin typeface="Courier New" panose="02070309020205020404"/>
                        </a:defRPr>
                      </a:pPr>
                      <a:r>
                        <a:t>7</a:t>
                      </a:r>
                    </a:p>
                  </a:txBody>
                  <a:tcPr>
                    <a:solidFill>
                      <a:srgbClr val="E0E0E0"/>
                    </a:solidFill>
                  </a:tcPr>
                </a:tc>
                <a:tc>
                  <a:txBody>
                    <a:bodyPr/>
                    <a:lstStyle/>
                    <a:p>
                      <a:pPr algn="ctr">
                        <a:defRPr sz="1400" b="1">
                          <a:latin typeface="Courier New" panose="02070309020205020404"/>
                        </a:defRPr>
                      </a:pPr>
                      <a:r>
                        <a:t>8</a:t>
                      </a:r>
                    </a:p>
                  </a:txBody>
                  <a:tcPr>
                    <a:solidFill>
                      <a:srgbClr val="E0E0E0"/>
                    </a:solidFill>
                  </a:tcPr>
                </a:tc>
                <a:tc>
                  <a:txBody>
                    <a:bodyPr/>
                    <a:lstStyle/>
                    <a:p>
                      <a:pPr algn="ctr">
                        <a:defRPr sz="1400" b="1">
                          <a:latin typeface="Courier New" panose="02070309020205020404"/>
                        </a:defRPr>
                      </a:pPr>
                      <a:r>
                        <a:t>9</a:t>
                      </a:r>
                    </a:p>
                  </a:txBody>
                  <a:tcPr>
                    <a:solidFill>
                      <a:srgbClr val="E0E0E0"/>
                    </a:solidFill>
                  </a:tcPr>
                </a:tc>
                <a:tc>
                  <a:txBody>
                    <a:bodyPr/>
                    <a:lstStyle/>
                    <a:p>
                      <a:pPr algn="ctr">
                        <a:defRPr sz="1400" b="1">
                          <a:latin typeface="Courier New" panose="02070309020205020404"/>
                        </a:defRPr>
                      </a:pPr>
                      <a:r>
                        <a:t>A</a:t>
                      </a:r>
                    </a:p>
                  </a:txBody>
                  <a:tcPr>
                    <a:solidFill>
                      <a:srgbClr val="E0E0E0"/>
                    </a:solidFill>
                  </a:tcPr>
                </a:tc>
                <a:tc>
                  <a:txBody>
                    <a:bodyPr/>
                    <a:lstStyle/>
                    <a:p>
                      <a:pPr algn="ctr">
                        <a:defRPr sz="1400" b="1">
                          <a:latin typeface="Courier New" panose="02070309020205020404"/>
                        </a:defRPr>
                      </a:pPr>
                      <a:r>
                        <a:t>B</a:t>
                      </a:r>
                    </a:p>
                  </a:txBody>
                  <a:tcPr>
                    <a:solidFill>
                      <a:srgbClr val="E0E0E0"/>
                    </a:solidFill>
                  </a:tcPr>
                </a:tc>
                <a:tc>
                  <a:txBody>
                    <a:bodyPr/>
                    <a:lstStyle/>
                    <a:p>
                      <a:pPr algn="ctr">
                        <a:defRPr sz="1400" b="1">
                          <a:latin typeface="Courier New" panose="02070309020205020404"/>
                        </a:defRPr>
                      </a:pPr>
                      <a:r>
                        <a:t>C</a:t>
                      </a:r>
                    </a:p>
                  </a:txBody>
                  <a:tcPr>
                    <a:solidFill>
                      <a:srgbClr val="E0E0E0"/>
                    </a:solidFill>
                  </a:tcPr>
                </a:tc>
                <a:tc>
                  <a:txBody>
                    <a:bodyPr/>
                    <a:lstStyle/>
                    <a:p>
                      <a:pPr algn="ctr">
                        <a:defRPr sz="1400" b="1">
                          <a:latin typeface="Courier New" panose="02070309020205020404"/>
                        </a:defRPr>
                      </a:pPr>
                      <a:r>
                        <a:t>D</a:t>
                      </a:r>
                    </a:p>
                  </a:txBody>
                  <a:tcPr>
                    <a:solidFill>
                      <a:srgbClr val="E0E0E0"/>
                    </a:solidFill>
                  </a:tcPr>
                </a:tc>
                <a:tc>
                  <a:txBody>
                    <a:bodyPr/>
                    <a:lstStyle/>
                    <a:p>
                      <a:pPr algn="ctr">
                        <a:defRPr sz="1400" b="1">
                          <a:latin typeface="Courier New" panose="02070309020205020404"/>
                        </a:defRPr>
                      </a:pPr>
                      <a:r>
                        <a:t>E</a:t>
                      </a:r>
                    </a:p>
                  </a:txBody>
                  <a:tcPr>
                    <a:solidFill>
                      <a:srgbClr val="E0E0E0"/>
                    </a:solidFill>
                  </a:tcPr>
                </a:tc>
                <a:tc>
                  <a:txBody>
                    <a:bodyPr/>
                    <a:lstStyle/>
                    <a:p>
                      <a:pPr algn="ctr">
                        <a:defRPr sz="1400" b="1">
                          <a:latin typeface="Courier New" panose="02070309020205020404"/>
                        </a:defRPr>
                      </a:pPr>
                      <a:r>
                        <a:t>F</a:t>
                      </a:r>
                    </a:p>
                  </a:txBody>
                  <a:tcPr>
                    <a:solidFill>
                      <a:srgbClr val="E0E0E0"/>
                    </a:solidFill>
                  </a:tcPr>
                </a:tc>
                <a:extLst>
                  <a:ext uri="{0D108BD9-81ED-4DB2-BD59-A6C34878D82A}">
                    <a16:rowId xmlns:a16="http://schemas.microsoft.com/office/drawing/2014/main" val="10000"/>
                  </a:ext>
                </a:extLst>
              </a:tr>
              <a:tr h="386080">
                <a:tc>
                  <a:txBody>
                    <a:bodyPr/>
                    <a:lstStyle/>
                    <a:p>
                      <a:pPr algn="ctr">
                        <a:defRPr sz="1400" b="1">
                          <a:latin typeface="Courier New" panose="02070309020205020404"/>
                        </a:defRPr>
                      </a:pPr>
                      <a:r>
                        <a:t>8</a:t>
                      </a:r>
                    </a:p>
                  </a:txBody>
                  <a:tcPr>
                    <a:solidFill>
                      <a:srgbClr val="E0E0E0"/>
                    </a:solidFill>
                  </a:tcPr>
                </a:tc>
                <a:tc>
                  <a:txBody>
                    <a:bodyPr/>
                    <a:lstStyle/>
                    <a:p>
                      <a:pPr algn="ctr">
                        <a:defRPr sz="1400">
                          <a:latin typeface="Courier New" panose="02070309020205020404"/>
                        </a:defRPr>
                      </a:pPr>
                      <a:r>
                        <a:t>EA</a:t>
                      </a:r>
                    </a:p>
                  </a:txBody>
                  <a:tcPr/>
                </a:tc>
                <a:tc>
                  <a:txBody>
                    <a:bodyPr/>
                    <a:lstStyle/>
                    <a:p>
                      <a:pPr algn="ctr">
                        <a:defRPr sz="1400">
                          <a:latin typeface="Courier New" panose="02070309020205020404"/>
                        </a:defRPr>
                      </a:pPr>
                      <a:r>
                        <a:t>BF</a:t>
                      </a:r>
                    </a:p>
                  </a:txBody>
                  <a:tcPr/>
                </a:tc>
                <a:tc>
                  <a:txBody>
                    <a:bodyPr/>
                    <a:lstStyle/>
                    <a:p>
                      <a:pPr algn="ctr">
                        <a:defRPr sz="1400">
                          <a:latin typeface="Courier New" panose="02070309020205020404"/>
                        </a:defRPr>
                      </a:pPr>
                      <a:r>
                        <a:t>8A</a:t>
                      </a:r>
                    </a:p>
                  </a:txBody>
                  <a:tcPr/>
                </a:tc>
                <a:tc>
                  <a:txBody>
                    <a:bodyPr/>
                    <a:lstStyle/>
                    <a:p>
                      <a:pPr algn="ctr">
                        <a:defRPr sz="1400">
                          <a:latin typeface="Courier New" panose="02070309020205020404"/>
                        </a:defRPr>
                      </a:pPr>
                      <a:r>
                        <a:t>D2</a:t>
                      </a:r>
                    </a:p>
                  </a:txBody>
                  <a:tcPr/>
                </a:tc>
                <a:tc>
                  <a:txBody>
                    <a:bodyPr/>
                    <a:lstStyle/>
                    <a:p>
                      <a:pPr algn="ctr">
                        <a:defRPr sz="1400">
                          <a:latin typeface="Courier New" panose="02070309020205020404"/>
                        </a:defRPr>
                      </a:pPr>
                      <a:r>
                        <a:t>40</a:t>
                      </a:r>
                    </a:p>
                  </a:txBody>
                  <a:tcPr/>
                </a:tc>
                <a:tc>
                  <a:txBody>
                    <a:bodyPr/>
                    <a:lstStyle/>
                    <a:p>
                      <a:pPr algn="ctr">
                        <a:defRPr sz="1400">
                          <a:latin typeface="Courier New" panose="02070309020205020404"/>
                        </a:defRPr>
                      </a:pPr>
                      <a:r>
                        <a:t>C7</a:t>
                      </a:r>
                    </a:p>
                  </a:txBody>
                  <a:tcPr/>
                </a:tc>
                <a:tc>
                  <a:txBody>
                    <a:bodyPr/>
                    <a:lstStyle/>
                    <a:p>
                      <a:pPr algn="ctr">
                        <a:defRPr sz="1400">
                          <a:latin typeface="Courier New" panose="02070309020205020404"/>
                        </a:defRPr>
                      </a:pPr>
                      <a:r>
                        <a:t>38</a:t>
                      </a:r>
                    </a:p>
                  </a:txBody>
                  <a:tcPr/>
                </a:tc>
                <a:tc>
                  <a:txBody>
                    <a:bodyPr/>
                    <a:lstStyle/>
                    <a:p>
                      <a:pPr algn="ctr">
                        <a:defRPr sz="1400">
                          <a:latin typeface="Courier New" panose="02070309020205020404"/>
                        </a:defRPr>
                      </a:pPr>
                      <a:r>
                        <a:t>B5</a:t>
                      </a:r>
                    </a:p>
                  </a:txBody>
                  <a:tcPr/>
                </a:tc>
                <a:tc>
                  <a:txBody>
                    <a:bodyPr/>
                    <a:lstStyle/>
                    <a:p>
                      <a:pPr algn="ctr">
                        <a:defRPr sz="1400">
                          <a:latin typeface="Courier New" panose="02070309020205020404"/>
                        </a:defRPr>
                      </a:pPr>
                      <a:r>
                        <a:t>A3</a:t>
                      </a:r>
                    </a:p>
                  </a:txBody>
                  <a:tcPr/>
                </a:tc>
                <a:tc>
                  <a:txBody>
                    <a:bodyPr/>
                    <a:lstStyle/>
                    <a:p>
                      <a:pPr algn="ctr">
                        <a:defRPr sz="1400">
                          <a:latin typeface="Courier New" panose="02070309020205020404"/>
                        </a:defRPr>
                      </a:pPr>
                      <a:r>
                        <a:t>F7</a:t>
                      </a:r>
                    </a:p>
                  </a:txBody>
                  <a:tcPr/>
                </a:tc>
                <a:tc>
                  <a:txBody>
                    <a:bodyPr/>
                    <a:lstStyle/>
                    <a:p>
                      <a:pPr algn="ctr">
                        <a:defRPr sz="1400">
                          <a:latin typeface="Courier New" panose="02070309020205020404"/>
                        </a:defRPr>
                      </a:pPr>
                      <a:r>
                        <a:t>F2</a:t>
                      </a:r>
                    </a:p>
                  </a:txBody>
                  <a:tcPr/>
                </a:tc>
                <a:tc>
                  <a:txBody>
                    <a:bodyPr/>
                    <a:lstStyle/>
                    <a:p>
                      <a:pPr algn="ctr">
                        <a:defRPr sz="1400">
                          <a:latin typeface="Courier New" panose="02070309020205020404"/>
                        </a:defRPr>
                      </a:pPr>
                      <a:r>
                        <a:t>CE</a:t>
                      </a:r>
                    </a:p>
                  </a:txBody>
                  <a:tcPr/>
                </a:tc>
                <a:tc>
                  <a:txBody>
                    <a:bodyPr/>
                    <a:lstStyle/>
                    <a:p>
                      <a:pPr algn="ctr">
                        <a:defRPr sz="1400">
                          <a:latin typeface="Courier New" panose="02070309020205020404"/>
                        </a:defRPr>
                      </a:pPr>
                      <a:r>
                        <a:t>F9</a:t>
                      </a:r>
                    </a:p>
                  </a:txBody>
                  <a:tcPr/>
                </a:tc>
                <a:tc>
                  <a:txBody>
                    <a:bodyPr/>
                    <a:lstStyle/>
                    <a:p>
                      <a:pPr algn="ctr">
                        <a:defRPr sz="1400">
                          <a:latin typeface="Courier New" panose="02070309020205020404"/>
                        </a:defRPr>
                      </a:pPr>
                      <a:r>
                        <a:t>61</a:t>
                      </a:r>
                    </a:p>
                  </a:txBody>
                  <a:tcPr/>
                </a:tc>
                <a:tc>
                  <a:txBody>
                    <a:bodyPr/>
                    <a:lstStyle/>
                    <a:p>
                      <a:pPr algn="ctr">
                        <a:defRPr sz="1400">
                          <a:latin typeface="Courier New" panose="02070309020205020404"/>
                        </a:defRPr>
                      </a:pPr>
                      <a:r>
                        <a:t>15</a:t>
                      </a:r>
                    </a:p>
                  </a:txBody>
                  <a:tcPr/>
                </a:tc>
                <a:tc>
                  <a:txBody>
                    <a:bodyPr/>
                    <a:lstStyle/>
                    <a:p>
                      <a:pPr algn="ctr">
                        <a:defRPr sz="1400">
                          <a:latin typeface="Courier New" panose="02070309020205020404"/>
                        </a:defRPr>
                      </a:pPr>
                      <a:r>
                        <a:t>A1</a:t>
                      </a:r>
                    </a:p>
                  </a:txBody>
                  <a:tcPr/>
                </a:tc>
                <a:extLst>
                  <a:ext uri="{0D108BD9-81ED-4DB2-BD59-A6C34878D82A}">
                    <a16:rowId xmlns:a16="http://schemas.microsoft.com/office/drawing/2014/main" val="10001"/>
                  </a:ext>
                </a:extLst>
              </a:tr>
              <a:tr h="386080">
                <a:tc>
                  <a:txBody>
                    <a:bodyPr/>
                    <a:lstStyle/>
                    <a:p>
                      <a:pPr algn="ctr">
                        <a:defRPr sz="1400" b="1">
                          <a:latin typeface="Courier New" panose="02070309020205020404"/>
                        </a:defRPr>
                      </a:pPr>
                      <a:r>
                        <a:t>9</a:t>
                      </a:r>
                    </a:p>
                  </a:txBody>
                  <a:tcPr>
                    <a:solidFill>
                      <a:srgbClr val="E0E0E0"/>
                    </a:solidFill>
                  </a:tcPr>
                </a:tc>
                <a:tc>
                  <a:txBody>
                    <a:bodyPr/>
                    <a:lstStyle/>
                    <a:p>
                      <a:pPr algn="ctr">
                        <a:defRPr sz="1400">
                          <a:latin typeface="Courier New" panose="02070309020205020404"/>
                        </a:defRPr>
                      </a:pPr>
                      <a:r>
                        <a:t>E0</a:t>
                      </a:r>
                    </a:p>
                  </a:txBody>
                  <a:tcPr/>
                </a:tc>
                <a:tc>
                  <a:txBody>
                    <a:bodyPr/>
                    <a:lstStyle/>
                    <a:p>
                      <a:pPr algn="ctr">
                        <a:defRPr sz="1400">
                          <a:latin typeface="Courier New" panose="02070309020205020404"/>
                        </a:defRPr>
                      </a:pPr>
                      <a:r>
                        <a:t>AE</a:t>
                      </a:r>
                    </a:p>
                  </a:txBody>
                  <a:tcPr/>
                </a:tc>
                <a:tc>
                  <a:txBody>
                    <a:bodyPr/>
                    <a:lstStyle/>
                    <a:p>
                      <a:pPr algn="ctr">
                        <a:defRPr sz="1400">
                          <a:latin typeface="Courier New" panose="02070309020205020404"/>
                        </a:defRPr>
                      </a:pPr>
                      <a:r>
                        <a:t>5D</a:t>
                      </a:r>
                    </a:p>
                  </a:txBody>
                  <a:tcPr/>
                </a:tc>
                <a:tc>
                  <a:txBody>
                    <a:bodyPr/>
                    <a:lstStyle/>
                    <a:p>
                      <a:pPr algn="ctr">
                        <a:defRPr sz="1400">
                          <a:latin typeface="Courier New" panose="02070309020205020404"/>
                        </a:defRPr>
                      </a:pPr>
                      <a:r>
                        <a:t>A4</a:t>
                      </a:r>
                    </a:p>
                  </a:txBody>
                  <a:tcPr/>
                </a:tc>
                <a:tc>
                  <a:txBody>
                    <a:bodyPr/>
                    <a:lstStyle/>
                    <a:p>
                      <a:pPr algn="ctr">
                        <a:defRPr sz="1400">
                          <a:latin typeface="Courier New" panose="02070309020205020404"/>
                        </a:defRPr>
                      </a:pPr>
                      <a:r>
                        <a:t>9B</a:t>
                      </a:r>
                    </a:p>
                  </a:txBody>
                  <a:tcPr/>
                </a:tc>
                <a:tc>
                  <a:txBody>
                    <a:bodyPr/>
                    <a:lstStyle/>
                    <a:p>
                      <a:pPr algn="ctr">
                        <a:defRPr sz="1400">
                          <a:latin typeface="Courier New" panose="02070309020205020404"/>
                        </a:defRPr>
                      </a:pPr>
                      <a:r>
                        <a:t>34</a:t>
                      </a:r>
                    </a:p>
                  </a:txBody>
                  <a:tcPr/>
                </a:tc>
                <a:tc>
                  <a:txBody>
                    <a:bodyPr/>
                    <a:lstStyle/>
                    <a:p>
                      <a:pPr algn="ctr">
                        <a:defRPr sz="1400">
                          <a:latin typeface="Courier New" panose="02070309020205020404"/>
                        </a:defRPr>
                      </a:pPr>
                      <a:r>
                        <a:t>1A</a:t>
                      </a:r>
                    </a:p>
                  </a:txBody>
                  <a:tcPr/>
                </a:tc>
                <a:tc>
                  <a:txBody>
                    <a:bodyPr/>
                    <a:lstStyle/>
                    <a:p>
                      <a:pPr algn="ctr">
                        <a:defRPr sz="1400">
                          <a:latin typeface="Courier New" panose="02070309020205020404"/>
                        </a:defRPr>
                      </a:pPr>
                      <a:r>
                        <a:t>55</a:t>
                      </a:r>
                    </a:p>
                  </a:txBody>
                  <a:tcPr/>
                </a:tc>
                <a:tc>
                  <a:txBody>
                    <a:bodyPr/>
                    <a:lstStyle/>
                    <a:p>
                      <a:pPr algn="ctr">
                        <a:defRPr sz="1400">
                          <a:latin typeface="Courier New" panose="02070309020205020404"/>
                        </a:defRPr>
                      </a:pPr>
                      <a:r>
                        <a:t>AD</a:t>
                      </a:r>
                    </a:p>
                  </a:txBody>
                  <a:tcPr/>
                </a:tc>
                <a:tc>
                  <a:txBody>
                    <a:bodyPr/>
                    <a:lstStyle/>
                    <a:p>
                      <a:pPr algn="ctr">
                        <a:defRPr sz="1400">
                          <a:latin typeface="Courier New" panose="02070309020205020404"/>
                        </a:defRPr>
                      </a:pPr>
                      <a:r>
                        <a:t>93</a:t>
                      </a:r>
                    </a:p>
                  </a:txBody>
                  <a:tcPr/>
                </a:tc>
                <a:tc>
                  <a:txBody>
                    <a:bodyPr/>
                    <a:lstStyle/>
                    <a:p>
                      <a:pPr algn="ctr">
                        <a:defRPr sz="1400">
                          <a:latin typeface="Courier New" panose="02070309020205020404"/>
                        </a:defRPr>
                      </a:pPr>
                      <a:r>
                        <a:t>32</a:t>
                      </a:r>
                    </a:p>
                  </a:txBody>
                  <a:tcPr/>
                </a:tc>
                <a:tc>
                  <a:txBody>
                    <a:bodyPr/>
                    <a:lstStyle/>
                    <a:p>
                      <a:pPr algn="ctr">
                        <a:defRPr sz="1400">
                          <a:latin typeface="Courier New" panose="02070309020205020404"/>
                        </a:defRPr>
                      </a:pPr>
                      <a:r>
                        <a:t>30</a:t>
                      </a:r>
                    </a:p>
                  </a:txBody>
                  <a:tcPr/>
                </a:tc>
                <a:tc>
                  <a:txBody>
                    <a:bodyPr/>
                    <a:lstStyle/>
                    <a:p>
                      <a:pPr algn="ctr">
                        <a:defRPr sz="1400">
                          <a:latin typeface="Courier New" panose="02070309020205020404"/>
                        </a:defRPr>
                      </a:pPr>
                      <a:r>
                        <a:t>F5</a:t>
                      </a:r>
                    </a:p>
                  </a:txBody>
                  <a:tcPr/>
                </a:tc>
                <a:tc>
                  <a:txBody>
                    <a:bodyPr/>
                    <a:lstStyle/>
                    <a:p>
                      <a:pPr algn="ctr">
                        <a:defRPr sz="1400">
                          <a:latin typeface="Courier New" panose="02070309020205020404"/>
                        </a:defRPr>
                      </a:pPr>
                      <a:r>
                        <a:t>8C</a:t>
                      </a:r>
                    </a:p>
                  </a:txBody>
                  <a:tcPr/>
                </a:tc>
                <a:tc>
                  <a:txBody>
                    <a:bodyPr/>
                    <a:lstStyle/>
                    <a:p>
                      <a:pPr algn="ctr">
                        <a:defRPr sz="1400">
                          <a:latin typeface="Courier New" panose="02070309020205020404"/>
                        </a:defRPr>
                      </a:pPr>
                      <a:r>
                        <a:t>B1</a:t>
                      </a:r>
                    </a:p>
                  </a:txBody>
                  <a:tcPr/>
                </a:tc>
                <a:tc>
                  <a:txBody>
                    <a:bodyPr/>
                    <a:lstStyle/>
                    <a:p>
                      <a:pPr algn="ctr">
                        <a:defRPr sz="1400">
                          <a:latin typeface="Courier New" panose="02070309020205020404"/>
                        </a:defRPr>
                      </a:pPr>
                      <a:r>
                        <a:t>E3</a:t>
                      </a:r>
                    </a:p>
                  </a:txBody>
                  <a:tcPr/>
                </a:tc>
                <a:extLst>
                  <a:ext uri="{0D108BD9-81ED-4DB2-BD59-A6C34878D82A}">
                    <a16:rowId xmlns:a16="http://schemas.microsoft.com/office/drawing/2014/main" val="10002"/>
                  </a:ext>
                </a:extLst>
              </a:tr>
              <a:tr h="386080">
                <a:tc>
                  <a:txBody>
                    <a:bodyPr/>
                    <a:lstStyle/>
                    <a:p>
                      <a:pPr algn="ctr">
                        <a:defRPr sz="1400" b="1">
                          <a:latin typeface="Courier New" panose="02070309020205020404"/>
                        </a:defRPr>
                      </a:pPr>
                      <a:r>
                        <a:t>A</a:t>
                      </a:r>
                    </a:p>
                  </a:txBody>
                  <a:tcPr>
                    <a:solidFill>
                      <a:srgbClr val="E0E0E0"/>
                    </a:solidFill>
                  </a:tcPr>
                </a:tc>
                <a:tc>
                  <a:txBody>
                    <a:bodyPr/>
                    <a:lstStyle/>
                    <a:p>
                      <a:pPr algn="ctr">
                        <a:defRPr sz="1400">
                          <a:latin typeface="Courier New" panose="02070309020205020404"/>
                        </a:defRPr>
                      </a:pPr>
                      <a:r>
                        <a:t>1D</a:t>
                      </a:r>
                    </a:p>
                  </a:txBody>
                  <a:tcPr/>
                </a:tc>
                <a:tc>
                  <a:txBody>
                    <a:bodyPr/>
                    <a:lstStyle/>
                    <a:p>
                      <a:pPr algn="ctr">
                        <a:defRPr sz="1400">
                          <a:latin typeface="Courier New" panose="02070309020205020404"/>
                        </a:defRPr>
                      </a:pPr>
                      <a:r>
                        <a:t>F6</a:t>
                      </a:r>
                    </a:p>
                  </a:txBody>
                  <a:tcPr/>
                </a:tc>
                <a:tc>
                  <a:txBody>
                    <a:bodyPr/>
                    <a:lstStyle/>
                    <a:p>
                      <a:pPr algn="ctr">
                        <a:defRPr sz="1400">
                          <a:latin typeface="Courier New" panose="02070309020205020404"/>
                        </a:defRPr>
                      </a:pPr>
                      <a:r>
                        <a:t>E2</a:t>
                      </a:r>
                    </a:p>
                  </a:txBody>
                  <a:tcPr/>
                </a:tc>
                <a:tc>
                  <a:txBody>
                    <a:bodyPr/>
                    <a:lstStyle/>
                    <a:p>
                      <a:pPr algn="ctr">
                        <a:defRPr sz="1400">
                          <a:latin typeface="Courier New" panose="02070309020205020404"/>
                        </a:defRPr>
                      </a:pPr>
                      <a:r>
                        <a:t>2E</a:t>
                      </a:r>
                    </a:p>
                  </a:txBody>
                  <a:tcPr/>
                </a:tc>
                <a:tc>
                  <a:txBody>
                    <a:bodyPr/>
                    <a:lstStyle/>
                    <a:p>
                      <a:pPr algn="ctr">
                        <a:defRPr sz="1400">
                          <a:latin typeface="Courier New" panose="02070309020205020404"/>
                        </a:defRPr>
                      </a:pPr>
                      <a:r>
                        <a:t>82</a:t>
                      </a:r>
                    </a:p>
                  </a:txBody>
                  <a:tcPr/>
                </a:tc>
                <a:tc>
                  <a:txBody>
                    <a:bodyPr/>
                    <a:lstStyle/>
                    <a:p>
                      <a:pPr algn="ctr">
                        <a:defRPr sz="1400">
                          <a:latin typeface="Courier New" panose="02070309020205020404"/>
                        </a:defRPr>
                      </a:pPr>
                      <a:r>
                        <a:t>66</a:t>
                      </a:r>
                    </a:p>
                  </a:txBody>
                  <a:tcPr/>
                </a:tc>
                <a:tc>
                  <a:txBody>
                    <a:bodyPr/>
                    <a:lstStyle/>
                    <a:p>
                      <a:pPr algn="ctr">
                        <a:defRPr sz="1400">
                          <a:latin typeface="Courier New" panose="02070309020205020404"/>
                        </a:defRPr>
                      </a:pPr>
                      <a:r>
                        <a:t>CA</a:t>
                      </a:r>
                    </a:p>
                  </a:txBody>
                  <a:tcPr/>
                </a:tc>
                <a:tc>
                  <a:txBody>
                    <a:bodyPr/>
                    <a:lstStyle/>
                    <a:p>
                      <a:pPr algn="ctr">
                        <a:defRPr sz="1400">
                          <a:latin typeface="Courier New" panose="02070309020205020404"/>
                        </a:defRPr>
                      </a:pPr>
                      <a:r>
                        <a:t>60</a:t>
                      </a:r>
                    </a:p>
                  </a:txBody>
                  <a:tcPr/>
                </a:tc>
                <a:tc>
                  <a:txBody>
                    <a:bodyPr/>
                    <a:lstStyle/>
                    <a:p>
                      <a:pPr algn="ctr">
                        <a:defRPr sz="1400">
                          <a:latin typeface="Courier New" panose="02070309020205020404"/>
                        </a:defRPr>
                      </a:pPr>
                      <a:r>
                        <a:t>C0</a:t>
                      </a:r>
                    </a:p>
                  </a:txBody>
                  <a:tcPr/>
                </a:tc>
                <a:tc>
                  <a:txBody>
                    <a:bodyPr/>
                    <a:lstStyle/>
                    <a:p>
                      <a:pPr algn="ctr">
                        <a:defRPr sz="1400">
                          <a:latin typeface="Courier New" panose="02070309020205020404"/>
                        </a:defRPr>
                      </a:pPr>
                      <a:r>
                        <a:t>29</a:t>
                      </a:r>
                    </a:p>
                  </a:txBody>
                  <a:tcPr/>
                </a:tc>
                <a:tc>
                  <a:txBody>
                    <a:bodyPr/>
                    <a:lstStyle/>
                    <a:p>
                      <a:pPr algn="ctr">
                        <a:defRPr sz="1400">
                          <a:latin typeface="Courier New" panose="02070309020205020404"/>
                        </a:defRPr>
                      </a:pPr>
                      <a:r>
                        <a:t>23</a:t>
                      </a:r>
                    </a:p>
                  </a:txBody>
                  <a:tcPr/>
                </a:tc>
                <a:tc>
                  <a:txBody>
                    <a:bodyPr/>
                    <a:lstStyle/>
                    <a:p>
                      <a:pPr algn="ctr">
                        <a:defRPr sz="1400">
                          <a:latin typeface="Courier New" panose="02070309020205020404"/>
                        </a:defRPr>
                      </a:pPr>
                      <a:r>
                        <a:t>AB</a:t>
                      </a:r>
                    </a:p>
                  </a:txBody>
                  <a:tcPr/>
                </a:tc>
                <a:tc>
                  <a:txBody>
                    <a:bodyPr/>
                    <a:lstStyle/>
                    <a:p>
                      <a:pPr algn="ctr">
                        <a:defRPr sz="1400">
                          <a:latin typeface="Courier New" panose="02070309020205020404"/>
                        </a:defRPr>
                      </a:pPr>
                      <a:r>
                        <a:t>0D</a:t>
                      </a:r>
                    </a:p>
                  </a:txBody>
                  <a:tcPr/>
                </a:tc>
                <a:tc>
                  <a:txBody>
                    <a:bodyPr/>
                    <a:lstStyle/>
                    <a:p>
                      <a:pPr algn="ctr">
                        <a:defRPr sz="1400">
                          <a:latin typeface="Courier New" panose="02070309020205020404"/>
                        </a:defRPr>
                      </a:pPr>
                      <a:r>
                        <a:t>53</a:t>
                      </a:r>
                    </a:p>
                  </a:txBody>
                  <a:tcPr/>
                </a:tc>
                <a:tc>
                  <a:txBody>
                    <a:bodyPr/>
                    <a:lstStyle/>
                    <a:p>
                      <a:pPr algn="ctr">
                        <a:defRPr sz="1400">
                          <a:latin typeface="Courier New" panose="02070309020205020404"/>
                        </a:defRPr>
                      </a:pPr>
                      <a:r>
                        <a:t>4E</a:t>
                      </a:r>
                    </a:p>
                  </a:txBody>
                  <a:tcPr/>
                </a:tc>
                <a:tc>
                  <a:txBody>
                    <a:bodyPr/>
                    <a:lstStyle/>
                    <a:p>
                      <a:pPr algn="ctr">
                        <a:defRPr sz="1400">
                          <a:latin typeface="Courier New" panose="02070309020205020404"/>
                        </a:defRPr>
                      </a:pPr>
                      <a:r>
                        <a:t>6F</a:t>
                      </a:r>
                    </a:p>
                  </a:txBody>
                  <a:tcPr/>
                </a:tc>
                <a:extLst>
                  <a:ext uri="{0D108BD9-81ED-4DB2-BD59-A6C34878D82A}">
                    <a16:rowId xmlns:a16="http://schemas.microsoft.com/office/drawing/2014/main" val="10003"/>
                  </a:ext>
                </a:extLst>
              </a:tr>
              <a:tr h="386080">
                <a:tc>
                  <a:txBody>
                    <a:bodyPr/>
                    <a:lstStyle/>
                    <a:p>
                      <a:pPr algn="ctr">
                        <a:defRPr sz="1400" b="1">
                          <a:latin typeface="Courier New" panose="02070309020205020404"/>
                        </a:defRPr>
                      </a:pPr>
                      <a:r>
                        <a:t>B</a:t>
                      </a:r>
                    </a:p>
                  </a:txBody>
                  <a:tcPr>
                    <a:solidFill>
                      <a:srgbClr val="E0E0E0"/>
                    </a:solidFill>
                  </a:tcPr>
                </a:tc>
                <a:tc>
                  <a:txBody>
                    <a:bodyPr/>
                    <a:lstStyle/>
                    <a:p>
                      <a:pPr algn="ctr">
                        <a:defRPr sz="1400">
                          <a:latin typeface="Courier New" panose="02070309020205020404"/>
                        </a:defRPr>
                      </a:pPr>
                      <a:r>
                        <a:t>D5</a:t>
                      </a:r>
                    </a:p>
                  </a:txBody>
                  <a:tcPr/>
                </a:tc>
                <a:tc>
                  <a:txBody>
                    <a:bodyPr/>
                    <a:lstStyle/>
                    <a:p>
                      <a:pPr algn="ctr">
                        <a:defRPr sz="1400">
                          <a:latin typeface="Courier New" panose="02070309020205020404"/>
                        </a:defRPr>
                      </a:pPr>
                      <a:r>
                        <a:t>DB</a:t>
                      </a:r>
                    </a:p>
                  </a:txBody>
                  <a:tcPr/>
                </a:tc>
                <a:tc>
                  <a:txBody>
                    <a:bodyPr/>
                    <a:lstStyle/>
                    <a:p>
                      <a:pPr algn="ctr">
                        <a:defRPr sz="1400">
                          <a:latin typeface="Courier New" panose="02070309020205020404"/>
                        </a:defRPr>
                      </a:pPr>
                      <a:r>
                        <a:t>37</a:t>
                      </a:r>
                    </a:p>
                  </a:txBody>
                  <a:tcPr/>
                </a:tc>
                <a:tc>
                  <a:txBody>
                    <a:bodyPr/>
                    <a:lstStyle/>
                    <a:p>
                      <a:pPr algn="ctr">
                        <a:defRPr sz="1400">
                          <a:latin typeface="Courier New" panose="02070309020205020404"/>
                        </a:defRPr>
                      </a:pPr>
                      <a:r>
                        <a:t>45</a:t>
                      </a:r>
                    </a:p>
                  </a:txBody>
                  <a:tcPr/>
                </a:tc>
                <a:tc>
                  <a:txBody>
                    <a:bodyPr/>
                    <a:lstStyle/>
                    <a:p>
                      <a:pPr algn="ctr">
                        <a:defRPr sz="1400">
                          <a:latin typeface="Courier New" panose="02070309020205020404"/>
                        </a:defRPr>
                      </a:pPr>
                      <a:r>
                        <a:t>DE</a:t>
                      </a:r>
                    </a:p>
                  </a:txBody>
                  <a:tcPr/>
                </a:tc>
                <a:tc>
                  <a:txBody>
                    <a:bodyPr/>
                    <a:lstStyle/>
                    <a:p>
                      <a:pPr algn="ctr">
                        <a:defRPr sz="1400">
                          <a:latin typeface="Courier New" panose="02070309020205020404"/>
                        </a:defRPr>
                      </a:pPr>
                      <a:r>
                        <a:t>FD</a:t>
                      </a:r>
                    </a:p>
                  </a:txBody>
                  <a:tcPr/>
                </a:tc>
                <a:tc>
                  <a:txBody>
                    <a:bodyPr/>
                    <a:lstStyle/>
                    <a:p>
                      <a:pPr algn="ctr">
                        <a:defRPr sz="1400">
                          <a:latin typeface="Courier New" panose="02070309020205020404"/>
                        </a:defRPr>
                      </a:pPr>
                      <a:r>
                        <a:t>8E</a:t>
                      </a:r>
                    </a:p>
                  </a:txBody>
                  <a:tcPr/>
                </a:tc>
                <a:tc>
                  <a:txBody>
                    <a:bodyPr/>
                    <a:lstStyle/>
                    <a:p>
                      <a:pPr algn="ctr">
                        <a:defRPr sz="1400">
                          <a:latin typeface="Courier New" panose="02070309020205020404"/>
                        </a:defRPr>
                      </a:pPr>
                      <a:r>
                        <a:t>2F</a:t>
                      </a:r>
                    </a:p>
                  </a:txBody>
                  <a:tcPr/>
                </a:tc>
                <a:tc>
                  <a:txBody>
                    <a:bodyPr/>
                    <a:lstStyle/>
                    <a:p>
                      <a:pPr algn="ctr">
                        <a:defRPr sz="1400">
                          <a:latin typeface="Courier New" panose="02070309020205020404"/>
                        </a:defRPr>
                      </a:pPr>
                      <a:r>
                        <a:t>03</a:t>
                      </a:r>
                    </a:p>
                  </a:txBody>
                  <a:tcPr/>
                </a:tc>
                <a:tc>
                  <a:txBody>
                    <a:bodyPr/>
                    <a:lstStyle/>
                    <a:p>
                      <a:pPr algn="ctr">
                        <a:defRPr sz="1400">
                          <a:latin typeface="Courier New" panose="02070309020205020404"/>
                        </a:defRPr>
                      </a:pPr>
                      <a:r>
                        <a:t>FF</a:t>
                      </a:r>
                    </a:p>
                  </a:txBody>
                  <a:tcPr/>
                </a:tc>
                <a:tc>
                  <a:txBody>
                    <a:bodyPr/>
                    <a:lstStyle/>
                    <a:p>
                      <a:pPr algn="ctr">
                        <a:defRPr sz="1400">
                          <a:latin typeface="Courier New" panose="02070309020205020404"/>
                        </a:defRPr>
                      </a:pPr>
                      <a:r>
                        <a:t>6A</a:t>
                      </a:r>
                    </a:p>
                  </a:txBody>
                  <a:tcPr/>
                </a:tc>
                <a:tc>
                  <a:txBody>
                    <a:bodyPr/>
                    <a:lstStyle/>
                    <a:p>
                      <a:pPr algn="ctr">
                        <a:defRPr sz="1400">
                          <a:latin typeface="Courier New" panose="02070309020205020404"/>
                        </a:defRPr>
                      </a:pPr>
                      <a:r>
                        <a:t>72</a:t>
                      </a:r>
                    </a:p>
                  </a:txBody>
                  <a:tcPr/>
                </a:tc>
                <a:tc>
                  <a:txBody>
                    <a:bodyPr/>
                    <a:lstStyle/>
                    <a:p>
                      <a:pPr algn="ctr">
                        <a:defRPr sz="1400">
                          <a:latin typeface="Courier New" panose="02070309020205020404"/>
                        </a:defRPr>
                      </a:pPr>
                      <a:r>
                        <a:t>6D</a:t>
                      </a:r>
                    </a:p>
                  </a:txBody>
                  <a:tcPr/>
                </a:tc>
                <a:tc>
                  <a:txBody>
                    <a:bodyPr/>
                    <a:lstStyle/>
                    <a:p>
                      <a:pPr algn="ctr">
                        <a:defRPr sz="1400">
                          <a:latin typeface="Courier New" panose="02070309020205020404"/>
                        </a:defRPr>
                      </a:pPr>
                      <a:r>
                        <a:t>6C</a:t>
                      </a:r>
                    </a:p>
                  </a:txBody>
                  <a:tcPr/>
                </a:tc>
                <a:tc>
                  <a:txBody>
                    <a:bodyPr/>
                    <a:lstStyle/>
                    <a:p>
                      <a:pPr algn="ctr">
                        <a:defRPr sz="1400">
                          <a:latin typeface="Courier New" panose="02070309020205020404"/>
                        </a:defRPr>
                      </a:pPr>
                      <a:r>
                        <a:t>5B</a:t>
                      </a:r>
                    </a:p>
                  </a:txBody>
                  <a:tcPr/>
                </a:tc>
                <a:tc>
                  <a:txBody>
                    <a:bodyPr/>
                    <a:lstStyle/>
                    <a:p>
                      <a:pPr algn="ctr">
                        <a:defRPr sz="1400">
                          <a:latin typeface="Courier New" panose="02070309020205020404"/>
                        </a:defRPr>
                      </a:pPr>
                      <a:r>
                        <a:t>51</a:t>
                      </a:r>
                    </a:p>
                  </a:txBody>
                  <a:tcPr/>
                </a:tc>
                <a:extLst>
                  <a:ext uri="{0D108BD9-81ED-4DB2-BD59-A6C34878D82A}">
                    <a16:rowId xmlns:a16="http://schemas.microsoft.com/office/drawing/2014/main" val="10004"/>
                  </a:ext>
                </a:extLst>
              </a:tr>
              <a:tr h="386080">
                <a:tc>
                  <a:txBody>
                    <a:bodyPr/>
                    <a:lstStyle/>
                    <a:p>
                      <a:pPr algn="ctr">
                        <a:defRPr sz="1400" b="1">
                          <a:latin typeface="Courier New" panose="02070309020205020404"/>
                        </a:defRPr>
                      </a:pPr>
                      <a:r>
                        <a:t>C</a:t>
                      </a:r>
                    </a:p>
                  </a:txBody>
                  <a:tcPr>
                    <a:solidFill>
                      <a:srgbClr val="E0E0E0"/>
                    </a:solidFill>
                  </a:tcPr>
                </a:tc>
                <a:tc>
                  <a:txBody>
                    <a:bodyPr/>
                    <a:lstStyle/>
                    <a:p>
                      <a:pPr algn="ctr">
                        <a:defRPr sz="1400">
                          <a:latin typeface="Courier New" panose="02070309020205020404"/>
                        </a:defRPr>
                      </a:pPr>
                      <a:r>
                        <a:t>8D</a:t>
                      </a:r>
                    </a:p>
                  </a:txBody>
                  <a:tcPr/>
                </a:tc>
                <a:tc>
                  <a:txBody>
                    <a:bodyPr/>
                    <a:lstStyle/>
                    <a:p>
                      <a:pPr algn="ctr">
                        <a:defRPr sz="1400">
                          <a:latin typeface="Courier New" panose="02070309020205020404"/>
                        </a:defRPr>
                      </a:pPr>
                      <a:r>
                        <a:t>1B</a:t>
                      </a:r>
                    </a:p>
                  </a:txBody>
                  <a:tcPr/>
                </a:tc>
                <a:tc>
                  <a:txBody>
                    <a:bodyPr/>
                    <a:lstStyle/>
                    <a:p>
                      <a:pPr algn="ctr">
                        <a:defRPr sz="1400">
                          <a:latin typeface="Courier New" panose="02070309020205020404"/>
                        </a:defRPr>
                      </a:pPr>
                      <a:r>
                        <a:t>AF</a:t>
                      </a:r>
                    </a:p>
                  </a:txBody>
                  <a:tcPr/>
                </a:tc>
                <a:tc>
                  <a:txBody>
                    <a:bodyPr/>
                    <a:lstStyle/>
                    <a:p>
                      <a:pPr algn="ctr">
                        <a:defRPr sz="1400">
                          <a:latin typeface="Courier New" panose="02070309020205020404"/>
                        </a:defRPr>
                      </a:pPr>
                      <a:r>
                        <a:t>92</a:t>
                      </a:r>
                    </a:p>
                  </a:txBody>
                  <a:tcPr/>
                </a:tc>
                <a:tc>
                  <a:txBody>
                    <a:bodyPr/>
                    <a:lstStyle/>
                    <a:p>
                      <a:pPr algn="ctr">
                        <a:defRPr sz="1400">
                          <a:latin typeface="Courier New" panose="02070309020205020404"/>
                        </a:defRPr>
                      </a:pPr>
                      <a:r>
                        <a:t>BB</a:t>
                      </a:r>
                    </a:p>
                  </a:txBody>
                  <a:tcPr/>
                </a:tc>
                <a:tc>
                  <a:txBody>
                    <a:bodyPr/>
                    <a:lstStyle/>
                    <a:p>
                      <a:pPr algn="ctr">
                        <a:defRPr sz="1400">
                          <a:latin typeface="Courier New" panose="02070309020205020404"/>
                        </a:defRPr>
                      </a:pPr>
                      <a:r>
                        <a:t>DD</a:t>
                      </a:r>
                    </a:p>
                  </a:txBody>
                  <a:tcPr/>
                </a:tc>
                <a:tc>
                  <a:txBody>
                    <a:bodyPr/>
                    <a:lstStyle/>
                    <a:p>
                      <a:pPr algn="ctr">
                        <a:defRPr sz="1400">
                          <a:latin typeface="Courier New" panose="02070309020205020404"/>
                        </a:defRPr>
                      </a:pPr>
                      <a:r>
                        <a:t>BC</a:t>
                      </a:r>
                    </a:p>
                  </a:txBody>
                  <a:tcPr/>
                </a:tc>
                <a:tc>
                  <a:txBody>
                    <a:bodyPr/>
                    <a:lstStyle/>
                    <a:p>
                      <a:pPr algn="ctr">
                        <a:defRPr sz="1400">
                          <a:latin typeface="Courier New" panose="02070309020205020404"/>
                        </a:defRPr>
                      </a:pPr>
                      <a:r>
                        <a:t>7F</a:t>
                      </a:r>
                    </a:p>
                  </a:txBody>
                  <a:tcPr/>
                </a:tc>
                <a:tc>
                  <a:txBody>
                    <a:bodyPr/>
                    <a:lstStyle/>
                    <a:p>
                      <a:pPr algn="ctr">
                        <a:defRPr sz="1400">
                          <a:latin typeface="Courier New" panose="02070309020205020404"/>
                        </a:defRPr>
                      </a:pPr>
                      <a:r>
                        <a:t>11</a:t>
                      </a:r>
                    </a:p>
                  </a:txBody>
                  <a:tcPr/>
                </a:tc>
                <a:tc>
                  <a:txBody>
                    <a:bodyPr/>
                    <a:lstStyle/>
                    <a:p>
                      <a:pPr algn="ctr">
                        <a:defRPr sz="1400">
                          <a:latin typeface="Courier New" panose="02070309020205020404"/>
                        </a:defRPr>
                      </a:pPr>
                      <a:r>
                        <a:t>D9</a:t>
                      </a:r>
                    </a:p>
                  </a:txBody>
                  <a:tcPr/>
                </a:tc>
                <a:tc>
                  <a:txBody>
                    <a:bodyPr/>
                    <a:lstStyle/>
                    <a:p>
                      <a:pPr algn="ctr">
                        <a:defRPr sz="1400">
                          <a:latin typeface="Courier New" panose="02070309020205020404"/>
                        </a:defRPr>
                      </a:pPr>
                      <a:r>
                        <a:t>5C</a:t>
                      </a:r>
                    </a:p>
                  </a:txBody>
                  <a:tcPr/>
                </a:tc>
                <a:tc>
                  <a:txBody>
                    <a:bodyPr/>
                    <a:lstStyle/>
                    <a:p>
                      <a:pPr algn="ctr">
                        <a:defRPr sz="1400">
                          <a:latin typeface="Courier New" panose="02070309020205020404"/>
                        </a:defRPr>
                      </a:pPr>
                      <a:r>
                        <a:t>41</a:t>
                      </a:r>
                    </a:p>
                  </a:txBody>
                  <a:tcPr/>
                </a:tc>
                <a:tc>
                  <a:txBody>
                    <a:bodyPr/>
                    <a:lstStyle/>
                    <a:p>
                      <a:pPr algn="ctr">
                        <a:defRPr sz="1400">
                          <a:latin typeface="Courier New" panose="02070309020205020404"/>
                        </a:defRPr>
                      </a:pPr>
                      <a:r>
                        <a:t>1F</a:t>
                      </a:r>
                    </a:p>
                  </a:txBody>
                  <a:tcPr/>
                </a:tc>
                <a:tc>
                  <a:txBody>
                    <a:bodyPr/>
                    <a:lstStyle/>
                    <a:p>
                      <a:pPr algn="ctr">
                        <a:defRPr sz="1400">
                          <a:latin typeface="Courier New" panose="02070309020205020404"/>
                        </a:defRPr>
                      </a:pPr>
                      <a:r>
                        <a:t>10</a:t>
                      </a:r>
                    </a:p>
                  </a:txBody>
                  <a:tcPr/>
                </a:tc>
                <a:tc>
                  <a:txBody>
                    <a:bodyPr/>
                    <a:lstStyle/>
                    <a:p>
                      <a:pPr algn="ctr">
                        <a:defRPr sz="1400">
                          <a:latin typeface="Courier New" panose="02070309020205020404"/>
                        </a:defRPr>
                      </a:pPr>
                      <a:r>
                        <a:t>5A</a:t>
                      </a:r>
                    </a:p>
                  </a:txBody>
                  <a:tcPr/>
                </a:tc>
                <a:tc>
                  <a:txBody>
                    <a:bodyPr/>
                    <a:lstStyle/>
                    <a:p>
                      <a:pPr algn="ctr">
                        <a:defRPr sz="1400">
                          <a:latin typeface="Courier New" panose="02070309020205020404"/>
                        </a:defRPr>
                      </a:pPr>
                      <a:r>
                        <a:t>D8</a:t>
                      </a:r>
                    </a:p>
                  </a:txBody>
                  <a:tcPr/>
                </a:tc>
                <a:extLst>
                  <a:ext uri="{0D108BD9-81ED-4DB2-BD59-A6C34878D82A}">
                    <a16:rowId xmlns:a16="http://schemas.microsoft.com/office/drawing/2014/main" val="10005"/>
                  </a:ext>
                </a:extLst>
              </a:tr>
              <a:tr h="386080">
                <a:tc>
                  <a:txBody>
                    <a:bodyPr/>
                    <a:lstStyle/>
                    <a:p>
                      <a:pPr algn="ctr">
                        <a:defRPr sz="1400" b="1">
                          <a:latin typeface="Courier New" panose="02070309020205020404"/>
                        </a:defRPr>
                      </a:pPr>
                      <a:r>
                        <a:t>D</a:t>
                      </a:r>
                    </a:p>
                  </a:txBody>
                  <a:tcPr>
                    <a:solidFill>
                      <a:srgbClr val="E0E0E0"/>
                    </a:solidFill>
                  </a:tcPr>
                </a:tc>
                <a:tc>
                  <a:txBody>
                    <a:bodyPr/>
                    <a:lstStyle/>
                    <a:p>
                      <a:pPr algn="ctr">
                        <a:defRPr sz="1400">
                          <a:latin typeface="Courier New" panose="02070309020205020404"/>
                        </a:defRPr>
                      </a:pPr>
                      <a:r>
                        <a:t>0A</a:t>
                      </a:r>
                    </a:p>
                  </a:txBody>
                  <a:tcPr/>
                </a:tc>
                <a:tc>
                  <a:txBody>
                    <a:bodyPr/>
                    <a:lstStyle/>
                    <a:p>
                      <a:pPr algn="ctr">
                        <a:defRPr sz="1400">
                          <a:latin typeface="Courier New" panose="02070309020205020404"/>
                        </a:defRPr>
                      </a:pPr>
                      <a:r>
                        <a:t>C1</a:t>
                      </a:r>
                    </a:p>
                  </a:txBody>
                  <a:tcPr/>
                </a:tc>
                <a:tc>
                  <a:txBody>
                    <a:bodyPr/>
                    <a:lstStyle/>
                    <a:p>
                      <a:pPr algn="ctr">
                        <a:defRPr sz="1400">
                          <a:latin typeface="Courier New" panose="02070309020205020404"/>
                        </a:defRPr>
                      </a:pPr>
                      <a:r>
                        <a:t>31</a:t>
                      </a:r>
                    </a:p>
                  </a:txBody>
                  <a:tcPr/>
                </a:tc>
                <a:tc>
                  <a:txBody>
                    <a:bodyPr/>
                    <a:lstStyle/>
                    <a:p>
                      <a:pPr algn="ctr">
                        <a:defRPr sz="1400">
                          <a:latin typeface="Courier New" panose="02070309020205020404"/>
                        </a:defRPr>
                      </a:pPr>
                      <a:r>
                        <a:t>88</a:t>
                      </a:r>
                    </a:p>
                  </a:txBody>
                  <a:tcPr/>
                </a:tc>
                <a:tc>
                  <a:txBody>
                    <a:bodyPr/>
                    <a:lstStyle/>
                    <a:p>
                      <a:pPr algn="ctr">
                        <a:defRPr sz="1400">
                          <a:latin typeface="Courier New" panose="02070309020205020404"/>
                        </a:defRPr>
                      </a:pPr>
                      <a:r>
                        <a:t>A5</a:t>
                      </a:r>
                    </a:p>
                  </a:txBody>
                  <a:tcPr/>
                </a:tc>
                <a:tc>
                  <a:txBody>
                    <a:bodyPr/>
                    <a:lstStyle/>
                    <a:p>
                      <a:pPr algn="ctr">
                        <a:defRPr sz="1400">
                          <a:latin typeface="Courier New" panose="02070309020205020404"/>
                        </a:defRPr>
                      </a:pPr>
                      <a:r>
                        <a:t>CD</a:t>
                      </a:r>
                    </a:p>
                  </a:txBody>
                  <a:tcPr/>
                </a:tc>
                <a:tc>
                  <a:txBody>
                    <a:bodyPr/>
                    <a:lstStyle/>
                    <a:p>
                      <a:pPr algn="ctr">
                        <a:defRPr sz="1400">
                          <a:latin typeface="Courier New" panose="02070309020205020404"/>
                        </a:defRPr>
                      </a:pPr>
                      <a:r>
                        <a:t>7B</a:t>
                      </a:r>
                    </a:p>
                  </a:txBody>
                  <a:tcPr/>
                </a:tc>
                <a:tc>
                  <a:txBody>
                    <a:bodyPr/>
                    <a:lstStyle/>
                    <a:p>
                      <a:pPr algn="ctr">
                        <a:defRPr sz="1400">
                          <a:latin typeface="Courier New" panose="02070309020205020404"/>
                        </a:defRPr>
                      </a:pPr>
                      <a:r>
                        <a:t>BD</a:t>
                      </a:r>
                    </a:p>
                  </a:txBody>
                  <a:tcPr/>
                </a:tc>
                <a:tc>
                  <a:txBody>
                    <a:bodyPr/>
                    <a:lstStyle/>
                    <a:p>
                      <a:pPr algn="ctr">
                        <a:defRPr sz="1400">
                          <a:latin typeface="Courier New" panose="02070309020205020404"/>
                        </a:defRPr>
                      </a:pPr>
                      <a:r>
                        <a:t>2D</a:t>
                      </a:r>
                    </a:p>
                  </a:txBody>
                  <a:tcPr/>
                </a:tc>
                <a:tc>
                  <a:txBody>
                    <a:bodyPr/>
                    <a:lstStyle/>
                    <a:p>
                      <a:pPr algn="ctr">
                        <a:defRPr sz="1400">
                          <a:latin typeface="Courier New" panose="02070309020205020404"/>
                        </a:defRPr>
                      </a:pPr>
                      <a:r>
                        <a:t>74</a:t>
                      </a:r>
                    </a:p>
                  </a:txBody>
                  <a:tcPr/>
                </a:tc>
                <a:tc>
                  <a:txBody>
                    <a:bodyPr/>
                    <a:lstStyle/>
                    <a:p>
                      <a:pPr algn="ctr">
                        <a:defRPr sz="1400">
                          <a:latin typeface="Courier New" panose="02070309020205020404"/>
                        </a:defRPr>
                      </a:pPr>
                      <a:r>
                        <a:t>D0</a:t>
                      </a:r>
                    </a:p>
                  </a:txBody>
                  <a:tcPr/>
                </a:tc>
                <a:tc>
                  <a:txBody>
                    <a:bodyPr/>
                    <a:lstStyle/>
                    <a:p>
                      <a:pPr algn="ctr">
                        <a:defRPr sz="1400">
                          <a:latin typeface="Courier New" panose="02070309020205020404"/>
                        </a:defRPr>
                      </a:pPr>
                      <a:r>
                        <a:t>12</a:t>
                      </a:r>
                    </a:p>
                  </a:txBody>
                  <a:tcPr/>
                </a:tc>
                <a:tc>
                  <a:txBody>
                    <a:bodyPr/>
                    <a:lstStyle/>
                    <a:p>
                      <a:pPr algn="ctr">
                        <a:defRPr sz="1400">
                          <a:latin typeface="Courier New" panose="02070309020205020404"/>
                        </a:defRPr>
                      </a:pPr>
                      <a:r>
                        <a:t>B8</a:t>
                      </a:r>
                    </a:p>
                  </a:txBody>
                  <a:tcPr/>
                </a:tc>
                <a:tc>
                  <a:txBody>
                    <a:bodyPr/>
                    <a:lstStyle/>
                    <a:p>
                      <a:pPr algn="ctr">
                        <a:defRPr sz="1400">
                          <a:latin typeface="Courier New" panose="02070309020205020404"/>
                        </a:defRPr>
                      </a:pPr>
                      <a:r>
                        <a:t>E5</a:t>
                      </a:r>
                    </a:p>
                  </a:txBody>
                  <a:tcPr/>
                </a:tc>
                <a:tc>
                  <a:txBody>
                    <a:bodyPr/>
                    <a:lstStyle/>
                    <a:p>
                      <a:pPr algn="ctr">
                        <a:defRPr sz="1400">
                          <a:latin typeface="Courier New" panose="02070309020205020404"/>
                        </a:defRPr>
                      </a:pPr>
                      <a:r>
                        <a:t>B4</a:t>
                      </a:r>
                    </a:p>
                  </a:txBody>
                  <a:tcPr/>
                </a:tc>
                <a:tc>
                  <a:txBody>
                    <a:bodyPr/>
                    <a:lstStyle/>
                    <a:p>
                      <a:pPr algn="ctr">
                        <a:defRPr sz="1400">
                          <a:latin typeface="Courier New" panose="02070309020205020404"/>
                        </a:defRPr>
                      </a:pPr>
                      <a:r>
                        <a:t>B0</a:t>
                      </a:r>
                    </a:p>
                  </a:txBody>
                  <a:tcPr/>
                </a:tc>
                <a:extLst>
                  <a:ext uri="{0D108BD9-81ED-4DB2-BD59-A6C34878D82A}">
                    <a16:rowId xmlns:a16="http://schemas.microsoft.com/office/drawing/2014/main" val="10006"/>
                  </a:ext>
                </a:extLst>
              </a:tr>
              <a:tr h="386080">
                <a:tc>
                  <a:txBody>
                    <a:bodyPr/>
                    <a:lstStyle/>
                    <a:p>
                      <a:pPr algn="ctr">
                        <a:defRPr sz="1400" b="1">
                          <a:latin typeface="Courier New" panose="02070309020205020404"/>
                        </a:defRPr>
                      </a:pPr>
                      <a:r>
                        <a:t>E</a:t>
                      </a:r>
                    </a:p>
                  </a:txBody>
                  <a:tcPr>
                    <a:solidFill>
                      <a:srgbClr val="E0E0E0"/>
                    </a:solidFill>
                  </a:tcPr>
                </a:tc>
                <a:tc>
                  <a:txBody>
                    <a:bodyPr/>
                    <a:lstStyle/>
                    <a:p>
                      <a:pPr algn="ctr">
                        <a:defRPr sz="1400">
                          <a:latin typeface="Courier New" panose="02070309020205020404"/>
                        </a:defRPr>
                      </a:pPr>
                      <a:r>
                        <a:t>89</a:t>
                      </a:r>
                    </a:p>
                  </a:txBody>
                  <a:tcPr/>
                </a:tc>
                <a:tc>
                  <a:txBody>
                    <a:bodyPr/>
                    <a:lstStyle/>
                    <a:p>
                      <a:pPr algn="ctr">
                        <a:defRPr sz="1400">
                          <a:latin typeface="Courier New" panose="02070309020205020404"/>
                        </a:defRPr>
                      </a:pPr>
                      <a:r>
                        <a:t>69</a:t>
                      </a:r>
                    </a:p>
                  </a:txBody>
                  <a:tcPr/>
                </a:tc>
                <a:tc>
                  <a:txBody>
                    <a:bodyPr/>
                    <a:lstStyle/>
                    <a:p>
                      <a:pPr algn="ctr">
                        <a:defRPr sz="1400">
                          <a:latin typeface="Courier New" panose="02070309020205020404"/>
                        </a:defRPr>
                      </a:pPr>
                      <a:r>
                        <a:t>97</a:t>
                      </a:r>
                    </a:p>
                  </a:txBody>
                  <a:tcPr/>
                </a:tc>
                <a:tc>
                  <a:txBody>
                    <a:bodyPr/>
                    <a:lstStyle/>
                    <a:p>
                      <a:pPr algn="ctr">
                        <a:defRPr sz="1400">
                          <a:latin typeface="Courier New" panose="02070309020205020404"/>
                        </a:defRPr>
                      </a:pPr>
                      <a:r>
                        <a:t>4A</a:t>
                      </a:r>
                    </a:p>
                  </a:txBody>
                  <a:tcPr/>
                </a:tc>
                <a:tc>
                  <a:txBody>
                    <a:bodyPr/>
                    <a:lstStyle/>
                    <a:p>
                      <a:pPr algn="ctr">
                        <a:defRPr sz="1400">
                          <a:latin typeface="Courier New" panose="02070309020205020404"/>
                        </a:defRPr>
                      </a:pPr>
                      <a:r>
                        <a:t>0C</a:t>
                      </a:r>
                    </a:p>
                  </a:txBody>
                  <a:tcPr/>
                </a:tc>
                <a:tc>
                  <a:txBody>
                    <a:bodyPr/>
                    <a:lstStyle/>
                    <a:p>
                      <a:pPr algn="ctr">
                        <a:defRPr sz="1400">
                          <a:latin typeface="Courier New" panose="02070309020205020404"/>
                        </a:defRPr>
                      </a:pPr>
                      <a:r>
                        <a:t>96</a:t>
                      </a:r>
                    </a:p>
                  </a:txBody>
                  <a:tcPr/>
                </a:tc>
                <a:tc>
                  <a:txBody>
                    <a:bodyPr/>
                    <a:lstStyle/>
                    <a:p>
                      <a:pPr algn="ctr">
                        <a:defRPr sz="1400">
                          <a:latin typeface="Courier New" panose="02070309020205020404"/>
                        </a:defRPr>
                      </a:pPr>
                      <a:r>
                        <a:t>77</a:t>
                      </a:r>
                    </a:p>
                  </a:txBody>
                  <a:tcPr/>
                </a:tc>
                <a:tc>
                  <a:txBody>
                    <a:bodyPr/>
                    <a:lstStyle/>
                    <a:p>
                      <a:pPr algn="ctr">
                        <a:defRPr sz="1400">
                          <a:latin typeface="Courier New" panose="02070309020205020404"/>
                        </a:defRPr>
                      </a:pPr>
                      <a:r>
                        <a:t>7E</a:t>
                      </a:r>
                    </a:p>
                  </a:txBody>
                  <a:tcPr/>
                </a:tc>
                <a:tc>
                  <a:txBody>
                    <a:bodyPr/>
                    <a:lstStyle/>
                    <a:p>
                      <a:pPr algn="ctr">
                        <a:defRPr sz="1400">
                          <a:latin typeface="Courier New" panose="02070309020205020404"/>
                        </a:defRPr>
                      </a:pPr>
                      <a:r>
                        <a:t>65</a:t>
                      </a:r>
                    </a:p>
                  </a:txBody>
                  <a:tcPr/>
                </a:tc>
                <a:tc>
                  <a:txBody>
                    <a:bodyPr/>
                    <a:lstStyle/>
                    <a:p>
                      <a:pPr algn="ctr">
                        <a:defRPr sz="1400">
                          <a:latin typeface="Courier New" panose="02070309020205020404"/>
                        </a:defRPr>
                      </a:pPr>
                      <a:r>
                        <a:t>B9</a:t>
                      </a:r>
                    </a:p>
                  </a:txBody>
                  <a:tcPr/>
                </a:tc>
                <a:tc>
                  <a:txBody>
                    <a:bodyPr/>
                    <a:lstStyle/>
                    <a:p>
                      <a:pPr algn="ctr">
                        <a:defRPr sz="1400">
                          <a:latin typeface="Courier New" panose="02070309020205020404"/>
                        </a:defRPr>
                      </a:pPr>
                      <a:r>
                        <a:t>F1</a:t>
                      </a:r>
                    </a:p>
                  </a:txBody>
                  <a:tcPr/>
                </a:tc>
                <a:tc>
                  <a:txBody>
                    <a:bodyPr/>
                    <a:lstStyle/>
                    <a:p>
                      <a:pPr algn="ctr">
                        <a:defRPr sz="1400">
                          <a:latin typeface="Courier New" panose="02070309020205020404"/>
                        </a:defRPr>
                      </a:pPr>
                      <a:r>
                        <a:t>09</a:t>
                      </a:r>
                    </a:p>
                  </a:txBody>
                  <a:tcPr/>
                </a:tc>
                <a:tc>
                  <a:txBody>
                    <a:bodyPr/>
                    <a:lstStyle/>
                    <a:p>
                      <a:pPr algn="ctr">
                        <a:defRPr sz="1400">
                          <a:latin typeface="Courier New" panose="02070309020205020404"/>
                        </a:defRPr>
                      </a:pPr>
                      <a:r>
                        <a:t>C5</a:t>
                      </a:r>
                    </a:p>
                  </a:txBody>
                  <a:tcPr/>
                </a:tc>
                <a:tc>
                  <a:txBody>
                    <a:bodyPr/>
                    <a:lstStyle/>
                    <a:p>
                      <a:pPr algn="ctr">
                        <a:defRPr sz="1400">
                          <a:latin typeface="Courier New" panose="02070309020205020404"/>
                        </a:defRPr>
                      </a:pPr>
                      <a:r>
                        <a:t>6E</a:t>
                      </a:r>
                    </a:p>
                  </a:txBody>
                  <a:tcPr/>
                </a:tc>
                <a:tc>
                  <a:txBody>
                    <a:bodyPr/>
                    <a:lstStyle/>
                    <a:p>
                      <a:pPr algn="ctr">
                        <a:defRPr sz="1400">
                          <a:latin typeface="Courier New" panose="02070309020205020404"/>
                        </a:defRPr>
                      </a:pPr>
                      <a:r>
                        <a:t>C6</a:t>
                      </a:r>
                    </a:p>
                  </a:txBody>
                  <a:tcPr/>
                </a:tc>
                <a:tc>
                  <a:txBody>
                    <a:bodyPr/>
                    <a:lstStyle/>
                    <a:p>
                      <a:pPr algn="ctr">
                        <a:defRPr sz="1400">
                          <a:latin typeface="Courier New" panose="02070309020205020404"/>
                        </a:defRPr>
                      </a:pPr>
                      <a:r>
                        <a:t>84</a:t>
                      </a:r>
                    </a:p>
                  </a:txBody>
                  <a:tcPr/>
                </a:tc>
                <a:extLst>
                  <a:ext uri="{0D108BD9-81ED-4DB2-BD59-A6C34878D82A}">
                    <a16:rowId xmlns:a16="http://schemas.microsoft.com/office/drawing/2014/main" val="10007"/>
                  </a:ext>
                </a:extLst>
              </a:tr>
              <a:tr h="386080">
                <a:tc>
                  <a:txBody>
                    <a:bodyPr/>
                    <a:lstStyle/>
                    <a:p>
                      <a:pPr algn="ctr">
                        <a:defRPr sz="1400" b="1">
                          <a:latin typeface="Courier New" panose="02070309020205020404"/>
                        </a:defRPr>
                      </a:pPr>
                      <a:r>
                        <a:t>F</a:t>
                      </a:r>
                    </a:p>
                  </a:txBody>
                  <a:tcPr>
                    <a:solidFill>
                      <a:srgbClr val="E0E0E0"/>
                    </a:solidFill>
                  </a:tcPr>
                </a:tc>
                <a:tc>
                  <a:txBody>
                    <a:bodyPr/>
                    <a:lstStyle/>
                    <a:p>
                      <a:pPr algn="ctr">
                        <a:defRPr sz="1400">
                          <a:latin typeface="Courier New" panose="02070309020205020404"/>
                        </a:defRPr>
                      </a:pPr>
                      <a:r>
                        <a:t>18</a:t>
                      </a:r>
                    </a:p>
                  </a:txBody>
                  <a:tcPr/>
                </a:tc>
                <a:tc>
                  <a:txBody>
                    <a:bodyPr/>
                    <a:lstStyle/>
                    <a:p>
                      <a:pPr algn="ctr">
                        <a:defRPr sz="1400">
                          <a:latin typeface="Courier New" panose="02070309020205020404"/>
                        </a:defRPr>
                      </a:pPr>
                      <a:r>
                        <a:t>F0</a:t>
                      </a:r>
                    </a:p>
                  </a:txBody>
                  <a:tcPr/>
                </a:tc>
                <a:tc>
                  <a:txBody>
                    <a:bodyPr/>
                    <a:lstStyle/>
                    <a:p>
                      <a:pPr algn="ctr">
                        <a:defRPr sz="1400">
                          <a:latin typeface="Courier New" panose="02070309020205020404"/>
                        </a:defRPr>
                      </a:pPr>
                      <a:r>
                        <a:t>7D</a:t>
                      </a:r>
                    </a:p>
                  </a:txBody>
                  <a:tcPr/>
                </a:tc>
                <a:tc>
                  <a:txBody>
                    <a:bodyPr/>
                    <a:lstStyle/>
                    <a:p>
                      <a:pPr algn="ctr">
                        <a:defRPr sz="1400">
                          <a:latin typeface="Courier New" panose="02070309020205020404"/>
                        </a:defRPr>
                      </a:pPr>
                      <a:r>
                        <a:t>EC</a:t>
                      </a:r>
                    </a:p>
                  </a:txBody>
                  <a:tcPr/>
                </a:tc>
                <a:tc>
                  <a:txBody>
                    <a:bodyPr/>
                    <a:lstStyle/>
                    <a:p>
                      <a:pPr algn="ctr">
                        <a:defRPr sz="1400">
                          <a:latin typeface="Courier New" panose="02070309020205020404"/>
                        </a:defRPr>
                      </a:pPr>
                      <a:r>
                        <a:t>3A</a:t>
                      </a:r>
                    </a:p>
                  </a:txBody>
                  <a:tcPr/>
                </a:tc>
                <a:tc>
                  <a:txBody>
                    <a:bodyPr/>
                    <a:lstStyle/>
                    <a:p>
                      <a:pPr algn="ctr">
                        <a:defRPr sz="1400">
                          <a:latin typeface="Courier New" panose="02070309020205020404"/>
                        </a:defRPr>
                      </a:pPr>
                      <a:r>
                        <a:t>DC</a:t>
                      </a:r>
                    </a:p>
                  </a:txBody>
                  <a:tcPr/>
                </a:tc>
                <a:tc>
                  <a:txBody>
                    <a:bodyPr/>
                    <a:lstStyle/>
                    <a:p>
                      <a:pPr algn="ctr">
                        <a:defRPr sz="1400">
                          <a:latin typeface="Courier New" panose="02070309020205020404"/>
                        </a:defRPr>
                      </a:pPr>
                      <a:r>
                        <a:t>4D</a:t>
                      </a:r>
                    </a:p>
                  </a:txBody>
                  <a:tcPr/>
                </a:tc>
                <a:tc>
                  <a:txBody>
                    <a:bodyPr/>
                    <a:lstStyle/>
                    <a:p>
                      <a:pPr algn="ctr">
                        <a:defRPr sz="1400">
                          <a:latin typeface="Courier New" panose="02070309020205020404"/>
                        </a:defRPr>
                      </a:pPr>
                      <a:r>
                        <a:t>20</a:t>
                      </a:r>
                    </a:p>
                  </a:txBody>
                  <a:tcPr/>
                </a:tc>
                <a:tc>
                  <a:txBody>
                    <a:bodyPr/>
                    <a:lstStyle/>
                    <a:p>
                      <a:pPr algn="ctr">
                        <a:defRPr sz="1400">
                          <a:latin typeface="Courier New" panose="02070309020205020404"/>
                        </a:defRPr>
                      </a:pPr>
                      <a:r>
                        <a:t>79</a:t>
                      </a:r>
                    </a:p>
                  </a:txBody>
                  <a:tcPr/>
                </a:tc>
                <a:tc>
                  <a:txBody>
                    <a:bodyPr/>
                    <a:lstStyle/>
                    <a:p>
                      <a:pPr algn="ctr">
                        <a:defRPr sz="1400">
                          <a:latin typeface="Courier New" panose="02070309020205020404"/>
                        </a:defRPr>
                      </a:pPr>
                      <a:r>
                        <a:t>EE</a:t>
                      </a:r>
                    </a:p>
                  </a:txBody>
                  <a:tcPr/>
                </a:tc>
                <a:tc>
                  <a:txBody>
                    <a:bodyPr/>
                    <a:lstStyle/>
                    <a:p>
                      <a:pPr algn="ctr">
                        <a:defRPr sz="1400">
                          <a:latin typeface="Courier New" panose="02070309020205020404"/>
                        </a:defRPr>
                      </a:pPr>
                      <a:r>
                        <a:t>5F</a:t>
                      </a:r>
                    </a:p>
                  </a:txBody>
                  <a:tcPr/>
                </a:tc>
                <a:tc>
                  <a:txBody>
                    <a:bodyPr/>
                    <a:lstStyle/>
                    <a:p>
                      <a:pPr algn="ctr">
                        <a:defRPr sz="1400">
                          <a:latin typeface="Courier New" panose="02070309020205020404"/>
                        </a:defRPr>
                      </a:pPr>
                      <a:r>
                        <a:t>3E</a:t>
                      </a:r>
                    </a:p>
                  </a:txBody>
                  <a:tcPr/>
                </a:tc>
                <a:tc>
                  <a:txBody>
                    <a:bodyPr/>
                    <a:lstStyle/>
                    <a:p>
                      <a:pPr algn="ctr">
                        <a:defRPr sz="1400">
                          <a:latin typeface="Courier New" panose="02070309020205020404"/>
                        </a:defRPr>
                      </a:pPr>
                      <a:r>
                        <a:t>D7</a:t>
                      </a:r>
                    </a:p>
                  </a:txBody>
                  <a:tcPr/>
                </a:tc>
                <a:tc>
                  <a:txBody>
                    <a:bodyPr/>
                    <a:lstStyle/>
                    <a:p>
                      <a:pPr algn="ctr">
                        <a:defRPr sz="1400">
                          <a:latin typeface="Courier New" panose="02070309020205020404"/>
                        </a:defRPr>
                      </a:pPr>
                      <a:r>
                        <a:t>CB</a:t>
                      </a:r>
                    </a:p>
                  </a:txBody>
                  <a:tcPr/>
                </a:tc>
                <a:tc>
                  <a:txBody>
                    <a:bodyPr/>
                    <a:lstStyle/>
                    <a:p>
                      <a:pPr algn="ctr">
                        <a:defRPr sz="1400">
                          <a:latin typeface="Courier New" panose="02070309020205020404"/>
                        </a:defRPr>
                      </a:pPr>
                      <a:r>
                        <a:t>39</a:t>
                      </a:r>
                    </a:p>
                  </a:txBody>
                  <a:tcPr/>
                </a:tc>
                <a:tc>
                  <a:txBody>
                    <a:bodyPr/>
                    <a:lstStyle/>
                    <a:p>
                      <a:pPr algn="ctr">
                        <a:defRPr sz="1400">
                          <a:latin typeface="Courier New" panose="02070309020205020404"/>
                        </a:defRPr>
                      </a:pPr>
                      <a:r>
                        <a:t>48</a:t>
                      </a:r>
                    </a:p>
                  </a:txBody>
                  <a:tcPr/>
                </a:tc>
                <a:extLst>
                  <a:ext uri="{0D108BD9-81ED-4DB2-BD59-A6C34878D82A}">
                    <a16:rowId xmlns:a16="http://schemas.microsoft.com/office/drawing/2014/main" val="10008"/>
                  </a:ext>
                </a:extLst>
              </a:tr>
            </a:tbl>
          </a:graphicData>
        </a:graphic>
      </p:graphicFrame>
      <p:sp>
        <p:nvSpPr>
          <p:cNvPr id="9" name="TextBox 8"/>
          <p:cNvSpPr txBox="1"/>
          <p:nvPr/>
        </p:nvSpPr>
        <p:spPr>
          <a:xfrm>
            <a:off x="17312132" y="9409176"/>
            <a:ext cx="363220" cy="306705"/>
          </a:xfrm>
          <a:prstGeom prst="rect">
            <a:avLst/>
          </a:prstGeom>
          <a:noFill/>
        </p:spPr>
        <p:txBody>
          <a:bodyPr wrap="none">
            <a:spAutoFit/>
          </a:bodyPr>
          <a:lstStyle/>
          <a:p>
            <a:pPr algn="r" defTabSz="457200">
              <a:defRPr sz="1800">
                <a:solidFill>
                  <a:srgbClr val="000000"/>
                </a:solidFill>
                <a:latin typeface="Times New Roman" panose="02020603050405020304"/>
              </a:defRPr>
            </a:pPr>
            <a:r>
              <a:rPr lang="en-US" sz="1400">
                <a:solidFill>
                  <a:srgbClr val="FFC000"/>
                </a:solidFill>
                <a:latin typeface="+mn-lt"/>
              </a:rPr>
              <a:t>14</a:t>
            </a:r>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
        <p:nvSpPr>
          <p:cNvPr id="11"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轮函数</a:t>
            </a: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F</a:t>
            </a:r>
          </a:p>
        </p:txBody>
      </p:sp>
      <p:sp>
        <p:nvSpPr>
          <p:cNvPr id="12"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4.1.4</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3">
            <a:alphaModFix amt="80000"/>
          </a:blip>
          <a:stretch>
            <a:fillRect/>
          </a:stretch>
        </p:blipFill>
        <p:spPr>
          <a:xfrm>
            <a:off x="674370"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630045" y="1271270"/>
            <a:ext cx="15727680" cy="1054100"/>
          </a:xfrm>
          <a:prstGeom prst="rect">
            <a:avLst/>
          </a:prstGeom>
          <a:noFill/>
        </p:spPr>
        <p:txBody>
          <a:bodyPr wrap="square">
            <a:noAutofit/>
          </a:bodyPr>
          <a:lstStyle/>
          <a:p>
            <a:pPr defTabSz="457200">
              <a:lnSpc>
                <a:spcPct val="140000"/>
              </a:lnSpc>
              <a:spcAft>
                <a:spcPts val="1000"/>
              </a:spcAft>
              <a:defRPr sz="2200" b="0">
                <a:solidFill>
                  <a:srgbClr val="000000"/>
                </a:solidFill>
                <a:latin typeface="Times New Roman" panose="02020603050405020304"/>
              </a:defRPr>
            </a:pPr>
            <a:r>
              <a:rPr lang="en-US">
                <a:latin typeface="Times New Roman" panose="02020603050405020304" pitchFamily="18" charset="0"/>
                <a:ea typeface="宋体" panose="02010600030101010101" pitchFamily="2" charset="-122"/>
              </a:rPr>
              <a:t>     </a:t>
            </a:r>
            <a:r>
              <a:rPr sz="2800">
                <a:latin typeface="Times New Roman" panose="02020603050405020304" pitchFamily="18" charset="0"/>
                <a:ea typeface="宋体" panose="02010600030101010101" pitchFamily="2" charset="-122"/>
                <a:cs typeface="Times New Roman" panose="02020603050405020304" pitchFamily="18" charset="0"/>
              </a:rPr>
              <a:t>SM4分组密码算法的ECB模式的工作方式如图4.3所示，ECB模式的工作方式的运算实例用以验证密码算法实现的正确性，其中数据采用十六进制数表示。</a:t>
            </a:r>
          </a:p>
        </p:txBody>
      </p:sp>
      <p:pic>
        <p:nvPicPr>
          <p:cNvPr id="7" name="Picture 6" descr="image60.png"/>
          <p:cNvPicPr>
            <a:picLocks noChangeAspect="1"/>
          </p:cNvPicPr>
          <p:nvPr/>
        </p:nvPicPr>
        <p:blipFill>
          <a:blip r:embed="rId2"/>
          <a:stretch>
            <a:fillRect/>
          </a:stretch>
        </p:blipFill>
        <p:spPr>
          <a:xfrm>
            <a:off x="5842000" y="2599690"/>
            <a:ext cx="6604635" cy="6988175"/>
          </a:xfrm>
          <a:prstGeom prst="rect">
            <a:avLst/>
          </a:prstGeom>
        </p:spPr>
      </p:pic>
      <p:sp>
        <p:nvSpPr>
          <p:cNvPr id="8" name="TextBox 7"/>
          <p:cNvSpPr txBox="1"/>
          <p:nvPr/>
        </p:nvSpPr>
        <p:spPr>
          <a:xfrm>
            <a:off x="6355080" y="9589135"/>
            <a:ext cx="5425440" cy="398780"/>
          </a:xfrm>
          <a:prstGeom prst="rect">
            <a:avLst/>
          </a:prstGeom>
          <a:noFill/>
        </p:spPr>
        <p:txBody>
          <a:bodyPr wrap="none">
            <a:spAutoFit/>
          </a:bodyPr>
          <a:lstStyle/>
          <a:p>
            <a:pPr algn="ctr" defTabSz="457200">
              <a:defRPr sz="2000">
                <a:latin typeface="仿宋" panose="02010609060101010101" charset="-122"/>
              </a:defRPr>
            </a:pPr>
            <a:r>
              <a:rPr>
                <a:latin typeface="Times New Roman" panose="02020603050405020304" pitchFamily="18" charset="0"/>
                <a:cs typeface="Times New Roman" panose="02020603050405020304" pitchFamily="18" charset="0"/>
              </a:rPr>
              <a:t>图4.3  SM4分组密码算法的ECB模式的工作方式</a:t>
            </a:r>
          </a:p>
        </p:txBody>
      </p:sp>
      <p:sp>
        <p:nvSpPr>
          <p:cNvPr id="9" name="TextBox 8"/>
          <p:cNvSpPr txBox="1"/>
          <p:nvPr/>
        </p:nvSpPr>
        <p:spPr>
          <a:xfrm>
            <a:off x="17312132" y="9409176"/>
            <a:ext cx="363220" cy="306705"/>
          </a:xfrm>
          <a:prstGeom prst="rect">
            <a:avLst/>
          </a:prstGeom>
          <a:noFill/>
        </p:spPr>
        <p:txBody>
          <a:bodyPr wrap="none">
            <a:spAutoFit/>
          </a:bodyPr>
          <a:lstStyle/>
          <a:p>
            <a:pPr algn="r" defTabSz="457200">
              <a:defRPr sz="1800">
                <a:solidFill>
                  <a:srgbClr val="000000"/>
                </a:solidFill>
                <a:latin typeface="Times New Roman" panose="02020603050405020304"/>
              </a:defRPr>
            </a:pPr>
            <a:r>
              <a:rPr lang="en-US" sz="1400">
                <a:solidFill>
                  <a:srgbClr val="FFC000"/>
                </a:solidFill>
                <a:latin typeface="+mn-lt"/>
              </a:rPr>
              <a:t>15</a:t>
            </a:r>
            <a:endParaRPr lang="en-US" sz="2000"/>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3"/>
            <a:stretch>
              <a:fillRect/>
            </a:stretch>
          </p:blipFill>
          <p:spPr>
            <a:xfrm>
              <a:off x="13944600" y="877286"/>
              <a:ext cx="2771429" cy="47619"/>
            </a:xfrm>
            <a:prstGeom prst="rect">
              <a:avLst/>
            </a:prstGeom>
          </p:spPr>
        </p:pic>
      </p:grpSp>
      <p:sp>
        <p:nvSpPr>
          <p:cNvPr id="11"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轮函数</a:t>
            </a: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F</a:t>
            </a:r>
          </a:p>
        </p:txBody>
      </p:sp>
      <p:sp>
        <p:nvSpPr>
          <p:cNvPr id="12"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4.1.4</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4">
            <a:alphaModFix amt="80000"/>
          </a:blip>
          <a:stretch>
            <a:fillRect/>
          </a:stretch>
        </p:blipFill>
        <p:spPr>
          <a:xfrm>
            <a:off x="674370"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71600" y="1691640"/>
            <a:ext cx="15727680" cy="7703820"/>
          </a:xfrm>
          <a:prstGeom prst="rect">
            <a:avLst/>
          </a:prstGeom>
          <a:noFill/>
        </p:spPr>
        <p:txBody>
          <a:bodyPr wrap="square">
            <a:spAutoFit/>
          </a:bodyPr>
          <a:lstStyle/>
          <a:p>
            <a:pPr defTabSz="457200">
              <a:lnSpc>
                <a:spcPct val="140000"/>
              </a:lnSpc>
              <a:spcAft>
                <a:spcPts val="1000"/>
              </a:spcAft>
              <a:defRPr sz="18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例4.1  对一组明文用密钥加密一次。</a:t>
            </a:r>
          </a:p>
          <a:p>
            <a:pPr defTabSz="457200">
              <a:lnSpc>
                <a:spcPct val="140000"/>
              </a:lnSpc>
              <a:spcAft>
                <a:spcPts val="1000"/>
              </a:spcAft>
              <a:defRPr sz="18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明文：01 23 45 67 89 AB CD EF FE DC BA 98 76 54 32 10</a:t>
            </a:r>
          </a:p>
          <a:p>
            <a:pPr defTabSz="457200">
              <a:lnSpc>
                <a:spcPct val="140000"/>
              </a:lnSpc>
              <a:spcAft>
                <a:spcPts val="1000"/>
              </a:spcAft>
              <a:defRPr sz="18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加密密钥：01 23 45 67 89 AB CD EF FE DC BA 98 76 54 32 10</a:t>
            </a:r>
          </a:p>
          <a:p>
            <a:pPr defTabSz="457200">
              <a:lnSpc>
                <a:spcPct val="140000"/>
              </a:lnSpc>
              <a:spcAft>
                <a:spcPts val="1000"/>
              </a:spcAft>
              <a:defRPr sz="18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轮密钥与每轮输出的状态为：</a:t>
            </a:r>
          </a:p>
          <a:p>
            <a:pPr defTabSz="457200">
              <a:lnSpc>
                <a:spcPct val="140000"/>
              </a:lnSpc>
              <a:spcAft>
                <a:spcPts val="1000"/>
              </a:spcAft>
              <a:defRPr sz="18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rk[0]  = F12186F9   X[4]  = 27FAD345      rk[16] = D120B428   X[20] = AF2432C4</a:t>
            </a:r>
          </a:p>
          <a:p>
            <a:pPr defTabSz="457200">
              <a:lnSpc>
                <a:spcPct val="140000"/>
              </a:lnSpc>
              <a:spcAft>
                <a:spcPts val="1000"/>
              </a:spcAft>
              <a:defRPr sz="18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rk[1]  = 41662B61   X[5]  = A18B4CB2      rk[17] = 73B55FA3   X[21] = ED1EC85E</a:t>
            </a:r>
          </a:p>
          <a:p>
            <a:pPr defTabSz="457200">
              <a:lnSpc>
                <a:spcPct val="140000"/>
              </a:lnSpc>
              <a:spcAft>
                <a:spcPts val="1000"/>
              </a:spcAft>
              <a:defRPr sz="18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rk[2]  = 5A6AB19A   X[6]  = 11C1E22A      rk[18] = CC874966   X[22] = 55A3BA22</a:t>
            </a:r>
          </a:p>
          <a:p>
            <a:pPr defTabSz="457200">
              <a:lnSpc>
                <a:spcPct val="140000"/>
              </a:lnSpc>
              <a:spcAft>
                <a:spcPts val="1000"/>
              </a:spcAft>
              <a:defRPr sz="18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rk[3]  = 7BA92077   X[7]  = CC13E2EE      rk[19] = 92244439   X[23] = 124B18AA</a:t>
            </a:r>
          </a:p>
          <a:p>
            <a:pPr defTabSz="457200">
              <a:lnSpc>
                <a:spcPct val="140000"/>
              </a:lnSpc>
              <a:spcAft>
                <a:spcPts val="1000"/>
              </a:spcAft>
              <a:defRPr sz="18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rk[4]  = 367360F4   X[8]  = F87C5BD5      rk[20] = E89E641F   X[24] = 6AE7725F</a:t>
            </a:r>
          </a:p>
          <a:p>
            <a:pPr defTabSz="457200">
              <a:lnSpc>
                <a:spcPct val="140000"/>
              </a:lnSpc>
              <a:spcAft>
                <a:spcPts val="1000"/>
              </a:spcAft>
              <a:defRPr sz="18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rk[5]  = 776A0C61   X[9]  = 33220757      rk[21] = 98CA015A   X[25] = F4CBA1F9</a:t>
            </a:r>
          </a:p>
          <a:p>
            <a:pPr defTabSz="457200">
              <a:lnSpc>
                <a:spcPct val="140000"/>
              </a:lnSpc>
              <a:spcAft>
                <a:spcPts val="1000"/>
              </a:spcAft>
              <a:defRPr sz="18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rk[6]  = B6BB89B3   X[10] = 77F4C297      rk[22] = C7159060   X[26] = 1DCDFA10</a:t>
            </a:r>
          </a:p>
          <a:p>
            <a:pPr defTabSz="457200">
              <a:lnSpc>
                <a:spcPct val="140000"/>
              </a:lnSpc>
              <a:spcAft>
                <a:spcPts val="1000"/>
              </a:spcAft>
              <a:defRPr sz="18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rk[7]  = 24763151   X[11] = 7A96F2EB      rk[23] = 99E1FD2E   X[27] = 2FF60603</a:t>
            </a:r>
          </a:p>
        </p:txBody>
      </p:sp>
      <p:sp>
        <p:nvSpPr>
          <p:cNvPr id="6" name="TextBox 5"/>
          <p:cNvSpPr txBox="1"/>
          <p:nvPr/>
        </p:nvSpPr>
        <p:spPr>
          <a:xfrm>
            <a:off x="17312132" y="9409176"/>
            <a:ext cx="363220" cy="306705"/>
          </a:xfrm>
          <a:prstGeom prst="rect">
            <a:avLst/>
          </a:prstGeom>
          <a:noFill/>
        </p:spPr>
        <p:txBody>
          <a:bodyPr wrap="none">
            <a:spAutoFit/>
          </a:bodyPr>
          <a:lstStyle/>
          <a:p>
            <a:pPr algn="r" defTabSz="457200">
              <a:defRPr sz="1800">
                <a:solidFill>
                  <a:srgbClr val="000000"/>
                </a:solidFill>
                <a:latin typeface="Times New Roman" panose="02020603050405020304"/>
              </a:defRPr>
            </a:pPr>
            <a:r>
              <a:rPr lang="en-US" sz="1400">
                <a:solidFill>
                  <a:srgbClr val="FFC000"/>
                </a:solidFill>
                <a:latin typeface="+mn-lt"/>
              </a:rPr>
              <a:t>16</a:t>
            </a:r>
            <a:endParaRPr lang="en-US" sz="2000"/>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
        <p:nvSpPr>
          <p:cNvPr id="11"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轮函数</a:t>
            </a: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F</a:t>
            </a:r>
          </a:p>
        </p:txBody>
      </p:sp>
      <p:sp>
        <p:nvSpPr>
          <p:cNvPr id="12"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4.1.4</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3">
            <a:alphaModFix amt="80000"/>
          </a:blip>
          <a:stretch>
            <a:fillRect/>
          </a:stretch>
        </p:blipFill>
        <p:spPr>
          <a:xfrm>
            <a:off x="674370"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71600" y="1691640"/>
            <a:ext cx="15727680" cy="8348980"/>
          </a:xfrm>
          <a:prstGeom prst="rect">
            <a:avLst/>
          </a:prstGeom>
          <a:noFill/>
        </p:spPr>
        <p:txBody>
          <a:bodyPr wrap="square">
            <a:spAutoFit/>
          </a:bodyPr>
          <a:lstStyle/>
          <a:p>
            <a:pPr defTabSz="457200">
              <a:lnSpc>
                <a:spcPct val="140000"/>
              </a:lnSpc>
              <a:spcAft>
                <a:spcPts val="1000"/>
              </a:spcAft>
              <a:defRPr sz="18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rk[8]  = A520307C   X[12] = 27DAC07F      rk[24] = B79BD80C   X[28] = EFF24FDC</a:t>
            </a:r>
          </a:p>
          <a:p>
            <a:pPr defTabSz="457200">
              <a:lnSpc>
                <a:spcPct val="140000"/>
              </a:lnSpc>
              <a:spcAft>
                <a:spcPts val="1000"/>
              </a:spcAft>
              <a:defRPr sz="18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rk[9]  = B7584DBD   X[13] = 42DD0F19      rk[25] = 1D2115B0   X[29] = 6FE46B75</a:t>
            </a:r>
          </a:p>
          <a:p>
            <a:pPr defTabSz="457200">
              <a:lnSpc>
                <a:spcPct val="140000"/>
              </a:lnSpc>
              <a:spcAft>
                <a:spcPts val="1000"/>
              </a:spcAft>
              <a:defRPr sz="18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rk[10] = C30753ED   X[14] = B8A5DA02      rk[26] = 0E228AEB   X[30] = 893450AD</a:t>
            </a:r>
          </a:p>
          <a:p>
            <a:pPr defTabSz="457200">
              <a:lnSpc>
                <a:spcPct val="140000"/>
              </a:lnSpc>
              <a:spcAft>
                <a:spcPts val="1000"/>
              </a:spcAft>
              <a:defRPr sz="18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rk[11] = 7EE55B57   X[15] = 907127FA      rk[27] = F1780C81   X[31] = 7B938F4C</a:t>
            </a:r>
          </a:p>
          <a:p>
            <a:pPr defTabSz="457200">
              <a:lnSpc>
                <a:spcPct val="140000"/>
              </a:lnSpc>
              <a:spcAft>
                <a:spcPts val="1000"/>
              </a:spcAft>
              <a:defRPr sz="18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rk[12] = 6988608C   X[16] = 8B952B83      rk[28] = 428D3654   X[32] = 536E4246</a:t>
            </a:r>
          </a:p>
          <a:p>
            <a:pPr defTabSz="457200">
              <a:lnSpc>
                <a:spcPct val="140000"/>
              </a:lnSpc>
              <a:spcAft>
                <a:spcPts val="1000"/>
              </a:spcAft>
              <a:defRPr sz="18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rk[13] = 30D895B7   X[17] = D42B7C59      rk[29] = 62293496   X[33] = 86B3E94F</a:t>
            </a:r>
          </a:p>
          <a:p>
            <a:pPr defTabSz="457200">
              <a:lnSpc>
                <a:spcPct val="140000"/>
              </a:lnSpc>
              <a:spcAft>
                <a:spcPts val="1000"/>
              </a:spcAft>
              <a:defRPr sz="18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rk[14] = 44BA14AF   X[18] = 2FFC5831      rk[30] = 01CF72E5   X[34] = D206965E</a:t>
            </a:r>
          </a:p>
          <a:p>
            <a:pPr defTabSz="457200">
              <a:lnSpc>
                <a:spcPct val="140000"/>
              </a:lnSpc>
              <a:spcAft>
                <a:spcPts val="1000"/>
              </a:spcAft>
              <a:defRPr sz="18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rk[15] = 104495A1   X[19] = F69E6888      rk[31] = 9124A012   X[35] = 681EDF34</a:t>
            </a:r>
          </a:p>
          <a:p>
            <a:pPr defTabSz="457200">
              <a:lnSpc>
                <a:spcPct val="140000"/>
              </a:lnSpc>
              <a:spcAft>
                <a:spcPts val="1000"/>
              </a:spcAft>
              <a:defRPr sz="18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密文：68 1E DF 34 D2 06 96 5E 86 B3 E9 4F 53 6E 42 46</a:t>
            </a:r>
          </a:p>
          <a:p>
            <a:pPr defTabSz="457200">
              <a:lnSpc>
                <a:spcPct val="140000"/>
              </a:lnSpc>
              <a:spcAft>
                <a:spcPts val="1000"/>
              </a:spcAft>
              <a:defRPr sz="18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例4.2  利用相同加密密钥对一组明文反复加密1000000次。</a:t>
            </a:r>
          </a:p>
          <a:p>
            <a:pPr defTabSz="457200">
              <a:lnSpc>
                <a:spcPct val="140000"/>
              </a:lnSpc>
              <a:spcAft>
                <a:spcPts val="1000"/>
              </a:spcAft>
              <a:defRPr sz="18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明文：01 23 45 67 89 AB CD EF FE DC BA 98 76 54 32 10</a:t>
            </a:r>
          </a:p>
          <a:p>
            <a:pPr defTabSz="457200">
              <a:lnSpc>
                <a:spcPct val="140000"/>
              </a:lnSpc>
              <a:spcAft>
                <a:spcPts val="1000"/>
              </a:spcAft>
              <a:defRPr sz="18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加密密钥：01 23 45 67 89 AB CD EF FE DC BA 98 76 54 32 10</a:t>
            </a:r>
          </a:p>
          <a:p>
            <a:pPr defTabSz="457200">
              <a:lnSpc>
                <a:spcPct val="140000"/>
              </a:lnSpc>
              <a:spcAft>
                <a:spcPts val="1000"/>
              </a:spcAft>
              <a:defRPr sz="18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密文：59 52 98 C7 C6 FD 27 1F 04 02 F8 04 C3 3D 3F 66</a:t>
            </a:r>
          </a:p>
        </p:txBody>
      </p:sp>
      <p:sp>
        <p:nvSpPr>
          <p:cNvPr id="6" name="TextBox 5"/>
          <p:cNvSpPr txBox="1"/>
          <p:nvPr/>
        </p:nvSpPr>
        <p:spPr>
          <a:xfrm>
            <a:off x="17312132" y="9409176"/>
            <a:ext cx="363220" cy="306705"/>
          </a:xfrm>
          <a:prstGeom prst="rect">
            <a:avLst/>
          </a:prstGeom>
          <a:noFill/>
        </p:spPr>
        <p:txBody>
          <a:bodyPr wrap="none">
            <a:spAutoFit/>
          </a:bodyPr>
          <a:lstStyle/>
          <a:p>
            <a:pPr algn="r" defTabSz="457200">
              <a:defRPr sz="1800">
                <a:solidFill>
                  <a:srgbClr val="000000"/>
                </a:solidFill>
                <a:latin typeface="Times New Roman" panose="02020603050405020304"/>
              </a:defRPr>
            </a:pPr>
            <a:r>
              <a:rPr lang="en-US" sz="1400">
                <a:solidFill>
                  <a:srgbClr val="FFC000"/>
                </a:solidFill>
                <a:latin typeface="+mn-lt"/>
              </a:rPr>
              <a:t>17</a:t>
            </a:r>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
        <p:nvSpPr>
          <p:cNvPr id="11"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轮函数</a:t>
            </a: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F</a:t>
            </a:r>
          </a:p>
        </p:txBody>
      </p:sp>
      <p:sp>
        <p:nvSpPr>
          <p:cNvPr id="12"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4.1.4</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3">
            <a:alphaModFix amt="80000"/>
          </a:blip>
          <a:stretch>
            <a:fillRect/>
          </a:stretch>
        </p:blipFill>
        <p:spPr>
          <a:xfrm>
            <a:off x="674370"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defTabSz="457200"/>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defTabSz="457200"/>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defTabSz="457200"/>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defTabSz="457200"/>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defTabSz="457200"/>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defTabSz="457200"/>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defTabSz="457200"/>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defTabSz="457200"/>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defTabSz="457200"/>
              <a:endParaRPr lang="zh-CN" altLang="en-US"/>
            </a:p>
          </p:txBody>
        </p:sp>
        <p:sp>
          <p:nvSpPr>
            <p:cNvPr id="29" name="TextBox 29"/>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sp>
        <p:nvSpPr>
          <p:cNvPr id="30" name="TextBox 30"/>
          <p:cNvSpPr txBox="1"/>
          <p:nvPr/>
        </p:nvSpPr>
        <p:spPr>
          <a:xfrm>
            <a:off x="7781241" y="2834725"/>
            <a:ext cx="2725514" cy="2190115"/>
          </a:xfrm>
          <a:prstGeom prst="rect">
            <a:avLst/>
          </a:prstGeom>
        </p:spPr>
        <p:txBody>
          <a:bodyPr lIns="0" tIns="0" rIns="0" bIns="0" rtlCol="0" anchor="t">
            <a:spAutoFit/>
          </a:bodyPr>
          <a:lstStyle/>
          <a:p>
            <a:pPr algn="ctr" defTabSz="457200">
              <a:lnSpc>
                <a:spcPts val="17080"/>
              </a:lnSpc>
            </a:pPr>
            <a:r>
              <a:rPr lang="en-US" sz="12200" dirty="0">
                <a:solidFill>
                  <a:srgbClr val="004AAD"/>
                </a:solidFill>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4.2</a:t>
            </a:r>
          </a:p>
        </p:txBody>
      </p:sp>
      <p:sp>
        <p:nvSpPr>
          <p:cNvPr id="31" name="TextBox 31"/>
          <p:cNvSpPr txBox="1"/>
          <p:nvPr/>
        </p:nvSpPr>
        <p:spPr>
          <a:xfrm>
            <a:off x="4067810" y="5143500"/>
            <a:ext cx="10151745" cy="2872105"/>
          </a:xfrm>
          <a:prstGeom prst="rect">
            <a:avLst/>
          </a:prstGeom>
        </p:spPr>
        <p:txBody>
          <a:bodyPr wrap="square" lIns="0" tIns="0" rIns="0" bIns="0" rtlCol="0" anchor="t">
            <a:spAutoFit/>
          </a:bodyPr>
          <a:lstStyle/>
          <a:p>
            <a:pPr algn="ctr" defTabSz="457200">
              <a:lnSpc>
                <a:spcPts val="11200"/>
              </a:lnSpc>
            </a:pPr>
            <a:r>
              <a:rPr lang="en-US" altLang="zh-CN" sz="9600" b="1" dirty="0">
                <a:solidFill>
                  <a:srgbClr val="004AAD"/>
                </a:solidFill>
                <a:latin typeface="Times New Roman" panose="02020603050405020304" pitchFamily="18" charset="0"/>
                <a:ea typeface="仿宋" panose="02010609060101010101" charset="-122"/>
                <a:cs typeface="字由文艺黑" panose="00020600040101010101" charset="-122"/>
                <a:sym typeface="字由文艺黑" panose="00020600040101010101" charset="-122"/>
              </a:rPr>
              <a:t>SM4</a:t>
            </a:r>
            <a:r>
              <a:rPr lang="zh-CN" altLang="en-US" sz="9600" b="1" dirty="0">
                <a:solidFill>
                  <a:srgbClr val="004AAD"/>
                </a:solidFill>
                <a:latin typeface="Times New Roman" panose="02020603050405020304" pitchFamily="18" charset="0"/>
                <a:ea typeface="仿宋" panose="02010609060101010101" charset="-122"/>
                <a:cs typeface="字由文艺黑" panose="00020600040101010101" charset="-122"/>
                <a:sym typeface="字由文艺黑" panose="00020600040101010101" charset="-122"/>
              </a:rPr>
              <a:t>分组密码算法设计原理</a:t>
            </a: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defTabSz="457200"/>
                <a:endParaRPr lang="zh-CN" altLang="en-US"/>
              </a:p>
            </p:txBody>
          </p:sp>
          <p:sp>
            <p:nvSpPr>
              <p:cNvPr id="40" name="TextBox 40"/>
              <p:cNvSpPr txBox="1"/>
              <p:nvPr/>
            </p:nvSpPr>
            <p:spPr>
              <a:xfrm>
                <a:off x="0" y="0"/>
                <a:ext cx="5501351" cy="288980"/>
              </a:xfrm>
              <a:prstGeom prst="rect">
                <a:avLst/>
              </a:prstGeom>
            </p:spPr>
            <p:txBody>
              <a:bodyPr lIns="50800" tIns="50800" rIns="50800" bIns="50800" rtlCol="0" anchor="ctr"/>
              <a:lstStyle/>
              <a:p>
                <a:pPr algn="ctr" defTabSz="457200">
                  <a:lnSpc>
                    <a:spcPts val="2880"/>
                  </a:lnSpc>
                </a:pPr>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defTabSz="457200"/>
                <a:endParaRPr lang="zh-CN" altLang="en-US"/>
              </a:p>
            </p:txBody>
          </p:sp>
          <p:sp>
            <p:nvSpPr>
              <p:cNvPr id="43" name="TextBox 43"/>
              <p:cNvSpPr txBox="1"/>
              <p:nvPr/>
            </p:nvSpPr>
            <p:spPr>
              <a:xfrm>
                <a:off x="0" y="0"/>
                <a:ext cx="5501351" cy="327048"/>
              </a:xfrm>
              <a:prstGeom prst="rect">
                <a:avLst/>
              </a:prstGeom>
            </p:spPr>
            <p:txBody>
              <a:bodyPr lIns="50800" tIns="50800" rIns="50800" bIns="50800" rtlCol="0" anchor="ctr"/>
              <a:lstStyle/>
              <a:p>
                <a:pPr algn="ctr" defTabSz="457200">
                  <a:lnSpc>
                    <a:spcPts val="2880"/>
                  </a:lnSpc>
                </a:pPr>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fld id="{9A0DB2DC-4C9A-4742-B13C-FB6460FD3503}" type="slidenum">
              <a:rPr lang="en-US" sz="1400" smtClean="0">
                <a:solidFill>
                  <a:srgbClr val="FFC000"/>
                </a:solidFill>
              </a:rPr>
              <a:t>18</a:t>
            </a:fld>
            <a:endParaRPr lang="en-US" sz="2000" dirty="0"/>
          </a:p>
        </p:txBody>
      </p:sp>
      <p:grpSp>
        <p:nvGrpSpPr>
          <p:cNvPr id="44" name="组合 43"/>
          <p:cNvGrpSpPr/>
          <p:nvPr/>
        </p:nvGrpSpPr>
        <p:grpSpPr>
          <a:xfrm>
            <a:off x="958201" y="56324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grpSp>
        <p:nvGrpSpPr>
          <p:cNvPr id="32" name="组合 31"/>
          <p:cNvGrpSpPr/>
          <p:nvPr/>
        </p:nvGrpSpPr>
        <p:grpSpPr>
          <a:xfrm>
            <a:off x="13639786" y="733421"/>
            <a:ext cx="3681730" cy="416951"/>
            <a:chOff x="13811849" y="507954"/>
            <a:chExt cx="3681730" cy="416951"/>
          </a:xfrm>
        </p:grpSpPr>
        <p:sp>
          <p:nvSpPr>
            <p:cNvPr id="35" name="文本框 34"/>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45" name="图片 44"/>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71600" y="1691640"/>
            <a:ext cx="15727680" cy="2416810"/>
          </a:xfrm>
          <a:prstGeom prst="rect">
            <a:avLst/>
          </a:prstGeom>
          <a:noFill/>
        </p:spPr>
        <p:txBody>
          <a:bodyPr wrap="square">
            <a:spAutoFit/>
          </a:bodyPr>
          <a:lstStyle/>
          <a:p>
            <a:pPr defTabSz="457200">
              <a:lnSpc>
                <a:spcPct val="140000"/>
              </a:lnSpc>
              <a:spcAft>
                <a:spcPts val="1000"/>
              </a:spcAft>
              <a:defRPr sz="2200" b="0">
                <a:solidFill>
                  <a:srgbClr val="000000"/>
                </a:solidFill>
                <a:latin typeface="Times New Roman" panose="02020603050405020304"/>
              </a:defRPr>
            </a:pPr>
            <a:r>
              <a:rPr lang="en-US">
                <a:latin typeface="Times New Roman" panose="02020603050405020304" pitchFamily="18" charset="0"/>
                <a:ea typeface="宋体" panose="02010600030101010101" pitchFamily="2" charset="-122"/>
              </a:rPr>
              <a:t>       </a:t>
            </a:r>
            <a:r>
              <a:rPr sz="3600">
                <a:latin typeface="Times New Roman" panose="02020603050405020304" pitchFamily="18" charset="0"/>
                <a:ea typeface="宋体" panose="02010600030101010101" pitchFamily="2" charset="-122"/>
                <a:cs typeface="Times New Roman" panose="02020603050405020304" pitchFamily="18" charset="0"/>
              </a:rPr>
              <a:t>本节介绍SM4分组密码算法的设计原理，包括非平衡Feistel网络、T变换、基础置换、非线性变换、线性变换、密钥扩展算法的设计以及加密解密正确性等内容。</a:t>
            </a:r>
          </a:p>
        </p:txBody>
      </p:sp>
      <p:sp>
        <p:nvSpPr>
          <p:cNvPr id="6" name="TextBox 5"/>
          <p:cNvSpPr txBox="1"/>
          <p:nvPr/>
        </p:nvSpPr>
        <p:spPr>
          <a:xfrm>
            <a:off x="17312132" y="9409176"/>
            <a:ext cx="363220" cy="306705"/>
          </a:xfrm>
          <a:prstGeom prst="rect">
            <a:avLst/>
          </a:prstGeom>
          <a:noFill/>
        </p:spPr>
        <p:txBody>
          <a:bodyPr wrap="none">
            <a:spAutoFit/>
          </a:bodyPr>
          <a:lstStyle/>
          <a:p>
            <a:pPr algn="r" defTabSz="457200">
              <a:defRPr sz="1800">
                <a:solidFill>
                  <a:srgbClr val="000000"/>
                </a:solidFill>
                <a:latin typeface="Times New Roman" panose="02020603050405020304"/>
              </a:defRPr>
            </a:pPr>
            <a:r>
              <a:rPr lang="en-US" sz="1400">
                <a:solidFill>
                  <a:srgbClr val="FFC000"/>
                </a:solidFill>
                <a:latin typeface="+mn-lt"/>
              </a:rPr>
              <a:t>19</a:t>
            </a:r>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
        <p:nvSpPr>
          <p:cNvPr id="11"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SM4</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分组密码算法设计原理</a:t>
            </a:r>
          </a:p>
        </p:txBody>
      </p:sp>
      <p:sp>
        <p:nvSpPr>
          <p:cNvPr id="12"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4.2</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3">
            <a:alphaModFix amt="80000"/>
          </a:blip>
          <a:stretch>
            <a:fillRect/>
          </a:stretch>
        </p:blipFill>
        <p:spPr>
          <a:xfrm>
            <a:off x="840740"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1371600" y="1691640"/>
                <a:ext cx="15727680" cy="7491095"/>
              </a:xfrm>
              <a:prstGeom prst="rect">
                <a:avLst/>
              </a:prstGeom>
              <a:noFill/>
            </p:spPr>
            <p:txBody>
              <a:bodyPr wrap="square">
                <a:spAutoFit/>
              </a:bodyPr>
              <a:lstStyle/>
              <a:p>
                <a:pPr defTabSz="457200">
                  <a:lnSpc>
                    <a:spcPct val="140000"/>
                  </a:lnSpc>
                  <a:spcAft>
                    <a:spcPts val="1000"/>
                  </a:spcAft>
                  <a:defRPr sz="2100" b="0">
                    <a:solidFill>
                      <a:srgbClr val="000000"/>
                    </a:solidFill>
                    <a:latin typeface="Times New Roman" panose="02020603050405020304"/>
                  </a:defRPr>
                </a:pPr>
                <a:r>
                  <a:rPr lang="en-US" sz="2800">
                    <a:latin typeface="Times New Roman" panose="02020603050405020304" pitchFamily="18" charset="0"/>
                    <a:ea typeface="宋体" panose="02010600030101010101" pitchFamily="2" charset="-122"/>
                  </a:rPr>
                  <a:t>        </a:t>
                </a:r>
                <a:r>
                  <a:rPr sz="2800">
                    <a:latin typeface="Times New Roman" panose="02020603050405020304" pitchFamily="18" charset="0"/>
                    <a:ea typeface="宋体" panose="02010600030101010101" pitchFamily="2" charset="-122"/>
                    <a:cs typeface="Times New Roman" panose="02020603050405020304" pitchFamily="18" charset="0"/>
                  </a:rPr>
                  <a:t>大部分分组密码算法都是Feistel网络，这个思想要追溯到20世纪70年代的早期。取一个长度为n的分组，n为偶数，然后将其分为长度为n/2的两部分L和R。定义一个迭代的分组密码算法，其第i轮的输出取决于前一轮的输出，即：</a:t>
                </a:r>
              </a:p>
              <a:p>
                <a:pPr defTabSz="457200">
                  <a:lnSpc>
                    <a:spcPct val="140000"/>
                  </a:lnSpc>
                  <a:spcAft>
                    <a:spcPts val="1000"/>
                  </a:spcAft>
                  <a:defRPr sz="2100" b="0">
                    <a:solidFill>
                      <a:srgbClr val="000000"/>
                    </a:solidFill>
                    <a:latin typeface="Times New Roman" panose="02020603050405020304"/>
                  </a:defRPr>
                </a:pPr>
                <a:r>
                  <a:rPr sz="2800">
                    <a:latin typeface="Times New Roman" panose="02020603050405020304" pitchFamily="18" charset="0"/>
                    <a:ea typeface="宋体" panose="02010600030101010101" pitchFamily="2" charset="-122"/>
                    <a:cs typeface="Times New Roman" panose="02020603050405020304" pitchFamily="18" charset="0"/>
                  </a:rPr>
                  <a:t>Lᵢ = Rᵢ</a:t>
                </a:r>
              </a:p>
              <a:p>
                <a:pPr defTabSz="457200">
                  <a:lnSpc>
                    <a:spcPct val="140000"/>
                  </a:lnSpc>
                  <a:spcAft>
                    <a:spcPts val="1000"/>
                  </a:spcAft>
                  <a:defRPr sz="2100" b="0">
                    <a:solidFill>
                      <a:srgbClr val="000000"/>
                    </a:solidFill>
                    <a:latin typeface="Times New Roman" panose="02020603050405020304"/>
                  </a:defRPr>
                </a:pPr>
                <a:r>
                  <a:rPr sz="2800">
                    <a:latin typeface="Times New Roman" panose="02020603050405020304" pitchFamily="18" charset="0"/>
                    <a:ea typeface="宋体" panose="02010600030101010101" pitchFamily="2" charset="-122"/>
                    <a:cs typeface="Times New Roman" panose="02020603050405020304" pitchFamily="18" charset="0"/>
                  </a:rPr>
                  <a:t>Rᵢ = Lᵢ₋₁ </a:t>
                </a:r>
                <a14:m>
                  <m:oMath xmlns:m="http://schemas.openxmlformats.org/officeDocument/2006/math">
                    <m:r>
                      <a:rPr lang="en-US" altLang="zh-CN" sz="2800" i="1">
                        <a:latin typeface="Cambria Math" panose="02040503050406030204" charset="0"/>
                        <a:ea typeface="MS Mincho" charset="0"/>
                        <a:cs typeface="Cambria Math" panose="02040503050406030204" charset="0"/>
                      </a:rPr>
                      <m:t>⊕</m:t>
                    </m:r>
                  </m:oMath>
                </a14:m>
                <a:r>
                  <a:rPr sz="2800">
                    <a:latin typeface="Times New Roman" panose="02020603050405020304" pitchFamily="18" charset="0"/>
                    <a:ea typeface="宋体" panose="02010600030101010101" pitchFamily="2" charset="-122"/>
                    <a:cs typeface="Times New Roman" panose="02020603050405020304" pitchFamily="18" charset="0"/>
                  </a:rPr>
                  <a:t> f(Rᵢ₋₁, kᵢ)                          （4.1）</a:t>
                </a:r>
              </a:p>
              <a:p>
                <a:pPr defTabSz="457200">
                  <a:lnSpc>
                    <a:spcPct val="140000"/>
                  </a:lnSpc>
                  <a:spcAft>
                    <a:spcPts val="1000"/>
                  </a:spcAft>
                  <a:defRPr sz="2100" b="0">
                    <a:solidFill>
                      <a:srgbClr val="000000"/>
                    </a:solidFill>
                    <a:latin typeface="Times New Roman" panose="02020603050405020304"/>
                  </a:defRPr>
                </a:pPr>
                <a:r>
                  <a:rPr sz="2800">
                    <a:latin typeface="Times New Roman" panose="02020603050405020304" pitchFamily="18" charset="0"/>
                    <a:ea typeface="宋体" panose="02010600030101010101" pitchFamily="2" charset="-122"/>
                    <a:cs typeface="Times New Roman" panose="02020603050405020304" pitchFamily="18" charset="0"/>
                  </a:rPr>
                  <a:t>其中，kᵢ是第i轮使用的子密钥；f是任意一轮函数。</a:t>
                </a:r>
              </a:p>
              <a:p>
                <a:pPr defTabSz="457200">
                  <a:lnSpc>
                    <a:spcPct val="140000"/>
                  </a:lnSpc>
                  <a:spcAft>
                    <a:spcPts val="1000"/>
                  </a:spcAft>
                  <a:defRPr sz="2100" b="0">
                    <a:solidFill>
                      <a:srgbClr val="000000"/>
                    </a:solidFill>
                    <a:latin typeface="Times New Roman" panose="02020603050405020304"/>
                  </a:defRPr>
                </a:pPr>
                <a:r>
                  <a:rPr sz="2800">
                    <a:latin typeface="Times New Roman" panose="02020603050405020304" pitchFamily="18" charset="0"/>
                    <a:ea typeface="宋体" panose="02010600030101010101" pitchFamily="2" charset="-122"/>
                    <a:cs typeface="Times New Roman" panose="02020603050405020304" pitchFamily="18" charset="0"/>
                  </a:rPr>
                  <a:t>该函数之所以能起这么大的作用，是因为其保证了可逆性，异或用来合并左半部分和轮函数的输出，满足如下公式：</a:t>
                </a:r>
              </a:p>
              <a:p>
                <a:pPr defTabSz="457200">
                  <a:lnSpc>
                    <a:spcPct val="140000"/>
                  </a:lnSpc>
                  <a:spcAft>
                    <a:spcPts val="1000"/>
                  </a:spcAft>
                  <a:defRPr sz="2100" b="0">
                    <a:solidFill>
                      <a:srgbClr val="000000"/>
                    </a:solidFill>
                    <a:latin typeface="Times New Roman" panose="02020603050405020304"/>
                  </a:defRPr>
                </a:pPr>
                <a:r>
                  <a:rPr sz="2800">
                    <a:latin typeface="Times New Roman" panose="02020603050405020304" pitchFamily="18" charset="0"/>
                    <a:ea typeface="宋体" panose="02010600030101010101" pitchFamily="2" charset="-122"/>
                    <a:cs typeface="Times New Roman" panose="02020603050405020304" pitchFamily="18" charset="0"/>
                  </a:rPr>
                  <a:t>Lᵢ₋₁ </a:t>
                </a:r>
                <a14:m>
                  <m:oMath xmlns:m="http://schemas.openxmlformats.org/officeDocument/2006/math">
                    <m:r>
                      <a:rPr lang="en-US" altLang="zh-CN" sz="2800" i="1">
                        <a:latin typeface="Cambria Math" panose="02040503050406030204" charset="0"/>
                        <a:ea typeface="MS Mincho" charset="0"/>
                        <a:cs typeface="Cambria Math" panose="02040503050406030204" charset="0"/>
                      </a:rPr>
                      <m:t>⊕</m:t>
                    </m:r>
                  </m:oMath>
                </a14:m>
                <a:r>
                  <a:rPr sz="2800">
                    <a:latin typeface="Times New Roman" panose="02020603050405020304" pitchFamily="18" charset="0"/>
                    <a:ea typeface="宋体" panose="02010600030101010101" pitchFamily="2" charset="-122"/>
                    <a:cs typeface="Times New Roman" panose="02020603050405020304" pitchFamily="18" charset="0"/>
                  </a:rPr>
                  <a:t> </a:t>
                </a:r>
                <a:r>
                  <a:rPr sz="2800">
                    <a:latin typeface="Times New Roman" panose="02020603050405020304" pitchFamily="18" charset="0"/>
                    <a:ea typeface="宋体" panose="02010600030101010101" pitchFamily="2" charset="-122"/>
                    <a:cs typeface="Times New Roman" panose="02020603050405020304" pitchFamily="18" charset="0"/>
                    <a:sym typeface="+mn-ea"/>
                  </a:rPr>
                  <a:t>f(Rᵢ₋₁, kᵢ)</a:t>
                </a:r>
                <a14:m>
                  <m:oMath xmlns:m="http://schemas.openxmlformats.org/officeDocument/2006/math">
                    <m:r>
                      <a:rPr lang="en-US" altLang="zh-CN" sz="2800" i="1">
                        <a:latin typeface="Cambria Math" panose="02040503050406030204" charset="0"/>
                        <a:ea typeface="MS Mincho" charset="0"/>
                        <a:cs typeface="Cambria Math" panose="02040503050406030204" charset="0"/>
                      </a:rPr>
                      <m:t>⊕</m:t>
                    </m:r>
                  </m:oMath>
                </a14:m>
                <a:r>
                  <a:rPr sz="2800">
                    <a:latin typeface="Times New Roman" panose="02020603050405020304" pitchFamily="18" charset="0"/>
                    <a:ea typeface="宋体" panose="02010600030101010101" pitchFamily="2" charset="-122"/>
                    <a:cs typeface="Times New Roman" panose="02020603050405020304" pitchFamily="18" charset="0"/>
                    <a:sym typeface="+mn-ea"/>
                  </a:rPr>
                  <a:t>f(Rᵢ₋₁, kᵢ)</a:t>
                </a:r>
                <a:r>
                  <a:rPr lang="en-US" sz="2800">
                    <a:latin typeface="Times New Roman" panose="02020603050405020304" pitchFamily="18" charset="0"/>
                    <a:ea typeface="宋体" panose="02010600030101010101" pitchFamily="2" charset="-122"/>
                    <a:cs typeface="Times New Roman" panose="02020603050405020304" pitchFamily="18" charset="0"/>
                    <a:sym typeface="+mn-ea"/>
                  </a:rPr>
                  <a:t>  =  </a:t>
                </a:r>
                <a:r>
                  <a:rPr sz="2800">
                    <a:latin typeface="Times New Roman" panose="02020603050405020304" pitchFamily="18" charset="0"/>
                    <a:ea typeface="宋体" panose="02010600030101010101" pitchFamily="2" charset="-122"/>
                    <a:cs typeface="Times New Roman" panose="02020603050405020304" pitchFamily="18" charset="0"/>
                    <a:sym typeface="+mn-ea"/>
                  </a:rPr>
                  <a:t>Lᵢ₋₁</a:t>
                </a:r>
                <a:r>
                  <a:rPr lang="en-US" sz="2800">
                    <a:latin typeface="Times New Roman" panose="02020603050405020304" pitchFamily="18" charset="0"/>
                    <a:ea typeface="宋体" panose="02010600030101010101" pitchFamily="2" charset="-122"/>
                    <a:cs typeface="Times New Roman" panose="02020603050405020304" pitchFamily="18" charset="0"/>
                    <a:sym typeface="+mn-ea"/>
                  </a:rPr>
                  <a:t>    </a:t>
                </a:r>
                <a:r>
                  <a:rPr sz="2800">
                    <a:latin typeface="Times New Roman" panose="02020603050405020304" pitchFamily="18" charset="0"/>
                    <a:ea typeface="宋体" panose="02010600030101010101" pitchFamily="2" charset="-122"/>
                    <a:cs typeface="Times New Roman" panose="02020603050405020304" pitchFamily="18" charset="0"/>
                  </a:rPr>
                  <a:t>（4.2）</a:t>
                </a:r>
              </a:p>
              <a:p>
                <a:pPr defTabSz="457200">
                  <a:lnSpc>
                    <a:spcPct val="140000"/>
                  </a:lnSpc>
                  <a:spcAft>
                    <a:spcPts val="1000"/>
                  </a:spcAft>
                  <a:defRPr sz="2100" b="0">
                    <a:solidFill>
                      <a:srgbClr val="000000"/>
                    </a:solidFill>
                    <a:latin typeface="Times New Roman" panose="02020603050405020304"/>
                  </a:defRPr>
                </a:pPr>
                <a:r>
                  <a:rPr sz="2800">
                    <a:latin typeface="Times New Roman" panose="02020603050405020304" pitchFamily="18" charset="0"/>
                    <a:ea typeface="宋体" panose="02010600030101010101" pitchFamily="2" charset="-122"/>
                    <a:cs typeface="Times New Roman" panose="02020603050405020304" pitchFamily="18" charset="0"/>
                  </a:rPr>
                  <a:t>在保证f的输入能重新构造的情况下，使用这种结构的密钥就可保证它是可逆的。可以构造高复杂度的f函数，不用在意其可逆性，也不需要实现加密和解密两种不同算法，Feistel网络可自动实现。</a:t>
                </a:r>
              </a:p>
            </p:txBody>
          </p:sp>
        </mc:Choice>
        <mc:Fallback xmlns="">
          <p:sp>
            <p:nvSpPr>
              <p:cNvPr id="5" name="TextBox 4"/>
              <p:cNvSpPr txBox="1">
                <a:spLocks noRot="1" noChangeAspect="1" noMove="1" noResize="1" noEditPoints="1" noAdjustHandles="1" noChangeArrowheads="1" noChangeShapeType="1" noTextEdit="1"/>
              </p:cNvSpPr>
              <p:nvPr/>
            </p:nvSpPr>
            <p:spPr>
              <a:xfrm>
                <a:off x="1371600" y="1691640"/>
                <a:ext cx="15727680" cy="7491095"/>
              </a:xfrm>
              <a:prstGeom prst="rect">
                <a:avLst/>
              </a:prstGeom>
              <a:blipFill rotWithShape="1">
                <a:blip r:embed="rId2"/>
                <a:stretch>
                  <a:fillRect r="-65"/>
                </a:stretch>
              </a:blipFill>
            </p:spPr>
            <p:txBody>
              <a:bodyPr/>
              <a:lstStyle/>
              <a:p>
                <a:r>
                  <a:rPr lang="zh-CN" altLang="en-US">
                    <a:noFill/>
                  </a:rPr>
                  <a:t> </a:t>
                </a:r>
              </a:p>
            </p:txBody>
          </p:sp>
        </mc:Fallback>
      </mc:AlternateContent>
      <p:sp>
        <p:nvSpPr>
          <p:cNvPr id="6" name="TextBox 5"/>
          <p:cNvSpPr txBox="1"/>
          <p:nvPr/>
        </p:nvSpPr>
        <p:spPr>
          <a:xfrm>
            <a:off x="17312132" y="9409176"/>
            <a:ext cx="363220" cy="306705"/>
          </a:xfrm>
          <a:prstGeom prst="rect">
            <a:avLst/>
          </a:prstGeom>
          <a:noFill/>
        </p:spPr>
        <p:txBody>
          <a:bodyPr wrap="none">
            <a:spAutoFit/>
          </a:bodyPr>
          <a:lstStyle/>
          <a:p>
            <a:pPr algn="r" defTabSz="457200">
              <a:defRPr sz="1800">
                <a:solidFill>
                  <a:srgbClr val="000000"/>
                </a:solidFill>
                <a:latin typeface="Times New Roman" panose="02020603050405020304"/>
              </a:defRPr>
            </a:pPr>
            <a:r>
              <a:rPr lang="en-US" sz="1400">
                <a:solidFill>
                  <a:srgbClr val="FFC000"/>
                </a:solidFill>
                <a:latin typeface="+mn-lt"/>
              </a:rPr>
              <a:t>20</a:t>
            </a:r>
            <a:endParaRPr lang="en-US" sz="2000"/>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3"/>
            <a:stretch>
              <a:fillRect/>
            </a:stretch>
          </p:blipFill>
          <p:spPr>
            <a:xfrm>
              <a:off x="13944600" y="877286"/>
              <a:ext cx="2771429" cy="47619"/>
            </a:xfrm>
            <a:prstGeom prst="rect">
              <a:avLst/>
            </a:prstGeom>
          </p:spPr>
        </p:pic>
      </p:grpSp>
      <p:sp>
        <p:nvSpPr>
          <p:cNvPr id="8"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非平衡</a:t>
            </a: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Feistel</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网络</a:t>
            </a:r>
          </a:p>
        </p:txBody>
      </p:sp>
      <p:sp>
        <p:nvSpPr>
          <p:cNvPr id="9"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4.2.1</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pic>
        <p:nvPicPr>
          <p:cNvPr id="10" name="图片 2"/>
          <p:cNvPicPr>
            <a:picLocks noChangeAspect="1"/>
          </p:cNvPicPr>
          <p:nvPr/>
        </p:nvPicPr>
        <p:blipFill>
          <a:blip r:embed="rId4">
            <a:alphaModFix amt="80000"/>
          </a:blip>
          <a:stretch>
            <a:fillRect/>
          </a:stretch>
        </p:blipFill>
        <p:spPr>
          <a:xfrm>
            <a:off x="643255"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71600" y="1554480"/>
            <a:ext cx="15727680" cy="3707765"/>
          </a:xfrm>
          <a:prstGeom prst="rect">
            <a:avLst/>
          </a:prstGeom>
          <a:noFill/>
        </p:spPr>
        <p:txBody>
          <a:bodyPr wrap="square">
            <a:spAutoFit/>
          </a:bodyPr>
          <a:lstStyle/>
          <a:p>
            <a:pPr defTabSz="457200">
              <a:lnSpc>
                <a:spcPct val="140000"/>
              </a:lnSpc>
              <a:spcAft>
                <a:spcPts val="1000"/>
              </a:spcAft>
              <a:defRPr sz="2200" b="0">
                <a:solidFill>
                  <a:srgbClr val="000000"/>
                </a:solidFill>
                <a:latin typeface="Times New Roman" panose="02020603050405020304"/>
              </a:defRPr>
            </a:pPr>
            <a:r>
              <a:rPr lang="en-US" sz="2800">
                <a:latin typeface="Times New Roman" panose="02020603050405020304" pitchFamily="18" charset="0"/>
                <a:ea typeface="宋体" panose="02010600030101010101" pitchFamily="2" charset="-122"/>
              </a:rPr>
              <a:t>     </a:t>
            </a:r>
            <a:r>
              <a:rPr sz="2800">
                <a:latin typeface="Times New Roman" panose="02020603050405020304" pitchFamily="18" charset="0"/>
                <a:ea typeface="宋体" panose="02010600030101010101" pitchFamily="2" charset="-122"/>
                <a:cs typeface="Times New Roman" panose="02020603050405020304" pitchFamily="18" charset="0"/>
              </a:rPr>
              <a:t>Feistel结构同样存在弊端。众所周知，过去的分组密码都是64bit分组长度，而随着计算能力的提高，现在设计的分组密码都要求至少128bit分组长度。对于传统的Feistel网络，分组长度的增加意味着轮函数f规模的增加，而构造大规模的轮函数又是比较困难的，因此便提出了采用非平衡Feistel网络对较大的明文分组进行加密的方法。将明文分为n个运算字，进行n次迭代就能将明文全部覆盖一遍。第一种非平衡Feistel网络如图4.4所示，第二种非平衡Feistel网络如图4.5所示，SM4分组密码算法所采用的网络结构与第二种非平衡Feistel网络类似。</a:t>
            </a:r>
          </a:p>
        </p:txBody>
      </p:sp>
      <p:pic>
        <p:nvPicPr>
          <p:cNvPr id="6" name="Picture 5" descr="image65.png"/>
          <p:cNvPicPr>
            <a:picLocks noChangeAspect="1"/>
          </p:cNvPicPr>
          <p:nvPr/>
        </p:nvPicPr>
        <p:blipFill>
          <a:blip r:embed="rId2"/>
          <a:stretch>
            <a:fillRect/>
          </a:stretch>
        </p:blipFill>
        <p:spPr>
          <a:xfrm>
            <a:off x="1371600" y="5306060"/>
            <a:ext cx="7315200" cy="3645544"/>
          </a:xfrm>
          <a:prstGeom prst="rect">
            <a:avLst/>
          </a:prstGeom>
        </p:spPr>
      </p:pic>
      <p:pic>
        <p:nvPicPr>
          <p:cNvPr id="7" name="Picture 6" descr="image66.png"/>
          <p:cNvPicPr>
            <a:picLocks noChangeAspect="1"/>
          </p:cNvPicPr>
          <p:nvPr/>
        </p:nvPicPr>
        <p:blipFill>
          <a:blip r:embed="rId3"/>
          <a:stretch>
            <a:fillRect/>
          </a:stretch>
        </p:blipFill>
        <p:spPr>
          <a:xfrm>
            <a:off x="9601200" y="5320665"/>
            <a:ext cx="7315200" cy="3630930"/>
          </a:xfrm>
          <a:prstGeom prst="rect">
            <a:avLst/>
          </a:prstGeom>
        </p:spPr>
      </p:pic>
      <p:sp>
        <p:nvSpPr>
          <p:cNvPr id="8" name="TextBox 7"/>
          <p:cNvSpPr txBox="1"/>
          <p:nvPr/>
        </p:nvSpPr>
        <p:spPr>
          <a:xfrm>
            <a:off x="3233738" y="9043670"/>
            <a:ext cx="3590925" cy="398780"/>
          </a:xfrm>
          <a:prstGeom prst="rect">
            <a:avLst/>
          </a:prstGeom>
          <a:noFill/>
        </p:spPr>
        <p:txBody>
          <a:bodyPr wrap="none">
            <a:spAutoFit/>
          </a:bodyPr>
          <a:lstStyle/>
          <a:p>
            <a:pPr algn="ctr" defTabSz="457200">
              <a:defRPr sz="2000">
                <a:latin typeface="仿宋" panose="02010609060101010101" charset="-122"/>
              </a:defRPr>
            </a:pPr>
            <a:r>
              <a:rPr>
                <a:latin typeface="Times New Roman" panose="02020603050405020304" pitchFamily="18" charset="0"/>
                <a:cs typeface="Times New Roman" panose="02020603050405020304" pitchFamily="18" charset="0"/>
              </a:rPr>
              <a:t>图4.4  第一种非平衡Feistel网络</a:t>
            </a:r>
          </a:p>
        </p:txBody>
      </p:sp>
      <p:sp>
        <p:nvSpPr>
          <p:cNvPr id="9" name="TextBox 8"/>
          <p:cNvSpPr txBox="1"/>
          <p:nvPr/>
        </p:nvSpPr>
        <p:spPr>
          <a:xfrm>
            <a:off x="11821478" y="9057005"/>
            <a:ext cx="3590925" cy="398780"/>
          </a:xfrm>
          <a:prstGeom prst="rect">
            <a:avLst/>
          </a:prstGeom>
          <a:noFill/>
        </p:spPr>
        <p:txBody>
          <a:bodyPr wrap="none">
            <a:spAutoFit/>
          </a:bodyPr>
          <a:lstStyle/>
          <a:p>
            <a:pPr algn="ctr" defTabSz="457200">
              <a:defRPr sz="2000">
                <a:latin typeface="仿宋" panose="02010609060101010101" charset="-122"/>
              </a:defRPr>
            </a:pPr>
            <a:r>
              <a:rPr>
                <a:latin typeface="Times New Roman" panose="02020603050405020304" pitchFamily="18" charset="0"/>
                <a:cs typeface="Times New Roman" panose="02020603050405020304" pitchFamily="18" charset="0"/>
              </a:rPr>
              <a:t>图4.5  第二种非平衡Feistel网络</a:t>
            </a:r>
          </a:p>
        </p:txBody>
      </p:sp>
      <p:sp>
        <p:nvSpPr>
          <p:cNvPr id="10" name="TextBox 9"/>
          <p:cNvSpPr txBox="1"/>
          <p:nvPr/>
        </p:nvSpPr>
        <p:spPr>
          <a:xfrm>
            <a:off x="17312132" y="9409176"/>
            <a:ext cx="363220" cy="306705"/>
          </a:xfrm>
          <a:prstGeom prst="rect">
            <a:avLst/>
          </a:prstGeom>
          <a:noFill/>
        </p:spPr>
        <p:txBody>
          <a:bodyPr wrap="none">
            <a:spAutoFit/>
          </a:bodyPr>
          <a:lstStyle/>
          <a:p>
            <a:pPr algn="r" defTabSz="457200">
              <a:defRPr sz="1800">
                <a:solidFill>
                  <a:srgbClr val="000000"/>
                </a:solidFill>
                <a:latin typeface="Times New Roman" panose="02020603050405020304"/>
              </a:defRPr>
            </a:pPr>
            <a:r>
              <a:rPr lang="en-US" sz="1400">
                <a:solidFill>
                  <a:srgbClr val="FFC000"/>
                </a:solidFill>
                <a:latin typeface="+mn-lt"/>
              </a:rPr>
              <a:t>21</a:t>
            </a:r>
            <a:endParaRPr lang="en-US" sz="2000"/>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4"/>
            <a:stretch>
              <a:fillRect/>
            </a:stretch>
          </p:blipFill>
          <p:spPr>
            <a:xfrm>
              <a:off x="13944600" y="877286"/>
              <a:ext cx="2771429" cy="47619"/>
            </a:xfrm>
            <a:prstGeom prst="rect">
              <a:avLst/>
            </a:prstGeom>
          </p:spPr>
        </p:pic>
      </p:grpSp>
      <p:sp>
        <p:nvSpPr>
          <p:cNvPr id="11"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非平衡</a:t>
            </a: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Feistel</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网络</a:t>
            </a:r>
          </a:p>
        </p:txBody>
      </p:sp>
      <p:sp>
        <p:nvSpPr>
          <p:cNvPr id="12"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4.2.1</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5">
            <a:alphaModFix amt="80000"/>
          </a:blip>
          <a:stretch>
            <a:fillRect/>
          </a:stretch>
        </p:blipFill>
        <p:spPr>
          <a:xfrm>
            <a:off x="643255"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71600" y="1691640"/>
            <a:ext cx="15727680" cy="6631305"/>
          </a:xfrm>
          <a:prstGeom prst="rect">
            <a:avLst/>
          </a:prstGeom>
          <a:noFill/>
        </p:spPr>
        <p:txBody>
          <a:bodyPr wrap="square">
            <a:spAutoFit/>
          </a:bodyPr>
          <a:lstStyle/>
          <a:p>
            <a:pPr defTabSz="457200">
              <a:lnSpc>
                <a:spcPct val="140000"/>
              </a:lnSpc>
              <a:spcAft>
                <a:spcPts val="1000"/>
              </a:spcAft>
              <a:defRPr sz="2100" b="0">
                <a:solidFill>
                  <a:srgbClr val="000000"/>
                </a:solidFill>
                <a:latin typeface="Times New Roman" panose="02020603050405020304"/>
              </a:defRPr>
            </a:pPr>
            <a:r>
              <a:rPr lang="en-US" sz="2800"/>
              <a:t>    </a:t>
            </a:r>
            <a:r>
              <a:rPr sz="2800">
                <a:latin typeface="Times New Roman" panose="02020603050405020304" pitchFamily="18" charset="0"/>
                <a:cs typeface="Times New Roman" panose="02020603050405020304" pitchFamily="18" charset="0"/>
              </a:rPr>
              <a:t>非平衡Feistel网络改善了不完全Feistel网络的混淆并提高了扩散效率，其最大的优点是能够直接重用过去的轮函数。以上两种非平衡Feistel网络还有其各自的优点。</a:t>
            </a:r>
          </a:p>
          <a:p>
            <a:pPr defTabSz="457200">
              <a:lnSpc>
                <a:spcPct val="140000"/>
              </a:lnSpc>
              <a:spcAft>
                <a:spcPts val="1000"/>
              </a:spcAft>
              <a:defRPr sz="2100" b="0">
                <a:solidFill>
                  <a:srgbClr val="000000"/>
                </a:solidFill>
                <a:latin typeface="Times New Roman" panose="02020603050405020304"/>
              </a:defRPr>
            </a:pPr>
            <a:endParaRPr sz="2800">
              <a:latin typeface="Times New Roman" panose="02020603050405020304" pitchFamily="18" charset="0"/>
              <a:cs typeface="Times New Roman" panose="02020603050405020304" pitchFamily="18" charset="0"/>
            </a:endParaRPr>
          </a:p>
          <a:p>
            <a:pPr defTabSz="457200">
              <a:lnSpc>
                <a:spcPct val="140000"/>
              </a:lnSpc>
              <a:spcAft>
                <a:spcPts val="1000"/>
              </a:spcAft>
              <a:defRPr sz="2100" b="0">
                <a:solidFill>
                  <a:srgbClr val="000000"/>
                </a:solidFill>
                <a:latin typeface="Times New Roman" panose="02020603050405020304"/>
              </a:defRPr>
            </a:pPr>
            <a:r>
              <a:rPr lang="en-US" sz="2800">
                <a:latin typeface="Times New Roman" panose="02020603050405020304" pitchFamily="18" charset="0"/>
                <a:cs typeface="Times New Roman" panose="02020603050405020304" pitchFamily="18" charset="0"/>
              </a:rPr>
              <a:t>    </a:t>
            </a:r>
            <a:r>
              <a:rPr sz="2800">
                <a:latin typeface="Times New Roman" panose="02020603050405020304" pitchFamily="18" charset="0"/>
                <a:cs typeface="Times New Roman" panose="02020603050405020304" pitchFamily="18" charset="0"/>
              </a:rPr>
              <a:t>第一种非平衡Feistel网络中的非线性函数f输入为1个字，输出为n-1个字，因此f是一个伪随机序列发生器。对于每一轮迭代，输入的1个字可扩散到输出的n-1个字，扩散效率很高，但不可能扩散到字的每一位，且被覆盖的任意一个输出字只依赖于密钥和两个输入字。</a:t>
            </a:r>
          </a:p>
          <a:p>
            <a:pPr defTabSz="457200">
              <a:lnSpc>
                <a:spcPct val="140000"/>
              </a:lnSpc>
              <a:spcAft>
                <a:spcPts val="1000"/>
              </a:spcAft>
              <a:defRPr sz="2100" b="0">
                <a:solidFill>
                  <a:srgbClr val="000000"/>
                </a:solidFill>
                <a:latin typeface="Times New Roman" panose="02020603050405020304"/>
              </a:defRPr>
            </a:pPr>
            <a:endParaRPr sz="2800">
              <a:latin typeface="Times New Roman" panose="02020603050405020304" pitchFamily="18" charset="0"/>
              <a:cs typeface="Times New Roman" panose="02020603050405020304" pitchFamily="18" charset="0"/>
            </a:endParaRPr>
          </a:p>
          <a:p>
            <a:pPr defTabSz="457200">
              <a:lnSpc>
                <a:spcPct val="140000"/>
              </a:lnSpc>
              <a:spcAft>
                <a:spcPts val="1000"/>
              </a:spcAft>
              <a:defRPr sz="2100" b="0">
                <a:solidFill>
                  <a:srgbClr val="000000"/>
                </a:solidFill>
                <a:latin typeface="Times New Roman" panose="02020603050405020304"/>
              </a:defRPr>
            </a:pPr>
            <a:r>
              <a:rPr lang="en-US" sz="2800">
                <a:latin typeface="Times New Roman" panose="02020603050405020304" pitchFamily="18" charset="0"/>
                <a:cs typeface="Times New Roman" panose="02020603050405020304" pitchFamily="18" charset="0"/>
              </a:rPr>
              <a:t>    </a:t>
            </a:r>
            <a:r>
              <a:rPr sz="2800">
                <a:latin typeface="Times New Roman" panose="02020603050405020304" pitchFamily="18" charset="0"/>
                <a:cs typeface="Times New Roman" panose="02020603050405020304" pitchFamily="18" charset="0"/>
              </a:rPr>
              <a:t>第二种非平衡Feistel网络中的非线性函数f的输入为n-1个字，输出为1个字，因此f是一个伪随机压缩函数。对于每一轮迭代，输入的n-1个字和密钥可扩散到输出的1个字，扩散效率不高，但可能扩散到了字的每一位，且被覆盖的输出字依赖于密钥和n-1个输入字。</a:t>
            </a:r>
          </a:p>
        </p:txBody>
      </p:sp>
      <p:sp>
        <p:nvSpPr>
          <p:cNvPr id="6" name="TextBox 5"/>
          <p:cNvSpPr txBox="1"/>
          <p:nvPr/>
        </p:nvSpPr>
        <p:spPr>
          <a:xfrm>
            <a:off x="17312132" y="9409176"/>
            <a:ext cx="363220" cy="306705"/>
          </a:xfrm>
          <a:prstGeom prst="rect">
            <a:avLst/>
          </a:prstGeom>
          <a:noFill/>
        </p:spPr>
        <p:txBody>
          <a:bodyPr wrap="none">
            <a:spAutoFit/>
          </a:bodyPr>
          <a:lstStyle/>
          <a:p>
            <a:pPr algn="r" defTabSz="457200">
              <a:defRPr sz="1800">
                <a:solidFill>
                  <a:srgbClr val="000000"/>
                </a:solidFill>
                <a:latin typeface="Times New Roman" panose="02020603050405020304"/>
              </a:defRPr>
            </a:pPr>
            <a:r>
              <a:rPr lang="en-US" sz="1400">
                <a:solidFill>
                  <a:srgbClr val="FFC000"/>
                </a:solidFill>
                <a:latin typeface="+mn-lt"/>
              </a:rPr>
              <a:t>22</a:t>
            </a:r>
            <a:endParaRPr lang="en-US" sz="2000"/>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
        <p:nvSpPr>
          <p:cNvPr id="8"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非平衡</a:t>
            </a: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Feistel</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网络</a:t>
            </a:r>
          </a:p>
        </p:txBody>
      </p:sp>
      <p:sp>
        <p:nvSpPr>
          <p:cNvPr id="9"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4.2.1</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pic>
        <p:nvPicPr>
          <p:cNvPr id="10" name="图片 2"/>
          <p:cNvPicPr>
            <a:picLocks noChangeAspect="1"/>
          </p:cNvPicPr>
          <p:nvPr/>
        </p:nvPicPr>
        <p:blipFill>
          <a:blip r:embed="rId3">
            <a:alphaModFix amt="80000"/>
          </a:blip>
          <a:stretch>
            <a:fillRect/>
          </a:stretch>
        </p:blipFill>
        <p:spPr>
          <a:xfrm>
            <a:off x="643255"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1371600" y="1691640"/>
                <a:ext cx="15727680" cy="8604250"/>
              </a:xfrm>
              <a:prstGeom prst="rect">
                <a:avLst/>
              </a:prstGeom>
              <a:noFill/>
            </p:spPr>
            <p:txBody>
              <a:bodyPr wrap="square">
                <a:spAutoFit/>
              </a:bodyPr>
              <a:lstStyle/>
              <a:p>
                <a:pPr defTabSz="457200">
                  <a:lnSpc>
                    <a:spcPct val="140000"/>
                  </a:lnSpc>
                  <a:spcAft>
                    <a:spcPts val="1000"/>
                  </a:spcAft>
                  <a:defRPr sz="2000" b="0">
                    <a:solidFill>
                      <a:srgbClr val="000000"/>
                    </a:solidFill>
                    <a:latin typeface="Times New Roman" panose="02020603050405020304"/>
                  </a:defRPr>
                </a:pPr>
                <a:r>
                  <a:rPr lang="en-US" sz="2800">
                    <a:latin typeface="Times New Roman" panose="02020603050405020304" pitchFamily="18" charset="0"/>
                    <a:ea typeface="宋体" panose="02010600030101010101" pitchFamily="2" charset="-122"/>
                  </a:rPr>
                  <a:t>    </a:t>
                </a:r>
                <a:r>
                  <a:rPr sz="2800">
                    <a:latin typeface="Times New Roman" panose="02020603050405020304" pitchFamily="18" charset="0"/>
                    <a:ea typeface="宋体" panose="02010600030101010101" pitchFamily="2" charset="-122"/>
                    <a:cs typeface="Times New Roman" panose="02020603050405020304" pitchFamily="18" charset="0"/>
                  </a:rPr>
                  <a:t>前面已经提到，T变换是由非线性变换τ和线性变换L复合而成的，在SM4分组密码算法中起到了混淆和扩散的作用。</a:t>
                </a:r>
              </a:p>
              <a:p>
                <a:pPr defTabSz="457200">
                  <a:lnSpc>
                    <a:spcPct val="140000"/>
                  </a:lnSpc>
                  <a:spcAft>
                    <a:spcPts val="1000"/>
                  </a:spcAft>
                  <a:defRPr sz="2000" b="0">
                    <a:solidFill>
                      <a:srgbClr val="000000"/>
                    </a:solidFill>
                    <a:latin typeface="Times New Roman" panose="02020603050405020304"/>
                  </a:defRPr>
                </a:pPr>
                <a:r>
                  <a:rPr sz="2800" b="1">
                    <a:latin typeface="Times New Roman" panose="02020603050405020304" pitchFamily="18" charset="0"/>
                    <a:ea typeface="宋体" panose="02010600030101010101" pitchFamily="2" charset="-122"/>
                    <a:cs typeface="Times New Roman" panose="02020603050405020304" pitchFamily="18" charset="0"/>
                  </a:rPr>
                  <a:t>1.非线性变换τ</a:t>
                </a:r>
              </a:p>
              <a:p>
                <a:pPr defTabSz="457200">
                  <a:lnSpc>
                    <a:spcPct val="140000"/>
                  </a:lnSpc>
                  <a:spcAft>
                    <a:spcPts val="1000"/>
                  </a:spcAft>
                  <a:defRPr sz="2000" b="0">
                    <a:solidFill>
                      <a:srgbClr val="000000"/>
                    </a:solidFill>
                    <a:latin typeface="Times New Roman" panose="02020603050405020304"/>
                  </a:defRPr>
                </a:pPr>
                <a:r>
                  <a:rPr lang="en-US" sz="2800">
                    <a:latin typeface="Times New Roman" panose="02020603050405020304" pitchFamily="18" charset="0"/>
                    <a:ea typeface="宋体" panose="02010600030101010101" pitchFamily="2" charset="-122"/>
                    <a:cs typeface="Times New Roman" panose="02020603050405020304" pitchFamily="18" charset="0"/>
                  </a:rPr>
                  <a:t>    </a:t>
                </a:r>
                <a:r>
                  <a:rPr sz="2800">
                    <a:latin typeface="Times New Roman" panose="02020603050405020304" pitchFamily="18" charset="0"/>
                    <a:ea typeface="宋体" panose="02010600030101010101" pitchFamily="2" charset="-122"/>
                    <a:cs typeface="Times New Roman" panose="02020603050405020304" pitchFamily="18" charset="0"/>
                  </a:rPr>
                  <a:t>SM4分组密码算法的非线性变换τ是一种以字为单位的非线性代替变换，它由4个S盒并置构成，本质上是S盒的一种并行应用，即将32位的字分为4个8位的字节分别进行S盒置换，因此其混淆作用体现在S盒中。</a:t>
                </a:r>
              </a:p>
              <a:p>
                <a:pPr defTabSz="457200">
                  <a:lnSpc>
                    <a:spcPct val="140000"/>
                  </a:lnSpc>
                  <a:spcAft>
                    <a:spcPts val="1000"/>
                  </a:spcAft>
                  <a:defRPr sz="2000" b="0">
                    <a:solidFill>
                      <a:srgbClr val="000000"/>
                    </a:solidFill>
                    <a:latin typeface="Times New Roman" panose="02020603050405020304"/>
                  </a:defRPr>
                </a:pPr>
                <a:r>
                  <a:rPr lang="en-US" sz="2800">
                    <a:latin typeface="Times New Roman" panose="02020603050405020304" pitchFamily="18" charset="0"/>
                    <a:ea typeface="宋体" panose="02010600030101010101" pitchFamily="2" charset="-122"/>
                    <a:cs typeface="Times New Roman" panose="02020603050405020304" pitchFamily="18" charset="0"/>
                  </a:rPr>
                  <a:t>    </a:t>
                </a:r>
                <a:r>
                  <a:rPr sz="2800">
                    <a:latin typeface="Times New Roman" panose="02020603050405020304" pitchFamily="18" charset="0"/>
                    <a:ea typeface="宋体" panose="02010600030101010101" pitchFamily="2" charset="-122"/>
                    <a:cs typeface="Times New Roman" panose="02020603050405020304" pitchFamily="18" charset="0"/>
                  </a:rPr>
                  <a:t>SM4分组密码算法的S盒是一个8元输入8元输出的布尔函数，简称8进8出S盒，即 S</a:t>
                </a:r>
                <a:r>
                  <a:rPr lang="en-US" sz="2800">
                    <a:latin typeface="Times New Roman" panose="02020603050405020304" pitchFamily="18" charset="0"/>
                    <a:ea typeface="宋体" panose="02010600030101010101" pitchFamily="2" charset="-122"/>
                    <a:cs typeface="Times New Roman" panose="02020603050405020304" pitchFamily="18" charset="0"/>
                  </a:rPr>
                  <a:t>(x)</a:t>
                </a:r>
                <a:r>
                  <a:rPr sz="2800">
                    <a:latin typeface="Times New Roman" panose="02020603050405020304" pitchFamily="18" charset="0"/>
                    <a:ea typeface="宋体" panose="02010600030101010101" pitchFamily="2" charset="-122"/>
                    <a:cs typeface="Times New Roman" panose="02020603050405020304" pitchFamily="18" charset="0"/>
                  </a:rPr>
                  <a:t>: </a:t>
                </a:r>
                <a14:m>
                  <m:oMath xmlns:m="http://schemas.openxmlformats.org/officeDocument/2006/math">
                    <m:sSubSup>
                      <m:sSubSupPr>
                        <m:ctrlPr>
                          <a:rPr lang="en-US" sz="2800" i="1">
                            <a:latin typeface="Cambria Math" panose="02040503050406030204" charset="0"/>
                            <a:ea typeface="宋体" panose="02010600030101010101" pitchFamily="2" charset="-122"/>
                            <a:cs typeface="Cambria Math" panose="02040503050406030204" charset="0"/>
                            <a:sym typeface="+mn-ea"/>
                          </a:rPr>
                        </m:ctrlPr>
                      </m:sSubSupPr>
                      <m:e>
                        <m:r>
                          <a:rPr lang="en-US" sz="2800" i="1">
                            <a:latin typeface="Cambria Math" panose="02040503050406030204" charset="0"/>
                            <a:ea typeface="宋体" panose="02010600030101010101" pitchFamily="2" charset="-122"/>
                            <a:cs typeface="Cambria Math" panose="02040503050406030204" charset="0"/>
                            <a:sym typeface="+mn-ea"/>
                          </a:rPr>
                          <m:t>𝐹</m:t>
                        </m:r>
                      </m:e>
                      <m:sub>
                        <m:r>
                          <a:rPr lang="en-US" sz="2800" i="1">
                            <a:latin typeface="Cambria Math" panose="02040503050406030204" charset="0"/>
                            <a:ea typeface="MS Mincho" charset="0"/>
                            <a:cs typeface="Cambria Math" panose="02040503050406030204" charset="0"/>
                            <a:sym typeface="+mn-ea"/>
                          </a:rPr>
                          <m:t>2</m:t>
                        </m:r>
                      </m:sub>
                      <m:sup>
                        <m:r>
                          <a:rPr lang="en-US" sz="2800" i="1">
                            <a:latin typeface="Cambria Math" panose="02040503050406030204" charset="0"/>
                            <a:ea typeface="MS Mincho" charset="0"/>
                            <a:cs typeface="Cambria Math" panose="02040503050406030204" charset="0"/>
                            <a:sym typeface="+mn-ea"/>
                          </a:rPr>
                          <m:t>8</m:t>
                        </m:r>
                      </m:sup>
                    </m:sSubSup>
                  </m:oMath>
                </a14:m>
                <a:r>
                  <a:rPr sz="2800">
                    <a:latin typeface="Times New Roman" panose="02020603050405020304" pitchFamily="18" charset="0"/>
                    <a:ea typeface="宋体" panose="02010600030101010101" pitchFamily="2" charset="-122"/>
                    <a:cs typeface="Times New Roman" panose="02020603050405020304" pitchFamily="18" charset="0"/>
                  </a:rPr>
                  <a:t> → </a:t>
                </a:r>
                <a14:m>
                  <m:oMath xmlns:m="http://schemas.openxmlformats.org/officeDocument/2006/math">
                    <m:sSubSup>
                      <m:sSubSupPr>
                        <m:ctrlPr>
                          <a:rPr lang="en-US" sz="2800" i="1">
                            <a:latin typeface="Cambria Math" panose="02040503050406030204" charset="0"/>
                            <a:ea typeface="宋体" panose="02010600030101010101" pitchFamily="2" charset="-122"/>
                            <a:cs typeface="Cambria Math" panose="02040503050406030204" charset="0"/>
                            <a:sym typeface="+mn-ea"/>
                          </a:rPr>
                        </m:ctrlPr>
                      </m:sSubSupPr>
                      <m:e>
                        <m:r>
                          <a:rPr lang="en-US" sz="2800" i="1">
                            <a:latin typeface="Cambria Math" panose="02040503050406030204" charset="0"/>
                            <a:ea typeface="宋体" panose="02010600030101010101" pitchFamily="2" charset="-122"/>
                            <a:cs typeface="Cambria Math" panose="02040503050406030204" charset="0"/>
                            <a:sym typeface="+mn-ea"/>
                          </a:rPr>
                          <m:t>𝐹</m:t>
                        </m:r>
                      </m:e>
                      <m:sub>
                        <m:r>
                          <a:rPr lang="en-US" sz="2800" i="1">
                            <a:latin typeface="Cambria Math" panose="02040503050406030204" charset="0"/>
                            <a:ea typeface="MS Mincho" charset="0"/>
                            <a:cs typeface="Cambria Math" panose="02040503050406030204" charset="0"/>
                            <a:sym typeface="+mn-ea"/>
                          </a:rPr>
                          <m:t>2</m:t>
                        </m:r>
                      </m:sub>
                      <m:sup>
                        <m:r>
                          <a:rPr lang="en-US" sz="2800" i="1">
                            <a:latin typeface="Cambria Math" panose="02040503050406030204" charset="0"/>
                            <a:ea typeface="MS Mincho" charset="0"/>
                            <a:cs typeface="Cambria Math" panose="02040503050406030204" charset="0"/>
                            <a:sym typeface="+mn-ea"/>
                          </a:rPr>
                          <m:t>8</m:t>
                        </m:r>
                      </m:sup>
                    </m:sSubSup>
                  </m:oMath>
                </a14:m>
                <a:r>
                  <a:rPr sz="2800">
                    <a:latin typeface="Times New Roman" panose="02020603050405020304" pitchFamily="18" charset="0"/>
                    <a:ea typeface="宋体" panose="02010600030101010101" pitchFamily="2" charset="-122"/>
                    <a:cs typeface="Times New Roman" panose="02020603050405020304" pitchFamily="18" charset="0"/>
                  </a:rPr>
                  <a:t>，是SM4的唯一非线性模块，提高了算法的非线性，隐藏其代数结构，提供了混淆作用。</a:t>
                </a:r>
              </a:p>
              <a:p>
                <a:pPr defTabSz="457200">
                  <a:lnSpc>
                    <a:spcPct val="140000"/>
                  </a:lnSpc>
                  <a:spcAft>
                    <a:spcPts val="1000"/>
                  </a:spcAft>
                  <a:defRPr sz="2000" b="0">
                    <a:solidFill>
                      <a:srgbClr val="000000"/>
                    </a:solidFill>
                    <a:latin typeface="Times New Roman" panose="02020603050405020304"/>
                  </a:defRPr>
                </a:pPr>
                <a:r>
                  <a:rPr sz="2800" b="1">
                    <a:latin typeface="Times New Roman" panose="02020603050405020304" pitchFamily="18" charset="0"/>
                    <a:ea typeface="宋体" panose="02010600030101010101" pitchFamily="2" charset="-122"/>
                    <a:cs typeface="Times New Roman" panose="02020603050405020304" pitchFamily="18" charset="0"/>
                  </a:rPr>
                  <a:t>2.线性变换L</a:t>
                </a:r>
              </a:p>
              <a:p>
                <a:pPr defTabSz="457200">
                  <a:lnSpc>
                    <a:spcPct val="140000"/>
                  </a:lnSpc>
                  <a:spcAft>
                    <a:spcPts val="1000"/>
                  </a:spcAft>
                  <a:defRPr sz="2000" b="0">
                    <a:solidFill>
                      <a:srgbClr val="000000"/>
                    </a:solidFill>
                    <a:latin typeface="Times New Roman" panose="02020603050405020304"/>
                  </a:defRPr>
                </a:pPr>
                <a:r>
                  <a:rPr lang="en-US" sz="2800">
                    <a:latin typeface="Times New Roman" panose="02020603050405020304" pitchFamily="18" charset="0"/>
                    <a:ea typeface="宋体" panose="02010600030101010101" pitchFamily="2" charset="-122"/>
                    <a:cs typeface="Times New Roman" panose="02020603050405020304" pitchFamily="18" charset="0"/>
                  </a:rPr>
                  <a:t>    </a:t>
                </a:r>
                <a:r>
                  <a:rPr sz="2800">
                    <a:latin typeface="Times New Roman" panose="02020603050405020304" pitchFamily="18" charset="0"/>
                    <a:ea typeface="宋体" panose="02010600030101010101" pitchFamily="2" charset="-122"/>
                    <a:cs typeface="Times New Roman" panose="02020603050405020304" pitchFamily="18" charset="0"/>
                  </a:rPr>
                  <a:t>线性变换L是以字为处理单位的线性变换，其输入/输出都是32位的字，主要起扩散作用。一个S盒输出的8bit仅与输入的8bit有关，与其他S盒的输出值无关。此时引入线性变换部件，在异或运算"</a:t>
                </a:r>
                <a14:m>
                  <m:oMath xmlns:m="http://schemas.openxmlformats.org/officeDocument/2006/math">
                    <m:r>
                      <a:rPr lang="en-US" altLang="zh-CN" sz="2800" i="1">
                        <a:latin typeface="Cambria Math" panose="02040503050406030204" charset="0"/>
                        <a:ea typeface="MS Mincho" charset="0"/>
                        <a:cs typeface="Cambria Math" panose="02040503050406030204" charset="0"/>
                      </a:rPr>
                      <m:t>⊕</m:t>
                    </m:r>
                  </m:oMath>
                </a14:m>
                <a:r>
                  <a:rPr sz="2800">
                    <a:latin typeface="Times New Roman" panose="02020603050405020304" pitchFamily="18" charset="0"/>
                    <a:ea typeface="宋体" panose="02010600030101010101" pitchFamily="2" charset="-122"/>
                    <a:cs typeface="Times New Roman" panose="02020603050405020304" pitchFamily="18" charset="0"/>
                  </a:rPr>
                  <a:t>"和循环移位"&lt;&lt;&lt;i"的结合运算下，可以使各S盒输出值打乱和混合，增加了各输出值的相关性，使S盒的输出值得到了扩散，使得密码算法能够抵抗拆分分析和线性分析。</a:t>
                </a:r>
              </a:p>
            </p:txBody>
          </p:sp>
        </mc:Choice>
        <mc:Fallback xmlns="">
          <p:sp>
            <p:nvSpPr>
              <p:cNvPr id="5" name="TextBox 4"/>
              <p:cNvSpPr txBox="1">
                <a:spLocks noRot="1" noChangeAspect="1" noMove="1" noResize="1" noEditPoints="1" noAdjustHandles="1" noChangeArrowheads="1" noChangeShapeType="1" noTextEdit="1"/>
              </p:cNvSpPr>
              <p:nvPr/>
            </p:nvSpPr>
            <p:spPr>
              <a:xfrm>
                <a:off x="1371600" y="1691640"/>
                <a:ext cx="15727680" cy="8604250"/>
              </a:xfrm>
              <a:prstGeom prst="rect">
                <a:avLst/>
              </a:prstGeom>
              <a:blipFill rotWithShape="1">
                <a:blip r:embed="rId2"/>
                <a:stretch>
                  <a:fillRect/>
                </a:stretch>
              </a:blipFill>
            </p:spPr>
            <p:txBody>
              <a:bodyPr/>
              <a:lstStyle/>
              <a:p>
                <a:r>
                  <a:rPr lang="zh-CN" altLang="en-US">
                    <a:noFill/>
                  </a:rPr>
                  <a:t> </a:t>
                </a:r>
              </a:p>
            </p:txBody>
          </p:sp>
        </mc:Fallback>
      </mc:AlternateContent>
      <p:sp>
        <p:nvSpPr>
          <p:cNvPr id="6" name="TextBox 5"/>
          <p:cNvSpPr txBox="1"/>
          <p:nvPr/>
        </p:nvSpPr>
        <p:spPr>
          <a:xfrm>
            <a:off x="17312132" y="9409176"/>
            <a:ext cx="363220" cy="306705"/>
          </a:xfrm>
          <a:prstGeom prst="rect">
            <a:avLst/>
          </a:prstGeom>
          <a:noFill/>
        </p:spPr>
        <p:txBody>
          <a:bodyPr wrap="none">
            <a:spAutoFit/>
          </a:bodyPr>
          <a:lstStyle/>
          <a:p>
            <a:pPr algn="r" defTabSz="457200">
              <a:defRPr sz="1800">
                <a:solidFill>
                  <a:srgbClr val="000000"/>
                </a:solidFill>
                <a:latin typeface="Times New Roman" panose="02020603050405020304"/>
              </a:defRPr>
            </a:pPr>
            <a:r>
              <a:rPr lang="en-US" sz="1400">
                <a:solidFill>
                  <a:srgbClr val="FFC000"/>
                </a:solidFill>
                <a:latin typeface="+mn-lt"/>
              </a:rPr>
              <a:t>23</a:t>
            </a:r>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3"/>
            <a:stretch>
              <a:fillRect/>
            </a:stretch>
          </p:blipFill>
          <p:spPr>
            <a:xfrm>
              <a:off x="13944600" y="877286"/>
              <a:ext cx="2771429" cy="47619"/>
            </a:xfrm>
            <a:prstGeom prst="rect">
              <a:avLst/>
            </a:prstGeom>
          </p:spPr>
        </p:pic>
      </p:grpSp>
      <p:sp>
        <p:nvSpPr>
          <p:cNvPr id="8"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T</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变换</a:t>
            </a:r>
          </a:p>
        </p:txBody>
      </p:sp>
      <p:sp>
        <p:nvSpPr>
          <p:cNvPr id="9"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4.2.2</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pic>
        <p:nvPicPr>
          <p:cNvPr id="10" name="图片 2"/>
          <p:cNvPicPr>
            <a:picLocks noChangeAspect="1"/>
          </p:cNvPicPr>
          <p:nvPr/>
        </p:nvPicPr>
        <p:blipFill>
          <a:blip r:embed="rId4">
            <a:alphaModFix amt="80000"/>
          </a:blip>
          <a:stretch>
            <a:fillRect/>
          </a:stretch>
        </p:blipFill>
        <p:spPr>
          <a:xfrm>
            <a:off x="643255"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71600" y="1691640"/>
            <a:ext cx="15727680" cy="6028690"/>
          </a:xfrm>
          <a:prstGeom prst="rect">
            <a:avLst/>
          </a:prstGeom>
          <a:noFill/>
        </p:spPr>
        <p:txBody>
          <a:bodyPr wrap="square">
            <a:spAutoFit/>
          </a:bodyPr>
          <a:lstStyle/>
          <a:p>
            <a:pPr defTabSz="457200">
              <a:lnSpc>
                <a:spcPct val="140000"/>
              </a:lnSpc>
              <a:spcAft>
                <a:spcPts val="1000"/>
              </a:spcAft>
              <a:defRPr sz="2100" b="0">
                <a:solidFill>
                  <a:srgbClr val="000000"/>
                </a:solidFill>
                <a:latin typeface="Times New Roman" panose="02020603050405020304"/>
              </a:defRPr>
            </a:pPr>
            <a:r>
              <a:rPr lang="en-US"/>
              <a:t>    </a:t>
            </a:r>
            <a:r>
              <a:rPr sz="2800">
                <a:latin typeface="Times New Roman" panose="02020603050405020304" pitchFamily="18" charset="0"/>
                <a:cs typeface="Times New Roman" panose="02020603050405020304" pitchFamily="18" charset="0"/>
              </a:rPr>
              <a:t>混淆原则和扩散原则是分组密码设计的两个基本原则。一个设计精良的分组密码体制应该以一类密码学特征良好的基础置换为主体来构造，其单轮运算应当基于一类密码学特征良好的基础置换。基础置换的密码学性质决定明密文变换的效率。</a:t>
            </a:r>
          </a:p>
          <a:p>
            <a:pPr defTabSz="457200">
              <a:lnSpc>
                <a:spcPct val="140000"/>
              </a:lnSpc>
              <a:spcAft>
                <a:spcPts val="1000"/>
              </a:spcAft>
              <a:defRPr sz="2100" b="0">
                <a:solidFill>
                  <a:srgbClr val="000000"/>
                </a:solidFill>
                <a:latin typeface="Times New Roman" panose="02020603050405020304"/>
              </a:defRPr>
            </a:pPr>
            <a:r>
              <a:rPr lang="en-US" sz="2800">
                <a:latin typeface="Times New Roman" panose="02020603050405020304" pitchFamily="18" charset="0"/>
                <a:cs typeface="Times New Roman" panose="02020603050405020304" pitchFamily="18" charset="0"/>
              </a:rPr>
              <a:t>    </a:t>
            </a:r>
            <a:r>
              <a:rPr sz="2800">
                <a:latin typeface="Times New Roman" panose="02020603050405020304" pitchFamily="18" charset="0"/>
                <a:cs typeface="Times New Roman" panose="02020603050405020304" pitchFamily="18" charset="0"/>
              </a:rPr>
              <a:t>SM4分组密码算法的单轮变换构成正形置换，其密码特性可以由正形置换的性质推出。设SM4分组密码算法的单轮置换为P(X, K)，对于任意给定的明文X，若密钥K₁ ≠ K₂，则P(X, K₁) ≠ P(X, K₂)。该结论表明，若以X为行变量，以K为列变量，则方阵</a:t>
            </a:r>
            <a:r>
              <a:rPr lang="en-US" sz="2800">
                <a:latin typeface="Times New Roman" panose="02020603050405020304" pitchFamily="18" charset="0"/>
                <a:cs typeface="Times New Roman" panose="02020603050405020304" pitchFamily="18" charset="0"/>
              </a:rPr>
              <a:t>[</a:t>
            </a:r>
            <a:r>
              <a:rPr sz="2800">
                <a:latin typeface="Times New Roman" panose="02020603050405020304" pitchFamily="18" charset="0"/>
                <a:cs typeface="Times New Roman" panose="02020603050405020304" pitchFamily="18" charset="0"/>
              </a:rPr>
              <a:t>P(X, K)</a:t>
            </a:r>
            <a:r>
              <a:rPr lang="en-US" sz="2800">
                <a:latin typeface="Times New Roman" panose="02020603050405020304" pitchFamily="18" charset="0"/>
                <a:cs typeface="Times New Roman" panose="02020603050405020304" pitchFamily="18" charset="0"/>
              </a:rPr>
              <a:t>]</a:t>
            </a:r>
            <a:r>
              <a:rPr sz="2800">
                <a:latin typeface="Times New Roman" panose="02020603050405020304" pitchFamily="18" charset="0"/>
                <a:cs typeface="Times New Roman" panose="02020603050405020304" pitchFamily="18" charset="0"/>
              </a:rPr>
              <a:t>构成了拉丁方阵。</a:t>
            </a:r>
          </a:p>
          <a:p>
            <a:pPr defTabSz="457200">
              <a:lnSpc>
                <a:spcPct val="140000"/>
              </a:lnSpc>
              <a:spcAft>
                <a:spcPts val="1000"/>
              </a:spcAft>
              <a:defRPr sz="2100" b="0">
                <a:solidFill>
                  <a:srgbClr val="000000"/>
                </a:solidFill>
                <a:latin typeface="Times New Roman" panose="02020603050405020304"/>
              </a:defRPr>
            </a:pPr>
            <a:r>
              <a:rPr sz="2800">
                <a:latin typeface="Times New Roman" panose="02020603050405020304" pitchFamily="18" charset="0"/>
                <a:cs typeface="Times New Roman" panose="02020603050405020304" pitchFamily="18" charset="0"/>
              </a:rPr>
              <a:t>在密码学性质上包含了以下两个结论。</a:t>
            </a:r>
          </a:p>
          <a:p>
            <a:pPr defTabSz="457200">
              <a:lnSpc>
                <a:spcPct val="140000"/>
              </a:lnSpc>
              <a:spcAft>
                <a:spcPts val="1000"/>
              </a:spcAft>
              <a:defRPr sz="2100" b="0">
                <a:solidFill>
                  <a:srgbClr val="000000"/>
                </a:solidFill>
                <a:latin typeface="Times New Roman" panose="02020603050405020304"/>
              </a:defRPr>
            </a:pPr>
            <a:r>
              <a:rPr sz="2800">
                <a:latin typeface="Times New Roman" panose="02020603050405020304" pitchFamily="18" charset="0"/>
                <a:cs typeface="Times New Roman" panose="02020603050405020304" pitchFamily="18" charset="0"/>
              </a:rPr>
              <a:t>（1）SM4分组密码算法在不同密钥作用下的轮变换必然不同。</a:t>
            </a:r>
          </a:p>
          <a:p>
            <a:pPr defTabSz="457200">
              <a:lnSpc>
                <a:spcPct val="140000"/>
              </a:lnSpc>
              <a:spcAft>
                <a:spcPts val="1000"/>
              </a:spcAft>
              <a:defRPr sz="2100" b="0">
                <a:solidFill>
                  <a:srgbClr val="000000"/>
                </a:solidFill>
                <a:latin typeface="Times New Roman" panose="02020603050405020304"/>
              </a:defRPr>
            </a:pPr>
            <a:r>
              <a:rPr sz="2800">
                <a:latin typeface="Times New Roman" panose="02020603050405020304" pitchFamily="18" charset="0"/>
                <a:cs typeface="Times New Roman" panose="02020603050405020304" pitchFamily="18" charset="0"/>
              </a:rPr>
              <a:t>（2）SM4分组密码算法的单轮变换在不同的密钥作用下，输入明文相同而输出必然不同。</a:t>
            </a:r>
          </a:p>
        </p:txBody>
      </p:sp>
      <p:sp>
        <p:nvSpPr>
          <p:cNvPr id="6" name="TextBox 5"/>
          <p:cNvSpPr txBox="1"/>
          <p:nvPr/>
        </p:nvSpPr>
        <p:spPr>
          <a:xfrm>
            <a:off x="17312132" y="9409176"/>
            <a:ext cx="363220" cy="306705"/>
          </a:xfrm>
          <a:prstGeom prst="rect">
            <a:avLst/>
          </a:prstGeom>
          <a:noFill/>
        </p:spPr>
        <p:txBody>
          <a:bodyPr wrap="none">
            <a:spAutoFit/>
          </a:bodyPr>
          <a:lstStyle/>
          <a:p>
            <a:pPr algn="r" defTabSz="457200">
              <a:defRPr sz="1800">
                <a:solidFill>
                  <a:srgbClr val="000000"/>
                </a:solidFill>
                <a:latin typeface="Times New Roman" panose="02020603050405020304"/>
              </a:defRPr>
            </a:pPr>
            <a:r>
              <a:rPr lang="en-US" sz="1400">
                <a:solidFill>
                  <a:srgbClr val="FFC000"/>
                </a:solidFill>
                <a:latin typeface="+mn-lt"/>
              </a:rPr>
              <a:t>24</a:t>
            </a:r>
            <a:endParaRPr lang="en-US" sz="2000"/>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
        <p:nvSpPr>
          <p:cNvPr id="8"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基础置换</a:t>
            </a:r>
          </a:p>
        </p:txBody>
      </p:sp>
      <p:sp>
        <p:nvSpPr>
          <p:cNvPr id="9"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4.2.3</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pic>
        <p:nvPicPr>
          <p:cNvPr id="10" name="图片 2"/>
          <p:cNvPicPr>
            <a:picLocks noChangeAspect="1"/>
          </p:cNvPicPr>
          <p:nvPr/>
        </p:nvPicPr>
        <p:blipFill>
          <a:blip r:embed="rId3">
            <a:alphaModFix amt="80000"/>
          </a:blip>
          <a:stretch>
            <a:fillRect/>
          </a:stretch>
        </p:blipFill>
        <p:spPr>
          <a:xfrm>
            <a:off x="643255"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1371600" y="1691640"/>
                <a:ext cx="15727680" cy="7553960"/>
              </a:xfrm>
              <a:prstGeom prst="rect">
                <a:avLst/>
              </a:prstGeom>
              <a:noFill/>
            </p:spPr>
            <p:txBody>
              <a:bodyPr wrap="square">
                <a:spAutoFit/>
              </a:bodyPr>
              <a:lstStyle/>
              <a:p>
                <a:pPr defTabSz="457200">
                  <a:lnSpc>
                    <a:spcPct val="140000"/>
                  </a:lnSpc>
                  <a:spcAft>
                    <a:spcPts val="1000"/>
                  </a:spcAft>
                  <a:defRPr sz="2100" b="0">
                    <a:solidFill>
                      <a:srgbClr val="000000"/>
                    </a:solidFill>
                    <a:latin typeface="Times New Roman" panose="02020603050405020304"/>
                  </a:defRPr>
                </a:pPr>
                <a:r>
                  <a:rPr lang="en-US">
                    <a:latin typeface="Times New Roman" panose="02020603050405020304" pitchFamily="18" charset="0"/>
                    <a:ea typeface="宋体" panose="02010600030101010101" pitchFamily="2" charset="-122"/>
                  </a:rPr>
                  <a:t>    </a:t>
                </a:r>
                <a:r>
                  <a:rPr sz="2800">
                    <a:latin typeface="Times New Roman" panose="02020603050405020304" pitchFamily="18" charset="0"/>
                    <a:ea typeface="宋体" panose="02010600030101010101" pitchFamily="2" charset="-122"/>
                    <a:cs typeface="Times New Roman" panose="02020603050405020304" pitchFamily="18" charset="0"/>
                  </a:rPr>
                  <a:t>S盒本质上可以看作映射：S(x) = (f₁(x), f₂(x), ..., fₘ(x)) </a:t>
                </a:r>
                <a:r>
                  <a:rPr lang="en-US" sz="2800">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sSubSup>
                      <m:sSubSupPr>
                        <m:ctrlPr>
                          <a:rPr lang="en-US" sz="2800" i="1">
                            <a:latin typeface="Cambria Math" panose="02040503050406030204" charset="0"/>
                            <a:ea typeface="宋体" panose="02010600030101010101" pitchFamily="2" charset="-122"/>
                            <a:cs typeface="Cambria Math" panose="02040503050406030204" charset="0"/>
                          </a:rPr>
                        </m:ctrlPr>
                      </m:sSubSupPr>
                      <m:e>
                        <m:r>
                          <a:rPr lang="en-US" sz="2800" i="1">
                            <a:latin typeface="Cambria Math" panose="02040503050406030204" charset="0"/>
                            <a:ea typeface="宋体" panose="02010600030101010101" pitchFamily="2" charset="-122"/>
                            <a:cs typeface="Cambria Math" panose="02040503050406030204" charset="0"/>
                          </a:rPr>
                          <m:t>𝐹</m:t>
                        </m:r>
                      </m:e>
                      <m:sub>
                        <m:r>
                          <a:rPr lang="en-US" sz="2800" i="1">
                            <a:latin typeface="Cambria Math" panose="02040503050406030204" charset="0"/>
                            <a:ea typeface="MS Mincho" charset="0"/>
                            <a:cs typeface="Cambria Math" panose="02040503050406030204" charset="0"/>
                          </a:rPr>
                          <m:t>2</m:t>
                        </m:r>
                      </m:sub>
                      <m:sup>
                        <m:r>
                          <a:rPr lang="en-US" sz="2800" i="1">
                            <a:latin typeface="Cambria Math" panose="02040503050406030204" charset="0"/>
                            <a:ea typeface="宋体" panose="02010600030101010101" pitchFamily="2" charset="-122"/>
                            <a:cs typeface="Cambria Math" panose="02040503050406030204" charset="0"/>
                          </a:rPr>
                          <m:t>𝑛</m:t>
                        </m:r>
                      </m:sup>
                    </m:sSubSup>
                  </m:oMath>
                </a14:m>
                <a:r>
                  <a:rPr lang="en-US" sz="2800">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sSubSup>
                      <m:sSubSupPr>
                        <m:ctrlPr>
                          <a:rPr lang="en-US" sz="2800" i="1">
                            <a:latin typeface="Cambria Math" panose="02040503050406030204" charset="0"/>
                            <a:ea typeface="宋体" panose="02010600030101010101" pitchFamily="2" charset="-122"/>
                            <a:cs typeface="Cambria Math" panose="02040503050406030204" charset="0"/>
                          </a:rPr>
                        </m:ctrlPr>
                      </m:sSubSupPr>
                      <m:e>
                        <m:r>
                          <a:rPr lang="en-US" sz="2800" i="1">
                            <a:latin typeface="Cambria Math" panose="02040503050406030204" charset="0"/>
                            <a:ea typeface="宋体" panose="02010600030101010101" pitchFamily="2" charset="-122"/>
                            <a:cs typeface="Cambria Math" panose="02040503050406030204" charset="0"/>
                          </a:rPr>
                          <m:t>𝐹</m:t>
                        </m:r>
                      </m:e>
                      <m:sub>
                        <m:r>
                          <a:rPr lang="en-US" sz="2800" i="1">
                            <a:latin typeface="Cambria Math" panose="02040503050406030204" charset="0"/>
                            <a:ea typeface="MS Mincho" charset="0"/>
                            <a:cs typeface="Cambria Math" panose="02040503050406030204" charset="0"/>
                          </a:rPr>
                          <m:t>2</m:t>
                        </m:r>
                      </m:sub>
                      <m:sup>
                        <m:r>
                          <a:rPr lang="en-US" sz="2800" i="1">
                            <a:latin typeface="Cambria Math" panose="02040503050406030204" charset="0"/>
                            <a:ea typeface="宋体" panose="02010600030101010101" pitchFamily="2" charset="-122"/>
                            <a:cs typeface="Cambria Math" panose="02040503050406030204" charset="0"/>
                          </a:rPr>
                          <m:t>𝑚</m:t>
                        </m:r>
                      </m:sup>
                    </m:sSubSup>
                  </m:oMath>
                </a14:m>
                <a:r>
                  <a:rPr lang="zh-CN" altLang="en-US" sz="2800">
                    <a:latin typeface="Times New Roman" panose="02020603050405020304" pitchFamily="18" charset="0"/>
                    <a:ea typeface="宋体" panose="02010600030101010101" pitchFamily="2" charset="-122"/>
                    <a:cs typeface="Times New Roman" panose="02020603050405020304" pitchFamily="18" charset="0"/>
                  </a:rPr>
                  <a:t>，其中，</a:t>
                </a:r>
                <a:r>
                  <a:rPr sz="2800">
                    <a:latin typeface="Times New Roman" panose="02020603050405020304" pitchFamily="18" charset="0"/>
                    <a:ea typeface="宋体" panose="02010600030101010101" pitchFamily="2" charset="-122"/>
                    <a:cs typeface="Times New Roman" panose="02020603050405020304" pitchFamily="18" charset="0"/>
                    <a:sym typeface="+mn-ea"/>
                  </a:rPr>
                  <a:t>S(x) </a:t>
                </a:r>
                <a:r>
                  <a:rPr lang="en-US" sz="280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a:t>
                </a:r>
                <a14:m>
                  <m:oMath xmlns:m="http://schemas.openxmlformats.org/officeDocument/2006/math">
                    <m:sSubSup>
                      <m:sSubSupPr>
                        <m:ctrlPr>
                          <a:rPr lang="en-US" sz="2800" i="1">
                            <a:latin typeface="Cambria Math" panose="02040503050406030204" charset="0"/>
                            <a:ea typeface="宋体" panose="02010600030101010101" pitchFamily="2" charset="-122"/>
                            <a:cs typeface="Cambria Math" panose="02040503050406030204" charset="0"/>
                          </a:rPr>
                        </m:ctrlPr>
                      </m:sSubSupPr>
                      <m:e>
                        <m:r>
                          <a:rPr lang="en-US" sz="2800" i="1">
                            <a:latin typeface="Cambria Math" panose="02040503050406030204" charset="0"/>
                            <a:ea typeface="宋体" panose="02010600030101010101" pitchFamily="2" charset="-122"/>
                            <a:cs typeface="Cambria Math" panose="02040503050406030204" charset="0"/>
                          </a:rPr>
                          <m:t>𝐹</m:t>
                        </m:r>
                      </m:e>
                      <m:sub>
                        <m:r>
                          <a:rPr lang="en-US" sz="2800" i="1">
                            <a:latin typeface="Cambria Math" panose="02040503050406030204" charset="0"/>
                            <a:ea typeface="MS Mincho" charset="0"/>
                            <a:cs typeface="Cambria Math" panose="02040503050406030204" charset="0"/>
                          </a:rPr>
                          <m:t>2</m:t>
                        </m:r>
                      </m:sub>
                      <m:sup>
                        <m:r>
                          <a:rPr lang="en-US" sz="2800" i="1">
                            <a:latin typeface="Cambria Math" panose="02040503050406030204" charset="0"/>
                            <a:ea typeface="宋体" panose="02010600030101010101" pitchFamily="2" charset="-122"/>
                            <a:cs typeface="Cambria Math" panose="02040503050406030204" charset="0"/>
                          </a:rPr>
                          <m:t>𝑛</m:t>
                        </m:r>
                      </m:sup>
                    </m:sSubSup>
                    <m:r>
                      <a:rPr lang="en-US" sz="2800">
                        <a:latin typeface="Cambria Math" panose="02040503050406030204" charset="0"/>
                        <a:ea typeface="MS Mincho" charset="0"/>
                        <a:cs typeface="Cambria Math" panose="02040503050406030204" charset="0"/>
                        <a:sym typeface="+mn-ea"/>
                      </a:rPr>
                      <m:t>→</m:t>
                    </m:r>
                    <m:sSubSup>
                      <m:sSubSupPr>
                        <m:ctrlPr>
                          <a:rPr lang="en-US" sz="2800" i="1">
                            <a:latin typeface="Cambria Math" panose="02040503050406030204" charset="0"/>
                            <a:ea typeface="宋体" panose="02010600030101010101" pitchFamily="2" charset="-122"/>
                            <a:cs typeface="Cambria Math" panose="02040503050406030204" charset="0"/>
                          </a:rPr>
                        </m:ctrlPr>
                      </m:sSubSupPr>
                      <m:e>
                        <m:r>
                          <a:rPr lang="en-US" sz="2800" i="1">
                            <a:latin typeface="Cambria Math" panose="02040503050406030204" charset="0"/>
                            <a:ea typeface="宋体" panose="02010600030101010101" pitchFamily="2" charset="-122"/>
                            <a:cs typeface="Cambria Math" panose="02040503050406030204" charset="0"/>
                          </a:rPr>
                          <m:t>𝐹</m:t>
                        </m:r>
                      </m:e>
                      <m:sub>
                        <m:r>
                          <a:rPr lang="en-US" sz="2800" i="1">
                            <a:latin typeface="Cambria Math" panose="02040503050406030204" charset="0"/>
                            <a:ea typeface="MS Mincho" charset="0"/>
                            <a:cs typeface="Cambria Math" panose="02040503050406030204" charset="0"/>
                          </a:rPr>
                          <m:t>2</m:t>
                        </m:r>
                      </m:sub>
                      <m:sup>
                        <m:r>
                          <a:rPr lang="en-US" sz="2800" i="1">
                            <a:latin typeface="Cambria Math" panose="02040503050406030204" charset="0"/>
                            <a:ea typeface="宋体" panose="02010600030101010101" pitchFamily="2" charset="-122"/>
                            <a:cs typeface="Cambria Math" panose="02040503050406030204" charset="0"/>
                          </a:rPr>
                          <m:t>𝑚</m:t>
                        </m:r>
                      </m:sup>
                    </m:sSubSup>
                  </m:oMath>
                </a14:m>
                <a:r>
                  <a:rPr sz="2800">
                    <a:latin typeface="Times New Roman" panose="02020603050405020304" pitchFamily="18" charset="0"/>
                    <a:ea typeface="宋体" panose="02010600030101010101" pitchFamily="2" charset="-122"/>
                    <a:cs typeface="Times New Roman" panose="02020603050405020304" pitchFamily="18" charset="0"/>
                  </a:rPr>
                  <a:t>可表示为一个n元输入m元输出的多输出布尔函数，也可简称S是一个n×m的S盒（n进m出的S盒），通常采用n bit输入到m bit输出的替代表来表示或实现，对于SM4分组密码算法中的S盒，n = m = 8。</a:t>
                </a:r>
              </a:p>
              <a:p>
                <a:pPr defTabSz="457200">
                  <a:lnSpc>
                    <a:spcPct val="140000"/>
                  </a:lnSpc>
                  <a:spcAft>
                    <a:spcPts val="1000"/>
                  </a:spcAft>
                  <a:defRPr sz="2100" b="0">
                    <a:solidFill>
                      <a:srgbClr val="000000"/>
                    </a:solidFill>
                    <a:latin typeface="Times New Roman" panose="02020603050405020304"/>
                  </a:defRPr>
                </a:pPr>
                <a:r>
                  <a:rPr lang="en-US" sz="2800">
                    <a:latin typeface="Times New Roman" panose="02020603050405020304" pitchFamily="18" charset="0"/>
                    <a:ea typeface="宋体" panose="02010600030101010101" pitchFamily="2" charset="-122"/>
                    <a:cs typeface="Times New Roman" panose="02020603050405020304" pitchFamily="18" charset="0"/>
                  </a:rPr>
                  <a:t>    </a:t>
                </a:r>
                <a:r>
                  <a:rPr sz="2800">
                    <a:latin typeface="Times New Roman" panose="02020603050405020304" pitchFamily="18" charset="0"/>
                    <a:ea typeface="宋体" panose="02010600030101010101" pitchFamily="2" charset="-122"/>
                    <a:cs typeface="Times New Roman" panose="02020603050405020304" pitchFamily="18" charset="0"/>
                  </a:rPr>
                  <a:t>S盒是很多分组密码算法中的唯一非线性模块，用于提供混淆作用，可提高算法的非线性，隐藏其代数结构。S盒的密码性质直接影响了整个分组密码算法的安全强度。分组密码算法的设计必须充分考量S盒的密码强度，通常可用非线性度、差分均匀性等指标来衡量S盒的安全强度。</a:t>
                </a:r>
              </a:p>
              <a:p>
                <a:pPr defTabSz="457200">
                  <a:lnSpc>
                    <a:spcPct val="140000"/>
                  </a:lnSpc>
                  <a:spcAft>
                    <a:spcPts val="1000"/>
                  </a:spcAft>
                  <a:defRPr sz="2100" b="0">
                    <a:solidFill>
                      <a:srgbClr val="000000"/>
                    </a:solidFill>
                    <a:latin typeface="Times New Roman" panose="02020603050405020304"/>
                  </a:defRPr>
                </a:pPr>
                <a:r>
                  <a:rPr sz="2800" b="1">
                    <a:latin typeface="Times New Roman" panose="02020603050405020304" pitchFamily="18" charset="0"/>
                    <a:ea typeface="宋体" panose="02010600030101010101" pitchFamily="2" charset="-122"/>
                    <a:cs typeface="Times New Roman" panose="02020603050405020304" pitchFamily="18" charset="0"/>
                  </a:rPr>
                  <a:t>1.S盒代数表达式</a:t>
                </a:r>
              </a:p>
              <a:p>
                <a:pPr defTabSz="457200">
                  <a:lnSpc>
                    <a:spcPct val="140000"/>
                  </a:lnSpc>
                  <a:spcAft>
                    <a:spcPts val="1000"/>
                  </a:spcAft>
                  <a:defRPr sz="2100" b="0">
                    <a:solidFill>
                      <a:srgbClr val="000000"/>
                    </a:solidFill>
                    <a:latin typeface="Times New Roman" panose="02020603050405020304"/>
                  </a:defRPr>
                </a:pPr>
                <a:r>
                  <a:rPr lang="en-US" sz="2800">
                    <a:latin typeface="Times New Roman" panose="02020603050405020304" pitchFamily="18" charset="0"/>
                    <a:ea typeface="宋体" panose="02010600030101010101" pitchFamily="2" charset="-122"/>
                    <a:cs typeface="Times New Roman" panose="02020603050405020304" pitchFamily="18" charset="0"/>
                  </a:rPr>
                  <a:t>    </a:t>
                </a:r>
                <a:r>
                  <a:rPr sz="2800">
                    <a:latin typeface="Times New Roman" panose="02020603050405020304" pitchFamily="18" charset="0"/>
                    <a:ea typeface="宋体" panose="02010600030101010101" pitchFamily="2" charset="-122"/>
                    <a:cs typeface="Times New Roman" panose="02020603050405020304" pitchFamily="18" charset="0"/>
                  </a:rPr>
                  <a:t>为防止插入攻击，通常要求密码变换的代数式具有足够高的次数和复杂度。用拉格朗日插值多项式可求得SM4分组密码算法中的S盒的代数表达式。这是一个254次、255项的多项式，具有较高的复杂程度。</a:t>
                </a:r>
                <a:r>
                  <a:rPr lang="zh-CN" sz="2800">
                    <a:latin typeface="Times New Roman" panose="02020603050405020304" pitchFamily="18" charset="0"/>
                    <a:ea typeface="宋体" panose="02010600030101010101" pitchFamily="2" charset="-122"/>
                    <a:cs typeface="Times New Roman" panose="02020603050405020304" pitchFamily="18" charset="0"/>
                  </a:rPr>
                  <a:t>即：</a:t>
                </a:r>
              </a:p>
              <a:p>
                <a:pPr algn="ctr" defTabSz="457200">
                  <a:lnSpc>
                    <a:spcPct val="140000"/>
                  </a:lnSpc>
                  <a:spcAft>
                    <a:spcPts val="1000"/>
                  </a:spcAft>
                  <a:defRPr sz="2100" b="0">
                    <a:solidFill>
                      <a:srgbClr val="000000"/>
                    </a:solidFill>
                    <a:latin typeface="Times New Roman" panose="02020603050405020304"/>
                  </a:defRPr>
                </a:pPr>
                <a:r>
                  <a:rPr lang="en-US" altLang="zh-CN" sz="2800">
                    <a:latin typeface="Times New Roman" panose="02020603050405020304" pitchFamily="18" charset="0"/>
                    <a:ea typeface="宋体" panose="02010600030101010101" pitchFamily="2" charset="-122"/>
                    <a:cs typeface="Times New Roman" panose="02020603050405020304" pitchFamily="18" charset="0"/>
                  </a:rPr>
                  <a:t> f(x</a:t>
                </a:r>
                <a:r>
                  <a:rPr lang="zh-CN" altLang="en-US" sz="280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nary>
                      <m:naryPr>
                        <m:chr m:val="∑"/>
                        <m:limLoc m:val="undOvr"/>
                        <m:ctrlPr>
                          <a:rPr lang="en-US" altLang="zh-CN" sz="2800" i="1">
                            <a:latin typeface="Cambria Math" panose="02040503050406030204" charset="0"/>
                            <a:ea typeface="宋体" panose="02010600030101010101" pitchFamily="2" charset="-122"/>
                            <a:cs typeface="Cambria Math" panose="02040503050406030204" charset="0"/>
                          </a:rPr>
                        </m:ctrlPr>
                      </m:naryPr>
                      <m:sub>
                        <m:r>
                          <a:rPr lang="en-US" altLang="zh-CN" sz="2800" i="1">
                            <a:latin typeface="Cambria Math" panose="02040503050406030204" charset="0"/>
                            <a:ea typeface="宋体" panose="02010600030101010101" pitchFamily="2" charset="-122"/>
                            <a:cs typeface="Cambria Math" panose="02040503050406030204" charset="0"/>
                          </a:rPr>
                          <m:t>𝑖</m:t>
                        </m:r>
                        <m:r>
                          <a:rPr lang="en-US" altLang="zh-CN" sz="2800" i="1">
                            <a:latin typeface="Cambria Math" panose="02040503050406030204" charset="0"/>
                            <a:ea typeface="MS Mincho" charset="0"/>
                            <a:cs typeface="Cambria Math" panose="02040503050406030204" charset="0"/>
                          </a:rPr>
                          <m:t>=0</m:t>
                        </m:r>
                      </m:sub>
                      <m:sup>
                        <m:r>
                          <a:rPr lang="en-US" altLang="zh-CN" sz="2800" i="1">
                            <a:latin typeface="Cambria Math" panose="02040503050406030204" charset="0"/>
                            <a:ea typeface="MS Mincho" charset="0"/>
                            <a:cs typeface="Cambria Math" panose="02040503050406030204" charset="0"/>
                          </a:rPr>
                          <m:t>255</m:t>
                        </m:r>
                      </m:sup>
                      <m:e>
                        <m:r>
                          <a:rPr lang="en-US" altLang="zh-CN" sz="2800" i="1">
                            <a:latin typeface="Cambria Math" panose="02040503050406030204" charset="0"/>
                            <a:ea typeface="宋体" panose="02010600030101010101" pitchFamily="2" charset="-122"/>
                            <a:cs typeface="Cambria Math" panose="02040503050406030204" charset="0"/>
                          </a:rPr>
                          <m:t>𝑦</m:t>
                        </m:r>
                      </m:e>
                    </m:nary>
                  </m:oMath>
                </a14:m>
                <a:r>
                  <a:rPr lang="en-US" altLang="zh-CN" sz="2800" baseline="-25000">
                    <a:latin typeface="Times New Roman" panose="02020603050405020304" pitchFamily="18" charset="0"/>
                    <a:ea typeface="宋体" panose="02010600030101010101" pitchFamily="2" charset="-122"/>
                    <a:cs typeface="Times New Roman" panose="02020603050405020304" pitchFamily="18" charset="0"/>
                  </a:rPr>
                  <a:t>i</a:t>
                </a:r>
                <a14:m>
                  <m:oMath xmlns:m="http://schemas.openxmlformats.org/officeDocument/2006/math">
                    <m:nary>
                      <m:naryPr>
                        <m:chr m:val="∏"/>
                        <m:limLoc m:val="undOvr"/>
                        <m:supHide m:val="on"/>
                        <m:ctrlPr>
                          <a:rPr lang="en-US" altLang="zh-CN" sz="2800" i="1">
                            <a:latin typeface="Cambria Math" panose="02040503050406030204" charset="0"/>
                            <a:ea typeface="宋体" panose="02010600030101010101" pitchFamily="2" charset="-122"/>
                            <a:cs typeface="Cambria Math" panose="02040503050406030204" charset="0"/>
                          </a:rPr>
                        </m:ctrlPr>
                      </m:naryPr>
                      <m:sub>
                        <m:r>
                          <a:rPr lang="en-US" altLang="zh-CN" sz="2800" i="1">
                            <a:latin typeface="Cambria Math" panose="02040503050406030204" charset="0"/>
                            <a:ea typeface="宋体" panose="02010600030101010101" pitchFamily="2" charset="-122"/>
                            <a:cs typeface="Cambria Math" panose="02040503050406030204" charset="0"/>
                          </a:rPr>
                          <m:t>𝑗</m:t>
                        </m:r>
                        <m:r>
                          <a:rPr lang="en-US" altLang="zh-CN" sz="2800" i="1">
                            <a:latin typeface="Cambria Math" panose="02040503050406030204" charset="0"/>
                            <a:ea typeface="MS Mincho" charset="0"/>
                            <a:cs typeface="Cambria Math" panose="02040503050406030204" charset="0"/>
                          </a:rPr>
                          <m:t>≠</m:t>
                        </m:r>
                        <m:r>
                          <a:rPr lang="en-US" altLang="zh-CN" sz="2800" i="1">
                            <a:latin typeface="Cambria Math" panose="02040503050406030204" charset="0"/>
                            <a:ea typeface="宋体" panose="02010600030101010101" pitchFamily="2" charset="-122"/>
                            <a:cs typeface="Cambria Math" panose="02040503050406030204" charset="0"/>
                          </a:rPr>
                          <m:t>𝑖</m:t>
                        </m:r>
                        <m:r>
                          <a:rPr lang="en-US" altLang="zh-CN" sz="2800" i="1">
                            <a:latin typeface="Cambria Math" panose="02040503050406030204" charset="0"/>
                            <a:ea typeface="MS Mincho" charset="0"/>
                            <a:cs typeface="Cambria Math" panose="02040503050406030204" charset="0"/>
                          </a:rPr>
                          <m:t>,</m:t>
                        </m:r>
                        <m:r>
                          <a:rPr lang="en-US" altLang="zh-CN" sz="2800" i="1">
                            <a:latin typeface="Cambria Math" panose="02040503050406030204" charset="0"/>
                            <a:ea typeface="宋体" panose="02010600030101010101" pitchFamily="2" charset="-122"/>
                            <a:cs typeface="Cambria Math" panose="02040503050406030204" charset="0"/>
                          </a:rPr>
                          <m:t>𝑗</m:t>
                        </m:r>
                        <m:r>
                          <a:rPr lang="en-US" altLang="zh-CN" sz="2800" i="1">
                            <a:latin typeface="Cambria Math" panose="02040503050406030204" charset="0"/>
                            <a:ea typeface="MS Mincho" charset="0"/>
                            <a:cs typeface="Cambria Math" panose="02040503050406030204" charset="0"/>
                          </a:rPr>
                          <m:t>=0</m:t>
                        </m:r>
                      </m:sub>
                      <m:sup/>
                      <m:e>
                        <m:f>
                          <m:fPr>
                            <m:ctrlPr>
                              <a:rPr lang="en-US" altLang="zh-CN" sz="2800" i="1">
                                <a:latin typeface="Cambria Math" panose="02040503050406030204" charset="0"/>
                                <a:ea typeface="宋体" panose="02010600030101010101" pitchFamily="2" charset="-122"/>
                                <a:cs typeface="Cambria Math" panose="02040503050406030204" charset="0"/>
                              </a:rPr>
                            </m:ctrlPr>
                          </m:fPr>
                          <m:num>
                            <m:r>
                              <a:rPr lang="en-US" altLang="zh-CN" sz="2800" i="1">
                                <a:latin typeface="Cambria Math" panose="02040503050406030204" charset="0"/>
                                <a:ea typeface="宋体" panose="02010600030101010101" pitchFamily="2" charset="-122"/>
                                <a:cs typeface="Cambria Math" panose="02040503050406030204" charset="0"/>
                              </a:rPr>
                              <m:t>𝑥</m:t>
                            </m:r>
                            <m:r>
                              <a:rPr lang="en-US" altLang="zh-CN" sz="2800" i="1">
                                <a:latin typeface="Cambria Math" panose="02040503050406030204" charset="0"/>
                                <a:ea typeface="MS Mincho" charset="0"/>
                                <a:cs typeface="Cambria Math" panose="02040503050406030204" charset="0"/>
                              </a:rPr>
                              <m:t>−</m:t>
                            </m:r>
                            <m:r>
                              <a:rPr lang="en-US" altLang="zh-CN" sz="2800" i="1">
                                <a:latin typeface="Cambria Math" panose="02040503050406030204" charset="0"/>
                                <a:ea typeface="宋体" panose="02010600030101010101" pitchFamily="2" charset="-122"/>
                                <a:cs typeface="Cambria Math" panose="02040503050406030204" charset="0"/>
                              </a:rPr>
                              <m:t>𝑥</m:t>
                            </m:r>
                            <m:r>
                              <a:rPr lang="en-US" altLang="zh-CN" sz="2800" i="1" baseline="-25000">
                                <a:latin typeface="Cambria Math" panose="02040503050406030204" charset="0"/>
                                <a:ea typeface="宋体" panose="02010600030101010101" pitchFamily="2" charset="-122"/>
                                <a:cs typeface="Cambria Math" panose="02040503050406030204" charset="0"/>
                              </a:rPr>
                              <m:t>𝑗</m:t>
                            </m:r>
                          </m:num>
                          <m:den>
                            <m:r>
                              <a:rPr lang="en-US" altLang="zh-CN" sz="2800" i="1">
                                <a:latin typeface="Cambria Math" panose="02040503050406030204" charset="0"/>
                                <a:ea typeface="宋体" panose="02010600030101010101" pitchFamily="2" charset="-122"/>
                                <a:cs typeface="Cambria Math" panose="02040503050406030204" charset="0"/>
                              </a:rPr>
                              <m:t>𝑥</m:t>
                            </m:r>
                            <m:r>
                              <a:rPr lang="en-US" altLang="zh-CN" sz="2800" i="1" baseline="-25000">
                                <a:latin typeface="Cambria Math" panose="02040503050406030204" charset="0"/>
                                <a:ea typeface="宋体" panose="02010600030101010101" pitchFamily="2" charset="-122"/>
                                <a:cs typeface="Cambria Math" panose="02040503050406030204" charset="0"/>
                              </a:rPr>
                              <m:t>𝑖</m:t>
                            </m:r>
                            <m:r>
                              <a:rPr lang="en-US" altLang="zh-CN" sz="2800" i="1">
                                <a:latin typeface="Cambria Math" panose="02040503050406030204" charset="0"/>
                                <a:ea typeface="MS Mincho" charset="0"/>
                                <a:cs typeface="Cambria Math" panose="02040503050406030204" charset="0"/>
                              </a:rPr>
                              <m:t>−</m:t>
                            </m:r>
                            <m:r>
                              <a:rPr lang="en-US" altLang="zh-CN" sz="2800" i="1">
                                <a:latin typeface="Cambria Math" panose="02040503050406030204" charset="0"/>
                                <a:ea typeface="宋体" panose="02010600030101010101" pitchFamily="2" charset="-122"/>
                                <a:cs typeface="Cambria Math" panose="02040503050406030204" charset="0"/>
                              </a:rPr>
                              <m:t>𝑥</m:t>
                            </m:r>
                            <m:r>
                              <a:rPr lang="en-US" altLang="zh-CN" sz="2800" i="1" baseline="-25000">
                                <a:latin typeface="Cambria Math" panose="02040503050406030204" charset="0"/>
                                <a:ea typeface="宋体" panose="02010600030101010101" pitchFamily="2" charset="-122"/>
                                <a:cs typeface="Cambria Math" panose="02040503050406030204" charset="0"/>
                              </a:rPr>
                              <m:t>𝑗</m:t>
                            </m:r>
                          </m:den>
                        </m:f>
                      </m:e>
                    </m:nary>
                  </m:oMath>
                </a14:m>
                <a:endParaRPr lang="en-US" altLang="zh-CN" sz="2800">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1371600" y="1691640"/>
                <a:ext cx="15727680" cy="7553960"/>
              </a:xfrm>
              <a:prstGeom prst="rect">
                <a:avLst/>
              </a:prstGeom>
              <a:blipFill rotWithShape="1">
                <a:blip r:embed="rId2"/>
                <a:stretch>
                  <a:fillRect/>
                </a:stretch>
              </a:blipFill>
            </p:spPr>
            <p:txBody>
              <a:bodyPr/>
              <a:lstStyle/>
              <a:p>
                <a:r>
                  <a:rPr lang="zh-CN" altLang="en-US">
                    <a:noFill/>
                  </a:rPr>
                  <a:t> </a:t>
                </a:r>
              </a:p>
            </p:txBody>
          </p:sp>
        </mc:Fallback>
      </mc:AlternateContent>
      <p:sp>
        <p:nvSpPr>
          <p:cNvPr id="6" name="TextBox 5"/>
          <p:cNvSpPr txBox="1"/>
          <p:nvPr/>
        </p:nvSpPr>
        <p:spPr>
          <a:xfrm>
            <a:off x="17312132" y="9409176"/>
            <a:ext cx="363220" cy="306705"/>
          </a:xfrm>
          <a:prstGeom prst="rect">
            <a:avLst/>
          </a:prstGeom>
          <a:noFill/>
        </p:spPr>
        <p:txBody>
          <a:bodyPr wrap="none">
            <a:spAutoFit/>
          </a:bodyPr>
          <a:lstStyle/>
          <a:p>
            <a:pPr algn="r" defTabSz="457200">
              <a:defRPr sz="1800">
                <a:solidFill>
                  <a:srgbClr val="000000"/>
                </a:solidFill>
                <a:latin typeface="Times New Roman" panose="02020603050405020304"/>
              </a:defRPr>
            </a:pPr>
            <a:r>
              <a:rPr lang="en-US" sz="1400">
                <a:solidFill>
                  <a:srgbClr val="FFC000"/>
                </a:solidFill>
                <a:latin typeface="+mn-lt"/>
              </a:rPr>
              <a:t>25</a:t>
            </a:r>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3"/>
            <a:stretch>
              <a:fillRect/>
            </a:stretch>
          </p:blipFill>
          <p:spPr>
            <a:xfrm>
              <a:off x="13944600" y="877286"/>
              <a:ext cx="2771429" cy="47619"/>
            </a:xfrm>
            <a:prstGeom prst="rect">
              <a:avLst/>
            </a:prstGeom>
          </p:spPr>
        </p:pic>
      </p:grpSp>
      <p:sp>
        <p:nvSpPr>
          <p:cNvPr id="8"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非线性变换</a:t>
            </a:r>
          </a:p>
        </p:txBody>
      </p:sp>
      <p:sp>
        <p:nvSpPr>
          <p:cNvPr id="9"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4.2.4</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pic>
        <p:nvPicPr>
          <p:cNvPr id="10" name="图片 2"/>
          <p:cNvPicPr>
            <a:picLocks noChangeAspect="1"/>
          </p:cNvPicPr>
          <p:nvPr/>
        </p:nvPicPr>
        <p:blipFill>
          <a:blip r:embed="rId4">
            <a:alphaModFix amt="80000"/>
          </a:blip>
          <a:stretch>
            <a:fillRect/>
          </a:stretch>
        </p:blipFill>
        <p:spPr>
          <a:xfrm>
            <a:off x="643255"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1371600" y="1271270"/>
                <a:ext cx="15727680" cy="5606415"/>
              </a:xfrm>
              <a:prstGeom prst="rect">
                <a:avLst/>
              </a:prstGeom>
              <a:noFill/>
            </p:spPr>
            <p:txBody>
              <a:bodyPr wrap="square">
                <a:spAutoFit/>
              </a:bodyPr>
              <a:lstStyle/>
              <a:p>
                <a:pPr defTabSz="457200">
                  <a:lnSpc>
                    <a:spcPct val="140000"/>
                  </a:lnSpc>
                  <a:spcAft>
                    <a:spcPts val="1000"/>
                  </a:spcAft>
                  <a:defRPr sz="1900" b="0">
                    <a:solidFill>
                      <a:srgbClr val="000000"/>
                    </a:solidFill>
                    <a:latin typeface="Times New Roman" panose="02020603050405020304"/>
                  </a:defRPr>
                </a:pPr>
                <a:r>
                  <a:rPr sz="2800" b="1">
                    <a:latin typeface="Times New Roman" panose="02020603050405020304" pitchFamily="18" charset="0"/>
                    <a:ea typeface="宋体" panose="02010600030101010101" pitchFamily="2" charset="-122"/>
                    <a:cs typeface="Times New Roman" panose="02020603050405020304" pitchFamily="18" charset="0"/>
                  </a:rPr>
                  <a:t>2.差分均匀性</a:t>
                </a:r>
                <a:endParaRPr sz="2800">
                  <a:latin typeface="Times New Roman" panose="02020603050405020304" pitchFamily="18" charset="0"/>
                  <a:ea typeface="宋体" panose="02010600030101010101" pitchFamily="2" charset="-122"/>
                  <a:cs typeface="Times New Roman" panose="02020603050405020304" pitchFamily="18" charset="0"/>
                </a:endParaRPr>
              </a:p>
              <a:p>
                <a:pPr defTabSz="457200">
                  <a:lnSpc>
                    <a:spcPct val="140000"/>
                  </a:lnSpc>
                  <a:spcAft>
                    <a:spcPts val="1000"/>
                  </a:spcAft>
                  <a:defRPr sz="1900" b="0">
                    <a:solidFill>
                      <a:srgbClr val="000000"/>
                    </a:solidFill>
                    <a:latin typeface="Times New Roman" panose="02020603050405020304"/>
                  </a:defRPr>
                </a:pPr>
                <a:r>
                  <a:rPr sz="2800">
                    <a:latin typeface="Times New Roman" panose="02020603050405020304" pitchFamily="18" charset="0"/>
                    <a:ea typeface="宋体" panose="02010600030101010101" pitchFamily="2" charset="-122"/>
                    <a:cs typeface="Times New Roman" panose="02020603050405020304" pitchFamily="18" charset="0"/>
                  </a:rPr>
                  <a:t>差分密码分析是一种CPA，其基本思想是通过分析特定明文差对相应密文差的影响来获得可能性最大的密钥。差分均匀性是针对差分密码分析而引入的，用来度量一个密码函数抗击差分密码分析的能力。令 </a:t>
                </a:r>
                <a14:m>
                  <m:oMath xmlns:m="http://schemas.openxmlformats.org/officeDocument/2006/math">
                    <m:sSub>
                      <m:sSubPr>
                        <m:ctrlPr>
                          <a:rPr lang="en-US" altLang="zh-CN" sz="2800" i="1">
                            <a:latin typeface="Cambria Math" panose="02040503050406030204" charset="0"/>
                            <a:ea typeface="MS Mincho" charset="0"/>
                            <a:cs typeface="Cambria Math" panose="02040503050406030204" charset="0"/>
                          </a:rPr>
                        </m:ctrlPr>
                      </m:sSubPr>
                      <m:e>
                        <m:r>
                          <a:rPr lang="en-US" altLang="zh-CN" sz="2800" i="1">
                            <a:latin typeface="Cambria Math" panose="02040503050406030204" charset="0"/>
                            <a:ea typeface="MS Mincho" charset="0"/>
                            <a:cs typeface="Cambria Math" panose="02040503050406030204" charset="0"/>
                          </a:rPr>
                          <m:t>𝛿</m:t>
                        </m:r>
                      </m:e>
                      <m:sub>
                        <m:r>
                          <m:rPr>
                            <m:sty m:val="p"/>
                          </m:rPr>
                          <a:rPr lang="en-US" altLang="zh-CN" sz="2800" i="1">
                            <a:latin typeface="Cambria Math" panose="02040503050406030204" charset="0"/>
                            <a:ea typeface="宋体" panose="02010600030101010101" pitchFamily="2" charset="-122"/>
                            <a:cs typeface="Cambria Math" panose="02040503050406030204" charset="0"/>
                          </a:rPr>
                          <m:t>S</m:t>
                        </m:r>
                      </m:sub>
                    </m:sSub>
                    <m:r>
                      <a:rPr lang="en-US" altLang="zh-CN" sz="2800" i="1">
                        <a:latin typeface="Cambria Math" panose="02040503050406030204" charset="0"/>
                        <a:ea typeface="MS Mincho" charset="0"/>
                        <a:cs typeface="Cambria Math" panose="02040503050406030204" charset="0"/>
                      </a:rPr>
                      <m:t>=</m:t>
                    </m:r>
                    <m:f>
                      <m:fPr>
                        <m:ctrlPr>
                          <a:rPr lang="en-US" altLang="zh-CN" sz="2800" i="1">
                            <a:latin typeface="Cambria Math" panose="02040503050406030204" charset="0"/>
                            <a:ea typeface="MS Mincho" charset="0"/>
                            <a:cs typeface="Cambria Math" panose="02040503050406030204" charset="0"/>
                          </a:rPr>
                        </m:ctrlPr>
                      </m:fPr>
                      <m:num>
                        <m:r>
                          <a:rPr lang="en-US" altLang="zh-CN" sz="2800" i="1">
                            <a:latin typeface="Cambria Math" panose="02040503050406030204" charset="0"/>
                            <a:ea typeface="MS Mincho" charset="0"/>
                            <a:cs typeface="Cambria Math" panose="02040503050406030204" charset="0"/>
                          </a:rPr>
                          <m:t>1</m:t>
                        </m:r>
                      </m:num>
                      <m:den>
                        <m:sSup>
                          <m:sSupPr>
                            <m:ctrlPr>
                              <a:rPr lang="en-US" altLang="zh-CN" sz="2800" i="1">
                                <a:latin typeface="Cambria Math" panose="02040503050406030204" charset="0"/>
                                <a:ea typeface="MS Mincho" charset="0"/>
                                <a:cs typeface="Cambria Math" panose="02040503050406030204" charset="0"/>
                              </a:rPr>
                            </m:ctrlPr>
                          </m:sSupPr>
                          <m:e>
                            <m:r>
                              <a:rPr lang="en-US" altLang="zh-CN" sz="2800" i="1">
                                <a:latin typeface="Cambria Math" panose="02040503050406030204" charset="0"/>
                                <a:ea typeface="MS Mincho" charset="0"/>
                                <a:cs typeface="Cambria Math" panose="02040503050406030204" charset="0"/>
                              </a:rPr>
                              <m:t>2</m:t>
                            </m:r>
                          </m:e>
                          <m:sup>
                            <m:r>
                              <a:rPr lang="en-US" altLang="zh-CN" sz="2800" i="1">
                                <a:latin typeface="Cambria Math" panose="02040503050406030204" charset="0"/>
                                <a:ea typeface="宋体" panose="02010600030101010101" pitchFamily="2" charset="-122"/>
                                <a:cs typeface="Cambria Math" panose="02040503050406030204" charset="0"/>
                              </a:rPr>
                              <m:t>𝑛</m:t>
                            </m:r>
                          </m:sup>
                        </m:sSup>
                      </m:den>
                    </m:f>
                    <m:func>
                      <m:funcPr>
                        <m:ctrlPr>
                          <a:rPr lang="en-US" altLang="zh-CN" sz="2800" i="1">
                            <a:latin typeface="Cambria Math" panose="02040503050406030204" pitchFamily="18" charset="0"/>
                            <a:ea typeface="宋体" panose="02010600030101010101" pitchFamily="2" charset="-122"/>
                            <a:cs typeface="Cambria Math" panose="02040503050406030204" charset="0"/>
                          </a:rPr>
                        </m:ctrlPr>
                      </m:funcPr>
                      <m:fName>
                        <m:limLow>
                          <m:limLowPr>
                            <m:ctrlPr>
                              <a:rPr lang="en-US" altLang="zh-CN" sz="2800" i="1">
                                <a:latin typeface="Cambria Math" panose="02040503050406030204" charset="0"/>
                                <a:ea typeface="宋体" panose="02010600030101010101" pitchFamily="2" charset="-122"/>
                                <a:cs typeface="Cambria Math" panose="02040503050406030204" charset="0"/>
                              </a:rPr>
                            </m:ctrlPr>
                          </m:limLowPr>
                          <m:e>
                            <m:r>
                              <m:rPr>
                                <m:sty m:val="p"/>
                              </m:rPr>
                              <a:rPr lang="en-US" altLang="zh-CN" sz="2800" i="1">
                                <a:latin typeface="Cambria Math" panose="02040503050406030204" charset="0"/>
                                <a:ea typeface="宋体" panose="02010600030101010101" pitchFamily="2" charset="-122"/>
                                <a:cs typeface="Cambria Math" panose="02040503050406030204" charset="0"/>
                              </a:rPr>
                              <m:t>max</m:t>
                            </m:r>
                          </m:e>
                          <m:lim>
                            <m:eqArr>
                              <m:eqArrPr>
                                <m:ctrlPr>
                                  <a:rPr lang="en-US" altLang="zh-CN" sz="2800" i="1">
                                    <a:latin typeface="Cambria Math" panose="02040503050406030204" pitchFamily="18" charset="0"/>
                                    <a:ea typeface="宋体" panose="02010600030101010101" pitchFamily="2" charset="-122"/>
                                    <a:cs typeface="Cambria Math" panose="02040503050406030204" charset="0"/>
                                  </a:rPr>
                                </m:ctrlPr>
                              </m:eqArrPr>
                              <m:e>
                                <m:r>
                                  <a:rPr lang="en-US" altLang="zh-CN" sz="2800" i="1">
                                    <a:latin typeface="Cambria Math" panose="02040503050406030204" charset="0"/>
                                    <a:ea typeface="MS Mincho" charset="0"/>
                                    <a:cs typeface="Cambria Math" panose="02040503050406030204" charset="0"/>
                                  </a:rPr>
                                  <m:t>𝛼</m:t>
                                </m:r>
                                <m:r>
                                  <a:rPr lang="en-US" altLang="zh-CN" sz="2800" i="1">
                                    <a:latin typeface="Cambria Math" panose="02040503050406030204" charset="0"/>
                                    <a:ea typeface="MS Mincho" charset="0"/>
                                    <a:cs typeface="Cambria Math" panose="02040503050406030204" charset="0"/>
                                  </a:rPr>
                                  <m:t>∈</m:t>
                                </m:r>
                                <m:sSubSup>
                                  <m:sSubSupPr>
                                    <m:ctrlPr>
                                      <a:rPr lang="en-US" altLang="zh-CN" sz="2800" i="1">
                                        <a:latin typeface="Cambria Math" panose="02040503050406030204" charset="0"/>
                                        <a:ea typeface="宋体" panose="02010600030101010101" pitchFamily="2" charset="-122"/>
                                        <a:cs typeface="Cambria Math" panose="02040503050406030204" charset="0"/>
                                      </a:rPr>
                                    </m:ctrlPr>
                                  </m:sSubSupPr>
                                  <m:e>
                                    <m:r>
                                      <a:rPr lang="en-US" altLang="zh-CN" sz="2800" i="1">
                                        <a:latin typeface="Cambria Math" panose="02040503050406030204" charset="0"/>
                                        <a:ea typeface="宋体" panose="02010600030101010101" pitchFamily="2" charset="-122"/>
                                        <a:cs typeface="Cambria Math" panose="02040503050406030204" charset="0"/>
                                      </a:rPr>
                                      <m:t>𝐹</m:t>
                                    </m:r>
                                  </m:e>
                                  <m:sub>
                                    <m:r>
                                      <a:rPr lang="en-US" altLang="zh-CN" sz="2800" i="1">
                                        <a:latin typeface="Cambria Math" panose="02040503050406030204" charset="0"/>
                                        <a:ea typeface="MS Mincho" charset="0"/>
                                        <a:cs typeface="Cambria Math" panose="02040503050406030204" charset="0"/>
                                      </a:rPr>
                                      <m:t>2</m:t>
                                    </m:r>
                                  </m:sub>
                                  <m:sup>
                                    <m:r>
                                      <a:rPr lang="en-US" altLang="zh-CN" sz="2800" i="1">
                                        <a:latin typeface="Cambria Math" panose="02040503050406030204" charset="0"/>
                                        <a:ea typeface="宋体" panose="02010600030101010101" pitchFamily="2" charset="-122"/>
                                        <a:cs typeface="Cambria Math" panose="02040503050406030204" charset="0"/>
                                      </a:rPr>
                                      <m:t>𝑛</m:t>
                                    </m:r>
                                  </m:sup>
                                </m:sSubSup>
                              </m:e>
                              <m:e>
                                <m:r>
                                  <a:rPr lang="en-US" altLang="zh-CN" sz="2800" i="1">
                                    <a:latin typeface="Cambria Math" panose="02040503050406030204" charset="0"/>
                                    <a:ea typeface="MS Mincho" charset="0"/>
                                    <a:cs typeface="Cambria Math" panose="02040503050406030204" charset="0"/>
                                  </a:rPr>
                                  <m:t>𝛼</m:t>
                                </m:r>
                                <m:r>
                                  <a:rPr lang="en-US" altLang="zh-CN" sz="2800" i="1">
                                    <a:latin typeface="Cambria Math" panose="02040503050406030204" charset="0"/>
                                    <a:ea typeface="MS Mincho" charset="0"/>
                                    <a:cs typeface="Cambria Math" panose="02040503050406030204" charset="0"/>
                                  </a:rPr>
                                  <m:t>≠0</m:t>
                                </m:r>
                              </m:e>
                            </m:eqArr>
                          </m:lim>
                        </m:limLow>
                      </m:fName>
                      <m:e>
                        <m:func>
                          <m:funcPr>
                            <m:ctrlPr>
                              <a:rPr lang="en-US" altLang="zh-CN" sz="2800" i="1">
                                <a:latin typeface="Cambria Math" panose="02040503050406030204" pitchFamily="18" charset="0"/>
                                <a:ea typeface="宋体" panose="02010600030101010101" pitchFamily="2" charset="-122"/>
                                <a:cs typeface="Cambria Math" panose="02040503050406030204" charset="0"/>
                              </a:rPr>
                            </m:ctrlPr>
                          </m:funcPr>
                          <m:fName>
                            <m:limLow>
                              <m:limLowPr>
                                <m:ctrlPr>
                                  <a:rPr lang="en-US" altLang="zh-CN" sz="2800" i="1">
                                    <a:latin typeface="Cambria Math" panose="02040503050406030204" charset="0"/>
                                    <a:ea typeface="宋体" panose="02010600030101010101" pitchFamily="2" charset="-122"/>
                                    <a:cs typeface="Cambria Math" panose="02040503050406030204" charset="0"/>
                                  </a:rPr>
                                </m:ctrlPr>
                              </m:limLowPr>
                              <m:e>
                                <m:r>
                                  <m:rPr>
                                    <m:sty m:val="p"/>
                                  </m:rPr>
                                  <a:rPr lang="en-US" altLang="zh-CN" sz="2800" i="1">
                                    <a:latin typeface="Cambria Math" panose="02040503050406030204" charset="0"/>
                                    <a:ea typeface="宋体" panose="02010600030101010101" pitchFamily="2" charset="-122"/>
                                    <a:cs typeface="Cambria Math" panose="02040503050406030204" charset="0"/>
                                  </a:rPr>
                                  <m:t>max</m:t>
                                </m:r>
                              </m:e>
                              <m:lim>
                                <m:r>
                                  <a:rPr lang="en-US" altLang="zh-CN" sz="2800" i="1">
                                    <a:latin typeface="Cambria Math" panose="02040503050406030204" charset="0"/>
                                    <a:ea typeface="MS Mincho" charset="0"/>
                                    <a:cs typeface="Cambria Math" panose="02040503050406030204" charset="0"/>
                                  </a:rPr>
                                  <m:t>𝛽</m:t>
                                </m:r>
                                <m:r>
                                  <a:rPr lang="en-US" altLang="zh-CN" sz="2800" i="1">
                                    <a:latin typeface="Cambria Math" panose="02040503050406030204" charset="0"/>
                                    <a:ea typeface="MS Mincho" charset="0"/>
                                    <a:cs typeface="Cambria Math" panose="02040503050406030204" charset="0"/>
                                  </a:rPr>
                                  <m:t>∈</m:t>
                                </m:r>
                                <m:sSubSup>
                                  <m:sSubSupPr>
                                    <m:ctrlPr>
                                      <a:rPr lang="en-US" altLang="zh-CN" sz="2800" i="1">
                                        <a:latin typeface="Cambria Math" panose="02040503050406030204" charset="0"/>
                                        <a:ea typeface="宋体" panose="02010600030101010101" pitchFamily="2" charset="-122"/>
                                        <a:cs typeface="Cambria Math" panose="02040503050406030204" charset="0"/>
                                      </a:rPr>
                                    </m:ctrlPr>
                                  </m:sSubSupPr>
                                  <m:e>
                                    <m:r>
                                      <a:rPr lang="en-US" altLang="zh-CN" sz="2800" i="1">
                                        <a:latin typeface="Cambria Math" panose="02040503050406030204" charset="0"/>
                                        <a:ea typeface="宋体" panose="02010600030101010101" pitchFamily="2" charset="-122"/>
                                        <a:cs typeface="Cambria Math" panose="02040503050406030204" charset="0"/>
                                      </a:rPr>
                                      <m:t>𝐹</m:t>
                                    </m:r>
                                  </m:e>
                                  <m:sub>
                                    <m:r>
                                      <a:rPr lang="en-US" altLang="zh-CN" sz="2800" i="1">
                                        <a:latin typeface="Cambria Math" panose="02040503050406030204" charset="0"/>
                                        <a:ea typeface="MS Mincho" charset="0"/>
                                        <a:cs typeface="Cambria Math" panose="02040503050406030204" charset="0"/>
                                      </a:rPr>
                                      <m:t>2</m:t>
                                    </m:r>
                                  </m:sub>
                                  <m:sup>
                                    <m:r>
                                      <a:rPr lang="en-US" altLang="zh-CN" sz="2800" i="1">
                                        <a:latin typeface="Cambria Math" panose="02040503050406030204" charset="0"/>
                                        <a:ea typeface="宋体" panose="02010600030101010101" pitchFamily="2" charset="-122"/>
                                        <a:cs typeface="Cambria Math" panose="02040503050406030204" charset="0"/>
                                      </a:rPr>
                                      <m:t>𝑚</m:t>
                                    </m:r>
                                  </m:sup>
                                </m:sSubSup>
                              </m:lim>
                            </m:limLow>
                          </m:fName>
                          <m:e>
                            <m:d>
                              <m:dPr>
                                <m:begChr m:val="|"/>
                                <m:endChr m:val="|"/>
                                <m:ctrlPr>
                                  <a:rPr lang="en-US" altLang="zh-CN" sz="2800" i="1">
                                    <a:latin typeface="Cambria Math" panose="02040503050406030204" pitchFamily="18" charset="0"/>
                                    <a:ea typeface="宋体" panose="02010600030101010101" pitchFamily="2" charset="-122"/>
                                    <a:cs typeface="Cambria Math" panose="02040503050406030204" charset="0"/>
                                  </a:rPr>
                                </m:ctrlPr>
                              </m:dPr>
                              <m:e>
                                <m:d>
                                  <m:dPr>
                                    <m:begChr m:val="{"/>
                                    <m:endChr m:val="}"/>
                                    <m:ctrlPr>
                                      <a:rPr lang="en-US" altLang="zh-CN" sz="2800" i="1">
                                        <a:latin typeface="Cambria Math" panose="02040503050406030204" charset="0"/>
                                        <a:ea typeface="宋体" panose="02010600030101010101" pitchFamily="2" charset="-122"/>
                                        <a:cs typeface="Cambria Math" panose="02040503050406030204" charset="0"/>
                                      </a:rPr>
                                    </m:ctrlPr>
                                  </m:dPr>
                                  <m:e>
                                    <m:r>
                                      <a:rPr lang="en-US" altLang="zh-CN" sz="2800" i="1">
                                        <a:latin typeface="Cambria Math" panose="02040503050406030204" charset="0"/>
                                        <a:ea typeface="宋体" panose="02010600030101010101" pitchFamily="2" charset="-122"/>
                                        <a:cs typeface="Cambria Math" panose="02040503050406030204" charset="0"/>
                                      </a:rPr>
                                      <m:t>𝑋</m:t>
                                    </m:r>
                                    <m:r>
                                      <a:rPr lang="en-US" altLang="zh-CN" sz="2800" i="1">
                                        <a:latin typeface="Cambria Math" panose="02040503050406030204" charset="0"/>
                                        <a:ea typeface="MS Mincho" charset="0"/>
                                        <a:cs typeface="Cambria Math" panose="02040503050406030204" charset="0"/>
                                      </a:rPr>
                                      <m:t>∈</m:t>
                                    </m:r>
                                    <m:sSubSup>
                                      <m:sSubSupPr>
                                        <m:ctrlPr>
                                          <a:rPr lang="en-US" altLang="zh-CN" sz="2800" i="1">
                                            <a:latin typeface="Cambria Math" panose="02040503050406030204" charset="0"/>
                                            <a:ea typeface="宋体" panose="02010600030101010101" pitchFamily="2" charset="-122"/>
                                            <a:cs typeface="Cambria Math" panose="02040503050406030204" charset="0"/>
                                          </a:rPr>
                                        </m:ctrlPr>
                                      </m:sSubSupPr>
                                      <m:e>
                                        <m:r>
                                          <a:rPr lang="en-US" altLang="zh-CN" sz="2800" i="1">
                                            <a:latin typeface="Cambria Math" panose="02040503050406030204" charset="0"/>
                                            <a:ea typeface="宋体" panose="02010600030101010101" pitchFamily="2" charset="-122"/>
                                            <a:cs typeface="Cambria Math" panose="02040503050406030204" charset="0"/>
                                          </a:rPr>
                                          <m:t>𝐹</m:t>
                                        </m:r>
                                      </m:e>
                                      <m:sub>
                                        <m:r>
                                          <a:rPr lang="en-US" altLang="zh-CN" sz="2800" i="1">
                                            <a:latin typeface="Cambria Math" panose="02040503050406030204" charset="0"/>
                                            <a:ea typeface="MS Mincho" charset="0"/>
                                            <a:cs typeface="Cambria Math" panose="02040503050406030204" charset="0"/>
                                          </a:rPr>
                                          <m:t>2</m:t>
                                        </m:r>
                                      </m:sub>
                                      <m:sup>
                                        <m:r>
                                          <a:rPr lang="en-US" altLang="zh-CN" sz="2800" i="1">
                                            <a:latin typeface="Cambria Math" panose="02040503050406030204" charset="0"/>
                                            <a:ea typeface="宋体" panose="02010600030101010101" pitchFamily="2" charset="-122"/>
                                            <a:cs typeface="Cambria Math" panose="02040503050406030204" charset="0"/>
                                          </a:rPr>
                                          <m:t>𝑛</m:t>
                                        </m:r>
                                      </m:sup>
                                    </m:sSubSup>
                                    <m:r>
                                      <a:rPr lang="en-US" altLang="zh-CN" sz="2800" i="1">
                                        <a:latin typeface="Cambria Math" panose="02040503050406030204" charset="0"/>
                                        <a:ea typeface="MS Mincho" charset="0"/>
                                        <a:cs typeface="Cambria Math" panose="02040503050406030204" charset="0"/>
                                      </a:rPr>
                                      <m:t>:</m:t>
                                    </m:r>
                                    <m:r>
                                      <a:rPr lang="en-US" altLang="zh-CN" sz="2800" i="1">
                                        <a:latin typeface="Cambria Math" panose="02040503050406030204" charset="0"/>
                                        <a:ea typeface="宋体" panose="02010600030101010101" pitchFamily="2" charset="-122"/>
                                        <a:cs typeface="Cambria Math" panose="02040503050406030204" charset="0"/>
                                      </a:rPr>
                                      <m:t>𝑆</m:t>
                                    </m:r>
                                    <m:r>
                                      <a:rPr lang="en-US" altLang="zh-CN" sz="2800" i="1">
                                        <a:latin typeface="Cambria Math" panose="02040503050406030204" charset="0"/>
                                        <a:ea typeface="MS Mincho" charset="0"/>
                                        <a:cs typeface="Cambria Math" panose="02040503050406030204" charset="0"/>
                                      </a:rPr>
                                      <m:t>(</m:t>
                                    </m:r>
                                    <m:r>
                                      <a:rPr lang="en-US" altLang="zh-CN" sz="2800" i="1">
                                        <a:latin typeface="Cambria Math" panose="02040503050406030204" charset="0"/>
                                        <a:ea typeface="宋体" panose="02010600030101010101" pitchFamily="2" charset="-122"/>
                                        <a:cs typeface="Cambria Math" panose="02040503050406030204" charset="0"/>
                                      </a:rPr>
                                      <m:t>𝑋</m:t>
                                    </m:r>
                                    <m:r>
                                      <a:rPr lang="en-US" altLang="zh-CN" sz="2800" i="1">
                                        <a:latin typeface="Cambria Math" panose="02040503050406030204" charset="0"/>
                                        <a:ea typeface="MS Mincho" charset="0"/>
                                        <a:cs typeface="Cambria Math" panose="02040503050406030204" charset="0"/>
                                      </a:rPr>
                                      <m:t>⊕</m:t>
                                    </m:r>
                                    <m:r>
                                      <a:rPr lang="en-US" altLang="zh-CN" sz="2800" i="1">
                                        <a:latin typeface="Cambria Math" panose="02040503050406030204" charset="0"/>
                                        <a:ea typeface="MS Mincho" charset="0"/>
                                        <a:cs typeface="Cambria Math" panose="02040503050406030204" charset="0"/>
                                      </a:rPr>
                                      <m:t>𝛼</m:t>
                                    </m:r>
                                    <m:r>
                                      <a:rPr lang="en-US" altLang="zh-CN" sz="2800" i="1">
                                        <a:latin typeface="Cambria Math" panose="02040503050406030204" charset="0"/>
                                        <a:ea typeface="MS Mincho" charset="0"/>
                                        <a:cs typeface="Cambria Math" panose="02040503050406030204" charset="0"/>
                                      </a:rPr>
                                      <m:t>)−</m:t>
                                    </m:r>
                                    <m:r>
                                      <a:rPr lang="en-US" altLang="zh-CN" sz="2800" i="1">
                                        <a:latin typeface="Cambria Math" panose="02040503050406030204" charset="0"/>
                                        <a:ea typeface="宋体" panose="02010600030101010101" pitchFamily="2" charset="-122"/>
                                        <a:cs typeface="Cambria Math" panose="02040503050406030204" charset="0"/>
                                      </a:rPr>
                                      <m:t>𝑆</m:t>
                                    </m:r>
                                    <m:r>
                                      <a:rPr lang="en-US" altLang="zh-CN" sz="2800" i="1">
                                        <a:latin typeface="Cambria Math" panose="02040503050406030204" charset="0"/>
                                        <a:ea typeface="MS Mincho" charset="0"/>
                                        <a:cs typeface="Cambria Math" panose="02040503050406030204" charset="0"/>
                                      </a:rPr>
                                      <m:t>(</m:t>
                                    </m:r>
                                    <m:r>
                                      <a:rPr lang="en-US" altLang="zh-CN" sz="2800" i="1">
                                        <a:latin typeface="Cambria Math" panose="02040503050406030204" charset="0"/>
                                        <a:ea typeface="宋体" panose="02010600030101010101" pitchFamily="2" charset="-122"/>
                                        <a:cs typeface="Cambria Math" panose="02040503050406030204" charset="0"/>
                                      </a:rPr>
                                      <m:t>𝑋</m:t>
                                    </m:r>
                                    <m:r>
                                      <a:rPr lang="en-US" altLang="zh-CN" sz="2800" i="1">
                                        <a:latin typeface="Cambria Math" panose="02040503050406030204" charset="0"/>
                                        <a:ea typeface="MS Mincho" charset="0"/>
                                        <a:cs typeface="Cambria Math" panose="02040503050406030204" charset="0"/>
                                      </a:rPr>
                                      <m:t>)=</m:t>
                                    </m:r>
                                    <m:r>
                                      <a:rPr lang="en-US" altLang="zh-CN" sz="2800" i="1">
                                        <a:latin typeface="Cambria Math" panose="02040503050406030204" charset="0"/>
                                        <a:ea typeface="MS Mincho" charset="0"/>
                                        <a:cs typeface="Cambria Math" panose="02040503050406030204" charset="0"/>
                                      </a:rPr>
                                      <m:t>𝛽</m:t>
                                    </m:r>
                                  </m:e>
                                </m:d>
                              </m:e>
                            </m:d>
                          </m:e>
                        </m:func>
                      </m:e>
                    </m:func>
                  </m:oMath>
                </a14:m>
                <a:r>
                  <a:rPr sz="2800">
                    <a:latin typeface="Times New Roman" panose="02020603050405020304" pitchFamily="18" charset="0"/>
                    <a:ea typeface="宋体" panose="02010600030101010101" pitchFamily="2" charset="-122"/>
                    <a:cs typeface="Times New Roman" panose="02020603050405020304" pitchFamily="18" charset="0"/>
                  </a:rPr>
                  <a:t>，称</a:t>
                </a:r>
                <a14:m>
                  <m:oMath xmlns:m="http://schemas.openxmlformats.org/officeDocument/2006/math">
                    <m:sSub>
                      <m:sSubPr>
                        <m:ctrlPr>
                          <a:rPr lang="en-US" altLang="zh-CN" sz="2800" i="1">
                            <a:latin typeface="Cambria Math" panose="02040503050406030204" charset="0"/>
                            <a:ea typeface="MS Mincho" charset="0"/>
                            <a:cs typeface="Cambria Math" panose="02040503050406030204" charset="0"/>
                          </a:rPr>
                        </m:ctrlPr>
                      </m:sSubPr>
                      <m:e>
                        <m:r>
                          <a:rPr lang="en-US" altLang="zh-CN" sz="2800" i="1">
                            <a:latin typeface="Cambria Math" panose="02040503050406030204" charset="0"/>
                            <a:ea typeface="MS Mincho" charset="0"/>
                            <a:cs typeface="Cambria Math" panose="02040503050406030204" charset="0"/>
                          </a:rPr>
                          <m:t>𝛿</m:t>
                        </m:r>
                      </m:e>
                      <m:sub>
                        <m:r>
                          <m:rPr>
                            <m:sty m:val="p"/>
                          </m:rPr>
                          <a:rPr lang="en-US" altLang="zh-CN" sz="2800" i="1">
                            <a:latin typeface="Cambria Math" panose="02040503050406030204" charset="0"/>
                            <a:ea typeface="宋体" panose="02010600030101010101" pitchFamily="2" charset="-122"/>
                            <a:cs typeface="Cambria Math" panose="02040503050406030204" charset="0"/>
                          </a:rPr>
                          <m:t>S</m:t>
                        </m:r>
                      </m:sub>
                    </m:sSub>
                  </m:oMath>
                </a14:m>
                <a:r>
                  <a:rPr sz="2800">
                    <a:latin typeface="Times New Roman" panose="02020603050405020304" pitchFamily="18" charset="0"/>
                    <a:ea typeface="宋体" panose="02010600030101010101" pitchFamily="2" charset="-122"/>
                    <a:cs typeface="Times New Roman" panose="02020603050405020304" pitchFamily="18" charset="0"/>
                  </a:rPr>
                  <a:t>为S盒的差分均匀性。</a:t>
                </a:r>
              </a:p>
              <a:p>
                <a:pPr defTabSz="457200">
                  <a:lnSpc>
                    <a:spcPct val="140000"/>
                  </a:lnSpc>
                  <a:spcAft>
                    <a:spcPts val="1000"/>
                  </a:spcAft>
                  <a:defRPr sz="1900" b="0">
                    <a:solidFill>
                      <a:srgbClr val="000000"/>
                    </a:solidFill>
                    <a:latin typeface="Times New Roman" panose="02020603050405020304"/>
                  </a:defRPr>
                </a:pPr>
                <a:r>
                  <a:rPr sz="2800">
                    <a:latin typeface="Times New Roman" panose="02020603050405020304" pitchFamily="18" charset="0"/>
                    <a:ea typeface="宋体" panose="02010600030101010101" pitchFamily="2" charset="-122"/>
                    <a:cs typeface="Times New Roman" panose="02020603050405020304" pitchFamily="18" charset="0"/>
                  </a:rPr>
                  <a:t>为了抵抗差分密码攻击，差分均匀性应该越低越好。</a:t>
                </a:r>
              </a:p>
              <a:p>
                <a:pPr defTabSz="457200">
                  <a:lnSpc>
                    <a:spcPct val="140000"/>
                  </a:lnSpc>
                  <a:spcAft>
                    <a:spcPts val="1000"/>
                  </a:spcAft>
                  <a:defRPr sz="1900" b="0">
                    <a:solidFill>
                      <a:srgbClr val="000000"/>
                    </a:solidFill>
                    <a:latin typeface="Times New Roman" panose="02020603050405020304"/>
                  </a:defRPr>
                </a:pPr>
                <a:r>
                  <a:rPr sz="2800">
                    <a:latin typeface="Times New Roman" panose="02020603050405020304" pitchFamily="18" charset="0"/>
                    <a:ea typeface="宋体" panose="02010600030101010101" pitchFamily="2" charset="-122"/>
                    <a:cs typeface="Times New Roman" panose="02020603050405020304" pitchFamily="18" charset="0"/>
                  </a:rPr>
                  <a:t>SM4分组密码算法中的S盒的最大差分概率仅为2⁻</a:t>
                </a:r>
                <a:r>
                  <a:rPr lang="en-US" sz="2800" baseline="30000">
                    <a:latin typeface="Times New Roman" panose="02020603050405020304" pitchFamily="18" charset="0"/>
                    <a:ea typeface="宋体" panose="02010600030101010101" pitchFamily="2" charset="-122"/>
                    <a:cs typeface="Times New Roman" panose="02020603050405020304" pitchFamily="18" charset="0"/>
                  </a:rPr>
                  <a:t>6</a:t>
                </a:r>
                <a:r>
                  <a:rPr sz="2800">
                    <a:latin typeface="Times New Roman" panose="02020603050405020304" pitchFamily="18" charset="0"/>
                    <a:ea typeface="宋体" panose="02010600030101010101" pitchFamily="2" charset="-122"/>
                    <a:cs typeface="Times New Roman" panose="02020603050405020304" pitchFamily="18" charset="0"/>
                  </a:rPr>
                  <a:t>，具有较好的抗差分分析特性。</a:t>
                </a:r>
              </a:p>
              <a:p>
                <a:pPr defTabSz="457200">
                  <a:lnSpc>
                    <a:spcPct val="140000"/>
                  </a:lnSpc>
                  <a:spcAft>
                    <a:spcPts val="1000"/>
                  </a:spcAft>
                  <a:defRPr sz="1900" b="0">
                    <a:solidFill>
                      <a:srgbClr val="000000"/>
                    </a:solidFill>
                    <a:latin typeface="Times New Roman" panose="02020603050405020304"/>
                  </a:defRPr>
                </a:pPr>
                <a:endParaRPr sz="2800">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1371600" y="1271270"/>
                <a:ext cx="15727680" cy="5606415"/>
              </a:xfrm>
              <a:prstGeom prst="rect">
                <a:avLst/>
              </a:prstGeom>
              <a:blipFill rotWithShape="1">
                <a:blip r:embed="rId2"/>
                <a:stretch>
                  <a:fillRect/>
                </a:stretch>
              </a:blipFill>
            </p:spPr>
            <p:txBody>
              <a:bodyPr/>
              <a:lstStyle/>
              <a:p>
                <a:r>
                  <a:rPr lang="zh-CN" altLang="en-US">
                    <a:noFill/>
                  </a:rPr>
                  <a:t> </a:t>
                </a:r>
              </a:p>
            </p:txBody>
          </p:sp>
        </mc:Fallback>
      </mc:AlternateContent>
      <p:sp>
        <p:nvSpPr>
          <p:cNvPr id="6" name="TextBox 5"/>
          <p:cNvSpPr txBox="1"/>
          <p:nvPr/>
        </p:nvSpPr>
        <p:spPr>
          <a:xfrm>
            <a:off x="17312132" y="9409176"/>
            <a:ext cx="363220" cy="306705"/>
          </a:xfrm>
          <a:prstGeom prst="rect">
            <a:avLst/>
          </a:prstGeom>
          <a:noFill/>
        </p:spPr>
        <p:txBody>
          <a:bodyPr wrap="none">
            <a:spAutoFit/>
          </a:bodyPr>
          <a:lstStyle/>
          <a:p>
            <a:pPr algn="r" defTabSz="457200">
              <a:defRPr sz="1800">
                <a:solidFill>
                  <a:srgbClr val="000000"/>
                </a:solidFill>
                <a:latin typeface="Times New Roman" panose="02020603050405020304"/>
              </a:defRPr>
            </a:pPr>
            <a:r>
              <a:rPr lang="en-US" sz="1400">
                <a:solidFill>
                  <a:srgbClr val="FFC000"/>
                </a:solidFill>
                <a:latin typeface="+mn-lt"/>
              </a:rPr>
              <a:t>26</a:t>
            </a:r>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3"/>
            <a:stretch>
              <a:fillRect/>
            </a:stretch>
          </p:blipFill>
          <p:spPr>
            <a:xfrm>
              <a:off x="13944600" y="877286"/>
              <a:ext cx="2771429" cy="47619"/>
            </a:xfrm>
            <a:prstGeom prst="rect">
              <a:avLst/>
            </a:prstGeom>
          </p:spPr>
        </p:pic>
      </p:grpSp>
      <p:sp>
        <p:nvSpPr>
          <p:cNvPr id="8"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非线性变换</a:t>
            </a:r>
          </a:p>
        </p:txBody>
      </p:sp>
      <p:sp>
        <p:nvSpPr>
          <p:cNvPr id="9"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4.2.4</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pic>
        <p:nvPicPr>
          <p:cNvPr id="10" name="图片 2"/>
          <p:cNvPicPr>
            <a:picLocks noChangeAspect="1"/>
          </p:cNvPicPr>
          <p:nvPr/>
        </p:nvPicPr>
        <p:blipFill>
          <a:blip r:embed="rId4">
            <a:alphaModFix amt="80000"/>
          </a:blip>
          <a:stretch>
            <a:fillRect/>
          </a:stretch>
        </p:blipFill>
        <p:spPr>
          <a:xfrm>
            <a:off x="643255"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1371600" y="1271270"/>
                <a:ext cx="15727680" cy="7251065"/>
              </a:xfrm>
              <a:prstGeom prst="rect">
                <a:avLst/>
              </a:prstGeom>
              <a:noFill/>
            </p:spPr>
            <p:txBody>
              <a:bodyPr wrap="square">
                <a:spAutoFit/>
              </a:bodyPr>
              <a:lstStyle/>
              <a:p>
                <a:pPr defTabSz="457200">
                  <a:lnSpc>
                    <a:spcPct val="140000"/>
                  </a:lnSpc>
                  <a:spcAft>
                    <a:spcPts val="1000"/>
                  </a:spcAft>
                  <a:defRPr sz="1900" b="0">
                    <a:solidFill>
                      <a:srgbClr val="000000"/>
                    </a:solidFill>
                    <a:latin typeface="Times New Roman" panose="02020603050405020304"/>
                  </a:defRPr>
                </a:pPr>
                <a:r>
                  <a:rPr sz="2800" b="1">
                    <a:latin typeface="Times New Roman" panose="02020603050405020304" pitchFamily="18" charset="0"/>
                    <a:ea typeface="宋体" panose="02010600030101010101" pitchFamily="2" charset="-122"/>
                    <a:cs typeface="Times New Roman" panose="02020603050405020304" pitchFamily="18" charset="0"/>
                  </a:rPr>
                  <a:t>3.非线性度</a:t>
                </a:r>
              </a:p>
              <a:p>
                <a:pPr defTabSz="457200">
                  <a:lnSpc>
                    <a:spcPct val="140000"/>
                  </a:lnSpc>
                  <a:spcAft>
                    <a:spcPts val="1000"/>
                  </a:spcAft>
                  <a:defRPr sz="1900" b="0">
                    <a:solidFill>
                      <a:srgbClr val="000000"/>
                    </a:solidFill>
                    <a:latin typeface="Times New Roman" panose="02020603050405020304"/>
                  </a:defRPr>
                </a:pPr>
                <a:r>
                  <a:rPr lang="en-US" sz="2800">
                    <a:latin typeface="Times New Roman" panose="02020603050405020304" pitchFamily="18" charset="0"/>
                    <a:ea typeface="宋体" panose="02010600030101010101" pitchFamily="2" charset="-122"/>
                    <a:cs typeface="Times New Roman" panose="02020603050405020304" pitchFamily="18" charset="0"/>
                  </a:rPr>
                  <a:t>    </a:t>
                </a:r>
                <a:r>
                  <a:rPr sz="2800">
                    <a:latin typeface="Times New Roman" panose="02020603050405020304" pitchFamily="18" charset="0"/>
                    <a:ea typeface="宋体" panose="02010600030101010101" pitchFamily="2" charset="-122"/>
                    <a:cs typeface="Times New Roman" panose="02020603050405020304" pitchFamily="18" charset="0"/>
                  </a:rPr>
                  <a:t>S盒的非线性度定义如下：令S</a:t>
                </a:r>
                <a:r>
                  <a:rPr lang="en-US" sz="2800">
                    <a:latin typeface="Times New Roman" panose="02020603050405020304" pitchFamily="18" charset="0"/>
                    <a:ea typeface="宋体" panose="02010600030101010101" pitchFamily="2" charset="-122"/>
                    <a:cs typeface="Times New Roman" panose="02020603050405020304" pitchFamily="18" charset="0"/>
                  </a:rPr>
                  <a:t>(x) =(f</a:t>
                </a:r>
                <a:r>
                  <a:rPr lang="en-US" sz="2800" baseline="-25000">
                    <a:latin typeface="Times New Roman" panose="02020603050405020304" pitchFamily="18" charset="0"/>
                    <a:ea typeface="宋体" panose="02010600030101010101" pitchFamily="2" charset="-122"/>
                    <a:cs typeface="Times New Roman" panose="02020603050405020304" pitchFamily="18" charset="0"/>
                  </a:rPr>
                  <a:t>1</a:t>
                </a:r>
                <a:r>
                  <a:rPr lang="en-US" sz="2800">
                    <a:latin typeface="Times New Roman" panose="02020603050405020304" pitchFamily="18" charset="0"/>
                    <a:ea typeface="宋体" panose="02010600030101010101" pitchFamily="2" charset="-122"/>
                    <a:cs typeface="Times New Roman" panose="02020603050405020304" pitchFamily="18" charset="0"/>
                  </a:rPr>
                  <a:t>(x) , f</a:t>
                </a:r>
                <a:r>
                  <a:rPr lang="en-US" sz="2800" baseline="-25000">
                    <a:latin typeface="Times New Roman" panose="02020603050405020304" pitchFamily="18" charset="0"/>
                    <a:ea typeface="宋体" panose="02010600030101010101" pitchFamily="2" charset="-122"/>
                    <a:cs typeface="Times New Roman" panose="02020603050405020304" pitchFamily="18" charset="0"/>
                  </a:rPr>
                  <a:t>2</a:t>
                </a:r>
                <a:r>
                  <a:rPr lang="en-US" sz="2800">
                    <a:latin typeface="Times New Roman" panose="02020603050405020304" pitchFamily="18" charset="0"/>
                    <a:ea typeface="宋体" panose="02010600030101010101" pitchFamily="2" charset="-122"/>
                    <a:cs typeface="Times New Roman" panose="02020603050405020304" pitchFamily="18" charset="0"/>
                  </a:rPr>
                  <a:t>(x) , .....,f</a:t>
                </a:r>
                <a:r>
                  <a:rPr lang="en-US" sz="2800" baseline="-25000">
                    <a:latin typeface="Times New Roman" panose="02020603050405020304" pitchFamily="18" charset="0"/>
                    <a:ea typeface="宋体" panose="02010600030101010101" pitchFamily="2" charset="-122"/>
                    <a:cs typeface="Times New Roman" panose="02020603050405020304" pitchFamily="18" charset="0"/>
                  </a:rPr>
                  <a:t>m</a:t>
                </a:r>
                <a:r>
                  <a:rPr lang="en-US" sz="2800">
                    <a:latin typeface="Times New Roman" panose="02020603050405020304" pitchFamily="18" charset="0"/>
                    <a:ea typeface="宋体" panose="02010600030101010101" pitchFamily="2" charset="-122"/>
                    <a:cs typeface="Times New Roman" panose="02020603050405020304" pitchFamily="18" charset="0"/>
                  </a:rPr>
                  <a:t>(x)) : </a:t>
                </a:r>
                <a14:m>
                  <m:oMath xmlns:m="http://schemas.openxmlformats.org/officeDocument/2006/math">
                    <m:sSubSup>
                      <m:sSubSupPr>
                        <m:ctrlPr>
                          <a:rPr lang="en-US" sz="2800" i="1">
                            <a:latin typeface="Cambria Math" panose="02040503050406030204" charset="0"/>
                            <a:ea typeface="宋体" panose="02010600030101010101" pitchFamily="2" charset="-122"/>
                            <a:cs typeface="Cambria Math" panose="02040503050406030204" charset="0"/>
                          </a:rPr>
                        </m:ctrlPr>
                      </m:sSubSupPr>
                      <m:e>
                        <m:r>
                          <a:rPr lang="en-US" sz="2800" i="1">
                            <a:latin typeface="Cambria Math" panose="02040503050406030204" charset="0"/>
                            <a:ea typeface="宋体" panose="02010600030101010101" pitchFamily="2" charset="-122"/>
                            <a:cs typeface="Cambria Math" panose="02040503050406030204" charset="0"/>
                          </a:rPr>
                          <m:t>𝐹</m:t>
                        </m:r>
                      </m:e>
                      <m:sub>
                        <m:r>
                          <a:rPr lang="en-US" sz="2800" i="1">
                            <a:latin typeface="Cambria Math" panose="02040503050406030204" charset="0"/>
                            <a:ea typeface="MS Mincho" charset="0"/>
                            <a:cs typeface="Cambria Math" panose="02040503050406030204" charset="0"/>
                          </a:rPr>
                          <m:t>2</m:t>
                        </m:r>
                      </m:sub>
                      <m:sup>
                        <m:r>
                          <a:rPr lang="en-US" sz="2800" i="1">
                            <a:latin typeface="Cambria Math" panose="02040503050406030204" charset="0"/>
                            <a:ea typeface="宋体" panose="02010600030101010101" pitchFamily="2" charset="-122"/>
                            <a:cs typeface="Cambria Math" panose="02040503050406030204" charset="0"/>
                          </a:rPr>
                          <m:t>𝑛</m:t>
                        </m:r>
                      </m:sup>
                    </m:sSubSup>
                  </m:oMath>
                </a14:m>
                <a:r>
                  <a:rPr sz="2800">
                    <a:latin typeface="Times New Roman" panose="02020603050405020304" pitchFamily="18" charset="0"/>
                    <a:ea typeface="宋体" panose="02010600030101010101" pitchFamily="2" charset="-122"/>
                    <a:cs typeface="Times New Roman" panose="02020603050405020304" pitchFamily="18" charset="0"/>
                  </a:rPr>
                  <a:t> → </a:t>
                </a:r>
                <a14:m>
                  <m:oMath xmlns:m="http://schemas.openxmlformats.org/officeDocument/2006/math">
                    <m:sSubSup>
                      <m:sSubSupPr>
                        <m:ctrlPr>
                          <a:rPr lang="en-US" sz="2800" i="1">
                            <a:latin typeface="Cambria Math" panose="02040503050406030204" charset="0"/>
                            <a:ea typeface="宋体" panose="02010600030101010101" pitchFamily="2" charset="-122"/>
                            <a:cs typeface="Cambria Math" panose="02040503050406030204" charset="0"/>
                          </a:rPr>
                        </m:ctrlPr>
                      </m:sSubSupPr>
                      <m:e>
                        <m:r>
                          <a:rPr lang="en-US" sz="2800" i="1">
                            <a:latin typeface="Cambria Math" panose="02040503050406030204" charset="0"/>
                            <a:ea typeface="宋体" panose="02010600030101010101" pitchFamily="2" charset="-122"/>
                            <a:cs typeface="Cambria Math" panose="02040503050406030204" charset="0"/>
                          </a:rPr>
                          <m:t>𝐹</m:t>
                        </m:r>
                      </m:e>
                      <m:sub>
                        <m:r>
                          <a:rPr lang="en-US" sz="2800" i="1">
                            <a:latin typeface="Cambria Math" panose="02040503050406030204" charset="0"/>
                            <a:ea typeface="MS Mincho" charset="0"/>
                            <a:cs typeface="Cambria Math" panose="02040503050406030204" charset="0"/>
                          </a:rPr>
                          <m:t>2</m:t>
                        </m:r>
                      </m:sub>
                      <m:sup>
                        <m:r>
                          <a:rPr lang="en-US" sz="2800" i="1">
                            <a:latin typeface="Cambria Math" panose="02040503050406030204" charset="0"/>
                            <a:ea typeface="宋体" panose="02010600030101010101" pitchFamily="2" charset="-122"/>
                            <a:cs typeface="Cambria Math" panose="02040503050406030204" charset="0"/>
                          </a:rPr>
                          <m:t>𝑚</m:t>
                        </m:r>
                      </m:sup>
                    </m:sSubSup>
                  </m:oMath>
                </a14:m>
                <a:r>
                  <a:rPr sz="2800">
                    <a:latin typeface="Times New Roman" panose="02020603050405020304" pitchFamily="18" charset="0"/>
                    <a:ea typeface="宋体" panose="02010600030101010101" pitchFamily="2" charset="-122"/>
                    <a:cs typeface="Times New Roman" panose="02020603050405020304" pitchFamily="18" charset="0"/>
                  </a:rPr>
                  <a:t>是一个多输出函数，</a:t>
                </a:r>
              </a:p>
              <a:p>
                <a:pPr defTabSz="457200">
                  <a:lnSpc>
                    <a:spcPct val="140000"/>
                  </a:lnSpc>
                  <a:spcAft>
                    <a:spcPts val="1000"/>
                  </a:spcAft>
                  <a:defRPr sz="1900" b="0">
                    <a:solidFill>
                      <a:srgbClr val="000000"/>
                    </a:solidFill>
                    <a:latin typeface="Times New Roman" panose="02020603050405020304"/>
                  </a:defRPr>
                </a:pPr>
                <a:r>
                  <a:rPr sz="2800">
                    <a:latin typeface="Times New Roman" panose="02020603050405020304" pitchFamily="18" charset="0"/>
                    <a:ea typeface="宋体" panose="02010600030101010101" pitchFamily="2" charset="-122"/>
                    <a:cs typeface="Times New Roman" panose="02020603050405020304" pitchFamily="18" charset="0"/>
                  </a:rPr>
                  <a:t>称</a:t>
                </a:r>
                <a14:m>
                  <m:oMath xmlns:m="http://schemas.openxmlformats.org/officeDocument/2006/math">
                    <m:sSub>
                      <m:sSubPr>
                        <m:ctrlPr>
                          <a:rPr lang="en-US" altLang="zh-CN" sz="2800" i="1">
                            <a:latin typeface="Cambria Math" panose="02040503050406030204" charset="0"/>
                            <a:ea typeface="宋体" panose="02010600030101010101" pitchFamily="2" charset="-122"/>
                            <a:cs typeface="Cambria Math" panose="02040503050406030204" charset="0"/>
                          </a:rPr>
                        </m:ctrlPr>
                      </m:sSubPr>
                      <m:e>
                        <m:r>
                          <a:rPr lang="en-US" altLang="zh-CN" sz="2800" i="1">
                            <a:latin typeface="Cambria Math" panose="02040503050406030204" charset="0"/>
                            <a:ea typeface="宋体" panose="02010600030101010101" pitchFamily="2" charset="-122"/>
                            <a:cs typeface="Cambria Math" panose="02040503050406030204" charset="0"/>
                          </a:rPr>
                          <m:t>𝑁</m:t>
                        </m:r>
                      </m:e>
                      <m:sub>
                        <m:r>
                          <a:rPr lang="en-US" altLang="zh-CN" sz="2800" i="1">
                            <a:latin typeface="Cambria Math" panose="02040503050406030204" charset="0"/>
                            <a:ea typeface="宋体" panose="02010600030101010101" pitchFamily="2" charset="-122"/>
                            <a:cs typeface="Cambria Math" panose="02040503050406030204" charset="0"/>
                          </a:rPr>
                          <m:t>𝑆</m:t>
                        </m:r>
                      </m:sub>
                    </m:sSub>
                    <m:r>
                      <a:rPr lang="en-US" altLang="zh-CN" sz="2800" i="1">
                        <a:latin typeface="Cambria Math" panose="02040503050406030204" charset="0"/>
                        <a:ea typeface="MS Mincho" charset="0"/>
                        <a:cs typeface="Cambria Math" panose="02040503050406030204" charset="0"/>
                      </a:rPr>
                      <m:t>=</m:t>
                    </m:r>
                    <m:func>
                      <m:funcPr>
                        <m:ctrlPr>
                          <a:rPr lang="en-US" altLang="zh-CN" sz="2800" i="1">
                            <a:latin typeface="Cambria Math" panose="02040503050406030204" pitchFamily="18" charset="0"/>
                            <a:ea typeface="宋体" panose="02010600030101010101" pitchFamily="2" charset="-122"/>
                            <a:cs typeface="Cambria Math" panose="02040503050406030204" charset="0"/>
                          </a:rPr>
                        </m:ctrlPr>
                      </m:funcPr>
                      <m:fName>
                        <m:limLow>
                          <m:limLowPr>
                            <m:ctrlPr>
                              <a:rPr lang="en-US" altLang="zh-CN" sz="2800" i="1">
                                <a:latin typeface="Cambria Math" panose="02040503050406030204" charset="0"/>
                                <a:ea typeface="宋体" panose="02010600030101010101" pitchFamily="2" charset="-122"/>
                                <a:cs typeface="Cambria Math" panose="02040503050406030204" charset="0"/>
                              </a:rPr>
                            </m:ctrlPr>
                          </m:limLowPr>
                          <m:e>
                            <m:r>
                              <a:rPr lang="en-US" altLang="zh-CN" sz="2800" i="1">
                                <a:latin typeface="Cambria Math" panose="02040503050406030204" charset="0"/>
                                <a:ea typeface="宋体" panose="02010600030101010101" pitchFamily="2" charset="-122"/>
                                <a:cs typeface="Cambria Math" panose="02040503050406030204" charset="0"/>
                              </a:rPr>
                              <m:t>𝑚𝑖𝑛</m:t>
                            </m:r>
                          </m:e>
                          <m:lim>
                            <m:eqArr>
                              <m:eqArrPr>
                                <m:ctrlPr>
                                  <a:rPr lang="en-US" altLang="zh-CN" sz="2800" i="1" baseline="-25000">
                                    <a:latin typeface="Cambria Math" panose="02040503050406030204" pitchFamily="18" charset="0"/>
                                    <a:ea typeface="宋体" panose="02010600030101010101" pitchFamily="2" charset="-122"/>
                                    <a:cs typeface="Cambria Math" panose="02040503050406030204" charset="0"/>
                                  </a:rPr>
                                </m:ctrlPr>
                              </m:eqArrPr>
                              <m:e>
                                <m:r>
                                  <a:rPr lang="en-US" altLang="zh-CN" sz="2800" i="1">
                                    <a:latin typeface="Cambria Math" panose="02040503050406030204" charset="0"/>
                                    <a:ea typeface="宋体" panose="02010600030101010101" pitchFamily="2" charset="-122"/>
                                    <a:cs typeface="Cambria Math" panose="02040503050406030204" charset="0"/>
                                  </a:rPr>
                                  <m:t>𝑙</m:t>
                                </m:r>
                                <m:r>
                                  <a:rPr lang="en-US" altLang="zh-CN" sz="2800" i="1">
                                    <a:latin typeface="Cambria Math" panose="02040503050406030204" charset="0"/>
                                    <a:ea typeface="MS Mincho" charset="0"/>
                                    <a:cs typeface="Cambria Math" panose="02040503050406030204" charset="0"/>
                                  </a:rPr>
                                  <m:t>∈</m:t>
                                </m:r>
                                <m:r>
                                  <a:rPr lang="en-US" altLang="zh-CN" sz="2800" i="1">
                                    <a:latin typeface="Cambria Math" panose="02040503050406030204" charset="0"/>
                                    <a:ea typeface="宋体" panose="02010600030101010101" pitchFamily="2" charset="-122"/>
                                    <a:cs typeface="Cambria Math" panose="02040503050406030204" charset="0"/>
                                  </a:rPr>
                                  <m:t>𝐿</m:t>
                                </m:r>
                                <m:r>
                                  <a:rPr lang="en-US" altLang="zh-CN" sz="2800" i="1" baseline="-25000">
                                    <a:latin typeface="Cambria Math" panose="02040503050406030204" charset="0"/>
                                    <a:ea typeface="宋体" panose="02010600030101010101" pitchFamily="2" charset="-122"/>
                                    <a:cs typeface="Cambria Math" panose="02040503050406030204" charset="0"/>
                                  </a:rPr>
                                  <m:t>𝑛</m:t>
                                </m:r>
                              </m:e>
                              <m:e>
                                <m:r>
                                  <a:rPr lang="en-US" altLang="zh-CN" sz="2800" i="1" baseline="-25000">
                                    <a:latin typeface="Cambria Math" panose="02040503050406030204" charset="0"/>
                                    <a:ea typeface="MS Mincho" charset="0"/>
                                    <a:cs typeface="Cambria Math" panose="02040503050406030204" charset="0"/>
                                  </a:rPr>
                                  <m:t>0≠</m:t>
                                </m:r>
                                <m:r>
                                  <a:rPr lang="en-US" altLang="zh-CN" sz="2800" i="1" baseline="-25000">
                                    <a:latin typeface="Cambria Math" panose="02040503050406030204" charset="0"/>
                                    <a:ea typeface="宋体" panose="02010600030101010101" pitchFamily="2" charset="-122"/>
                                    <a:cs typeface="Cambria Math" panose="02040503050406030204" charset="0"/>
                                  </a:rPr>
                                  <m:t>𝑢</m:t>
                                </m:r>
                                <m:r>
                                  <a:rPr lang="en-US" altLang="zh-CN" sz="2800" i="1" baseline="-25000">
                                    <a:latin typeface="Cambria Math" panose="02040503050406030204" charset="0"/>
                                    <a:ea typeface="MS Mincho" charset="0"/>
                                    <a:cs typeface="Cambria Math" panose="02040503050406030204" charset="0"/>
                                  </a:rPr>
                                  <m:t>∈</m:t>
                                </m:r>
                                <m:sSubSup>
                                  <m:sSubSupPr>
                                    <m:ctrlPr>
                                      <a:rPr lang="en-US" sz="2800" i="1">
                                        <a:latin typeface="Cambria Math" panose="02040503050406030204" charset="0"/>
                                        <a:ea typeface="宋体" panose="02010600030101010101" pitchFamily="2" charset="-122"/>
                                        <a:cs typeface="Cambria Math" panose="02040503050406030204" charset="0"/>
                                      </a:rPr>
                                    </m:ctrlPr>
                                  </m:sSubSupPr>
                                  <m:e>
                                    <m:r>
                                      <a:rPr lang="en-US" sz="2800" i="1">
                                        <a:latin typeface="Cambria Math" panose="02040503050406030204" charset="0"/>
                                        <a:ea typeface="宋体" panose="02010600030101010101" pitchFamily="2" charset="-122"/>
                                        <a:cs typeface="Cambria Math" panose="02040503050406030204" charset="0"/>
                                      </a:rPr>
                                      <m:t>𝐹</m:t>
                                    </m:r>
                                  </m:e>
                                  <m:sub>
                                    <m:r>
                                      <a:rPr lang="en-US" sz="2800" i="1">
                                        <a:latin typeface="Cambria Math" panose="02040503050406030204" charset="0"/>
                                        <a:ea typeface="MS Mincho" charset="0"/>
                                        <a:cs typeface="Cambria Math" panose="02040503050406030204" charset="0"/>
                                      </a:rPr>
                                      <m:t>2</m:t>
                                    </m:r>
                                  </m:sub>
                                  <m:sup>
                                    <m:r>
                                      <a:rPr lang="en-US" sz="2800" i="1">
                                        <a:latin typeface="Cambria Math" panose="02040503050406030204" charset="0"/>
                                        <a:ea typeface="宋体" panose="02010600030101010101" pitchFamily="2" charset="-122"/>
                                        <a:cs typeface="Cambria Math" panose="02040503050406030204" charset="0"/>
                                      </a:rPr>
                                      <m:t>𝑛</m:t>
                                    </m:r>
                                  </m:sup>
                                </m:sSubSup>
                              </m:e>
                              <m:e>
                                <m:r>
                                  <a:rPr lang="en-US" altLang="zh-CN" sz="2800" i="1">
                                    <a:latin typeface="Cambria Math" panose="02040503050406030204" charset="0"/>
                                    <a:ea typeface="宋体" panose="02010600030101010101" pitchFamily="2" charset="-122"/>
                                    <a:cs typeface="Cambria Math" panose="02040503050406030204" charset="0"/>
                                  </a:rPr>
                                  <m:t>𝑙</m:t>
                                </m:r>
                                <m:r>
                                  <a:rPr lang="en-US" altLang="zh-CN" sz="2800" i="1">
                                    <a:latin typeface="Cambria Math" panose="02040503050406030204" charset="0"/>
                                    <a:ea typeface="MS Mincho" charset="0"/>
                                    <a:cs typeface="Cambria Math" panose="02040503050406030204" charset="0"/>
                                  </a:rPr>
                                  <m:t>∈</m:t>
                                </m:r>
                                <m:r>
                                  <a:rPr lang="en-US" altLang="zh-CN" sz="2800" i="1">
                                    <a:latin typeface="Cambria Math" panose="02040503050406030204" charset="0"/>
                                    <a:ea typeface="宋体" panose="02010600030101010101" pitchFamily="2" charset="-122"/>
                                    <a:cs typeface="Cambria Math" panose="02040503050406030204" charset="0"/>
                                  </a:rPr>
                                  <m:t>𝐿</m:t>
                                </m:r>
                                <m:r>
                                  <a:rPr lang="en-US" altLang="zh-CN" sz="2800" i="1" baseline="-25000">
                                    <a:latin typeface="Cambria Math" panose="02040503050406030204" charset="0"/>
                                    <a:ea typeface="宋体" panose="02010600030101010101" pitchFamily="2" charset="-122"/>
                                    <a:cs typeface="Cambria Math" panose="02040503050406030204" charset="0"/>
                                  </a:rPr>
                                  <m:t>𝑛</m:t>
                                </m:r>
                              </m:e>
                              <m:e>
                                <m:r>
                                  <a:rPr lang="en-US" altLang="zh-CN" sz="2800" i="1" baseline="-25000">
                                    <a:latin typeface="Cambria Math" panose="02040503050406030204" charset="0"/>
                                    <a:ea typeface="MS Mincho" charset="0"/>
                                    <a:cs typeface="Cambria Math" panose="02040503050406030204" charset="0"/>
                                  </a:rPr>
                                  <m:t>0≠</m:t>
                                </m:r>
                                <m:r>
                                  <a:rPr lang="en-US" altLang="zh-CN" sz="2800" i="1" baseline="-25000">
                                    <a:latin typeface="Cambria Math" panose="02040503050406030204" charset="0"/>
                                    <a:ea typeface="宋体" panose="02010600030101010101" pitchFamily="2" charset="-122"/>
                                    <a:cs typeface="Cambria Math" panose="02040503050406030204" charset="0"/>
                                  </a:rPr>
                                  <m:t>𝑢</m:t>
                                </m:r>
                                <m:r>
                                  <a:rPr lang="en-US" altLang="zh-CN" sz="2800" i="1" baseline="-25000">
                                    <a:latin typeface="Cambria Math" panose="02040503050406030204" charset="0"/>
                                    <a:ea typeface="MS Mincho" charset="0"/>
                                    <a:cs typeface="Cambria Math" panose="02040503050406030204" charset="0"/>
                                  </a:rPr>
                                  <m:t>∈</m:t>
                                </m:r>
                                <m:sSubSup>
                                  <m:sSubSupPr>
                                    <m:ctrlPr>
                                      <a:rPr lang="en-US" sz="2800" i="1">
                                        <a:latin typeface="Cambria Math" panose="02040503050406030204" charset="0"/>
                                        <a:ea typeface="宋体" panose="02010600030101010101" pitchFamily="2" charset="-122"/>
                                        <a:cs typeface="Cambria Math" panose="02040503050406030204" charset="0"/>
                                      </a:rPr>
                                    </m:ctrlPr>
                                  </m:sSubSupPr>
                                  <m:e>
                                    <m:r>
                                      <a:rPr lang="en-US" sz="2800" i="1">
                                        <a:latin typeface="Cambria Math" panose="02040503050406030204" charset="0"/>
                                        <a:ea typeface="宋体" panose="02010600030101010101" pitchFamily="2" charset="-122"/>
                                        <a:cs typeface="Cambria Math" panose="02040503050406030204" charset="0"/>
                                      </a:rPr>
                                      <m:t>𝐹</m:t>
                                    </m:r>
                                  </m:e>
                                  <m:sub>
                                    <m:r>
                                      <a:rPr lang="en-US" sz="2800" i="1">
                                        <a:latin typeface="Cambria Math" panose="02040503050406030204" charset="0"/>
                                        <a:ea typeface="MS Mincho" charset="0"/>
                                        <a:cs typeface="Cambria Math" panose="02040503050406030204" charset="0"/>
                                      </a:rPr>
                                      <m:t>2</m:t>
                                    </m:r>
                                  </m:sub>
                                  <m:sup>
                                    <m:r>
                                      <a:rPr lang="en-US" sz="2800" i="1">
                                        <a:latin typeface="Cambria Math" panose="02040503050406030204" charset="0"/>
                                        <a:ea typeface="宋体" panose="02010600030101010101" pitchFamily="2" charset="-122"/>
                                        <a:cs typeface="Cambria Math" panose="02040503050406030204" charset="0"/>
                                      </a:rPr>
                                      <m:t>𝑚</m:t>
                                    </m:r>
                                  </m:sup>
                                </m:sSubSup>
                              </m:e>
                            </m:eqArr>
                          </m:lim>
                        </m:limLow>
                      </m:fName>
                      <m:e>
                        <m:sSub>
                          <m:sSubPr>
                            <m:ctrlPr>
                              <a:rPr lang="en-US" altLang="zh-CN" sz="2800" i="1">
                                <a:latin typeface="Cambria Math" panose="02040503050406030204" charset="0"/>
                                <a:ea typeface="宋体" panose="02010600030101010101" pitchFamily="2" charset="-122"/>
                                <a:cs typeface="Cambria Math" panose="02040503050406030204" charset="0"/>
                              </a:rPr>
                            </m:ctrlPr>
                          </m:sSubPr>
                          <m:e>
                            <m:r>
                              <a:rPr lang="en-US" altLang="zh-CN" sz="2800" i="1">
                                <a:latin typeface="Cambria Math" panose="02040503050406030204" charset="0"/>
                                <a:ea typeface="宋体" panose="02010600030101010101" pitchFamily="2" charset="-122"/>
                                <a:cs typeface="Cambria Math" panose="02040503050406030204" charset="0"/>
                              </a:rPr>
                              <m:t>𝑑</m:t>
                            </m:r>
                          </m:e>
                          <m:sub>
                            <m:r>
                              <a:rPr lang="en-US" altLang="zh-CN" sz="2800" i="1">
                                <a:latin typeface="Cambria Math" panose="02040503050406030204" charset="0"/>
                                <a:ea typeface="宋体" panose="02010600030101010101" pitchFamily="2" charset="-122"/>
                                <a:cs typeface="Cambria Math" panose="02040503050406030204" charset="0"/>
                              </a:rPr>
                              <m:t>𝐻</m:t>
                            </m:r>
                          </m:sub>
                        </m:sSub>
                      </m:e>
                    </m:func>
                    <m:r>
                      <a:rPr lang="en-US" altLang="zh-CN" sz="2800" i="1">
                        <a:latin typeface="Cambria Math" panose="02040503050406030204" charset="0"/>
                        <a:ea typeface="MS Mincho" charset="0"/>
                        <a:cs typeface="Cambria Math" panose="02040503050406030204" charset="0"/>
                      </a:rPr>
                      <m:t>(</m:t>
                    </m:r>
                    <m:r>
                      <a:rPr lang="en-US" altLang="zh-CN" sz="2800" i="1">
                        <a:latin typeface="Cambria Math" panose="02040503050406030204" charset="0"/>
                        <a:ea typeface="宋体" panose="02010600030101010101" pitchFamily="2" charset="-122"/>
                        <a:cs typeface="Cambria Math" panose="02040503050406030204" charset="0"/>
                      </a:rPr>
                      <m:t>𝑢</m:t>
                    </m:r>
                    <m:r>
                      <a:rPr lang="en-US" altLang="zh-CN" sz="2800" i="1">
                        <a:latin typeface="Cambria Math" panose="02040503050406030204" charset="0"/>
                        <a:ea typeface="MS Mincho" charset="0"/>
                        <a:cs typeface="Cambria Math" panose="02040503050406030204" charset="0"/>
                      </a:rPr>
                      <m:t>⋅</m:t>
                    </m:r>
                    <m:r>
                      <a:rPr lang="en-US" altLang="zh-CN" sz="2800" i="1">
                        <a:latin typeface="Cambria Math" panose="02040503050406030204" charset="0"/>
                        <a:ea typeface="宋体" panose="02010600030101010101" pitchFamily="2" charset="-122"/>
                        <a:cs typeface="Cambria Math" panose="02040503050406030204" charset="0"/>
                      </a:rPr>
                      <m:t>𝑆</m:t>
                    </m:r>
                    <m:r>
                      <a:rPr lang="en-US" altLang="zh-CN" sz="2800" i="1">
                        <a:latin typeface="Cambria Math" panose="02040503050406030204" charset="0"/>
                        <a:ea typeface="MS Mincho" charset="0"/>
                        <a:cs typeface="Cambria Math" panose="02040503050406030204" charset="0"/>
                      </a:rPr>
                      <m:t>(</m:t>
                    </m:r>
                    <m:r>
                      <a:rPr lang="en-US" altLang="zh-CN" sz="2800" i="1">
                        <a:latin typeface="Cambria Math" panose="02040503050406030204" charset="0"/>
                        <a:ea typeface="宋体" panose="02010600030101010101" pitchFamily="2" charset="-122"/>
                        <a:cs typeface="Cambria Math" panose="02040503050406030204" charset="0"/>
                      </a:rPr>
                      <m:t>𝑥</m:t>
                    </m:r>
                    <m:r>
                      <a:rPr lang="en-US" altLang="zh-CN" sz="2800" i="1">
                        <a:latin typeface="Cambria Math" panose="02040503050406030204" charset="0"/>
                        <a:ea typeface="MS Mincho" charset="0"/>
                        <a:cs typeface="Cambria Math" panose="02040503050406030204" charset="0"/>
                      </a:rPr>
                      <m:t>),</m:t>
                    </m:r>
                    <m:r>
                      <a:rPr lang="en-US" altLang="zh-CN" sz="2800" i="1">
                        <a:latin typeface="Cambria Math" panose="02040503050406030204" charset="0"/>
                        <a:ea typeface="宋体" panose="02010600030101010101" pitchFamily="2" charset="-122"/>
                        <a:cs typeface="Cambria Math" panose="02040503050406030204" charset="0"/>
                      </a:rPr>
                      <m:t>𝑙</m:t>
                    </m:r>
                    <m:r>
                      <a:rPr lang="en-US" altLang="zh-CN" sz="2800" i="1">
                        <a:latin typeface="Cambria Math" panose="02040503050406030204" charset="0"/>
                        <a:ea typeface="MS Mincho" charset="0"/>
                        <a:cs typeface="Cambria Math" panose="02040503050406030204" charset="0"/>
                      </a:rPr>
                      <m:t>(</m:t>
                    </m:r>
                    <m:r>
                      <a:rPr lang="en-US" altLang="zh-CN" sz="2800" i="1">
                        <a:latin typeface="Cambria Math" panose="02040503050406030204" charset="0"/>
                        <a:ea typeface="宋体" panose="02010600030101010101" pitchFamily="2" charset="-122"/>
                        <a:cs typeface="Cambria Math" panose="02040503050406030204" charset="0"/>
                      </a:rPr>
                      <m:t>𝑥</m:t>
                    </m:r>
                    <m:r>
                      <a:rPr lang="en-US" altLang="zh-CN" sz="2800" i="1">
                        <a:latin typeface="Cambria Math" panose="02040503050406030204" charset="0"/>
                        <a:ea typeface="MS Mincho" charset="0"/>
                        <a:cs typeface="Cambria Math" panose="02040503050406030204" charset="0"/>
                      </a:rPr>
                      <m:t>))</m:t>
                    </m:r>
                  </m:oMath>
                </a14:m>
                <a:r>
                  <a:rPr sz="2800">
                    <a:latin typeface="Times New Roman" panose="02020603050405020304" pitchFamily="18" charset="0"/>
                    <a:ea typeface="宋体" panose="02010600030101010101" pitchFamily="2" charset="-122"/>
                    <a:cs typeface="Times New Roman" panose="02020603050405020304" pitchFamily="18" charset="0"/>
                  </a:rPr>
                  <a:t>为S</a:t>
                </a:r>
                <a:r>
                  <a:rPr lang="en-US" sz="2800">
                    <a:latin typeface="Times New Roman" panose="02020603050405020304" pitchFamily="18" charset="0"/>
                    <a:ea typeface="宋体" panose="02010600030101010101" pitchFamily="2" charset="-122"/>
                    <a:cs typeface="Times New Roman" panose="02020603050405020304" pitchFamily="18" charset="0"/>
                  </a:rPr>
                  <a:t>(x)</a:t>
                </a:r>
                <a:r>
                  <a:rPr sz="2800">
                    <a:latin typeface="Times New Roman" panose="02020603050405020304" pitchFamily="18" charset="0"/>
                    <a:ea typeface="宋体" panose="02010600030101010101" pitchFamily="2" charset="-122"/>
                    <a:cs typeface="Times New Roman" panose="02020603050405020304" pitchFamily="18" charset="0"/>
                  </a:rPr>
                  <a:t>的非线性度，其中L</a:t>
                </a:r>
                <a:r>
                  <a:rPr lang="en-US" sz="2800" baseline="-25000">
                    <a:latin typeface="Times New Roman" panose="02020603050405020304" pitchFamily="18" charset="0"/>
                    <a:ea typeface="宋体" panose="02010600030101010101" pitchFamily="2" charset="-122"/>
                    <a:cs typeface="Times New Roman" panose="02020603050405020304" pitchFamily="18" charset="0"/>
                  </a:rPr>
                  <a:t>n</a:t>
                </a:r>
                <a:r>
                  <a:rPr sz="2800">
                    <a:latin typeface="Times New Roman" panose="02020603050405020304" pitchFamily="18" charset="0"/>
                    <a:ea typeface="宋体" panose="02010600030101010101" pitchFamily="2" charset="-122"/>
                    <a:cs typeface="Times New Roman" panose="02020603050405020304" pitchFamily="18" charset="0"/>
                  </a:rPr>
                  <a:t>表示全体n元仿射函数集合，d</a:t>
                </a:r>
                <a:r>
                  <a:rPr lang="en-US" sz="2800" baseline="-25000">
                    <a:latin typeface="Times New Roman" panose="02020603050405020304" pitchFamily="18" charset="0"/>
                    <a:ea typeface="宋体" panose="02010600030101010101" pitchFamily="2" charset="-122"/>
                    <a:cs typeface="Times New Roman" panose="02020603050405020304" pitchFamily="18" charset="0"/>
                  </a:rPr>
                  <a:t>H</a:t>
                </a:r>
                <a:r>
                  <a:rPr lang="en-US" sz="2800">
                    <a:latin typeface="Times New Roman" panose="02020603050405020304" pitchFamily="18" charset="0"/>
                    <a:ea typeface="宋体" panose="02010600030101010101" pitchFamily="2" charset="-122"/>
                    <a:cs typeface="Times New Roman" panose="02020603050405020304" pitchFamily="18" charset="0"/>
                  </a:rPr>
                  <a:t>(f,l)</a:t>
                </a:r>
                <a:r>
                  <a:rPr sz="2800">
                    <a:latin typeface="Times New Roman" panose="02020603050405020304" pitchFamily="18" charset="0"/>
                    <a:ea typeface="宋体" panose="02010600030101010101" pitchFamily="2" charset="-122"/>
                    <a:cs typeface="Times New Roman" panose="02020603050405020304" pitchFamily="18" charset="0"/>
                  </a:rPr>
                  <a:t>表示</a:t>
                </a:r>
                <a:r>
                  <a:rPr lang="en-US" sz="2800">
                    <a:latin typeface="Times New Roman" panose="02020603050405020304" pitchFamily="18" charset="0"/>
                    <a:ea typeface="宋体" panose="02010600030101010101" pitchFamily="2" charset="-122"/>
                    <a:cs typeface="Times New Roman" panose="02020603050405020304" pitchFamily="18" charset="0"/>
                  </a:rPr>
                  <a:t>f</a:t>
                </a:r>
                <a:r>
                  <a:rPr sz="2800">
                    <a:latin typeface="Times New Roman" panose="02020603050405020304" pitchFamily="18" charset="0"/>
                    <a:ea typeface="宋体" panose="02010600030101010101" pitchFamily="2" charset="-122"/>
                    <a:cs typeface="Times New Roman" panose="02020603050405020304" pitchFamily="18" charset="0"/>
                  </a:rPr>
                  <a:t>与L之间的汉明距离。从定义可以看出，S盒的非线性度就是输出位的任意线性组合和所有关于输入的仿射函数的最小汉明距离。</a:t>
                </a:r>
              </a:p>
              <a:p>
                <a:pPr defTabSz="457200">
                  <a:lnSpc>
                    <a:spcPct val="140000"/>
                  </a:lnSpc>
                  <a:spcAft>
                    <a:spcPts val="1000"/>
                  </a:spcAft>
                  <a:defRPr sz="1900" b="0">
                    <a:solidFill>
                      <a:srgbClr val="000000"/>
                    </a:solidFill>
                    <a:latin typeface="Times New Roman" panose="02020603050405020304"/>
                  </a:defRPr>
                </a:pPr>
                <a:r>
                  <a:rPr lang="en-US" sz="2800">
                    <a:latin typeface="Times New Roman" panose="02020603050405020304" pitchFamily="18" charset="0"/>
                    <a:ea typeface="宋体" panose="02010600030101010101" pitchFamily="2" charset="-122"/>
                    <a:cs typeface="Times New Roman" panose="02020603050405020304" pitchFamily="18" charset="0"/>
                  </a:rPr>
                  <a:t>    </a:t>
                </a:r>
                <a:r>
                  <a:rPr sz="2800">
                    <a:latin typeface="Times New Roman" panose="02020603050405020304" pitchFamily="18" charset="0"/>
                    <a:ea typeface="宋体" panose="02010600030101010101" pitchFamily="2" charset="-122"/>
                    <a:cs typeface="Times New Roman" panose="02020603050405020304" pitchFamily="18" charset="0"/>
                  </a:rPr>
                  <a:t>布尔函数的非线性度是用来衡量抵抗"线性攻击"能力的一个非线性准则，非线性度越大，布尔函数抵抗"线性攻击"的能力越强；反之，非线性度越小，布尔函数抵抗"线性攻击"的能力越弱。</a:t>
                </a:r>
              </a:p>
              <a:p>
                <a:pPr defTabSz="457200">
                  <a:lnSpc>
                    <a:spcPct val="140000"/>
                  </a:lnSpc>
                  <a:spcAft>
                    <a:spcPts val="1000"/>
                  </a:spcAft>
                  <a:defRPr sz="1900" b="0">
                    <a:solidFill>
                      <a:srgbClr val="000000"/>
                    </a:solidFill>
                    <a:latin typeface="Times New Roman" panose="02020603050405020304"/>
                  </a:defRPr>
                </a:pPr>
                <a:r>
                  <a:rPr lang="en-US" sz="2800">
                    <a:latin typeface="Times New Roman" panose="02020603050405020304" pitchFamily="18" charset="0"/>
                    <a:ea typeface="宋体" panose="02010600030101010101" pitchFamily="2" charset="-122"/>
                    <a:cs typeface="Times New Roman" panose="02020603050405020304" pitchFamily="18" charset="0"/>
                  </a:rPr>
                  <a:t>    </a:t>
                </a:r>
                <a:r>
                  <a:rPr sz="2800">
                    <a:latin typeface="Times New Roman" panose="02020603050405020304" pitchFamily="18" charset="0"/>
                    <a:ea typeface="宋体" panose="02010600030101010101" pitchFamily="2" charset="-122"/>
                    <a:cs typeface="Times New Roman" panose="02020603050405020304" pitchFamily="18" charset="0"/>
                  </a:rPr>
                  <a:t>SM4分组密码算法中的S盒的非线性度为112。</a:t>
                </a:r>
              </a:p>
            </p:txBody>
          </p:sp>
        </mc:Choice>
        <mc:Fallback xmlns="">
          <p:sp>
            <p:nvSpPr>
              <p:cNvPr id="5" name="TextBox 4"/>
              <p:cNvSpPr txBox="1">
                <a:spLocks noRot="1" noChangeAspect="1" noMove="1" noResize="1" noEditPoints="1" noAdjustHandles="1" noChangeArrowheads="1" noChangeShapeType="1" noTextEdit="1"/>
              </p:cNvSpPr>
              <p:nvPr/>
            </p:nvSpPr>
            <p:spPr>
              <a:xfrm>
                <a:off x="1371600" y="1271270"/>
                <a:ext cx="15727680" cy="7251065"/>
              </a:xfrm>
              <a:prstGeom prst="rect">
                <a:avLst/>
              </a:prstGeom>
              <a:blipFill rotWithShape="1">
                <a:blip r:embed="rId2"/>
                <a:stretch>
                  <a:fillRect/>
                </a:stretch>
              </a:blipFill>
            </p:spPr>
            <p:txBody>
              <a:bodyPr/>
              <a:lstStyle/>
              <a:p>
                <a:r>
                  <a:rPr lang="zh-CN" altLang="en-US">
                    <a:noFill/>
                  </a:rPr>
                  <a:t> </a:t>
                </a:r>
              </a:p>
            </p:txBody>
          </p:sp>
        </mc:Fallback>
      </mc:AlternateContent>
      <p:sp>
        <p:nvSpPr>
          <p:cNvPr id="6" name="TextBox 5"/>
          <p:cNvSpPr txBox="1"/>
          <p:nvPr/>
        </p:nvSpPr>
        <p:spPr>
          <a:xfrm>
            <a:off x="17312132" y="9409176"/>
            <a:ext cx="363220" cy="306705"/>
          </a:xfrm>
          <a:prstGeom prst="rect">
            <a:avLst/>
          </a:prstGeom>
          <a:noFill/>
        </p:spPr>
        <p:txBody>
          <a:bodyPr wrap="none">
            <a:spAutoFit/>
          </a:bodyPr>
          <a:lstStyle/>
          <a:p>
            <a:pPr algn="r" defTabSz="457200">
              <a:defRPr sz="1800">
                <a:solidFill>
                  <a:srgbClr val="000000"/>
                </a:solidFill>
                <a:latin typeface="Times New Roman" panose="02020603050405020304"/>
              </a:defRPr>
            </a:pPr>
            <a:r>
              <a:rPr lang="en-US" sz="1400">
                <a:solidFill>
                  <a:srgbClr val="FFC000"/>
                </a:solidFill>
                <a:latin typeface="+mn-lt"/>
              </a:rPr>
              <a:t>27</a:t>
            </a:r>
            <a:endParaRPr lang="en-US" sz="2000"/>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3"/>
            <a:stretch>
              <a:fillRect/>
            </a:stretch>
          </p:blipFill>
          <p:spPr>
            <a:xfrm>
              <a:off x="13944600" y="877286"/>
              <a:ext cx="2771429" cy="47619"/>
            </a:xfrm>
            <a:prstGeom prst="rect">
              <a:avLst/>
            </a:prstGeom>
          </p:spPr>
        </p:pic>
      </p:grpSp>
      <p:sp>
        <p:nvSpPr>
          <p:cNvPr id="8"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非线性变换</a:t>
            </a:r>
          </a:p>
        </p:txBody>
      </p:sp>
      <p:sp>
        <p:nvSpPr>
          <p:cNvPr id="9"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4.2.4</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pic>
        <p:nvPicPr>
          <p:cNvPr id="10" name="图片 2"/>
          <p:cNvPicPr>
            <a:picLocks noChangeAspect="1"/>
          </p:cNvPicPr>
          <p:nvPr/>
        </p:nvPicPr>
        <p:blipFill>
          <a:blip r:embed="rId4">
            <a:alphaModFix amt="80000"/>
          </a:blip>
          <a:stretch>
            <a:fillRect/>
          </a:stretch>
        </p:blipFill>
        <p:spPr>
          <a:xfrm>
            <a:off x="643255"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1371600" y="1524635"/>
                <a:ext cx="15727680" cy="8791575"/>
              </a:xfrm>
              <a:prstGeom prst="rect">
                <a:avLst/>
              </a:prstGeom>
              <a:noFill/>
            </p:spPr>
            <p:txBody>
              <a:bodyPr wrap="square">
                <a:spAutoFit/>
              </a:bodyPr>
              <a:lstStyle/>
              <a:p>
                <a:pPr defTabSz="457200">
                  <a:lnSpc>
                    <a:spcPct val="140000"/>
                  </a:lnSpc>
                  <a:spcAft>
                    <a:spcPts val="1000"/>
                  </a:spcAft>
                  <a:defRPr sz="1900" b="0">
                    <a:solidFill>
                      <a:srgbClr val="000000"/>
                    </a:solidFill>
                    <a:latin typeface="Times New Roman" panose="02020603050405020304"/>
                  </a:defRPr>
                </a:pPr>
                <a:r>
                  <a:rPr sz="2400" b="1">
                    <a:latin typeface="Times New Roman" panose="02020603050405020304" pitchFamily="18" charset="0"/>
                    <a:ea typeface="宋体" panose="02010600030101010101" pitchFamily="2" charset="-122"/>
                    <a:cs typeface="Times New Roman" panose="02020603050405020304" pitchFamily="18" charset="0"/>
                  </a:rPr>
                  <a:t>4.最大线性优势</a:t>
                </a:r>
                <a:endParaRPr sz="2400">
                  <a:latin typeface="Times New Roman" panose="02020603050405020304" pitchFamily="18" charset="0"/>
                  <a:ea typeface="宋体" panose="02010600030101010101" pitchFamily="2" charset="-122"/>
                  <a:cs typeface="Times New Roman" panose="02020603050405020304" pitchFamily="18" charset="0"/>
                </a:endParaRPr>
              </a:p>
              <a:p>
                <a:pPr defTabSz="457200">
                  <a:lnSpc>
                    <a:spcPct val="140000"/>
                  </a:lnSpc>
                  <a:spcAft>
                    <a:spcPts val="1000"/>
                  </a:spcAft>
                  <a:defRPr sz="1900" b="0">
                    <a:solidFill>
                      <a:srgbClr val="000000"/>
                    </a:solidFill>
                    <a:latin typeface="Times New Roman" panose="02020603050405020304"/>
                  </a:defRPr>
                </a:pPr>
                <a:r>
                  <a:rPr lang="en-US" sz="2400">
                    <a:latin typeface="Times New Roman" panose="02020603050405020304" pitchFamily="18" charset="0"/>
                    <a:ea typeface="宋体" panose="02010600030101010101" pitchFamily="2" charset="-122"/>
                    <a:cs typeface="Times New Roman" panose="02020603050405020304" pitchFamily="18" charset="0"/>
                  </a:rPr>
                  <a:t>    </a:t>
                </a:r>
                <a:r>
                  <a:rPr sz="2400">
                    <a:latin typeface="Times New Roman" panose="02020603050405020304" pitchFamily="18" charset="0"/>
                    <a:ea typeface="宋体" panose="02010600030101010101" pitchFamily="2" charset="-122"/>
                    <a:cs typeface="Times New Roman" panose="02020603050405020304" pitchFamily="18" charset="0"/>
                  </a:rPr>
                  <a:t>S盒的线性逼近的定义为假设一个n进m出的S盒，其任意线性逼近都可以表示为：a·</a:t>
                </a:r>
                <a:r>
                  <a:rPr lang="en-US" sz="2400">
                    <a:latin typeface="Times New Roman" panose="02020603050405020304" pitchFamily="18" charset="0"/>
                    <a:ea typeface="宋体" panose="02010600030101010101" pitchFamily="2" charset="-122"/>
                    <a:cs typeface="Times New Roman" panose="02020603050405020304" pitchFamily="18" charset="0"/>
                  </a:rPr>
                  <a:t>X</a:t>
                </a:r>
                <a:r>
                  <a:rPr sz="2400">
                    <a:latin typeface="Times New Roman" panose="02020603050405020304" pitchFamily="18" charset="0"/>
                    <a:ea typeface="宋体" panose="02010600030101010101" pitchFamily="2" charset="-122"/>
                    <a:cs typeface="Times New Roman" panose="02020603050405020304" pitchFamily="18" charset="0"/>
                  </a:rPr>
                  <a:t> = b·</a:t>
                </a:r>
                <a:r>
                  <a:rPr lang="en-US" sz="2400">
                    <a:latin typeface="Times New Roman" panose="02020603050405020304" pitchFamily="18" charset="0"/>
                    <a:ea typeface="宋体" panose="02010600030101010101" pitchFamily="2" charset="-122"/>
                    <a:cs typeface="Times New Roman" panose="02020603050405020304" pitchFamily="18" charset="0"/>
                  </a:rPr>
                  <a:t>Y</a:t>
                </a:r>
                <a:r>
                  <a:rPr sz="2400">
                    <a:latin typeface="Times New Roman" panose="02020603050405020304" pitchFamily="18" charset="0"/>
                    <a:ea typeface="宋体" panose="02010600030101010101" pitchFamily="2" charset="-122"/>
                    <a:cs typeface="Times New Roman" panose="02020603050405020304" pitchFamily="18" charset="0"/>
                  </a:rPr>
                  <a:t>，其中 a ∈ </a:t>
                </a:r>
                <a14:m>
                  <m:oMath xmlns:m="http://schemas.openxmlformats.org/officeDocument/2006/math">
                    <m:sSubSup>
                      <m:sSubSupPr>
                        <m:ctrlPr>
                          <a:rPr lang="en-US" sz="2400" i="1">
                            <a:latin typeface="Cambria Math" panose="02040503050406030204" charset="0"/>
                            <a:ea typeface="宋体" panose="02010600030101010101" pitchFamily="2" charset="-122"/>
                            <a:cs typeface="Cambria Math" panose="02040503050406030204" charset="0"/>
                          </a:rPr>
                        </m:ctrlPr>
                      </m:sSubSupPr>
                      <m:e>
                        <m:r>
                          <a:rPr lang="en-US" sz="2400" i="1">
                            <a:latin typeface="Cambria Math" panose="02040503050406030204" charset="0"/>
                            <a:ea typeface="宋体" panose="02010600030101010101" pitchFamily="2" charset="-122"/>
                            <a:cs typeface="Cambria Math" panose="02040503050406030204" charset="0"/>
                          </a:rPr>
                          <m:t>𝐹</m:t>
                        </m:r>
                      </m:e>
                      <m:sub>
                        <m:r>
                          <a:rPr lang="en-US" sz="2400" i="1">
                            <a:latin typeface="Cambria Math" panose="02040503050406030204" charset="0"/>
                            <a:ea typeface="MS Mincho" charset="0"/>
                            <a:cs typeface="Cambria Math" panose="02040503050406030204" charset="0"/>
                          </a:rPr>
                          <m:t>2</m:t>
                        </m:r>
                      </m:sub>
                      <m:sup>
                        <m:r>
                          <a:rPr lang="en-US" sz="2400" i="1">
                            <a:latin typeface="Cambria Math" panose="02040503050406030204" charset="0"/>
                            <a:ea typeface="宋体" panose="02010600030101010101" pitchFamily="2" charset="-122"/>
                            <a:cs typeface="Cambria Math" panose="02040503050406030204" charset="0"/>
                          </a:rPr>
                          <m:t>𝑛</m:t>
                        </m:r>
                      </m:sup>
                    </m:sSubSup>
                  </m:oMath>
                </a14:m>
                <a:r>
                  <a:rPr sz="2400">
                    <a:latin typeface="Times New Roman" panose="02020603050405020304" pitchFamily="18" charset="0"/>
                    <a:ea typeface="宋体" panose="02010600030101010101" pitchFamily="2" charset="-122"/>
                    <a:cs typeface="Times New Roman" panose="02020603050405020304" pitchFamily="18" charset="0"/>
                  </a:rPr>
                  <a:t>, b ∈ </a:t>
                </a:r>
                <a14:m>
                  <m:oMath xmlns:m="http://schemas.openxmlformats.org/officeDocument/2006/math">
                    <m:sSubSup>
                      <m:sSubSupPr>
                        <m:ctrlPr>
                          <a:rPr lang="en-US" sz="2400" i="1">
                            <a:latin typeface="Cambria Math" panose="02040503050406030204" charset="0"/>
                            <a:ea typeface="宋体" panose="02010600030101010101" pitchFamily="2" charset="-122"/>
                            <a:cs typeface="Cambria Math" panose="02040503050406030204" charset="0"/>
                          </a:rPr>
                        </m:ctrlPr>
                      </m:sSubSupPr>
                      <m:e>
                        <m:r>
                          <a:rPr lang="en-US" sz="2400" i="1">
                            <a:latin typeface="Cambria Math" panose="02040503050406030204" charset="0"/>
                            <a:ea typeface="宋体" panose="02010600030101010101" pitchFamily="2" charset="-122"/>
                            <a:cs typeface="Cambria Math" panose="02040503050406030204" charset="0"/>
                          </a:rPr>
                          <m:t>𝐹</m:t>
                        </m:r>
                      </m:e>
                      <m:sub>
                        <m:r>
                          <a:rPr lang="en-US" sz="2400" i="1">
                            <a:latin typeface="Cambria Math" panose="02040503050406030204" charset="0"/>
                            <a:ea typeface="MS Mincho" charset="0"/>
                            <a:cs typeface="Cambria Math" panose="02040503050406030204" charset="0"/>
                          </a:rPr>
                          <m:t>2</m:t>
                        </m:r>
                      </m:sub>
                      <m:sup>
                        <m:r>
                          <a:rPr lang="en-US" sz="2400" i="1">
                            <a:latin typeface="Cambria Math" panose="02040503050406030204" charset="0"/>
                            <a:ea typeface="宋体" panose="02010600030101010101" pitchFamily="2" charset="-122"/>
                            <a:cs typeface="Cambria Math" panose="02040503050406030204" charset="0"/>
                          </a:rPr>
                          <m:t>𝑚</m:t>
                        </m:r>
                      </m:sup>
                    </m:sSubSup>
                  </m:oMath>
                </a14:m>
                <a:r>
                  <a:rPr sz="2400">
                    <a:latin typeface="Times New Roman" panose="02020603050405020304" pitchFamily="18" charset="0"/>
                    <a:ea typeface="宋体" panose="02010600030101010101" pitchFamily="2" charset="-122"/>
                    <a:cs typeface="Times New Roman" panose="02020603050405020304" pitchFamily="18" charset="0"/>
                  </a:rPr>
                  <a:t>。a·</a:t>
                </a:r>
                <a:r>
                  <a:rPr lang="en-US" sz="2400">
                    <a:latin typeface="Times New Roman" panose="02020603050405020304" pitchFamily="18" charset="0"/>
                    <a:ea typeface="宋体" panose="02010600030101010101" pitchFamily="2" charset="-122"/>
                    <a:cs typeface="Times New Roman" panose="02020603050405020304" pitchFamily="18" charset="0"/>
                  </a:rPr>
                  <a:t>X</a:t>
                </a:r>
                <a:r>
                  <a:rPr sz="2400">
                    <a:latin typeface="Times New Roman" panose="02020603050405020304" pitchFamily="18" charset="0"/>
                    <a:ea typeface="宋体" panose="02010600030101010101" pitchFamily="2" charset="-122"/>
                    <a:cs typeface="Times New Roman" panose="02020603050405020304" pitchFamily="18" charset="0"/>
                  </a:rPr>
                  <a:t> = b·</a:t>
                </a:r>
                <a:r>
                  <a:rPr lang="en-US" sz="2400">
                    <a:latin typeface="Times New Roman" panose="02020603050405020304" pitchFamily="18" charset="0"/>
                    <a:ea typeface="宋体" panose="02010600030101010101" pitchFamily="2" charset="-122"/>
                    <a:cs typeface="Times New Roman" panose="02020603050405020304" pitchFamily="18" charset="0"/>
                  </a:rPr>
                  <a:t>Y</a:t>
                </a:r>
                <a:r>
                  <a:rPr sz="2400">
                    <a:latin typeface="Times New Roman" panose="02020603050405020304" pitchFamily="18" charset="0"/>
                    <a:ea typeface="宋体" panose="02010600030101010101" pitchFamily="2" charset="-122"/>
                    <a:cs typeface="Times New Roman" panose="02020603050405020304" pitchFamily="18" charset="0"/>
                  </a:rPr>
                  <a:t> 成立的概率p满足 |p - 1/2| ≤ </a:t>
                </a:r>
                <a14:m>
                  <m:oMath xmlns:m="http://schemas.openxmlformats.org/officeDocument/2006/math">
                    <m:f>
                      <m:fPr>
                        <m:ctrlPr>
                          <a:rPr lang="en-US" sz="2400" i="1">
                            <a:latin typeface="Cambria Math" panose="02040503050406030204" charset="0"/>
                            <a:ea typeface="MS Mincho" charset="0"/>
                            <a:cs typeface="Cambria Math" panose="02040503050406030204" charset="0"/>
                          </a:rPr>
                        </m:ctrlPr>
                      </m:fPr>
                      <m:num>
                        <m:r>
                          <a:rPr lang="en-US" sz="2400" i="1">
                            <a:latin typeface="Cambria Math" panose="02040503050406030204" charset="0"/>
                            <a:ea typeface="MS Mincho" charset="0"/>
                            <a:cs typeface="Cambria Math" panose="02040503050406030204" charset="0"/>
                          </a:rPr>
                          <m:t>1</m:t>
                        </m:r>
                      </m:num>
                      <m:den>
                        <m:r>
                          <a:rPr lang="en-US" sz="2400" i="1">
                            <a:latin typeface="Cambria Math" panose="02040503050406030204" charset="0"/>
                            <a:ea typeface="MS Mincho" charset="0"/>
                            <a:cs typeface="Cambria Math" panose="02040503050406030204" charset="0"/>
                          </a:rPr>
                          <m:t>2</m:t>
                        </m:r>
                      </m:den>
                    </m:f>
                    <m:r>
                      <a:rPr lang="en-US" sz="2400" i="1">
                        <a:latin typeface="Cambria Math" panose="02040503050406030204" charset="0"/>
                        <a:ea typeface="MS Mincho" charset="0"/>
                        <a:cs typeface="Cambria Math" panose="02040503050406030204" charset="0"/>
                      </a:rPr>
                      <m:t>−</m:t>
                    </m:r>
                    <m:f>
                      <m:fPr>
                        <m:ctrlPr>
                          <a:rPr lang="en-US" sz="2400" i="1">
                            <a:latin typeface="Cambria Math" panose="02040503050406030204" charset="0"/>
                            <a:ea typeface="宋体" panose="02010600030101010101" pitchFamily="2" charset="-122"/>
                            <a:cs typeface="Cambria Math" panose="02040503050406030204" charset="0"/>
                          </a:rPr>
                        </m:ctrlPr>
                      </m:fPr>
                      <m:num>
                        <m:r>
                          <a:rPr lang="en-US" sz="2400" i="1">
                            <a:latin typeface="Cambria Math" panose="02040503050406030204" charset="0"/>
                            <a:ea typeface="宋体" panose="02010600030101010101" pitchFamily="2" charset="-122"/>
                            <a:cs typeface="Cambria Math" panose="02040503050406030204" charset="0"/>
                          </a:rPr>
                          <m:t>𝑁</m:t>
                        </m:r>
                        <m:r>
                          <a:rPr lang="en-US" sz="2400" i="1" baseline="-25000">
                            <a:latin typeface="Cambria Math" panose="02040503050406030204" charset="0"/>
                            <a:ea typeface="宋体" panose="02010600030101010101" pitchFamily="2" charset="-122"/>
                            <a:cs typeface="Cambria Math" panose="02040503050406030204" charset="0"/>
                          </a:rPr>
                          <m:t>𝑆</m:t>
                        </m:r>
                      </m:num>
                      <m:den>
                        <m:r>
                          <a:rPr lang="en-US" sz="2400" i="1">
                            <a:latin typeface="Cambria Math" panose="02040503050406030204" charset="0"/>
                            <a:ea typeface="MS Mincho" charset="0"/>
                            <a:cs typeface="Cambria Math" panose="02040503050406030204" charset="0"/>
                          </a:rPr>
                          <m:t>2</m:t>
                        </m:r>
                        <m:r>
                          <a:rPr lang="en-US" sz="2400" i="1" baseline="30000">
                            <a:latin typeface="Cambria Math" panose="02040503050406030204" charset="0"/>
                            <a:ea typeface="宋体" panose="02010600030101010101" pitchFamily="2" charset="-122"/>
                            <a:cs typeface="Cambria Math" panose="02040503050406030204" charset="0"/>
                          </a:rPr>
                          <m:t>𝑛</m:t>
                        </m:r>
                      </m:den>
                    </m:f>
                  </m:oMath>
                </a14:m>
                <a:r>
                  <a:rPr sz="2400">
                    <a:latin typeface="Times New Roman" panose="02020603050405020304" pitchFamily="18" charset="0"/>
                    <a:ea typeface="宋体" panose="02010600030101010101" pitchFamily="2" charset="-122"/>
                    <a:cs typeface="Times New Roman" panose="02020603050405020304" pitchFamily="18" charset="0"/>
                  </a:rPr>
                  <a:t>，</a:t>
                </a:r>
                <a:r>
                  <a:rPr sz="240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|p - 1/2|</a:t>
                </a:r>
                <a:r>
                  <a:rPr sz="2400">
                    <a:latin typeface="Times New Roman" panose="02020603050405020304" pitchFamily="18" charset="0"/>
                    <a:ea typeface="宋体" panose="02010600030101010101" pitchFamily="2" charset="-122"/>
                    <a:cs typeface="Times New Roman" panose="02020603050405020304" pitchFamily="18" charset="0"/>
                  </a:rPr>
                  <a:t>称为线性逼近等式的优势，</a:t>
                </a:r>
                <a14:m>
                  <m:oMath xmlns:m="http://schemas.openxmlformats.org/officeDocument/2006/math">
                    <m:sSub>
                      <m:sSubPr>
                        <m:ctrlPr>
                          <a:rPr lang="en-US" altLang="zh-CN" sz="2400" i="1">
                            <a:latin typeface="Cambria Math" panose="02040503050406030204" charset="0"/>
                            <a:ea typeface="MS Mincho" charset="0"/>
                            <a:cs typeface="Cambria Math" panose="02040503050406030204" charset="0"/>
                          </a:rPr>
                        </m:ctrlPr>
                      </m:sSubPr>
                      <m:e>
                        <m:r>
                          <a:rPr lang="en-US" altLang="zh-CN" sz="2400" i="1">
                            <a:latin typeface="Cambria Math" panose="02040503050406030204" charset="0"/>
                            <a:ea typeface="MS Mincho" charset="0"/>
                            <a:cs typeface="Cambria Math" panose="02040503050406030204" charset="0"/>
                          </a:rPr>
                          <m:t>𝜆</m:t>
                        </m:r>
                      </m:e>
                      <m:sub>
                        <m:r>
                          <m:rPr>
                            <m:sty m:val="p"/>
                          </m:rPr>
                          <a:rPr lang="en-US" altLang="zh-CN" sz="2400" i="1">
                            <a:latin typeface="Cambria Math" panose="02040503050406030204" charset="0"/>
                            <a:ea typeface="宋体" panose="02010600030101010101" pitchFamily="2" charset="-122"/>
                            <a:cs typeface="Cambria Math" panose="02040503050406030204" charset="0"/>
                          </a:rPr>
                          <m:t>S</m:t>
                        </m:r>
                      </m:sub>
                    </m:sSub>
                    <m:r>
                      <a:rPr lang="en-US" altLang="zh-CN" sz="2400" i="1">
                        <a:latin typeface="Cambria Math" panose="02040503050406030204" charset="0"/>
                        <a:ea typeface="MS Mincho" charset="0"/>
                        <a:cs typeface="Cambria Math" panose="02040503050406030204" charset="0"/>
                      </a:rPr>
                      <m:t>=</m:t>
                    </m:r>
                    <m:f>
                      <m:fPr>
                        <m:ctrlPr>
                          <a:rPr lang="en-US" altLang="zh-CN" sz="2400" i="1">
                            <a:latin typeface="Cambria Math" panose="02040503050406030204" charset="0"/>
                            <a:ea typeface="MS Mincho" charset="0"/>
                            <a:cs typeface="Cambria Math" panose="02040503050406030204" charset="0"/>
                          </a:rPr>
                        </m:ctrlPr>
                      </m:fPr>
                      <m:num>
                        <m:r>
                          <a:rPr lang="en-US" altLang="zh-CN" sz="2400" i="1">
                            <a:latin typeface="Cambria Math" panose="02040503050406030204" charset="0"/>
                            <a:ea typeface="MS Mincho" charset="0"/>
                            <a:cs typeface="Cambria Math" panose="02040503050406030204" charset="0"/>
                          </a:rPr>
                          <m:t>1</m:t>
                        </m:r>
                      </m:num>
                      <m:den>
                        <m:r>
                          <a:rPr lang="en-US" altLang="zh-CN" sz="2400" i="1">
                            <a:latin typeface="Cambria Math" panose="02040503050406030204" charset="0"/>
                            <a:ea typeface="MS Mincho" charset="0"/>
                            <a:cs typeface="Cambria Math" panose="02040503050406030204" charset="0"/>
                          </a:rPr>
                          <m:t>2</m:t>
                        </m:r>
                      </m:den>
                    </m:f>
                    <m:r>
                      <a:rPr lang="en-US" altLang="zh-CN" sz="2400" i="1">
                        <a:latin typeface="Cambria Math" panose="02040503050406030204" charset="0"/>
                        <a:ea typeface="MS Mincho" charset="0"/>
                        <a:cs typeface="Cambria Math" panose="02040503050406030204" charset="0"/>
                      </a:rPr>
                      <m:t>−</m:t>
                    </m:r>
                    <m:f>
                      <m:fPr>
                        <m:ctrlPr>
                          <a:rPr lang="en-US" altLang="zh-CN" sz="2400" i="1">
                            <a:latin typeface="Cambria Math" panose="02040503050406030204" pitchFamily="18" charset="0"/>
                            <a:ea typeface="宋体" panose="02010600030101010101" pitchFamily="2" charset="-122"/>
                            <a:cs typeface="Cambria Math" panose="02040503050406030204" charset="0"/>
                          </a:rPr>
                        </m:ctrlPr>
                      </m:fPr>
                      <m:num>
                        <m:sSub>
                          <m:sSubPr>
                            <m:ctrlPr>
                              <a:rPr lang="en-US" altLang="zh-CN" sz="2400" i="1">
                                <a:latin typeface="Cambria Math" panose="02040503050406030204" charset="0"/>
                                <a:ea typeface="宋体" panose="02010600030101010101" pitchFamily="2" charset="-122"/>
                                <a:cs typeface="Cambria Math" panose="02040503050406030204" charset="0"/>
                              </a:rPr>
                            </m:ctrlPr>
                          </m:sSubPr>
                          <m:e>
                            <m:r>
                              <a:rPr lang="en-US" altLang="zh-CN" sz="2400" i="1">
                                <a:latin typeface="Cambria Math" panose="02040503050406030204" charset="0"/>
                                <a:ea typeface="宋体" panose="02010600030101010101" pitchFamily="2" charset="-122"/>
                                <a:cs typeface="Cambria Math" panose="02040503050406030204" charset="0"/>
                              </a:rPr>
                              <m:t>𝑁</m:t>
                            </m:r>
                          </m:e>
                          <m:sub>
                            <m:r>
                              <m:rPr>
                                <m:sty m:val="p"/>
                              </m:rPr>
                              <a:rPr lang="en-US" altLang="zh-CN" sz="2400" i="1">
                                <a:latin typeface="Cambria Math" panose="02040503050406030204" charset="0"/>
                                <a:ea typeface="宋体" panose="02010600030101010101" pitchFamily="2" charset="-122"/>
                                <a:cs typeface="Cambria Math" panose="02040503050406030204" charset="0"/>
                              </a:rPr>
                              <m:t>S</m:t>
                            </m:r>
                          </m:sub>
                        </m:sSub>
                      </m:num>
                      <m:den>
                        <m:sSup>
                          <m:sSupPr>
                            <m:ctrlPr>
                              <a:rPr lang="en-US" altLang="zh-CN" sz="2400" i="1">
                                <a:latin typeface="Cambria Math" panose="02040503050406030204" charset="0"/>
                                <a:ea typeface="MS Mincho" charset="0"/>
                                <a:cs typeface="Cambria Math" panose="02040503050406030204" charset="0"/>
                              </a:rPr>
                            </m:ctrlPr>
                          </m:sSupPr>
                          <m:e>
                            <m:r>
                              <a:rPr lang="en-US" altLang="zh-CN" sz="2400" i="1">
                                <a:latin typeface="Cambria Math" panose="02040503050406030204" charset="0"/>
                                <a:ea typeface="MS Mincho" charset="0"/>
                                <a:cs typeface="Cambria Math" panose="02040503050406030204" charset="0"/>
                              </a:rPr>
                              <m:t>2</m:t>
                            </m:r>
                          </m:e>
                          <m:sup>
                            <m:r>
                              <a:rPr lang="en-US" altLang="zh-CN" sz="2400" i="1">
                                <a:latin typeface="Cambria Math" panose="02040503050406030204" charset="0"/>
                                <a:ea typeface="宋体" panose="02010600030101010101" pitchFamily="2" charset="-122"/>
                                <a:cs typeface="Cambria Math" panose="02040503050406030204" charset="0"/>
                              </a:rPr>
                              <m:t>𝑛</m:t>
                            </m:r>
                          </m:sup>
                        </m:sSup>
                      </m:den>
                    </m:f>
                  </m:oMath>
                </a14:m>
                <a:r>
                  <a:rPr sz="2400">
                    <a:latin typeface="Times New Roman" panose="02020603050405020304" pitchFamily="18" charset="0"/>
                    <a:ea typeface="宋体" panose="02010600030101010101" pitchFamily="2" charset="-122"/>
                    <a:cs typeface="Times New Roman" panose="02020603050405020304" pitchFamily="18" charset="0"/>
                  </a:rPr>
                  <a:t>为S盒的最佳优势。</a:t>
                </a:r>
              </a:p>
              <a:p>
                <a:pPr defTabSz="457200">
                  <a:lnSpc>
                    <a:spcPct val="140000"/>
                  </a:lnSpc>
                  <a:spcAft>
                    <a:spcPts val="1000"/>
                  </a:spcAft>
                  <a:defRPr sz="1900" b="0">
                    <a:solidFill>
                      <a:srgbClr val="000000"/>
                    </a:solidFill>
                    <a:latin typeface="Times New Roman" panose="02020603050405020304"/>
                  </a:defRPr>
                </a:pPr>
                <a:r>
                  <a:rPr lang="en-US" sz="2400">
                    <a:latin typeface="Times New Roman" panose="02020603050405020304" pitchFamily="18" charset="0"/>
                    <a:ea typeface="宋体" panose="02010600030101010101" pitchFamily="2" charset="-122"/>
                    <a:cs typeface="Times New Roman" panose="02020603050405020304" pitchFamily="18" charset="0"/>
                  </a:rPr>
                  <a:t>    </a:t>
                </a:r>
                <a:r>
                  <a:rPr sz="2400">
                    <a:latin typeface="Times New Roman" panose="02020603050405020304" pitchFamily="18" charset="0"/>
                    <a:ea typeface="宋体" panose="02010600030101010101" pitchFamily="2" charset="-122"/>
                    <a:cs typeface="Times New Roman" panose="02020603050405020304" pitchFamily="18" charset="0"/>
                  </a:rPr>
                  <a:t>SM4分组密码算法的最佳优势为2⁻</a:t>
                </a:r>
                <a:r>
                  <a:rPr lang="en-US" sz="2400" baseline="30000">
                    <a:latin typeface="Times New Roman" panose="02020603050405020304" pitchFamily="18" charset="0"/>
                    <a:ea typeface="宋体" panose="02010600030101010101" pitchFamily="2" charset="-122"/>
                    <a:cs typeface="Times New Roman" panose="02020603050405020304" pitchFamily="18" charset="0"/>
                  </a:rPr>
                  <a:t>4</a:t>
                </a:r>
                <a:r>
                  <a:rPr sz="2400">
                    <a:latin typeface="Times New Roman" panose="02020603050405020304" pitchFamily="18" charset="0"/>
                    <a:ea typeface="宋体" panose="02010600030101010101" pitchFamily="2" charset="-122"/>
                    <a:cs typeface="Times New Roman" panose="02020603050405020304" pitchFamily="18" charset="0"/>
                  </a:rPr>
                  <a:t>。</a:t>
                </a:r>
              </a:p>
              <a:p>
                <a:pPr defTabSz="457200">
                  <a:lnSpc>
                    <a:spcPct val="140000"/>
                  </a:lnSpc>
                  <a:spcAft>
                    <a:spcPts val="1000"/>
                  </a:spcAft>
                  <a:defRPr sz="1900" b="0">
                    <a:solidFill>
                      <a:srgbClr val="000000"/>
                    </a:solidFill>
                    <a:latin typeface="Times New Roman" panose="02020603050405020304"/>
                  </a:defRPr>
                </a:pPr>
                <a:r>
                  <a:rPr sz="2400" b="1">
                    <a:latin typeface="Times New Roman" panose="02020603050405020304" pitchFamily="18" charset="0"/>
                    <a:ea typeface="宋体" panose="02010600030101010101" pitchFamily="2" charset="-122"/>
                    <a:cs typeface="Times New Roman" panose="02020603050405020304" pitchFamily="18" charset="0"/>
                  </a:rPr>
                  <a:t>5.平衡性</a:t>
                </a:r>
              </a:p>
              <a:p>
                <a:pPr defTabSz="457200">
                  <a:lnSpc>
                    <a:spcPct val="140000"/>
                  </a:lnSpc>
                  <a:spcAft>
                    <a:spcPts val="1000"/>
                  </a:spcAft>
                  <a:defRPr sz="1900" b="0">
                    <a:solidFill>
                      <a:srgbClr val="000000"/>
                    </a:solidFill>
                    <a:latin typeface="Times New Roman" panose="02020603050405020304"/>
                  </a:defRPr>
                </a:pPr>
                <a:r>
                  <a:rPr lang="en-US" sz="2400">
                    <a:latin typeface="Times New Roman" panose="02020603050405020304" pitchFamily="18" charset="0"/>
                    <a:ea typeface="宋体" panose="02010600030101010101" pitchFamily="2" charset="-122"/>
                    <a:cs typeface="Times New Roman" panose="02020603050405020304" pitchFamily="18" charset="0"/>
                  </a:rPr>
                  <a:t>    </a:t>
                </a:r>
                <a:r>
                  <a:rPr sz="280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S</a:t>
                </a:r>
                <a:r>
                  <a:rPr lang="en-US" sz="280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(x) =(f</a:t>
                </a:r>
                <a:r>
                  <a:rPr lang="en-US" sz="2800"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1</a:t>
                </a:r>
                <a:r>
                  <a:rPr lang="en-US" sz="280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(x) , f</a:t>
                </a:r>
                <a:r>
                  <a:rPr lang="en-US" sz="2800"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lang="en-US" sz="280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(x) , .....,f</a:t>
                </a:r>
                <a:r>
                  <a:rPr lang="en-US" sz="2800"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m</a:t>
                </a:r>
                <a:r>
                  <a:rPr lang="en-US" sz="280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(x)) : </a:t>
                </a:r>
                <a14:m>
                  <m:oMath xmlns:m="http://schemas.openxmlformats.org/officeDocument/2006/math">
                    <m:sSubSup>
                      <m:sSubSupPr>
                        <m:ctrlPr>
                          <a:rPr lang="en-US" sz="2800" i="1">
                            <a:latin typeface="Cambria Math" panose="02040503050406030204" charset="0"/>
                            <a:ea typeface="宋体" panose="02010600030101010101" pitchFamily="2" charset="-122"/>
                            <a:cs typeface="Cambria Math" panose="02040503050406030204" charset="0"/>
                          </a:rPr>
                        </m:ctrlPr>
                      </m:sSubSupPr>
                      <m:e>
                        <m:r>
                          <a:rPr lang="en-US" sz="2800" i="1">
                            <a:latin typeface="Cambria Math" panose="02040503050406030204" charset="0"/>
                            <a:ea typeface="宋体" panose="02010600030101010101" pitchFamily="2" charset="-122"/>
                            <a:cs typeface="Cambria Math" panose="02040503050406030204" charset="0"/>
                          </a:rPr>
                          <m:t>𝐹</m:t>
                        </m:r>
                      </m:e>
                      <m:sub>
                        <m:r>
                          <a:rPr lang="en-US" sz="2800" i="1">
                            <a:latin typeface="Cambria Math" panose="02040503050406030204" charset="0"/>
                            <a:ea typeface="MS Mincho" charset="0"/>
                            <a:cs typeface="Cambria Math" panose="02040503050406030204" charset="0"/>
                          </a:rPr>
                          <m:t>2</m:t>
                        </m:r>
                      </m:sub>
                      <m:sup>
                        <m:r>
                          <a:rPr lang="en-US" sz="2800" i="1">
                            <a:latin typeface="Cambria Math" panose="02040503050406030204" charset="0"/>
                            <a:ea typeface="宋体" panose="02010600030101010101" pitchFamily="2" charset="-122"/>
                            <a:cs typeface="Cambria Math" panose="02040503050406030204" charset="0"/>
                          </a:rPr>
                          <m:t>𝑛</m:t>
                        </m:r>
                      </m:sup>
                    </m:sSubSup>
                  </m:oMath>
                </a14:m>
                <a:r>
                  <a:rPr sz="280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 → </a:t>
                </a:r>
                <a14:m>
                  <m:oMath xmlns:m="http://schemas.openxmlformats.org/officeDocument/2006/math">
                    <m:sSubSup>
                      <m:sSubSupPr>
                        <m:ctrlPr>
                          <a:rPr lang="en-US" sz="2800" i="1">
                            <a:latin typeface="Cambria Math" panose="02040503050406030204" charset="0"/>
                            <a:ea typeface="宋体" panose="02010600030101010101" pitchFamily="2" charset="-122"/>
                            <a:cs typeface="Cambria Math" panose="02040503050406030204" charset="0"/>
                          </a:rPr>
                        </m:ctrlPr>
                      </m:sSubSupPr>
                      <m:e>
                        <m:r>
                          <a:rPr lang="en-US" sz="2800" i="1">
                            <a:latin typeface="Cambria Math" panose="02040503050406030204" charset="0"/>
                            <a:ea typeface="宋体" panose="02010600030101010101" pitchFamily="2" charset="-122"/>
                            <a:cs typeface="Cambria Math" panose="02040503050406030204" charset="0"/>
                          </a:rPr>
                          <m:t>𝐹</m:t>
                        </m:r>
                      </m:e>
                      <m:sub>
                        <m:r>
                          <a:rPr lang="en-US" sz="2800" i="1">
                            <a:latin typeface="Cambria Math" panose="02040503050406030204" charset="0"/>
                            <a:ea typeface="MS Mincho" charset="0"/>
                            <a:cs typeface="Cambria Math" panose="02040503050406030204" charset="0"/>
                          </a:rPr>
                          <m:t>2</m:t>
                        </m:r>
                      </m:sub>
                      <m:sup>
                        <m:r>
                          <a:rPr lang="en-US" sz="2800" i="1">
                            <a:latin typeface="Cambria Math" panose="02040503050406030204" charset="0"/>
                            <a:ea typeface="宋体" panose="02010600030101010101" pitchFamily="2" charset="-122"/>
                            <a:cs typeface="Cambria Math" panose="02040503050406030204" charset="0"/>
                          </a:rPr>
                          <m:t>𝑚</m:t>
                        </m:r>
                      </m:sup>
                    </m:sSubSup>
                  </m:oMath>
                </a14:m>
                <a:r>
                  <a:rPr sz="2400">
                    <a:latin typeface="Times New Roman" panose="02020603050405020304" pitchFamily="18" charset="0"/>
                    <a:ea typeface="宋体" panose="02010600030101010101" pitchFamily="2" charset="-122"/>
                    <a:cs typeface="Times New Roman" panose="02020603050405020304" pitchFamily="18" charset="0"/>
                  </a:rPr>
                  <a:t> 是平衡的，若对任意的 </a:t>
                </a:r>
                <a:r>
                  <a:rPr lang="en-US" sz="2400">
                    <a:latin typeface="Times New Roman" panose="02020603050405020304" pitchFamily="18" charset="0"/>
                    <a:ea typeface="宋体" panose="02010600030101010101" pitchFamily="2" charset="-122"/>
                    <a:cs typeface="Times New Roman" panose="02020603050405020304" pitchFamily="18" charset="0"/>
                  </a:rPr>
                  <a:t>β</a:t>
                </a:r>
                <a:r>
                  <a:rPr sz="2400">
                    <a:latin typeface="Times New Roman" panose="02020603050405020304" pitchFamily="18" charset="0"/>
                    <a:ea typeface="宋体" panose="02010600030101010101" pitchFamily="2" charset="-122"/>
                    <a:cs typeface="Times New Roman" panose="02020603050405020304" pitchFamily="18" charset="0"/>
                  </a:rPr>
                  <a:t>∈ </a:t>
                </a:r>
                <a14:m>
                  <m:oMath xmlns:m="http://schemas.openxmlformats.org/officeDocument/2006/math">
                    <m:sSubSup>
                      <m:sSubSupPr>
                        <m:ctrlPr>
                          <a:rPr lang="en-US" sz="2400" i="1">
                            <a:latin typeface="Cambria Math" panose="02040503050406030204" charset="0"/>
                            <a:ea typeface="宋体" panose="02010600030101010101" pitchFamily="2" charset="-122"/>
                            <a:cs typeface="Cambria Math" panose="02040503050406030204" charset="0"/>
                          </a:rPr>
                        </m:ctrlPr>
                      </m:sSubSupPr>
                      <m:e>
                        <m:r>
                          <a:rPr lang="en-US" sz="2400" i="1">
                            <a:latin typeface="Cambria Math" panose="02040503050406030204" charset="0"/>
                            <a:ea typeface="宋体" panose="02010600030101010101" pitchFamily="2" charset="-122"/>
                            <a:cs typeface="Cambria Math" panose="02040503050406030204" charset="0"/>
                          </a:rPr>
                          <m:t>𝐹</m:t>
                        </m:r>
                      </m:e>
                      <m:sub>
                        <m:r>
                          <a:rPr lang="en-US" sz="2400" i="1">
                            <a:latin typeface="Cambria Math" panose="02040503050406030204" charset="0"/>
                            <a:ea typeface="MS Mincho" charset="0"/>
                            <a:cs typeface="Cambria Math" panose="02040503050406030204" charset="0"/>
                          </a:rPr>
                          <m:t>2</m:t>
                        </m:r>
                      </m:sub>
                      <m:sup>
                        <m:r>
                          <a:rPr lang="en-US" sz="2400" i="1">
                            <a:latin typeface="Cambria Math" panose="02040503050406030204" charset="0"/>
                            <a:ea typeface="宋体" panose="02010600030101010101" pitchFamily="2" charset="-122"/>
                            <a:cs typeface="Cambria Math" panose="02040503050406030204" charset="0"/>
                          </a:rPr>
                          <m:t>𝑚</m:t>
                        </m:r>
                      </m:sup>
                    </m:sSubSup>
                  </m:oMath>
                </a14:m>
                <a:r>
                  <a:rPr sz="2400">
                    <a:latin typeface="Times New Roman" panose="02020603050405020304" pitchFamily="18" charset="0"/>
                    <a:ea typeface="宋体" panose="02010600030101010101" pitchFamily="2" charset="-122"/>
                    <a:cs typeface="Times New Roman" panose="02020603050405020304" pitchFamily="18" charset="0"/>
                  </a:rPr>
                  <a:t>，恰好有2ⁿ⁻ᵐ个</a:t>
                </a:r>
                <a:r>
                  <a:rPr lang="en-US" sz="2400">
                    <a:latin typeface="Times New Roman" panose="02020603050405020304" pitchFamily="18" charset="0"/>
                    <a:ea typeface="宋体" panose="02010600030101010101" pitchFamily="2" charset="-122"/>
                    <a:cs typeface="Times New Roman" panose="02020603050405020304" pitchFamily="18" charset="0"/>
                  </a:rPr>
                  <a:t>X</a:t>
                </a:r>
                <a:r>
                  <a:rPr sz="2400">
                    <a:latin typeface="Times New Roman" panose="02020603050405020304" pitchFamily="18" charset="0"/>
                    <a:ea typeface="宋体" panose="02010600030101010101" pitchFamily="2" charset="-122"/>
                    <a:cs typeface="Times New Roman" panose="02020603050405020304" pitchFamily="18" charset="0"/>
                  </a:rPr>
                  <a:t> ∈ </a:t>
                </a:r>
                <a14:m>
                  <m:oMath xmlns:m="http://schemas.openxmlformats.org/officeDocument/2006/math">
                    <m:sSubSup>
                      <m:sSubSupPr>
                        <m:ctrlPr>
                          <a:rPr lang="en-US" sz="2400" i="1">
                            <a:latin typeface="Cambria Math" panose="02040503050406030204" charset="0"/>
                            <a:ea typeface="宋体" panose="02010600030101010101" pitchFamily="2" charset="-122"/>
                            <a:cs typeface="Cambria Math" panose="02040503050406030204" charset="0"/>
                          </a:rPr>
                        </m:ctrlPr>
                      </m:sSubSupPr>
                      <m:e>
                        <m:r>
                          <a:rPr lang="en-US" sz="2400" i="1">
                            <a:latin typeface="Cambria Math" panose="02040503050406030204" charset="0"/>
                            <a:ea typeface="宋体" panose="02010600030101010101" pitchFamily="2" charset="-122"/>
                            <a:cs typeface="Cambria Math" panose="02040503050406030204" charset="0"/>
                          </a:rPr>
                          <m:t>𝐹</m:t>
                        </m:r>
                      </m:e>
                      <m:sub>
                        <m:r>
                          <a:rPr lang="en-US" sz="2400" i="1">
                            <a:latin typeface="Cambria Math" panose="02040503050406030204" charset="0"/>
                            <a:ea typeface="MS Mincho" charset="0"/>
                            <a:cs typeface="Cambria Math" panose="02040503050406030204" charset="0"/>
                          </a:rPr>
                          <m:t>2</m:t>
                        </m:r>
                      </m:sub>
                      <m:sup>
                        <m:r>
                          <a:rPr lang="en-US" sz="2400" i="1">
                            <a:latin typeface="Cambria Math" panose="02040503050406030204" charset="0"/>
                            <a:ea typeface="宋体" panose="02010600030101010101" pitchFamily="2" charset="-122"/>
                            <a:cs typeface="Cambria Math" panose="02040503050406030204" charset="0"/>
                          </a:rPr>
                          <m:t>𝑛</m:t>
                        </m:r>
                      </m:sup>
                    </m:sSubSup>
                  </m:oMath>
                </a14:m>
                <a:r>
                  <a:rPr sz="2400">
                    <a:latin typeface="Times New Roman" panose="02020603050405020304" pitchFamily="18" charset="0"/>
                    <a:ea typeface="宋体" panose="02010600030101010101" pitchFamily="2" charset="-122"/>
                    <a:cs typeface="Times New Roman" panose="02020603050405020304" pitchFamily="18" charset="0"/>
                  </a:rPr>
                  <a:t>，使得S(x) = </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β</a:t>
                </a:r>
                <a:r>
                  <a:rPr sz="2400">
                    <a:latin typeface="Times New Roman" panose="02020603050405020304" pitchFamily="18" charset="0"/>
                    <a:ea typeface="宋体" panose="02010600030101010101" pitchFamily="2" charset="-122"/>
                    <a:cs typeface="Times New Roman" panose="02020603050405020304" pitchFamily="18" charset="0"/>
                  </a:rPr>
                  <a:t>，满足平衡特性的S盒也被称为是正交的。</a:t>
                </a:r>
              </a:p>
              <a:p>
                <a:pPr defTabSz="457200">
                  <a:lnSpc>
                    <a:spcPct val="140000"/>
                  </a:lnSpc>
                  <a:spcAft>
                    <a:spcPts val="1000"/>
                  </a:spcAft>
                  <a:defRPr sz="1900" b="0">
                    <a:solidFill>
                      <a:srgbClr val="000000"/>
                    </a:solidFill>
                    <a:latin typeface="Times New Roman" panose="02020603050405020304"/>
                  </a:defRPr>
                </a:pPr>
                <a:r>
                  <a:rPr lang="en-US" sz="2400">
                    <a:latin typeface="Times New Roman" panose="02020603050405020304" pitchFamily="18" charset="0"/>
                    <a:ea typeface="宋体" panose="02010600030101010101" pitchFamily="2" charset="-122"/>
                    <a:cs typeface="Times New Roman" panose="02020603050405020304" pitchFamily="18" charset="0"/>
                  </a:rPr>
                  <a:t>      </a:t>
                </a:r>
                <a:r>
                  <a:rPr sz="2400">
                    <a:latin typeface="Times New Roman" panose="02020603050405020304" pitchFamily="18" charset="0"/>
                    <a:ea typeface="宋体" panose="02010600030101010101" pitchFamily="2" charset="-122"/>
                    <a:cs typeface="Times New Roman" panose="02020603050405020304" pitchFamily="18" charset="0"/>
                  </a:rPr>
                  <a:t>SM4分组密码算法中的S盒满足平衡性。</a:t>
                </a:r>
              </a:p>
              <a:p>
                <a:pPr defTabSz="457200">
                  <a:lnSpc>
                    <a:spcPct val="140000"/>
                  </a:lnSpc>
                  <a:spcAft>
                    <a:spcPts val="1000"/>
                  </a:spcAft>
                  <a:defRPr sz="1900" b="0">
                    <a:solidFill>
                      <a:srgbClr val="000000"/>
                    </a:solidFill>
                    <a:latin typeface="Times New Roman" panose="02020603050405020304"/>
                  </a:defRPr>
                </a:pPr>
                <a:r>
                  <a:rPr sz="2400" b="1">
                    <a:latin typeface="Times New Roman" panose="02020603050405020304" pitchFamily="18" charset="0"/>
                    <a:ea typeface="宋体" panose="02010600030101010101" pitchFamily="2" charset="-122"/>
                    <a:cs typeface="Times New Roman" panose="02020603050405020304" pitchFamily="18" charset="0"/>
                  </a:rPr>
                  <a:t>6.完全性及雪崩效应</a:t>
                </a:r>
              </a:p>
              <a:p>
                <a:pPr defTabSz="457200">
                  <a:lnSpc>
                    <a:spcPct val="140000"/>
                  </a:lnSpc>
                  <a:spcAft>
                    <a:spcPts val="1000"/>
                  </a:spcAft>
                  <a:defRPr sz="1900" b="0">
                    <a:solidFill>
                      <a:srgbClr val="000000"/>
                    </a:solidFill>
                    <a:latin typeface="Times New Roman" panose="02020603050405020304"/>
                  </a:defRPr>
                </a:pPr>
                <a:r>
                  <a:rPr lang="en-US" sz="2400">
                    <a:latin typeface="Times New Roman" panose="02020603050405020304" pitchFamily="18" charset="0"/>
                    <a:ea typeface="宋体" panose="02010600030101010101" pitchFamily="2" charset="-122"/>
                    <a:cs typeface="Times New Roman" panose="02020603050405020304" pitchFamily="18" charset="0"/>
                  </a:rPr>
                  <a:t>    </a:t>
                </a:r>
                <a:r>
                  <a:rPr sz="2400">
                    <a:latin typeface="Times New Roman" panose="02020603050405020304" pitchFamily="18" charset="0"/>
                    <a:ea typeface="宋体" panose="02010600030101010101" pitchFamily="2" charset="-122"/>
                    <a:cs typeface="Times New Roman" panose="02020603050405020304" pitchFamily="18" charset="0"/>
                  </a:rPr>
                  <a:t>S盒完全性的定义为</a:t>
                </a:r>
                <a:r>
                  <a:rPr sz="240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S</a:t>
                </a:r>
                <a:r>
                  <a:rPr lang="en-US" sz="240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(x) =(f</a:t>
                </a:r>
                <a:r>
                  <a:rPr lang="en-US" sz="2400"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1</a:t>
                </a:r>
                <a:r>
                  <a:rPr lang="en-US" sz="240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(x) , f</a:t>
                </a:r>
                <a:r>
                  <a:rPr lang="en-US" sz="2400"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lang="en-US" sz="240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(x) , .....,f</a:t>
                </a:r>
                <a:r>
                  <a:rPr lang="en-US" sz="2400"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m</a:t>
                </a:r>
                <a:r>
                  <a:rPr lang="en-US" sz="240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(x)) : </a:t>
                </a:r>
                <a14:m>
                  <m:oMath xmlns:m="http://schemas.openxmlformats.org/officeDocument/2006/math">
                    <m:sSubSup>
                      <m:sSubSupPr>
                        <m:ctrlPr>
                          <a:rPr lang="en-US" sz="2400" i="1">
                            <a:latin typeface="Cambria Math" panose="02040503050406030204" charset="0"/>
                            <a:ea typeface="宋体" panose="02010600030101010101" pitchFamily="2" charset="-122"/>
                            <a:cs typeface="Cambria Math" panose="02040503050406030204" charset="0"/>
                          </a:rPr>
                        </m:ctrlPr>
                      </m:sSubSupPr>
                      <m:e>
                        <m:r>
                          <a:rPr lang="en-US" sz="2400" i="1">
                            <a:latin typeface="Cambria Math" panose="02040503050406030204" charset="0"/>
                            <a:ea typeface="宋体" panose="02010600030101010101" pitchFamily="2" charset="-122"/>
                            <a:cs typeface="Cambria Math" panose="02040503050406030204" charset="0"/>
                          </a:rPr>
                          <m:t>𝐹</m:t>
                        </m:r>
                      </m:e>
                      <m:sub>
                        <m:r>
                          <a:rPr lang="en-US" sz="2400" i="1">
                            <a:latin typeface="Cambria Math" panose="02040503050406030204" charset="0"/>
                            <a:ea typeface="MS Mincho" charset="0"/>
                            <a:cs typeface="Cambria Math" panose="02040503050406030204" charset="0"/>
                          </a:rPr>
                          <m:t>2</m:t>
                        </m:r>
                      </m:sub>
                      <m:sup>
                        <m:r>
                          <a:rPr lang="en-US" sz="2400" i="1">
                            <a:latin typeface="Cambria Math" panose="02040503050406030204" charset="0"/>
                            <a:ea typeface="宋体" panose="02010600030101010101" pitchFamily="2" charset="-122"/>
                            <a:cs typeface="Cambria Math" panose="02040503050406030204" charset="0"/>
                          </a:rPr>
                          <m:t>𝑛</m:t>
                        </m:r>
                      </m:sup>
                    </m:sSubSup>
                  </m:oMath>
                </a14:m>
                <a:r>
                  <a:rPr sz="240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 → </a:t>
                </a:r>
                <a14:m>
                  <m:oMath xmlns:m="http://schemas.openxmlformats.org/officeDocument/2006/math">
                    <m:sSubSup>
                      <m:sSubSupPr>
                        <m:ctrlPr>
                          <a:rPr lang="en-US" sz="2400" i="1">
                            <a:latin typeface="Cambria Math" panose="02040503050406030204" charset="0"/>
                            <a:ea typeface="宋体" panose="02010600030101010101" pitchFamily="2" charset="-122"/>
                            <a:cs typeface="Cambria Math" panose="02040503050406030204" charset="0"/>
                          </a:rPr>
                        </m:ctrlPr>
                      </m:sSubSupPr>
                      <m:e>
                        <m:r>
                          <a:rPr lang="en-US" sz="2400" i="1">
                            <a:latin typeface="Cambria Math" panose="02040503050406030204" charset="0"/>
                            <a:ea typeface="宋体" panose="02010600030101010101" pitchFamily="2" charset="-122"/>
                            <a:cs typeface="Cambria Math" panose="02040503050406030204" charset="0"/>
                          </a:rPr>
                          <m:t>𝐹</m:t>
                        </m:r>
                      </m:e>
                      <m:sub>
                        <m:r>
                          <a:rPr lang="en-US" sz="2400" i="1">
                            <a:latin typeface="Cambria Math" panose="02040503050406030204" charset="0"/>
                            <a:ea typeface="MS Mincho" charset="0"/>
                            <a:cs typeface="Cambria Math" panose="02040503050406030204" charset="0"/>
                          </a:rPr>
                          <m:t>2</m:t>
                        </m:r>
                      </m:sub>
                      <m:sup>
                        <m:r>
                          <a:rPr lang="en-US" sz="2400" i="1">
                            <a:latin typeface="Cambria Math" panose="02040503050406030204" charset="0"/>
                            <a:ea typeface="宋体" panose="02010600030101010101" pitchFamily="2" charset="-122"/>
                            <a:cs typeface="Cambria Math" panose="02040503050406030204" charset="0"/>
                          </a:rPr>
                          <m:t>𝑚</m:t>
                        </m:r>
                      </m:sup>
                    </m:sSubSup>
                  </m:oMath>
                </a14:m>
                <a:r>
                  <a:rPr sz="2400">
                    <a:latin typeface="Times New Roman" panose="02020603050405020304" pitchFamily="18" charset="0"/>
                    <a:ea typeface="宋体" panose="02010600030101010101" pitchFamily="2" charset="-122"/>
                    <a:cs typeface="Times New Roman" panose="02020603050405020304" pitchFamily="18" charset="0"/>
                  </a:rPr>
                  <a:t>是完全的，是指输出的任一比特和输入的每一比特有关。它体现在代数表达式中，是指每个分量函数的代数表达式包含所有未知变量x₁, x₂, ..., xₙ，也就是说对任意</a:t>
                </a:r>
                <a14:m>
                  <m:oMath xmlns:m="http://schemas.openxmlformats.org/officeDocument/2006/math">
                    <m:r>
                      <a:rPr lang="en-US" altLang="zh-CN" sz="2400" i="1">
                        <a:latin typeface="Cambria Math" panose="02040503050406030204" charset="0"/>
                        <a:ea typeface="MS Mincho" charset="0"/>
                        <a:cs typeface="Cambria Math" panose="02040503050406030204" charset="0"/>
                      </a:rPr>
                      <m:t>(</m:t>
                    </m:r>
                    <m:r>
                      <a:rPr lang="en-US" altLang="zh-CN" sz="2400" i="1">
                        <a:latin typeface="Cambria Math" panose="02040503050406030204" charset="0"/>
                        <a:ea typeface="宋体" panose="02010600030101010101" pitchFamily="2" charset="-122"/>
                        <a:cs typeface="Cambria Math" panose="02040503050406030204" charset="0"/>
                      </a:rPr>
                      <m:t>𝑠</m:t>
                    </m:r>
                    <m:r>
                      <a:rPr lang="en-US" altLang="zh-CN" sz="2400" i="1">
                        <a:latin typeface="Cambria Math" panose="02040503050406030204" charset="0"/>
                        <a:ea typeface="MS Mincho" charset="0"/>
                        <a:cs typeface="Cambria Math" panose="02040503050406030204" charset="0"/>
                      </a:rPr>
                      <m:t>,</m:t>
                    </m:r>
                    <m:r>
                      <a:rPr lang="en-US" altLang="zh-CN" sz="2400" i="1">
                        <a:latin typeface="Cambria Math" panose="02040503050406030204" charset="0"/>
                        <a:ea typeface="宋体" panose="02010600030101010101" pitchFamily="2" charset="-122"/>
                        <a:cs typeface="Cambria Math" panose="02040503050406030204" charset="0"/>
                      </a:rPr>
                      <m:t>𝑡</m:t>
                    </m:r>
                    <m:r>
                      <a:rPr lang="en-US" altLang="zh-CN" sz="2400" i="1">
                        <a:latin typeface="Cambria Math" panose="02040503050406030204" charset="0"/>
                        <a:ea typeface="MS Mincho" charset="0"/>
                        <a:cs typeface="Cambria Math" panose="02040503050406030204" charset="0"/>
                      </a:rPr>
                      <m:t>)∈{(</m:t>
                    </m:r>
                    <m:r>
                      <a:rPr lang="en-US" altLang="zh-CN" sz="2400" i="1">
                        <a:latin typeface="Cambria Math" panose="02040503050406030204" charset="0"/>
                        <a:ea typeface="宋体" panose="02010600030101010101" pitchFamily="2" charset="-122"/>
                        <a:cs typeface="Cambria Math" panose="02040503050406030204" charset="0"/>
                      </a:rPr>
                      <m:t>𝑖</m:t>
                    </m:r>
                    <m:r>
                      <a:rPr lang="en-US" altLang="zh-CN" sz="2400" i="1">
                        <a:latin typeface="Cambria Math" panose="02040503050406030204" charset="0"/>
                        <a:ea typeface="MS Mincho" charset="0"/>
                        <a:cs typeface="Cambria Math" panose="02040503050406030204" charset="0"/>
                      </a:rPr>
                      <m:t>,</m:t>
                    </m:r>
                    <m:r>
                      <a:rPr lang="en-US" altLang="zh-CN" sz="2400" i="1">
                        <a:latin typeface="Cambria Math" panose="02040503050406030204" charset="0"/>
                        <a:ea typeface="宋体" panose="02010600030101010101" pitchFamily="2" charset="-122"/>
                        <a:cs typeface="Cambria Math" panose="02040503050406030204" charset="0"/>
                      </a:rPr>
                      <m:t>𝑗</m:t>
                    </m:r>
                    <m:r>
                      <a:rPr lang="en-US" altLang="zh-CN" sz="2400" i="1">
                        <a:latin typeface="Cambria Math" panose="02040503050406030204" charset="0"/>
                        <a:ea typeface="MS Mincho" charset="0"/>
                        <a:cs typeface="Cambria Math" panose="02040503050406030204" charset="0"/>
                      </a:rPr>
                      <m:t>)∣1⩽</m:t>
                    </m:r>
                    <m:r>
                      <a:rPr lang="en-US" altLang="zh-CN" sz="2400" i="1">
                        <a:latin typeface="Cambria Math" panose="02040503050406030204" charset="0"/>
                        <a:ea typeface="宋体" panose="02010600030101010101" pitchFamily="2" charset="-122"/>
                        <a:cs typeface="Cambria Math" panose="02040503050406030204" charset="0"/>
                      </a:rPr>
                      <m:t>𝑖</m:t>
                    </m:r>
                    <m:r>
                      <a:rPr lang="en-US" altLang="zh-CN" sz="2400" i="1">
                        <a:latin typeface="Cambria Math" panose="02040503050406030204" charset="0"/>
                        <a:ea typeface="MS Mincho" charset="0"/>
                        <a:cs typeface="Cambria Math" panose="02040503050406030204" charset="0"/>
                      </a:rPr>
                      <m:t>⩽</m:t>
                    </m:r>
                    <m:r>
                      <a:rPr lang="en-US" altLang="zh-CN" sz="2400" i="1">
                        <a:latin typeface="Cambria Math" panose="02040503050406030204" charset="0"/>
                        <a:ea typeface="宋体" panose="02010600030101010101" pitchFamily="2" charset="-122"/>
                        <a:cs typeface="Cambria Math" panose="02040503050406030204" charset="0"/>
                      </a:rPr>
                      <m:t>𝑛</m:t>
                    </m:r>
                    <m:r>
                      <a:rPr lang="en-US" altLang="zh-CN" sz="2400" i="1">
                        <a:latin typeface="Cambria Math" panose="02040503050406030204" charset="0"/>
                        <a:ea typeface="MS Mincho" charset="0"/>
                        <a:cs typeface="Cambria Math" panose="02040503050406030204" charset="0"/>
                      </a:rPr>
                      <m:t>,1⩽</m:t>
                    </m:r>
                    <m:r>
                      <a:rPr lang="en-US" altLang="zh-CN" sz="2400" i="1">
                        <a:latin typeface="Cambria Math" panose="02040503050406030204" charset="0"/>
                        <a:ea typeface="宋体" panose="02010600030101010101" pitchFamily="2" charset="-122"/>
                        <a:cs typeface="Cambria Math" panose="02040503050406030204" charset="0"/>
                      </a:rPr>
                      <m:t>𝑗</m:t>
                    </m:r>
                    <m:r>
                      <a:rPr lang="en-US" altLang="zh-CN" sz="2400" i="1">
                        <a:latin typeface="Cambria Math" panose="02040503050406030204" charset="0"/>
                        <a:ea typeface="MS Mincho" charset="0"/>
                        <a:cs typeface="Cambria Math" panose="02040503050406030204" charset="0"/>
                      </a:rPr>
                      <m:t>⩽</m:t>
                    </m:r>
                    <m:r>
                      <a:rPr lang="en-US" altLang="zh-CN" sz="2400" i="1">
                        <a:latin typeface="Cambria Math" panose="02040503050406030204" charset="0"/>
                        <a:ea typeface="宋体" panose="02010600030101010101" pitchFamily="2" charset="-122"/>
                        <a:cs typeface="Cambria Math" panose="02040503050406030204" charset="0"/>
                      </a:rPr>
                      <m:t>𝑚</m:t>
                    </m:r>
                    <m:r>
                      <a:rPr lang="en-US" altLang="zh-CN" sz="2400" i="1">
                        <a:latin typeface="Cambria Math" panose="02040503050406030204" charset="0"/>
                        <a:ea typeface="MS Mincho" charset="0"/>
                        <a:cs typeface="Cambria Math" panose="02040503050406030204" charset="0"/>
                      </a:rPr>
                      <m:t>}</m:t>
                    </m:r>
                  </m:oMath>
                </a14:m>
                <a:r>
                  <a:rPr sz="2400">
                    <a:latin typeface="Times New Roman" panose="02020603050405020304" pitchFamily="18" charset="0"/>
                    <a:ea typeface="宋体" panose="02010600030101010101" pitchFamily="2" charset="-122"/>
                    <a:cs typeface="Times New Roman" panose="02020603050405020304" pitchFamily="18" charset="0"/>
                  </a:rPr>
                  <a:t>，存在x, 使得</a:t>
                </a:r>
                <a:r>
                  <a:rPr lang="en-US" sz="2400">
                    <a:latin typeface="Times New Roman" panose="02020603050405020304" pitchFamily="18" charset="0"/>
                    <a:ea typeface="宋体" panose="02010600030101010101" pitchFamily="2" charset="-122"/>
                    <a:cs typeface="Times New Roman" panose="02020603050405020304" pitchFamily="18" charset="0"/>
                  </a:rPr>
                  <a:t>S(</a:t>
                </a:r>
                <a:r>
                  <a:rPr sz="2400">
                    <a:latin typeface="Times New Roman" panose="02020603050405020304" pitchFamily="18" charset="0"/>
                    <a:ea typeface="宋体" panose="02010600030101010101" pitchFamily="2" charset="-122"/>
                    <a:cs typeface="Times New Roman" panose="02020603050405020304" pitchFamily="18" charset="0"/>
                  </a:rPr>
                  <a:t>x</a:t>
                </a:r>
                <a:r>
                  <a:rPr lang="en-US" sz="2400">
                    <a:latin typeface="Times New Roman" panose="02020603050405020304" pitchFamily="18" charset="0"/>
                    <a:ea typeface="宋体" panose="02010600030101010101" pitchFamily="2" charset="-122"/>
                    <a:cs typeface="Times New Roman" panose="02020603050405020304" pitchFamily="18" charset="0"/>
                  </a:rPr>
                  <a:t>)</a:t>
                </a:r>
                <a:r>
                  <a:rPr sz="2400">
                    <a:latin typeface="Times New Roman" panose="02020603050405020304" pitchFamily="18" charset="0"/>
                    <a:ea typeface="宋体" panose="02010600030101010101" pitchFamily="2" charset="-122"/>
                    <a:cs typeface="Times New Roman" panose="02020603050405020304" pitchFamily="18" charset="0"/>
                  </a:rPr>
                  <a:t>和</a:t>
                </a:r>
                <a:r>
                  <a:rPr lang="en-US" sz="2400">
                    <a:latin typeface="Times New Roman" panose="02020603050405020304" pitchFamily="18" charset="0"/>
                    <a:ea typeface="宋体" panose="02010600030101010101" pitchFamily="2" charset="-122"/>
                    <a:cs typeface="Times New Roman" panose="02020603050405020304" pitchFamily="18" charset="0"/>
                  </a:rPr>
                  <a:t>S(</a:t>
                </a:r>
                <a:r>
                  <a:rPr sz="2400">
                    <a:latin typeface="Times New Roman" panose="02020603050405020304" pitchFamily="18" charset="0"/>
                    <a:ea typeface="宋体" panose="02010600030101010101" pitchFamily="2" charset="-122"/>
                    <a:cs typeface="Times New Roman" panose="02020603050405020304" pitchFamily="18" charset="0"/>
                  </a:rPr>
                  <a:t>x</a:t>
                </a:r>
                <a14:m>
                  <m:oMath xmlns:m="http://schemas.openxmlformats.org/officeDocument/2006/math">
                    <m:r>
                      <a:rPr lang="en-US" altLang="zh-CN" sz="2400" i="1">
                        <a:latin typeface="Cambria Math" panose="02040503050406030204" charset="0"/>
                        <a:ea typeface="MS Mincho" charset="0"/>
                        <a:cs typeface="Cambria Math" panose="02040503050406030204" charset="0"/>
                      </a:rPr>
                      <m:t>⊕</m:t>
                    </m:r>
                  </m:oMath>
                </a14:m>
                <a:r>
                  <a:rPr lang="en-US" sz="2400">
                    <a:latin typeface="Times New Roman" panose="02020603050405020304" pitchFamily="18" charset="0"/>
                    <a:ea typeface="宋体" panose="02010600030101010101" pitchFamily="2" charset="-122"/>
                    <a:cs typeface="Times New Roman" panose="02020603050405020304" pitchFamily="18" charset="0"/>
                  </a:rPr>
                  <a:t>e</a:t>
                </a:r>
                <a:r>
                  <a:rPr lang="en-US" sz="2400" baseline="-25000">
                    <a:latin typeface="Times New Roman" panose="02020603050405020304" pitchFamily="18" charset="0"/>
                    <a:ea typeface="宋体" panose="02010600030101010101" pitchFamily="2" charset="-122"/>
                    <a:cs typeface="Times New Roman" panose="02020603050405020304" pitchFamily="18" charset="0"/>
                  </a:rPr>
                  <a:t>s</a:t>
                </a:r>
                <a:r>
                  <a:rPr lang="en-US" sz="2400">
                    <a:latin typeface="Times New Roman" panose="02020603050405020304" pitchFamily="18" charset="0"/>
                    <a:ea typeface="宋体" panose="02010600030101010101" pitchFamily="2" charset="-122"/>
                    <a:cs typeface="Times New Roman" panose="02020603050405020304" pitchFamily="18" charset="0"/>
                  </a:rPr>
                  <a:t>)</a:t>
                </a:r>
                <a:r>
                  <a:rPr sz="2400">
                    <a:latin typeface="Times New Roman" panose="02020603050405020304" pitchFamily="18" charset="0"/>
                    <a:ea typeface="宋体" panose="02010600030101010101" pitchFamily="2" charset="-122"/>
                    <a:cs typeface="Times New Roman" panose="02020603050405020304" pitchFamily="18" charset="0"/>
                  </a:rPr>
                  <a:t>的第</a:t>
                </a:r>
                <a:r>
                  <a:rPr lang="en-US" sz="2400">
                    <a:latin typeface="Times New Roman" panose="02020603050405020304" pitchFamily="18" charset="0"/>
                    <a:ea typeface="宋体" panose="02010600030101010101" pitchFamily="2" charset="-122"/>
                    <a:cs typeface="Times New Roman" panose="02020603050405020304" pitchFamily="18" charset="0"/>
                  </a:rPr>
                  <a:t> t </a:t>
                </a:r>
                <a:r>
                  <a:rPr sz="2400">
                    <a:latin typeface="Times New Roman" panose="02020603050405020304" pitchFamily="18" charset="0"/>
                    <a:ea typeface="宋体" panose="02010600030101010101" pitchFamily="2" charset="-122"/>
                    <a:cs typeface="Times New Roman" panose="02020603050405020304" pitchFamily="18" charset="0"/>
                  </a:rPr>
                  <a:t>bit不同。</a:t>
                </a:r>
              </a:p>
              <a:p>
                <a:pPr defTabSz="457200">
                  <a:lnSpc>
                    <a:spcPct val="140000"/>
                  </a:lnSpc>
                  <a:spcAft>
                    <a:spcPts val="1000"/>
                  </a:spcAft>
                  <a:defRPr sz="1900" b="0">
                    <a:solidFill>
                      <a:srgbClr val="000000"/>
                    </a:solidFill>
                    <a:latin typeface="Times New Roman" panose="02020603050405020304"/>
                  </a:defRPr>
                </a:pPr>
                <a:r>
                  <a:rPr lang="en-US" sz="2400">
                    <a:latin typeface="Times New Roman" panose="02020603050405020304" pitchFamily="18" charset="0"/>
                    <a:ea typeface="宋体" panose="02010600030101010101" pitchFamily="2" charset="-122"/>
                    <a:cs typeface="Times New Roman" panose="02020603050405020304" pitchFamily="18" charset="0"/>
                  </a:rPr>
                  <a:t>    </a:t>
                </a:r>
                <a:r>
                  <a:rPr sz="2400">
                    <a:latin typeface="Times New Roman" panose="02020603050405020304" pitchFamily="18" charset="0"/>
                    <a:ea typeface="宋体" panose="02010600030101010101" pitchFamily="2" charset="-122"/>
                    <a:cs typeface="Times New Roman" panose="02020603050405020304" pitchFamily="18" charset="0"/>
                  </a:rPr>
                  <a:t>雪崩效应是指改变输入的1bit，大约有一半输出比特改变。</a:t>
                </a:r>
              </a:p>
              <a:p>
                <a:pPr defTabSz="457200">
                  <a:lnSpc>
                    <a:spcPct val="140000"/>
                  </a:lnSpc>
                  <a:spcAft>
                    <a:spcPts val="1000"/>
                  </a:spcAft>
                  <a:defRPr sz="1900" b="0">
                    <a:solidFill>
                      <a:srgbClr val="000000"/>
                    </a:solidFill>
                    <a:latin typeface="Times New Roman" panose="02020603050405020304"/>
                  </a:defRPr>
                </a:pPr>
                <a:r>
                  <a:rPr lang="en-US" sz="2400">
                    <a:latin typeface="Times New Roman" panose="02020603050405020304" pitchFamily="18" charset="0"/>
                    <a:ea typeface="宋体" panose="02010600030101010101" pitchFamily="2" charset="-122"/>
                    <a:cs typeface="Times New Roman" panose="02020603050405020304" pitchFamily="18" charset="0"/>
                  </a:rPr>
                  <a:t>    </a:t>
                </a:r>
                <a:r>
                  <a:rPr sz="2400">
                    <a:latin typeface="Times New Roman" panose="02020603050405020304" pitchFamily="18" charset="0"/>
                    <a:ea typeface="宋体" panose="02010600030101010101" pitchFamily="2" charset="-122"/>
                    <a:cs typeface="Times New Roman" panose="02020603050405020304" pitchFamily="18" charset="0"/>
                  </a:rPr>
                  <a:t>SM4分组密码算法中的S盒满足完全性及雪崩效应。</a:t>
                </a:r>
              </a:p>
            </p:txBody>
          </p:sp>
        </mc:Choice>
        <mc:Fallback xmlns="">
          <p:sp>
            <p:nvSpPr>
              <p:cNvPr id="5" name="TextBox 4"/>
              <p:cNvSpPr txBox="1">
                <a:spLocks noRot="1" noChangeAspect="1" noMove="1" noResize="1" noEditPoints="1" noAdjustHandles="1" noChangeArrowheads="1" noChangeShapeType="1" noTextEdit="1"/>
              </p:cNvSpPr>
              <p:nvPr/>
            </p:nvSpPr>
            <p:spPr>
              <a:xfrm>
                <a:off x="1371600" y="1524635"/>
                <a:ext cx="15727680" cy="8791575"/>
              </a:xfrm>
              <a:prstGeom prst="rect">
                <a:avLst/>
              </a:prstGeom>
              <a:blipFill rotWithShape="1">
                <a:blip r:embed="rId2"/>
                <a:stretch>
                  <a:fillRect r="-694"/>
                </a:stretch>
              </a:blipFill>
            </p:spPr>
            <p:txBody>
              <a:bodyPr/>
              <a:lstStyle/>
              <a:p>
                <a:r>
                  <a:rPr lang="zh-CN" altLang="en-US">
                    <a:noFill/>
                  </a:rPr>
                  <a:t> </a:t>
                </a:r>
              </a:p>
            </p:txBody>
          </p:sp>
        </mc:Fallback>
      </mc:AlternateContent>
      <p:sp>
        <p:nvSpPr>
          <p:cNvPr id="6" name="TextBox 5"/>
          <p:cNvSpPr txBox="1"/>
          <p:nvPr/>
        </p:nvSpPr>
        <p:spPr>
          <a:xfrm>
            <a:off x="17312132" y="9409176"/>
            <a:ext cx="363220" cy="306705"/>
          </a:xfrm>
          <a:prstGeom prst="rect">
            <a:avLst/>
          </a:prstGeom>
          <a:noFill/>
        </p:spPr>
        <p:txBody>
          <a:bodyPr wrap="none">
            <a:spAutoFit/>
          </a:bodyPr>
          <a:lstStyle/>
          <a:p>
            <a:pPr algn="r" defTabSz="457200">
              <a:defRPr sz="1800">
                <a:solidFill>
                  <a:srgbClr val="000000"/>
                </a:solidFill>
                <a:latin typeface="Times New Roman" panose="02020603050405020304"/>
              </a:defRPr>
            </a:pPr>
            <a:r>
              <a:rPr lang="en-US" sz="1400">
                <a:solidFill>
                  <a:srgbClr val="FFC000"/>
                </a:solidFill>
                <a:latin typeface="+mn-lt"/>
              </a:rPr>
              <a:t>28</a:t>
            </a:r>
            <a:endParaRPr lang="en-US" sz="2000"/>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3"/>
            <a:stretch>
              <a:fillRect/>
            </a:stretch>
          </p:blipFill>
          <p:spPr>
            <a:xfrm>
              <a:off x="13944600" y="877286"/>
              <a:ext cx="2771429" cy="47619"/>
            </a:xfrm>
            <a:prstGeom prst="rect">
              <a:avLst/>
            </a:prstGeom>
          </p:spPr>
        </p:pic>
      </p:grpSp>
      <p:sp>
        <p:nvSpPr>
          <p:cNvPr id="8"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非线性变换</a:t>
            </a:r>
          </a:p>
        </p:txBody>
      </p:sp>
      <p:sp>
        <p:nvSpPr>
          <p:cNvPr id="9"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4.2.4</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pic>
        <p:nvPicPr>
          <p:cNvPr id="10" name="图片 2"/>
          <p:cNvPicPr>
            <a:picLocks noChangeAspect="1"/>
          </p:cNvPicPr>
          <p:nvPr/>
        </p:nvPicPr>
        <p:blipFill>
          <a:blip r:embed="rId4">
            <a:alphaModFix amt="80000"/>
          </a:blip>
          <a:stretch>
            <a:fillRect/>
          </a:stretch>
        </p:blipFill>
        <p:spPr>
          <a:xfrm>
            <a:off x="643255"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1371600" y="1691640"/>
                <a:ext cx="15727680" cy="8059420"/>
              </a:xfrm>
              <a:prstGeom prst="rect">
                <a:avLst/>
              </a:prstGeom>
              <a:noFill/>
            </p:spPr>
            <p:txBody>
              <a:bodyPr wrap="square">
                <a:spAutoFit/>
              </a:bodyPr>
              <a:lstStyle/>
              <a:p>
                <a:pPr defTabSz="457200">
                  <a:lnSpc>
                    <a:spcPct val="140000"/>
                  </a:lnSpc>
                  <a:spcAft>
                    <a:spcPts val="1000"/>
                  </a:spcAft>
                  <a:defRPr sz="1900" b="0">
                    <a:solidFill>
                      <a:srgbClr val="000000"/>
                    </a:solidFill>
                    <a:latin typeface="Times New Roman" panose="02020603050405020304"/>
                  </a:defRPr>
                </a:pPr>
                <a:r>
                  <a:rPr lang="en-US">
                    <a:latin typeface="Times New Roman" panose="02020603050405020304" pitchFamily="18" charset="0"/>
                    <a:ea typeface="宋体" panose="02010600030101010101" pitchFamily="2" charset="-122"/>
                  </a:rPr>
                  <a:t>   </a:t>
                </a:r>
                <a:r>
                  <a:rPr lang="en-US" sz="2400">
                    <a:latin typeface="Times New Roman" panose="02020603050405020304" pitchFamily="18" charset="0"/>
                    <a:ea typeface="宋体" panose="02010600030101010101" pitchFamily="2" charset="-122"/>
                  </a:rPr>
                  <a:t> </a:t>
                </a:r>
                <a:r>
                  <a:rPr sz="2400">
                    <a:latin typeface="Times New Roman" panose="02020603050405020304" pitchFamily="18" charset="0"/>
                    <a:ea typeface="宋体" panose="02010600030101010101" pitchFamily="2" charset="-122"/>
                    <a:cs typeface="Times New Roman" panose="02020603050405020304" pitchFamily="18" charset="0"/>
                  </a:rPr>
                  <a:t>线性变换用于提供扩散作用。分组密码算法通常使用若干</a:t>
                </a:r>
                <a:r>
                  <a:rPr lang="en-US" sz="2400">
                    <a:latin typeface="Times New Roman" panose="02020603050405020304" pitchFamily="18" charset="0"/>
                    <a:ea typeface="宋体" panose="02010600030101010101" pitchFamily="2" charset="-122"/>
                    <a:cs typeface="Times New Roman" panose="02020603050405020304" pitchFamily="18" charset="0"/>
                  </a:rPr>
                  <a:t>m</a:t>
                </a:r>
                <a:r>
                  <a:rPr sz="2400">
                    <a:latin typeface="Times New Roman" panose="02020603050405020304" pitchFamily="18" charset="0"/>
                    <a:ea typeface="宋体" panose="02010600030101010101" pitchFamily="2" charset="-122"/>
                    <a:cs typeface="Times New Roman" panose="02020603050405020304" pitchFamily="18" charset="0"/>
                  </a:rPr>
                  <a:t>×m的S盒并置成混淆层，一个S盒输出的m bit仅与其输入的</a:t>
                </a:r>
                <a:r>
                  <a:rPr lang="en-US" sz="2400">
                    <a:latin typeface="Times New Roman" panose="02020603050405020304" pitchFamily="18" charset="0"/>
                    <a:ea typeface="宋体" panose="02010600030101010101" pitchFamily="2" charset="-122"/>
                    <a:cs typeface="Times New Roman" panose="02020603050405020304" pitchFamily="18" charset="0"/>
                  </a:rPr>
                  <a:t>m</a:t>
                </a:r>
                <a:r>
                  <a:rPr sz="2400">
                    <a:latin typeface="Times New Roman" panose="02020603050405020304" pitchFamily="18" charset="0"/>
                    <a:ea typeface="宋体" panose="02010600030101010101" pitchFamily="2" charset="-122"/>
                    <a:cs typeface="Times New Roman" panose="02020603050405020304" pitchFamily="18" charset="0"/>
                  </a:rPr>
                  <a:t> bit有关，与其他S盒的输入无关。此时引入线性变换可以将这些S盒的输出打乱、混合，使得输出的m bit数据尽可能地与其他S盒的输入相关。好的线性变换设计使得S盒的输出得到扩散，使得密码算法能够抵抗差分分析和线性分析。衡量一个线性变换的扩散性的重要指标是分支数，定义为：</a:t>
                </a:r>
              </a:p>
              <a:p>
                <a:pPr defTabSz="457200">
                  <a:lnSpc>
                    <a:spcPct val="140000"/>
                  </a:lnSpc>
                  <a:spcAft>
                    <a:spcPts val="1000"/>
                  </a:spcAft>
                  <a:defRPr sz="1900" b="0">
                    <a:solidFill>
                      <a:srgbClr val="000000"/>
                    </a:solidFill>
                    <a:latin typeface="Times New Roman" panose="02020603050405020304"/>
                  </a:defRPr>
                </a:pPr>
                <a14:m>
                  <m:oMath xmlns:m="http://schemas.openxmlformats.org/officeDocument/2006/math">
                    <m:r>
                      <a:rPr lang="en-US" altLang="zh-CN" sz="2400" i="1">
                        <a:latin typeface="Cambria Math" panose="02040503050406030204" charset="0"/>
                        <a:ea typeface="宋体" panose="02010600030101010101" pitchFamily="2" charset="-122"/>
                        <a:cs typeface="Cambria Math" panose="02040503050406030204" charset="0"/>
                      </a:rPr>
                      <m:t>𝐵</m:t>
                    </m:r>
                    <m:r>
                      <a:rPr lang="en-US" altLang="zh-CN" sz="2400" i="1">
                        <a:latin typeface="Cambria Math" panose="02040503050406030204" charset="0"/>
                        <a:ea typeface="MS Mincho" charset="0"/>
                        <a:cs typeface="Cambria Math" panose="02040503050406030204" charset="0"/>
                      </a:rPr>
                      <m:t>(</m:t>
                    </m:r>
                    <m:r>
                      <a:rPr lang="en-US" altLang="zh-CN" sz="2400" i="1">
                        <a:latin typeface="Cambria Math" panose="02040503050406030204" charset="0"/>
                        <a:ea typeface="MS Mincho" charset="0"/>
                        <a:cs typeface="Cambria Math" panose="02040503050406030204" charset="0"/>
                      </a:rPr>
                      <m:t>𝜃</m:t>
                    </m:r>
                    <m:r>
                      <a:rPr lang="en-US" altLang="zh-CN" sz="2400" i="1">
                        <a:latin typeface="Cambria Math" panose="02040503050406030204" charset="0"/>
                        <a:ea typeface="MS Mincho" charset="0"/>
                        <a:cs typeface="Cambria Math" panose="02040503050406030204" charset="0"/>
                      </a:rPr>
                      <m:t>)=</m:t>
                    </m:r>
                    <m:func>
                      <m:funcPr>
                        <m:ctrlPr>
                          <a:rPr lang="en-US" altLang="zh-CN" sz="2400" i="1">
                            <a:latin typeface="Cambria Math" panose="02040503050406030204" pitchFamily="18" charset="0"/>
                            <a:ea typeface="宋体" panose="02010600030101010101" pitchFamily="2" charset="-122"/>
                            <a:cs typeface="Cambria Math" panose="02040503050406030204" charset="0"/>
                          </a:rPr>
                        </m:ctrlPr>
                      </m:funcPr>
                      <m:fName>
                        <m:limLow>
                          <m:limLowPr>
                            <m:ctrlPr>
                              <a:rPr lang="en-US" altLang="zh-CN" sz="2400" i="1">
                                <a:latin typeface="Cambria Math" panose="02040503050406030204" charset="0"/>
                                <a:ea typeface="宋体" panose="02010600030101010101" pitchFamily="2" charset="-122"/>
                                <a:cs typeface="Cambria Math" panose="02040503050406030204" charset="0"/>
                              </a:rPr>
                            </m:ctrlPr>
                          </m:limLowPr>
                          <m:e>
                            <m:r>
                              <m:rPr>
                                <m:sty m:val="p"/>
                              </m:rPr>
                              <a:rPr lang="en-US" altLang="zh-CN" sz="2400" i="1">
                                <a:latin typeface="Cambria Math" panose="02040503050406030204" charset="0"/>
                                <a:ea typeface="宋体" panose="02010600030101010101" pitchFamily="2" charset="-122"/>
                                <a:cs typeface="Cambria Math" panose="02040503050406030204" charset="0"/>
                              </a:rPr>
                              <m:t>min</m:t>
                            </m:r>
                          </m:e>
                          <m:lim>
                            <m:r>
                              <a:rPr lang="en-US" altLang="zh-CN" sz="2400" i="1">
                                <a:latin typeface="Cambria Math" panose="02040503050406030204" charset="0"/>
                                <a:ea typeface="宋体" panose="02010600030101010101" pitchFamily="2" charset="-122"/>
                                <a:cs typeface="Cambria Math" panose="02040503050406030204" charset="0"/>
                              </a:rPr>
                              <m:t>𝑥</m:t>
                            </m:r>
                            <m:r>
                              <a:rPr lang="en-US" altLang="zh-CN" sz="2400" i="1">
                                <a:latin typeface="Cambria Math" panose="02040503050406030204" charset="0"/>
                                <a:ea typeface="MS Mincho" charset="0"/>
                                <a:cs typeface="Cambria Math" panose="02040503050406030204" charset="0"/>
                              </a:rPr>
                              <m:t>≠0</m:t>
                            </m:r>
                          </m:lim>
                        </m:limLow>
                      </m:fName>
                      <m:e>
                        <m:d>
                          <m:dPr>
                            <m:ctrlPr>
                              <a:rPr lang="en-US" altLang="zh-CN" sz="2400" i="1">
                                <a:latin typeface="Cambria Math" panose="02040503050406030204" pitchFamily="18" charset="0"/>
                                <a:ea typeface="宋体" panose="02010600030101010101" pitchFamily="2" charset="-122"/>
                                <a:cs typeface="Cambria Math" panose="02040503050406030204" charset="0"/>
                              </a:rPr>
                            </m:ctrlPr>
                          </m:dPr>
                          <m:e>
                            <m:sSub>
                              <m:sSubPr>
                                <m:ctrlPr>
                                  <a:rPr lang="en-US" altLang="zh-CN" sz="2400" i="1">
                                    <a:latin typeface="Cambria Math" panose="02040503050406030204" charset="0"/>
                                    <a:ea typeface="MS Mincho" charset="0"/>
                                    <a:cs typeface="Cambria Math" panose="02040503050406030204" charset="0"/>
                                  </a:rPr>
                                </m:ctrlPr>
                              </m:sSubPr>
                              <m:e>
                                <m:r>
                                  <a:rPr lang="en-US" altLang="zh-CN" sz="2400" i="1">
                                    <a:latin typeface="Cambria Math" panose="02040503050406030204" charset="0"/>
                                    <a:ea typeface="MS Mincho" charset="0"/>
                                    <a:cs typeface="Cambria Math" panose="02040503050406030204" charset="0"/>
                                  </a:rPr>
                                  <m:t>𝜔</m:t>
                                </m:r>
                              </m:e>
                              <m:sub>
                                <m:r>
                                  <a:rPr lang="en-US" altLang="zh-CN" sz="2400" i="1">
                                    <a:latin typeface="Cambria Math" panose="02040503050406030204" charset="0"/>
                                    <a:ea typeface="宋体" panose="02010600030101010101" pitchFamily="2" charset="-122"/>
                                    <a:cs typeface="Cambria Math" panose="02040503050406030204" charset="0"/>
                                  </a:rPr>
                                  <m:t>𝑏</m:t>
                                </m:r>
                              </m:sub>
                            </m:sSub>
                            <m:r>
                              <a:rPr lang="en-US" altLang="zh-CN" sz="2400" i="1">
                                <a:latin typeface="Cambria Math" panose="02040503050406030204" charset="0"/>
                                <a:ea typeface="MS Mincho" charset="0"/>
                                <a:cs typeface="Cambria Math" panose="02040503050406030204" charset="0"/>
                              </a:rPr>
                              <m:t>(</m:t>
                            </m:r>
                            <m:r>
                              <a:rPr lang="en-US" altLang="zh-CN" sz="2400" i="1">
                                <a:latin typeface="Cambria Math" panose="02040503050406030204" charset="0"/>
                                <a:ea typeface="宋体" panose="02010600030101010101" pitchFamily="2" charset="-122"/>
                                <a:cs typeface="Cambria Math" panose="02040503050406030204" charset="0"/>
                              </a:rPr>
                              <m:t>𝑥</m:t>
                            </m:r>
                            <m:r>
                              <a:rPr lang="en-US" altLang="zh-CN" sz="2400" i="1">
                                <a:latin typeface="Cambria Math" panose="02040503050406030204" charset="0"/>
                                <a:ea typeface="MS Mincho" charset="0"/>
                                <a:cs typeface="Cambria Math" panose="02040503050406030204" charset="0"/>
                              </a:rPr>
                              <m:t>)+</m:t>
                            </m:r>
                            <m:sSub>
                              <m:sSubPr>
                                <m:ctrlPr>
                                  <a:rPr lang="en-US" altLang="zh-CN" sz="2400" i="1">
                                    <a:latin typeface="Cambria Math" panose="02040503050406030204" charset="0"/>
                                    <a:ea typeface="MS Mincho" charset="0"/>
                                    <a:cs typeface="Cambria Math" panose="02040503050406030204" charset="0"/>
                                  </a:rPr>
                                </m:ctrlPr>
                              </m:sSubPr>
                              <m:e>
                                <m:r>
                                  <a:rPr lang="en-US" altLang="zh-CN" sz="2400" i="1">
                                    <a:latin typeface="Cambria Math" panose="02040503050406030204" charset="0"/>
                                    <a:ea typeface="MS Mincho" charset="0"/>
                                    <a:cs typeface="Cambria Math" panose="02040503050406030204" charset="0"/>
                                  </a:rPr>
                                  <m:t>𝜔</m:t>
                                </m:r>
                              </m:e>
                              <m:sub>
                                <m:r>
                                  <a:rPr lang="en-US" altLang="zh-CN" sz="2400" i="1">
                                    <a:latin typeface="Cambria Math" panose="02040503050406030204" charset="0"/>
                                    <a:ea typeface="宋体" panose="02010600030101010101" pitchFamily="2" charset="-122"/>
                                    <a:cs typeface="Cambria Math" panose="02040503050406030204" charset="0"/>
                                  </a:rPr>
                                  <m:t>𝑏</m:t>
                                </m:r>
                              </m:sub>
                            </m:sSub>
                            <m:r>
                              <a:rPr lang="en-US" altLang="zh-CN" sz="2400" i="1">
                                <a:latin typeface="Cambria Math" panose="02040503050406030204" charset="0"/>
                                <a:ea typeface="MS Mincho" charset="0"/>
                                <a:cs typeface="Cambria Math" panose="02040503050406030204" charset="0"/>
                              </a:rPr>
                              <m:t>(</m:t>
                            </m:r>
                            <m:r>
                              <a:rPr lang="en-US" altLang="zh-CN" sz="2400" i="1">
                                <a:latin typeface="Cambria Math" panose="02040503050406030204" charset="0"/>
                                <a:ea typeface="MS Mincho" charset="0"/>
                                <a:cs typeface="Cambria Math" panose="02040503050406030204" charset="0"/>
                              </a:rPr>
                              <m:t>𝜃</m:t>
                            </m:r>
                            <m:r>
                              <a:rPr lang="en-US" altLang="zh-CN" sz="2400" i="1">
                                <a:latin typeface="Cambria Math" panose="02040503050406030204" charset="0"/>
                                <a:ea typeface="MS Mincho" charset="0"/>
                                <a:cs typeface="Cambria Math" panose="02040503050406030204" charset="0"/>
                              </a:rPr>
                              <m:t>(</m:t>
                            </m:r>
                            <m:r>
                              <a:rPr lang="en-US" altLang="zh-CN" sz="2400" i="1">
                                <a:latin typeface="Cambria Math" panose="02040503050406030204" charset="0"/>
                                <a:ea typeface="宋体" panose="02010600030101010101" pitchFamily="2" charset="-122"/>
                                <a:cs typeface="Cambria Math" panose="02040503050406030204" charset="0"/>
                              </a:rPr>
                              <m:t>𝑥</m:t>
                            </m:r>
                            <m:r>
                              <a:rPr lang="en-US" altLang="zh-CN" sz="2400" i="1">
                                <a:latin typeface="Cambria Math" panose="02040503050406030204" charset="0"/>
                                <a:ea typeface="MS Mincho" charset="0"/>
                                <a:cs typeface="Cambria Math" panose="02040503050406030204" charset="0"/>
                              </a:rPr>
                              <m:t>))</m:t>
                            </m:r>
                          </m:e>
                        </m:d>
                      </m:e>
                    </m:func>
                  </m:oMath>
                </a14:m>
                <a:r>
                  <a:rPr lang="zh-CN" altLang="en-US" sz="2400">
                    <a:latin typeface="Times New Roman" panose="02020603050405020304" pitchFamily="18" charset="0"/>
                    <a:ea typeface="宋体" panose="02010600030101010101" pitchFamily="2" charset="-122"/>
                    <a:cs typeface="Times New Roman" panose="02020603050405020304" pitchFamily="18" charset="0"/>
                  </a:rPr>
                  <a:t>，</a:t>
                </a:r>
                <a:r>
                  <a:rPr sz="2400">
                    <a:latin typeface="Times New Roman" panose="02020603050405020304" pitchFamily="18" charset="0"/>
                    <a:ea typeface="宋体" panose="02010600030101010101" pitchFamily="2" charset="-122"/>
                    <a:cs typeface="Times New Roman" panose="02020603050405020304" pitchFamily="18" charset="0"/>
                  </a:rPr>
                  <a:t>称B(θ)为变换θ的分支数，其中</a:t>
                </a:r>
                <a14:m>
                  <m:oMath xmlns:m="http://schemas.openxmlformats.org/officeDocument/2006/math">
                    <m:sSub>
                      <m:sSubPr>
                        <m:ctrlPr>
                          <a:rPr lang="en-US" altLang="zh-CN" sz="2400" i="1">
                            <a:latin typeface="Cambria Math" panose="02040503050406030204" charset="0"/>
                            <a:ea typeface="MS Mincho" charset="0"/>
                            <a:cs typeface="Cambria Math" panose="02040503050406030204" charset="0"/>
                          </a:rPr>
                        </m:ctrlPr>
                      </m:sSubPr>
                      <m:e>
                        <m:r>
                          <a:rPr lang="en-US" altLang="zh-CN" sz="2400" i="1">
                            <a:latin typeface="Cambria Math" panose="02040503050406030204" charset="0"/>
                            <a:ea typeface="MS Mincho" charset="0"/>
                            <a:cs typeface="Cambria Math" panose="02040503050406030204" charset="0"/>
                          </a:rPr>
                          <m:t>𝜔</m:t>
                        </m:r>
                      </m:e>
                      <m:sub>
                        <m:r>
                          <a:rPr lang="en-US" altLang="zh-CN" sz="2400" i="1">
                            <a:latin typeface="Cambria Math" panose="02040503050406030204" charset="0"/>
                            <a:ea typeface="宋体" panose="02010600030101010101" pitchFamily="2" charset="-122"/>
                            <a:cs typeface="Cambria Math" panose="02040503050406030204" charset="0"/>
                          </a:rPr>
                          <m:t>𝑏</m:t>
                        </m:r>
                      </m:sub>
                    </m:sSub>
                    <m:r>
                      <a:rPr lang="en-US" altLang="zh-CN" sz="2400" i="1">
                        <a:latin typeface="Cambria Math" panose="02040503050406030204" charset="0"/>
                        <a:ea typeface="MS Mincho" charset="0"/>
                        <a:cs typeface="Cambria Math" panose="02040503050406030204" charset="0"/>
                      </a:rPr>
                      <m:t>(</m:t>
                    </m:r>
                    <m:r>
                      <a:rPr lang="en-US" altLang="zh-CN" sz="2400" i="1">
                        <a:latin typeface="Cambria Math" panose="02040503050406030204" charset="0"/>
                        <a:ea typeface="宋体" panose="02010600030101010101" pitchFamily="2" charset="-122"/>
                        <a:cs typeface="Cambria Math" panose="02040503050406030204" charset="0"/>
                      </a:rPr>
                      <m:t>𝑥</m:t>
                    </m:r>
                    <m:r>
                      <a:rPr lang="en-US" altLang="zh-CN" sz="2400" i="1">
                        <a:latin typeface="Cambria Math" panose="02040503050406030204" charset="0"/>
                        <a:ea typeface="MS Mincho" charset="0"/>
                        <a:cs typeface="Cambria Math" panose="02040503050406030204" charset="0"/>
                      </a:rPr>
                      <m:t>)</m:t>
                    </m:r>
                  </m:oMath>
                </a14:m>
                <a:r>
                  <a:rPr sz="2400">
                    <a:latin typeface="Times New Roman" panose="02020603050405020304" pitchFamily="18" charset="0"/>
                    <a:ea typeface="宋体" panose="02010600030101010101" pitchFamily="2" charset="-122"/>
                    <a:cs typeface="Times New Roman" panose="02020603050405020304" pitchFamily="18" charset="0"/>
                  </a:rPr>
                  <a:t>表示非零x</a:t>
                </a:r>
                <a:r>
                  <a:rPr lang="en-US" sz="2400" baseline="-25000">
                    <a:latin typeface="Times New Roman" panose="02020603050405020304" pitchFamily="18" charset="0"/>
                    <a:ea typeface="宋体" panose="02010600030101010101" pitchFamily="2" charset="-122"/>
                    <a:cs typeface="Times New Roman" panose="02020603050405020304" pitchFamily="18" charset="0"/>
                  </a:rPr>
                  <a:t>i</a:t>
                </a:r>
                <a:r>
                  <a:rPr lang="en-US" sz="2400">
                    <a:latin typeface="Times New Roman" panose="02020603050405020304" pitchFamily="18" charset="0"/>
                    <a:ea typeface="宋体" panose="02010600030101010101" pitchFamily="2" charset="-122"/>
                    <a:cs typeface="Times New Roman" panose="02020603050405020304" pitchFamily="18" charset="0"/>
                  </a:rPr>
                  <a:t>(1≤i≤m)</a:t>
                </a:r>
                <a:r>
                  <a:rPr sz="2400">
                    <a:latin typeface="Times New Roman" panose="02020603050405020304" pitchFamily="18" charset="0"/>
                    <a:ea typeface="宋体" panose="02010600030101010101" pitchFamily="2" charset="-122"/>
                    <a:cs typeface="Times New Roman" panose="02020603050405020304" pitchFamily="18" charset="0"/>
                  </a:rPr>
                  <a:t>的个数，称为x的汉明重量（Bundle Weight）。</a:t>
                </a:r>
              </a:p>
              <a:p>
                <a:pPr defTabSz="457200">
                  <a:lnSpc>
                    <a:spcPct val="140000"/>
                  </a:lnSpc>
                  <a:spcAft>
                    <a:spcPts val="1000"/>
                  </a:spcAft>
                  <a:defRPr sz="1900" b="0">
                    <a:solidFill>
                      <a:srgbClr val="000000"/>
                    </a:solidFill>
                    <a:latin typeface="Times New Roman" panose="02020603050405020304"/>
                  </a:defRPr>
                </a:pPr>
                <a:r>
                  <a:rPr lang="en-US" sz="2400">
                    <a:latin typeface="Times New Roman" panose="02020603050405020304" pitchFamily="18" charset="0"/>
                    <a:ea typeface="宋体" panose="02010600030101010101" pitchFamily="2" charset="-122"/>
                    <a:cs typeface="Times New Roman" panose="02020603050405020304" pitchFamily="18" charset="0"/>
                  </a:rPr>
                  <a:t>    </a:t>
                </a:r>
                <a:r>
                  <a:rPr sz="2400">
                    <a:latin typeface="Times New Roman" panose="02020603050405020304" pitchFamily="18" charset="0"/>
                    <a:ea typeface="宋体" panose="02010600030101010101" pitchFamily="2" charset="-122"/>
                    <a:cs typeface="Times New Roman" panose="02020603050405020304" pitchFamily="18" charset="0"/>
                  </a:rPr>
                  <a:t>分支数的概念可用于量化分组密码算法对差分密码分析及线性密码分析的抵抗能力，针对差分密码分析及线性密码分析，可类似地定义θ的差分分支数：</a:t>
                </a:r>
              </a:p>
              <a:p>
                <a:pPr defTabSz="457200">
                  <a:lnSpc>
                    <a:spcPct val="140000"/>
                  </a:lnSpc>
                  <a:spcAft>
                    <a:spcPts val="1000"/>
                  </a:spcAft>
                  <a:defRPr sz="1900" b="0">
                    <a:solidFill>
                      <a:srgbClr val="000000"/>
                    </a:solidFill>
                    <a:latin typeface="Times New Roman" panose="02020603050405020304"/>
                  </a:defRPr>
                </a:pPr>
                <a14:m>
                  <m:oMath xmlns:m="http://schemas.openxmlformats.org/officeDocument/2006/math">
                    <m:sSub>
                      <m:sSubPr>
                        <m:ctrlPr>
                          <a:rPr lang="en-US" altLang="zh-CN" sz="2400" i="1">
                            <a:latin typeface="Cambria Math" panose="02040503050406030204" charset="0"/>
                            <a:ea typeface="宋体" panose="02010600030101010101" pitchFamily="2" charset="-122"/>
                            <a:cs typeface="Cambria Math" panose="02040503050406030204" charset="0"/>
                          </a:rPr>
                        </m:ctrlPr>
                      </m:sSubPr>
                      <m:e>
                        <m:r>
                          <a:rPr lang="en-US" altLang="zh-CN" sz="2400" i="1">
                            <a:latin typeface="Cambria Math" panose="02040503050406030204" charset="0"/>
                            <a:ea typeface="宋体" panose="02010600030101010101" pitchFamily="2" charset="-122"/>
                            <a:cs typeface="Cambria Math" panose="02040503050406030204" charset="0"/>
                          </a:rPr>
                          <m:t>𝐵</m:t>
                        </m:r>
                      </m:e>
                      <m:sub>
                        <m:r>
                          <m:rPr>
                            <m:sty m:val="p"/>
                          </m:rPr>
                          <a:rPr lang="en-US" altLang="zh-CN" sz="2400" i="1">
                            <a:latin typeface="Cambria Math" panose="02040503050406030204" charset="0"/>
                            <a:ea typeface="宋体" panose="02010600030101010101" pitchFamily="2" charset="-122"/>
                            <a:cs typeface="Cambria Math" panose="02040503050406030204" charset="0"/>
                          </a:rPr>
                          <m:t>d</m:t>
                        </m:r>
                      </m:sub>
                    </m:sSub>
                    <m:r>
                      <a:rPr lang="en-US" altLang="zh-CN" sz="2400" i="1">
                        <a:latin typeface="Cambria Math" panose="02040503050406030204" charset="0"/>
                        <a:ea typeface="MS Mincho" charset="0"/>
                        <a:cs typeface="Cambria Math" panose="02040503050406030204" charset="0"/>
                      </a:rPr>
                      <m:t>(</m:t>
                    </m:r>
                    <m:r>
                      <a:rPr lang="en-US" altLang="zh-CN" sz="2400" i="1">
                        <a:latin typeface="Cambria Math" panose="02040503050406030204" charset="0"/>
                        <a:ea typeface="MS Mincho" charset="0"/>
                        <a:cs typeface="Cambria Math" panose="02040503050406030204" charset="0"/>
                      </a:rPr>
                      <m:t>𝜃</m:t>
                    </m:r>
                    <m:r>
                      <a:rPr lang="en-US" altLang="zh-CN" sz="2400" i="1">
                        <a:latin typeface="Cambria Math" panose="02040503050406030204" charset="0"/>
                        <a:ea typeface="MS Mincho" charset="0"/>
                        <a:cs typeface="Cambria Math" panose="02040503050406030204" charset="0"/>
                      </a:rPr>
                      <m:t>)=</m:t>
                    </m:r>
                    <m:func>
                      <m:funcPr>
                        <m:ctrlPr>
                          <a:rPr lang="en-US" altLang="zh-CN" sz="2400" i="1">
                            <a:latin typeface="Cambria Math" panose="02040503050406030204" pitchFamily="18" charset="0"/>
                            <a:ea typeface="宋体" panose="02010600030101010101" pitchFamily="2" charset="-122"/>
                            <a:cs typeface="Cambria Math" panose="02040503050406030204" charset="0"/>
                          </a:rPr>
                        </m:ctrlPr>
                      </m:funcPr>
                      <m:fName>
                        <m:limLow>
                          <m:limLowPr>
                            <m:ctrlPr>
                              <a:rPr lang="en-US" altLang="zh-CN" sz="2400" i="1">
                                <a:latin typeface="Cambria Math" panose="02040503050406030204" charset="0"/>
                                <a:ea typeface="宋体" panose="02010600030101010101" pitchFamily="2" charset="-122"/>
                                <a:cs typeface="Cambria Math" panose="02040503050406030204" charset="0"/>
                              </a:rPr>
                            </m:ctrlPr>
                          </m:limLowPr>
                          <m:e>
                            <m:r>
                              <m:rPr>
                                <m:sty m:val="p"/>
                              </m:rPr>
                              <a:rPr lang="en-US" altLang="zh-CN" sz="2400" i="1">
                                <a:latin typeface="Cambria Math" panose="02040503050406030204" charset="0"/>
                                <a:ea typeface="宋体" panose="02010600030101010101" pitchFamily="2" charset="-122"/>
                                <a:cs typeface="Cambria Math" panose="02040503050406030204" charset="0"/>
                              </a:rPr>
                              <m:t>min</m:t>
                            </m:r>
                          </m:e>
                          <m:lim>
                            <m:r>
                              <a:rPr lang="en-US" altLang="zh-CN" sz="2400" i="1">
                                <a:latin typeface="Cambria Math" panose="02040503050406030204" charset="0"/>
                                <a:ea typeface="宋体" panose="02010600030101010101" pitchFamily="2" charset="-122"/>
                                <a:cs typeface="Cambria Math" panose="02040503050406030204" charset="0"/>
                              </a:rPr>
                              <m:t>𝑥</m:t>
                            </m:r>
                            <m:r>
                              <a:rPr lang="en-US" altLang="zh-CN" sz="2400" i="1">
                                <a:latin typeface="Cambria Math" panose="02040503050406030204" charset="0"/>
                                <a:ea typeface="MS Mincho" charset="0"/>
                                <a:cs typeface="Cambria Math" panose="02040503050406030204" charset="0"/>
                              </a:rPr>
                              <m:t>,</m:t>
                            </m:r>
                            <m:r>
                              <a:rPr lang="en-US" altLang="zh-CN" sz="2400" i="1">
                                <a:latin typeface="Cambria Math" panose="02040503050406030204" charset="0"/>
                                <a:ea typeface="宋体" panose="02010600030101010101" pitchFamily="2" charset="-122"/>
                                <a:cs typeface="Cambria Math" panose="02040503050406030204" charset="0"/>
                              </a:rPr>
                              <m:t>𝑥</m:t>
                            </m:r>
                            <m:r>
                              <a:rPr lang="en-US" altLang="zh-CN" sz="2400" i="1">
                                <a:latin typeface="Cambria Math" panose="02040503050406030204" charset="0"/>
                                <a:ea typeface="MS Mincho" charset="0"/>
                                <a:cs typeface="Cambria Math" panose="02040503050406030204" charset="0"/>
                              </a:rPr>
                              <m:t>≠</m:t>
                            </m:r>
                            <m:sSup>
                              <m:sSupPr>
                                <m:ctrlPr>
                                  <a:rPr lang="en-US" altLang="zh-CN" sz="2400" i="1">
                                    <a:latin typeface="Cambria Math" panose="02040503050406030204" charset="0"/>
                                    <a:ea typeface="宋体" panose="02010600030101010101" pitchFamily="2" charset="-122"/>
                                    <a:cs typeface="Cambria Math" panose="02040503050406030204" charset="0"/>
                                  </a:rPr>
                                </m:ctrlPr>
                              </m:sSupPr>
                              <m:e>
                                <m:r>
                                  <a:rPr lang="en-US" altLang="zh-CN" sz="2400" i="1">
                                    <a:latin typeface="Cambria Math" panose="02040503050406030204" charset="0"/>
                                    <a:ea typeface="宋体" panose="02010600030101010101" pitchFamily="2" charset="-122"/>
                                    <a:cs typeface="Cambria Math" panose="02040503050406030204" charset="0"/>
                                  </a:rPr>
                                  <m:t>𝑥</m:t>
                                </m:r>
                              </m:e>
                              <m:sup>
                                <m:r>
                                  <a:rPr lang="en-US" altLang="zh-CN" sz="2400" i="1">
                                    <a:latin typeface="Cambria Math" panose="02040503050406030204" charset="0"/>
                                    <a:ea typeface="MS Mincho" charset="0"/>
                                    <a:cs typeface="Cambria Math" panose="02040503050406030204" charset="0"/>
                                  </a:rPr>
                                  <m:t>∗</m:t>
                                </m:r>
                              </m:sup>
                            </m:sSup>
                          </m:lim>
                        </m:limLow>
                      </m:fName>
                      <m:e>
                        <m:d>
                          <m:dPr>
                            <m:ctrlPr>
                              <a:rPr lang="en-US" altLang="zh-CN" sz="2400" i="1">
                                <a:latin typeface="Cambria Math" panose="02040503050406030204" pitchFamily="18" charset="0"/>
                                <a:ea typeface="宋体" panose="02010600030101010101" pitchFamily="2" charset="-122"/>
                                <a:cs typeface="Cambria Math" panose="02040503050406030204" charset="0"/>
                              </a:rPr>
                            </m:ctrlPr>
                          </m:dPr>
                          <m:e>
                            <m:sSub>
                              <m:sSubPr>
                                <m:ctrlPr>
                                  <a:rPr lang="en-US" altLang="zh-CN" sz="2400" i="1">
                                    <a:latin typeface="Cambria Math" panose="02040503050406030204" charset="0"/>
                                    <a:ea typeface="MS Mincho" charset="0"/>
                                    <a:cs typeface="Cambria Math" panose="02040503050406030204" charset="0"/>
                                  </a:rPr>
                                </m:ctrlPr>
                              </m:sSubPr>
                              <m:e>
                                <m:r>
                                  <a:rPr lang="en-US" altLang="zh-CN" sz="2400" i="1">
                                    <a:latin typeface="Cambria Math" panose="02040503050406030204" charset="0"/>
                                    <a:ea typeface="MS Mincho" charset="0"/>
                                    <a:cs typeface="Cambria Math" panose="02040503050406030204" charset="0"/>
                                  </a:rPr>
                                  <m:t>𝜔</m:t>
                                </m:r>
                              </m:e>
                              <m:sub>
                                <m:r>
                                  <m:rPr>
                                    <m:sty m:val="p"/>
                                  </m:rPr>
                                  <a:rPr lang="en-US" altLang="zh-CN" sz="2400" i="1">
                                    <a:latin typeface="Cambria Math" panose="02040503050406030204" charset="0"/>
                                    <a:ea typeface="宋体" panose="02010600030101010101" pitchFamily="2" charset="-122"/>
                                    <a:cs typeface="Cambria Math" panose="02040503050406030204" charset="0"/>
                                  </a:rPr>
                                  <m:t>b</m:t>
                                </m:r>
                              </m:sub>
                            </m:sSub>
                            <m:d>
                              <m:dPr>
                                <m:ctrlPr>
                                  <a:rPr lang="en-US" altLang="zh-CN" sz="2400" i="1">
                                    <a:latin typeface="Cambria Math" panose="02040503050406030204" charset="0"/>
                                    <a:ea typeface="宋体" panose="02010600030101010101" pitchFamily="2" charset="-122"/>
                                    <a:cs typeface="Cambria Math" panose="02040503050406030204" charset="0"/>
                                  </a:rPr>
                                </m:ctrlPr>
                              </m:dPr>
                              <m:e>
                                <m:r>
                                  <a:rPr lang="en-US" altLang="zh-CN" sz="2400" i="1">
                                    <a:latin typeface="Cambria Math" panose="02040503050406030204" charset="0"/>
                                    <a:ea typeface="宋体" panose="02010600030101010101" pitchFamily="2" charset="-122"/>
                                    <a:cs typeface="Cambria Math" panose="02040503050406030204" charset="0"/>
                                  </a:rPr>
                                  <m:t>𝑥</m:t>
                                </m:r>
                                <m:r>
                                  <a:rPr lang="en-US" altLang="zh-CN" sz="2400" i="1">
                                    <a:latin typeface="Cambria Math" panose="02040503050406030204" charset="0"/>
                                    <a:ea typeface="MS Mincho" charset="0"/>
                                    <a:cs typeface="Cambria Math" panose="02040503050406030204" charset="0"/>
                                  </a:rPr>
                                  <m:t>⊕</m:t>
                                </m:r>
                                <m:sSup>
                                  <m:sSupPr>
                                    <m:ctrlPr>
                                      <a:rPr lang="en-US" altLang="zh-CN" sz="2400" i="1">
                                        <a:latin typeface="Cambria Math" panose="02040503050406030204" charset="0"/>
                                        <a:ea typeface="宋体" panose="02010600030101010101" pitchFamily="2" charset="-122"/>
                                        <a:cs typeface="Cambria Math" panose="02040503050406030204" charset="0"/>
                                      </a:rPr>
                                    </m:ctrlPr>
                                  </m:sSupPr>
                                  <m:e>
                                    <m:r>
                                      <a:rPr lang="en-US" altLang="zh-CN" sz="2400" i="1">
                                        <a:latin typeface="Cambria Math" panose="02040503050406030204" charset="0"/>
                                        <a:ea typeface="宋体" panose="02010600030101010101" pitchFamily="2" charset="-122"/>
                                        <a:cs typeface="Cambria Math" panose="02040503050406030204" charset="0"/>
                                      </a:rPr>
                                      <m:t>𝑥</m:t>
                                    </m:r>
                                  </m:e>
                                  <m:sup>
                                    <m:r>
                                      <a:rPr lang="en-US" altLang="zh-CN" sz="2400" i="1">
                                        <a:latin typeface="Cambria Math" panose="02040503050406030204" charset="0"/>
                                        <a:ea typeface="MS Mincho" charset="0"/>
                                        <a:cs typeface="Cambria Math" panose="02040503050406030204" charset="0"/>
                                      </a:rPr>
                                      <m:t>∗</m:t>
                                    </m:r>
                                  </m:sup>
                                </m:sSup>
                              </m:e>
                            </m:d>
                            <m:r>
                              <a:rPr lang="en-US" altLang="zh-CN" sz="2400" i="1">
                                <a:latin typeface="Cambria Math" panose="02040503050406030204" charset="0"/>
                                <a:ea typeface="MS Mincho" charset="0"/>
                                <a:cs typeface="Cambria Math" panose="02040503050406030204" charset="0"/>
                              </a:rPr>
                              <m:t>+</m:t>
                            </m:r>
                            <m:sSub>
                              <m:sSubPr>
                                <m:ctrlPr>
                                  <a:rPr lang="en-US" altLang="zh-CN" sz="2400" i="1">
                                    <a:latin typeface="Cambria Math" panose="02040503050406030204" charset="0"/>
                                    <a:ea typeface="MS Mincho" charset="0"/>
                                    <a:cs typeface="Cambria Math" panose="02040503050406030204" charset="0"/>
                                  </a:rPr>
                                </m:ctrlPr>
                              </m:sSubPr>
                              <m:e>
                                <m:r>
                                  <a:rPr lang="en-US" altLang="zh-CN" sz="2400" i="1">
                                    <a:latin typeface="Cambria Math" panose="02040503050406030204" charset="0"/>
                                    <a:ea typeface="MS Mincho" charset="0"/>
                                    <a:cs typeface="Cambria Math" panose="02040503050406030204" charset="0"/>
                                  </a:rPr>
                                  <m:t>𝜔</m:t>
                                </m:r>
                              </m:e>
                              <m:sub>
                                <m:r>
                                  <m:rPr>
                                    <m:sty m:val="p"/>
                                  </m:rPr>
                                  <a:rPr lang="en-US" altLang="zh-CN" sz="2400" i="1">
                                    <a:latin typeface="Cambria Math" panose="02040503050406030204" charset="0"/>
                                    <a:ea typeface="宋体" panose="02010600030101010101" pitchFamily="2" charset="-122"/>
                                    <a:cs typeface="Cambria Math" panose="02040503050406030204" charset="0"/>
                                  </a:rPr>
                                  <m:t>b</m:t>
                                </m:r>
                              </m:sub>
                            </m:sSub>
                            <m:d>
                              <m:dPr>
                                <m:ctrlPr>
                                  <a:rPr lang="en-US" altLang="zh-CN" sz="2400" i="1">
                                    <a:latin typeface="Cambria Math" panose="02040503050406030204" charset="0"/>
                                    <a:ea typeface="MS Mincho" charset="0"/>
                                    <a:cs typeface="Cambria Math" panose="02040503050406030204" charset="0"/>
                                  </a:rPr>
                                </m:ctrlPr>
                              </m:dPr>
                              <m:e>
                                <m:r>
                                  <a:rPr lang="en-US" altLang="zh-CN" sz="2400" i="1">
                                    <a:latin typeface="Cambria Math" panose="02040503050406030204" charset="0"/>
                                    <a:ea typeface="MS Mincho" charset="0"/>
                                    <a:cs typeface="Cambria Math" panose="02040503050406030204" charset="0"/>
                                  </a:rPr>
                                  <m:t>𝜃</m:t>
                                </m:r>
                                <m:r>
                                  <a:rPr lang="en-US" altLang="zh-CN" sz="2400" i="1">
                                    <a:latin typeface="Cambria Math" panose="02040503050406030204" charset="0"/>
                                    <a:ea typeface="MS Mincho" charset="0"/>
                                    <a:cs typeface="Cambria Math" panose="02040503050406030204" charset="0"/>
                                  </a:rPr>
                                  <m:t>(</m:t>
                                </m:r>
                                <m:r>
                                  <a:rPr lang="en-US" altLang="zh-CN" sz="2400" i="1">
                                    <a:latin typeface="Cambria Math" panose="02040503050406030204" charset="0"/>
                                    <a:ea typeface="宋体" panose="02010600030101010101" pitchFamily="2" charset="-122"/>
                                    <a:cs typeface="Cambria Math" panose="02040503050406030204" charset="0"/>
                                  </a:rPr>
                                  <m:t>𝑥</m:t>
                                </m:r>
                                <m:r>
                                  <a:rPr lang="en-US" altLang="zh-CN" sz="2400" i="1">
                                    <a:latin typeface="Cambria Math" panose="02040503050406030204" charset="0"/>
                                    <a:ea typeface="MS Mincho" charset="0"/>
                                    <a:cs typeface="Cambria Math" panose="02040503050406030204" charset="0"/>
                                  </a:rPr>
                                  <m:t>)⊕</m:t>
                                </m:r>
                                <m:r>
                                  <a:rPr lang="en-US" altLang="zh-CN" sz="2400" i="1">
                                    <a:latin typeface="Cambria Math" panose="02040503050406030204" charset="0"/>
                                    <a:ea typeface="MS Mincho" charset="0"/>
                                    <a:cs typeface="Cambria Math" panose="02040503050406030204" charset="0"/>
                                  </a:rPr>
                                  <m:t>𝜃</m:t>
                                </m:r>
                                <m:d>
                                  <m:dPr>
                                    <m:ctrlPr>
                                      <a:rPr lang="en-US" altLang="zh-CN" sz="2400" i="1">
                                        <a:latin typeface="Cambria Math" panose="02040503050406030204" pitchFamily="18" charset="0"/>
                                        <a:ea typeface="宋体" panose="02010600030101010101" pitchFamily="2" charset="-122"/>
                                        <a:cs typeface="Cambria Math" panose="02040503050406030204" charset="0"/>
                                      </a:rPr>
                                    </m:ctrlPr>
                                  </m:dPr>
                                  <m:e>
                                    <m:sSup>
                                      <m:sSupPr>
                                        <m:ctrlPr>
                                          <a:rPr lang="en-US" altLang="zh-CN" sz="2400" i="1">
                                            <a:latin typeface="Cambria Math" panose="02040503050406030204" charset="0"/>
                                            <a:ea typeface="宋体" panose="02010600030101010101" pitchFamily="2" charset="-122"/>
                                            <a:cs typeface="Cambria Math" panose="02040503050406030204" charset="0"/>
                                          </a:rPr>
                                        </m:ctrlPr>
                                      </m:sSupPr>
                                      <m:e>
                                        <m:r>
                                          <a:rPr lang="en-US" altLang="zh-CN" sz="2400" i="1">
                                            <a:latin typeface="Cambria Math" panose="02040503050406030204" charset="0"/>
                                            <a:ea typeface="宋体" panose="02010600030101010101" pitchFamily="2" charset="-122"/>
                                            <a:cs typeface="Cambria Math" panose="02040503050406030204" charset="0"/>
                                          </a:rPr>
                                          <m:t>𝑥</m:t>
                                        </m:r>
                                      </m:e>
                                      <m:sup>
                                        <m:r>
                                          <a:rPr lang="en-US" altLang="zh-CN" sz="2400" i="1">
                                            <a:latin typeface="Cambria Math" panose="02040503050406030204" charset="0"/>
                                            <a:ea typeface="MS Mincho" charset="0"/>
                                            <a:cs typeface="Cambria Math" panose="02040503050406030204" charset="0"/>
                                          </a:rPr>
                                          <m:t>∗</m:t>
                                        </m:r>
                                      </m:sup>
                                    </m:sSup>
                                  </m:e>
                                </m:d>
                              </m:e>
                            </m:d>
                          </m:e>
                        </m:d>
                      </m:e>
                    </m:func>
                  </m:oMath>
                </a14:m>
                <a:r>
                  <a:rPr sz="2400">
                    <a:latin typeface="Times New Roman" panose="02020603050405020304" pitchFamily="18" charset="0"/>
                    <a:ea typeface="宋体" panose="02010600030101010101" pitchFamily="2" charset="-122"/>
                    <a:cs typeface="Times New Roman" panose="02020603050405020304" pitchFamily="18" charset="0"/>
                  </a:rPr>
                  <a:t>及线性分支数：</a:t>
                </a:r>
                <a14:m>
                  <m:oMath xmlns:m="http://schemas.openxmlformats.org/officeDocument/2006/math">
                    <m:sSub>
                      <m:sSubPr>
                        <m:ctrlPr>
                          <a:rPr lang="en-US" altLang="zh-CN" sz="2400" i="1">
                            <a:latin typeface="Cambria Math" panose="02040503050406030204" charset="0"/>
                            <a:ea typeface="宋体" panose="02010600030101010101" pitchFamily="2" charset="-122"/>
                            <a:cs typeface="Cambria Math" panose="02040503050406030204" charset="0"/>
                          </a:rPr>
                        </m:ctrlPr>
                      </m:sSubPr>
                      <m:e>
                        <m:r>
                          <a:rPr lang="en-US" altLang="zh-CN" sz="2400" i="1">
                            <a:latin typeface="Cambria Math" panose="02040503050406030204" charset="0"/>
                            <a:ea typeface="宋体" panose="02010600030101010101" pitchFamily="2" charset="-122"/>
                            <a:cs typeface="Cambria Math" panose="02040503050406030204" charset="0"/>
                          </a:rPr>
                          <m:t>𝐵</m:t>
                        </m:r>
                      </m:e>
                      <m:sub>
                        <m:r>
                          <m:rPr>
                            <m:sty m:val="p"/>
                          </m:rPr>
                          <a:rPr lang="en-US" altLang="zh-CN" sz="2400" i="1">
                            <a:latin typeface="Cambria Math" panose="02040503050406030204" charset="0"/>
                            <a:ea typeface="宋体" panose="02010600030101010101" pitchFamily="2" charset="-122"/>
                            <a:cs typeface="Cambria Math" panose="02040503050406030204" charset="0"/>
                          </a:rPr>
                          <m:t>t</m:t>
                        </m:r>
                      </m:sub>
                    </m:sSub>
                    <m:r>
                      <a:rPr lang="en-US" altLang="zh-CN" sz="2400" i="1">
                        <a:latin typeface="Cambria Math" panose="02040503050406030204" charset="0"/>
                        <a:ea typeface="MS Mincho" charset="0"/>
                        <a:cs typeface="Cambria Math" panose="02040503050406030204" charset="0"/>
                      </a:rPr>
                      <m:t>(</m:t>
                    </m:r>
                    <m:r>
                      <a:rPr lang="en-US" altLang="zh-CN" sz="2400" i="1">
                        <a:latin typeface="Cambria Math" panose="02040503050406030204" charset="0"/>
                        <a:ea typeface="MS Mincho" charset="0"/>
                        <a:cs typeface="Cambria Math" panose="02040503050406030204" charset="0"/>
                      </a:rPr>
                      <m:t>𝜃</m:t>
                    </m:r>
                    <m:r>
                      <a:rPr lang="en-US" altLang="zh-CN" sz="2400" i="1">
                        <a:latin typeface="Cambria Math" panose="02040503050406030204" charset="0"/>
                        <a:ea typeface="MS Mincho" charset="0"/>
                        <a:cs typeface="Cambria Math" panose="02040503050406030204" charset="0"/>
                      </a:rPr>
                      <m:t>)=</m:t>
                    </m:r>
                    <m:func>
                      <m:funcPr>
                        <m:ctrlPr>
                          <a:rPr lang="en-US" altLang="zh-CN" sz="2400" i="1">
                            <a:latin typeface="Cambria Math" panose="02040503050406030204" pitchFamily="18" charset="0"/>
                            <a:ea typeface="宋体" panose="02010600030101010101" pitchFamily="2" charset="-122"/>
                            <a:cs typeface="Cambria Math" panose="02040503050406030204" charset="0"/>
                          </a:rPr>
                        </m:ctrlPr>
                      </m:funcPr>
                      <m:fName>
                        <m:limLow>
                          <m:limLowPr>
                            <m:ctrlPr>
                              <a:rPr lang="en-US" altLang="zh-CN" sz="2400" i="1">
                                <a:latin typeface="Cambria Math" panose="02040503050406030204" charset="0"/>
                                <a:ea typeface="宋体" panose="02010600030101010101" pitchFamily="2" charset="-122"/>
                                <a:cs typeface="Cambria Math" panose="02040503050406030204" charset="0"/>
                              </a:rPr>
                            </m:ctrlPr>
                          </m:limLowPr>
                          <m:e>
                            <m:r>
                              <m:rPr>
                                <m:sty m:val="p"/>
                              </m:rPr>
                              <a:rPr lang="en-US" altLang="zh-CN" sz="2400" i="1">
                                <a:latin typeface="Cambria Math" panose="02040503050406030204" charset="0"/>
                                <a:ea typeface="宋体" panose="02010600030101010101" pitchFamily="2" charset="-122"/>
                                <a:cs typeface="Cambria Math" panose="02040503050406030204" charset="0"/>
                              </a:rPr>
                              <m:t>min</m:t>
                            </m:r>
                          </m:e>
                          <m:lim>
                            <m:r>
                              <a:rPr lang="en-US" altLang="zh-CN" sz="2400" i="1">
                                <a:latin typeface="Cambria Math" panose="02040503050406030204" charset="0"/>
                                <a:ea typeface="MS Mincho" charset="0"/>
                                <a:cs typeface="Cambria Math" panose="02040503050406030204" charset="0"/>
                              </a:rPr>
                              <m:t>𝛼</m:t>
                            </m:r>
                            <m:r>
                              <a:rPr lang="en-US" altLang="zh-CN" sz="2400" i="1">
                                <a:latin typeface="Cambria Math" panose="02040503050406030204" charset="0"/>
                                <a:ea typeface="MS Mincho" charset="0"/>
                                <a:cs typeface="Cambria Math" panose="02040503050406030204" charset="0"/>
                              </a:rPr>
                              <m:t>,</m:t>
                            </m:r>
                            <m:r>
                              <a:rPr lang="en-US" altLang="zh-CN" sz="2400" i="1">
                                <a:latin typeface="Cambria Math" panose="02040503050406030204" charset="0"/>
                                <a:ea typeface="MS Mincho" charset="0"/>
                                <a:cs typeface="Cambria Math" panose="02040503050406030204" charset="0"/>
                              </a:rPr>
                              <m:t>𝛽</m:t>
                            </m:r>
                            <m:r>
                              <a:rPr lang="en-US" altLang="zh-CN" sz="2400" i="1">
                                <a:latin typeface="Cambria Math" panose="02040503050406030204" charset="0"/>
                                <a:ea typeface="MS Mincho" charset="0"/>
                                <a:cs typeface="Cambria Math" panose="02040503050406030204" charset="0"/>
                              </a:rPr>
                              <m:t>,</m:t>
                            </m:r>
                            <m:r>
                              <a:rPr lang="en-US" altLang="zh-CN" sz="2400" i="1">
                                <a:latin typeface="Cambria Math" panose="02040503050406030204" charset="0"/>
                                <a:ea typeface="宋体" panose="02010600030101010101" pitchFamily="2" charset="-122"/>
                                <a:cs typeface="Cambria Math" panose="02040503050406030204" charset="0"/>
                              </a:rPr>
                              <m:t>𝑐</m:t>
                            </m:r>
                            <m:d>
                              <m:dPr>
                                <m:ctrlPr>
                                  <a:rPr lang="en-US" altLang="zh-CN" sz="2400" i="1">
                                    <a:latin typeface="Cambria Math" panose="02040503050406030204" charset="0"/>
                                    <a:ea typeface="宋体" panose="02010600030101010101" pitchFamily="2" charset="-122"/>
                                    <a:cs typeface="Cambria Math" panose="02040503050406030204" charset="0"/>
                                  </a:rPr>
                                </m:ctrlPr>
                              </m:dPr>
                              <m:e>
                                <m:r>
                                  <a:rPr lang="en-US" altLang="zh-CN" sz="2400" i="1">
                                    <a:latin typeface="Cambria Math" panose="02040503050406030204" charset="0"/>
                                    <a:ea typeface="宋体" panose="02010600030101010101" pitchFamily="2" charset="-122"/>
                                    <a:cs typeface="Cambria Math" panose="02040503050406030204" charset="0"/>
                                  </a:rPr>
                                  <m:t>𝑥</m:t>
                                </m:r>
                                <m:r>
                                  <a:rPr lang="en-US" altLang="zh-CN" sz="2400" i="1">
                                    <a:latin typeface="Cambria Math" panose="02040503050406030204" charset="0"/>
                                    <a:ea typeface="MS Mincho" charset="0"/>
                                    <a:cs typeface="Cambria Math" panose="02040503050406030204" charset="0"/>
                                  </a:rPr>
                                  <m:t>⋅</m:t>
                                </m:r>
                                <m:sSup>
                                  <m:sSupPr>
                                    <m:ctrlPr>
                                      <a:rPr lang="en-US" altLang="zh-CN" sz="2400" i="1">
                                        <a:latin typeface="Cambria Math" panose="02040503050406030204" charset="0"/>
                                        <a:ea typeface="MS Mincho" charset="0"/>
                                        <a:cs typeface="Cambria Math" panose="02040503050406030204" charset="0"/>
                                      </a:rPr>
                                    </m:ctrlPr>
                                  </m:sSupPr>
                                  <m:e>
                                    <m:r>
                                      <a:rPr lang="en-US" altLang="zh-CN" sz="2400" i="1">
                                        <a:latin typeface="Cambria Math" panose="02040503050406030204" charset="0"/>
                                        <a:ea typeface="MS Mincho" charset="0"/>
                                        <a:cs typeface="Cambria Math" panose="02040503050406030204" charset="0"/>
                                      </a:rPr>
                                      <m:t>𝛼</m:t>
                                    </m:r>
                                  </m:e>
                                  <m:sup>
                                    <m:r>
                                      <a:rPr lang="en-US" altLang="zh-CN" sz="2400" i="1">
                                        <a:latin typeface="Cambria Math" panose="02040503050406030204" charset="0"/>
                                        <a:ea typeface="MS Mincho" charset="0"/>
                                        <a:cs typeface="Cambria Math" panose="02040503050406030204" charset="0"/>
                                      </a:rPr>
                                      <m:t>′</m:t>
                                    </m:r>
                                  </m:sup>
                                </m:sSup>
                                <m:r>
                                  <a:rPr lang="en-US" altLang="zh-CN" sz="2400" i="1">
                                    <a:latin typeface="Cambria Math" panose="02040503050406030204" charset="0"/>
                                    <a:ea typeface="MS Mincho" charset="0"/>
                                    <a:cs typeface="Cambria Math" panose="02040503050406030204" charset="0"/>
                                  </a:rPr>
                                  <m:t>,</m:t>
                                </m:r>
                                <m:r>
                                  <a:rPr lang="en-US" altLang="zh-CN" sz="2400" i="1">
                                    <a:latin typeface="Cambria Math" panose="02040503050406030204" charset="0"/>
                                    <a:ea typeface="MS Mincho" charset="0"/>
                                    <a:cs typeface="Cambria Math" panose="02040503050406030204" charset="0"/>
                                  </a:rPr>
                                  <m:t>𝜃</m:t>
                                </m:r>
                                <m:r>
                                  <a:rPr lang="en-US" altLang="zh-CN" sz="2400" i="1">
                                    <a:latin typeface="Cambria Math" panose="02040503050406030204" charset="0"/>
                                    <a:ea typeface="MS Mincho" charset="0"/>
                                    <a:cs typeface="Cambria Math" panose="02040503050406030204" charset="0"/>
                                  </a:rPr>
                                  <m:t>(</m:t>
                                </m:r>
                                <m:r>
                                  <a:rPr lang="en-US" altLang="zh-CN" sz="2400" i="1">
                                    <a:latin typeface="Cambria Math" panose="02040503050406030204" charset="0"/>
                                    <a:ea typeface="宋体" panose="02010600030101010101" pitchFamily="2" charset="-122"/>
                                    <a:cs typeface="Cambria Math" panose="02040503050406030204" charset="0"/>
                                  </a:rPr>
                                  <m:t>𝑥</m:t>
                                </m:r>
                                <m:r>
                                  <a:rPr lang="en-US" altLang="zh-CN" sz="2400" i="1">
                                    <a:latin typeface="Cambria Math" panose="02040503050406030204" charset="0"/>
                                    <a:ea typeface="MS Mincho" charset="0"/>
                                    <a:cs typeface="Cambria Math" panose="02040503050406030204" charset="0"/>
                                  </a:rPr>
                                  <m:t>)⋅</m:t>
                                </m:r>
                                <m:sSup>
                                  <m:sSupPr>
                                    <m:ctrlPr>
                                      <a:rPr lang="en-US" altLang="zh-CN" sz="2400" i="1">
                                        <a:latin typeface="Cambria Math" panose="02040503050406030204" charset="0"/>
                                        <a:ea typeface="MS Mincho" charset="0"/>
                                        <a:cs typeface="Cambria Math" panose="02040503050406030204" charset="0"/>
                                      </a:rPr>
                                    </m:ctrlPr>
                                  </m:sSupPr>
                                  <m:e>
                                    <m:r>
                                      <a:rPr lang="en-US" altLang="zh-CN" sz="2400" i="1">
                                        <a:latin typeface="Cambria Math" panose="02040503050406030204" charset="0"/>
                                        <a:ea typeface="MS Mincho" charset="0"/>
                                        <a:cs typeface="Cambria Math" panose="02040503050406030204" charset="0"/>
                                      </a:rPr>
                                      <m:t>𝛽</m:t>
                                    </m:r>
                                  </m:e>
                                  <m:sup>
                                    <m:r>
                                      <a:rPr lang="en-US" altLang="zh-CN" sz="2400" i="1">
                                        <a:latin typeface="Cambria Math" panose="02040503050406030204" charset="0"/>
                                        <a:ea typeface="MS Mincho" charset="0"/>
                                        <a:cs typeface="Cambria Math" panose="02040503050406030204" charset="0"/>
                                      </a:rPr>
                                      <m:t>′</m:t>
                                    </m:r>
                                  </m:sup>
                                </m:sSup>
                              </m:e>
                            </m:d>
                            <m:r>
                              <a:rPr lang="en-US" altLang="zh-CN" sz="2400" i="1">
                                <a:latin typeface="Cambria Math" panose="02040503050406030204" charset="0"/>
                                <a:ea typeface="MS Mincho" charset="0"/>
                                <a:cs typeface="Cambria Math" panose="02040503050406030204" charset="0"/>
                              </a:rPr>
                              <m:t>≠0</m:t>
                            </m:r>
                          </m:lim>
                        </m:limLow>
                      </m:fName>
                      <m:e>
                        <m:d>
                          <m:dPr>
                            <m:ctrlPr>
                              <a:rPr lang="en-US" altLang="zh-CN" sz="2400" i="1">
                                <a:latin typeface="Cambria Math" panose="02040503050406030204" pitchFamily="18" charset="0"/>
                                <a:ea typeface="宋体" panose="02010600030101010101" pitchFamily="2" charset="-122"/>
                                <a:cs typeface="Cambria Math" panose="02040503050406030204" charset="0"/>
                              </a:rPr>
                            </m:ctrlPr>
                          </m:dPr>
                          <m:e>
                            <m:sSub>
                              <m:sSubPr>
                                <m:ctrlPr>
                                  <a:rPr lang="en-US" altLang="zh-CN" sz="2400" i="1">
                                    <a:latin typeface="Cambria Math" panose="02040503050406030204" charset="0"/>
                                    <a:ea typeface="MS Mincho" charset="0"/>
                                    <a:cs typeface="Cambria Math" panose="02040503050406030204" charset="0"/>
                                  </a:rPr>
                                </m:ctrlPr>
                              </m:sSubPr>
                              <m:e>
                                <m:r>
                                  <a:rPr lang="en-US" altLang="zh-CN" sz="2400" i="1">
                                    <a:latin typeface="Cambria Math" panose="02040503050406030204" charset="0"/>
                                    <a:ea typeface="MS Mincho" charset="0"/>
                                    <a:cs typeface="Cambria Math" panose="02040503050406030204" charset="0"/>
                                  </a:rPr>
                                  <m:t>𝜔</m:t>
                                </m:r>
                              </m:e>
                              <m:sub>
                                <m:r>
                                  <m:rPr>
                                    <m:sty m:val="p"/>
                                  </m:rPr>
                                  <a:rPr lang="en-US" altLang="zh-CN" sz="2400" i="1">
                                    <a:latin typeface="Cambria Math" panose="02040503050406030204" charset="0"/>
                                    <a:ea typeface="宋体" panose="02010600030101010101" pitchFamily="2" charset="-122"/>
                                    <a:cs typeface="Cambria Math" panose="02040503050406030204" charset="0"/>
                                  </a:rPr>
                                  <m:t>b</m:t>
                                </m:r>
                              </m:sub>
                            </m:sSub>
                            <m:r>
                              <a:rPr lang="en-US" altLang="zh-CN" sz="2400" i="1">
                                <a:latin typeface="Cambria Math" panose="02040503050406030204" charset="0"/>
                                <a:ea typeface="MS Mincho" charset="0"/>
                                <a:cs typeface="Cambria Math" panose="02040503050406030204" charset="0"/>
                              </a:rPr>
                              <m:t>(</m:t>
                            </m:r>
                            <m:r>
                              <a:rPr lang="en-US" altLang="zh-CN" sz="2400" i="1">
                                <a:latin typeface="Cambria Math" panose="02040503050406030204" charset="0"/>
                                <a:ea typeface="MS Mincho" charset="0"/>
                                <a:cs typeface="Cambria Math" panose="02040503050406030204" charset="0"/>
                              </a:rPr>
                              <m:t>𝛼</m:t>
                            </m:r>
                            <m:r>
                              <a:rPr lang="en-US" altLang="zh-CN" sz="2400" i="1">
                                <a:latin typeface="Cambria Math" panose="02040503050406030204" charset="0"/>
                                <a:ea typeface="MS Mincho" charset="0"/>
                                <a:cs typeface="Cambria Math" panose="02040503050406030204" charset="0"/>
                              </a:rPr>
                              <m:t>)+</m:t>
                            </m:r>
                            <m:sSub>
                              <m:sSubPr>
                                <m:ctrlPr>
                                  <a:rPr lang="en-US" altLang="zh-CN" sz="2400" i="1">
                                    <a:latin typeface="Cambria Math" panose="02040503050406030204" charset="0"/>
                                    <a:ea typeface="MS Mincho" charset="0"/>
                                    <a:cs typeface="Cambria Math" panose="02040503050406030204" charset="0"/>
                                  </a:rPr>
                                </m:ctrlPr>
                              </m:sSubPr>
                              <m:e>
                                <m:r>
                                  <a:rPr lang="en-US" altLang="zh-CN" sz="2400" i="1">
                                    <a:latin typeface="Cambria Math" panose="02040503050406030204" charset="0"/>
                                    <a:ea typeface="MS Mincho" charset="0"/>
                                    <a:cs typeface="Cambria Math" panose="02040503050406030204" charset="0"/>
                                  </a:rPr>
                                  <m:t>𝜔</m:t>
                                </m:r>
                              </m:e>
                              <m:sub>
                                <m:r>
                                  <m:rPr>
                                    <m:sty m:val="p"/>
                                  </m:rPr>
                                  <a:rPr lang="en-US" altLang="zh-CN" sz="2400" i="1">
                                    <a:latin typeface="Cambria Math" panose="02040503050406030204" charset="0"/>
                                    <a:ea typeface="宋体" panose="02010600030101010101" pitchFamily="2" charset="-122"/>
                                    <a:cs typeface="Cambria Math" panose="02040503050406030204" charset="0"/>
                                  </a:rPr>
                                  <m:t>b</m:t>
                                </m:r>
                              </m:sub>
                            </m:sSub>
                            <m:r>
                              <a:rPr lang="en-US" altLang="zh-CN" sz="2400" i="1">
                                <a:latin typeface="Cambria Math" panose="02040503050406030204" charset="0"/>
                                <a:ea typeface="MS Mincho" charset="0"/>
                                <a:cs typeface="Cambria Math" panose="02040503050406030204" charset="0"/>
                              </a:rPr>
                              <m:t>(</m:t>
                            </m:r>
                            <m:r>
                              <a:rPr lang="en-US" altLang="zh-CN" sz="2400" i="1">
                                <a:latin typeface="Cambria Math" panose="02040503050406030204" charset="0"/>
                                <a:ea typeface="MS Mincho" charset="0"/>
                                <a:cs typeface="Cambria Math" panose="02040503050406030204" charset="0"/>
                              </a:rPr>
                              <m:t>𝛽</m:t>
                            </m:r>
                            <m:r>
                              <a:rPr lang="en-US" altLang="zh-CN" sz="2400" i="1">
                                <a:latin typeface="Cambria Math" panose="02040503050406030204" charset="0"/>
                                <a:ea typeface="MS Mincho" charset="0"/>
                                <a:cs typeface="Cambria Math" panose="02040503050406030204" charset="0"/>
                              </a:rPr>
                              <m:t>)</m:t>
                            </m:r>
                          </m:e>
                        </m:d>
                      </m:e>
                    </m:func>
                  </m:oMath>
                </a14:m>
                <a:endParaRPr lang="en-US" altLang="zh-CN" sz="2400">
                  <a:latin typeface="Times New Roman" panose="02020603050405020304" pitchFamily="18" charset="0"/>
                  <a:ea typeface="宋体" panose="02010600030101010101" pitchFamily="2" charset="-122"/>
                  <a:cs typeface="Times New Roman" panose="02020603050405020304" pitchFamily="18" charset="0"/>
                </a:endParaRPr>
              </a:p>
              <a:p>
                <a:pPr defTabSz="457200">
                  <a:lnSpc>
                    <a:spcPct val="140000"/>
                  </a:lnSpc>
                  <a:spcAft>
                    <a:spcPts val="1000"/>
                  </a:spcAft>
                  <a:defRPr sz="19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其中，</a:t>
                </a:r>
                <a:r>
                  <a:rPr lang="en-US" sz="2400">
                    <a:latin typeface="Times New Roman" panose="02020603050405020304" pitchFamily="18" charset="0"/>
                    <a:ea typeface="宋体" panose="02010600030101010101" pitchFamily="2" charset="-122"/>
                    <a:cs typeface="Times New Roman" panose="02020603050405020304" pitchFamily="18" charset="0"/>
                  </a:rPr>
                  <a:t>c(x⋅ɑ</a:t>
                </a:r>
                <a:r>
                  <a:rPr lang="en-US" sz="2400" baseline="30000">
                    <a:latin typeface="Times New Roman" panose="02020603050405020304" pitchFamily="18" charset="0"/>
                    <a:ea typeface="宋体" panose="02010600030101010101" pitchFamily="2" charset="-122"/>
                    <a:cs typeface="Times New Roman" panose="02020603050405020304" pitchFamily="18" charset="0"/>
                  </a:rPr>
                  <a:t>t</a:t>
                </a:r>
                <a:r>
                  <a:rPr lang="en-US" sz="2400">
                    <a:latin typeface="Times New Roman" panose="02020603050405020304" pitchFamily="18" charset="0"/>
                    <a:ea typeface="宋体" panose="02010600030101010101" pitchFamily="2" charset="-122"/>
                    <a:cs typeface="Times New Roman" panose="02020603050405020304" pitchFamily="18" charset="0"/>
                  </a:rPr>
                  <a:t> , </a:t>
                </a:r>
                <a14:m>
                  <m:oMath xmlns:m="http://schemas.openxmlformats.org/officeDocument/2006/math">
                    <m:r>
                      <a:rPr lang="en-US" altLang="zh-CN" sz="2400" i="1">
                        <a:latin typeface="Cambria Math" panose="02040503050406030204" charset="0"/>
                        <a:ea typeface="MS Mincho" charset="0"/>
                        <a:cs typeface="Cambria Math" panose="02040503050406030204" charset="0"/>
                      </a:rPr>
                      <m:t>𝜃</m:t>
                    </m:r>
                  </m:oMath>
                </a14:m>
                <a:r>
                  <a:rPr lang="en-US" sz="2400">
                    <a:latin typeface="Times New Roman" panose="02020603050405020304" pitchFamily="18" charset="0"/>
                    <a:ea typeface="宋体" panose="02010600030101010101" pitchFamily="2" charset="-122"/>
                    <a:cs typeface="Times New Roman" panose="02020603050405020304" pitchFamily="18" charset="0"/>
                  </a:rPr>
                  <a:t>(x)</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a:t>
                </a:r>
                <a14:m>
                  <m:oMath xmlns:m="http://schemas.openxmlformats.org/officeDocument/2006/math">
                    <m:r>
                      <a:rPr lang="en-US" altLang="zh-CN" sz="2400" i="1">
                        <a:latin typeface="Cambria Math" panose="02040503050406030204" charset="0"/>
                        <a:ea typeface="MS Mincho" charset="0"/>
                        <a:cs typeface="Cambria Math" panose="02040503050406030204" charset="0"/>
                      </a:rPr>
                      <m:t>𝛽</m:t>
                    </m:r>
                    <m:r>
                      <a:rPr lang="en-US" altLang="zh-CN" sz="2400" i="1">
                        <a:latin typeface="Cambria Math" panose="02040503050406030204" charset="0"/>
                        <a:ea typeface="MS Mincho" charset="0"/>
                        <a:cs typeface="Cambria Math" panose="02040503050406030204" charset="0"/>
                      </a:rPr>
                      <m:t>’</m:t>
                    </m:r>
                  </m:oMath>
                </a14:m>
                <a:r>
                  <a:rPr lang="en-US" sz="2400">
                    <a:latin typeface="Times New Roman" panose="02020603050405020304" pitchFamily="18" charset="0"/>
                    <a:ea typeface="宋体" panose="02010600030101010101" pitchFamily="2" charset="-122"/>
                    <a:cs typeface="Times New Roman" panose="02020603050405020304" pitchFamily="18" charset="0"/>
                  </a:rPr>
                  <a:t> ) = 2</a:t>
                </a:r>
                <a:r>
                  <a:rPr lang="zh-CN" altLang="en-US" sz="240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a:latin typeface="Times New Roman" panose="02020603050405020304" pitchFamily="18" charset="0"/>
                    <a:ea typeface="宋体" panose="02010600030101010101" pitchFamily="2" charset="-122"/>
                    <a:cs typeface="Times New Roman" panose="02020603050405020304" pitchFamily="18" charset="0"/>
                  </a:rPr>
                  <a:t>Pr</a:t>
                </a:r>
                <a:r>
                  <a:rPr lang="zh-CN" altLang="en-US" sz="2400">
                    <a:latin typeface="Times New Roman" panose="02020603050405020304" pitchFamily="18" charset="0"/>
                    <a:ea typeface="宋体" panose="02010600030101010101" pitchFamily="2" charset="-122"/>
                    <a:cs typeface="Times New Roman" panose="02020603050405020304" pitchFamily="18" charset="0"/>
                  </a:rPr>
                  <a:t>（</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x⋅ɑ</a:t>
                </a:r>
                <a:r>
                  <a:rPr lang="en-US" sz="2400" baseline="30000">
                    <a:latin typeface="Times New Roman" panose="02020603050405020304" pitchFamily="18" charset="0"/>
                    <a:ea typeface="宋体" panose="02010600030101010101" pitchFamily="2" charset="-122"/>
                    <a:cs typeface="Times New Roman" panose="02020603050405020304" pitchFamily="18" charset="0"/>
                    <a:sym typeface="+mn-ea"/>
                  </a:rPr>
                  <a:t>t</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 , </a:t>
                </a:r>
                <a14:m>
                  <m:oMath xmlns:m="http://schemas.openxmlformats.org/officeDocument/2006/math">
                    <m:r>
                      <a:rPr lang="en-US" altLang="zh-CN" sz="2400" i="1">
                        <a:latin typeface="Cambria Math" panose="02040503050406030204" charset="0"/>
                        <a:ea typeface="MS Mincho" charset="0"/>
                        <a:cs typeface="Cambria Math" panose="02040503050406030204" charset="0"/>
                      </a:rPr>
                      <m:t>𝜃</m:t>
                    </m:r>
                  </m:oMath>
                </a14:m>
                <a:r>
                  <a:rPr lang="en-US" sz="2400">
                    <a:latin typeface="Times New Roman" panose="02020603050405020304" pitchFamily="18" charset="0"/>
                    <a:ea typeface="宋体" panose="02010600030101010101" pitchFamily="2" charset="-122"/>
                    <a:cs typeface="Times New Roman" panose="02020603050405020304" pitchFamily="18" charset="0"/>
                    <a:sym typeface="+mn-ea"/>
                  </a:rPr>
                  <a:t>(x)⋅</a:t>
                </a:r>
                <a14:m>
                  <m:oMath xmlns:m="http://schemas.openxmlformats.org/officeDocument/2006/math">
                    <m:r>
                      <a:rPr lang="en-US" altLang="zh-CN" sz="2400" i="1">
                        <a:latin typeface="Cambria Math" panose="02040503050406030204" charset="0"/>
                        <a:ea typeface="MS Mincho" charset="0"/>
                        <a:cs typeface="Cambria Math" panose="02040503050406030204" charset="0"/>
                      </a:rPr>
                      <m:t>𝛽</m:t>
                    </m:r>
                    <m:r>
                      <a:rPr lang="en-US" altLang="zh-CN" sz="2400" i="1">
                        <a:latin typeface="Cambria Math" panose="02040503050406030204" charset="0"/>
                        <a:ea typeface="MS Mincho" charset="0"/>
                        <a:cs typeface="Cambria Math" panose="02040503050406030204" charset="0"/>
                      </a:rPr>
                      <m:t>’</m:t>
                    </m:r>
                  </m:oMath>
                </a14:m>
                <a:r>
                  <a:rPr lang="zh-CN" altLang="en-US" sz="240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a:latin typeface="Times New Roman" panose="02020603050405020304" pitchFamily="18" charset="0"/>
                    <a:ea typeface="宋体" panose="02010600030101010101" pitchFamily="2" charset="-122"/>
                    <a:cs typeface="Times New Roman" panose="02020603050405020304" pitchFamily="18" charset="0"/>
                  </a:rPr>
                  <a:t>-1</a:t>
                </a:r>
                <a:r>
                  <a:rPr lang="en-US" sz="2400">
                    <a:latin typeface="Times New Roman" panose="02020603050405020304" pitchFamily="18" charset="0"/>
                    <a:ea typeface="宋体" panose="02010600030101010101" pitchFamily="2" charset="-122"/>
                    <a:cs typeface="Times New Roman" panose="02020603050405020304" pitchFamily="18" charset="0"/>
                  </a:rPr>
                  <a:t>  </a:t>
                </a:r>
                <a:r>
                  <a:rPr sz="2400">
                    <a:latin typeface="Times New Roman" panose="02020603050405020304" pitchFamily="18" charset="0"/>
                    <a:ea typeface="宋体" panose="02010600030101010101" pitchFamily="2" charset="-122"/>
                    <a:cs typeface="Times New Roman" panose="02020603050405020304" pitchFamily="18" charset="0"/>
                  </a:rPr>
                  <a:t>，</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x⋅ɑ</a:t>
                </a:r>
                <a:r>
                  <a:rPr lang="en-US" sz="2400" baseline="30000">
                    <a:latin typeface="Times New Roman" panose="02020603050405020304" pitchFamily="18" charset="0"/>
                    <a:ea typeface="宋体" panose="02010600030101010101" pitchFamily="2" charset="-122"/>
                    <a:cs typeface="Times New Roman" panose="02020603050405020304" pitchFamily="18" charset="0"/>
                    <a:sym typeface="+mn-ea"/>
                  </a:rPr>
                  <a:t>t</a:t>
                </a:r>
                <a:r>
                  <a:rPr sz="2400">
                    <a:latin typeface="Times New Roman" panose="02020603050405020304" pitchFamily="18" charset="0"/>
                    <a:ea typeface="宋体" panose="02010600030101010101" pitchFamily="2" charset="-122"/>
                    <a:cs typeface="Times New Roman" panose="02020603050405020304" pitchFamily="18" charset="0"/>
                  </a:rPr>
                  <a:t>是矩阵乘。对于线性变换，分支数的概念反映了其扩散性的好坏，分支数越大，扩散效果越好。线性变换的差分（线性）分支数越大，差分（线性）密码分析所需要的选择（已知）明文数越多。</a:t>
                </a:r>
              </a:p>
              <a:p>
                <a:pPr defTabSz="457200">
                  <a:lnSpc>
                    <a:spcPct val="140000"/>
                  </a:lnSpc>
                  <a:spcAft>
                    <a:spcPts val="1000"/>
                  </a:spcAft>
                  <a:defRPr sz="19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SM4分组密码算法中的线性变换的差分分支数及线性分支数均为5。</a:t>
                </a:r>
              </a:p>
            </p:txBody>
          </p:sp>
        </mc:Choice>
        <mc:Fallback xmlns="">
          <p:sp>
            <p:nvSpPr>
              <p:cNvPr id="5" name="TextBox 4"/>
              <p:cNvSpPr txBox="1">
                <a:spLocks noRot="1" noChangeAspect="1" noMove="1" noResize="1" noEditPoints="1" noAdjustHandles="1" noChangeArrowheads="1" noChangeShapeType="1" noTextEdit="1"/>
              </p:cNvSpPr>
              <p:nvPr/>
            </p:nvSpPr>
            <p:spPr>
              <a:xfrm>
                <a:off x="1371600" y="1691640"/>
                <a:ext cx="15727680" cy="8059420"/>
              </a:xfrm>
              <a:prstGeom prst="rect">
                <a:avLst/>
              </a:prstGeom>
              <a:blipFill rotWithShape="1">
                <a:blip r:embed="rId2"/>
                <a:stretch>
                  <a:fillRect/>
                </a:stretch>
              </a:blipFill>
            </p:spPr>
            <p:txBody>
              <a:bodyPr/>
              <a:lstStyle/>
              <a:p>
                <a:r>
                  <a:rPr lang="zh-CN" altLang="en-US">
                    <a:noFill/>
                  </a:rPr>
                  <a:t> </a:t>
                </a:r>
              </a:p>
            </p:txBody>
          </p:sp>
        </mc:Fallback>
      </mc:AlternateContent>
      <p:sp>
        <p:nvSpPr>
          <p:cNvPr id="6" name="TextBox 5"/>
          <p:cNvSpPr txBox="1"/>
          <p:nvPr/>
        </p:nvSpPr>
        <p:spPr>
          <a:xfrm>
            <a:off x="17312132" y="9409176"/>
            <a:ext cx="363220" cy="306705"/>
          </a:xfrm>
          <a:prstGeom prst="rect">
            <a:avLst/>
          </a:prstGeom>
          <a:noFill/>
        </p:spPr>
        <p:txBody>
          <a:bodyPr wrap="none">
            <a:spAutoFit/>
          </a:bodyPr>
          <a:lstStyle/>
          <a:p>
            <a:pPr algn="r" defTabSz="457200">
              <a:defRPr sz="1800">
                <a:solidFill>
                  <a:srgbClr val="000000"/>
                </a:solidFill>
                <a:latin typeface="Times New Roman" panose="02020603050405020304"/>
              </a:defRPr>
            </a:pPr>
            <a:r>
              <a:rPr lang="en-US" sz="1400">
                <a:solidFill>
                  <a:srgbClr val="FFC000"/>
                </a:solidFill>
                <a:latin typeface="+mn-lt"/>
              </a:rPr>
              <a:t>29</a:t>
            </a:r>
            <a:endParaRPr lang="en-US" sz="2000"/>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3"/>
            <a:stretch>
              <a:fillRect/>
            </a:stretch>
          </p:blipFill>
          <p:spPr>
            <a:xfrm>
              <a:off x="13944600" y="877286"/>
              <a:ext cx="2771429" cy="47619"/>
            </a:xfrm>
            <a:prstGeom prst="rect">
              <a:avLst/>
            </a:prstGeom>
          </p:spPr>
        </p:pic>
      </p:grpSp>
      <p:sp>
        <p:nvSpPr>
          <p:cNvPr id="8"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线性变换</a:t>
            </a:r>
          </a:p>
        </p:txBody>
      </p:sp>
      <p:sp>
        <p:nvSpPr>
          <p:cNvPr id="9"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4.2.5</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pic>
        <p:nvPicPr>
          <p:cNvPr id="10" name="图片 2"/>
          <p:cNvPicPr>
            <a:picLocks noChangeAspect="1"/>
          </p:cNvPicPr>
          <p:nvPr/>
        </p:nvPicPr>
        <p:blipFill>
          <a:blip r:embed="rId4">
            <a:alphaModFix amt="80000"/>
          </a:blip>
          <a:stretch>
            <a:fillRect/>
          </a:stretch>
        </p:blipFill>
        <p:spPr>
          <a:xfrm>
            <a:off x="643255"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71600" y="1691640"/>
            <a:ext cx="15727680" cy="8221980"/>
          </a:xfrm>
          <a:prstGeom prst="rect">
            <a:avLst/>
          </a:prstGeom>
          <a:noFill/>
        </p:spPr>
        <p:txBody>
          <a:bodyPr wrap="square">
            <a:spAutoFit/>
          </a:bodyPr>
          <a:lstStyle/>
          <a:p>
            <a:pPr defTabSz="457200">
              <a:lnSpc>
                <a:spcPct val="140000"/>
              </a:lnSpc>
              <a:spcAft>
                <a:spcPts val="1000"/>
              </a:spcAft>
              <a:defRPr sz="2200" b="0">
                <a:solidFill>
                  <a:srgbClr val="000000"/>
                </a:solidFill>
                <a:latin typeface="Times New Roman" panose="02020603050405020304"/>
              </a:defRPr>
            </a:pPr>
            <a:r>
              <a:rPr sz="2800"/>
              <a:t>密钥扩展算法的设计充分考虑了加密算法对密钥扩展算法的安全需求及其实现的便利性，尽可能使算法达到更高的性能。</a:t>
            </a:r>
          </a:p>
          <a:p>
            <a:pPr defTabSz="457200">
              <a:lnSpc>
                <a:spcPct val="140000"/>
              </a:lnSpc>
              <a:spcAft>
                <a:spcPts val="1000"/>
              </a:spcAft>
              <a:defRPr sz="2200" b="0">
                <a:solidFill>
                  <a:srgbClr val="000000"/>
                </a:solidFill>
                <a:latin typeface="Times New Roman" panose="02020603050405020304"/>
              </a:defRPr>
            </a:pPr>
            <a:endParaRPr sz="2800"/>
          </a:p>
          <a:p>
            <a:pPr defTabSz="457200">
              <a:lnSpc>
                <a:spcPct val="140000"/>
              </a:lnSpc>
              <a:spcAft>
                <a:spcPts val="1000"/>
              </a:spcAft>
              <a:defRPr sz="2200" b="0">
                <a:solidFill>
                  <a:srgbClr val="000000"/>
                </a:solidFill>
                <a:latin typeface="Times New Roman" panose="02020603050405020304"/>
              </a:defRPr>
            </a:pPr>
            <a:r>
              <a:rPr sz="2800"/>
              <a:t>子密钥是由加密密钥派生的，理论上子密钥总是统计相关的。在实用密码算法的设计中，子密钥统计独立是不可能做到的，设计者只是尽可能使得子密钥趋近于统计独立。密钥扩展算法的目的就是使子密钥间的统计相关性不易被破解利用，或者说使子密钥看上去更像是统计独立的。在密钥扩展算法的设计上，SM4分组密码算法满足以下准则：</a:t>
            </a:r>
          </a:p>
          <a:p>
            <a:pPr defTabSz="457200">
              <a:lnSpc>
                <a:spcPct val="140000"/>
              </a:lnSpc>
              <a:spcAft>
                <a:spcPts val="1000"/>
              </a:spcAft>
              <a:defRPr sz="2200" b="0">
                <a:solidFill>
                  <a:srgbClr val="000000"/>
                </a:solidFill>
                <a:latin typeface="Times New Roman" panose="02020603050405020304"/>
              </a:defRPr>
            </a:pPr>
            <a:endParaRPr sz="2800"/>
          </a:p>
          <a:p>
            <a:pPr defTabSz="457200">
              <a:lnSpc>
                <a:spcPct val="140000"/>
              </a:lnSpc>
              <a:spcAft>
                <a:spcPts val="1000"/>
              </a:spcAft>
              <a:defRPr sz="2200" b="0">
                <a:solidFill>
                  <a:srgbClr val="000000"/>
                </a:solidFill>
                <a:latin typeface="Times New Roman" panose="02020603050405020304"/>
              </a:defRPr>
            </a:pPr>
            <a:r>
              <a:rPr sz="2800"/>
              <a:t>（1）子密钥间不存在明显的统计相关性。</a:t>
            </a:r>
          </a:p>
          <a:p>
            <a:pPr defTabSz="457200">
              <a:lnSpc>
                <a:spcPct val="140000"/>
              </a:lnSpc>
              <a:spcAft>
                <a:spcPts val="1000"/>
              </a:spcAft>
              <a:defRPr sz="2200" b="0">
                <a:solidFill>
                  <a:srgbClr val="000000"/>
                </a:solidFill>
                <a:latin typeface="Times New Roman" panose="02020603050405020304"/>
              </a:defRPr>
            </a:pPr>
            <a:r>
              <a:rPr sz="2800"/>
              <a:t>（2）没有弱密钥。</a:t>
            </a:r>
          </a:p>
          <a:p>
            <a:pPr defTabSz="457200">
              <a:lnSpc>
                <a:spcPct val="140000"/>
              </a:lnSpc>
              <a:spcAft>
                <a:spcPts val="1000"/>
              </a:spcAft>
              <a:defRPr sz="2200" b="0">
                <a:solidFill>
                  <a:srgbClr val="000000"/>
                </a:solidFill>
                <a:latin typeface="Times New Roman" panose="02020603050405020304"/>
              </a:defRPr>
            </a:pPr>
            <a:r>
              <a:rPr sz="2800"/>
              <a:t>（3）密钥扩展的速度不低于加密算法的速度，且资源占用少。</a:t>
            </a:r>
          </a:p>
          <a:p>
            <a:pPr defTabSz="457200">
              <a:lnSpc>
                <a:spcPct val="140000"/>
              </a:lnSpc>
              <a:spcAft>
                <a:spcPts val="1000"/>
              </a:spcAft>
              <a:defRPr sz="2200" b="0">
                <a:solidFill>
                  <a:srgbClr val="000000"/>
                </a:solidFill>
                <a:latin typeface="Times New Roman" panose="02020603050405020304"/>
              </a:defRPr>
            </a:pPr>
            <a:r>
              <a:rPr sz="2800"/>
              <a:t>（4）由加密密钥可以直接生成任何一个子密钥。</a:t>
            </a:r>
          </a:p>
        </p:txBody>
      </p:sp>
      <p:sp>
        <p:nvSpPr>
          <p:cNvPr id="6" name="TextBox 5"/>
          <p:cNvSpPr txBox="1"/>
          <p:nvPr/>
        </p:nvSpPr>
        <p:spPr>
          <a:xfrm>
            <a:off x="17312132" y="9409176"/>
            <a:ext cx="363220" cy="306705"/>
          </a:xfrm>
          <a:prstGeom prst="rect">
            <a:avLst/>
          </a:prstGeom>
          <a:noFill/>
        </p:spPr>
        <p:txBody>
          <a:bodyPr wrap="none">
            <a:spAutoFit/>
          </a:bodyPr>
          <a:lstStyle/>
          <a:p>
            <a:pPr algn="r" defTabSz="457200">
              <a:defRPr sz="1800">
                <a:solidFill>
                  <a:srgbClr val="000000"/>
                </a:solidFill>
                <a:latin typeface="Times New Roman" panose="02020603050405020304"/>
              </a:defRPr>
            </a:pPr>
            <a:r>
              <a:rPr lang="en-US" sz="1400">
                <a:solidFill>
                  <a:srgbClr val="FFC000"/>
                </a:solidFill>
                <a:latin typeface="+mn-lt"/>
              </a:rPr>
              <a:t>30</a:t>
            </a:r>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
        <p:nvSpPr>
          <p:cNvPr id="8"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密钥扩展算法的设计</a:t>
            </a:r>
          </a:p>
        </p:txBody>
      </p:sp>
      <p:sp>
        <p:nvSpPr>
          <p:cNvPr id="9"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4.2.6</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pic>
        <p:nvPicPr>
          <p:cNvPr id="10" name="图片 2"/>
          <p:cNvPicPr>
            <a:picLocks noChangeAspect="1"/>
          </p:cNvPicPr>
          <p:nvPr/>
        </p:nvPicPr>
        <p:blipFill>
          <a:blip r:embed="rId3">
            <a:alphaModFix amt="80000"/>
          </a:blip>
          <a:stretch>
            <a:fillRect/>
          </a:stretch>
        </p:blipFill>
        <p:spPr>
          <a:xfrm>
            <a:off x="643255"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1371600" y="1271270"/>
                <a:ext cx="15727680" cy="8092440"/>
              </a:xfrm>
              <a:prstGeom prst="rect">
                <a:avLst/>
              </a:prstGeom>
              <a:noFill/>
            </p:spPr>
            <p:txBody>
              <a:bodyPr wrap="square">
                <a:spAutoFit/>
              </a:bodyPr>
              <a:lstStyle/>
              <a:p>
                <a:pPr defTabSz="457200">
                  <a:lnSpc>
                    <a:spcPct val="140000"/>
                  </a:lnSpc>
                  <a:spcAft>
                    <a:spcPts val="1000"/>
                  </a:spcAft>
                  <a:defRPr sz="2100" b="0">
                    <a:solidFill>
                      <a:srgbClr val="000000"/>
                    </a:solidFill>
                    <a:latin typeface="Times New Roman" panose="02020603050405020304"/>
                  </a:defRPr>
                </a:pPr>
                <a:r>
                  <a:rPr lang="en-US" sz="2400">
                    <a:latin typeface="Times New Roman" panose="02020603050405020304" pitchFamily="18" charset="0"/>
                    <a:ea typeface="宋体" panose="02010600030101010101" pitchFamily="2" charset="-122"/>
                  </a:rPr>
                  <a:t>   </a:t>
                </a:r>
                <a:r>
                  <a:rPr lang="en-US" sz="2400">
                    <a:latin typeface="Times New Roman" panose="02020603050405020304" pitchFamily="18" charset="0"/>
                    <a:ea typeface="宋体" panose="02010600030101010101" pitchFamily="2" charset="-122"/>
                    <a:cs typeface="Times New Roman" panose="02020603050405020304" pitchFamily="18" charset="0"/>
                  </a:rPr>
                  <a:t> </a:t>
                </a:r>
                <a:r>
                  <a:rPr sz="2400">
                    <a:latin typeface="Times New Roman" panose="02020603050405020304" pitchFamily="18" charset="0"/>
                    <a:ea typeface="宋体" panose="02010600030101010101" pitchFamily="2" charset="-122"/>
                    <a:cs typeface="Times New Roman" panose="02020603050405020304" pitchFamily="18" charset="0"/>
                  </a:rPr>
                  <a:t>加密轮函数为</a:t>
                </a:r>
                <a:r>
                  <a:rPr lang="en-US" sz="2400">
                    <a:latin typeface="Times New Roman" panose="02020603050405020304" pitchFamily="18" charset="0"/>
                    <a:ea typeface="宋体" panose="02010600030101010101" pitchFamily="2" charset="-122"/>
                    <a:cs typeface="Times New Roman" panose="02020603050405020304" pitchFamily="18" charset="0"/>
                  </a:rPr>
                  <a:t>X</a:t>
                </a:r>
                <a:r>
                  <a:rPr lang="en-US" sz="2400" baseline="-25000">
                    <a:latin typeface="Times New Roman" panose="02020603050405020304" pitchFamily="18" charset="0"/>
                    <a:ea typeface="宋体" panose="02010600030101010101" pitchFamily="2" charset="-122"/>
                    <a:cs typeface="Times New Roman" panose="02020603050405020304" pitchFamily="18" charset="0"/>
                  </a:rPr>
                  <a:t>i+4</a:t>
                </a:r>
                <a:r>
                  <a:rPr lang="en-US" sz="2400">
                    <a:latin typeface="Times New Roman" panose="02020603050405020304" pitchFamily="18" charset="0"/>
                    <a:ea typeface="宋体" panose="02010600030101010101" pitchFamily="2" charset="-122"/>
                    <a:cs typeface="Times New Roman" panose="02020603050405020304" pitchFamily="18" charset="0"/>
                  </a:rPr>
                  <a:t>=</a:t>
                </a:r>
                <a:r>
                  <a:rPr sz="2400">
                    <a:latin typeface="Times New Roman" panose="02020603050405020304" pitchFamily="18" charset="0"/>
                    <a:ea typeface="宋体" panose="02010600030101010101" pitchFamily="2" charset="-122"/>
                    <a:cs typeface="Times New Roman" panose="02020603050405020304" pitchFamily="18" charset="0"/>
                  </a:rPr>
                  <a:t>F(Xᵢ, Xᵢ₊₁, Xᵢ₊₂, Xᵢ₊₃, rkᵢ)</a:t>
                </a:r>
                <a:r>
                  <a:rPr lang="en-US" sz="2400">
                    <a:latin typeface="Times New Roman" panose="02020603050405020304" pitchFamily="18" charset="0"/>
                    <a:ea typeface="宋体" panose="02010600030101010101" pitchFamily="2" charset="-122"/>
                    <a:cs typeface="Times New Roman" panose="02020603050405020304" pitchFamily="18" charset="0"/>
                  </a:rPr>
                  <a:t>=X</a:t>
                </a:r>
                <a14:m>
                  <m:oMath xmlns:m="http://schemas.openxmlformats.org/officeDocument/2006/math">
                    <m:r>
                      <a:rPr lang="en-US" altLang="zh-CN" sz="2400" i="1">
                        <a:latin typeface="Cambria Math" panose="02040503050406030204" charset="0"/>
                        <a:ea typeface="MS Mincho" charset="0"/>
                        <a:cs typeface="Cambria Math" panose="02040503050406030204" charset="0"/>
                      </a:rPr>
                      <m:t>⊕</m:t>
                    </m:r>
                  </m:oMath>
                </a14:m>
                <a:r>
                  <a:rPr lang="en-US" sz="2400">
                    <a:latin typeface="Times New Roman" panose="02020603050405020304" pitchFamily="18" charset="0"/>
                    <a:ea typeface="宋体" panose="02010600030101010101" pitchFamily="2" charset="-122"/>
                    <a:cs typeface="Times New Roman" panose="02020603050405020304" pitchFamily="18" charset="0"/>
                  </a:rPr>
                  <a:t>T</a:t>
                </a:r>
                <a:r>
                  <a:rPr sz="2400">
                    <a:latin typeface="Times New Roman" panose="02020603050405020304" pitchFamily="18" charset="0"/>
                    <a:ea typeface="宋体" panose="02010600030101010101" pitchFamily="2" charset="-122"/>
                    <a:cs typeface="Times New Roman" panose="02020603050405020304" pitchFamily="18" charset="0"/>
                    <a:sym typeface="+mn-ea"/>
                  </a:rPr>
                  <a:t>(Xᵢ</a:t>
                </a:r>
                <a14:m>
                  <m:oMath xmlns:m="http://schemas.openxmlformats.org/officeDocument/2006/math">
                    <m:r>
                      <a:rPr lang="en-US" altLang="zh-CN" sz="2400" i="1">
                        <a:latin typeface="Cambria Math" panose="02040503050406030204" charset="0"/>
                        <a:ea typeface="MS Mincho" charset="0"/>
                        <a:cs typeface="Cambria Math" panose="02040503050406030204" charset="0"/>
                      </a:rPr>
                      <m:t>⊕</m:t>
                    </m:r>
                  </m:oMath>
                </a14:m>
                <a:r>
                  <a:rPr sz="2400">
                    <a:latin typeface="Times New Roman" panose="02020603050405020304" pitchFamily="18" charset="0"/>
                    <a:ea typeface="宋体" panose="02010600030101010101" pitchFamily="2" charset="-122"/>
                    <a:cs typeface="Times New Roman" panose="02020603050405020304" pitchFamily="18" charset="0"/>
                    <a:sym typeface="+mn-ea"/>
                  </a:rPr>
                  <a:t>Xᵢ₊₁</a:t>
                </a:r>
                <a14:m>
                  <m:oMath xmlns:m="http://schemas.openxmlformats.org/officeDocument/2006/math">
                    <m:r>
                      <a:rPr lang="en-US" altLang="zh-CN" sz="2400" i="1">
                        <a:latin typeface="Cambria Math" panose="02040503050406030204" charset="0"/>
                        <a:ea typeface="MS Mincho" charset="0"/>
                        <a:cs typeface="Cambria Math" panose="02040503050406030204" charset="0"/>
                      </a:rPr>
                      <m:t>⊕</m:t>
                    </m:r>
                  </m:oMath>
                </a14:m>
                <a:r>
                  <a:rPr sz="2400">
                    <a:latin typeface="Times New Roman" panose="02020603050405020304" pitchFamily="18" charset="0"/>
                    <a:ea typeface="宋体" panose="02010600030101010101" pitchFamily="2" charset="-122"/>
                    <a:cs typeface="Times New Roman" panose="02020603050405020304" pitchFamily="18" charset="0"/>
                    <a:sym typeface="+mn-ea"/>
                  </a:rPr>
                  <a:t>Xᵢ₊₂</a:t>
                </a:r>
                <a14:m>
                  <m:oMath xmlns:m="http://schemas.openxmlformats.org/officeDocument/2006/math">
                    <m:r>
                      <a:rPr lang="en-US" altLang="zh-CN" sz="2400" i="1">
                        <a:latin typeface="Cambria Math" panose="02040503050406030204" charset="0"/>
                        <a:ea typeface="MS Mincho" charset="0"/>
                        <a:cs typeface="Cambria Math" panose="02040503050406030204" charset="0"/>
                      </a:rPr>
                      <m:t>⊕</m:t>
                    </m:r>
                  </m:oMath>
                </a14:m>
                <a:r>
                  <a:rPr sz="2400">
                    <a:latin typeface="Times New Roman" panose="02020603050405020304" pitchFamily="18" charset="0"/>
                    <a:ea typeface="宋体" panose="02010600030101010101" pitchFamily="2" charset="-122"/>
                    <a:cs typeface="Times New Roman" panose="02020603050405020304" pitchFamily="18" charset="0"/>
                    <a:sym typeface="+mn-ea"/>
                  </a:rPr>
                  <a:t>Xᵢ₊₃</a:t>
                </a:r>
                <a14:m>
                  <m:oMath xmlns:m="http://schemas.openxmlformats.org/officeDocument/2006/math">
                    <m:r>
                      <a:rPr lang="en-US" altLang="zh-CN" sz="2400" i="1">
                        <a:latin typeface="Cambria Math" panose="02040503050406030204" charset="0"/>
                        <a:ea typeface="MS Mincho" charset="0"/>
                        <a:cs typeface="Cambria Math" panose="02040503050406030204" charset="0"/>
                      </a:rPr>
                      <m:t>⊕</m:t>
                    </m:r>
                  </m:oMath>
                </a14:m>
                <a:r>
                  <a:rPr sz="2400">
                    <a:latin typeface="Times New Roman" panose="02020603050405020304" pitchFamily="18" charset="0"/>
                    <a:ea typeface="宋体" panose="02010600030101010101" pitchFamily="2" charset="-122"/>
                    <a:cs typeface="Times New Roman" panose="02020603050405020304" pitchFamily="18" charset="0"/>
                    <a:sym typeface="+mn-ea"/>
                  </a:rPr>
                  <a:t>rkᵢ)</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(i=0,1,2,....,31)</a:t>
                </a:r>
                <a:r>
                  <a:rPr sz="2400">
                    <a:latin typeface="Times New Roman" panose="02020603050405020304" pitchFamily="18" charset="0"/>
                    <a:ea typeface="宋体" panose="02010600030101010101" pitchFamily="2" charset="-122"/>
                    <a:cs typeface="Times New Roman" panose="02020603050405020304" pitchFamily="18" charset="0"/>
                  </a:rPr>
                  <a:t>，将其分为加密函数G和数据交换E。由G进行加密处理，由E进行数据顺序交换，则轮函数 F</a:t>
                </a:r>
                <a:r>
                  <a:rPr lang="en-US" sz="2400" baseline="-25000">
                    <a:latin typeface="Times New Roman" panose="02020603050405020304" pitchFamily="18" charset="0"/>
                    <a:ea typeface="宋体" panose="02010600030101010101" pitchFamily="2" charset="-122"/>
                    <a:cs typeface="Times New Roman" panose="02020603050405020304" pitchFamily="18" charset="0"/>
                  </a:rPr>
                  <a:t>i</a:t>
                </a:r>
                <a:r>
                  <a:rPr sz="2400">
                    <a:latin typeface="Times New Roman" panose="02020603050405020304" pitchFamily="18" charset="0"/>
                    <a:ea typeface="宋体" panose="02010600030101010101" pitchFamily="2" charset="-122"/>
                    <a:cs typeface="Times New Roman" panose="02020603050405020304" pitchFamily="18" charset="0"/>
                  </a:rPr>
                  <a:t> = </a:t>
                </a:r>
                <a:r>
                  <a:rPr lang="en-US" sz="2400">
                    <a:latin typeface="Times New Roman" panose="02020603050405020304" pitchFamily="18" charset="0"/>
                    <a:ea typeface="宋体" panose="02010600030101010101" pitchFamily="2" charset="-122"/>
                    <a:cs typeface="Times New Roman" panose="02020603050405020304" pitchFamily="18" charset="0"/>
                  </a:rPr>
                  <a:t>G</a:t>
                </a:r>
                <a:r>
                  <a:rPr lang="en-US" sz="2400" baseline="-25000">
                    <a:latin typeface="Times New Roman" panose="02020603050405020304" pitchFamily="18" charset="0"/>
                    <a:ea typeface="宋体" panose="02010600030101010101" pitchFamily="2" charset="-122"/>
                    <a:cs typeface="Times New Roman" panose="02020603050405020304" pitchFamily="18" charset="0"/>
                  </a:rPr>
                  <a:t>i</a:t>
                </a:r>
                <a:r>
                  <a:rPr lang="en-US" sz="2400">
                    <a:latin typeface="Times New Roman" panose="02020603050405020304" pitchFamily="18" charset="0"/>
                    <a:ea typeface="宋体" panose="02010600030101010101" pitchFamily="2" charset="-122"/>
                    <a:cs typeface="Times New Roman" panose="02020603050405020304" pitchFamily="18" charset="0"/>
                  </a:rPr>
                  <a:t>E</a:t>
                </a:r>
                <a:r>
                  <a:rPr sz="2400">
                    <a:latin typeface="Times New Roman" panose="02020603050405020304" pitchFamily="18" charset="0"/>
                    <a:ea typeface="宋体" panose="02010600030101010101" pitchFamily="2" charset="-122"/>
                    <a:cs typeface="Times New Roman" panose="02020603050405020304" pitchFamily="18" charset="0"/>
                  </a:rPr>
                  <a:t>。</a:t>
                </a:r>
              </a:p>
              <a:p>
                <a:pPr defTabSz="457200">
                  <a:lnSpc>
                    <a:spcPct val="140000"/>
                  </a:lnSpc>
                  <a:spcAft>
                    <a:spcPts val="1000"/>
                  </a:spcAft>
                  <a:defRPr sz="2100" b="0">
                    <a:solidFill>
                      <a:srgbClr val="000000"/>
                    </a:solidFill>
                    <a:latin typeface="Times New Roman" panose="02020603050405020304"/>
                  </a:defRPr>
                </a:pPr>
                <a:endParaRPr sz="2400">
                  <a:latin typeface="Times New Roman" panose="02020603050405020304" pitchFamily="18" charset="0"/>
                  <a:ea typeface="宋体" panose="02010600030101010101" pitchFamily="2" charset="-122"/>
                  <a:cs typeface="Times New Roman" panose="02020603050405020304" pitchFamily="18" charset="0"/>
                </a:endParaRPr>
              </a:p>
              <a:p>
                <a:pPr defTabSz="457200">
                  <a:lnSpc>
                    <a:spcPct val="140000"/>
                  </a:lnSpc>
                  <a:spcAft>
                    <a:spcPts val="1000"/>
                  </a:spcAft>
                  <a:defRPr sz="21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G</a:t>
                </a:r>
                <a:r>
                  <a:rPr lang="en-US" sz="2400" baseline="-25000">
                    <a:latin typeface="Times New Roman" panose="02020603050405020304" pitchFamily="18" charset="0"/>
                    <a:ea typeface="宋体" panose="02010600030101010101" pitchFamily="2" charset="-122"/>
                    <a:cs typeface="Times New Roman" panose="02020603050405020304" pitchFamily="18" charset="0"/>
                  </a:rPr>
                  <a:t>i</a:t>
                </a:r>
                <a:r>
                  <a:rPr lang="en-US" sz="2400">
                    <a:latin typeface="Times New Roman" panose="02020603050405020304" pitchFamily="18" charset="0"/>
                    <a:ea typeface="宋体" panose="02010600030101010101" pitchFamily="2" charset="-122"/>
                    <a:cs typeface="Times New Roman" panose="02020603050405020304" pitchFamily="18" charset="0"/>
                  </a:rPr>
                  <a:t> = G</a:t>
                </a:r>
                <a:r>
                  <a:rPr lang="en-US" sz="2400" baseline="-25000">
                    <a:latin typeface="Times New Roman" panose="02020603050405020304" pitchFamily="18" charset="0"/>
                    <a:ea typeface="宋体" panose="02010600030101010101" pitchFamily="2" charset="-122"/>
                    <a:cs typeface="Times New Roman" panose="02020603050405020304" pitchFamily="18" charset="0"/>
                  </a:rPr>
                  <a:t>i</a:t>
                </a:r>
                <a:r>
                  <a:rPr sz="2400">
                    <a:latin typeface="Times New Roman" panose="02020603050405020304" pitchFamily="18" charset="0"/>
                    <a:ea typeface="宋体" panose="02010600030101010101" pitchFamily="2" charset="-122"/>
                    <a:cs typeface="Times New Roman" panose="02020603050405020304" pitchFamily="18" charset="0"/>
                  </a:rPr>
                  <a:t>(Xᵢ, Xᵢ₊₁, Xᵢ₊₂, Xᵢ₊₃</a:t>
                </a:r>
                <a:r>
                  <a:rPr lang="en-US" sz="2400">
                    <a:latin typeface="Times New Roman" panose="02020603050405020304" pitchFamily="18" charset="0"/>
                    <a:ea typeface="宋体" panose="02010600030101010101" pitchFamily="2" charset="-122"/>
                    <a:cs typeface="Times New Roman" panose="02020603050405020304" pitchFamily="18" charset="0"/>
                  </a:rPr>
                  <a:t> , </a:t>
                </a:r>
                <a:r>
                  <a:rPr sz="2400">
                    <a:latin typeface="Times New Roman" panose="02020603050405020304" pitchFamily="18" charset="0"/>
                    <a:ea typeface="宋体" panose="02010600030101010101" pitchFamily="2" charset="-122"/>
                    <a:cs typeface="Times New Roman" panose="02020603050405020304" pitchFamily="18" charset="0"/>
                    <a:sym typeface="+mn-ea"/>
                  </a:rPr>
                  <a:t>rkᵢ</a:t>
                </a:r>
                <a:r>
                  <a:rPr sz="2400">
                    <a:latin typeface="Times New Roman" panose="02020603050405020304" pitchFamily="18" charset="0"/>
                    <a:ea typeface="宋体" panose="02010600030101010101" pitchFamily="2" charset="-122"/>
                    <a:cs typeface="Times New Roman" panose="02020603050405020304" pitchFamily="18" charset="0"/>
                  </a:rPr>
                  <a:t>) = (Xᵢ </a:t>
                </a:r>
                <a14:m>
                  <m:oMath xmlns:m="http://schemas.openxmlformats.org/officeDocument/2006/math">
                    <m:r>
                      <a:rPr lang="en-US" altLang="zh-CN" sz="2400" i="1">
                        <a:latin typeface="Cambria Math" panose="02040503050406030204" charset="0"/>
                        <a:ea typeface="MS Mincho" charset="0"/>
                        <a:cs typeface="Cambria Math" panose="02040503050406030204" charset="0"/>
                      </a:rPr>
                      <m:t>⊕</m:t>
                    </m:r>
                  </m:oMath>
                </a14:m>
                <a:r>
                  <a:rPr sz="2400">
                    <a:latin typeface="Times New Roman" panose="02020603050405020304" pitchFamily="18" charset="0"/>
                    <a:ea typeface="宋体" panose="02010600030101010101" pitchFamily="2" charset="-122"/>
                    <a:cs typeface="Times New Roman" panose="02020603050405020304" pitchFamily="18" charset="0"/>
                  </a:rPr>
                  <a:t>T(Xᵢ₊₁ </a:t>
                </a:r>
                <a:r>
                  <a:rPr lang="en-US" sz="2400">
                    <a:latin typeface="Times New Roman" panose="02020603050405020304" pitchFamily="18" charset="0"/>
                    <a:ea typeface="宋体" panose="02010600030101010101" pitchFamily="2" charset="-122"/>
                    <a:cs typeface="Times New Roman" panose="02020603050405020304" pitchFamily="18" charset="0"/>
                  </a:rPr>
                  <a:t>,</a:t>
                </a:r>
                <a:r>
                  <a:rPr sz="2400">
                    <a:latin typeface="Times New Roman" panose="02020603050405020304" pitchFamily="18" charset="0"/>
                    <a:ea typeface="宋体" panose="02010600030101010101" pitchFamily="2" charset="-122"/>
                    <a:cs typeface="Times New Roman" panose="02020603050405020304" pitchFamily="18" charset="0"/>
                  </a:rPr>
                  <a:t> Xᵢ₊₂ </a:t>
                </a:r>
                <a:r>
                  <a:rPr lang="en-US" sz="2400">
                    <a:latin typeface="Times New Roman" panose="02020603050405020304" pitchFamily="18" charset="0"/>
                    <a:ea typeface="宋体" panose="02010600030101010101" pitchFamily="2" charset="-122"/>
                    <a:cs typeface="Times New Roman" panose="02020603050405020304" pitchFamily="18" charset="0"/>
                  </a:rPr>
                  <a:t>,</a:t>
                </a:r>
                <a:r>
                  <a:rPr sz="2400">
                    <a:latin typeface="Times New Roman" panose="02020603050405020304" pitchFamily="18" charset="0"/>
                    <a:ea typeface="宋体" panose="02010600030101010101" pitchFamily="2" charset="-122"/>
                    <a:cs typeface="Times New Roman" panose="02020603050405020304" pitchFamily="18" charset="0"/>
                  </a:rPr>
                  <a:t> Xᵢ₊₃ </a:t>
                </a:r>
                <a:r>
                  <a:rPr lang="en-US" sz="2400">
                    <a:latin typeface="Times New Roman" panose="02020603050405020304" pitchFamily="18" charset="0"/>
                    <a:ea typeface="宋体" panose="02010600030101010101" pitchFamily="2" charset="-122"/>
                    <a:cs typeface="Times New Roman" panose="02020603050405020304" pitchFamily="18" charset="0"/>
                  </a:rPr>
                  <a:t>,</a:t>
                </a:r>
                <a:r>
                  <a:rPr sz="2400">
                    <a:latin typeface="Times New Roman" panose="02020603050405020304" pitchFamily="18" charset="0"/>
                    <a:ea typeface="宋体" panose="02010600030101010101" pitchFamily="2" charset="-122"/>
                    <a:cs typeface="Times New Roman" panose="02020603050405020304" pitchFamily="18" charset="0"/>
                  </a:rPr>
                  <a:t> rkᵢ)</a:t>
                </a:r>
                <a:r>
                  <a:rPr lang="en-US" sz="2400">
                    <a:latin typeface="Times New Roman" panose="02020603050405020304" pitchFamily="18" charset="0"/>
                    <a:ea typeface="宋体" panose="02010600030101010101" pitchFamily="2" charset="-122"/>
                    <a:cs typeface="Times New Roman" panose="02020603050405020304" pitchFamily="18" charset="0"/>
                  </a:rPr>
                  <a:t>,</a:t>
                </a:r>
                <a:r>
                  <a:rPr sz="2400">
                    <a:latin typeface="Times New Roman" panose="02020603050405020304" pitchFamily="18" charset="0"/>
                    <a:ea typeface="宋体" panose="02010600030101010101" pitchFamily="2" charset="-122"/>
                    <a:cs typeface="Times New Roman" panose="02020603050405020304" pitchFamily="18" charset="0"/>
                    <a:sym typeface="+mn-ea"/>
                  </a:rPr>
                  <a:t>Xᵢ₊₁, Xᵢ₊₂, Xᵢ₊₃</a:t>
                </a:r>
                <a:r>
                  <a:rPr sz="2400">
                    <a:latin typeface="Times New Roman" panose="02020603050405020304" pitchFamily="18" charset="0"/>
                    <a:ea typeface="宋体" panose="02010600030101010101" pitchFamily="2" charset="-122"/>
                    <a:cs typeface="Times New Roman" panose="02020603050405020304" pitchFamily="18" charset="0"/>
                  </a:rPr>
                  <a:t>)  </a:t>
                </a:r>
              </a:p>
              <a:p>
                <a:pPr defTabSz="457200">
                  <a:lnSpc>
                    <a:spcPct val="140000"/>
                  </a:lnSpc>
                  <a:spcAft>
                    <a:spcPts val="1000"/>
                  </a:spcAft>
                  <a:defRPr sz="2100" b="0">
                    <a:solidFill>
                      <a:srgbClr val="000000"/>
                    </a:solidFill>
                    <a:latin typeface="Times New Roman" panose="02020603050405020304"/>
                  </a:defRPr>
                </a:pPr>
                <a:r>
                  <a:rPr lang="en-US" sz="2400">
                    <a:latin typeface="Times New Roman" panose="02020603050405020304" pitchFamily="18" charset="0"/>
                    <a:ea typeface="宋体" panose="02010600030101010101" pitchFamily="2" charset="-122"/>
                    <a:cs typeface="Times New Roman" panose="02020603050405020304" pitchFamily="18" charset="0"/>
                  </a:rPr>
                  <a:t>                        E(X</a:t>
                </a:r>
                <a:r>
                  <a:rPr lang="en-US" sz="2400" baseline="-25000">
                    <a:latin typeface="Times New Roman" panose="02020603050405020304" pitchFamily="18" charset="0"/>
                    <a:ea typeface="宋体" panose="02010600030101010101" pitchFamily="2" charset="-122"/>
                    <a:cs typeface="Times New Roman" panose="02020603050405020304" pitchFamily="18" charset="0"/>
                  </a:rPr>
                  <a:t>i+4</a:t>
                </a:r>
                <a:r>
                  <a:rPr sz="2400">
                    <a:latin typeface="Times New Roman" panose="02020603050405020304" pitchFamily="18" charset="0"/>
                    <a:ea typeface="宋体" panose="02010600030101010101" pitchFamily="2" charset="-122"/>
                    <a:cs typeface="Times New Roman" panose="02020603050405020304" pitchFamily="18" charset="0"/>
                  </a:rPr>
                  <a:t> </a:t>
                </a:r>
                <a:r>
                  <a:rPr lang="en-US" sz="2400">
                    <a:latin typeface="Times New Roman" panose="02020603050405020304" pitchFamily="18" charset="0"/>
                    <a:ea typeface="宋体" panose="02010600030101010101" pitchFamily="2" charset="-122"/>
                    <a:cs typeface="Times New Roman" panose="02020603050405020304" pitchFamily="18" charset="0"/>
                  </a:rPr>
                  <a:t>, (</a:t>
                </a:r>
                <a:r>
                  <a:rPr sz="2400">
                    <a:latin typeface="Times New Roman" panose="02020603050405020304" pitchFamily="18" charset="0"/>
                    <a:ea typeface="宋体" panose="02010600030101010101" pitchFamily="2" charset="-122"/>
                    <a:cs typeface="Times New Roman" panose="02020603050405020304" pitchFamily="18" charset="0"/>
                    <a:sym typeface="+mn-ea"/>
                  </a:rPr>
                  <a:t>Xᵢ₊₁, Xᵢ₊₂, Xᵢ₊₃</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a:t>
                </a:r>
                <a:r>
                  <a:rPr sz="2400">
                    <a:latin typeface="Times New Roman" panose="02020603050405020304" pitchFamily="18" charset="0"/>
                    <a:ea typeface="宋体" panose="02010600030101010101" pitchFamily="2" charset="-122"/>
                    <a:cs typeface="Times New Roman" panose="02020603050405020304" pitchFamily="18" charset="0"/>
                    <a:sym typeface="+mn-ea"/>
                  </a:rPr>
                  <a:t>Xᵢ₊₁, Xᵢ₊₂, Xᵢ₊₃</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a:t>
                </a:r>
                <a:r>
                  <a:rPr sz="2400">
                    <a:latin typeface="Times New Roman" panose="02020603050405020304" pitchFamily="18" charset="0"/>
                    <a:ea typeface="宋体" panose="02010600030101010101" pitchFamily="2" charset="-122"/>
                    <a:cs typeface="Times New Roman" panose="02020603050405020304" pitchFamily="18" charset="0"/>
                  </a:rPr>
                  <a:t> </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X</a:t>
                </a:r>
                <a:r>
                  <a:rPr lang="en-US" sz="2400" baseline="-25000">
                    <a:latin typeface="Times New Roman" panose="02020603050405020304" pitchFamily="18" charset="0"/>
                    <a:ea typeface="宋体" panose="02010600030101010101" pitchFamily="2" charset="-122"/>
                    <a:cs typeface="Times New Roman" panose="02020603050405020304" pitchFamily="18" charset="0"/>
                    <a:sym typeface="+mn-ea"/>
                  </a:rPr>
                  <a:t>i+4</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a:t>
                </a:r>
                <a:r>
                  <a:rPr sz="2400">
                    <a:latin typeface="Times New Roman" panose="02020603050405020304" pitchFamily="18" charset="0"/>
                    <a:ea typeface="宋体" panose="02010600030101010101" pitchFamily="2" charset="-122"/>
                    <a:cs typeface="Times New Roman" panose="02020603050405020304" pitchFamily="18" charset="0"/>
                  </a:rPr>
                  <a:t> （4.4）</a:t>
                </a:r>
              </a:p>
              <a:p>
                <a:pPr defTabSz="457200">
                  <a:lnSpc>
                    <a:spcPct val="140000"/>
                  </a:lnSpc>
                  <a:spcAft>
                    <a:spcPts val="1000"/>
                  </a:spcAft>
                  <a:defRPr sz="2100" b="0">
                    <a:solidFill>
                      <a:srgbClr val="000000"/>
                    </a:solidFill>
                    <a:latin typeface="Times New Roman" panose="02020603050405020304"/>
                  </a:defRPr>
                </a:pP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a:t>
                </a:r>
                <a:r>
                  <a:rPr sz="2400">
                    <a:latin typeface="Times New Roman" panose="02020603050405020304" pitchFamily="18" charset="0"/>
                    <a:ea typeface="宋体" panose="02010600030101010101" pitchFamily="2" charset="-122"/>
                    <a:cs typeface="Times New Roman" panose="02020603050405020304" pitchFamily="18" charset="0"/>
                    <a:sym typeface="+mn-ea"/>
                  </a:rPr>
                  <a:t>G</a:t>
                </a:r>
                <a:r>
                  <a:rPr lang="en-US" sz="2400" baseline="-25000">
                    <a:latin typeface="Times New Roman" panose="02020603050405020304" pitchFamily="18" charset="0"/>
                    <a:ea typeface="宋体" panose="02010600030101010101" pitchFamily="2" charset="-122"/>
                    <a:cs typeface="Times New Roman" panose="02020603050405020304" pitchFamily="18" charset="0"/>
                    <a:sym typeface="+mn-ea"/>
                  </a:rPr>
                  <a:t>i</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 )</a:t>
                </a:r>
                <a:r>
                  <a:rPr lang="en-US" sz="2400" baseline="30000">
                    <a:latin typeface="Times New Roman" panose="02020603050405020304" pitchFamily="18" charset="0"/>
                    <a:ea typeface="宋体" panose="02010600030101010101" pitchFamily="2" charset="-122"/>
                    <a:cs typeface="Times New Roman" panose="02020603050405020304" pitchFamily="18" charset="0"/>
                    <a:sym typeface="+mn-ea"/>
                  </a:rPr>
                  <a:t>2 </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 G</a:t>
                </a:r>
                <a:r>
                  <a:rPr lang="en-US" sz="2400" baseline="-25000">
                    <a:latin typeface="Times New Roman" panose="02020603050405020304" pitchFamily="18" charset="0"/>
                    <a:ea typeface="宋体" panose="02010600030101010101" pitchFamily="2" charset="-122"/>
                    <a:cs typeface="Times New Roman" panose="02020603050405020304" pitchFamily="18" charset="0"/>
                    <a:sym typeface="+mn-ea"/>
                  </a:rPr>
                  <a:t>i</a:t>
                </a:r>
                <a:r>
                  <a:rPr sz="2400">
                    <a:latin typeface="Times New Roman" panose="02020603050405020304" pitchFamily="18" charset="0"/>
                    <a:ea typeface="宋体" panose="02010600030101010101" pitchFamily="2" charset="-122"/>
                    <a:cs typeface="Times New Roman" panose="02020603050405020304" pitchFamily="18" charset="0"/>
                    <a:sym typeface="+mn-ea"/>
                  </a:rPr>
                  <a:t>(Xᵢ </a:t>
                </a:r>
                <a14:m>
                  <m:oMath xmlns:m="http://schemas.openxmlformats.org/officeDocument/2006/math">
                    <m:r>
                      <a:rPr lang="en-US" altLang="zh-CN" sz="2400" i="1">
                        <a:latin typeface="Cambria Math" panose="02040503050406030204" charset="0"/>
                        <a:ea typeface="MS Mincho" charset="0"/>
                        <a:cs typeface="Cambria Math" panose="02040503050406030204" charset="0"/>
                      </a:rPr>
                      <m:t>⊕</m:t>
                    </m:r>
                  </m:oMath>
                </a14:m>
                <a:r>
                  <a:rPr sz="2400">
                    <a:latin typeface="Times New Roman" panose="02020603050405020304" pitchFamily="18" charset="0"/>
                    <a:ea typeface="宋体" panose="02010600030101010101" pitchFamily="2" charset="-122"/>
                    <a:cs typeface="Times New Roman" panose="02020603050405020304" pitchFamily="18" charset="0"/>
                    <a:sym typeface="+mn-ea"/>
                  </a:rPr>
                  <a:t>T(Xᵢ₊₁ </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a:t>
                </a:r>
                <a:r>
                  <a:rPr sz="2400">
                    <a:latin typeface="Times New Roman" panose="02020603050405020304" pitchFamily="18" charset="0"/>
                    <a:ea typeface="宋体" panose="02010600030101010101" pitchFamily="2" charset="-122"/>
                    <a:cs typeface="Times New Roman" panose="02020603050405020304" pitchFamily="18" charset="0"/>
                    <a:sym typeface="+mn-ea"/>
                  </a:rPr>
                  <a:t> Xᵢ₊₂ </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a:t>
                </a:r>
                <a:r>
                  <a:rPr sz="2400">
                    <a:latin typeface="Times New Roman" panose="02020603050405020304" pitchFamily="18" charset="0"/>
                    <a:ea typeface="宋体" panose="02010600030101010101" pitchFamily="2" charset="-122"/>
                    <a:cs typeface="Times New Roman" panose="02020603050405020304" pitchFamily="18" charset="0"/>
                    <a:sym typeface="+mn-ea"/>
                  </a:rPr>
                  <a:t> Xᵢ₊₃ </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a:t>
                </a:r>
                <a:r>
                  <a:rPr sz="2400">
                    <a:latin typeface="Times New Roman" panose="02020603050405020304" pitchFamily="18" charset="0"/>
                    <a:ea typeface="宋体" panose="02010600030101010101" pitchFamily="2" charset="-122"/>
                    <a:cs typeface="Times New Roman" panose="02020603050405020304" pitchFamily="18" charset="0"/>
                    <a:sym typeface="+mn-ea"/>
                  </a:rPr>
                  <a:t> rkᵢ)</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a:t>
                </a:r>
                <a:r>
                  <a:rPr sz="2400">
                    <a:latin typeface="Times New Roman" panose="02020603050405020304" pitchFamily="18" charset="0"/>
                    <a:ea typeface="宋体" panose="02010600030101010101" pitchFamily="2" charset="-122"/>
                    <a:cs typeface="Times New Roman" panose="02020603050405020304" pitchFamily="18" charset="0"/>
                    <a:sym typeface="+mn-ea"/>
                  </a:rPr>
                  <a:t>Xᵢ₊₁, Xᵢ₊₂, Xᵢ₊₃</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 , </a:t>
                </a:r>
                <a:r>
                  <a:rPr sz="2400">
                    <a:latin typeface="Times New Roman" panose="02020603050405020304" pitchFamily="18" charset="0"/>
                    <a:ea typeface="宋体" panose="02010600030101010101" pitchFamily="2" charset="-122"/>
                    <a:cs typeface="Times New Roman" panose="02020603050405020304" pitchFamily="18" charset="0"/>
                    <a:sym typeface="+mn-ea"/>
                  </a:rPr>
                  <a:t>rkᵢ</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 </a:t>
                </a:r>
                <a:r>
                  <a:rPr sz="2400">
                    <a:latin typeface="Times New Roman" panose="02020603050405020304" pitchFamily="18" charset="0"/>
                    <a:ea typeface="宋体" panose="02010600030101010101" pitchFamily="2" charset="-122"/>
                    <a:cs typeface="Times New Roman" panose="02020603050405020304" pitchFamily="18" charset="0"/>
                    <a:sym typeface="+mn-ea"/>
                  </a:rPr>
                  <a:t>)</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 </a:t>
                </a:r>
              </a:p>
              <a:p>
                <a:pPr defTabSz="457200">
                  <a:lnSpc>
                    <a:spcPct val="140000"/>
                  </a:lnSpc>
                  <a:spcAft>
                    <a:spcPts val="1000"/>
                  </a:spcAft>
                  <a:defRPr sz="2100" b="0">
                    <a:solidFill>
                      <a:srgbClr val="000000"/>
                    </a:solidFill>
                    <a:latin typeface="Times New Roman" panose="02020603050405020304"/>
                  </a:defRPr>
                </a:pP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         = (X</a:t>
                </a:r>
                <a:r>
                  <a:rPr lang="en-US" sz="2400" baseline="-25000">
                    <a:latin typeface="Times New Roman" panose="02020603050405020304" pitchFamily="18" charset="0"/>
                    <a:ea typeface="宋体" panose="02010600030101010101" pitchFamily="2" charset="-122"/>
                    <a:cs typeface="Times New Roman" panose="02020603050405020304" pitchFamily="18" charset="0"/>
                    <a:sym typeface="+mn-ea"/>
                  </a:rPr>
                  <a:t>i</a:t>
                </a:r>
                <a14:m>
                  <m:oMath xmlns:m="http://schemas.openxmlformats.org/officeDocument/2006/math">
                    <m:r>
                      <a:rPr lang="en-US" altLang="zh-CN" sz="2400" i="1">
                        <a:latin typeface="Cambria Math" panose="02040503050406030204" charset="0"/>
                        <a:ea typeface="MS Mincho" charset="0"/>
                        <a:cs typeface="Cambria Math" panose="02040503050406030204" charset="0"/>
                      </a:rPr>
                      <m:t>⊕</m:t>
                    </m:r>
                  </m:oMath>
                </a14:m>
                <a:r>
                  <a:rPr sz="2400">
                    <a:latin typeface="Times New Roman" panose="02020603050405020304" pitchFamily="18" charset="0"/>
                    <a:ea typeface="宋体" panose="02010600030101010101" pitchFamily="2" charset="-122"/>
                    <a:cs typeface="Times New Roman" panose="02020603050405020304" pitchFamily="18" charset="0"/>
                    <a:sym typeface="+mn-ea"/>
                  </a:rPr>
                  <a:t>T(Xᵢ₊₁ </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a:t>
                </a:r>
                <a:r>
                  <a:rPr sz="2400">
                    <a:latin typeface="Times New Roman" panose="02020603050405020304" pitchFamily="18" charset="0"/>
                    <a:ea typeface="宋体" panose="02010600030101010101" pitchFamily="2" charset="-122"/>
                    <a:cs typeface="Times New Roman" panose="02020603050405020304" pitchFamily="18" charset="0"/>
                    <a:sym typeface="+mn-ea"/>
                  </a:rPr>
                  <a:t> Xᵢ₊₂ </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a:t>
                </a:r>
                <a:r>
                  <a:rPr sz="2400">
                    <a:latin typeface="Times New Roman" panose="02020603050405020304" pitchFamily="18" charset="0"/>
                    <a:ea typeface="宋体" panose="02010600030101010101" pitchFamily="2" charset="-122"/>
                    <a:cs typeface="Times New Roman" panose="02020603050405020304" pitchFamily="18" charset="0"/>
                    <a:sym typeface="+mn-ea"/>
                  </a:rPr>
                  <a:t> Xᵢ₊₃ </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a:t>
                </a:r>
                <a:r>
                  <a:rPr sz="2400">
                    <a:latin typeface="Times New Roman" panose="02020603050405020304" pitchFamily="18" charset="0"/>
                    <a:ea typeface="宋体" panose="02010600030101010101" pitchFamily="2" charset="-122"/>
                    <a:cs typeface="Times New Roman" panose="02020603050405020304" pitchFamily="18" charset="0"/>
                    <a:sym typeface="+mn-ea"/>
                  </a:rPr>
                  <a:t> rkᵢ)</a:t>
                </a:r>
                <a14:m>
                  <m:oMath xmlns:m="http://schemas.openxmlformats.org/officeDocument/2006/math">
                    <m:r>
                      <a:rPr lang="en-US" altLang="zh-CN" sz="2400" i="1">
                        <a:latin typeface="Cambria Math" panose="02040503050406030204" charset="0"/>
                        <a:ea typeface="MS Mincho" charset="0"/>
                        <a:cs typeface="Cambria Math" panose="02040503050406030204" charset="0"/>
                      </a:rPr>
                      <m:t>⊕</m:t>
                    </m:r>
                  </m:oMath>
                </a14:m>
                <a:r>
                  <a:rPr sz="2400">
                    <a:latin typeface="Times New Roman" panose="02020603050405020304" pitchFamily="18" charset="0"/>
                    <a:ea typeface="宋体" panose="02010600030101010101" pitchFamily="2" charset="-122"/>
                    <a:cs typeface="Times New Roman" panose="02020603050405020304" pitchFamily="18" charset="0"/>
                    <a:sym typeface="+mn-ea"/>
                  </a:rPr>
                  <a:t>T(Xᵢ₊₁ </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a:t>
                </a:r>
                <a:r>
                  <a:rPr sz="2400">
                    <a:latin typeface="Times New Roman" panose="02020603050405020304" pitchFamily="18" charset="0"/>
                    <a:ea typeface="宋体" panose="02010600030101010101" pitchFamily="2" charset="-122"/>
                    <a:cs typeface="Times New Roman" panose="02020603050405020304" pitchFamily="18" charset="0"/>
                    <a:sym typeface="+mn-ea"/>
                  </a:rPr>
                  <a:t> Xᵢ₊₂ </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a:t>
                </a:r>
                <a:r>
                  <a:rPr sz="2400">
                    <a:latin typeface="Times New Roman" panose="02020603050405020304" pitchFamily="18" charset="0"/>
                    <a:ea typeface="宋体" panose="02010600030101010101" pitchFamily="2" charset="-122"/>
                    <a:cs typeface="Times New Roman" panose="02020603050405020304" pitchFamily="18" charset="0"/>
                    <a:sym typeface="+mn-ea"/>
                  </a:rPr>
                  <a:t> Xᵢ₊₃ </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a:t>
                </a:r>
                <a:r>
                  <a:rPr sz="2400">
                    <a:latin typeface="Times New Roman" panose="02020603050405020304" pitchFamily="18" charset="0"/>
                    <a:ea typeface="宋体" panose="02010600030101010101" pitchFamily="2" charset="-122"/>
                    <a:cs typeface="Times New Roman" panose="02020603050405020304" pitchFamily="18" charset="0"/>
                    <a:sym typeface="+mn-ea"/>
                  </a:rPr>
                  <a:t> rkᵢ)</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a:t>
                </a:r>
                <a:r>
                  <a:rPr sz="2400">
                    <a:latin typeface="Times New Roman" panose="02020603050405020304" pitchFamily="18" charset="0"/>
                    <a:ea typeface="宋体" panose="02010600030101010101" pitchFamily="2" charset="-122"/>
                    <a:cs typeface="Times New Roman" panose="02020603050405020304" pitchFamily="18" charset="0"/>
                    <a:sym typeface="+mn-ea"/>
                  </a:rPr>
                  <a:t>Xᵢ₊₁, Xᵢ₊₂, Xᵢ₊₃</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 , </a:t>
                </a:r>
                <a:r>
                  <a:rPr sz="2400">
                    <a:latin typeface="Times New Roman" panose="02020603050405020304" pitchFamily="18" charset="0"/>
                    <a:ea typeface="宋体" panose="02010600030101010101" pitchFamily="2" charset="-122"/>
                    <a:cs typeface="Times New Roman" panose="02020603050405020304" pitchFamily="18" charset="0"/>
                    <a:sym typeface="+mn-ea"/>
                  </a:rPr>
                  <a:t>rkᵢ</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 )</a:t>
                </a:r>
              </a:p>
              <a:p>
                <a:pPr defTabSz="457200">
                  <a:lnSpc>
                    <a:spcPct val="140000"/>
                  </a:lnSpc>
                  <a:spcAft>
                    <a:spcPts val="1000"/>
                  </a:spcAft>
                  <a:defRPr sz="2100" b="0">
                    <a:solidFill>
                      <a:srgbClr val="000000"/>
                    </a:solidFill>
                    <a:latin typeface="Times New Roman" panose="02020603050405020304"/>
                  </a:defRPr>
                </a:pP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         = </a:t>
                </a:r>
                <a:r>
                  <a:rPr sz="2400">
                    <a:latin typeface="Times New Roman" panose="02020603050405020304" pitchFamily="18" charset="0"/>
                    <a:ea typeface="宋体" panose="02010600030101010101" pitchFamily="2" charset="-122"/>
                    <a:cs typeface="Times New Roman" panose="02020603050405020304" pitchFamily="18" charset="0"/>
                    <a:sym typeface="+mn-ea"/>
                  </a:rPr>
                  <a:t>(Xᵢ, Xᵢ₊₁, Xᵢ₊₂, Xᵢ₊₃, rkᵢ)</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                                                       (4.5)</a:t>
                </a:r>
                <a:endParaRPr sz="2400">
                  <a:latin typeface="Times New Roman" panose="02020603050405020304" pitchFamily="18" charset="0"/>
                  <a:ea typeface="宋体" panose="02010600030101010101" pitchFamily="2" charset="-122"/>
                  <a:cs typeface="Times New Roman" panose="02020603050405020304" pitchFamily="18" charset="0"/>
                  <a:sym typeface="+mn-ea"/>
                </a:endParaRPr>
              </a:p>
              <a:p>
                <a:pPr defTabSz="457200">
                  <a:lnSpc>
                    <a:spcPct val="140000"/>
                  </a:lnSpc>
                  <a:spcAft>
                    <a:spcPts val="1000"/>
                  </a:spcAft>
                  <a:defRPr sz="21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sym typeface="+mn-ea"/>
                  </a:rPr>
                  <a:t> </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        =I</a:t>
                </a:r>
                <a:endParaRPr sz="2400" baseline="-25000">
                  <a:latin typeface="Times New Roman" panose="02020603050405020304" pitchFamily="18" charset="0"/>
                  <a:ea typeface="宋体" panose="02010600030101010101" pitchFamily="2" charset="-122"/>
                  <a:cs typeface="Times New Roman" panose="02020603050405020304" pitchFamily="18" charset="0"/>
                </a:endParaRPr>
              </a:p>
              <a:p>
                <a:pPr defTabSz="457200">
                  <a:lnSpc>
                    <a:spcPct val="140000"/>
                  </a:lnSpc>
                  <a:spcAft>
                    <a:spcPts val="1000"/>
                  </a:spcAft>
                  <a:defRPr sz="21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这说明加密函数G是对合的。</a:t>
                </a:r>
              </a:p>
              <a:p>
                <a:pPr defTabSz="457200">
                  <a:lnSpc>
                    <a:spcPct val="140000"/>
                  </a:lnSpc>
                  <a:spcAft>
                    <a:spcPts val="1000"/>
                  </a:spcAft>
                  <a:defRPr sz="2100" b="0">
                    <a:solidFill>
                      <a:srgbClr val="000000"/>
                    </a:solidFill>
                    <a:latin typeface="Times New Roman" panose="02020603050405020304"/>
                  </a:defRPr>
                </a:pPr>
                <a:r>
                  <a:rPr sz="2400">
                    <a:latin typeface="Times New Roman" panose="02020603050405020304" pitchFamily="18" charset="0"/>
                    <a:ea typeface="宋体" panose="02010600030101010101" pitchFamily="2" charset="-122"/>
                    <a:cs typeface="Times New Roman" panose="02020603050405020304" pitchFamily="18" charset="0"/>
                  </a:rPr>
                  <a:t>E</a:t>
                </a:r>
                <a:r>
                  <a:rPr lang="en-US" sz="2400" baseline="30000">
                    <a:latin typeface="Times New Roman" panose="02020603050405020304" pitchFamily="18" charset="0"/>
                    <a:ea typeface="宋体" panose="02010600030101010101" pitchFamily="2" charset="-122"/>
                    <a:cs typeface="Times New Roman" panose="02020603050405020304" pitchFamily="18" charset="0"/>
                  </a:rPr>
                  <a:t>2</a:t>
                </a:r>
                <a:r>
                  <a:rPr sz="2400">
                    <a:latin typeface="Times New Roman" panose="02020603050405020304" pitchFamily="18" charset="0"/>
                    <a:ea typeface="宋体" panose="02010600030101010101" pitchFamily="2" charset="-122"/>
                    <a:cs typeface="Times New Roman" panose="02020603050405020304" pitchFamily="18" charset="0"/>
                  </a:rPr>
                  <a:t>(X</a:t>
                </a:r>
                <a:r>
                  <a:rPr lang="en-US" sz="2400" baseline="-25000">
                    <a:latin typeface="Times New Roman" panose="02020603050405020304" pitchFamily="18" charset="0"/>
                    <a:ea typeface="宋体" panose="02010600030101010101" pitchFamily="2" charset="-122"/>
                    <a:cs typeface="Times New Roman" panose="02020603050405020304" pitchFamily="18" charset="0"/>
                  </a:rPr>
                  <a:t>i+4</a:t>
                </a:r>
                <a:r>
                  <a:rPr sz="2400">
                    <a:latin typeface="Times New Roman" panose="02020603050405020304" pitchFamily="18" charset="0"/>
                    <a:ea typeface="宋体" panose="02010600030101010101" pitchFamily="2" charset="-122"/>
                    <a:cs typeface="Times New Roman" panose="02020603050405020304" pitchFamily="18" charset="0"/>
                  </a:rPr>
                  <a:t>, </a:t>
                </a:r>
                <a:r>
                  <a:rPr lang="en-US" sz="2400">
                    <a:latin typeface="Times New Roman" panose="02020603050405020304" pitchFamily="18" charset="0"/>
                    <a:ea typeface="宋体" panose="02010600030101010101" pitchFamily="2" charset="-122"/>
                    <a:cs typeface="Times New Roman" panose="02020603050405020304" pitchFamily="18" charset="0"/>
                  </a:rPr>
                  <a:t>(</a:t>
                </a:r>
                <a:r>
                  <a:rPr sz="2400">
                    <a:latin typeface="Times New Roman" panose="02020603050405020304" pitchFamily="18" charset="0"/>
                    <a:ea typeface="宋体" panose="02010600030101010101" pitchFamily="2" charset="-122"/>
                    <a:cs typeface="Times New Roman" panose="02020603050405020304" pitchFamily="18" charset="0"/>
                  </a:rPr>
                  <a:t>Xᵢ₊₁, Xᵢ₊₂, Xᵢ₊₃</a:t>
                </a:r>
                <a:r>
                  <a:rPr lang="en-US" sz="2400">
                    <a:latin typeface="Times New Roman" panose="02020603050405020304" pitchFamily="18" charset="0"/>
                    <a:ea typeface="宋体" panose="02010600030101010101" pitchFamily="2" charset="-122"/>
                    <a:cs typeface="Times New Roman" panose="02020603050405020304" pitchFamily="18" charset="0"/>
                  </a:rPr>
                  <a:t>)</a:t>
                </a:r>
                <a:r>
                  <a:rPr sz="2400">
                    <a:latin typeface="Times New Roman" panose="02020603050405020304" pitchFamily="18" charset="0"/>
                    <a:ea typeface="宋体" panose="02010600030101010101" pitchFamily="2" charset="-122"/>
                    <a:cs typeface="Times New Roman" panose="02020603050405020304" pitchFamily="18" charset="0"/>
                  </a:rPr>
                  <a:t>) = </a:t>
                </a:r>
                <a:r>
                  <a:rPr lang="en-US" sz="2400">
                    <a:latin typeface="Times New Roman" panose="02020603050405020304" pitchFamily="18" charset="0"/>
                    <a:ea typeface="宋体" panose="02010600030101010101" pitchFamily="2" charset="-122"/>
                    <a:cs typeface="Times New Roman" panose="02020603050405020304" pitchFamily="18" charset="0"/>
                  </a:rPr>
                  <a:t>I</a:t>
                </a:r>
                <a:r>
                  <a:rPr sz="2400">
                    <a:latin typeface="Times New Roman" panose="02020603050405020304" pitchFamily="18" charset="0"/>
                    <a:ea typeface="宋体" panose="02010600030101010101" pitchFamily="2" charset="-122"/>
                    <a:cs typeface="Times New Roman" panose="02020603050405020304" pitchFamily="18" charset="0"/>
                  </a:rPr>
                  <a:t>，显然E是对合运算，故轮函数是对合的。</a:t>
                </a:r>
              </a:p>
              <a:p>
                <a:pPr defTabSz="457200">
                  <a:lnSpc>
                    <a:spcPct val="140000"/>
                  </a:lnSpc>
                  <a:spcAft>
                    <a:spcPts val="1000"/>
                  </a:spcAft>
                  <a:defRPr sz="2100" b="0">
                    <a:solidFill>
                      <a:srgbClr val="000000"/>
                    </a:solidFill>
                    <a:latin typeface="Times New Roman" panose="02020603050405020304"/>
                  </a:defRPr>
                </a:pPr>
                <a:r>
                  <a:rPr lang="en-US" sz="2400">
                    <a:latin typeface="Times New Roman" panose="02020603050405020304" pitchFamily="18" charset="0"/>
                    <a:ea typeface="宋体" panose="02010600030101010101" pitchFamily="2" charset="-122"/>
                    <a:cs typeface="Times New Roman" panose="02020603050405020304" pitchFamily="18" charset="0"/>
                  </a:rPr>
                  <a:t>    </a:t>
                </a:r>
                <a:r>
                  <a:rPr sz="2400">
                    <a:latin typeface="Times New Roman" panose="02020603050405020304" pitchFamily="18" charset="0"/>
                    <a:ea typeface="宋体" panose="02010600030101010101" pitchFamily="2" charset="-122"/>
                    <a:cs typeface="Times New Roman" panose="02020603050405020304" pitchFamily="18" charset="0"/>
                  </a:rPr>
                  <a:t>而SM4分组密码算法的加密过程可写成 </a:t>
                </a:r>
                <a:r>
                  <a:rPr lang="en-US" sz="2400">
                    <a:latin typeface="Times New Roman" panose="02020603050405020304" pitchFamily="18" charset="0"/>
                    <a:ea typeface="宋体" panose="02010600030101010101" pitchFamily="2" charset="-122"/>
                    <a:cs typeface="Times New Roman" panose="02020603050405020304" pitchFamily="18" charset="0"/>
                  </a:rPr>
                  <a:t>SM4 = G</a:t>
                </a:r>
                <a:r>
                  <a:rPr lang="en-US" sz="2400" baseline="-25000">
                    <a:latin typeface="Times New Roman" panose="02020603050405020304" pitchFamily="18" charset="0"/>
                    <a:ea typeface="宋体" panose="02010600030101010101" pitchFamily="2" charset="-122"/>
                    <a:cs typeface="Times New Roman" panose="02020603050405020304" pitchFamily="18" charset="0"/>
                  </a:rPr>
                  <a:t>0</a:t>
                </a:r>
                <a:r>
                  <a:rPr lang="en-US" sz="2400">
                    <a:latin typeface="Times New Roman" panose="02020603050405020304" pitchFamily="18" charset="0"/>
                    <a:ea typeface="宋体" panose="02010600030101010101" pitchFamily="2" charset="-122"/>
                    <a:cs typeface="Times New Roman" panose="02020603050405020304" pitchFamily="18" charset="0"/>
                  </a:rPr>
                  <a:t>EG</a:t>
                </a:r>
                <a:r>
                  <a:rPr lang="en-US" sz="2400" baseline="-25000">
                    <a:latin typeface="Times New Roman" panose="02020603050405020304" pitchFamily="18" charset="0"/>
                    <a:ea typeface="宋体" panose="02010600030101010101" pitchFamily="2" charset="-122"/>
                    <a:cs typeface="Times New Roman" panose="02020603050405020304" pitchFamily="18" charset="0"/>
                  </a:rPr>
                  <a:t>1</a:t>
                </a:r>
                <a:r>
                  <a:rPr lang="en-US" sz="2400">
                    <a:latin typeface="Times New Roman" panose="02020603050405020304" pitchFamily="18" charset="0"/>
                    <a:ea typeface="宋体" panose="02010600030101010101" pitchFamily="2" charset="-122"/>
                    <a:cs typeface="Times New Roman" panose="02020603050405020304" pitchFamily="18" charset="0"/>
                  </a:rPr>
                  <a:t>E.....G</a:t>
                </a:r>
                <a:r>
                  <a:rPr lang="en-US" sz="2400" baseline="-25000">
                    <a:latin typeface="Times New Roman" panose="02020603050405020304" pitchFamily="18" charset="0"/>
                    <a:ea typeface="宋体" panose="02010600030101010101" pitchFamily="2" charset="-122"/>
                    <a:cs typeface="Times New Roman" panose="02020603050405020304" pitchFamily="18" charset="0"/>
                  </a:rPr>
                  <a:t>30</a:t>
                </a:r>
                <a:r>
                  <a:rPr lang="en-US" sz="2400">
                    <a:latin typeface="Times New Roman" panose="02020603050405020304" pitchFamily="18" charset="0"/>
                    <a:ea typeface="宋体" panose="02010600030101010101" pitchFamily="2" charset="-122"/>
                    <a:cs typeface="Times New Roman" panose="02020603050405020304" pitchFamily="18" charset="0"/>
                  </a:rPr>
                  <a:t>EG</a:t>
                </a:r>
                <a:r>
                  <a:rPr lang="en-US" sz="2400" baseline="-25000">
                    <a:latin typeface="Times New Roman" panose="02020603050405020304" pitchFamily="18" charset="0"/>
                    <a:ea typeface="宋体" panose="02010600030101010101" pitchFamily="2" charset="-122"/>
                    <a:cs typeface="Times New Roman" panose="02020603050405020304" pitchFamily="18" charset="0"/>
                  </a:rPr>
                  <a:t>31</a:t>
                </a:r>
                <a:r>
                  <a:rPr lang="en-US" sz="2400">
                    <a:latin typeface="Times New Roman" panose="02020603050405020304" pitchFamily="18" charset="0"/>
                    <a:ea typeface="宋体" panose="02010600030101010101" pitchFamily="2" charset="-122"/>
                    <a:cs typeface="Times New Roman" panose="02020603050405020304" pitchFamily="18" charset="0"/>
                  </a:rPr>
                  <a:t>R</a:t>
                </a:r>
                <a:r>
                  <a:rPr sz="2400">
                    <a:latin typeface="Times New Roman" panose="02020603050405020304" pitchFamily="18" charset="0"/>
                    <a:ea typeface="宋体" panose="02010600030101010101" pitchFamily="2" charset="-122"/>
                    <a:cs typeface="Times New Roman" panose="02020603050405020304" pitchFamily="18" charset="0"/>
                  </a:rPr>
                  <a:t>，解密过程可写成</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SM4</a:t>
                </a:r>
                <a:r>
                  <a:rPr lang="en-US" sz="2400" baseline="30000">
                    <a:latin typeface="Times New Roman" panose="02020603050405020304" pitchFamily="18" charset="0"/>
                    <a:ea typeface="宋体" panose="02010600030101010101" pitchFamily="2" charset="-122"/>
                    <a:cs typeface="Times New Roman" panose="02020603050405020304" pitchFamily="18" charset="0"/>
                    <a:sym typeface="+mn-ea"/>
                  </a:rPr>
                  <a:t>-1 </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=G</a:t>
                </a:r>
                <a:r>
                  <a:rPr lang="en-US" sz="2400" baseline="-25000">
                    <a:latin typeface="Times New Roman" panose="02020603050405020304" pitchFamily="18" charset="0"/>
                    <a:ea typeface="宋体" panose="02010600030101010101" pitchFamily="2" charset="-122"/>
                    <a:cs typeface="Times New Roman" panose="02020603050405020304" pitchFamily="18" charset="0"/>
                    <a:sym typeface="+mn-ea"/>
                  </a:rPr>
                  <a:t>30</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EG</a:t>
                </a:r>
                <a:r>
                  <a:rPr lang="en-US" sz="2400" baseline="-25000">
                    <a:latin typeface="Times New Roman" panose="02020603050405020304" pitchFamily="18" charset="0"/>
                    <a:ea typeface="宋体" panose="02010600030101010101" pitchFamily="2" charset="-122"/>
                    <a:cs typeface="Times New Roman" panose="02020603050405020304" pitchFamily="18" charset="0"/>
                    <a:sym typeface="+mn-ea"/>
                  </a:rPr>
                  <a:t>31</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R....G</a:t>
                </a:r>
                <a:r>
                  <a:rPr lang="en-US" sz="2400" baseline="-25000">
                    <a:latin typeface="Times New Roman" panose="02020603050405020304" pitchFamily="18" charset="0"/>
                    <a:ea typeface="宋体" panose="02010600030101010101" pitchFamily="2" charset="-122"/>
                    <a:cs typeface="Times New Roman" panose="02020603050405020304" pitchFamily="18" charset="0"/>
                    <a:sym typeface="+mn-ea"/>
                  </a:rPr>
                  <a:t>0</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EG</a:t>
                </a:r>
                <a:r>
                  <a:rPr lang="en-US" sz="2400" baseline="-2500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sz="2400">
                    <a:latin typeface="Times New Roman" panose="02020603050405020304" pitchFamily="18" charset="0"/>
                    <a:ea typeface="宋体" panose="02010600030101010101" pitchFamily="2" charset="-122"/>
                    <a:cs typeface="Times New Roman" panose="02020603050405020304" pitchFamily="18" charset="0"/>
                    <a:sym typeface="+mn-ea"/>
                  </a:rPr>
                  <a:t>E</a:t>
                </a:r>
                <a:r>
                  <a:rPr sz="2400">
                    <a:latin typeface="Times New Roman" panose="02020603050405020304" pitchFamily="18" charset="0"/>
                    <a:ea typeface="宋体" panose="02010600030101010101" pitchFamily="2" charset="-122"/>
                    <a:cs typeface="Times New Roman" panose="02020603050405020304" pitchFamily="18" charset="0"/>
                  </a:rPr>
                  <a:t> 。比较SM4与SM4⁻¹可知，运算相同，只有密钥的使用顺序不同，所以SM4是对合的。</a:t>
                </a:r>
              </a:p>
            </p:txBody>
          </p:sp>
        </mc:Choice>
        <mc:Fallback xmlns="">
          <p:sp>
            <p:nvSpPr>
              <p:cNvPr id="5" name="TextBox 4"/>
              <p:cNvSpPr txBox="1">
                <a:spLocks noRot="1" noChangeAspect="1" noMove="1" noResize="1" noEditPoints="1" noAdjustHandles="1" noChangeArrowheads="1" noChangeShapeType="1" noTextEdit="1"/>
              </p:cNvSpPr>
              <p:nvPr/>
            </p:nvSpPr>
            <p:spPr>
              <a:xfrm>
                <a:off x="1371600" y="1271270"/>
                <a:ext cx="15727680" cy="8092440"/>
              </a:xfrm>
              <a:prstGeom prst="rect">
                <a:avLst/>
              </a:prstGeom>
              <a:blipFill rotWithShape="1">
                <a:blip r:embed="rId2"/>
                <a:stretch>
                  <a:fillRect/>
                </a:stretch>
              </a:blipFill>
            </p:spPr>
            <p:txBody>
              <a:bodyPr/>
              <a:lstStyle/>
              <a:p>
                <a:r>
                  <a:rPr lang="zh-CN" altLang="en-US">
                    <a:noFill/>
                  </a:rPr>
                  <a:t> </a:t>
                </a:r>
              </a:p>
            </p:txBody>
          </p:sp>
        </mc:Fallback>
      </mc:AlternateContent>
      <p:sp>
        <p:nvSpPr>
          <p:cNvPr id="6" name="TextBox 5"/>
          <p:cNvSpPr txBox="1"/>
          <p:nvPr/>
        </p:nvSpPr>
        <p:spPr>
          <a:xfrm>
            <a:off x="17312132" y="9409176"/>
            <a:ext cx="363220" cy="306705"/>
          </a:xfrm>
          <a:prstGeom prst="rect">
            <a:avLst/>
          </a:prstGeom>
          <a:noFill/>
        </p:spPr>
        <p:txBody>
          <a:bodyPr wrap="none">
            <a:spAutoFit/>
          </a:bodyPr>
          <a:lstStyle/>
          <a:p>
            <a:pPr algn="r" defTabSz="457200">
              <a:defRPr sz="1800">
                <a:solidFill>
                  <a:srgbClr val="000000"/>
                </a:solidFill>
                <a:latin typeface="Times New Roman" panose="02020603050405020304"/>
              </a:defRPr>
            </a:pPr>
            <a:r>
              <a:rPr lang="en-US" sz="1400">
                <a:solidFill>
                  <a:srgbClr val="FFC000"/>
                </a:solidFill>
                <a:latin typeface="+mn-lt"/>
              </a:rPr>
              <a:t>31</a:t>
            </a:r>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3"/>
            <a:stretch>
              <a:fillRect/>
            </a:stretch>
          </p:blipFill>
          <p:spPr>
            <a:xfrm>
              <a:off x="13944600" y="877286"/>
              <a:ext cx="2771429" cy="47619"/>
            </a:xfrm>
            <a:prstGeom prst="rect">
              <a:avLst/>
            </a:prstGeom>
          </p:spPr>
        </p:pic>
      </p:grpSp>
      <p:sp>
        <p:nvSpPr>
          <p:cNvPr id="8"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加密解密正确性</a:t>
            </a:r>
          </a:p>
        </p:txBody>
      </p:sp>
      <p:sp>
        <p:nvSpPr>
          <p:cNvPr id="9"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4.2.7</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pic>
        <p:nvPicPr>
          <p:cNvPr id="10" name="图片 2"/>
          <p:cNvPicPr>
            <a:picLocks noChangeAspect="1"/>
          </p:cNvPicPr>
          <p:nvPr/>
        </p:nvPicPr>
        <p:blipFill>
          <a:blip r:embed="rId4">
            <a:alphaModFix amt="80000"/>
          </a:blip>
          <a:stretch>
            <a:fillRect/>
          </a:stretch>
        </p:blipFill>
        <p:spPr>
          <a:xfrm>
            <a:off x="643255"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71600" y="1691640"/>
            <a:ext cx="15727680" cy="5682615"/>
          </a:xfrm>
          <a:prstGeom prst="rect">
            <a:avLst/>
          </a:prstGeom>
          <a:noFill/>
        </p:spPr>
        <p:txBody>
          <a:bodyPr wrap="square">
            <a:spAutoFit/>
          </a:bodyPr>
          <a:lstStyle/>
          <a:p>
            <a:pPr defTabSz="457200">
              <a:lnSpc>
                <a:spcPct val="140000"/>
              </a:lnSpc>
              <a:spcAft>
                <a:spcPts val="1000"/>
              </a:spcAft>
              <a:defRPr sz="2200" b="0">
                <a:solidFill>
                  <a:srgbClr val="000000"/>
                </a:solidFill>
                <a:latin typeface="Times New Roman" panose="02020603050405020304"/>
              </a:defRPr>
            </a:pPr>
            <a:r>
              <a:rPr sz="2800"/>
              <a:t>SM4分组密码算法的加密过程的数据变化为：</a:t>
            </a:r>
          </a:p>
          <a:p>
            <a:pPr defTabSz="457200">
              <a:lnSpc>
                <a:spcPct val="140000"/>
              </a:lnSpc>
              <a:spcAft>
                <a:spcPts val="1000"/>
              </a:spcAft>
              <a:defRPr sz="2200" b="0">
                <a:solidFill>
                  <a:srgbClr val="000000"/>
                </a:solidFill>
                <a:latin typeface="Times New Roman" panose="02020603050405020304"/>
              </a:defRPr>
            </a:pPr>
            <a:r>
              <a:rPr sz="2800"/>
              <a:t>(X₀, X₁, X₂, X₃) → (X₁, X₂, X₃, X₄) → ... → (X₃₂, X₃₃, X₃₄, X₃₅)</a:t>
            </a:r>
            <a:r>
              <a:rPr sz="2800">
                <a:sym typeface="+mn-ea"/>
              </a:rPr>
              <a:t>→(X₃₅, X₃₄, X₃₃, X₃₂)→</a:t>
            </a:r>
            <a:r>
              <a:rPr lang="en-US" sz="2800">
                <a:sym typeface="+mn-ea"/>
              </a:rPr>
              <a:t>(Y</a:t>
            </a:r>
            <a:r>
              <a:rPr lang="en-US" sz="2800" baseline="-25000">
                <a:sym typeface="+mn-ea"/>
              </a:rPr>
              <a:t>0 </a:t>
            </a:r>
            <a:r>
              <a:rPr lang="en-US" sz="2800">
                <a:sym typeface="+mn-ea"/>
              </a:rPr>
              <a:t>, Y</a:t>
            </a:r>
            <a:r>
              <a:rPr lang="en-US" sz="2800" baseline="-25000">
                <a:sym typeface="+mn-ea"/>
              </a:rPr>
              <a:t>1 </a:t>
            </a:r>
            <a:r>
              <a:rPr lang="en-US" sz="2800">
                <a:sym typeface="+mn-ea"/>
              </a:rPr>
              <a:t>, Y</a:t>
            </a:r>
            <a:r>
              <a:rPr lang="en-US" sz="2800" baseline="-25000">
                <a:sym typeface="+mn-ea"/>
              </a:rPr>
              <a:t>2 </a:t>
            </a:r>
            <a:r>
              <a:rPr lang="en-US" sz="2800">
                <a:sym typeface="+mn-ea"/>
              </a:rPr>
              <a:t>, Y</a:t>
            </a:r>
            <a:r>
              <a:rPr lang="en-US" sz="2800" baseline="-25000">
                <a:sym typeface="+mn-ea"/>
              </a:rPr>
              <a:t>3</a:t>
            </a:r>
            <a:r>
              <a:rPr lang="en-US" sz="2800">
                <a:sym typeface="+mn-ea"/>
              </a:rPr>
              <a:t>)</a:t>
            </a:r>
            <a:endParaRPr sz="2800"/>
          </a:p>
          <a:p>
            <a:pPr defTabSz="457200">
              <a:lnSpc>
                <a:spcPct val="140000"/>
              </a:lnSpc>
              <a:spcAft>
                <a:spcPts val="1000"/>
              </a:spcAft>
              <a:defRPr sz="2200" b="0">
                <a:solidFill>
                  <a:srgbClr val="000000"/>
                </a:solidFill>
                <a:latin typeface="Times New Roman" panose="02020603050405020304"/>
              </a:defRPr>
            </a:pPr>
            <a:endParaRPr sz="2800"/>
          </a:p>
          <a:p>
            <a:pPr defTabSz="457200">
              <a:lnSpc>
                <a:spcPct val="140000"/>
              </a:lnSpc>
              <a:spcAft>
                <a:spcPts val="1000"/>
              </a:spcAft>
              <a:defRPr sz="2200" b="0">
                <a:solidFill>
                  <a:srgbClr val="000000"/>
                </a:solidFill>
                <a:latin typeface="Times New Roman" panose="02020603050405020304"/>
              </a:defRPr>
            </a:pPr>
            <a:r>
              <a:rPr sz="2800"/>
              <a:t>SM4的解密过程的数据变化为：</a:t>
            </a:r>
          </a:p>
          <a:p>
            <a:pPr defTabSz="457200">
              <a:lnSpc>
                <a:spcPct val="140000"/>
              </a:lnSpc>
              <a:spcAft>
                <a:spcPts val="1000"/>
              </a:spcAft>
              <a:defRPr sz="2200" b="0">
                <a:solidFill>
                  <a:srgbClr val="000000"/>
                </a:solidFill>
                <a:latin typeface="Times New Roman" panose="02020603050405020304"/>
              </a:defRPr>
            </a:pPr>
            <a:r>
              <a:rPr sz="2800"/>
              <a:t>(X₃₅, X₃₄, X₃₃, X₃₂) → </a:t>
            </a:r>
            <a:r>
              <a:rPr lang="en-US" sz="2800"/>
              <a:t>(</a:t>
            </a:r>
            <a:r>
              <a:rPr sz="2800">
                <a:sym typeface="+mn-ea"/>
              </a:rPr>
              <a:t>X₃₄, X₃₃, X₃₂</a:t>
            </a:r>
            <a:r>
              <a:rPr lang="en-US" sz="2800">
                <a:sym typeface="+mn-ea"/>
              </a:rPr>
              <a:t> , X</a:t>
            </a:r>
            <a:r>
              <a:rPr lang="en-US" sz="2800" baseline="-25000">
                <a:sym typeface="+mn-ea"/>
              </a:rPr>
              <a:t>31</a:t>
            </a:r>
            <a:r>
              <a:rPr lang="en-US" sz="2800">
                <a:sym typeface="+mn-ea"/>
              </a:rPr>
              <a:t>)</a:t>
            </a:r>
            <a:r>
              <a:rPr sz="2800">
                <a:sym typeface="+mn-ea"/>
              </a:rPr>
              <a:t>→</a:t>
            </a:r>
            <a:r>
              <a:rPr lang="en-US" sz="2800">
                <a:sym typeface="+mn-ea"/>
              </a:rPr>
              <a:t> .</a:t>
            </a:r>
            <a:r>
              <a:rPr sz="2800"/>
              <a:t>... → (X₃, X₂, X₁, X₀)</a:t>
            </a:r>
            <a:r>
              <a:rPr sz="2800">
                <a:sym typeface="+mn-ea"/>
              </a:rPr>
              <a:t>→(X₀, X₁, X₂, X₃) </a:t>
            </a:r>
            <a:endParaRPr sz="2800"/>
          </a:p>
          <a:p>
            <a:pPr defTabSz="457200">
              <a:lnSpc>
                <a:spcPct val="140000"/>
              </a:lnSpc>
              <a:spcAft>
                <a:spcPts val="1000"/>
              </a:spcAft>
              <a:defRPr sz="2200" b="0">
                <a:solidFill>
                  <a:srgbClr val="000000"/>
                </a:solidFill>
                <a:latin typeface="Times New Roman" panose="02020603050405020304"/>
              </a:defRPr>
            </a:pPr>
            <a:endParaRPr sz="2800"/>
          </a:p>
          <a:p>
            <a:pPr defTabSz="457200">
              <a:lnSpc>
                <a:spcPct val="140000"/>
              </a:lnSpc>
              <a:spcAft>
                <a:spcPts val="1000"/>
              </a:spcAft>
              <a:defRPr sz="2200" b="0">
                <a:solidFill>
                  <a:srgbClr val="000000"/>
                </a:solidFill>
                <a:latin typeface="Times New Roman" panose="02020603050405020304"/>
              </a:defRPr>
            </a:pPr>
            <a:r>
              <a:rPr sz="2800"/>
              <a:t>其中，加密与解密过程的最后一步变换为反序。故由  SM4⁻¹</a:t>
            </a:r>
            <a:r>
              <a:rPr lang="en-US" sz="2800"/>
              <a:t>(SM4</a:t>
            </a:r>
            <a:r>
              <a:rPr sz="2800"/>
              <a:t> </a:t>
            </a:r>
            <a:r>
              <a:rPr sz="2800">
                <a:sym typeface="+mn-ea"/>
              </a:rPr>
              <a:t>(X₀, X₁, X₂, X₃)</a:t>
            </a:r>
            <a:r>
              <a:rPr lang="en-US" sz="2800">
                <a:sym typeface="+mn-ea"/>
              </a:rPr>
              <a:t>)</a:t>
            </a:r>
            <a:r>
              <a:rPr sz="2800"/>
              <a:t>= </a:t>
            </a:r>
            <a:r>
              <a:rPr sz="2800">
                <a:sym typeface="+mn-ea"/>
              </a:rPr>
              <a:t>(X₀, X₁, X₂, X₃)</a:t>
            </a:r>
            <a:r>
              <a:rPr sz="2800"/>
              <a:t>，可知SM4是可逆的，即SM4分组密码算法的解密算法是正确的。</a:t>
            </a:r>
          </a:p>
        </p:txBody>
      </p:sp>
      <p:sp>
        <p:nvSpPr>
          <p:cNvPr id="6" name="TextBox 5"/>
          <p:cNvSpPr txBox="1"/>
          <p:nvPr/>
        </p:nvSpPr>
        <p:spPr>
          <a:xfrm>
            <a:off x="17312132" y="9409176"/>
            <a:ext cx="363220" cy="306705"/>
          </a:xfrm>
          <a:prstGeom prst="rect">
            <a:avLst/>
          </a:prstGeom>
          <a:noFill/>
        </p:spPr>
        <p:txBody>
          <a:bodyPr wrap="none">
            <a:spAutoFit/>
          </a:bodyPr>
          <a:lstStyle/>
          <a:p>
            <a:pPr algn="r" defTabSz="457200">
              <a:defRPr sz="1800">
                <a:solidFill>
                  <a:srgbClr val="000000"/>
                </a:solidFill>
                <a:latin typeface="Times New Roman" panose="02020603050405020304"/>
              </a:defRPr>
            </a:pPr>
            <a:r>
              <a:rPr lang="en-US" sz="1400">
                <a:solidFill>
                  <a:srgbClr val="FFC000"/>
                </a:solidFill>
                <a:latin typeface="+mn-lt"/>
              </a:rPr>
              <a:t>32</a:t>
            </a:r>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
        <p:nvSpPr>
          <p:cNvPr id="8"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加密解密正确性</a:t>
            </a:r>
          </a:p>
        </p:txBody>
      </p:sp>
      <p:sp>
        <p:nvSpPr>
          <p:cNvPr id="9"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4.2.7</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pic>
        <p:nvPicPr>
          <p:cNvPr id="10" name="图片 2"/>
          <p:cNvPicPr>
            <a:picLocks noChangeAspect="1"/>
          </p:cNvPicPr>
          <p:nvPr/>
        </p:nvPicPr>
        <p:blipFill>
          <a:blip r:embed="rId3">
            <a:alphaModFix amt="80000"/>
          </a:blip>
          <a:stretch>
            <a:fillRect/>
          </a:stretch>
        </p:blipFill>
        <p:spPr>
          <a:xfrm>
            <a:off x="643255"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defTabSz="457200"/>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defTabSz="457200"/>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defTabSz="457200"/>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defTabSz="457200"/>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defTabSz="457200"/>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defTabSz="457200"/>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defTabSz="457200"/>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defTabSz="457200"/>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defTabSz="457200"/>
              <a:endParaRPr lang="zh-CN" altLang="en-US"/>
            </a:p>
          </p:txBody>
        </p:sp>
        <p:sp>
          <p:nvSpPr>
            <p:cNvPr id="29" name="TextBox 29"/>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sp>
        <p:nvSpPr>
          <p:cNvPr id="30" name="TextBox 30"/>
          <p:cNvSpPr txBox="1"/>
          <p:nvPr/>
        </p:nvSpPr>
        <p:spPr>
          <a:xfrm>
            <a:off x="7781241" y="2834725"/>
            <a:ext cx="2725514" cy="2190115"/>
          </a:xfrm>
          <a:prstGeom prst="rect">
            <a:avLst/>
          </a:prstGeom>
        </p:spPr>
        <p:txBody>
          <a:bodyPr lIns="0" tIns="0" rIns="0" bIns="0" rtlCol="0" anchor="t">
            <a:spAutoFit/>
          </a:bodyPr>
          <a:lstStyle/>
          <a:p>
            <a:pPr algn="ctr" defTabSz="457200">
              <a:lnSpc>
                <a:spcPts val="17080"/>
              </a:lnSpc>
            </a:pPr>
            <a:r>
              <a:rPr lang="en-US" sz="12200" dirty="0">
                <a:solidFill>
                  <a:srgbClr val="004AAD"/>
                </a:solidFill>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4.3</a:t>
            </a:r>
          </a:p>
        </p:txBody>
      </p:sp>
      <p:sp>
        <p:nvSpPr>
          <p:cNvPr id="31" name="TextBox 31"/>
          <p:cNvSpPr txBox="1"/>
          <p:nvPr/>
        </p:nvSpPr>
        <p:spPr>
          <a:xfrm>
            <a:off x="4067810" y="5143500"/>
            <a:ext cx="10151745" cy="2872105"/>
          </a:xfrm>
          <a:prstGeom prst="rect">
            <a:avLst/>
          </a:prstGeom>
        </p:spPr>
        <p:txBody>
          <a:bodyPr wrap="square" lIns="0" tIns="0" rIns="0" bIns="0" rtlCol="0" anchor="t">
            <a:spAutoFit/>
          </a:bodyPr>
          <a:lstStyle/>
          <a:p>
            <a:pPr algn="ctr" defTabSz="457200">
              <a:lnSpc>
                <a:spcPts val="11200"/>
              </a:lnSpc>
            </a:pPr>
            <a:r>
              <a:rPr lang="en-US" altLang="zh-CN" sz="9600" b="1" dirty="0">
                <a:solidFill>
                  <a:srgbClr val="004AAD"/>
                </a:solidFill>
                <a:latin typeface="Times New Roman" panose="02020603050405020304" pitchFamily="18" charset="0"/>
                <a:ea typeface="仿宋" panose="02010609060101010101" charset="-122"/>
                <a:cs typeface="字由文艺黑" panose="00020600040101010101" charset="-122"/>
                <a:sym typeface="字由文艺黑" panose="00020600040101010101" charset="-122"/>
              </a:rPr>
              <a:t>SM4</a:t>
            </a:r>
            <a:r>
              <a:rPr lang="zh-CN" altLang="en-US" sz="9600" b="1" dirty="0">
                <a:solidFill>
                  <a:srgbClr val="004AAD"/>
                </a:solidFill>
                <a:latin typeface="Times New Roman" panose="02020603050405020304" pitchFamily="18" charset="0"/>
                <a:ea typeface="仿宋" panose="02010609060101010101" charset="-122"/>
                <a:cs typeface="字由文艺黑" panose="00020600040101010101" charset="-122"/>
                <a:sym typeface="字由文艺黑" panose="00020600040101010101" charset="-122"/>
              </a:rPr>
              <a:t>分组密码算法安全性分析</a:t>
            </a: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defTabSz="457200"/>
                <a:endParaRPr lang="zh-CN" altLang="en-US"/>
              </a:p>
            </p:txBody>
          </p:sp>
          <p:sp>
            <p:nvSpPr>
              <p:cNvPr id="40" name="TextBox 40"/>
              <p:cNvSpPr txBox="1"/>
              <p:nvPr/>
            </p:nvSpPr>
            <p:spPr>
              <a:xfrm>
                <a:off x="0" y="0"/>
                <a:ext cx="5501351" cy="288980"/>
              </a:xfrm>
              <a:prstGeom prst="rect">
                <a:avLst/>
              </a:prstGeom>
            </p:spPr>
            <p:txBody>
              <a:bodyPr lIns="50800" tIns="50800" rIns="50800" bIns="50800" rtlCol="0" anchor="ctr"/>
              <a:lstStyle/>
              <a:p>
                <a:pPr algn="ctr" defTabSz="457200">
                  <a:lnSpc>
                    <a:spcPts val="2880"/>
                  </a:lnSpc>
                </a:pPr>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defTabSz="457200"/>
                <a:endParaRPr lang="zh-CN" altLang="en-US"/>
              </a:p>
            </p:txBody>
          </p:sp>
          <p:sp>
            <p:nvSpPr>
              <p:cNvPr id="43" name="TextBox 43"/>
              <p:cNvSpPr txBox="1"/>
              <p:nvPr/>
            </p:nvSpPr>
            <p:spPr>
              <a:xfrm>
                <a:off x="0" y="0"/>
                <a:ext cx="5501351" cy="327048"/>
              </a:xfrm>
              <a:prstGeom prst="rect">
                <a:avLst/>
              </a:prstGeom>
            </p:spPr>
            <p:txBody>
              <a:bodyPr lIns="50800" tIns="50800" rIns="50800" bIns="50800" rtlCol="0" anchor="ctr"/>
              <a:lstStyle/>
              <a:p>
                <a:pPr algn="ctr" defTabSz="457200">
                  <a:lnSpc>
                    <a:spcPts val="2880"/>
                  </a:lnSpc>
                </a:pPr>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fld id="{9A0DB2DC-4C9A-4742-B13C-FB6460FD3503}" type="slidenum">
              <a:rPr lang="en-US" sz="1400" smtClean="0">
                <a:solidFill>
                  <a:srgbClr val="FFC000"/>
                </a:solidFill>
              </a:rPr>
              <a:t>33</a:t>
            </a:fld>
            <a:endParaRPr lang="en-US" sz="2000" dirty="0"/>
          </a:p>
        </p:txBody>
      </p:sp>
      <p:grpSp>
        <p:nvGrpSpPr>
          <p:cNvPr id="44" name="组合 43"/>
          <p:cNvGrpSpPr/>
          <p:nvPr/>
        </p:nvGrpSpPr>
        <p:grpSpPr>
          <a:xfrm>
            <a:off x="958201" y="56324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grpSp>
        <p:nvGrpSpPr>
          <p:cNvPr id="32" name="组合 31"/>
          <p:cNvGrpSpPr/>
          <p:nvPr/>
        </p:nvGrpSpPr>
        <p:grpSpPr>
          <a:xfrm>
            <a:off x="13639786" y="733421"/>
            <a:ext cx="3681730" cy="416951"/>
            <a:chOff x="13811849" y="507954"/>
            <a:chExt cx="3681730" cy="416951"/>
          </a:xfrm>
        </p:grpSpPr>
        <p:sp>
          <p:nvSpPr>
            <p:cNvPr id="35" name="文本框 34"/>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45" name="图片 44"/>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71600" y="1608455"/>
            <a:ext cx="15727680" cy="7927340"/>
          </a:xfrm>
          <a:prstGeom prst="rect">
            <a:avLst/>
          </a:prstGeom>
          <a:noFill/>
        </p:spPr>
        <p:txBody>
          <a:bodyPr wrap="square">
            <a:spAutoFit/>
          </a:bodyPr>
          <a:lstStyle/>
          <a:p>
            <a:pPr defTabSz="457200">
              <a:lnSpc>
                <a:spcPct val="140000"/>
              </a:lnSpc>
              <a:spcAft>
                <a:spcPts val="1000"/>
              </a:spcAft>
              <a:defRPr sz="1900" b="0">
                <a:solidFill>
                  <a:srgbClr val="000000"/>
                </a:solidFill>
                <a:latin typeface="Times New Roman" panose="02020603050405020304"/>
              </a:defRPr>
            </a:pPr>
            <a:r>
              <a:rPr lang="en-US" sz="2400"/>
              <a:t>    </a:t>
            </a:r>
            <a:r>
              <a:rPr sz="3600"/>
              <a:t>从已有文献可知，自2006年1月SM4分组密码算法发布以来，国内外众多的科研人员对其安全性进行了评估，评估方法几乎涵盖了目前已知的所有的分组密码分析方法，如差分密码分析、线性密码分析、不可能差分密码分析等。</a:t>
            </a:r>
          </a:p>
          <a:p>
            <a:pPr defTabSz="457200">
              <a:lnSpc>
                <a:spcPct val="140000"/>
              </a:lnSpc>
              <a:spcAft>
                <a:spcPts val="1000"/>
              </a:spcAft>
              <a:defRPr sz="1900" b="0">
                <a:solidFill>
                  <a:srgbClr val="000000"/>
                </a:solidFill>
                <a:latin typeface="Times New Roman" panose="02020603050405020304"/>
              </a:defRPr>
            </a:pPr>
            <a:r>
              <a:rPr lang="en-US" sz="3600"/>
              <a:t>    </a:t>
            </a:r>
            <a:r>
              <a:rPr sz="3600"/>
              <a:t>差分密码分析和线性密码分析在第3章已有所涉及，此处不再赘述。不可能差分密码分析是差分密码分析的一个变种，这个概念由Knudsen和Biham分别独立提出，以简单的分析过程和高效的攻击能力引起了人们的广泛关注。通常的差分分析方法通过寻找高概率差分来恢复密钥，不可能差分则与之相反，寻找的是不可能出现的差分。若某个猜测密钥能使不可能差分出现，则一定是错误密钥，从而被淘汰。</a:t>
            </a:r>
          </a:p>
          <a:p>
            <a:pPr defTabSz="457200">
              <a:lnSpc>
                <a:spcPct val="140000"/>
              </a:lnSpc>
              <a:spcAft>
                <a:spcPts val="1000"/>
              </a:spcAft>
              <a:defRPr sz="1900" b="0">
                <a:solidFill>
                  <a:srgbClr val="000000"/>
                </a:solidFill>
                <a:latin typeface="Times New Roman" panose="02020603050405020304"/>
              </a:defRPr>
            </a:pPr>
            <a:r>
              <a:rPr lang="en-US" sz="2800"/>
              <a:t>    </a:t>
            </a:r>
            <a:endParaRPr sz="2800"/>
          </a:p>
        </p:txBody>
      </p:sp>
      <p:sp>
        <p:nvSpPr>
          <p:cNvPr id="6" name="TextBox 5"/>
          <p:cNvSpPr txBox="1"/>
          <p:nvPr/>
        </p:nvSpPr>
        <p:spPr>
          <a:xfrm>
            <a:off x="17312132" y="9409176"/>
            <a:ext cx="363220" cy="306705"/>
          </a:xfrm>
          <a:prstGeom prst="rect">
            <a:avLst/>
          </a:prstGeom>
          <a:noFill/>
        </p:spPr>
        <p:txBody>
          <a:bodyPr wrap="none">
            <a:spAutoFit/>
          </a:bodyPr>
          <a:lstStyle/>
          <a:p>
            <a:pPr algn="r" defTabSz="457200">
              <a:defRPr sz="1800">
                <a:solidFill>
                  <a:srgbClr val="000000"/>
                </a:solidFill>
                <a:latin typeface="Times New Roman" panose="02020603050405020304"/>
              </a:defRPr>
            </a:pPr>
            <a:r>
              <a:rPr lang="en-US" sz="1400">
                <a:solidFill>
                  <a:srgbClr val="FFC000"/>
                </a:solidFill>
                <a:latin typeface="+mn-lt"/>
              </a:rPr>
              <a:t>34</a:t>
            </a:r>
            <a:endParaRPr lang="en-US" sz="2000"/>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
        <p:nvSpPr>
          <p:cNvPr id="8"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SM4</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分组密码算法安全性分析</a:t>
            </a:r>
          </a:p>
        </p:txBody>
      </p:sp>
      <p:sp>
        <p:nvSpPr>
          <p:cNvPr id="9"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4.3</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pic>
        <p:nvPicPr>
          <p:cNvPr id="10" name="图片 2"/>
          <p:cNvPicPr>
            <a:picLocks noChangeAspect="1"/>
          </p:cNvPicPr>
          <p:nvPr/>
        </p:nvPicPr>
        <p:blipFill>
          <a:blip r:embed="rId3">
            <a:alphaModFix amt="80000"/>
          </a:blip>
          <a:stretch>
            <a:fillRect/>
          </a:stretch>
        </p:blipFill>
        <p:spPr>
          <a:xfrm>
            <a:off x="824865"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71600" y="1608455"/>
            <a:ext cx="15727680" cy="6292850"/>
          </a:xfrm>
          <a:prstGeom prst="rect">
            <a:avLst/>
          </a:prstGeom>
          <a:noFill/>
        </p:spPr>
        <p:txBody>
          <a:bodyPr wrap="square">
            <a:spAutoFit/>
          </a:bodyPr>
          <a:lstStyle/>
          <a:p>
            <a:pPr defTabSz="457200">
              <a:lnSpc>
                <a:spcPct val="140000"/>
              </a:lnSpc>
              <a:spcAft>
                <a:spcPts val="1000"/>
              </a:spcAft>
              <a:defRPr sz="1900" b="0">
                <a:solidFill>
                  <a:srgbClr val="000000"/>
                </a:solidFill>
                <a:latin typeface="Times New Roman" panose="02020603050405020304"/>
              </a:defRPr>
            </a:pPr>
            <a:r>
              <a:rPr lang="en-US" sz="2400">
                <a:latin typeface="Times New Roman" panose="02020603050405020304" pitchFamily="18" charset="0"/>
                <a:ea typeface="宋体" panose="02010600030101010101" pitchFamily="2" charset="-122"/>
              </a:rPr>
              <a:t>    </a:t>
            </a:r>
            <a:r>
              <a:rPr lang="en-US" sz="2800">
                <a:latin typeface="Times New Roman" panose="02020603050405020304" pitchFamily="18" charset="0"/>
                <a:ea typeface="宋体" panose="02010600030101010101" pitchFamily="2" charset="-122"/>
              </a:rPr>
              <a:t>    </a:t>
            </a:r>
            <a:r>
              <a:rPr sz="3600">
                <a:latin typeface="Times New Roman" panose="02020603050405020304" pitchFamily="18" charset="0"/>
                <a:ea typeface="宋体" panose="02010600030101010101" pitchFamily="2" charset="-122"/>
              </a:rPr>
              <a:t>零相关线性分析（Zero-Correlation Linear Cryptanalysis）由Bogdanov等于2012年第一次提出，该方法利用了分组密码算法中广泛存在的相关度为零的线性逼近来区分密码算法与随机函数。积分攻击（Square Attack）是一种CPA，通常适用于以块为作用单位的密码算法。积分攻击不同于差分分析和线性分析，其所能攻击的轮数达到一定限度后，一般不可再继续扩展。矩形攻击（Rectangle Attack）也是一种CPA，是飞去来器攻击的演化与补充，是差分分析的一种推广形式，它的主要思想是利用两条高概率的短的差分路径来代替一条长的但概率比较低的路径。</a:t>
            </a:r>
          </a:p>
        </p:txBody>
      </p:sp>
      <p:sp>
        <p:nvSpPr>
          <p:cNvPr id="6" name="TextBox 5"/>
          <p:cNvSpPr txBox="1"/>
          <p:nvPr/>
        </p:nvSpPr>
        <p:spPr>
          <a:xfrm>
            <a:off x="17312132" y="9409176"/>
            <a:ext cx="363220" cy="306705"/>
          </a:xfrm>
          <a:prstGeom prst="rect">
            <a:avLst/>
          </a:prstGeom>
          <a:noFill/>
        </p:spPr>
        <p:txBody>
          <a:bodyPr wrap="none">
            <a:spAutoFit/>
          </a:bodyPr>
          <a:lstStyle/>
          <a:p>
            <a:pPr algn="r" defTabSz="457200">
              <a:defRPr sz="1800">
                <a:solidFill>
                  <a:srgbClr val="000000"/>
                </a:solidFill>
                <a:latin typeface="Times New Roman" panose="02020603050405020304"/>
              </a:defRPr>
            </a:pPr>
            <a:r>
              <a:rPr lang="en-US" sz="1400">
                <a:solidFill>
                  <a:srgbClr val="FFC000"/>
                </a:solidFill>
                <a:latin typeface="+mn-lt"/>
              </a:rPr>
              <a:t>35</a:t>
            </a:r>
            <a:endParaRPr lang="en-US" sz="2000"/>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
        <p:nvSpPr>
          <p:cNvPr id="8"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SM4</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分组密码算法安全性分析</a:t>
            </a:r>
          </a:p>
        </p:txBody>
      </p:sp>
      <p:sp>
        <p:nvSpPr>
          <p:cNvPr id="9"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4.3</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pic>
        <p:nvPicPr>
          <p:cNvPr id="10" name="图片 2"/>
          <p:cNvPicPr>
            <a:picLocks noChangeAspect="1"/>
          </p:cNvPicPr>
          <p:nvPr/>
        </p:nvPicPr>
        <p:blipFill>
          <a:blip r:embed="rId3">
            <a:alphaModFix amt="80000"/>
          </a:blip>
          <a:stretch>
            <a:fillRect/>
          </a:stretch>
        </p:blipFill>
        <p:spPr>
          <a:xfrm>
            <a:off x="824865"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71600" y="1554480"/>
            <a:ext cx="15727680" cy="4244975"/>
          </a:xfrm>
          <a:prstGeom prst="rect">
            <a:avLst/>
          </a:prstGeom>
          <a:noFill/>
        </p:spPr>
        <p:txBody>
          <a:bodyPr wrap="square">
            <a:spAutoFit/>
          </a:bodyPr>
          <a:lstStyle/>
          <a:p>
            <a:pPr defTabSz="457200">
              <a:lnSpc>
                <a:spcPct val="140000"/>
              </a:lnSpc>
              <a:spcAft>
                <a:spcPts val="1000"/>
              </a:spcAft>
              <a:defRPr sz="1900" b="0">
                <a:solidFill>
                  <a:srgbClr val="000000"/>
                </a:solidFill>
                <a:latin typeface="Times New Roman" panose="02020603050405020304"/>
              </a:defRPr>
            </a:pPr>
            <a:r>
              <a:rPr lang="en-US" sz="2400"/>
              <a:t>    </a:t>
            </a:r>
            <a:r>
              <a:rPr sz="2800"/>
              <a:t>攻击的分析指标包括攻击轮数、时间复杂度、数据复杂度、存储复杂度等。其中时间复杂度是指以特定的基本步骤为单元，完成计算过程所需要的总单元数。数据复杂度为攻击所需要的明密文数据量。而存储复杂度又称空间复杂度，是指以某特定的基本存储空间为单元，完成计算过程所需要的全部数据所占用的存储单元的数量。采用上述攻击方式，SM4分组密码算法目前的最好分析结果如表4.2所示。这些公开的评估结果表明，SM4分组密码算法能够抵抗目前已知的所有攻击，拥有较高的安全性。</a:t>
            </a:r>
          </a:p>
          <a:p>
            <a:pPr defTabSz="457200">
              <a:lnSpc>
                <a:spcPct val="140000"/>
              </a:lnSpc>
              <a:spcAft>
                <a:spcPts val="1000"/>
              </a:spcAft>
              <a:defRPr sz="1900" b="0">
                <a:solidFill>
                  <a:srgbClr val="000000"/>
                </a:solidFill>
                <a:latin typeface="Times New Roman" panose="02020603050405020304"/>
              </a:defRPr>
            </a:pPr>
            <a:r>
              <a:rPr>
                <a:latin typeface="Times New Roman" panose="02020603050405020304" pitchFamily="18" charset="0"/>
                <a:cs typeface="Times New Roman" panose="02020603050405020304" pitchFamily="18" charset="0"/>
              </a:rPr>
              <a:t>表4.2  SM4分组密码算法目前的最好分析结果</a:t>
            </a:r>
          </a:p>
        </p:txBody>
      </p:sp>
      <p:graphicFrame>
        <p:nvGraphicFramePr>
          <p:cNvPr id="6" name="Table 5"/>
          <p:cNvGraphicFramePr>
            <a:graphicFrameLocks noGrp="1"/>
          </p:cNvGraphicFramePr>
          <p:nvPr/>
        </p:nvGraphicFramePr>
        <p:xfrm>
          <a:off x="1290320" y="5799455"/>
          <a:ext cx="15544800" cy="3474720"/>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gridCol w="3108960">
                  <a:extLst>
                    <a:ext uri="{9D8B030D-6E8A-4147-A177-3AD203B41FA5}">
                      <a16:colId xmlns:a16="http://schemas.microsoft.com/office/drawing/2014/main" val="20004"/>
                    </a:ext>
                  </a:extLst>
                </a:gridCol>
              </a:tblGrid>
              <a:tr h="434340">
                <a:tc>
                  <a:txBody>
                    <a:bodyPr/>
                    <a:lstStyle/>
                    <a:p>
                      <a:pPr algn="ctr">
                        <a:defRPr sz="1800" b="1">
                          <a:solidFill>
                            <a:srgbClr val="FFFFFF"/>
                          </a:solidFill>
                          <a:latin typeface="Times New Roman" panose="02020603050405020304"/>
                        </a:defRPr>
                      </a:pPr>
                      <a:r>
                        <a:t>攻击方法</a:t>
                      </a:r>
                    </a:p>
                  </a:txBody>
                  <a:tcPr>
                    <a:solidFill>
                      <a:srgbClr val="004AAD"/>
                    </a:solidFill>
                  </a:tcPr>
                </a:tc>
                <a:tc>
                  <a:txBody>
                    <a:bodyPr/>
                    <a:lstStyle/>
                    <a:p>
                      <a:pPr algn="ctr">
                        <a:defRPr sz="1800" b="1">
                          <a:solidFill>
                            <a:srgbClr val="FFFFFF"/>
                          </a:solidFill>
                          <a:latin typeface="Times New Roman" panose="02020603050405020304"/>
                        </a:defRPr>
                      </a:pPr>
                      <a:r>
                        <a:t>攻击轮数</a:t>
                      </a:r>
                    </a:p>
                  </a:txBody>
                  <a:tcPr>
                    <a:solidFill>
                      <a:srgbClr val="004AAD"/>
                    </a:solidFill>
                  </a:tcPr>
                </a:tc>
                <a:tc>
                  <a:txBody>
                    <a:bodyPr/>
                    <a:lstStyle/>
                    <a:p>
                      <a:pPr algn="ctr">
                        <a:defRPr sz="1800" b="1">
                          <a:solidFill>
                            <a:srgbClr val="FFFFFF"/>
                          </a:solidFill>
                          <a:latin typeface="Times New Roman" panose="02020603050405020304"/>
                        </a:defRPr>
                      </a:pPr>
                      <a:r>
                        <a:t>时间复杂度</a:t>
                      </a:r>
                    </a:p>
                  </a:txBody>
                  <a:tcPr>
                    <a:solidFill>
                      <a:srgbClr val="004AAD"/>
                    </a:solidFill>
                  </a:tcPr>
                </a:tc>
                <a:tc>
                  <a:txBody>
                    <a:bodyPr/>
                    <a:lstStyle/>
                    <a:p>
                      <a:pPr algn="ctr">
                        <a:defRPr sz="1800" b="1">
                          <a:solidFill>
                            <a:srgbClr val="FFFFFF"/>
                          </a:solidFill>
                          <a:latin typeface="Times New Roman" panose="02020603050405020304"/>
                        </a:defRPr>
                      </a:pPr>
                      <a:r>
                        <a:t>数据复杂度</a:t>
                      </a:r>
                    </a:p>
                  </a:txBody>
                  <a:tcPr>
                    <a:solidFill>
                      <a:srgbClr val="004AAD"/>
                    </a:solidFill>
                  </a:tcPr>
                </a:tc>
                <a:tc>
                  <a:txBody>
                    <a:bodyPr/>
                    <a:lstStyle/>
                    <a:p>
                      <a:pPr algn="ctr">
                        <a:defRPr sz="1800" b="1">
                          <a:solidFill>
                            <a:srgbClr val="FFFFFF"/>
                          </a:solidFill>
                          <a:latin typeface="Times New Roman" panose="02020603050405020304"/>
                        </a:defRPr>
                      </a:pPr>
                      <a:r>
                        <a:t>存储复杂度</a:t>
                      </a:r>
                    </a:p>
                  </a:txBody>
                  <a:tcPr>
                    <a:solidFill>
                      <a:srgbClr val="004AAD"/>
                    </a:solidFill>
                  </a:tcPr>
                </a:tc>
                <a:extLst>
                  <a:ext uri="{0D108BD9-81ED-4DB2-BD59-A6C34878D82A}">
                    <a16:rowId xmlns:a16="http://schemas.microsoft.com/office/drawing/2014/main" val="10000"/>
                  </a:ext>
                </a:extLst>
              </a:tr>
              <a:tr h="434340">
                <a:tc>
                  <a:txBody>
                    <a:bodyPr/>
                    <a:lstStyle/>
                    <a:p>
                      <a:pPr algn="ctr">
                        <a:defRPr sz="1800">
                          <a:latin typeface="Times New Roman" panose="02020603050405020304"/>
                        </a:defRPr>
                      </a:pPr>
                      <a:r>
                        <a:t>差分攻击</a:t>
                      </a:r>
                    </a:p>
                  </a:txBody>
                  <a:tcPr/>
                </a:tc>
                <a:tc>
                  <a:txBody>
                    <a:bodyPr/>
                    <a:lstStyle/>
                    <a:p>
                      <a:pPr algn="ctr">
                        <a:defRPr sz="1800">
                          <a:latin typeface="Times New Roman" panose="02020603050405020304"/>
                        </a:defRPr>
                      </a:pPr>
                      <a:r>
                        <a:t>23</a:t>
                      </a:r>
                    </a:p>
                  </a:txBody>
                  <a:tcPr/>
                </a:tc>
                <a:tc>
                  <a:txBody>
                    <a:bodyPr/>
                    <a:lstStyle/>
                    <a:p>
                      <a:pPr algn="ctr">
                        <a:defRPr sz="1800">
                          <a:latin typeface="Times New Roman" panose="02020603050405020304"/>
                        </a:defRPr>
                      </a:pPr>
                      <a:r>
                        <a:t>2^126.7</a:t>
                      </a:r>
                    </a:p>
                  </a:txBody>
                  <a:tcPr/>
                </a:tc>
                <a:tc>
                  <a:txBody>
                    <a:bodyPr/>
                    <a:lstStyle/>
                    <a:p>
                      <a:pPr algn="ctr">
                        <a:defRPr sz="1800">
                          <a:latin typeface="Times New Roman" panose="02020603050405020304"/>
                        </a:defRPr>
                      </a:pPr>
                      <a:r>
                        <a:t>2^118</a:t>
                      </a:r>
                    </a:p>
                  </a:txBody>
                  <a:tcPr/>
                </a:tc>
                <a:tc>
                  <a:txBody>
                    <a:bodyPr/>
                    <a:lstStyle/>
                    <a:p>
                      <a:pPr algn="ctr">
                        <a:defRPr sz="1800">
                          <a:latin typeface="Times New Roman" panose="02020603050405020304"/>
                        </a:defRPr>
                      </a:pPr>
                      <a:r>
                        <a:t>2^120.7</a:t>
                      </a:r>
                    </a:p>
                  </a:txBody>
                  <a:tcPr/>
                </a:tc>
                <a:extLst>
                  <a:ext uri="{0D108BD9-81ED-4DB2-BD59-A6C34878D82A}">
                    <a16:rowId xmlns:a16="http://schemas.microsoft.com/office/drawing/2014/main" val="10001"/>
                  </a:ext>
                </a:extLst>
              </a:tr>
              <a:tr h="434340">
                <a:tc>
                  <a:txBody>
                    <a:bodyPr/>
                    <a:lstStyle/>
                    <a:p>
                      <a:pPr algn="ctr">
                        <a:defRPr sz="1800">
                          <a:latin typeface="Times New Roman" panose="02020603050405020304"/>
                        </a:defRPr>
                      </a:pPr>
                      <a:r>
                        <a:t>线性攻击</a:t>
                      </a:r>
                    </a:p>
                  </a:txBody>
                  <a:tcPr/>
                </a:tc>
                <a:tc>
                  <a:txBody>
                    <a:bodyPr/>
                    <a:lstStyle/>
                    <a:p>
                      <a:pPr algn="ctr">
                        <a:defRPr sz="1800">
                          <a:latin typeface="Times New Roman" panose="02020603050405020304"/>
                        </a:defRPr>
                      </a:pPr>
                      <a:r>
                        <a:t>23</a:t>
                      </a:r>
                    </a:p>
                  </a:txBody>
                  <a:tcPr/>
                </a:tc>
                <a:tc>
                  <a:txBody>
                    <a:bodyPr/>
                    <a:lstStyle/>
                    <a:p>
                      <a:pPr algn="ctr">
                        <a:defRPr sz="1800">
                          <a:latin typeface="Times New Roman" panose="02020603050405020304"/>
                        </a:defRPr>
                      </a:pPr>
                      <a:r>
                        <a:t>2^122</a:t>
                      </a:r>
                    </a:p>
                  </a:txBody>
                  <a:tcPr/>
                </a:tc>
                <a:tc>
                  <a:txBody>
                    <a:bodyPr/>
                    <a:lstStyle/>
                    <a:p>
                      <a:pPr algn="ctr">
                        <a:defRPr sz="1800">
                          <a:latin typeface="Times New Roman" panose="02020603050405020304"/>
                        </a:defRPr>
                      </a:pPr>
                      <a:r>
                        <a:t>2^126.54</a:t>
                      </a:r>
                    </a:p>
                  </a:txBody>
                  <a:tcPr/>
                </a:tc>
                <a:tc>
                  <a:txBody>
                    <a:bodyPr/>
                    <a:lstStyle/>
                    <a:p>
                      <a:pPr algn="ctr">
                        <a:defRPr sz="1800">
                          <a:latin typeface="Times New Roman" panose="02020603050405020304"/>
                        </a:defRPr>
                      </a:pPr>
                      <a:r>
                        <a:t>2^120.7</a:t>
                      </a:r>
                    </a:p>
                  </a:txBody>
                  <a:tcPr/>
                </a:tc>
                <a:extLst>
                  <a:ext uri="{0D108BD9-81ED-4DB2-BD59-A6C34878D82A}">
                    <a16:rowId xmlns:a16="http://schemas.microsoft.com/office/drawing/2014/main" val="10002"/>
                  </a:ext>
                </a:extLst>
              </a:tr>
              <a:tr h="434340">
                <a:tc>
                  <a:txBody>
                    <a:bodyPr/>
                    <a:lstStyle/>
                    <a:p>
                      <a:pPr algn="ctr">
                        <a:defRPr sz="1800">
                          <a:latin typeface="Times New Roman" panose="02020603050405020304"/>
                        </a:defRPr>
                      </a:pPr>
                      <a:r>
                        <a:t>多维线性攻击</a:t>
                      </a:r>
                    </a:p>
                  </a:txBody>
                  <a:tcPr/>
                </a:tc>
                <a:tc>
                  <a:txBody>
                    <a:bodyPr/>
                    <a:lstStyle/>
                    <a:p>
                      <a:pPr algn="ctr">
                        <a:defRPr sz="1800">
                          <a:latin typeface="Times New Roman" panose="02020603050405020304"/>
                        </a:defRPr>
                      </a:pPr>
                      <a:r>
                        <a:t>23</a:t>
                      </a:r>
                    </a:p>
                  </a:txBody>
                  <a:tcPr/>
                </a:tc>
                <a:tc>
                  <a:txBody>
                    <a:bodyPr/>
                    <a:lstStyle/>
                    <a:p>
                      <a:pPr algn="ctr">
                        <a:defRPr sz="1800">
                          <a:latin typeface="Times New Roman" panose="02020603050405020304"/>
                        </a:defRPr>
                      </a:pPr>
                      <a:r>
                        <a:t>2^122.7</a:t>
                      </a:r>
                    </a:p>
                  </a:txBody>
                  <a:tcPr/>
                </a:tc>
                <a:tc>
                  <a:txBody>
                    <a:bodyPr/>
                    <a:lstStyle/>
                    <a:p>
                      <a:pPr algn="ctr">
                        <a:defRPr sz="1800">
                          <a:latin typeface="Times New Roman" panose="02020603050405020304"/>
                        </a:defRPr>
                      </a:pPr>
                      <a:r>
                        <a:t>2^122.6</a:t>
                      </a:r>
                    </a:p>
                  </a:txBody>
                  <a:tcPr/>
                </a:tc>
                <a:tc>
                  <a:txBody>
                    <a:bodyPr/>
                    <a:lstStyle/>
                    <a:p>
                      <a:pPr algn="ctr">
                        <a:defRPr sz="1800">
                          <a:latin typeface="Times New Roman" panose="02020603050405020304"/>
                        </a:defRPr>
                      </a:pPr>
                      <a:r>
                        <a:t>2^120.6</a:t>
                      </a:r>
                    </a:p>
                  </a:txBody>
                  <a:tcPr/>
                </a:tc>
                <a:extLst>
                  <a:ext uri="{0D108BD9-81ED-4DB2-BD59-A6C34878D82A}">
                    <a16:rowId xmlns:a16="http://schemas.microsoft.com/office/drawing/2014/main" val="10003"/>
                  </a:ext>
                </a:extLst>
              </a:tr>
              <a:tr h="434340">
                <a:tc>
                  <a:txBody>
                    <a:bodyPr/>
                    <a:lstStyle/>
                    <a:p>
                      <a:pPr algn="ctr">
                        <a:defRPr sz="1800">
                          <a:latin typeface="Times New Roman" panose="02020603050405020304"/>
                        </a:defRPr>
                      </a:pPr>
                      <a:r>
                        <a:t>不可能差分攻击</a:t>
                      </a:r>
                    </a:p>
                  </a:txBody>
                  <a:tcPr/>
                </a:tc>
                <a:tc>
                  <a:txBody>
                    <a:bodyPr/>
                    <a:lstStyle/>
                    <a:p>
                      <a:pPr algn="ctr">
                        <a:defRPr sz="1800">
                          <a:latin typeface="Times New Roman" panose="02020603050405020304"/>
                        </a:defRPr>
                      </a:pPr>
                      <a:r>
                        <a:t>17</a:t>
                      </a:r>
                    </a:p>
                  </a:txBody>
                  <a:tcPr/>
                </a:tc>
                <a:tc>
                  <a:txBody>
                    <a:bodyPr/>
                    <a:lstStyle/>
                    <a:p>
                      <a:pPr algn="ctr">
                        <a:defRPr sz="1800">
                          <a:latin typeface="Times New Roman" panose="02020603050405020304"/>
                        </a:defRPr>
                      </a:pPr>
                      <a:r>
                        <a:t>2^132</a:t>
                      </a:r>
                    </a:p>
                  </a:txBody>
                  <a:tcPr/>
                </a:tc>
                <a:tc>
                  <a:txBody>
                    <a:bodyPr/>
                    <a:lstStyle/>
                    <a:p>
                      <a:pPr algn="ctr">
                        <a:defRPr sz="1800">
                          <a:latin typeface="Times New Roman" panose="02020603050405020304"/>
                        </a:defRPr>
                      </a:pPr>
                      <a:r>
                        <a:t>2^117</a:t>
                      </a:r>
                    </a:p>
                  </a:txBody>
                  <a:tcPr/>
                </a:tc>
                <a:tc>
                  <a:txBody>
                    <a:bodyPr/>
                    <a:lstStyle/>
                    <a:p>
                      <a:pPr algn="ctr">
                        <a:defRPr sz="1800">
                          <a:latin typeface="Times New Roman" panose="02020603050405020304"/>
                        </a:defRPr>
                      </a:pPr>
                      <a:r>
                        <a:t>---</a:t>
                      </a:r>
                    </a:p>
                  </a:txBody>
                  <a:tcPr/>
                </a:tc>
                <a:extLst>
                  <a:ext uri="{0D108BD9-81ED-4DB2-BD59-A6C34878D82A}">
                    <a16:rowId xmlns:a16="http://schemas.microsoft.com/office/drawing/2014/main" val="10004"/>
                  </a:ext>
                </a:extLst>
              </a:tr>
              <a:tr h="434340">
                <a:tc>
                  <a:txBody>
                    <a:bodyPr/>
                    <a:lstStyle/>
                    <a:p>
                      <a:pPr algn="ctr">
                        <a:defRPr sz="1800">
                          <a:latin typeface="Times New Roman" panose="02020603050405020304"/>
                        </a:defRPr>
                      </a:pPr>
                      <a:r>
                        <a:t>零相关线性攻击</a:t>
                      </a:r>
                    </a:p>
                  </a:txBody>
                  <a:tcPr/>
                </a:tc>
                <a:tc>
                  <a:txBody>
                    <a:bodyPr/>
                    <a:lstStyle/>
                    <a:p>
                      <a:pPr algn="ctr">
                        <a:defRPr sz="1800">
                          <a:latin typeface="Times New Roman" panose="02020603050405020304"/>
                        </a:defRPr>
                      </a:pPr>
                      <a:r>
                        <a:t>14</a:t>
                      </a:r>
                    </a:p>
                  </a:txBody>
                  <a:tcPr/>
                </a:tc>
                <a:tc>
                  <a:txBody>
                    <a:bodyPr/>
                    <a:lstStyle/>
                    <a:p>
                      <a:pPr algn="ctr">
                        <a:defRPr sz="1800">
                          <a:latin typeface="Times New Roman" panose="02020603050405020304"/>
                        </a:defRPr>
                      </a:pPr>
                      <a:r>
                        <a:t>2^120.7</a:t>
                      </a:r>
                    </a:p>
                  </a:txBody>
                  <a:tcPr/>
                </a:tc>
                <a:tc>
                  <a:txBody>
                    <a:bodyPr/>
                    <a:lstStyle/>
                    <a:p>
                      <a:pPr algn="ctr">
                        <a:defRPr sz="1800">
                          <a:latin typeface="Times New Roman" panose="02020603050405020304"/>
                        </a:defRPr>
                      </a:pPr>
                      <a:r>
                        <a:t>2^123.5</a:t>
                      </a:r>
                    </a:p>
                  </a:txBody>
                  <a:tcPr/>
                </a:tc>
                <a:tc>
                  <a:txBody>
                    <a:bodyPr/>
                    <a:lstStyle/>
                    <a:p>
                      <a:pPr algn="ctr">
                        <a:defRPr sz="1800">
                          <a:latin typeface="Times New Roman" panose="02020603050405020304"/>
                        </a:defRPr>
                      </a:pPr>
                      <a:r>
                        <a:t>2^73</a:t>
                      </a:r>
                    </a:p>
                  </a:txBody>
                  <a:tcPr/>
                </a:tc>
                <a:extLst>
                  <a:ext uri="{0D108BD9-81ED-4DB2-BD59-A6C34878D82A}">
                    <a16:rowId xmlns:a16="http://schemas.microsoft.com/office/drawing/2014/main" val="10005"/>
                  </a:ext>
                </a:extLst>
              </a:tr>
              <a:tr h="434340">
                <a:tc>
                  <a:txBody>
                    <a:bodyPr/>
                    <a:lstStyle/>
                    <a:p>
                      <a:pPr algn="ctr">
                        <a:defRPr sz="1800">
                          <a:latin typeface="Times New Roman" panose="02020603050405020304"/>
                        </a:defRPr>
                      </a:pPr>
                      <a:r>
                        <a:t>积分攻击</a:t>
                      </a:r>
                    </a:p>
                  </a:txBody>
                  <a:tcPr/>
                </a:tc>
                <a:tc>
                  <a:txBody>
                    <a:bodyPr/>
                    <a:lstStyle/>
                    <a:p>
                      <a:pPr algn="ctr">
                        <a:defRPr sz="1800">
                          <a:latin typeface="Times New Roman" panose="02020603050405020304"/>
                        </a:defRPr>
                      </a:pPr>
                      <a:r>
                        <a:t>14</a:t>
                      </a:r>
                    </a:p>
                  </a:txBody>
                  <a:tcPr/>
                </a:tc>
                <a:tc>
                  <a:txBody>
                    <a:bodyPr/>
                    <a:lstStyle/>
                    <a:p>
                      <a:pPr algn="ctr">
                        <a:defRPr sz="1800">
                          <a:latin typeface="Times New Roman" panose="02020603050405020304"/>
                        </a:defRPr>
                      </a:pPr>
                      <a:r>
                        <a:t>2^96.5</a:t>
                      </a:r>
                    </a:p>
                  </a:txBody>
                  <a:tcPr/>
                </a:tc>
                <a:tc>
                  <a:txBody>
                    <a:bodyPr/>
                    <a:lstStyle/>
                    <a:p>
                      <a:pPr algn="ctr">
                        <a:defRPr sz="1800">
                          <a:latin typeface="Times New Roman" panose="02020603050405020304"/>
                        </a:defRPr>
                      </a:pPr>
                      <a:r>
                        <a:t>2^32</a:t>
                      </a:r>
                    </a:p>
                  </a:txBody>
                  <a:tcPr/>
                </a:tc>
                <a:tc>
                  <a:txBody>
                    <a:bodyPr/>
                    <a:lstStyle/>
                    <a:p>
                      <a:pPr algn="ctr">
                        <a:defRPr sz="1800">
                          <a:latin typeface="Times New Roman" panose="02020603050405020304"/>
                        </a:defRPr>
                      </a:pPr>
                      <a:r>
                        <a:t>---</a:t>
                      </a:r>
                    </a:p>
                  </a:txBody>
                  <a:tcPr/>
                </a:tc>
                <a:extLst>
                  <a:ext uri="{0D108BD9-81ED-4DB2-BD59-A6C34878D82A}">
                    <a16:rowId xmlns:a16="http://schemas.microsoft.com/office/drawing/2014/main" val="10006"/>
                  </a:ext>
                </a:extLst>
              </a:tr>
              <a:tr h="434340">
                <a:tc>
                  <a:txBody>
                    <a:bodyPr/>
                    <a:lstStyle/>
                    <a:p>
                      <a:pPr algn="ctr">
                        <a:defRPr sz="1800">
                          <a:latin typeface="Times New Roman" panose="02020603050405020304"/>
                        </a:defRPr>
                      </a:pPr>
                      <a:r>
                        <a:t>矩形攻击</a:t>
                      </a:r>
                    </a:p>
                  </a:txBody>
                  <a:tcPr/>
                </a:tc>
                <a:tc>
                  <a:txBody>
                    <a:bodyPr/>
                    <a:lstStyle/>
                    <a:p>
                      <a:pPr algn="ctr">
                        <a:defRPr sz="1800">
                          <a:latin typeface="Times New Roman" panose="02020603050405020304"/>
                        </a:defRPr>
                      </a:pPr>
                      <a:r>
                        <a:t>18</a:t>
                      </a:r>
                    </a:p>
                  </a:txBody>
                  <a:tcPr/>
                </a:tc>
                <a:tc>
                  <a:txBody>
                    <a:bodyPr/>
                    <a:lstStyle/>
                    <a:p>
                      <a:pPr algn="ctr">
                        <a:defRPr sz="1800">
                          <a:latin typeface="Times New Roman" panose="02020603050405020304"/>
                        </a:defRPr>
                      </a:pPr>
                      <a:r>
                        <a:t>2^96.5</a:t>
                      </a:r>
                    </a:p>
                  </a:txBody>
                  <a:tcPr/>
                </a:tc>
                <a:tc>
                  <a:txBody>
                    <a:bodyPr/>
                    <a:lstStyle/>
                    <a:p>
                      <a:pPr algn="ctr">
                        <a:defRPr sz="1800">
                          <a:latin typeface="Times New Roman" panose="02020603050405020304"/>
                        </a:defRPr>
                      </a:pPr>
                      <a:r>
                        <a:t>2^32</a:t>
                      </a:r>
                    </a:p>
                  </a:txBody>
                  <a:tcPr/>
                </a:tc>
                <a:tc>
                  <a:txBody>
                    <a:bodyPr/>
                    <a:lstStyle/>
                    <a:p>
                      <a:pPr algn="ctr">
                        <a:defRPr sz="1800">
                          <a:latin typeface="Times New Roman" panose="02020603050405020304"/>
                        </a:defRPr>
                      </a:pPr>
                      <a:r>
                        <a:t>---</a:t>
                      </a:r>
                    </a:p>
                  </a:txBody>
                  <a:tcPr/>
                </a:tc>
                <a:extLst>
                  <a:ext uri="{0D108BD9-81ED-4DB2-BD59-A6C34878D82A}">
                    <a16:rowId xmlns:a16="http://schemas.microsoft.com/office/drawing/2014/main" val="10007"/>
                  </a:ext>
                </a:extLst>
              </a:tr>
            </a:tbl>
          </a:graphicData>
        </a:graphic>
      </p:graphicFrame>
      <p:sp>
        <p:nvSpPr>
          <p:cNvPr id="7" name="TextBox 6"/>
          <p:cNvSpPr txBox="1"/>
          <p:nvPr/>
        </p:nvSpPr>
        <p:spPr>
          <a:xfrm>
            <a:off x="17312132" y="9409176"/>
            <a:ext cx="363220" cy="306705"/>
          </a:xfrm>
          <a:prstGeom prst="rect">
            <a:avLst/>
          </a:prstGeom>
          <a:noFill/>
        </p:spPr>
        <p:txBody>
          <a:bodyPr wrap="none">
            <a:spAutoFit/>
          </a:bodyPr>
          <a:lstStyle/>
          <a:p>
            <a:pPr algn="r" defTabSz="457200">
              <a:defRPr sz="1800">
                <a:solidFill>
                  <a:srgbClr val="000000"/>
                </a:solidFill>
                <a:latin typeface="Times New Roman" panose="02020603050405020304"/>
              </a:defRPr>
            </a:pPr>
            <a:fld id="{9A0DB2DC-4C9A-4742-B13C-FB6460FD3503}" type="slidenum">
              <a:rPr lang="en-US" sz="1400" smtClean="0">
                <a:solidFill>
                  <a:srgbClr val="FFC000"/>
                </a:solidFill>
                <a:latin typeface="+mn-lt"/>
              </a:rPr>
              <a:t>36</a:t>
            </a:fld>
            <a:endParaRPr sz="2000"/>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
        <p:nvSpPr>
          <p:cNvPr id="8"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SM4</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分组密码算法安全性分析</a:t>
            </a:r>
          </a:p>
        </p:txBody>
      </p:sp>
      <p:sp>
        <p:nvSpPr>
          <p:cNvPr id="9"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4.3</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pic>
        <p:nvPicPr>
          <p:cNvPr id="10" name="图片 2"/>
          <p:cNvPicPr>
            <a:picLocks noChangeAspect="1"/>
          </p:cNvPicPr>
          <p:nvPr/>
        </p:nvPicPr>
        <p:blipFill>
          <a:blip r:embed="rId3">
            <a:alphaModFix amt="80000"/>
          </a:blip>
          <a:stretch>
            <a:fillRect/>
          </a:stretch>
        </p:blipFill>
        <p:spPr>
          <a:xfrm>
            <a:off x="824865"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defTabSz="457200"/>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defTabSz="457200"/>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defTabSz="457200"/>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defTabSz="457200"/>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defTabSz="457200"/>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defTabSz="457200"/>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defTabSz="457200"/>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defTabSz="457200"/>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defTabSz="457200"/>
              <a:endParaRPr lang="zh-CN" altLang="en-US"/>
            </a:p>
          </p:txBody>
        </p:sp>
        <p:sp>
          <p:nvSpPr>
            <p:cNvPr id="29" name="TextBox 29"/>
            <p:cNvSpPr txBox="1"/>
            <p:nvPr/>
          </p:nvSpPr>
          <p:spPr>
            <a:xfrm>
              <a:off x="76200" y="76200"/>
              <a:ext cx="660400" cy="660400"/>
            </a:xfrm>
            <a:prstGeom prst="rect">
              <a:avLst/>
            </a:prstGeom>
          </p:spPr>
          <p:txBody>
            <a:bodyPr lIns="50800" tIns="50800" rIns="50800" bIns="50800" rtlCol="0" anchor="ctr"/>
            <a:lstStyle/>
            <a:p>
              <a:pPr algn="ctr" defTabSz="457200">
                <a:lnSpc>
                  <a:spcPts val="2880"/>
                </a:lnSpc>
              </a:pPr>
              <a:endParaRPr/>
            </a:p>
          </p:txBody>
        </p:sp>
      </p:grpSp>
      <p:sp>
        <p:nvSpPr>
          <p:cNvPr id="30" name="TextBox 30"/>
          <p:cNvSpPr txBox="1"/>
          <p:nvPr/>
        </p:nvSpPr>
        <p:spPr>
          <a:xfrm>
            <a:off x="7781241" y="2834725"/>
            <a:ext cx="2725514" cy="2190115"/>
          </a:xfrm>
          <a:prstGeom prst="rect">
            <a:avLst/>
          </a:prstGeom>
        </p:spPr>
        <p:txBody>
          <a:bodyPr lIns="0" tIns="0" rIns="0" bIns="0" rtlCol="0" anchor="t">
            <a:spAutoFit/>
          </a:bodyPr>
          <a:lstStyle/>
          <a:p>
            <a:pPr algn="ctr" defTabSz="457200">
              <a:lnSpc>
                <a:spcPts val="17080"/>
              </a:lnSpc>
            </a:pPr>
            <a:r>
              <a:rPr lang="en-US" sz="12200" dirty="0">
                <a:solidFill>
                  <a:srgbClr val="004AAD"/>
                </a:solidFill>
                <a:latin typeface="Times New Roman" panose="02020603050405020304" pitchFamily="18" charset="0"/>
                <a:ea typeface="仿宋" panose="02010609060101010101" charset="-122"/>
                <a:cs typeface="Times New Roman" panose="02020603050405020304" pitchFamily="18" charset="0"/>
                <a:sym typeface="字由文艺黑" panose="00020600040101010101" charset="-122"/>
              </a:rPr>
              <a:t>4.4</a:t>
            </a:r>
          </a:p>
        </p:txBody>
      </p:sp>
      <p:sp>
        <p:nvSpPr>
          <p:cNvPr id="31" name="TextBox 31"/>
          <p:cNvSpPr txBox="1"/>
          <p:nvPr/>
        </p:nvSpPr>
        <p:spPr>
          <a:xfrm>
            <a:off x="4067810" y="5143500"/>
            <a:ext cx="10151745" cy="1435735"/>
          </a:xfrm>
          <a:prstGeom prst="rect">
            <a:avLst/>
          </a:prstGeom>
        </p:spPr>
        <p:txBody>
          <a:bodyPr wrap="square" lIns="0" tIns="0" rIns="0" bIns="0" rtlCol="0" anchor="t">
            <a:spAutoFit/>
          </a:bodyPr>
          <a:lstStyle/>
          <a:p>
            <a:pPr algn="ctr" defTabSz="457200">
              <a:lnSpc>
                <a:spcPts val="11200"/>
              </a:lnSpc>
            </a:pPr>
            <a:r>
              <a:rPr lang="zh-CN" altLang="en-US" sz="9600" b="1" dirty="0">
                <a:solidFill>
                  <a:srgbClr val="004AAD"/>
                </a:solidFill>
                <a:latin typeface="Times New Roman" panose="02020603050405020304" pitchFamily="18" charset="0"/>
                <a:ea typeface="宋体" panose="02010600030101010101" pitchFamily="2" charset="-122"/>
                <a:cs typeface="字由文艺黑" panose="00020600040101010101" charset="-122"/>
                <a:sym typeface="字由文艺黑" panose="00020600040101010101" charset="-122"/>
              </a:rPr>
              <a:t>本章小结</a:t>
            </a: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defTabSz="457200"/>
                <a:endParaRPr lang="zh-CN" altLang="en-US"/>
              </a:p>
            </p:txBody>
          </p:sp>
          <p:sp>
            <p:nvSpPr>
              <p:cNvPr id="40" name="TextBox 40"/>
              <p:cNvSpPr txBox="1"/>
              <p:nvPr/>
            </p:nvSpPr>
            <p:spPr>
              <a:xfrm>
                <a:off x="0" y="0"/>
                <a:ext cx="5501351" cy="288980"/>
              </a:xfrm>
              <a:prstGeom prst="rect">
                <a:avLst/>
              </a:prstGeom>
            </p:spPr>
            <p:txBody>
              <a:bodyPr lIns="50800" tIns="50800" rIns="50800" bIns="50800" rtlCol="0" anchor="ctr"/>
              <a:lstStyle/>
              <a:p>
                <a:pPr algn="ctr" defTabSz="457200">
                  <a:lnSpc>
                    <a:spcPts val="2880"/>
                  </a:lnSpc>
                </a:pPr>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defTabSz="457200"/>
                <a:endParaRPr lang="zh-CN" altLang="en-US"/>
              </a:p>
            </p:txBody>
          </p:sp>
          <p:sp>
            <p:nvSpPr>
              <p:cNvPr id="43" name="TextBox 43"/>
              <p:cNvSpPr txBox="1"/>
              <p:nvPr/>
            </p:nvSpPr>
            <p:spPr>
              <a:xfrm>
                <a:off x="0" y="0"/>
                <a:ext cx="5501351" cy="327048"/>
              </a:xfrm>
              <a:prstGeom prst="rect">
                <a:avLst/>
              </a:prstGeom>
            </p:spPr>
            <p:txBody>
              <a:bodyPr lIns="50800" tIns="50800" rIns="50800" bIns="50800" rtlCol="0" anchor="ctr"/>
              <a:lstStyle/>
              <a:p>
                <a:pPr algn="ctr" defTabSz="457200">
                  <a:lnSpc>
                    <a:spcPts val="2880"/>
                  </a:lnSpc>
                </a:pPr>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fld id="{9A0DB2DC-4C9A-4742-B13C-FB6460FD3503}" type="slidenum">
              <a:rPr lang="en-US" sz="1400" smtClean="0">
                <a:solidFill>
                  <a:srgbClr val="FFC000"/>
                </a:solidFill>
              </a:rPr>
              <a:t>37</a:t>
            </a:fld>
            <a:endParaRPr lang="en-US" sz="2000" dirty="0"/>
          </a:p>
        </p:txBody>
      </p:sp>
      <p:grpSp>
        <p:nvGrpSpPr>
          <p:cNvPr id="44" name="组合 43"/>
          <p:cNvGrpSpPr/>
          <p:nvPr/>
        </p:nvGrpSpPr>
        <p:grpSpPr>
          <a:xfrm>
            <a:off x="958201" y="56324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grpSp>
        <p:nvGrpSpPr>
          <p:cNvPr id="32" name="组合 31"/>
          <p:cNvGrpSpPr/>
          <p:nvPr/>
        </p:nvGrpSpPr>
        <p:grpSpPr>
          <a:xfrm>
            <a:off x="13639786" y="733421"/>
            <a:ext cx="3681730" cy="416951"/>
            <a:chOff x="13811849" y="507954"/>
            <a:chExt cx="3681730" cy="416951"/>
          </a:xfrm>
        </p:grpSpPr>
        <p:sp>
          <p:nvSpPr>
            <p:cNvPr id="35" name="文本框 34"/>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45" name="图片 44"/>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71600" y="1691640"/>
            <a:ext cx="15456310" cy="1719580"/>
          </a:xfrm>
          <a:prstGeom prst="rect">
            <a:avLst/>
          </a:prstGeom>
          <a:noFill/>
        </p:spPr>
        <p:txBody>
          <a:bodyPr wrap="square">
            <a:noAutofit/>
          </a:bodyPr>
          <a:lstStyle/>
          <a:p>
            <a:pPr defTabSz="457200">
              <a:lnSpc>
                <a:spcPct val="140000"/>
              </a:lnSpc>
              <a:spcAft>
                <a:spcPts val="1000"/>
              </a:spcAft>
              <a:defRPr sz="2200" b="0">
                <a:solidFill>
                  <a:srgbClr val="000000"/>
                </a:solidFill>
                <a:latin typeface="Times New Roman" panose="02020603050405020304"/>
              </a:defRPr>
            </a:pPr>
            <a:r>
              <a:rPr lang="en-US" sz="2800" dirty="0"/>
              <a:t>    </a:t>
            </a:r>
            <a:r>
              <a:rPr sz="3600" dirty="0"/>
              <a:t>本章主要介绍了SM4分组密码算法的算法流程、结构特点及其密码特性，以及SM4分组密码算法的安全性分析研究现状。</a:t>
            </a:r>
          </a:p>
        </p:txBody>
      </p:sp>
      <p:sp>
        <p:nvSpPr>
          <p:cNvPr id="6" name="TextBox 5"/>
          <p:cNvSpPr txBox="1"/>
          <p:nvPr/>
        </p:nvSpPr>
        <p:spPr>
          <a:xfrm>
            <a:off x="17312132" y="9409176"/>
            <a:ext cx="363220" cy="306705"/>
          </a:xfrm>
          <a:prstGeom prst="rect">
            <a:avLst/>
          </a:prstGeom>
          <a:noFill/>
        </p:spPr>
        <p:txBody>
          <a:bodyPr wrap="none">
            <a:spAutoFit/>
          </a:bodyPr>
          <a:lstStyle/>
          <a:p>
            <a:pPr algn="r" defTabSz="457200">
              <a:defRPr sz="1800">
                <a:solidFill>
                  <a:srgbClr val="000000"/>
                </a:solidFill>
                <a:latin typeface="Times New Roman" panose="02020603050405020304"/>
              </a:defRPr>
            </a:pPr>
            <a:fld id="{9A0DB2DC-4C9A-4742-B13C-FB6460FD3503}" type="slidenum">
              <a:rPr lang="en-US" sz="1400" smtClean="0">
                <a:solidFill>
                  <a:srgbClr val="FFC000"/>
                </a:solidFill>
                <a:latin typeface="+mn-lt"/>
              </a:rPr>
              <a:t>38</a:t>
            </a:fld>
            <a:endParaRPr sz="2000"/>
          </a:p>
        </p:txBody>
      </p:sp>
      <p:grpSp>
        <p:nvGrpSpPr>
          <p:cNvPr id="44" name="组合 43"/>
          <p:cNvGrpSpPr/>
          <p:nvPr/>
        </p:nvGrpSpPr>
        <p:grpSpPr>
          <a:xfrm>
            <a:off x="13639786" y="733421"/>
            <a:ext cx="3681730" cy="416951"/>
            <a:chOff x="13811849" y="507954"/>
            <a:chExt cx="3681730" cy="416951"/>
          </a:xfrm>
        </p:grpSpPr>
        <p:sp>
          <p:nvSpPr>
            <p:cNvPr id="34" name="文本框 33"/>
            <p:cNvSpPr txBox="1"/>
            <p:nvPr/>
          </p:nvSpPr>
          <p:spPr>
            <a:xfrm>
              <a:off x="13811849" y="507954"/>
              <a:ext cx="3681730" cy="368300"/>
            </a:xfrm>
            <a:prstGeom prst="rect">
              <a:avLst/>
            </a:prstGeom>
            <a:noFill/>
          </p:spPr>
          <p:txBody>
            <a:bodyPr wrap="none" rtlCol="0">
              <a:spAutoFit/>
            </a:bodyPr>
            <a:lstStyle/>
            <a:p>
              <a:pPr defTabSz="457200"/>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panose="02020603050405020304" pitchFamily="18" charset="0"/>
                  <a:ea typeface="宋体" panose="02010600030101010101" pitchFamily="2" charset="-122"/>
                </a:rPr>
                <a:t>◆◆◆</a:t>
              </a:r>
              <a:r>
                <a:rPr lang="zh-CN" altLang="zh-CN" dirty="0">
                  <a:solidFill>
                    <a:schemeClr val="accent1"/>
                  </a:solidFill>
                  <a:latin typeface="Times New Roman" panose="02020603050405020304" pitchFamily="18" charset="0"/>
                  <a:ea typeface="宋体" panose="02010600030101010101" pitchFamily="2" charset="-122"/>
                </a:rPr>
                <a:t> </a:t>
              </a:r>
              <a:r>
                <a:rPr lang="zh-CN" altLang="zh-CN" b="1" dirty="0">
                  <a:solidFill>
                    <a:schemeClr val="tx2"/>
                  </a:solidFill>
                  <a:latin typeface="Times New Roman" panose="02020603050405020304" pitchFamily="18" charset="0"/>
                  <a:ea typeface="宋体" panose="02010600030101010101" pitchFamily="2"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
        <p:nvSpPr>
          <p:cNvPr id="8" name="TextBox 30"/>
          <p:cNvSpPr txBox="1"/>
          <p:nvPr/>
        </p:nvSpPr>
        <p:spPr>
          <a:xfrm>
            <a:off x="2507858" y="509179"/>
            <a:ext cx="9458717" cy="717550"/>
          </a:xfrm>
          <a:prstGeom prst="rect">
            <a:avLst/>
          </a:prstGeom>
        </p:spPr>
        <p:txBody>
          <a:bodyPr lIns="0" tIns="0" rIns="0" bIns="0" rtlCol="0" anchor="t">
            <a:spAutoFit/>
          </a:bodyPr>
          <a:lstStyle/>
          <a:p>
            <a:pPr algn="l" defTabSz="457200">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charset="-122"/>
                <a:cs typeface="字由文艺黑" panose="00020600040101010101" charset="-122"/>
                <a:sym typeface="字由文艺黑" panose="00020600040101010101" charset="-122"/>
              </a:rPr>
              <a:t>本章小结</a:t>
            </a:r>
          </a:p>
        </p:txBody>
      </p:sp>
      <p:sp>
        <p:nvSpPr>
          <p:cNvPr id="9" name="TextBox 31"/>
          <p:cNvSpPr txBox="1"/>
          <p:nvPr/>
        </p:nvSpPr>
        <p:spPr>
          <a:xfrm>
            <a:off x="1216660" y="429260"/>
            <a:ext cx="1290955" cy="842645"/>
          </a:xfrm>
          <a:prstGeom prst="rect">
            <a:avLst/>
          </a:prstGeom>
        </p:spPr>
        <p:txBody>
          <a:bodyPr wrap="square" lIns="0" tIns="0" rIns="0" bIns="0" rtlCol="0" anchor="t">
            <a:spAutoFit/>
          </a:bodyPr>
          <a:lstStyle/>
          <a:p>
            <a:pPr algn="ctr" defTabSz="457200">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rPr>
              <a:t>4.4</a:t>
            </a:r>
            <a:endParaRPr lang="en-US" alt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宋体" panose="02010600030101010101" pitchFamily="2" charset="-122"/>
              <a:cs typeface="Times New Roman" panose="02020603050405020304" pitchFamily="18" charset="0"/>
              <a:sym typeface="字由文艺黑" panose="00020600040101010101" charset="-122"/>
            </a:endParaRPr>
          </a:p>
        </p:txBody>
      </p:sp>
      <p:pic>
        <p:nvPicPr>
          <p:cNvPr id="10" name="图片 2"/>
          <p:cNvPicPr>
            <a:picLocks noChangeAspect="1"/>
          </p:cNvPicPr>
          <p:nvPr/>
        </p:nvPicPr>
        <p:blipFill>
          <a:blip r:embed="rId3">
            <a:alphaModFix amt="80000"/>
          </a:blip>
          <a:stretch>
            <a:fillRect/>
          </a:stretch>
        </p:blipFill>
        <p:spPr>
          <a:xfrm>
            <a:off x="824865" y="5702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521.9,&quot;left&quot;:522.1677952755906,&quot;top&quot;:179.94661417322834,&quot;width&quot;:774.7322047244094}"/>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521.9,&quot;left&quot;:522.1677952755906,&quot;top&quot;:179.94661417322834,&quot;width&quot;:774.7322047244094}"/>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521.9,&quot;left&quot;:522.1677952755906,&quot;top&quot;:179.94661417322834,&quot;width&quot;:774.7322047244094}"/>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521.9,&quot;left&quot;:522.1677952755906,&quot;top&quot;:179.94661417322834,&quot;width&quot;:774.7322047244094}"/>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521.9,&quot;left&quot;:522.1677952755906,&quot;top&quot;:179.94661417322834,&quot;width&quot;:774.7322047244094}"/>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521.9,&quot;left&quot;:522.1677952755906,&quot;top&quot;:179.94661417322834,&quot;width&quot;:774.7322047244094}"/>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521.9,&quot;left&quot;:522.1677952755906,&quot;top&quot;:179.94661417322834,&quot;width&quot;:774.7322047244094}"/>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521.9,&quot;left&quot;:522.1677952755906,&quot;top&quot;:179.94661417322834,&quot;width&quot;:774.732204724409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Times New Roman"/>
        <a:ea typeface="仿宋"/>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5026</Words>
  <Application>Microsoft Office PowerPoint</Application>
  <PresentationFormat>自定义</PresentationFormat>
  <Paragraphs>674</Paragraphs>
  <Slides>38</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38</vt:i4>
      </vt:variant>
    </vt:vector>
  </HeadingPairs>
  <TitlesOfParts>
    <vt:vector size="44" baseType="lpstr">
      <vt:lpstr>仿宋</vt:lpstr>
      <vt:lpstr>Arial</vt:lpstr>
      <vt:lpstr>Calibri</vt:lpstr>
      <vt:lpstr>Cambria Math</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HA111813@365mmt.com</cp:lastModifiedBy>
  <cp:revision>125</cp:revision>
  <dcterms:created xsi:type="dcterms:W3CDTF">2013-01-27T09:14:00Z</dcterms:created>
  <dcterms:modified xsi:type="dcterms:W3CDTF">2026-08-21T09:10:30Z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3103C2C3918843319CAF587DB4DEE487_12</vt:lpwstr>
  </property>
</Properties>
</file>